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4" d="100"/>
          <a:sy n="104" d="100"/>
        </p:scale>
        <p:origin x="834" y="12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231364-2A1C-4124-A965-8EA896727A95}" type="datetimeFigureOut">
              <a:rPr lang="ko-KR" altLang="en-US" smtClean="0"/>
              <a:t>2026-10-29</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2E512C-CD54-4914-A159-AE3A63464914}" type="slidenum">
              <a:rPr lang="ko-KR" altLang="en-US" smtClean="0"/>
              <a:t>‹#›</a:t>
            </a:fld>
            <a:endParaRPr lang="ko-KR" altLang="en-US"/>
          </a:p>
        </p:txBody>
      </p:sp>
    </p:spTree>
    <p:extLst>
      <p:ext uri="{BB962C8B-B14F-4D97-AF65-F5344CB8AC3E}">
        <p14:creationId xmlns:p14="http://schemas.microsoft.com/office/powerpoint/2010/main" val="49846744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장의 위치를 먼저 잡아 주십시오. 앞선 두 장에서 수강생은 두 명령을 이미 써 봤지만 언제 무엇을 쓰는지는 배우지 않았습니다. 여기서 그 경계를 정리합니다. 핵심은 두 명령이 우연히 둘인 것이 아니라 서로 다른 계층을 맡고 있다는 점이며, 그 경계가 문서상의 권고가 아니라 실제로 막힌다는 것입니다. 이 장의 후반부에서는 CRS 가 오라클 제품만 관리하는 것이 아니라는 것도 확인합니다.</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메시지가 친절하다는 점을 짚어 주십시오. 무엇이 잘못됐는지뿐 아니라 무엇을 써야 하는지까지 알려 줍니다. 오라클 오류 중에서는 드문 편입니다. 그리고 마지막 줄이 이 슬라이드의 핵심입니다. 조회는 허용되고 상태 변경만 막힙니다. 이 비대칭이 왜 생기는지 수강생에게 먼저 생각해 보게 한 뒤 다음 슬라이드로 넘어가면 이해가 훨씬 깊어집니다. 힌트를 준다면 자원 정의가 어디에 저장되어 있는지를 물으십시오.</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이유를 도구의 성격에서 설명하십시오. crsctl 은 자원 모델을 다루는 일반 도구이고 srvctl 은 오라클 제품을 아는 전용 도구입니다. 데이터베이스를 어떻게 내려야 하는지는 제품 지식이므로 crsctl 이 알 리가 없습니다. 12장에서 SQL*Plus 로 내린 인스턴스를 CRS 가 되살리지 않았던 것을 떠올리게 하면 좋습니다. 종료 방식이 CRS 의 판단을 바꾸는데 crsctl 이 강제로 내리면 그 구분이 흐려집니다.</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두 명령의 차이를 정확히 짚어 주십시오. check crs 는 한 노드의 전체 스택을, check cluster 는 모든 노드의 클러스터 계층을 봅니다. OHAS 는 클러스터가 형성되기 전 단계의 데몬이므로 클러스터 관점 조회에 나오지 않습니다. 실무 순서도 함께 알려 주십시오. 어느 노드가 문제인지 모를 때 -all 을 먼저 돌리고, 응답이 없는 노드를 찾으면 그 노드에 붙어 check crs 로 들어갑니다.</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구조를 먼저 가르치면 암기할 것이 크게 줄어듭니다. 처음 보는 대상이라도 srvctl status &lt;대상&gt; 을 해 보면 되기 때문입니다. 두 쌍의 대비를 특히 강조하십시오. status/config 는 12장에서 이미 다뤘고, stop/disable 은 유지보수 절차와 직결됩니다. disable 없이 stop 만 하고 노드를 재부팅하면 자원이 다시 올라옵니다. 유지보수 계획서에 이 두 명령이 함께 적혀 있는지 확인하는 습관을 권하십시오.</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출력 형식이 통일되어 있지 않다는 것을 미리 알려 두면 스크립트를 짤 때 당황하지 않습니다. 파싱하려면 대상마다 따로 짜야 합니다. scan 과 scan_listener 가 나뉘어 있다는 점을 꼭 짚어 주십시오. SCAN 은 IP 자원이고 SCAN 리스너는 그 IP 에서 듣는 프로세스입니다. 둘은 별개의 자원이며 한쪽만 죽을 수 있습니다. 15장에서 서비스와 SCAN 을 다룰 때 이 구분이 다시 필요합니다.</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config 를 읽는 요령을 가르치십시오. 출력 전체를 외울 필요는 없고 트러블슈팅에 쓰이는 줄만 알면 됩니다. 네트워크 문제라면 서브넷과 인터페이스 이름, 권한 문제라면 Owner, 접속 문제라면 End points 입니다. 리스너 소유자가 grid 라는 사실은 자주 걸립니다. oracle 로 lsnrctl 을 실행해 권한 오류를 만나는 일이 흔하기 때문입니다. 리스너 로그를 볼 때도 grid 로 붙어야 합니다.</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네 가지를 직접 재현해 보게 하십시오. 모두 안전한 조회 계열이라 부담이 없습니다. 그리고 진단에 쓰는 법을 알려 주십시오. PRKO 는 명령행 해석 단계에서 걸린 것이므로 자원을 보러 갈 필요조차 없습니다. 마지막 항목은 특히 중요합니다. PRCC-1015 는 오류처럼 보이지만 원하는 결과입니다. 기동 스크립트에서 이것을 실패로 처리하면 두 번째 실행부터 뒷단계가 통째로 건너뛰어집니다.</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명령은 앞으로 가장 많이 쓸 명령이므로 읽는 법을 확실히 잡아 주십시오. 두 구획의 구분이 첫 번째 열쇠입니다. 왼쪽 번호를 인스턴스 번호로 오해하는 일이 매우 흔한데, SCAN 리스너의 1 이나 Flex ASM 의 1·2·3 을 보면 그렇지 않다는 것이 분명해집니다. 슬롯 번호라는 표현을 쓰고 CARDINALITY 속성과 연결해 설명하면 오해가 사라집니다. 14.4 절에서 그 속성을 직접 확인하므로 여기서 미리 연결해 두십시오.</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실제 랩에서 관찰된 상태이므로 그대로 보여 주십시오. 이 예의 교육적 가치는 두 도구를 함께 쓰는 절차를 보여 준다는 데 있습니다. crsctl 은 OFFLINE 이라는 사실까지만 알려 주고 srvctl 이 한 겹 더 설명해 줍니다. 그리고 필수 자원이 아니라는 판단을 어떻게 내리는지도 함께 다뤄야 합니다. 자원 이름과 DESCRIPTION 속성이 단서가 되며, 데이터베이스가 정상 동작한다는 사실 자체도 근거입니다.</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슬라이드가 없으면 수강생은 OFFLINE 을 볼 때마다 놀랍니다. 정상적으로 OFFLINE 인 자원이 여럿이라는 것을 미리 알려 주십시오. 판단 순서를 명확히 하는 것이 핵심입니다. TARGET 이 OFFLINE 이면 불일치가 아니므로 CRS 는 아무것도 하지 않습니다. AUTO_START 가 never 면 애초에 올릴 의도가 없는 자원입니다. 이 둘을 먼저 확인하면 헛수고를 크게 줄일 수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계층 개념을 여기서 확실히 세워 주십시오. -init 없는 목록은 CRSD 가 관리하고 -init 목록은 OHAS 가 관리합니다. Server 열이 한 노드로만 채워지는 이유가 여기서 나옵니다. rac2 를 보려면 rac2 에서 실행해야 합니다. 자원 개수를 세어 두면 나중에 기준선 확인에 쓸 수 있습니다. 이 랩은 17 과 13 입니다. 실습이 끝난 뒤 이 숫자로 돌아왔는지 확인하는 습관을 들이게 하십시오.</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질문은 수강생이 스스로 발견하기 좋은 지점입니다. 두 목록을 나란히 놓고 겹치는 이름을 찾아보라고 하면 대부분 ora.asm 을 찾아냅니다. 답은 부팅 순서에 있습니다. Clusterware 가 OCR 을 읽어야 하는데 그것이 ASM 에 있으므로 닭과 달걀 문제가 생기고, 오라클은 ASM 을 OHAS 계층에 한 번 더 두어 이를 풀었습니다. 6장에서 다룬 OCR 위치와 이어집니다.</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절차를 절차서로 만들어 두라고 권하십시오. 실무에서 가장 자주 쓰게 될 순서입니다. 흔한 실수도 함께 말해 주십시오. 데이터베이스가 안 뜬다고 데이터베이스 알럿 로그부터 뒤지는 것입니다. 아래 계층이 무너져 있으면 위 계층 로그에는 아무 단서가 없습니다. 5장의 HAIP 사례가 정확히 그런 경우였습니다. 그때도 네트워크는 ping 이 되는데 클러스터에만 못 붙었고, 원인은 -init 목록에서야 보였습니다.</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12장에서 RESTART_ATTEMPTS 와 UPTIME_THRESHOLD 를 이미 봤으므로 나머지에 시간을 쓰십시오. CARDINALITY 는 앞 슬라이드의 슬롯 번호와 직접 연결됩니다. CHECK_INTERVAL 900 은 다음 슬라이드에서 다른 자원과 비교할 때 의미가 살아납니다. 지금은 값만 확인해 두고 대비는 뒤로 미루는 것이 좋습니다. 노드 추가 시 CARDINALITY 를 올려야 한다는 점은 여기서 확실히 짚어 두십시오.</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12장에서 남겨 둔 질문에 여기서 답이 나옵니다. srvctl 로 내린 인스턴스가 재부팅 후에도 안 올라오는 이유가 AUTO_START=restore 와 TARGET=OFFLINE 의 조합입니다. 두 장을 연결해 설명하면 이해가 단단해집니다. always 인 자원이 왜 always 인지도 짚어 주십시오. ONS 와 ASM 은 다른 자원의 토대이므로 항상 필요합니다.</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숫자 하나하나에 설계 의도가 담겨 있다는 것을 보여 주는 슬라이드입니다. VIP 의 0 이 가장 인상적인 예입니다. 재시작 시도를 아예 하지 않는다는 것이 이상해 보이지만, VIP 는 옮겨 가는 것이 정답이므로 제자리에서 되살릴 이유가 없습니다. ora.cssd 의 3 은 5장의 노드 축출과 연결됩니다. 세 번 되살려서 안 되면 노드를 재부팅하는 것이 클러스터 전체를 지키는 길입니다.</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세 종류를 실제 사례와 묶어 설명하십시오. 8장에서 디스크그룹을 내리려다 CRS-2640 을 만난 것이 hard 의존 때문입니다. pullup 은 디스크그룹이 마운트되는 순간 데이터베이스가 자동으로 뜨는 근거입니다. weak 는 리스너가 죽어도 데이터베이스는 살아 있다는 뜻이며, 접속만 안 될 뿐 데이터베이스 자체는 정상이라는 판단을 내릴 근거가 됩니다. 장애 범위를 좁힐 때 바로 쓰이는 정보입니다.</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실제 랩에서 발견된 것이므로 숨기지 말고 그대로 다루십시오. 교육적으로 값진 사례입니다. 두 가지를 가르칠 수 있습니다. 하나는 pullup 의 의미를 정확히 이해하면 이것이 무해하다는 판단이 선다는 것이고, 다른 하나는 무해해도 정리하는 편이 낫다는 운영 감각입니다. 실습 흔적이 정의에 남는 일은 실무에서도 흔하며, 테스트로 만든 디스크그룹을 지우고 의존성은 그대로 둔 경우가 대표적입니다.</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동기를 먼저 세워 주십시오. 이 실습은 문법을 배우는 것이 아니라 CRS 를 도구로 쓰는 법을 배우는 것입니다. 배타적으로 하나만 돌아야 하는 데몬은 실무에서 흔한 요구이고, 그것을 직접 구현하면 스플릿 브레인 문제를 스스로 풀어야 합니다. CRS 는 이미 그 문제를 풀어 놓았으므로 규칙에 맞춰 스크립트 하나만 주면 됩니다. 하트비트도 페일오버도 직접 짤 필요가 없다는 점이 이 방식의 가장 큰 이점입니다.</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계약이 이만큼 단순하다는 것을 강조하십시오. 네 인자에 정확히 응답하면 CRS 가 나머지를 다 합니다. check 의 반환값 규칙을 특히 주의시키십시오. 0 이 살아 있음이며 이것을 뒤집으면 CRS 가 정상인 자원을 계속 되살리려 듭니다. 로그를 남기라는 조언은 실습만이 아니라 운영에도 그대로 해당합니다. 자동 복구는 조용히 일어나므로 로그가 없으면 무슨 일이 있었는지 알 수 없습니다.</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속성 하나하나가 앞에서 배운 것과 같은 이름이라는 점을 짚어 주십시오. 자원 모델이 하나뿐이고 오라클 자원도 이 틀 위에 만들어져 있습니다. 지정하지 않은 속성에는 기본값이 들어가므로 등록 후 -p 로 확인해 보게 하십시오. AUTO_START=restore, CARDINALITY=1, ENABLED=1 이 들어갑니다. 스크립트는 양 노드의 같은 경로에 있어야 한다는 점도 반드시 확인시키십시오.</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타임라인을 한 줄씩 짚어 가며 설명하십시오. 감지 지연과 복구 시간을 나눠 생각하는 것이 이 슬라이드의 목표입니다. 감지 지연의 상한이 CHECK_INTERVAL 이라는 것을 수식으로 정리해 주면 좋습니다. 그러면 요구되는 복구 시간에서 CHECK_INTERVAL 을 역산할 수 있습니다. 다만 값을 줄이면 점검 부하가 늘어난다는 것도 함께 말해야 균형 잡힌 설명이 됩니다.</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관찰이 이 절에서 가장 실무적인 교훈입니다. 자동 복구는 성공하면 흔적이 화면에 남지 않습니다. 12장에서 pmon 을 죽였을 때 61 초가 걸려 관찰이 됐던 것과 대비하면 이해가 쉽습니다. 그때는 운이 좋았던 것이고 짧았다면 못 봤을 것입니다. 그래서 로그 위치를 알아 두어야 하며, 이것이 운영 문서에 반드시 적혀 있어야 할 항목입니다. 장애 보고서에 자동 복구 이력을 넣으려면 이 로그가 유일한 근거가 됩니다.</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네 줄의 메시지가 절차를 그대로 보여 준다는 점을 짚어 주십시오. 순서가 핵심입니다. 먼저 정지하고 그다음 기동하므로 두 노드에서 동시에 도는 구간이 없습니다. 직접 페일오버를 구현하면 바로 이 부분에서 실수하기 쉽습니다. 새 노드를 먼저 띄우고 옛 노드를 내리면 잠깐이지만 둘이 함께 도는 구간이 생깁니다. 상태 파일의 위치를 양 노드에서 확인하게 하면 이동이 실제로 일어났다는 것이 눈에 보입니다.</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12장에서 배운 TARGET 과 STATE 의 불일치가 여기서 다시 나옵니다. CRS 가 올리고 싶어 하는데 못 올리고 있다는 뜻이며, Server 열이 비어 있다는 것은 어느 노드에도 없다는 뜻입니다. 두 노드의 로그를 시간순으로 이어 붙이면 CRS 의 판단 과정이 그대로 보입니다. 이 방식 자체를 진단 기법으로 가르치십시오. 오라클 자원이라면 양 노드의 에이전트 트레이스를 같은 방식으로 병합해 읽습니다.</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슬라이드는 정직한 실측 보고입니다. 속성값을 보고 동작을 단정하지 말라는 것이 교훈이며, 이것은 RESTART_ATTEMPTS 하나에 국한된 이야기가 아닙니다. 문서에 적힌 값과 실제 동작이 다를 수 있고, 그 차이를 메우는 것이 실측입니다. 수강생이 스스로 조건을 바꿔 가며 확인해 보게 하면 이 태도가 몸에 붙습니다. 이 과정에서 여러 번 강조한 방식이기도 합니다.</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마지막 줄이 이 절의 결론입니다. 등록되어 있는 동안에도 srvctl 로는 이 자원이 보이지 않았습니다. 두 도구의 역할 분담을 가장 명확하게 보여 주는 지점입니다. 운영상의 함의도 함께 말해 주십시오. 사용자 자원을 운영에 들이면 감시 스크립트에 crsctl 계열 명령을 추가해야 합니다. srvctl 만 도는 기존 점검으로는 그 자원이 죽어도 알 수 없습니다. 도입 시점에 점검 항목을 함께 늘리는 것이 원칙입니다.</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접두어를 외우라는 것이 아니라 어디를 볼지 좁히는 도구로 쓰라는 것입니다. 마지막 줄을 강조하십시오. 오류 번호를 검색하기 전에 접두어만 봐도 조사 범위가 크게 줄어듭니다. 앞선 장에서 만난 것들도 함께 정리해 두면 과정 전체가 이어집니다. 2장의 CLSRSC, 3장의 INS, 4장의 PRV 를 각각 상기시키십시오. 접두어 표를 손에 들고 다니는 참조표로 만들어 두면 유용합니다.</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규칙은 이 과정 전체에서 반복해서 나왔습니다. 13장의 UNDO 오류가 가장 좋은 예입니다. ORA-02097 은 정보가 없고 진짜 원인은 그 아래에 있었습니다. 여기서 그 규칙을 일반화해 주십시오. 알림 시스템이 첫 줄만 잘라 보내는 경우가 흔한데, 그러면 정보를 대부분 잃습니다. 알림 설정을 고칠 기회가 있다면 두 줄까지는 보내도록 바꾸고 종료 코드도 함께 기록하게 하라고 권하십시오.</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마지막 줄이 실용적인 조언입니다. 경계가 헷갈릴 때는 srvctl 을 먼저 시도하면 됩니다. 잘못 골랐어도 crsctl 이 친절하게 알려 주기 때문입니다. 반대 방향으로는 이런 안내가 없다는 점도 함께 말해 주십시오. srvctl 로 사용자 자원을 다루려 하면 그저 대상을 모른다는 사용법 출력만 나옵니다. 그래서 사용자 자원은 처음부터 crsctl 로 다룬다고 기억해 두는 편이 낫습니다.</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12장의 SPFILE 점검, 13장의 스토리지 점검에 이어 세 번째 점검 목록입니다. 셋을 합치면 일상 점검의 뼈대가 갖춰집니다. 자원 개수를 기준선으로 기록해 두라는 조언이 특히 유용합니다. 개수가 달라졌다는 것은 누군가 자원을 추가하거나 제거했다는 뜻이며, 변경 이력을 추적할 실마리가 됩니다. 개수와 함께 TARGET·STATE 가 어긋난 자원이 없는지도 같은 명령에서 확인됩니다.</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13장에서 부하 편중을 수치로 확인했지만 조치는 미뤄 두었습니다. 15장의 서비스가 그 조치의 도구입니다. 두 장을 이어 주면 과정의 흐름이 살아납니다. 그리고 15장에서도 이 장에서 배운 srvctl 문법이 그대로 쓰입니다. add·start·relocate·status·config 가 service 대상에 그대로 적용되므로, 이 장에서 3단 구조를 익혀 두면 다음 장이 훨씬 수월합니다.</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19c Real Application Clusters</a:t>
            </a:r>
          </a:p>
        </p:txBody>
      </p:sp>
      <p:sp>
        <p:nvSpPr>
          <p:cNvPr id="6" name="TextBox 5"/>
          <p:cNvSpPr txBox="1"/>
          <p:nvPr/>
        </p:nvSpPr>
        <p:spPr>
          <a:xfrm>
            <a:off x="731520" y="2377440"/>
            <a:ext cx="10698480" cy="615553"/>
          </a:xfrm>
          <a:prstGeom prst="rect">
            <a:avLst/>
          </a:prstGeom>
          <a:noFill/>
        </p:spPr>
        <p:txBody>
          <a:bodyPr wrap="square">
            <a:spAutoFit/>
          </a:bodyPr>
          <a:lstStyle/>
          <a:p>
            <a:pPr algn="l">
              <a:spcAft>
                <a:spcPts val="600"/>
              </a:spcAft>
            </a:pPr>
            <a:r>
              <a:rPr lang="en-US" sz="3400" b="1" dirty="0">
                <a:solidFill>
                  <a:srgbClr val="C0392B"/>
                </a:solidFill>
                <a:latin typeface="맑은 고딕"/>
              </a:rPr>
              <a:t>CRSCTL/SVRCTL</a:t>
            </a:r>
            <a:endParaRPr sz="3400" b="1" dirty="0">
              <a:solidFill>
                <a:srgbClr val="C0392B"/>
              </a:solidFill>
              <a:latin typeface="맑은 고딕"/>
            </a:endParaRP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srvctl·crsctl 명령 체계</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두 명령은 서로 다른 계층을 맡는다. 경계를 넘으면 오라클이 막는다</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srvctl 과 crsctl 의 역할 분담을 설명하고 경계를 넘었을 때의 오류를 안다</a:t>
            </a:r>
          </a:p>
          <a:p>
            <a:pPr algn="l">
              <a:spcAft>
                <a:spcPts val="1000"/>
              </a:spcAft>
            </a:pPr>
            <a:r>
              <a:rPr sz="1600" b="0">
                <a:solidFill>
                  <a:srgbClr val="222222"/>
                </a:solidFill>
                <a:latin typeface="맑은 고딕"/>
              </a:rPr>
              <a:t>•  srvctl 의 명령·대상·옵션 3단 구조로 처음 보는 대상도 다룬다</a:t>
            </a:r>
          </a:p>
          <a:p>
            <a:pPr algn="l">
              <a:spcAft>
                <a:spcPts val="1000"/>
              </a:spcAft>
            </a:pPr>
            <a:r>
              <a:rPr sz="1600" b="0">
                <a:solidFill>
                  <a:srgbClr val="222222"/>
                </a:solidFill>
                <a:latin typeface="맑은 고딕"/>
              </a:rPr>
              <a:t>•  crsctl stat res -t 와 -init 이 각각 무엇을 보여 주는지 안다</a:t>
            </a:r>
          </a:p>
          <a:p>
            <a:pPr algn="l">
              <a:spcAft>
                <a:spcPts val="1000"/>
              </a:spcAft>
            </a:pPr>
            <a:r>
              <a:rPr sz="1600" b="0">
                <a:solidFill>
                  <a:srgbClr val="222222"/>
                </a:solidFill>
                <a:latin typeface="맑은 고딕"/>
              </a:rPr>
              <a:t>•  자원 속성으로 그 자원의 동작 규칙을 읽는다</a:t>
            </a:r>
          </a:p>
          <a:p>
            <a:pPr algn="l">
              <a:spcAft>
                <a:spcPts val="1000"/>
              </a:spcAft>
            </a:pPr>
            <a:r>
              <a:rPr sz="1600" b="0">
                <a:solidFill>
                  <a:srgbClr val="222222"/>
                </a:solidFill>
                <a:latin typeface="맑은 고딕"/>
              </a:rPr>
              <a:t>•  사용자 스크립트를 클러스터 자원으로 등록하고 자동 복구를 관찰한다</a:t>
            </a:r>
          </a:p>
          <a:p>
            <a:pPr algn="l">
              <a:spcAft>
                <a:spcPts val="1000"/>
              </a:spcAft>
            </a:pPr>
            <a:r>
              <a:rPr sz="1600" b="0">
                <a:solidFill>
                  <a:srgbClr val="222222"/>
                </a:solidFill>
                <a:latin typeface="맑은 고딕"/>
              </a:rPr>
              <a:t>•  오류 접두어가 알려 주는 계층을 읽고 겹친 메시지를 해석한다</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14.1 두 명령의 역할 분담</a:t>
            </a:r>
          </a:p>
          <a:p>
            <a:pPr algn="l">
              <a:spcAft>
                <a:spcPts val="1000"/>
              </a:spcAft>
            </a:pPr>
            <a:r>
              <a:rPr sz="1600" b="0">
                <a:solidFill>
                  <a:srgbClr val="222222"/>
                </a:solidFill>
                <a:latin typeface="맑은 고딕"/>
              </a:rPr>
              <a:t>•  14.2 srvctl — 자원별 문법</a:t>
            </a:r>
          </a:p>
          <a:p>
            <a:pPr algn="l">
              <a:spcAft>
                <a:spcPts val="1000"/>
              </a:spcAft>
            </a:pPr>
            <a:r>
              <a:rPr sz="1600" b="0">
                <a:solidFill>
                  <a:srgbClr val="222222"/>
                </a:solidFill>
                <a:latin typeface="맑은 고딕"/>
              </a:rPr>
              <a:t>•  14.3 crsctl — 자원 목록과 -init</a:t>
            </a:r>
          </a:p>
          <a:p>
            <a:pPr algn="l">
              <a:spcAft>
                <a:spcPts val="1000"/>
              </a:spcAft>
            </a:pPr>
            <a:r>
              <a:rPr sz="1600" b="0">
                <a:solidFill>
                  <a:srgbClr val="222222"/>
                </a:solidFill>
                <a:latin typeface="맑은 고딕"/>
              </a:rPr>
              <a:t>•  14.4 자원 속성 -p</a:t>
            </a:r>
          </a:p>
          <a:p>
            <a:pPr algn="l">
              <a:spcAft>
                <a:spcPts val="1000"/>
              </a:spcAft>
            </a:pPr>
            <a:r>
              <a:rPr sz="1600" b="0">
                <a:solidFill>
                  <a:srgbClr val="222222"/>
                </a:solidFill>
                <a:latin typeface="맑은 고딕"/>
              </a:rPr>
              <a:t>•  14.5 사용자 스크립트를 클러스터 자원으로</a:t>
            </a:r>
          </a:p>
          <a:p>
            <a:pPr algn="l">
              <a:spcAft>
                <a:spcPts val="1000"/>
              </a:spcAft>
            </a:pPr>
            <a:r>
              <a:rPr sz="1600" b="0">
                <a:solidFill>
                  <a:srgbClr val="222222"/>
                </a:solidFill>
                <a:latin typeface="맑은 고딕"/>
              </a:rPr>
              <a:t>•  14.6 오류 번호 체계</a:t>
            </a:r>
          </a:p>
          <a:p>
            <a:pPr algn="l">
              <a:spcAft>
                <a:spcPts val="1000"/>
              </a:spcAft>
            </a:pPr>
            <a:r>
              <a:rPr sz="1600" b="0">
                <a:solidFill>
                  <a:srgbClr val="222222"/>
                </a:solidFill>
                <a:latin typeface="맑은 고딕"/>
              </a:rPr>
              <a:t>•  14.7 정리와 운영 지침</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이 장이 답하는 질문</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언제 무엇을 쓰는가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12·13장에서 두 명령을 썼지만 경계는 알려 준 대로 따랐을 뿐</a:t>
            </a:r>
          </a:p>
          <a:p>
            <a:pPr algn="l">
              <a:spcAft>
                <a:spcPts val="1000"/>
              </a:spcAft>
            </a:pPr>
            <a:r>
              <a:rPr sz="1700" b="0">
                <a:solidFill>
                  <a:srgbClr val="222222"/>
                </a:solidFill>
                <a:latin typeface="맑은 고딕"/>
              </a:rPr>
              <a:t>•  srvctl — 오라클 제품 자원 (DB·인스턴스·서비스·리스너·SCAN·ASM·VIP)</a:t>
            </a:r>
          </a:p>
          <a:p>
            <a:pPr algn="l">
              <a:spcAft>
                <a:spcPts val="1000"/>
              </a:spcAft>
            </a:pPr>
            <a:r>
              <a:rPr sz="1700" b="0">
                <a:solidFill>
                  <a:srgbClr val="222222"/>
                </a:solidFill>
                <a:latin typeface="맑은 고딕"/>
              </a:rPr>
              <a:t>•  crsctl — 클러스터 자체와 그 밖의 자원</a:t>
            </a:r>
          </a:p>
          <a:p>
            <a:pPr algn="l">
              <a:spcAft>
                <a:spcPts val="1000"/>
              </a:spcAft>
            </a:pPr>
            <a:r>
              <a:rPr sz="1700" b="0">
                <a:solidFill>
                  <a:srgbClr val="222222"/>
                </a:solidFill>
                <a:latin typeface="맑은 고딕"/>
              </a:rPr>
              <a:t>•  실행 계정도 대개 oracle 과 grid 로 갈린다</a:t>
            </a:r>
          </a:p>
          <a:p>
            <a:pPr algn="l">
              <a:spcAft>
                <a:spcPts val="1000"/>
              </a:spcAft>
            </a:pPr>
            <a:r>
              <a:rPr sz="1700" b="0">
                <a:solidFill>
                  <a:srgbClr val="222222"/>
                </a:solidFill>
                <a:latin typeface="맑은 고딕"/>
              </a:rPr>
              <a:t>•  경계를 넘으면 CRS-4995 로 막힌다</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14.1</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두 명령의 역할 분담</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경계는 실제로 막힌다</a:t>
            </a:r>
          </a:p>
          <a:p>
            <a:pPr algn="l">
              <a:spcAft>
                <a:spcPts val="800"/>
              </a:spcAft>
            </a:pPr>
            <a:r>
              <a:rPr sz="1600" b="0">
                <a:solidFill>
                  <a:srgbClr val="FFFFFF"/>
                </a:solidFill>
                <a:latin typeface="맑은 고딕"/>
              </a:rPr>
              <a:t>•  스택 상태 확인</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경계를 넘으면 막힌다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CRS-4995</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crsctl stop resource ora.racdb.db → CRS-4995</a:t>
            </a:r>
          </a:p>
          <a:p>
            <a:pPr algn="l">
              <a:spcAft>
                <a:spcPts val="1000"/>
              </a:spcAft>
            </a:pPr>
            <a:r>
              <a:rPr sz="1700" b="0">
                <a:solidFill>
                  <a:srgbClr val="222222"/>
                </a:solidFill>
                <a:latin typeface="맑은 고딕"/>
              </a:rPr>
              <a:t>•  "The command 'Stop resource' is invalid in crsctl. Use srvctl"</a:t>
            </a:r>
          </a:p>
          <a:p>
            <a:pPr algn="l">
              <a:spcAft>
                <a:spcPts val="1000"/>
              </a:spcAft>
            </a:pPr>
            <a:r>
              <a:rPr sz="1700" b="0">
                <a:solidFill>
                  <a:srgbClr val="222222"/>
                </a:solidFill>
                <a:latin typeface="맑은 고딕"/>
              </a:rPr>
              <a:t>•  종료 코드 1 — 스크립트에서 실패로 처리된다</a:t>
            </a:r>
          </a:p>
          <a:p>
            <a:pPr algn="l">
              <a:spcAft>
                <a:spcPts val="1000"/>
              </a:spcAft>
            </a:pPr>
            <a:r>
              <a:rPr sz="1700" b="0">
                <a:solidFill>
                  <a:srgbClr val="222222"/>
                </a:solidFill>
                <a:latin typeface="맑은 고딕"/>
              </a:rPr>
              <a:t>•  start 도 같다</a:t>
            </a:r>
          </a:p>
          <a:p>
            <a:pPr algn="l">
              <a:spcAft>
                <a:spcPts val="1000"/>
              </a:spcAft>
            </a:pPr>
            <a:r>
              <a:rPr sz="1700" b="0">
                <a:solidFill>
                  <a:srgbClr val="222222"/>
                </a:solidFill>
                <a:latin typeface="맑은 고딕"/>
              </a:rPr>
              <a:t>•  그런데 crsctl stat res ora.racdb.db -p 는 잘 된다</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왜 조회는 허용하는가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읽기와 쓰기의 비대칭</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자원 정의는 OCR 에 있고 crsctl 은 OCR 을 읽는 도구다</a:t>
            </a:r>
          </a:p>
          <a:p>
            <a:pPr algn="l">
              <a:spcAft>
                <a:spcPts val="1000"/>
              </a:spcAft>
            </a:pPr>
            <a:r>
              <a:rPr sz="1700" b="0">
                <a:solidFill>
                  <a:srgbClr val="222222"/>
                </a:solidFill>
                <a:latin typeface="맑은 고딕"/>
              </a:rPr>
              <a:t>•  데이터베이스 정지는 세션 정리·체크포인트를 포함하는 절차</a:t>
            </a:r>
          </a:p>
          <a:p>
            <a:pPr algn="l">
              <a:spcAft>
                <a:spcPts val="1000"/>
              </a:spcAft>
            </a:pPr>
            <a:r>
              <a:rPr sz="1700" b="0">
                <a:solidFill>
                  <a:srgbClr val="222222"/>
                </a:solidFill>
                <a:latin typeface="맑은 고딕"/>
              </a:rPr>
              <a:t>•  srvctl 은 그것을 알고 crsctl 은 모른다</a:t>
            </a:r>
          </a:p>
          <a:p>
            <a:pPr algn="l">
              <a:spcAft>
                <a:spcPts val="1000"/>
              </a:spcAft>
            </a:pPr>
            <a:r>
              <a:rPr sz="1700" b="0">
                <a:solidFill>
                  <a:srgbClr val="222222"/>
                </a:solidFill>
                <a:latin typeface="맑은 고딕"/>
              </a:rPr>
              <a:t>•  crsctl 이 자원 수준에서 강제로 내리면</a:t>
            </a:r>
          </a:p>
          <a:p>
            <a:pPr algn="l">
              <a:spcAft>
                <a:spcPts val="1000"/>
              </a:spcAft>
            </a:pPr>
            <a:r>
              <a:rPr sz="1700" b="0">
                <a:solidFill>
                  <a:srgbClr val="222222"/>
                </a:solidFill>
                <a:latin typeface="맑은 고딕"/>
              </a:rPr>
              <a:t>•  12장의 정상 종료·비정상 종료 구분이 무너진다</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스택 상태 확인</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crsctl 로만 되는 일</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crsctl check crs — 실행한 노드, OHAS 포함 넷</a:t>
            </a:r>
          </a:p>
          <a:p>
            <a:pPr algn="l">
              <a:spcAft>
                <a:spcPts val="1000"/>
              </a:spcAft>
            </a:pPr>
            <a:r>
              <a:rPr sz="1700" b="0">
                <a:solidFill>
                  <a:srgbClr val="222222"/>
                </a:solidFill>
                <a:latin typeface="맑은 고딕"/>
              </a:rPr>
              <a:t>•  crsctl check cluster -all — 모든 노드, 셋</a:t>
            </a:r>
          </a:p>
          <a:p>
            <a:pPr algn="l">
              <a:spcAft>
                <a:spcPts val="1000"/>
              </a:spcAft>
            </a:pPr>
            <a:r>
              <a:rPr sz="1700" b="0">
                <a:solidFill>
                  <a:srgbClr val="222222"/>
                </a:solidFill>
                <a:latin typeface="맑은 고딕"/>
              </a:rPr>
              <a:t>•  OHAS 가 빠진 이유 — 노드마다 독립적인 최하위 데몬</a:t>
            </a:r>
          </a:p>
          <a:p>
            <a:pPr algn="l">
              <a:spcAft>
                <a:spcPts val="1000"/>
              </a:spcAft>
            </a:pPr>
            <a:r>
              <a:rPr sz="1700" b="0">
                <a:solidFill>
                  <a:srgbClr val="222222"/>
                </a:solidFill>
                <a:latin typeface="맑은 고딕"/>
              </a:rPr>
              <a:t>•  CRS-4638 / 4537 / 4529 / 4533</a:t>
            </a:r>
          </a:p>
          <a:p>
            <a:pPr algn="l">
              <a:spcAft>
                <a:spcPts val="1000"/>
              </a:spcAft>
            </a:pPr>
            <a:r>
              <a:rPr sz="1700" b="0">
                <a:solidFill>
                  <a:srgbClr val="222222"/>
                </a:solidFill>
                <a:latin typeface="맑은 고딕"/>
              </a:rPr>
              <a:t>•  문제 노드를 모를 때는 -all 부터</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14.2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srvctl — 자원별 문법</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3단 구조</a:t>
            </a:r>
          </a:p>
          <a:p>
            <a:pPr algn="l">
              <a:spcAft>
                <a:spcPts val="800"/>
              </a:spcAft>
            </a:pPr>
            <a:r>
              <a:rPr sz="1600" b="0">
                <a:solidFill>
                  <a:srgbClr val="FFFFFF"/>
                </a:solidFill>
                <a:latin typeface="맑은 고딕"/>
              </a:rPr>
              <a:t>•  status 와 config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명령·대상·옵션의 3단 구조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구조를 알면 짐작할 수 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srvctl &lt;명령&gt; &lt;대상&gt; &lt;옵션&gt;</a:t>
            </a:r>
          </a:p>
          <a:p>
            <a:pPr algn="l">
              <a:spcAft>
                <a:spcPts val="1000"/>
              </a:spcAft>
            </a:pPr>
            <a:r>
              <a:rPr sz="1700" b="0">
                <a:solidFill>
                  <a:srgbClr val="222222"/>
                </a:solidFill>
                <a:latin typeface="맑은 고딕"/>
              </a:rPr>
              <a:t>•  자주 쓰는 명령 — status·config·start/stop·enable/disable·add/modify/remove</a:t>
            </a:r>
          </a:p>
          <a:p>
            <a:pPr algn="l">
              <a:spcAft>
                <a:spcPts val="1000"/>
              </a:spcAft>
            </a:pPr>
            <a:r>
              <a:rPr sz="1700" b="0">
                <a:solidFill>
                  <a:srgbClr val="222222"/>
                </a:solidFill>
                <a:latin typeface="맑은 고딕"/>
              </a:rPr>
              <a:t>•  status 는 현실, config 는 정의</a:t>
            </a:r>
          </a:p>
          <a:p>
            <a:pPr algn="l">
              <a:spcAft>
                <a:spcPts val="1000"/>
              </a:spcAft>
            </a:pPr>
            <a:r>
              <a:rPr sz="1700" b="0">
                <a:solidFill>
                  <a:srgbClr val="222222"/>
                </a:solidFill>
                <a:latin typeface="맑은 고딕"/>
              </a:rPr>
              <a:t>•  stop 은 지금 내리는 것, disable 은 앞으로 안 올라오게 하는 것</a:t>
            </a:r>
          </a:p>
          <a:p>
            <a:pPr algn="l">
              <a:spcAft>
                <a:spcPts val="1000"/>
              </a:spcAft>
            </a:pPr>
            <a:r>
              <a:rPr sz="1700" b="0">
                <a:solidFill>
                  <a:srgbClr val="222222"/>
                </a:solidFill>
                <a:latin typeface="맑은 고딕"/>
              </a:rPr>
              <a:t>•  대상은 40여 개지만 실제로 쓰는 것은 열 개 안팎</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대상마다 출력이 다르다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통일되어 있지 않다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database — Instance racdb1 is running on node rac1. Instance status: Open.</a:t>
            </a:r>
          </a:p>
          <a:p>
            <a:pPr algn="l">
              <a:spcAft>
                <a:spcPts val="1000"/>
              </a:spcAft>
            </a:pPr>
            <a:r>
              <a:rPr sz="1700" b="0">
                <a:solidFill>
                  <a:srgbClr val="222222"/>
                </a:solidFill>
                <a:latin typeface="맑은 고딕"/>
              </a:rPr>
              <a:t>•  listener — Listener LISTENER is enabled / running on node(s): rac1,rac2</a:t>
            </a:r>
          </a:p>
          <a:p>
            <a:pPr algn="l">
              <a:spcAft>
                <a:spcPts val="1000"/>
              </a:spcAft>
            </a:pPr>
            <a:r>
              <a:rPr sz="1700" b="0">
                <a:solidFill>
                  <a:srgbClr val="222222"/>
                </a:solidFill>
                <a:latin typeface="맑은 고딕"/>
              </a:rPr>
              <a:t>•  scan 과 scan_listener 는 별개의 자원</a:t>
            </a:r>
          </a:p>
          <a:p>
            <a:pPr algn="l">
              <a:spcAft>
                <a:spcPts val="1000"/>
              </a:spcAft>
            </a:pPr>
            <a:r>
              <a:rPr sz="1700" b="0">
                <a:solidFill>
                  <a:srgbClr val="222222"/>
                </a:solidFill>
                <a:latin typeface="맑은 고딕"/>
              </a:rPr>
              <a:t>•  asm — ASM is running on rac1,rac2</a:t>
            </a:r>
          </a:p>
          <a:p>
            <a:pPr algn="l">
              <a:spcAft>
                <a:spcPts val="1000"/>
              </a:spcAft>
            </a:pPr>
            <a:r>
              <a:rPr sz="1700" b="0">
                <a:solidFill>
                  <a:srgbClr val="222222"/>
                </a:solidFill>
                <a:latin typeface="맑은 고딕"/>
              </a:rPr>
              <a:t>•  공통점은 enabled 인가와 running 인가를 나눠 말한다는 것</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config 로 정의를 읽는다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장애 대응의 출발점</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srvctl config scan — SCAN 이름·서브넷·VIP</a:t>
            </a:r>
          </a:p>
          <a:p>
            <a:pPr algn="l">
              <a:spcAft>
                <a:spcPts val="1000"/>
              </a:spcAft>
            </a:pPr>
            <a:r>
              <a:rPr sz="1700" b="0">
                <a:solidFill>
                  <a:srgbClr val="222222"/>
                </a:solidFill>
                <a:latin typeface="맑은 고딕"/>
              </a:rPr>
              <a:t>•  srvctl config listener — Owner: grid, End points: TCP:1521</a:t>
            </a:r>
          </a:p>
          <a:p>
            <a:pPr algn="l">
              <a:spcAft>
                <a:spcPts val="1000"/>
              </a:spcAft>
            </a:pPr>
            <a:r>
              <a:rPr sz="1700" b="0">
                <a:solidFill>
                  <a:srgbClr val="222222"/>
                </a:solidFill>
                <a:latin typeface="맑은 고딕"/>
              </a:rPr>
              <a:t>•  서브넷이 ens33 로 되어 있다 (5장의 그 인터페이스)</a:t>
            </a:r>
          </a:p>
          <a:p>
            <a:pPr algn="l">
              <a:spcAft>
                <a:spcPts val="1000"/>
              </a:spcAft>
            </a:pPr>
            <a:r>
              <a:rPr sz="1700" b="0">
                <a:solidFill>
                  <a:srgbClr val="222222"/>
                </a:solidFill>
                <a:latin typeface="맑은 고딕"/>
              </a:rPr>
              <a:t>•  리스너 소유자가 grid 다 — 로그를 볼 때 grid 로 붙는다</a:t>
            </a:r>
          </a:p>
          <a:p>
            <a:pPr algn="l">
              <a:spcAft>
                <a:spcPts val="1000"/>
              </a:spcAft>
            </a:pPr>
            <a:r>
              <a:rPr sz="1700" b="0">
                <a:solidFill>
                  <a:srgbClr val="222222"/>
                </a:solidFill>
                <a:latin typeface="맑은 고딕"/>
              </a:rPr>
              <a:t>•  status 와 config 를 한 세트로</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오류 재현 — srvctl</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접두어가 계층을 알려 준다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없는 DB → PRCD-1120 + PRCR-1001 (두 줄)</a:t>
            </a:r>
          </a:p>
          <a:p>
            <a:pPr algn="l">
              <a:spcAft>
                <a:spcPts val="1000"/>
              </a:spcAft>
            </a:pPr>
            <a:r>
              <a:rPr sz="1700" b="0">
                <a:solidFill>
                  <a:srgbClr val="222222"/>
                </a:solidFill>
                <a:latin typeface="맑은 고딕"/>
              </a:rPr>
              <a:t>•  없는 인스턴스 → PRKO-3032</a:t>
            </a:r>
          </a:p>
          <a:p>
            <a:pPr algn="l">
              <a:spcAft>
                <a:spcPts val="1000"/>
              </a:spcAft>
            </a:pPr>
            <a:r>
              <a:rPr sz="1700" b="0">
                <a:solidFill>
                  <a:srgbClr val="222222"/>
                </a:solidFill>
                <a:latin typeface="맑은 고딕"/>
              </a:rPr>
              <a:t>•  잘못된 옵션 → PRKO-2002</a:t>
            </a:r>
          </a:p>
          <a:p>
            <a:pPr algn="l">
              <a:spcAft>
                <a:spcPts val="1000"/>
              </a:spcAft>
            </a:pPr>
            <a:r>
              <a:rPr sz="1700" b="0">
                <a:solidFill>
                  <a:srgbClr val="222222"/>
                </a:solidFill>
                <a:latin typeface="맑은 고딕"/>
              </a:rPr>
              <a:t>•  이미 떠 있음 → PRCC-1015 + PRCR-1004</a:t>
            </a:r>
          </a:p>
          <a:p>
            <a:pPr algn="l">
              <a:spcAft>
                <a:spcPts val="1000"/>
              </a:spcAft>
            </a:pPr>
            <a:r>
              <a:rPr sz="1700" b="0">
                <a:solidFill>
                  <a:srgbClr val="222222"/>
                </a:solidFill>
                <a:latin typeface="맑은 고딕"/>
              </a:rPr>
              <a:t>•  PRKO 면 내 명령이 틀린 것, PRC 면 대상이나 상태가 다른 것</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14.3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crsctl — 자원 목록과 -init</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두 구획</a:t>
            </a:r>
          </a:p>
          <a:p>
            <a:pPr algn="l">
              <a:spcAft>
                <a:spcPts val="800"/>
              </a:spcAft>
            </a:pPr>
            <a:r>
              <a:rPr sz="1600" b="0">
                <a:solidFill>
                  <a:srgbClr val="FFFFFF"/>
                </a:solidFill>
                <a:latin typeface="맑은 고딕"/>
              </a:rPr>
              <a:t>•  다른 세계</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crsctl stat res -t 읽기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두 구획으로 나뉜다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Local Resources — 노드마다 하나씩 (리스너·네트워크·ONS)</a:t>
            </a:r>
          </a:p>
          <a:p>
            <a:pPr algn="l">
              <a:spcAft>
                <a:spcPts val="1000"/>
              </a:spcAft>
            </a:pPr>
            <a:r>
              <a:rPr sz="1700" b="0">
                <a:solidFill>
                  <a:srgbClr val="222222"/>
                </a:solidFill>
                <a:latin typeface="맑은 고딕"/>
              </a:rPr>
              <a:t>•  Cluster Resources — 정해진 개수만 (SCAN 리스너·VIP·DB)</a:t>
            </a:r>
          </a:p>
          <a:p>
            <a:pPr algn="l">
              <a:spcAft>
                <a:spcPts val="1000"/>
              </a:spcAft>
            </a:pPr>
            <a:r>
              <a:rPr sz="1700" b="0">
                <a:solidFill>
                  <a:srgbClr val="222222"/>
                </a:solidFill>
                <a:latin typeface="맑은 고딕"/>
              </a:rPr>
              <a:t>•  왼쪽 번호는 인스턴스 번호가 아니라 슬롯 번호</a:t>
            </a:r>
          </a:p>
          <a:p>
            <a:pPr algn="l">
              <a:spcAft>
                <a:spcPts val="1000"/>
              </a:spcAft>
            </a:pPr>
            <a:r>
              <a:rPr sz="1700" b="0">
                <a:solidFill>
                  <a:srgbClr val="222222"/>
                </a:solidFill>
                <a:latin typeface="맑은 고딕"/>
              </a:rPr>
              <a:t>•  DB 는 CARDINALITY 2 라 슬롯이 둘</a:t>
            </a:r>
          </a:p>
          <a:p>
            <a:pPr algn="l">
              <a:spcAft>
                <a:spcPts val="1000"/>
              </a:spcAft>
            </a:pPr>
            <a:r>
              <a:rPr sz="1700" b="0">
                <a:solidFill>
                  <a:srgbClr val="222222"/>
                </a:solidFill>
                <a:latin typeface="맑은 고딕"/>
              </a:rPr>
              <a:t>•  State details 에 Open 과 HOME= 이 함께 나온다</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한 자원만 OFFLINE 일 때</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ora.chad 진단</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ora.chad 가 rac1 ONLINE, rac2 OFFLINE, TARGET 은 둘 다 ONLINE</a:t>
            </a:r>
          </a:p>
          <a:p>
            <a:pPr algn="l">
              <a:spcAft>
                <a:spcPts val="1000"/>
              </a:spcAft>
            </a:pPr>
            <a:r>
              <a:rPr sz="1700" b="0">
                <a:solidFill>
                  <a:srgbClr val="222222"/>
                </a:solidFill>
                <a:latin typeface="맑은 고딕"/>
              </a:rPr>
              <a:t>•  어긋나 있는데 CRS 가 맞추지 않는다</a:t>
            </a:r>
          </a:p>
          <a:p>
            <a:pPr algn="l">
              <a:spcAft>
                <a:spcPts val="1000"/>
              </a:spcAft>
            </a:pPr>
            <a:r>
              <a:rPr sz="1700" b="0">
                <a:solidFill>
                  <a:srgbClr val="222222"/>
                </a:solidFill>
                <a:latin typeface="맑은 고딕"/>
              </a:rPr>
              <a:t>•  srvctl status cha -node rac2 → enabled 이지만 not running</a:t>
            </a:r>
          </a:p>
          <a:p>
            <a:pPr algn="l">
              <a:spcAft>
                <a:spcPts val="1000"/>
              </a:spcAft>
            </a:pPr>
            <a:r>
              <a:rPr sz="1700" b="0">
                <a:solidFill>
                  <a:srgbClr val="222222"/>
                </a:solidFill>
                <a:latin typeface="맑은 고딕"/>
              </a:rPr>
              <a:t>•  CHAD 는 Cluster Health Advisor, 필수가 아니다</a:t>
            </a:r>
          </a:p>
          <a:p>
            <a:pPr algn="l">
              <a:spcAft>
                <a:spcPts val="1000"/>
              </a:spcAft>
            </a:pPr>
            <a:r>
              <a:rPr sz="1700" b="0">
                <a:solidFill>
                  <a:srgbClr val="222222"/>
                </a:solidFill>
                <a:latin typeface="맑은 고딕"/>
              </a:rPr>
              <a:t>•  crsctl 로 이름을 찾고 srvctl 로 의미를 확인한다</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OFFLINE 을 모두 장애로 보지 말 것</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의도된 OFFLINE</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Flex ASM 의 세 슬롯 중 하나는 노드가 둘이라 늘 빈다</a:t>
            </a:r>
          </a:p>
          <a:p>
            <a:pPr algn="l">
              <a:spcAft>
                <a:spcPts val="1000"/>
              </a:spcAft>
            </a:pPr>
            <a:r>
              <a:rPr sz="1700" b="0">
                <a:solidFill>
                  <a:srgbClr val="222222"/>
                </a:solidFill>
                <a:latin typeface="맑은 고딕"/>
              </a:rPr>
              <a:t>•  ora.diskmon 은 AUTO_START=never — Exadata 전용</a:t>
            </a:r>
          </a:p>
          <a:p>
            <a:pPr algn="l">
              <a:spcAft>
                <a:spcPts val="1000"/>
              </a:spcAft>
            </a:pPr>
            <a:r>
              <a:rPr sz="1700" b="0">
                <a:solidFill>
                  <a:srgbClr val="222222"/>
                </a:solidFill>
                <a:latin typeface="맑은 고딕"/>
              </a:rPr>
              <a:t>•  TARGET 도 OFFLINE 이면 CRS 도 내려 둘 생각이다</a:t>
            </a:r>
          </a:p>
          <a:p>
            <a:pPr algn="l">
              <a:spcAft>
                <a:spcPts val="1000"/>
              </a:spcAft>
            </a:pPr>
            <a:r>
              <a:rPr sz="1700" b="0">
                <a:solidFill>
                  <a:srgbClr val="222222"/>
                </a:solidFill>
                <a:latin typeface="맑은 고딕"/>
              </a:rPr>
              <a:t>•  확인 순서 — TARGET 을 보고 AUTO_START 를 본다</a:t>
            </a:r>
          </a:p>
          <a:p>
            <a:pPr algn="l">
              <a:spcAft>
                <a:spcPts val="1000"/>
              </a:spcAft>
            </a:pPr>
            <a:r>
              <a:rPr sz="1700" b="0">
                <a:solidFill>
                  <a:srgbClr val="222222"/>
                </a:solidFill>
                <a:latin typeface="맑은 고딕"/>
              </a:rPr>
              <a:t>•  둘 다 정상이면 그때 장애를 의심한다</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-init 이 보여 주는 다른 세계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OHAS 의 자원</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이름이 완전히 다르다 — ora.cssd, ora.crsd, ora.gipcd</a:t>
            </a:r>
          </a:p>
          <a:p>
            <a:pPr algn="l">
              <a:spcAft>
                <a:spcPts val="1000"/>
              </a:spcAft>
            </a:pPr>
            <a:r>
              <a:rPr sz="1700" b="0">
                <a:solidFill>
                  <a:srgbClr val="222222"/>
                </a:solidFill>
                <a:latin typeface="맑은 고딕"/>
              </a:rPr>
              <a:t>•  Server 열이 전부 실행한 노드다 (클러스터 전체가 아니다)</a:t>
            </a:r>
          </a:p>
          <a:p>
            <a:pPr algn="l">
              <a:spcAft>
                <a:spcPts val="1000"/>
              </a:spcAft>
            </a:pPr>
            <a:r>
              <a:rPr sz="1700" b="0">
                <a:solidFill>
                  <a:srgbClr val="222222"/>
                </a:solidFill>
                <a:latin typeface="맑은 고딕"/>
              </a:rPr>
              <a:t>•  OHAS 는 노드마다 독립적으로 뜨는 최하위 데몬</a:t>
            </a:r>
          </a:p>
          <a:p>
            <a:pPr algn="l">
              <a:spcAft>
                <a:spcPts val="1000"/>
              </a:spcAft>
            </a:pPr>
            <a:r>
              <a:rPr sz="1700" b="0">
                <a:solidFill>
                  <a:srgbClr val="222222"/>
                </a:solidFill>
                <a:latin typeface="맑은 고딕"/>
              </a:rPr>
              <a:t>•  계층 — OHAS → CSSD → CRSD → 일반 자원</a:t>
            </a:r>
          </a:p>
          <a:p>
            <a:pPr algn="l">
              <a:spcAft>
                <a:spcPts val="1000"/>
              </a:spcAft>
            </a:pPr>
            <a:r>
              <a:rPr sz="1700" b="0">
                <a:solidFill>
                  <a:srgbClr val="222222"/>
                </a:solidFill>
                <a:latin typeface="맑은 고딕"/>
              </a:rPr>
              <a:t>•  일반 17개, -init 13개</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ora.asm 만 양쪽에 있다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같은 것을 다른 목적으로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-init 쪽 — 이 노드의 ASM 을 OHAS 가 띄우는 자원</a:t>
            </a:r>
          </a:p>
          <a:p>
            <a:pPr algn="l">
              <a:spcAft>
                <a:spcPts val="1000"/>
              </a:spcAft>
            </a:pPr>
            <a:r>
              <a:rPr sz="1700" b="0">
                <a:solidFill>
                  <a:srgbClr val="222222"/>
                </a:solidFill>
                <a:latin typeface="맑은 고딕"/>
              </a:rPr>
              <a:t>•  이유 — OCR·투표 디스크가 ASM 에 있어 CRSD 보다 먼저 떠야 한다</a:t>
            </a:r>
          </a:p>
          <a:p>
            <a:pPr algn="l">
              <a:spcAft>
                <a:spcPts val="1000"/>
              </a:spcAft>
            </a:pPr>
            <a:r>
              <a:rPr sz="1700" b="0">
                <a:solidFill>
                  <a:srgbClr val="222222"/>
                </a:solidFill>
                <a:latin typeface="맑은 고딕"/>
              </a:rPr>
              <a:t>•  일반 쪽 — ora.asmgroup 아래, 슬롯 셋 (Flex ASM)</a:t>
            </a:r>
          </a:p>
          <a:p>
            <a:pPr algn="l">
              <a:spcAft>
                <a:spcPts val="1000"/>
              </a:spcAft>
            </a:pPr>
            <a:r>
              <a:rPr sz="1700" b="0">
                <a:solidFill>
                  <a:srgbClr val="222222"/>
                </a:solidFill>
                <a:latin typeface="맑은 고딕"/>
              </a:rPr>
              <a:t>•  같은 프로세스를 두 계층이 각각의 관점으로 본다</a:t>
            </a:r>
          </a:p>
          <a:p>
            <a:pPr algn="l">
              <a:spcAft>
                <a:spcPts val="1000"/>
              </a:spcAft>
            </a:pPr>
            <a:r>
              <a:rPr sz="1700" b="0">
                <a:solidFill>
                  <a:srgbClr val="222222"/>
                </a:solidFill>
                <a:latin typeface="맑은 고딕"/>
              </a:rPr>
              <a:t>•  부팅 순서상의 필수 자원 vs 클러스터 ASM 서비스</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부팅이 멈췄을 때</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아래에서 위로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 crsctl stat res -t -init 을 그 노드에서 — ora.cssd 확인</a:t>
            </a:r>
          </a:p>
          <a:p>
            <a:pPr algn="l">
              <a:spcAft>
                <a:spcPts val="1000"/>
              </a:spcAft>
            </a:pPr>
            <a:r>
              <a:rPr sz="1700" b="0">
                <a:solidFill>
                  <a:srgbClr val="222222"/>
                </a:solidFill>
                <a:latin typeface="맑은 고딕"/>
              </a:rPr>
              <a:t>•  2. ora.crsd 확인 — 안 떴으면 OCR 을 못 읽는 경우가 많다</a:t>
            </a:r>
          </a:p>
          <a:p>
            <a:pPr algn="l">
              <a:spcAft>
                <a:spcPts val="1000"/>
              </a:spcAft>
            </a:pPr>
            <a:r>
              <a:rPr sz="1700" b="0">
                <a:solidFill>
                  <a:srgbClr val="222222"/>
                </a:solidFill>
                <a:latin typeface="맑은 고딕"/>
              </a:rPr>
              <a:t>•  3. 거기까지 정상이면 crsctl stat res -t 로 올라온다</a:t>
            </a:r>
          </a:p>
          <a:p>
            <a:pPr algn="l">
              <a:spcAft>
                <a:spcPts val="1000"/>
              </a:spcAft>
            </a:pPr>
            <a:r>
              <a:rPr sz="1700" b="0">
                <a:solidFill>
                  <a:srgbClr val="222222"/>
                </a:solidFill>
                <a:latin typeface="맑은 고딕"/>
              </a:rPr>
              <a:t>•  4. ora.DATA.dg → ora.racdb.db 의존 순서를 따라간다</a:t>
            </a:r>
          </a:p>
          <a:p>
            <a:pPr algn="l">
              <a:spcAft>
                <a:spcPts val="1000"/>
              </a:spcAft>
            </a:pPr>
            <a:r>
              <a:rPr sz="1700" b="0">
                <a:solidFill>
                  <a:srgbClr val="222222"/>
                </a:solidFill>
                <a:latin typeface="맑은 고딕"/>
              </a:rPr>
              <a:t>•  순서를 거꾸로 밟으면 시간을 낭비한다</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14.4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자원 속성 -p</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세 가지 값</a:t>
            </a:r>
          </a:p>
          <a:p>
            <a:pPr algn="l">
              <a:spcAft>
                <a:spcPts val="800"/>
              </a:spcAft>
            </a:pPr>
            <a:r>
              <a:rPr sz="1600" b="0">
                <a:solidFill>
                  <a:srgbClr val="FFFFFF"/>
                </a:solidFill>
                <a:latin typeface="맑은 고딕"/>
              </a:rPr>
              <a:t>•  의존 관계</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속성이 자원의 성격을 정한다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-p 로 전체 정의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ora.racdb.db — CARDINALITY 2, CHECK_INTERVAL 900</a:t>
            </a:r>
          </a:p>
          <a:p>
            <a:pPr algn="l">
              <a:spcAft>
                <a:spcPts val="1000"/>
              </a:spcAft>
            </a:pPr>
            <a:r>
              <a:rPr sz="1700" b="0">
                <a:solidFill>
                  <a:srgbClr val="222222"/>
                </a:solidFill>
                <a:latin typeface="맑은 고딕"/>
              </a:rPr>
              <a:t>•  RESTART_ATTEMPTS 2, UPTIME_THRESHOLD 1h</a:t>
            </a:r>
          </a:p>
          <a:p>
            <a:pPr algn="l">
              <a:spcAft>
                <a:spcPts val="1000"/>
              </a:spcAft>
            </a:pPr>
            <a:r>
              <a:rPr sz="1700" b="0">
                <a:solidFill>
                  <a:srgbClr val="222222"/>
                </a:solidFill>
                <a:latin typeface="맑은 고딕"/>
              </a:rPr>
              <a:t>•  SCRIPT_TIMEOUT 60, DATABASE_TYPE RAC</a:t>
            </a:r>
          </a:p>
          <a:p>
            <a:pPr algn="l">
              <a:spcAft>
                <a:spcPts val="1000"/>
              </a:spcAft>
            </a:pPr>
            <a:r>
              <a:rPr sz="1700" b="0">
                <a:solidFill>
                  <a:srgbClr val="222222"/>
                </a:solidFill>
                <a:latin typeface="맑은 고딕"/>
              </a:rPr>
              <a:t>•  노드를 추가하면 CARDINALITY 를 3 으로 올려야 한다</a:t>
            </a:r>
          </a:p>
          <a:p>
            <a:pPr algn="l">
              <a:spcAft>
                <a:spcPts val="1000"/>
              </a:spcAft>
            </a:pPr>
            <a:r>
              <a:rPr sz="1700" b="0">
                <a:solidFill>
                  <a:srgbClr val="222222"/>
                </a:solidFill>
                <a:latin typeface="맑은 고딕"/>
              </a:rPr>
              <a:t>•  데이터베이스는 무거우므로 15분마다만 점검한다</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AUTO_START 세 값</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재부팅 후 어떻게 할 것인가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always — 무조건 올린다 (ora.ons, ora.asm)</a:t>
            </a:r>
          </a:p>
          <a:p>
            <a:pPr algn="l">
              <a:spcAft>
                <a:spcPts val="1000"/>
              </a:spcAft>
            </a:pPr>
            <a:r>
              <a:rPr sz="1700" b="0">
                <a:solidFill>
                  <a:srgbClr val="222222"/>
                </a:solidFill>
                <a:latin typeface="맑은 고딕"/>
              </a:rPr>
              <a:t>•  restore — 재부팅 직전 상태로 되돌린다 (대부분의 자원)</a:t>
            </a:r>
          </a:p>
          <a:p>
            <a:pPr algn="l">
              <a:spcAft>
                <a:spcPts val="1000"/>
              </a:spcAft>
            </a:pPr>
            <a:r>
              <a:rPr sz="1700" b="0">
                <a:solidFill>
                  <a:srgbClr val="222222"/>
                </a:solidFill>
                <a:latin typeface="맑은 고딕"/>
              </a:rPr>
              <a:t>•  never — 올리지 않는다 (ora.diskmon)</a:t>
            </a:r>
          </a:p>
          <a:p>
            <a:pPr algn="l">
              <a:spcAft>
                <a:spcPts val="1000"/>
              </a:spcAft>
            </a:pPr>
            <a:r>
              <a:rPr sz="1700" b="0">
                <a:solidFill>
                  <a:srgbClr val="222222"/>
                </a:solidFill>
                <a:latin typeface="맑은 고딕"/>
              </a:rPr>
              <a:t>•  restore 가 기본인 이유 — 의도적으로 내려 둔 것을 멋대로 올리지 않는다</a:t>
            </a:r>
          </a:p>
          <a:p>
            <a:pPr algn="l">
              <a:spcAft>
                <a:spcPts val="1000"/>
              </a:spcAft>
            </a:pPr>
            <a:r>
              <a:rPr sz="1700" b="0">
                <a:solidFill>
                  <a:srgbClr val="222222"/>
                </a:solidFill>
                <a:latin typeface="맑은 고딕"/>
              </a:rPr>
              <a:t>•  12장의 "srvctl stop 후 재부팅해도 안 올라온다" 의 근거</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값이 자원의 성격을 드러낸다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숫자를 읽는 법</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CHECK_INTERVAL — VIP·네트워크·ASM 1초, 리스너 60초, DB 900초</a:t>
            </a:r>
          </a:p>
          <a:p>
            <a:pPr algn="l">
              <a:spcAft>
                <a:spcPts val="1000"/>
              </a:spcAft>
            </a:pPr>
            <a:r>
              <a:rPr sz="1700" b="0">
                <a:solidFill>
                  <a:srgbClr val="222222"/>
                </a:solidFill>
                <a:latin typeface="맑은 고딕"/>
              </a:rPr>
              <a:t>•  ora.rac1.vip 의 RESTART_ATTEMPTS 는 0</a:t>
            </a:r>
          </a:p>
          <a:p>
            <a:pPr algn="l">
              <a:spcAft>
                <a:spcPts val="1000"/>
              </a:spcAft>
            </a:pPr>
            <a:r>
              <a:rPr sz="1700" b="0">
                <a:solidFill>
                  <a:srgbClr val="222222"/>
                </a:solidFill>
                <a:latin typeface="맑은 고딕"/>
              </a:rPr>
              <a:t>•  재시작하지 않고 다른 노드로 옮겨 간다 — 그것이 VIP 의 존재 이유</a:t>
            </a:r>
          </a:p>
          <a:p>
            <a:pPr algn="l">
              <a:spcAft>
                <a:spcPts val="1000"/>
              </a:spcAft>
            </a:pPr>
            <a:r>
              <a:rPr sz="1700" b="0">
                <a:solidFill>
                  <a:srgbClr val="222222"/>
                </a:solidFill>
                <a:latin typeface="맑은 고딕"/>
              </a:rPr>
              <a:t>•  -init 자원은 거의 always, CRSD 계열은 RESTART_ATTEMPTS 10</a:t>
            </a:r>
          </a:p>
          <a:p>
            <a:pPr algn="l">
              <a:spcAft>
                <a:spcPts val="1000"/>
              </a:spcAft>
            </a:pPr>
            <a:r>
              <a:rPr sz="1700" b="0">
                <a:solidFill>
                  <a:srgbClr val="222222"/>
                </a:solidFill>
                <a:latin typeface="맑은 고딕"/>
              </a:rPr>
              <a:t>•  ora.cssd 는 3 — 그 이상은 노드 재부팅이 맞다</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의존 관계 읽기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hard·weak·pullup</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hard — 없으면 못 올린다 (+DATA, +FRA)</a:t>
            </a:r>
          </a:p>
          <a:p>
            <a:pPr algn="l">
              <a:spcAft>
                <a:spcPts val="1000"/>
              </a:spcAft>
            </a:pPr>
            <a:r>
              <a:rPr sz="1700" b="0">
                <a:solidFill>
                  <a:srgbClr val="222222"/>
                </a:solidFill>
                <a:latin typeface="맑은 고딕"/>
              </a:rPr>
              <a:t>•  weak — 있으면 좋고 없어도 뜬다 (리스너·ONS)</a:t>
            </a:r>
          </a:p>
          <a:p>
            <a:pPr algn="l">
              <a:spcAft>
                <a:spcPts val="1000"/>
              </a:spcAft>
            </a:pPr>
            <a:r>
              <a:rPr sz="1700" b="0">
                <a:solidFill>
                  <a:srgbClr val="222222"/>
                </a:solidFill>
                <a:latin typeface="맑은 고딕"/>
              </a:rPr>
              <a:t>•  pullup — 그것이 올라오면 나도 따라 올라간다</a:t>
            </a:r>
          </a:p>
          <a:p>
            <a:pPr algn="l">
              <a:spcAft>
                <a:spcPts val="1000"/>
              </a:spcAft>
            </a:pPr>
            <a:r>
              <a:rPr sz="1700" b="0">
                <a:solidFill>
                  <a:srgbClr val="222222"/>
                </a:solidFill>
                <a:latin typeface="맑은 고딕"/>
              </a:rPr>
              <a:t>•  STOP_DEPENDENCIES 는 반대 방향 — ASM 이 내려가면 DB 도 내려간다</a:t>
            </a:r>
          </a:p>
          <a:p>
            <a:pPr algn="l">
              <a:spcAft>
                <a:spcPts val="1000"/>
              </a:spcAft>
            </a:pPr>
            <a:r>
              <a:rPr sz="1700" b="0">
                <a:solidFill>
                  <a:srgbClr val="222222"/>
                </a:solidFill>
                <a:latin typeface="맑은 고딕"/>
              </a:rPr>
              <a:t>•  8장의 CRS-2640 이 hard 때문이었다</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오래된 의존성이 남아 있다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실제로 관찰된 것</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pullup 절에 global:ora.CH9DG.dg 가 있다</a:t>
            </a:r>
          </a:p>
          <a:p>
            <a:pPr algn="l">
              <a:spcAft>
                <a:spcPts val="1000"/>
              </a:spcAft>
            </a:pPr>
            <a:r>
              <a:rPr sz="1700" b="0">
                <a:solidFill>
                  <a:srgbClr val="222222"/>
                </a:solidFill>
                <a:latin typeface="맑은 고딕"/>
              </a:rPr>
              <a:t>•  9장에서 만들었다 지운 디스크그룹이다</a:t>
            </a:r>
          </a:p>
          <a:p>
            <a:pPr algn="l">
              <a:spcAft>
                <a:spcPts val="1000"/>
              </a:spcAft>
            </a:pPr>
            <a:r>
              <a:rPr sz="1700" b="0">
                <a:solidFill>
                  <a:srgbClr val="222222"/>
                </a:solidFill>
                <a:latin typeface="맑은 고딕"/>
              </a:rPr>
              <a:t>•  crsctl stat res ora.CH9DG.dg → CRS-2613 (자원 없음)</a:t>
            </a:r>
          </a:p>
          <a:p>
            <a:pPr algn="l">
              <a:spcAft>
                <a:spcPts val="1000"/>
              </a:spcAft>
            </a:pPr>
            <a:r>
              <a:rPr sz="1700" b="0">
                <a:solidFill>
                  <a:srgbClr val="222222"/>
                </a:solidFill>
                <a:latin typeface="맑은 고딕"/>
              </a:rPr>
              <a:t>•  그래도 DB 는 정상 — 없는 자원은 영영 올라오지 않으므로 무해</a:t>
            </a:r>
          </a:p>
          <a:p>
            <a:pPr algn="l">
              <a:spcAft>
                <a:spcPts val="1000"/>
              </a:spcAft>
            </a:pPr>
            <a:r>
              <a:rPr sz="1700" b="0">
                <a:solidFill>
                  <a:srgbClr val="222222"/>
                </a:solidFill>
                <a:latin typeface="맑은 고딕"/>
              </a:rPr>
              <a:t>•  그러나 나중에 읽는 사람이 CH9DG 를 찾아 헤맨다</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14.5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사용자 스크립트를 클러스터 자원으로</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액션 스크립트의 계약</a:t>
            </a:r>
          </a:p>
          <a:p>
            <a:pPr algn="l">
              <a:spcAft>
                <a:spcPts val="800"/>
              </a:spcAft>
            </a:pPr>
            <a:r>
              <a:rPr sz="1600" b="0">
                <a:solidFill>
                  <a:srgbClr val="FFFFFF"/>
                </a:solidFill>
                <a:latin typeface="맑은 고딕"/>
              </a:rPr>
              <a:t>•  등록과 자동 복구</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CRS 는 오라클 제품만 관리하지 않는다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왜 이것을 하는가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지금까지 본 자원은 모두 ora. 로 시작했다</a:t>
            </a:r>
          </a:p>
          <a:p>
            <a:pPr algn="l">
              <a:spcAft>
                <a:spcPts val="1000"/>
              </a:spcAft>
            </a:pPr>
            <a:r>
              <a:rPr sz="1700" b="0">
                <a:solidFill>
                  <a:srgbClr val="222222"/>
                </a:solidFill>
                <a:latin typeface="맑은 고딕"/>
              </a:rPr>
              <a:t>•  감시하고 되살리고 옮길 대상이면 무엇이든 등록할 수 있다</a:t>
            </a:r>
          </a:p>
          <a:p>
            <a:pPr algn="l">
              <a:spcAft>
                <a:spcPts val="1000"/>
              </a:spcAft>
            </a:pPr>
            <a:r>
              <a:rPr sz="1700" b="0">
                <a:solidFill>
                  <a:srgbClr val="222222"/>
                </a:solidFill>
                <a:latin typeface="맑은 고딕"/>
              </a:rPr>
              <a:t>•  현실의 예 — 한 노드에서만 돌아야 하는 배치 데몬</a:t>
            </a:r>
          </a:p>
          <a:p>
            <a:pPr algn="l">
              <a:spcAft>
                <a:spcPts val="1000"/>
              </a:spcAft>
            </a:pPr>
            <a:r>
              <a:rPr sz="1700" b="0">
                <a:solidFill>
                  <a:srgbClr val="222222"/>
                </a:solidFill>
                <a:latin typeface="맑은 고딕"/>
              </a:rPr>
              <a:t>•  그 노드가 죽으면 다른 노드에서 자동으로 뜨기를 바란다면</a:t>
            </a:r>
          </a:p>
          <a:p>
            <a:pPr algn="l">
              <a:spcAft>
                <a:spcPts val="1000"/>
              </a:spcAft>
            </a:pPr>
            <a:r>
              <a:rPr sz="1700" b="0">
                <a:solidFill>
                  <a:srgbClr val="222222"/>
                </a:solidFill>
                <a:latin typeface="맑은 고딕"/>
              </a:rPr>
              <a:t>•  하트비트와 페일오버를 직접 짤 것인가, CRS 에 맡길 것인가</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액션 스크립트의 계약</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네 개의 인자</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start — 기동한다. 0=성공</a:t>
            </a:r>
          </a:p>
          <a:p>
            <a:pPr algn="l">
              <a:spcAft>
                <a:spcPts val="1000"/>
              </a:spcAft>
            </a:pPr>
            <a:r>
              <a:rPr sz="1700" b="0">
                <a:solidFill>
                  <a:srgbClr val="222222"/>
                </a:solidFill>
                <a:latin typeface="맑은 고딕"/>
              </a:rPr>
              <a:t>•  stop — 정지한다. 0=성공</a:t>
            </a:r>
          </a:p>
          <a:p>
            <a:pPr algn="l">
              <a:spcAft>
                <a:spcPts val="1000"/>
              </a:spcAft>
            </a:pPr>
            <a:r>
              <a:rPr sz="1700" b="0">
                <a:solidFill>
                  <a:srgbClr val="222222"/>
                </a:solidFill>
                <a:latin typeface="맑은 고딕"/>
              </a:rPr>
              <a:t>•  check — 살아 있는가. 0=살아 있음</a:t>
            </a:r>
          </a:p>
          <a:p>
            <a:pPr algn="l">
              <a:spcAft>
                <a:spcPts val="1000"/>
              </a:spcAft>
            </a:pPr>
            <a:r>
              <a:rPr sz="1700" b="0">
                <a:solidFill>
                  <a:srgbClr val="222222"/>
                </a:solidFill>
                <a:latin typeface="맑은 고딕"/>
              </a:rPr>
              <a:t>•  clean — 실패한 자원의 잔재를 치운다</a:t>
            </a:r>
          </a:p>
          <a:p>
            <a:pPr algn="l">
              <a:spcAft>
                <a:spcPts val="1000"/>
              </a:spcAft>
            </a:pPr>
            <a:r>
              <a:rPr sz="1700" b="0">
                <a:solidFill>
                  <a:srgbClr val="222222"/>
                </a:solidFill>
                <a:latin typeface="맑은 고딕"/>
              </a:rPr>
              <a:t>•  로그 한 줄을 남기는 것이 핵심 장치다</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자원 등록</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crsctl add resource</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-type cluster_resource — 클러스터 전체에서 정해진 개수만</a:t>
            </a:r>
          </a:p>
          <a:p>
            <a:pPr algn="l">
              <a:spcAft>
                <a:spcPts val="1000"/>
              </a:spcAft>
            </a:pPr>
            <a:r>
              <a:rPr sz="1700" b="0">
                <a:solidFill>
                  <a:srgbClr val="222222"/>
                </a:solidFill>
                <a:latin typeface="맑은 고딕"/>
              </a:rPr>
              <a:t>•  PLACEMENT=restricted, HOSTING_MEMBERS=rac1 rac2</a:t>
            </a:r>
          </a:p>
          <a:p>
            <a:pPr algn="l">
              <a:spcAft>
                <a:spcPts val="1000"/>
              </a:spcAft>
            </a:pPr>
            <a:r>
              <a:rPr sz="1700" b="0">
                <a:solidFill>
                  <a:srgbClr val="222222"/>
                </a:solidFill>
                <a:latin typeface="맑은 고딕"/>
              </a:rPr>
              <a:t>•  CHECK_INTERVAL=30 — 이 값이 곧 감지 지연의 상한</a:t>
            </a:r>
          </a:p>
          <a:p>
            <a:pPr algn="l">
              <a:spcAft>
                <a:spcPts val="1000"/>
              </a:spcAft>
            </a:pPr>
            <a:r>
              <a:rPr sz="1700" b="0">
                <a:solidFill>
                  <a:srgbClr val="222222"/>
                </a:solidFill>
                <a:latin typeface="맑은 고딕"/>
              </a:rPr>
              <a:t>•  START_DEPENDENCIES=hard(ora.net1.network)</a:t>
            </a:r>
          </a:p>
          <a:p>
            <a:pPr algn="l">
              <a:spcAft>
                <a:spcPts val="1000"/>
              </a:spcAft>
            </a:pPr>
            <a:r>
              <a:rPr sz="1700" b="0">
                <a:solidFill>
                  <a:srgbClr val="222222"/>
                </a:solidFill>
                <a:latin typeface="맑은 고딕"/>
              </a:rPr>
              <a:t>•  성공하면 아무것도 출력하지 않는다</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기동과 자동 복구</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실측 타임라인</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12:02:56 기동 (1.9초), 이후 30초마다 check</a:t>
            </a:r>
          </a:p>
          <a:p>
            <a:pPr algn="l">
              <a:spcAft>
                <a:spcPts val="1000"/>
              </a:spcAft>
            </a:pPr>
            <a:r>
              <a:rPr sz="1700" b="0">
                <a:solidFill>
                  <a:srgbClr val="222222"/>
                </a:solidFill>
                <a:latin typeface="맑은 고딕"/>
              </a:rPr>
              <a:t>•  12:03:16 상태 파일 삭제 = 장애 발생</a:t>
            </a:r>
          </a:p>
          <a:p>
            <a:pPr algn="l">
              <a:spcAft>
                <a:spcPts val="1000"/>
              </a:spcAft>
            </a:pPr>
            <a:r>
              <a:rPr sz="1700" b="0">
                <a:solidFill>
                  <a:srgbClr val="222222"/>
                </a:solidFill>
                <a:latin typeface="맑은 고딕"/>
              </a:rPr>
              <a:t>•  12:03:26 check 실패 — 감지까지 10초</a:t>
            </a:r>
          </a:p>
          <a:p>
            <a:pPr algn="l">
              <a:spcAft>
                <a:spcPts val="1000"/>
              </a:spcAft>
            </a:pPr>
            <a:r>
              <a:rPr sz="1700" b="0">
                <a:solidFill>
                  <a:srgbClr val="222222"/>
                </a:solidFill>
                <a:latin typeface="맑은 고딕"/>
              </a:rPr>
              <a:t>•  12:03:27 CRS 가 start 호출 — 복구 1초</a:t>
            </a:r>
          </a:p>
          <a:p>
            <a:pPr algn="l">
              <a:spcAft>
                <a:spcPts val="1000"/>
              </a:spcAft>
            </a:pPr>
            <a:r>
              <a:rPr sz="1700" b="0">
                <a:solidFill>
                  <a:srgbClr val="222222"/>
                </a:solidFill>
                <a:latin typeface="맑은 고딕"/>
              </a:rPr>
              <a:t>•  전체 11초, 최악의 경우 30 + 1 = 31초</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화면으로는 안 보이는 복구</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로그를 봐야 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복구가 1초라 crsctl stat res -t 는 한 번도 OFFLINE 을 안 보여 줬다</a:t>
            </a:r>
          </a:p>
          <a:p>
            <a:pPr algn="l">
              <a:spcAft>
                <a:spcPts val="1000"/>
              </a:spcAft>
            </a:pPr>
            <a:r>
              <a:rPr sz="1700" b="0">
                <a:solidFill>
                  <a:srgbClr val="222222"/>
                </a:solidFill>
                <a:latin typeface="맑은 고딕"/>
              </a:rPr>
              <a:t>•  20초 간격으로 네 번 관찰했지만 계속 ONLINE</a:t>
            </a:r>
          </a:p>
          <a:p>
            <a:pPr algn="l">
              <a:spcAft>
                <a:spcPts val="1000"/>
              </a:spcAft>
            </a:pPr>
            <a:r>
              <a:rPr sz="1700" b="0">
                <a:solidFill>
                  <a:srgbClr val="222222"/>
                </a:solidFill>
                <a:latin typeface="맑은 고딕"/>
              </a:rPr>
              <a:t>•  상태 명령만으로는 장애가 있었는지 알 수 없다</a:t>
            </a:r>
          </a:p>
          <a:p>
            <a:pPr algn="l">
              <a:spcAft>
                <a:spcPts val="1000"/>
              </a:spcAft>
            </a:pPr>
            <a:r>
              <a:rPr sz="1700" b="0">
                <a:solidFill>
                  <a:srgbClr val="222222"/>
                </a:solidFill>
                <a:latin typeface="맑은 고딕"/>
              </a:rPr>
              <a:t>•  사용자 자원 → 액션 스크립트 로그</a:t>
            </a:r>
          </a:p>
          <a:p>
            <a:pPr algn="l">
              <a:spcAft>
                <a:spcPts val="1000"/>
              </a:spcAft>
            </a:pPr>
            <a:r>
              <a:rPr sz="1700" b="0">
                <a:solidFill>
                  <a:srgbClr val="222222"/>
                </a:solidFill>
                <a:latin typeface="맑은 고딕"/>
              </a:rPr>
              <a:t>•  오라클 자원 → 에이전트 트레이스 ($ORACLE_BASE/diag/crs/.../trace)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노드 간 이동</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먼저 내리고 그다음 올린다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crsctl relocate resource ch14.app -n rac2 (0.9초)</a:t>
            </a:r>
          </a:p>
          <a:p>
            <a:pPr algn="l">
              <a:spcAft>
                <a:spcPts val="1000"/>
              </a:spcAft>
            </a:pPr>
            <a:r>
              <a:rPr sz="1700" b="0">
                <a:solidFill>
                  <a:srgbClr val="222222"/>
                </a:solidFill>
                <a:latin typeface="맑은 고딕"/>
              </a:rPr>
              <a:t>•  CRS-2673 stop → CRS-2677 → CRS-2672 start → CRS-2676</a:t>
            </a:r>
          </a:p>
          <a:p>
            <a:pPr algn="l">
              <a:spcAft>
                <a:spcPts val="1000"/>
              </a:spcAft>
            </a:pPr>
            <a:r>
              <a:rPr sz="1700" b="0">
                <a:solidFill>
                  <a:srgbClr val="222222"/>
                </a:solidFill>
                <a:latin typeface="맑은 고딕"/>
              </a:rPr>
              <a:t>•  상태 파일이 rac1 에서 사라지고 rac2 에 생긴다</a:t>
            </a:r>
          </a:p>
          <a:p>
            <a:pPr algn="l">
              <a:spcAft>
                <a:spcPts val="1000"/>
              </a:spcAft>
            </a:pPr>
            <a:r>
              <a:rPr sz="1700" b="0">
                <a:solidFill>
                  <a:srgbClr val="222222"/>
                </a:solidFill>
                <a:latin typeface="맑은 고딕"/>
              </a:rPr>
              <a:t>•  두 노드에서 동시에 도는 순간이 없다</a:t>
            </a:r>
          </a:p>
          <a:p>
            <a:pPr algn="l">
              <a:spcAft>
                <a:spcPts val="1000"/>
              </a:spcAft>
            </a:pPr>
            <a:r>
              <a:rPr sz="1700" b="0">
                <a:solidFill>
                  <a:srgbClr val="222222"/>
                </a:solidFill>
                <a:latin typeface="맑은 고딕"/>
              </a:rPr>
              <a:t>•  배타적 데몬을 CRS 에 맡기는 이유가 이것이다</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되살리지 못하면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TARGET ONLINE, STATE OFFLINE</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양 노드에서 start 가 실패하도록 만들었다</a:t>
            </a:r>
          </a:p>
          <a:p>
            <a:pPr algn="l">
              <a:spcAft>
                <a:spcPts val="1000"/>
              </a:spcAft>
            </a:pPr>
            <a:r>
              <a:rPr sz="1700" b="0">
                <a:solidFill>
                  <a:srgbClr val="222222"/>
                </a:solidFill>
                <a:latin typeface="맑은 고딕"/>
              </a:rPr>
              <a:t>•  결과 — TARGET ONLINE, STATE OFFLINE, Server 열이 비어 있다</a:t>
            </a:r>
          </a:p>
          <a:p>
            <a:pPr algn="l">
              <a:spcAft>
                <a:spcPts val="1000"/>
              </a:spcAft>
            </a:pPr>
            <a:r>
              <a:rPr sz="1700" b="0">
                <a:solidFill>
                  <a:srgbClr val="222222"/>
                </a:solidFill>
                <a:latin typeface="맑은 고딕"/>
              </a:rPr>
              <a:t>•  30초 간격 다섯 번 관찰, 계속 같았다 — CRS 가 포기했다</a:t>
            </a:r>
          </a:p>
          <a:p>
            <a:pPr algn="l">
              <a:spcAft>
                <a:spcPts val="1000"/>
              </a:spcAft>
            </a:pPr>
            <a:r>
              <a:rPr sz="1700" b="0">
                <a:solidFill>
                  <a:srgbClr val="222222"/>
                </a:solidFill>
                <a:latin typeface="맑은 고딕"/>
              </a:rPr>
              <a:t>•  12:10:49 감지 → rac2 시도 → 12:10:50 rac1 시도 → 12:10:51 포기</a:t>
            </a:r>
          </a:p>
          <a:p>
            <a:pPr algn="l">
              <a:spcAft>
                <a:spcPts val="1000"/>
              </a:spcAft>
            </a:pPr>
            <a:r>
              <a:rPr sz="1700" b="0">
                <a:solidFill>
                  <a:srgbClr val="222222"/>
                </a:solidFill>
                <a:latin typeface="맑은 고딕"/>
              </a:rPr>
              <a:t>•  감지부터 포기까지 2초</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RESTART_ATTEMPTS 는 보장이 아니다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실측이 말해 준 것</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설정은 2 였는데 각 노드에서 start 를 한 번씩만 호출했다</a:t>
            </a:r>
          </a:p>
          <a:p>
            <a:pPr algn="l">
              <a:spcAft>
                <a:spcPts val="1000"/>
              </a:spcAft>
            </a:pPr>
            <a:r>
              <a:rPr sz="1700" b="0">
                <a:solidFill>
                  <a:srgbClr val="222222"/>
                </a:solidFill>
                <a:latin typeface="맑은 고딕"/>
              </a:rPr>
              <a:t>•  조건을 바꿔 두 번 더 확인 — clean 성공, 페일오버 대상 제거</a:t>
            </a:r>
          </a:p>
          <a:p>
            <a:pPr algn="l">
              <a:spcAft>
                <a:spcPts val="1000"/>
              </a:spcAft>
            </a:pPr>
            <a:r>
              <a:rPr sz="1700" b="0">
                <a:solidFill>
                  <a:srgbClr val="222222"/>
                </a:solidFill>
                <a:latin typeface="맑은 고딕"/>
              </a:rPr>
              <a:t>•  세 번의 실측 모두 start 호출은 한 번</a:t>
            </a:r>
          </a:p>
          <a:p>
            <a:pPr algn="l">
              <a:spcAft>
                <a:spcPts val="1000"/>
              </a:spcAft>
            </a:pPr>
            <a:r>
              <a:rPr sz="1700" b="0">
                <a:solidFill>
                  <a:srgbClr val="222222"/>
                </a:solidFill>
                <a:latin typeface="맑은 고딕"/>
              </a:rPr>
              <a:t>•  값은 상한이며 실제 호출은 실패 유형과 자원 유형에 달렸다</a:t>
            </a:r>
          </a:p>
          <a:p>
            <a:pPr algn="l">
              <a:spcAft>
                <a:spcPts val="1000"/>
              </a:spcAft>
            </a:pPr>
            <a:r>
              <a:rPr sz="1700" b="0">
                <a:solidFill>
                  <a:srgbClr val="222222"/>
                </a:solidFill>
                <a:latin typeface="맑은 고딕"/>
              </a:rPr>
              <a:t>•  결론 — 시도 횟수는 속성값이 아니라 로그로 확인한다</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정리와 삭제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순서가 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정지한 뒤에 지운다</a:t>
            </a:r>
          </a:p>
          <a:p>
            <a:pPr algn="l">
              <a:spcAft>
                <a:spcPts val="1000"/>
              </a:spcAft>
            </a:pPr>
            <a:r>
              <a:rPr sz="1700" b="0">
                <a:solidFill>
                  <a:srgbClr val="222222"/>
                </a:solidFill>
                <a:latin typeface="맑은 고딕"/>
              </a:rPr>
              <a:t>•  crsctl stop resource → crsctl delete resource</a:t>
            </a:r>
          </a:p>
          <a:p>
            <a:pPr algn="l">
              <a:spcAft>
                <a:spcPts val="1000"/>
              </a:spcAft>
            </a:pPr>
            <a:r>
              <a:rPr sz="1700" b="0">
                <a:solidFill>
                  <a:srgbClr val="222222"/>
                </a:solidFill>
                <a:latin typeface="맑은 고딕"/>
              </a:rPr>
              <a:t>•  확인 — crsctl stat res ch14.app → CRS-2613 이 나오면 정상</a:t>
            </a:r>
          </a:p>
          <a:p>
            <a:pPr algn="l">
              <a:spcAft>
                <a:spcPts val="1000"/>
              </a:spcAft>
            </a:pPr>
            <a:r>
              <a:rPr sz="1700" b="0">
                <a:solidFill>
                  <a:srgbClr val="222222"/>
                </a:solidFill>
                <a:latin typeface="맑은 고딕"/>
              </a:rPr>
              <a:t>•  스크립트와 상태 파일도 양 노드에서 지운다</a:t>
            </a:r>
          </a:p>
          <a:p>
            <a:pPr algn="l">
              <a:spcAft>
                <a:spcPts val="1000"/>
              </a:spcAft>
            </a:pPr>
            <a:r>
              <a:rPr sz="1700" b="0">
                <a:solidFill>
                  <a:srgbClr val="222222"/>
                </a:solidFill>
                <a:latin typeface="맑은 고딕"/>
              </a:rPr>
              <a:t>•  srvctl 은 이 자원을 애초에 몰랐다</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14.6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오류 번호 체계</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접두어와 계층</a:t>
            </a:r>
          </a:p>
          <a:p>
            <a:pPr algn="l">
              <a:spcAft>
                <a:spcPts val="800"/>
              </a:spcAft>
            </a:pPr>
            <a:r>
              <a:rPr sz="1600" b="0">
                <a:solidFill>
                  <a:srgbClr val="FFFFFF"/>
                </a:solidFill>
                <a:latin typeface="맑은 고딕"/>
              </a:rPr>
              <a:t>•  겹친 메시지 읽기</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접두어가 계층을 알려 준다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어디를 볼지 좁힌다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CRS- — Clusterware 자원 계층 (2613, 4995, 4000)</a:t>
            </a:r>
          </a:p>
          <a:p>
            <a:pPr algn="l">
              <a:spcAft>
                <a:spcPts val="1000"/>
              </a:spcAft>
            </a:pPr>
            <a:r>
              <a:rPr sz="1700" b="0">
                <a:solidFill>
                  <a:srgbClr val="222222"/>
                </a:solidFill>
                <a:latin typeface="맑은 고딕"/>
              </a:rPr>
              <a:t>•  PRKO- — srvctl 명령행 해석 (2002, 3032)</a:t>
            </a:r>
          </a:p>
          <a:p>
            <a:pPr algn="l">
              <a:spcAft>
                <a:spcPts val="1000"/>
              </a:spcAft>
            </a:pPr>
            <a:r>
              <a:rPr sz="1700" b="0">
                <a:solidFill>
                  <a:srgbClr val="222222"/>
                </a:solidFill>
                <a:latin typeface="맑은 고딕"/>
              </a:rPr>
              <a:t>•  PRCD- / PRCR- / PRCC- — srvctl 의 서로 다른 내부 층</a:t>
            </a:r>
          </a:p>
          <a:p>
            <a:pPr algn="l">
              <a:spcAft>
                <a:spcPts val="1000"/>
              </a:spcAft>
            </a:pPr>
            <a:r>
              <a:rPr sz="1700" b="0">
                <a:solidFill>
                  <a:srgbClr val="222222"/>
                </a:solidFill>
                <a:latin typeface="맑은 고딕"/>
              </a:rPr>
              <a:t>•  CLSRSC- — root 스크립트, INS- — 설치, PRV- — cluvfy</a:t>
            </a:r>
          </a:p>
          <a:p>
            <a:pPr algn="l">
              <a:spcAft>
                <a:spcPts val="1000"/>
              </a:spcAft>
            </a:pPr>
            <a:r>
              <a:rPr sz="1700" b="0">
                <a:solidFill>
                  <a:srgbClr val="222222"/>
                </a:solidFill>
                <a:latin typeface="맑은 고딕"/>
              </a:rPr>
              <a:t>•  PRKO 면 내 명령, CRS 면 자원 상태, CLSRSC 면 설치 로그</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겹쳐 나오는 오류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마지막 줄을 먼저 읽는다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PRCD-1120 (상위) + PRCR-1001 (하위)</a:t>
            </a:r>
          </a:p>
          <a:p>
            <a:pPr algn="l">
              <a:spcAft>
                <a:spcPts val="1000"/>
              </a:spcAft>
            </a:pPr>
            <a:r>
              <a:rPr sz="1700" b="0">
                <a:solidFill>
                  <a:srgbClr val="222222"/>
                </a:solidFill>
                <a:latin typeface="맑은 고딕"/>
              </a:rPr>
              <a:t>•  상위 = 무엇을 하려다 실패했는가</a:t>
            </a:r>
          </a:p>
          <a:p>
            <a:pPr algn="l">
              <a:spcAft>
                <a:spcPts val="1000"/>
              </a:spcAft>
            </a:pPr>
            <a:r>
              <a:rPr sz="1700" b="0">
                <a:solidFill>
                  <a:srgbClr val="222222"/>
                </a:solidFill>
                <a:latin typeface="맑은 고딕"/>
              </a:rPr>
              <a:t>•  하위 = 왜 실패했는가</a:t>
            </a:r>
          </a:p>
          <a:p>
            <a:pPr algn="l">
              <a:spcAft>
                <a:spcPts val="1000"/>
              </a:spcAft>
            </a:pPr>
            <a:r>
              <a:rPr sz="1700" b="0">
                <a:solidFill>
                  <a:srgbClr val="222222"/>
                </a:solidFill>
                <a:latin typeface="맑은 고딕"/>
              </a:rPr>
              <a:t>•  13장의 ORA-02097 + ORA-30013 도 같은 구조였다</a:t>
            </a:r>
          </a:p>
          <a:p>
            <a:pPr algn="l">
              <a:spcAft>
                <a:spcPts val="1000"/>
              </a:spcAft>
            </a:pPr>
            <a:r>
              <a:rPr sz="1700" b="0">
                <a:solidFill>
                  <a:srgbClr val="222222"/>
                </a:solidFill>
                <a:latin typeface="맑은 고딕"/>
              </a:rPr>
              <a:t>•  규칙 하나 — 마지막 줄을 먼저 읽는다</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14.7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정리와 운영 지침</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명령 선택 기준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한 문장으로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오라클 제품 자원이면 srvctl</a:t>
            </a:r>
          </a:p>
          <a:p>
            <a:pPr algn="l">
              <a:spcAft>
                <a:spcPts val="1000"/>
              </a:spcAft>
            </a:pPr>
            <a:r>
              <a:rPr sz="1700" b="0">
                <a:solidFill>
                  <a:srgbClr val="222222"/>
                </a:solidFill>
                <a:latin typeface="맑은 고딕"/>
              </a:rPr>
              <a:t>•  클러스터 자체나 사용자 자원이면 crsctl</a:t>
            </a:r>
          </a:p>
          <a:p>
            <a:pPr algn="l">
              <a:spcAft>
                <a:spcPts val="1000"/>
              </a:spcAft>
            </a:pPr>
            <a:r>
              <a:rPr sz="1700" b="0">
                <a:solidFill>
                  <a:srgbClr val="222222"/>
                </a:solidFill>
                <a:latin typeface="맑은 고딕"/>
              </a:rPr>
              <a:t>•  자원 정의를 읽는 것은 crsctl 로도 된다</a:t>
            </a:r>
          </a:p>
          <a:p>
            <a:pPr algn="l">
              <a:spcAft>
                <a:spcPts val="1000"/>
              </a:spcAft>
            </a:pPr>
            <a:r>
              <a:rPr sz="1700" b="0">
                <a:solidFill>
                  <a:srgbClr val="222222"/>
                </a:solidFill>
                <a:latin typeface="맑은 고딕"/>
              </a:rPr>
              <a:t>•  상태를 바꾸는 것만 경계가 지켜진다</a:t>
            </a:r>
          </a:p>
          <a:p>
            <a:pPr algn="l">
              <a:spcAft>
                <a:spcPts val="1000"/>
              </a:spcAft>
            </a:pPr>
            <a:r>
              <a:rPr sz="1700" b="0">
                <a:solidFill>
                  <a:srgbClr val="222222"/>
                </a:solidFill>
                <a:latin typeface="맑은 고딕"/>
              </a:rPr>
              <a:t>•  헷갈리면 srvctl 을 먼저 시도한다 — 틀리면 CRS-4995 가 알려 준다</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이 장의 점검 항목</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일상 점검에 넣을 것</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crsctl check cluster -all — 모든 노드의 스택</a:t>
            </a:r>
          </a:p>
          <a:p>
            <a:pPr algn="l">
              <a:spcAft>
                <a:spcPts val="1000"/>
              </a:spcAft>
            </a:pPr>
            <a:r>
              <a:rPr sz="1700" b="0">
                <a:solidFill>
                  <a:srgbClr val="222222"/>
                </a:solidFill>
                <a:latin typeface="맑은 고딕"/>
              </a:rPr>
              <a:t>•  crsctl stat res -t — 일반 자원 17개, TARGET·STATE 일치</a:t>
            </a:r>
          </a:p>
          <a:p>
            <a:pPr algn="l">
              <a:spcAft>
                <a:spcPts val="1000"/>
              </a:spcAft>
            </a:pPr>
            <a:r>
              <a:rPr sz="1700" b="0">
                <a:solidFill>
                  <a:srgbClr val="222222"/>
                </a:solidFill>
                <a:latin typeface="맑은 고딕"/>
              </a:rPr>
              <a:t>•  crsctl stat res -t -init — 각 노드에서, 13개</a:t>
            </a:r>
          </a:p>
          <a:p>
            <a:pPr algn="l">
              <a:spcAft>
                <a:spcPts val="1000"/>
              </a:spcAft>
            </a:pPr>
            <a:r>
              <a:rPr sz="1700" b="0">
                <a:solidFill>
                  <a:srgbClr val="222222"/>
                </a:solidFill>
                <a:latin typeface="맑은 고딕"/>
              </a:rPr>
              <a:t>•  사용자 자원이 있으면 그 자원의 상태와 액션 로그</a:t>
            </a:r>
          </a:p>
          <a:p>
            <a:pPr algn="l">
              <a:spcAft>
                <a:spcPts val="1000"/>
              </a:spcAft>
            </a:pPr>
            <a:r>
              <a:rPr sz="1700" b="0">
                <a:solidFill>
                  <a:srgbClr val="222222"/>
                </a:solidFill>
                <a:latin typeface="맑은 고딕"/>
              </a:rPr>
              <a:t>•  자원 개수를 기준선으로 기록해 둔다</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다음 장으로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서비스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이 장에서 srvctl 의 대상 목록을 봤다</a:t>
            </a:r>
          </a:p>
          <a:p>
            <a:pPr algn="l">
              <a:spcAft>
                <a:spcPts val="1000"/>
              </a:spcAft>
            </a:pPr>
            <a:r>
              <a:rPr sz="1700" b="0">
                <a:solidFill>
                  <a:srgbClr val="222222"/>
                </a:solidFill>
                <a:latin typeface="맑은 고딕"/>
              </a:rPr>
              <a:t>•  그중 service 를 아직 다루지 않았다</a:t>
            </a:r>
          </a:p>
          <a:p>
            <a:pPr algn="l">
              <a:spcAft>
                <a:spcPts val="1000"/>
              </a:spcAft>
            </a:pPr>
            <a:r>
              <a:rPr sz="1700" b="0">
                <a:solidFill>
                  <a:srgbClr val="222222"/>
                </a:solidFill>
                <a:latin typeface="맑은 고딕"/>
              </a:rPr>
              <a:t>•  15장 — 동적 데이터베이스 서비스</a:t>
            </a:r>
          </a:p>
          <a:p>
            <a:pPr algn="l">
              <a:spcAft>
                <a:spcPts val="1000"/>
              </a:spcAft>
            </a:pPr>
            <a:r>
              <a:rPr sz="1700" b="0">
                <a:solidFill>
                  <a:srgbClr val="222222"/>
                </a:solidFill>
                <a:latin typeface="맑은 고딕"/>
              </a:rPr>
              <a:t>•  어느 인스턴스에서 어떤 서비스를 받을 것인가</a:t>
            </a:r>
          </a:p>
          <a:p>
            <a:pPr algn="l">
              <a:spcAft>
                <a:spcPts val="1000"/>
              </a:spcAft>
            </a:pPr>
            <a:r>
              <a:rPr sz="1700" b="0">
                <a:solidFill>
                  <a:srgbClr val="222222"/>
                </a:solidFill>
                <a:latin typeface="맑은 고딕"/>
              </a:rPr>
              <a:t>•  이 장의 부하 편중 이야기가 거기서 해결된다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4247</Words>
  <Application>Microsoft Office PowerPoint</Application>
  <PresentationFormat>와이드스크린</PresentationFormat>
  <Paragraphs>309</Paragraphs>
  <Slides>43</Slides>
  <Notes>33</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43</vt:i4>
      </vt:variant>
    </vt:vector>
  </HeadingPairs>
  <TitlesOfParts>
    <vt:vector size="47" baseType="lpstr">
      <vt:lpstr>맑은 고딕</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KEONTAE KIM</cp:lastModifiedBy>
  <cp:revision>2</cp:revision>
  <dcterms:created xsi:type="dcterms:W3CDTF">2013-01-27T09:14:16Z</dcterms:created>
  <dcterms:modified xsi:type="dcterms:W3CDTF">2026-10-29T10:16:55Z</dcterms:modified>
  <cp:category/>
</cp:coreProperties>
</file>
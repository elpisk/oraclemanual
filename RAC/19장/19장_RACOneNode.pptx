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4" d="100"/>
          <a:sy n="104" d="100"/>
        </p:scale>
        <p:origin x="834" y="12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E22C5B-FB2A-4E87-94E2-4CB0AAD3A5FF}" type="datetimeFigureOut">
              <a:rPr lang="ko-KR" altLang="en-US" smtClean="0"/>
              <a:t>2026-10-29</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603783B-BF6E-4A1F-9FE2-29526608DBA0}" type="slidenum">
              <a:rPr lang="ko-KR" altLang="en-US" smtClean="0"/>
              <a:t>‹#›</a:t>
            </a:fld>
            <a:endParaRPr lang="ko-KR" altLang="en-US"/>
          </a:p>
        </p:txBody>
      </p:sp>
    </p:spTree>
    <p:extLst>
      <p:ext uri="{BB962C8B-B14F-4D97-AF65-F5344CB8AC3E}">
        <p14:creationId xmlns:p14="http://schemas.microsoft.com/office/powerpoint/2010/main" val="2173852609"/>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18장에서 rac2 를 지운 직후의 racdb 와 비교하며 시작하십시오. 그때도 인스턴스는 하나였지만 다른 노드로 옮기는 기능이 없었고 옮길 노드도 없었습니다. RAC One Node 는 노드 둘을 그대로 두고 인스턴스 하나를 필요할 때 옮기는 구성입니다. 이 장의 흐름은 바꾸고, 옮기고, 다시 옮기고, 되돌리는 순서입니다. 각 단계에서 시간과 인스턴스 이름이 어떻게 바뀌는지를 관찰 포인트로 미리 제시해 두면 좋습니다.</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RAC One Node 가 RAC 의 인프라를 모두 쓴다는 점을 강조하십시오. 공유 디스크, OCR, 보팅 디스크, 스레드와 UNDO 의 분리까지 그대로이며 다른 것은 동시에 여는 인스턴스 수뿐입니다. 재배치는 15장의 서비스 재배치와 16장의 FAN 위에서 동작합니다. 새 인스턴스를 띄우고 서비스를 옮기고 옛 인스턴스의 세션에 이동을 알리는 순서이므로, 앞 장들을 이해했다면 새로 배울 것은 많지 않습니다.</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쓰임새를 유지보수 중심으로 설명하십시오. 한 노드의 CPU 로 충분하지만 노드 작업 때 멈추면 곤란한 데이터베이스가 대상입니다. 반대로 부하 분산이나 노드 장애 순간의 연속성이 필요하면 RAC 입니다. RAC One Node 는 노드 장애 때 다른 노드에서 다시 띄우는 시간만큼 멈춥니다. 라이선스는 Enterprise Edition 의 별도 옵션이므로 기능이 같은 소프트웨어에 들어 있어도 쓸 수 있는지는 계약이 정한다는 점을 1장의 라이선스 경계와 연결해 주십시오.</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네 줄을 읽게 하십시오. 유형은 RAC, 인스턴스는 둘, srvctl 에 등록된 서비스는 없고, 관리자 관리형입니다. SPFILE 의 인스턴스별 항목이 racdb1, racdb2 라는 이름에 묶여 있다는 것도 미리 확인시키십시오. 이 장에서 인스턴스 이름이 바뀔 때 이 항목들이 어떻게 되는지가 핵심 관찰 대상입니다. 유형 변환은 OCR 의 자원 정의를 바꾸므로 18장의 VM 스냅샷만으로는 되돌릴 수 없어 OCR 수동 백업을 먼저 뜹니다.</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help 출력을 읽는 것만으로 조건 하나를 미리 알 수 있습니다. 인스턴스가 하나인 RAC 만 변환된다는 문구입니다. -instance 가 이름이 아니라 접두어라는 점도 이 단계에서 짚으십시오. 일반 RAC 에 relocate 를 치면 바로 거부되는데, 15장의 relocate service 와 이름이 비슷해 혼동하기 쉽습니다. 서비스 재배치는 서비스를 다른 인스턴스로 옮기고, 데이터베이스 재배치는 인스턴스 자체를 다른 노드로 옮긴다고 구분해 주십시오.</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인스턴스 둘을 어떻게 하나로 합칠지 srvctl 이 대신 정하지 않는다는 점이 이 오류의 의미입니다. 관리자가 남길 인스턴스를 정하고 나머지를 직접 뺍니다. 여기서는 racdb1 을 남겼습니다. 정지에 47.5 초가 걸렸고 등록 해제는 5 초 남짓이었습니다. 다음 슬라이드에서 왜 dbca 가 아니라 srvctl 로 뺐는지를 이어서 설명하므로, 이 시점에서 학생들에게 18장에서는 무엇을 썼는지 물어보는 것도 좋습니다.</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18장은 노드를 영구히 빼는 것이 목적이었으므로 dbca 로 데이터베이스 안의 구조까지 지웠습니다. 이 장은 인스턴스 수를 잠시 하나로 맞추는 것이 목적이고, 나중에 rac2 로 옮긴 인스턴스가 쓸 스레드와 UNDO 가 필요합니다. 그래서 등록만 해제하는 srvctl 을 씁니다. 19.3 절에서 rac2 의 새 인스턴스가 실제로 스레드 2 와 UNDOTBS2 를 잡는 것을 보게 되므로, 이 선택이 그 결과로 이어진다는 점을 예고해 두십시오.</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조건은 RAC One Node 가 서비스로 접속한다는 것을 전제로 한다는 뜻입니다. 재배치의 핵심 동작이 서비스를 새 인스턴스로 옮기는 것이므로 서비스가 없으면 변환 단계에서 막습니다. 앞의 Services 줄이 비어 있던 것이 바로 이 오류로 이어졌다는 연결을 보여 주십시오. 서비스는 남은 racdb1 을 선호 인스턴스로 하고 대상 PDB 를 racpdb1 로 지정했습니다. 이 서비스가 이후 재배치와 되돌리기 내내 등장합니다.</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변환은 출력 없이 6.2 초 만에 끝났고 데이터베이스는 멈추지 않았습니다. 바뀐 것은 OCR 의 자원 정의뿐입니다. 새로 생긴 세 줄을 짚어 주십시오. 재배치 시간 제한, 인스턴스 접두어, 후보 서버입니다. Configured nodes 줄이 Candidate servers 로 이름이 바뀐 것도 의미가 있습니다. RAC 에서는 이 노드들에서 돈다는 뜻이었고 RAC One Node 에서는 이 노드들 중 하나에서 돈다는 뜻입니다.</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어긋남은 오류 메시지 없이 지나가므로 config 와 status 를 함께 보지 않으면 놓칩니다. RAC One Node 는 인스턴스 이름을 접두어에 번호를 붙여 짓습니다. 변환은 구성만 바꾸었고 돌고 있던 racdb1 은 그대로 남았습니다. 오류는 아니며 다음 재배치에서 해소됩니다. 이름이 이 장 전체에 걸쳐 여러 번 바뀌므로, 칠판에 이름 변화를 기록하는 표를 만들어 두고 단계마다 채우게 하면 학생들이 흐름을 놓치지 않습니다.</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Candidate servers 가 쉼표 목록이라 목록을 통째로 넣고 싶어지는 것이 자연스러운 실수입니다. 이 버전의 modify database 는 -node 에 값 하나만 받습니다. 관리자 관리형 RAC One Node 는 후보에 없는 노드로 재배치하면 그 노드를 후보에 넣어 주므로 relocate 에서 대상을 직접 지정하면 됩니다. 재배치 출력의 첫 줄 Added target node rac2 가 그 증거이며, 끝난 뒤 후보 서버가 두 노드로 늘어난 것을 확인시키십시오.</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34 초 근처에서 두 인스턴스가 함께 열린 것이 이 슬라이드의 핵심입니다. 그 짧은 구간 동안 racdb 는 인스턴스 둘인 RAC 이고, 이것이 RAC One Node 가 Cache Fusion 과 스레드 분리를 그대로 쓰는 이유입니다. 서비스가 새 인스턴스가 열린 뒤에 옮겨졌다는 순서도 강조하십시오. 서비스로 접속하는 클라이언트는 갈 곳이 없어지는 순간이 없습니다. 서비스 이동 뒤에도 50 초 넘게 걸린 것은 다음 슬라이드에서 알럿 로그로 설명합니다.</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-verbose 출력이 재배치 단계를 그대로 보여 주므로 이 출력을 외우기보다 순서의 이유를 이해시키는 것이 좋습니다. 새 인스턴스가 먼저 열리고, 그다음 서비스가 옮겨지고, 마지막에 옛 인스턴스가 내려갑니다. 대기 문구의 30 minutes 는 변환 때 준 -timeout 값입니다. 옛 인스턴스에 남은 세션은 16장에서 다룬 FAN 과 서비스 드레인으로 새 인스턴스 쪽으로 유도하며, relocate 의 -drain_timeout 이 그 대기 시간입니다.</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srvctl 의 5 초 간격 관찰보다 알럿 로그가 훨씬 정확합니다. 새 인스턴스를 여는 데 23 초, 옛 인스턴스를 내리는 데 62 초가 걸렸으므로 재배치 시간의 대부분은 정지 쪽입니다. 18:13:25 의 Reconfiguration 은 17장의 인스턴스 복구 때 본 것과 같은 메시지이며, 그때는 인스턴스가 줄었고 지금은 늘었다는 대비를 보여 주십시오. -timeout 이 숨은 파라미터로 들어가는 것도 로그로 확인됩니다.</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데이터베이스는 열려 있는데 로컬 접속이 실패하는 상황이라 당황하기 쉽습니다. 로컬 접속은 ORACLE_SID 로 인스턴스를 찾고, 프로필의 값은 racdb2 로 고정되어 있었습니다. 재배치할 때마다 이름이 접두어_1, 접두어_2 로 바뀌므로 고정된 SID 와 어긋나는 것이 정상입니다. 관리 작업이라면 pmon 프로세스 이름을 먼저 보는 습관을 들이게 하고, 애플리케이션은 서비스 이름으로 접속하도록 원칙을 정리해 주십시오.</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인스턴스별 지정이 없으면 인스턴스는 쓰이지 않는 스레드와 UNDO 를 스스로 잡습니다. racdb1 이 스레드 1 과 UNDOTBS1 을 쓰고 있었으므로 남은 것은 스레드 2 와 UNDOTBS2 였습니다. 19.2 절에서 dbca 대신 srvctl 로 등록만 해제한 결정이 여기서 결과로 나타났다는 점을 연결해 주십시오. 다만 이것은 비어 있는 자리를 잡는 방식이라 순서가 바뀌면 다른 스레드를 잡을 수 있으며, 그 문제는 19.5 절에서 다시 다룹니다.</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실습 04 는 세션 두 개를 씁니다. 한쪽에서 재배치를 걸고 다른 쪽에서 상태를 보거나 다른 명령을 냅니다. 목적지 인스턴스 이름이 racdb_1 인 것을 짚어 주십시오. 19.2 절의 변환 직후 구성에만 있던 그 이름이 이제 실제로 뜹니다. 이어서 같은 데이터베이스를 또 재배치하는 것, 데이터베이스를 정지하는 것, 시간 제한을 바꾸는 것을 차례로 시도하며 각각의 반응을 예상하게 한 뒤 결과를 보여 주면 효과적입니다.</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두 줄짜리 오류에서 위 줄만 읽으면 재배치 자체가 깨진 것으로 오해하기 쉽습니다. 원인은 아래 줄이며, 진행 중인 세션 A 의 재배치는 정상적으로 계속됩니다. 정지가 막히는 이유는 재배치 중 인스턴스 둘이 잠시 함께 돌기 때문에 어느 쪽을 어떤 순서로 내릴지가 모호해지기 때문입니다. 실패한 재배치는 relocate -abort 로 정리할 수 있지만 이 랩에서는 실패를 재현하지 않았다는 점도 분명히 전하십시오.</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재배치와 정지는 막혔는데 설정 변경은 통했고, 진행 중인 재배치에 바로 반영됐습니다. 알럿 로그의 숨은 파라미터 값이 30 에서 10 으로 바뀐 것이 증거입니다. 이 동작은 양날입니다. 오래 걸리는 재배치의 대기 상한을 도중에 줄일 수 있지만, 다른 사람이 설정을 바꾸면 내 작업이 예상과 다른 값으로 끝납니다. 대기 상한이 짧아지면 세션이 남아 있는 인스턴스를 그만큼 빨리 정리하므로 운영 규칙으로 막는 것이 좋습니다.</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네 가지 명령의 반응을 표로 정리하게 하십시오. 되돌아오는 재배치는 85.9 초로 갈 때의 99.5 초보다 조금 짧았습니다. 끝난 뒤 rac1 의 인스턴스 이름이 racdb_1 이라는 것이 다음 절의 출발점입니다. 처음의 racdb1 과 다른 이름이므로 RAC 로 되돌린 뒤에도 이 이름이 남습니다. 재배치가 실패해 FAILED 로 남는 경우의 -abort 와 -revert 사용법도 여기서 한 번 더 정리해 두면 좋습니다.</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변환은 데이터베이스를 멈추지 않고 3.3 초에 끝났지만 인스턴스 이름은 racdb_1 그대로 남습니다. 이 상태에서 racdb2 를 붙이면 등록은 되지만 이름이 섞입니다. racdb_1 이 지금 스레드 1 과 UNDOTBS1 을 쓰는 것은 우연히 맞았을 뿐입니다. SPFILE 의 racdb1 항목은 이름이 달라 적용되지 않으므로 기동 순서가 바뀌면 다른 스레드를 잡을 수도 있습니다. 12장과 13장의 고정 설계가 이름 하나로 무력해진다는 점을 강조하십시오.</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서비스의 선호 인스턴스가 처음 만든 racdb1 에서 racdb_1 로 바뀌어 있었다는 점이 흥미로운 관찰입니다. 재배치가 서비스 정의까지 따라 고쳤습니다. 유일한 선호 인스턴스를 지우면 서비스가 갈 곳이 없어지므로 srvctl 이 거부합니다. ronsvc 는 변환 조건을 맞추려고 만든 서비스이고 RAC 로 돌아왔으므로 지워도 됩니다. 운영 환경에서 실제 서비스라면 지우지 말고 선호 인스턴스를 바꾸는 쪽을 택합니다.</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인스턴스 이름은 실행 중에 바꿀 수 없으므로 데이터베이스를 한 번 완전히 내려야 합니다. 이 장에서 데이터베이스 전체가 멈춘 것은 이 한 번뿐입니다. 이름이 racdb1, racdb2 로 돌아오자 SPFILE 의 인스턴스별 항목이 다시 적용되어 스레드와 UNDO 가 이름에 고정됐습니다. srvctl 한 번으로 두 인스턴스가 함께 올라온 것도 확인시키십시오. 구성이 18장 끝과 같아졌다는 증거입니다.</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모든 값이 18장 끝의 기준선과 같습니다. 접두어 이름용 SPFILE 항목이나 PDB 저장 상태는 생기지 않았습니다. 남은 것은 진단 디렉터리 두 개이며 그 이름으로 돌던 동안의 알럿 로그가 들어 있으므로 지우지 않아도 됩니다. 재배치 기록을 볼 때는 이 디렉터리를 열어야 한다는 점도 알려 주십시오. 처음에 뜬 OCR 수동 백업은 쓰지 않았고 모든 변경을 srvctl 로 되돌렸습니다.</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가장 큰 차이는 노드 장애 때의 동작입니다. RAC 는 17장에서 본 것처럼 살아 있는 인스턴스가 죽은 인스턴스의 스레드를 이어받아 1 초 안에 복구하지만, RAC One Node 는 Clusterware 가 다른 노드에서 인스턴스를 다시 띄우는 시간만큼 멈춥니다. 이 동작은 이 랩에서 실측하지 않았다는 점을 분명히 하십시오. 유형 변경 자체는 가볍고, 무거운 것은 그 앞뒤의 인스턴스 정리라는 점도 함께 짚어 주십시오.</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이름 변화를 시간 순으로 정리한 슬라이드입니다. 앞서 칠판에 만든 표와 비교하게 하십시오. 접두어에 _1 과 _2 를 번갈아 붙이며, 재배치할 때마다 지금 쓰지 않는 번호를 새 인스턴스에 줍니다. 구성과 실제가 어긋난 구간이 두 번 있었고 둘 다 오류 메시지 없이 지나갔습니다. srvctl config 와 status 를 함께 봐야 드러난다는 점, 접두어 방식이 SPFILE 의 인스턴스별 항목과 잘 맞지 않는다는 점을 강조하십시오.</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마지막 줄을 가볍게 보지 않게 하십시오. 19.3 절의 ORA-01034 는 프로필의 ORACLE_SID 하나에서 났습니다. 백업 스크립트, 모니터링 에이전트, cron 작업이 인스턴스 이름을 고정해 쓰고 있다면 유형을 바꾸는 순간 엉뚱한 곳을 봅니다. 바꾸기 전에 이름을 쓰는 곳을 찾아 서비스 이름으로 바꾸거나, pmon 프로세스에서 인스턴스를 찾도록 고치는 준비가 필요하다는 점을 실무 조언으로 정리해 주십시오.</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변환 두 번을 합쳐도 10 초가 안 되며 나머지는 인스턴스를 띄우고 내리는 시간입니다. 유지보수 창을 잡을 때는 변환이 아니라 재배치와 정지·기동 시간을 기준으로 잡아야 합니다. 이 랩에는 사용자 세션이 없었으므로 실제 운영에서는 transactional 정지가 훨씬 길어질 수 있고 그 상한이 -timeout 입니다. 유형을 자주 오간다면 처음부터 접두어 방식의 이름을 RAC 에서도 쓰는 것이 낫다는 설계 조언도 함께 전하십시오.</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장에서 얻은 점검 항목 중 가장 중요한 것은 인스턴스 이름을 기억하지 말고 매번 확인하라는 원칙입니다. 이름이 바뀌는 구성에서는 어제의 이름이 오늘 틀릴 수 있습니다. 되돌린 뒤에는 SPFILE 의 인스턴스별 항목과 실제 인스턴스 이름이 맞는지 반드시 대조하게 하십시오. 상황별 대응은 모두 이 장에서 실제로 받은 메시지를 기준으로 정리한 것이며, 재배치 실패와 -abort 만 재현하지 않았다는 점을 덧붙여 주십시오.</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과정의 마지막 장으로 넘어가며 지금까지 다룬 것을 한 줄로 정리해 주십시오. 클러스터를 세우고, 스토리지를 다루고, 데이터베이스와 서비스를 운영하고, 백업과 노드 관리와 유형 변경까지 해 봤습니다. 20장은 이 모든 것이 돌아가는 클러스터를 진단하는 장입니다. 이 장에서 본 알럿 로그의 재구성 메시지와 인스턴스 이름 확인 습관이 20장의 진단 절차에서 그대로 쓰인다는 점을 예고하면 연결이 자연스럽습니다.</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5394960"/>
            <a:ext cx="12191695"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457200"/>
            <a:ext cx="10698480" cy="548640"/>
          </a:xfrm>
          <a:prstGeom prst="rect">
            <a:avLst/>
          </a:prstGeom>
          <a:noFill/>
        </p:spPr>
        <p:txBody>
          <a:bodyPr wrap="square">
            <a:spAutoFit/>
          </a:bodyPr>
          <a:lstStyle/>
          <a:p>
            <a:pPr algn="l">
              <a:spcAft>
                <a:spcPts val="600"/>
              </a:spcAft>
            </a:pPr>
            <a:r>
              <a:rPr sz="1600" b="1">
                <a:solidFill>
                  <a:srgbClr val="FFFFFF"/>
                </a:solidFill>
                <a:latin typeface="맑은 고딕"/>
              </a:rPr>
              <a:t>Oracle 19c Real Application Clusters</a:t>
            </a:r>
          </a:p>
        </p:txBody>
      </p:sp>
      <p:sp>
        <p:nvSpPr>
          <p:cNvPr id="6" name="TextBox 5"/>
          <p:cNvSpPr txBox="1"/>
          <p:nvPr/>
        </p:nvSpPr>
        <p:spPr>
          <a:xfrm>
            <a:off x="731520" y="2377440"/>
            <a:ext cx="10698480" cy="615553"/>
          </a:xfrm>
          <a:prstGeom prst="rect">
            <a:avLst/>
          </a:prstGeom>
          <a:noFill/>
        </p:spPr>
        <p:txBody>
          <a:bodyPr wrap="square">
            <a:spAutoFit/>
          </a:bodyPr>
          <a:lstStyle/>
          <a:p>
            <a:pPr>
              <a:spcAft>
                <a:spcPts val="600"/>
              </a:spcAft>
            </a:pPr>
            <a:r>
              <a:rPr lang="en-US" sz="3400" b="1" dirty="0">
                <a:solidFill>
                  <a:srgbClr val="C0392B"/>
                </a:solidFill>
                <a:latin typeface="맑은 고딕"/>
              </a:rPr>
              <a:t>RAC One Node</a:t>
            </a:r>
            <a:endParaRPr sz="3400" b="1" dirty="0">
              <a:solidFill>
                <a:srgbClr val="C0392B"/>
              </a:solidFill>
              <a:latin typeface="맑은 고딕"/>
            </a:endParaRPr>
          </a:p>
        </p:txBody>
      </p:sp>
      <p:sp>
        <p:nvSpPr>
          <p:cNvPr id="7" name="TextBox 6"/>
          <p:cNvSpPr txBox="1"/>
          <p:nvPr/>
        </p:nvSpPr>
        <p:spPr>
          <a:xfrm>
            <a:off x="731520" y="4114800"/>
            <a:ext cx="10698480" cy="1097280"/>
          </a:xfrm>
          <a:prstGeom prst="rect">
            <a:avLst/>
          </a:prstGeom>
          <a:noFill/>
        </p:spPr>
        <p:txBody>
          <a:bodyPr wrap="square">
            <a:spAutoFit/>
          </a:bodyPr>
          <a:lstStyle/>
          <a:p>
            <a:pPr algn="l">
              <a:spcAft>
                <a:spcPts val="600"/>
              </a:spcAft>
            </a:pPr>
            <a:r>
              <a:rPr sz="1500" b="0">
                <a:solidFill>
                  <a:srgbClr val="5A6672"/>
                </a:solidFill>
                <a:latin typeface="맑은 고딕"/>
              </a:rPr>
              <a:t>RAC One Node</a:t>
            </a:r>
          </a:p>
        </p:txBody>
      </p:sp>
      <p:sp>
        <p:nvSpPr>
          <p:cNvPr id="8" name="TextBox 7"/>
          <p:cNvSpPr txBox="1"/>
          <p:nvPr/>
        </p:nvSpPr>
        <p:spPr>
          <a:xfrm>
            <a:off x="731520" y="5577840"/>
            <a:ext cx="10698480" cy="914400"/>
          </a:xfrm>
          <a:prstGeom prst="rect">
            <a:avLst/>
          </a:prstGeom>
          <a:noFill/>
        </p:spPr>
        <p:txBody>
          <a:bodyPr wrap="square">
            <a:spAutoFit/>
          </a:bodyPr>
          <a:lstStyle/>
          <a:p>
            <a:pPr algn="l">
              <a:spcAft>
                <a:spcPts val="600"/>
              </a:spcAft>
            </a:pPr>
            <a:r>
              <a:rPr sz="2000" b="1">
                <a:solidFill>
                  <a:srgbClr val="C0392B"/>
                </a:solidFill>
                <a:latin typeface="맑은 고딕"/>
              </a:rPr>
              <a:t>인스턴스는 하나, 노드는 둘. 필요하면 옮긴다</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학습 목표</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단일 인스턴스·RAC·RAC One Node 를 구분한다</a:t>
            </a:r>
          </a:p>
          <a:p>
            <a:pPr algn="l">
              <a:spcAft>
                <a:spcPts val="1000"/>
              </a:spcAft>
            </a:pPr>
            <a:r>
              <a:rPr sz="1600" b="0">
                <a:solidFill>
                  <a:srgbClr val="222222"/>
                </a:solidFill>
                <a:latin typeface="맑은 고딕"/>
              </a:rPr>
              <a:t>•  RAC 를 RAC One Node 로 바꾸는 두 조건을 오류로 확인한다</a:t>
            </a:r>
          </a:p>
          <a:p>
            <a:pPr algn="l">
              <a:spcAft>
                <a:spcPts val="1000"/>
              </a:spcAft>
            </a:pPr>
            <a:r>
              <a:rPr sz="1600" b="0">
                <a:solidFill>
                  <a:srgbClr val="222222"/>
                </a:solidFill>
                <a:latin typeface="맑은 고딕"/>
              </a:rPr>
              <a:t>•  온라인 재배치의 단계와 소요 시간을 관찰한다</a:t>
            </a:r>
          </a:p>
          <a:p>
            <a:pPr algn="l">
              <a:spcAft>
                <a:spcPts val="1000"/>
              </a:spcAft>
            </a:pPr>
            <a:r>
              <a:rPr sz="1600" b="0">
                <a:solidFill>
                  <a:srgbClr val="222222"/>
                </a:solidFill>
                <a:latin typeface="맑은 고딕"/>
              </a:rPr>
              <a:t>•  재배치 중 막히는 명령과 통하는 명령을 구분한다</a:t>
            </a:r>
          </a:p>
          <a:p>
            <a:pPr algn="l">
              <a:spcAft>
                <a:spcPts val="1000"/>
              </a:spcAft>
            </a:pPr>
            <a:r>
              <a:rPr sz="1600" b="0">
                <a:solidFill>
                  <a:srgbClr val="222222"/>
                </a:solidFill>
                <a:latin typeface="맑은 고딕"/>
              </a:rPr>
              <a:t>•  접두어 방식의 인스턴스 이름이 주는 영향을 이해한다</a:t>
            </a:r>
          </a:p>
          <a:p>
            <a:pPr algn="l">
              <a:spcAft>
                <a:spcPts val="1000"/>
              </a:spcAft>
            </a:pPr>
            <a:r>
              <a:rPr sz="1600" b="0">
                <a:solidFill>
                  <a:srgbClr val="222222"/>
                </a:solidFill>
                <a:latin typeface="맑은 고딕"/>
              </a:rPr>
              <a:t>•  RAC 로 되돌리고 인스턴스 이름을 원복한다</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Agenda</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19.1 RAC One Node 란</a:t>
            </a:r>
          </a:p>
          <a:p>
            <a:pPr algn="l">
              <a:spcAft>
                <a:spcPts val="1000"/>
              </a:spcAft>
            </a:pPr>
            <a:r>
              <a:rPr sz="1600" b="0">
                <a:solidFill>
                  <a:srgbClr val="222222"/>
                </a:solidFill>
                <a:latin typeface="맑은 고딕"/>
              </a:rPr>
              <a:t>•  19.2 RAC 를 RAC One Node 로 변환</a:t>
            </a:r>
          </a:p>
          <a:p>
            <a:pPr algn="l">
              <a:spcAft>
                <a:spcPts val="1000"/>
              </a:spcAft>
            </a:pPr>
            <a:r>
              <a:rPr sz="1600" b="0">
                <a:solidFill>
                  <a:srgbClr val="222222"/>
                </a:solidFill>
                <a:latin typeface="맑은 고딕"/>
              </a:rPr>
              <a:t>•  19.3 온라인 재배치</a:t>
            </a:r>
          </a:p>
          <a:p>
            <a:pPr algn="l">
              <a:spcAft>
                <a:spcPts val="1000"/>
              </a:spcAft>
            </a:pPr>
            <a:r>
              <a:rPr sz="1600" b="0">
                <a:solidFill>
                  <a:srgbClr val="222222"/>
                </a:solidFill>
                <a:latin typeface="맑은 고딕"/>
              </a:rPr>
              <a:t>•  19.4 오류 재현 — 재배치 중에 다른 명령을 내면</a:t>
            </a:r>
          </a:p>
          <a:p>
            <a:pPr algn="l">
              <a:spcAft>
                <a:spcPts val="1000"/>
              </a:spcAft>
            </a:pPr>
            <a:r>
              <a:rPr sz="1600" b="0">
                <a:solidFill>
                  <a:srgbClr val="222222"/>
                </a:solidFill>
                <a:latin typeface="맑은 고딕"/>
              </a:rPr>
              <a:t>•  19.5 RAC 로 되돌리기</a:t>
            </a:r>
          </a:p>
          <a:p>
            <a:pPr algn="l">
              <a:spcAft>
                <a:spcPts val="1000"/>
              </a:spcAft>
            </a:pPr>
            <a:r>
              <a:rPr sz="1600" b="0">
                <a:solidFill>
                  <a:srgbClr val="222222"/>
                </a:solidFill>
                <a:latin typeface="맑은 고딕"/>
              </a:rPr>
              <a:t>•  19.6 RAC 와 RAC One Node 사이의 선택</a:t>
            </a:r>
          </a:p>
          <a:p>
            <a:pPr algn="l">
              <a:spcAft>
                <a:spcPts val="1000"/>
              </a:spcAft>
            </a:pPr>
            <a:r>
              <a:rPr sz="1600" b="0">
                <a:solidFill>
                  <a:srgbClr val="222222"/>
                </a:solidFill>
                <a:latin typeface="맑은 고딕"/>
              </a:rPr>
              <a:t>•  19.7 정리와 운영 지침</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18장 끝의 racdb 와 무엇이 다른가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인스턴스 하나뿐인 RAC 와 RAC One Node</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18장 노드 삭제 후 — 인스턴스 하나뿐인 RAC, 노드도 하나</a:t>
            </a:r>
          </a:p>
          <a:p>
            <a:pPr algn="l">
              <a:spcAft>
                <a:spcPts val="1000"/>
              </a:spcAft>
            </a:pPr>
            <a:r>
              <a:rPr sz="1700" b="0">
                <a:solidFill>
                  <a:srgbClr val="222222"/>
                </a:solidFill>
                <a:latin typeface="맑은 고딕"/>
              </a:rPr>
              <a:t>•  RAC One Node — 노드는 둘, 인스턴스는 하나</a:t>
            </a:r>
          </a:p>
          <a:p>
            <a:pPr algn="l">
              <a:spcAft>
                <a:spcPts val="1000"/>
              </a:spcAft>
            </a:pPr>
            <a:r>
              <a:rPr sz="1700" b="0">
                <a:solidFill>
                  <a:srgbClr val="222222"/>
                </a:solidFill>
                <a:latin typeface="맑은 고딕"/>
              </a:rPr>
              <a:t>•  필요하면 인스턴스를 다른 노드로 옮긴다 (온라인 재배치)</a:t>
            </a:r>
          </a:p>
          <a:p>
            <a:pPr algn="l">
              <a:spcAft>
                <a:spcPts val="1000"/>
              </a:spcAft>
            </a:pPr>
            <a:r>
              <a:rPr sz="1700" b="0">
                <a:solidFill>
                  <a:srgbClr val="222222"/>
                </a:solidFill>
                <a:latin typeface="맑은 고딕"/>
              </a:rPr>
              <a:t>•  이 장 — 변환 → rac2 로 이동 → rac1 로 복귀 → RAC 로 되돌림</a:t>
            </a:r>
          </a:p>
          <a:p>
            <a:pPr algn="l">
              <a:spcAft>
                <a:spcPts val="1000"/>
              </a:spcAft>
            </a:pPr>
            <a:r>
              <a:rPr sz="1700" b="0">
                <a:solidFill>
                  <a:srgbClr val="222222"/>
                </a:solidFill>
                <a:latin typeface="맑은 고딕"/>
              </a:rPr>
              <a:t>•  실측 중심 — 변환 시간, 재배치 시간, 인스턴스 이름</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19.1</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RAC One Node 란</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세 가지 구성</a:t>
            </a:r>
          </a:p>
          <a:p>
            <a:pPr algn="l">
              <a:spcAft>
                <a:spcPts val="800"/>
              </a:spcAft>
            </a:pPr>
            <a:r>
              <a:rPr sz="1600" b="0">
                <a:solidFill>
                  <a:srgbClr val="FFFFFF"/>
                </a:solidFill>
                <a:latin typeface="맑은 고딕"/>
              </a:rPr>
              <a:t>•  쓰임새와 조건</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세 가지 구성</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동시에 여는 인스턴스 수로 구분한다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단일 인스턴스 — 노드 하나, 인스턴스 하나, 노드가 멈추면 중단</a:t>
            </a:r>
          </a:p>
          <a:p>
            <a:pPr algn="l">
              <a:spcAft>
                <a:spcPts val="1000"/>
              </a:spcAft>
            </a:pPr>
            <a:r>
              <a:rPr sz="1700" b="0">
                <a:solidFill>
                  <a:srgbClr val="222222"/>
                </a:solidFill>
                <a:latin typeface="맑은 고딕"/>
              </a:rPr>
              <a:t>•  RAC One Node — 후보 노드 여럿, 인스턴스 하나, 다른 노드에서 다시 기동</a:t>
            </a:r>
          </a:p>
          <a:p>
            <a:pPr algn="l">
              <a:spcAft>
                <a:spcPts val="1000"/>
              </a:spcAft>
            </a:pPr>
            <a:r>
              <a:rPr sz="1700" b="0">
                <a:solidFill>
                  <a:srgbClr val="222222"/>
                </a:solidFill>
                <a:latin typeface="맑은 고딕"/>
              </a:rPr>
              <a:t>•  RAC — 노드 수만큼 인스턴스, 남은 인스턴스가 계속 서비스</a:t>
            </a:r>
          </a:p>
          <a:p>
            <a:pPr algn="l">
              <a:spcAft>
                <a:spcPts val="1000"/>
              </a:spcAft>
            </a:pPr>
            <a:r>
              <a:rPr sz="1700" b="0">
                <a:solidFill>
                  <a:srgbClr val="222222"/>
                </a:solidFill>
                <a:latin typeface="맑은 고딕"/>
              </a:rPr>
              <a:t>•  공유 스토리지·Clusterware·ASM 은 RAC 와 같다</a:t>
            </a:r>
          </a:p>
          <a:p>
            <a:pPr algn="l">
              <a:spcAft>
                <a:spcPts val="1000"/>
              </a:spcAft>
            </a:pPr>
            <a:r>
              <a:rPr sz="1700" b="0">
                <a:solidFill>
                  <a:srgbClr val="222222"/>
                </a:solidFill>
                <a:latin typeface="맑은 고딕"/>
              </a:rPr>
              <a:t>•  재배치는 서비스 이동과 FAN 위에서 돈다</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언제 쓰는가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CPU 는 한 노드로 충분, 중단은 곤란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노드 패치·점검 전에 데이터베이스를 다른 노드로 옮겨 둔다</a:t>
            </a:r>
          </a:p>
          <a:p>
            <a:pPr algn="l">
              <a:spcAft>
                <a:spcPts val="1000"/>
              </a:spcAft>
            </a:pPr>
            <a:r>
              <a:rPr sz="1700" b="0">
                <a:solidFill>
                  <a:srgbClr val="222222"/>
                </a:solidFill>
                <a:latin typeface="맑은 고딕"/>
              </a:rPr>
              <a:t>•  여러 데이터베이스를 노드마다 나눠 배치하는 통합 환경</a:t>
            </a:r>
          </a:p>
          <a:p>
            <a:pPr algn="l">
              <a:spcAft>
                <a:spcPts val="1000"/>
              </a:spcAft>
            </a:pPr>
            <a:r>
              <a:rPr sz="1700" b="0">
                <a:solidFill>
                  <a:srgbClr val="222222"/>
                </a:solidFill>
                <a:latin typeface="맑은 고딕"/>
              </a:rPr>
              <a:t>•  부하를 나눠야 하면 RAC</a:t>
            </a:r>
          </a:p>
          <a:p>
            <a:pPr algn="l">
              <a:spcAft>
                <a:spcPts val="1000"/>
              </a:spcAft>
            </a:pPr>
            <a:r>
              <a:rPr sz="1700" b="0">
                <a:solidFill>
                  <a:srgbClr val="222222"/>
                </a:solidFill>
                <a:latin typeface="맑은 고딕"/>
              </a:rPr>
              <a:t>•  노드 장애 순간에도 끊기면 안 되면 RAC</a:t>
            </a:r>
          </a:p>
          <a:p>
            <a:pPr algn="l">
              <a:spcAft>
                <a:spcPts val="1000"/>
              </a:spcAft>
            </a:pPr>
            <a:r>
              <a:rPr sz="1700" b="0">
                <a:solidFill>
                  <a:srgbClr val="222222"/>
                </a:solidFill>
                <a:latin typeface="맑은 고딕"/>
              </a:rPr>
              <a:t>•  라이선스는 별도 옵션 — 운영 전 계약 확인</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지금의 구성</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Type RAC, 인스턴스 둘, 서비스 없음</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srvctl config database → Type: RAC, racdb1,racdb2</a:t>
            </a:r>
          </a:p>
          <a:p>
            <a:pPr algn="l">
              <a:spcAft>
                <a:spcPts val="1000"/>
              </a:spcAft>
            </a:pPr>
            <a:r>
              <a:rPr sz="1700" b="0">
                <a:solidFill>
                  <a:srgbClr val="222222"/>
                </a:solidFill>
                <a:latin typeface="맑은 고딕"/>
              </a:rPr>
              <a:t>•  Services: 비어 있음</a:t>
            </a:r>
          </a:p>
          <a:p>
            <a:pPr algn="l">
              <a:spcAft>
                <a:spcPts val="1000"/>
              </a:spcAft>
            </a:pPr>
            <a:r>
              <a:rPr sz="1700" b="0">
                <a:solidFill>
                  <a:srgbClr val="222222"/>
                </a:solidFill>
                <a:latin typeface="맑은 고딕"/>
              </a:rPr>
              <a:t>•  Database is administrator managed</a:t>
            </a:r>
          </a:p>
          <a:p>
            <a:pPr algn="l">
              <a:spcAft>
                <a:spcPts val="1000"/>
              </a:spcAft>
            </a:pPr>
            <a:r>
              <a:rPr sz="1700" b="0">
                <a:solidFill>
                  <a:srgbClr val="222222"/>
                </a:solidFill>
                <a:latin typeface="맑은 고딕"/>
              </a:rPr>
              <a:t>•  SPFILE — racdb1.thread=1, racdb2.thread=2, UNDO 도 이름별</a:t>
            </a:r>
          </a:p>
          <a:p>
            <a:pPr algn="l">
              <a:spcAft>
                <a:spcPts val="1000"/>
              </a:spcAft>
            </a:pPr>
            <a:r>
              <a:rPr sz="1700" b="0">
                <a:solidFill>
                  <a:srgbClr val="222222"/>
                </a:solidFill>
                <a:latin typeface="맑은 고딕"/>
              </a:rPr>
              <a:t>•  ocrconfig -manualbackup — 스냅샷은 OCR 을 되돌리지 못한다</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명령 미리 읽기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사용법에 조건이 적혀 있다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convert -dbtype RACONENODE — "RAC database having one instance"</a:t>
            </a:r>
          </a:p>
          <a:p>
            <a:pPr algn="l">
              <a:spcAft>
                <a:spcPts val="1000"/>
              </a:spcAft>
            </a:pPr>
            <a:r>
              <a:rPr sz="1700" b="0">
                <a:solidFill>
                  <a:srgbClr val="222222"/>
                </a:solidFill>
                <a:latin typeface="맑은 고딕"/>
              </a:rPr>
              <a:t>•  -instance 는 접두어 (관리자 관리형에서 필수)</a:t>
            </a:r>
          </a:p>
          <a:p>
            <a:pPr algn="l">
              <a:spcAft>
                <a:spcPts val="1000"/>
              </a:spcAft>
            </a:pPr>
            <a:r>
              <a:rPr sz="1700" b="0">
                <a:solidFill>
                  <a:srgbClr val="222222"/>
                </a:solidFill>
                <a:latin typeface="맑은 고딕"/>
              </a:rPr>
              <a:t>•  -timeout — 재배치 때 옛 인스턴스를 기다리는 상한 (분)</a:t>
            </a:r>
          </a:p>
          <a:p>
            <a:pPr algn="l">
              <a:spcAft>
                <a:spcPts val="1000"/>
              </a:spcAft>
            </a:pPr>
            <a:r>
              <a:rPr sz="1700" b="0">
                <a:solidFill>
                  <a:srgbClr val="222222"/>
                </a:solidFill>
                <a:latin typeface="맑은 고딕"/>
              </a:rPr>
              <a:t>•  relocate -abort / -revert — 실패한 재배치 정리용</a:t>
            </a:r>
          </a:p>
          <a:p>
            <a:pPr algn="l">
              <a:spcAft>
                <a:spcPts val="1000"/>
              </a:spcAft>
            </a:pPr>
            <a:r>
              <a:rPr sz="1700" b="0">
                <a:solidFill>
                  <a:srgbClr val="222222"/>
                </a:solidFill>
                <a:latin typeface="맑은 고딕"/>
              </a:rPr>
              <a:t>•  일반 RAC 에 relocate → PRCD-1146 (0.5초)</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19.2</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RAC 를 RAC One Node 로 변환</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두 조건</a:t>
            </a:r>
          </a:p>
          <a:p>
            <a:pPr algn="l">
              <a:spcAft>
                <a:spcPts val="800"/>
              </a:spcAft>
            </a:pPr>
            <a:r>
              <a:rPr sz="1600" b="0">
                <a:solidFill>
                  <a:srgbClr val="FFFFFF"/>
                </a:solidFill>
                <a:latin typeface="맑은 고딕"/>
              </a:rPr>
              <a:t>•  변환과 이름 어긋남</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첫 번째 조건 — 인스턴스 하나</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PRCD-1214</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그대로 변환 → PRCD-1214 more than one instance (1.2초)</a:t>
            </a:r>
          </a:p>
          <a:p>
            <a:pPr algn="l">
              <a:spcAft>
                <a:spcPts val="1000"/>
              </a:spcAft>
            </a:pPr>
            <a:r>
              <a:rPr sz="1700" b="0">
                <a:solidFill>
                  <a:srgbClr val="222222"/>
                </a:solidFill>
                <a:latin typeface="맑은 고딕"/>
              </a:rPr>
              <a:t>•  남길 인스턴스는 관리자가 고른다</a:t>
            </a:r>
          </a:p>
          <a:p>
            <a:pPr algn="l">
              <a:spcAft>
                <a:spcPts val="1000"/>
              </a:spcAft>
            </a:pPr>
            <a:r>
              <a:rPr sz="1700" b="0">
                <a:solidFill>
                  <a:srgbClr val="222222"/>
                </a:solidFill>
                <a:latin typeface="맑은 고딕"/>
              </a:rPr>
              <a:t>•  srvctl stop instance racdb2 (47.5초)</a:t>
            </a:r>
          </a:p>
          <a:p>
            <a:pPr algn="l">
              <a:spcAft>
                <a:spcPts val="1000"/>
              </a:spcAft>
            </a:pPr>
            <a:r>
              <a:rPr sz="1700" b="0">
                <a:solidFill>
                  <a:srgbClr val="222222"/>
                </a:solidFill>
                <a:latin typeface="맑은 고딕"/>
              </a:rPr>
              <a:t>•  srvctl remove instance racdb2 (4.9초)</a:t>
            </a:r>
          </a:p>
          <a:p>
            <a:pPr algn="l">
              <a:spcAft>
                <a:spcPts val="1000"/>
              </a:spcAft>
            </a:pPr>
            <a:r>
              <a:rPr sz="1700" b="0">
                <a:solidFill>
                  <a:srgbClr val="222222"/>
                </a:solidFill>
                <a:latin typeface="맑은 고딕"/>
              </a:rPr>
              <a:t>•  config → racdb1 / rac1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srvctl remove instance 와 dbca -deleteInstance</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스레드와 UNDO 를 남긴다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srvctl remove instance — CRS 등록 해제만</a:t>
            </a:r>
          </a:p>
          <a:p>
            <a:pPr algn="l">
              <a:spcAft>
                <a:spcPts val="1000"/>
              </a:spcAft>
            </a:pPr>
            <a:r>
              <a:rPr sz="1700" b="0">
                <a:solidFill>
                  <a:srgbClr val="222222"/>
                </a:solidFill>
                <a:latin typeface="맑은 고딕"/>
              </a:rPr>
              <a:t>•  dbca -deleteInstance — 스레드·리두·UNDO 까지 삭제 (18장)</a:t>
            </a:r>
          </a:p>
          <a:p>
            <a:pPr algn="l">
              <a:spcAft>
                <a:spcPts val="1000"/>
              </a:spcAft>
            </a:pPr>
            <a:r>
              <a:rPr sz="1700" b="0">
                <a:solidFill>
                  <a:srgbClr val="222222"/>
                </a:solidFill>
                <a:latin typeface="맑은 고딕"/>
              </a:rPr>
              <a:t>•  여기서는 srvctl — 스레드 2 와 UNDOTBS2 를 남긴다</a:t>
            </a:r>
          </a:p>
          <a:p>
            <a:pPr algn="l">
              <a:spcAft>
                <a:spcPts val="1000"/>
              </a:spcAft>
            </a:pPr>
            <a:r>
              <a:rPr sz="1700" b="0">
                <a:solidFill>
                  <a:srgbClr val="222222"/>
                </a:solidFill>
                <a:latin typeface="맑은 고딕"/>
              </a:rPr>
              <a:t>•  재배치 때 rac2 의 새 인스턴스가 그 자리를 쓴다</a:t>
            </a:r>
          </a:p>
          <a:p>
            <a:pPr algn="l">
              <a:spcAft>
                <a:spcPts val="1000"/>
              </a:spcAft>
            </a:pPr>
            <a:r>
              <a:rPr sz="1700" b="0">
                <a:solidFill>
                  <a:srgbClr val="222222"/>
                </a:solidFill>
                <a:latin typeface="맑은 고딕"/>
              </a:rPr>
              <a:t>•  목적이 다르면 도구가 다르다</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두 번째 조건 — 서비스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PRCD-1242</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다시 변환 → PRCD-1242 no service added (1.2초)</a:t>
            </a:r>
          </a:p>
          <a:p>
            <a:pPr algn="l">
              <a:spcAft>
                <a:spcPts val="1000"/>
              </a:spcAft>
            </a:pPr>
            <a:r>
              <a:rPr sz="1700" b="0">
                <a:solidFill>
                  <a:srgbClr val="222222"/>
                </a:solidFill>
                <a:latin typeface="맑은 고딕"/>
              </a:rPr>
              <a:t>•  재배치 = 새 인스턴스 기동 → 서비스 이동 → 옛 인스턴스 정지</a:t>
            </a:r>
          </a:p>
          <a:p>
            <a:pPr algn="l">
              <a:spcAft>
                <a:spcPts val="1000"/>
              </a:spcAft>
            </a:pPr>
            <a:r>
              <a:rPr sz="1700" b="0">
                <a:solidFill>
                  <a:srgbClr val="222222"/>
                </a:solidFill>
                <a:latin typeface="맑은 고딕"/>
              </a:rPr>
              <a:t>•  옮길 서비스가 없으면 재배치가 의미 없다</a:t>
            </a:r>
          </a:p>
          <a:p>
            <a:pPr algn="l">
              <a:spcAft>
                <a:spcPts val="1000"/>
              </a:spcAft>
            </a:pPr>
            <a:r>
              <a:rPr sz="1700" b="0">
                <a:solidFill>
                  <a:srgbClr val="222222"/>
                </a:solidFill>
                <a:latin typeface="맑은 고딕"/>
              </a:rPr>
              <a:t>•  srvctl add service ronsvc -preferred racdb1 -pdb racpdb1</a:t>
            </a:r>
          </a:p>
          <a:p>
            <a:pPr algn="l">
              <a:spcAft>
                <a:spcPts val="1000"/>
              </a:spcAft>
            </a:pPr>
            <a:r>
              <a:rPr sz="1700" b="0">
                <a:solidFill>
                  <a:srgbClr val="222222"/>
                </a:solidFill>
                <a:latin typeface="맑은 고딕"/>
              </a:rPr>
              <a:t>•  추가 4.9초, 기동 2.5초</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변환</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6.2초, 데이터베이스는 멈추지 않는다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convert -dbtype RACONENODE -instance racdb -timeout 30</a:t>
            </a:r>
          </a:p>
          <a:p>
            <a:pPr algn="l">
              <a:spcAft>
                <a:spcPts val="1000"/>
              </a:spcAft>
            </a:pPr>
            <a:r>
              <a:rPr sz="1700" b="0">
                <a:solidFill>
                  <a:srgbClr val="222222"/>
                </a:solidFill>
                <a:latin typeface="맑은 고딕"/>
              </a:rPr>
              <a:t>•  Type: RACOneNode</a:t>
            </a:r>
          </a:p>
          <a:p>
            <a:pPr algn="l">
              <a:spcAft>
                <a:spcPts val="1000"/>
              </a:spcAft>
            </a:pPr>
            <a:r>
              <a:rPr sz="1700" b="0">
                <a:solidFill>
                  <a:srgbClr val="222222"/>
                </a:solidFill>
                <a:latin typeface="맑은 고딕"/>
              </a:rPr>
              <a:t>•  Online relocation timeout: 30 / Instance name prefix: racdb</a:t>
            </a:r>
          </a:p>
          <a:p>
            <a:pPr algn="l">
              <a:spcAft>
                <a:spcPts val="1000"/>
              </a:spcAft>
            </a:pPr>
            <a:r>
              <a:rPr sz="1700" b="0">
                <a:solidFill>
                  <a:srgbClr val="222222"/>
                </a:solidFill>
                <a:latin typeface="맑은 고딕"/>
              </a:rPr>
              <a:t>•  Candidate servers: rac1</a:t>
            </a:r>
          </a:p>
          <a:p>
            <a:pPr algn="l">
              <a:spcAft>
                <a:spcPts val="1000"/>
              </a:spcAft>
            </a:pPr>
            <a:r>
              <a:rPr sz="1700" b="0">
                <a:solidFill>
                  <a:srgbClr val="222222"/>
                </a:solidFill>
                <a:latin typeface="맑은 고딕"/>
              </a:rPr>
              <a:t>•  상태에 Online relocation: INACTIVE 가 붙는다</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구성과 실제 이름이 어긋난다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config 는 racdb_1, status 는 racdb1</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config → Database instances: racdb_1</a:t>
            </a:r>
          </a:p>
          <a:p>
            <a:pPr algn="l">
              <a:spcAft>
                <a:spcPts val="1000"/>
              </a:spcAft>
            </a:pPr>
            <a:r>
              <a:rPr sz="1700" b="0">
                <a:solidFill>
                  <a:srgbClr val="222222"/>
                </a:solidFill>
                <a:latin typeface="맑은 고딕"/>
              </a:rPr>
              <a:t>•  status → Instance racdb1 is running</a:t>
            </a:r>
          </a:p>
          <a:p>
            <a:pPr algn="l">
              <a:spcAft>
                <a:spcPts val="1000"/>
              </a:spcAft>
            </a:pPr>
            <a:r>
              <a:rPr sz="1700" b="0">
                <a:solidFill>
                  <a:srgbClr val="222222"/>
                </a:solidFill>
                <a:latin typeface="맑은 고딕"/>
              </a:rPr>
              <a:t>•  RAC One Node 의 이름 규칙 — 접두어_번호</a:t>
            </a:r>
          </a:p>
          <a:p>
            <a:pPr algn="l">
              <a:spcAft>
                <a:spcPts val="1000"/>
              </a:spcAft>
            </a:pPr>
            <a:r>
              <a:rPr sz="1700" b="0">
                <a:solidFill>
                  <a:srgbClr val="222222"/>
                </a:solidFill>
                <a:latin typeface="맑은 고딕"/>
              </a:rPr>
              <a:t>•  변환은 구성만 바꾸고 인스턴스를 다시 띄우지 않았다</a:t>
            </a:r>
          </a:p>
          <a:p>
            <a:pPr algn="l">
              <a:spcAft>
                <a:spcPts val="1000"/>
              </a:spcAft>
            </a:pPr>
            <a:r>
              <a:rPr sz="1700" b="0">
                <a:solidFill>
                  <a:srgbClr val="222222"/>
                </a:solidFill>
                <a:latin typeface="맑은 고딕"/>
              </a:rPr>
              <a:t>•  다음에 새로 뜰 때 구성의 이름을 따른다</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19.3</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온라인 재배치</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관찰과 소요 시간</a:t>
            </a:r>
          </a:p>
          <a:p>
            <a:pPr algn="l">
              <a:spcAft>
                <a:spcPts val="800"/>
              </a:spcAft>
            </a:pPr>
            <a:r>
              <a:rPr sz="1600" b="0">
                <a:solidFill>
                  <a:srgbClr val="FFFFFF"/>
                </a:solidFill>
                <a:latin typeface="맑은 고딕"/>
              </a:rPr>
              <a:t>•  이름과 스레드</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후보 서버를 넣으려 하면</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PRKF-1125</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srvctl modify database -node rac1,rac2 → PRKF-1125</a:t>
            </a:r>
          </a:p>
          <a:p>
            <a:pPr algn="l">
              <a:spcAft>
                <a:spcPts val="1000"/>
              </a:spcAft>
            </a:pPr>
            <a:r>
              <a:rPr sz="1700" b="0">
                <a:solidFill>
                  <a:srgbClr val="222222"/>
                </a:solidFill>
                <a:latin typeface="맑은 고딕"/>
              </a:rPr>
              <a:t>•  modify 의 -node 는 값 하나만 받는다</a:t>
            </a:r>
          </a:p>
          <a:p>
            <a:pPr algn="l">
              <a:spcAft>
                <a:spcPts val="1000"/>
              </a:spcAft>
            </a:pPr>
            <a:r>
              <a:rPr sz="1700" b="0">
                <a:solidFill>
                  <a:srgbClr val="222222"/>
                </a:solidFill>
                <a:latin typeface="맑은 고딕"/>
              </a:rPr>
              <a:t>•  relocate -node rac2 로 대상을 직접 준다</a:t>
            </a:r>
          </a:p>
          <a:p>
            <a:pPr algn="l">
              <a:spcAft>
                <a:spcPts val="1000"/>
              </a:spcAft>
            </a:pPr>
            <a:r>
              <a:rPr sz="1700" b="0">
                <a:solidFill>
                  <a:srgbClr val="222222"/>
                </a:solidFill>
                <a:latin typeface="맑은 고딕"/>
              </a:rPr>
              <a:t>•  후보에 없으면 재배치가 추가한다 — Added target node rac2</a:t>
            </a:r>
          </a:p>
          <a:p>
            <a:pPr algn="l">
              <a:spcAft>
                <a:spcPts val="1000"/>
              </a:spcAft>
            </a:pPr>
            <a:r>
              <a:rPr sz="1700" b="0">
                <a:solidFill>
                  <a:srgbClr val="222222"/>
                </a:solidFill>
                <a:latin typeface="맑은 고딕"/>
              </a:rPr>
              <a:t>•  재배치 후 Candidate servers: rac1,rac2</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재배치를 5초 간격으로 관찰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rac1 → rac2, 99.5초</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11초 — Online relocation: ACTIVE, Destination racdb_2 on rac2</a:t>
            </a:r>
          </a:p>
          <a:p>
            <a:pPr algn="l">
              <a:spcAft>
                <a:spcPts val="1000"/>
              </a:spcAft>
            </a:pPr>
            <a:r>
              <a:rPr sz="1700" b="0">
                <a:solidFill>
                  <a:srgbClr val="222222"/>
                </a:solidFill>
                <a:latin typeface="맑은 고딕"/>
              </a:rPr>
              <a:t>•  34초 — racdb1 과 racdb_2 가 함께 Open</a:t>
            </a:r>
          </a:p>
          <a:p>
            <a:pPr algn="l">
              <a:spcAft>
                <a:spcPts val="1000"/>
              </a:spcAft>
            </a:pPr>
            <a:r>
              <a:rPr sz="1700" b="0">
                <a:solidFill>
                  <a:srgbClr val="222222"/>
                </a:solidFill>
                <a:latin typeface="맑은 고딕"/>
              </a:rPr>
              <a:t>•  42초 — 서비스 ronsvc 가 racdb_2 로</a:t>
            </a:r>
          </a:p>
          <a:p>
            <a:pPr algn="l">
              <a:spcAft>
                <a:spcPts val="1000"/>
              </a:spcAft>
            </a:pPr>
            <a:r>
              <a:rPr sz="1700" b="0">
                <a:solidFill>
                  <a:srgbClr val="222222"/>
                </a:solidFill>
                <a:latin typeface="맑은 고딕"/>
              </a:rPr>
              <a:t>•  96초 — racdb_2 만 남음</a:t>
            </a:r>
          </a:p>
          <a:p>
            <a:pPr algn="l">
              <a:spcAft>
                <a:spcPts val="1000"/>
              </a:spcAft>
            </a:pPr>
            <a:r>
              <a:rPr sz="1700" b="0">
                <a:solidFill>
                  <a:srgbClr val="222222"/>
                </a:solidFill>
                <a:latin typeface="맑은 고딕"/>
              </a:rPr>
              <a:t>•  99.5초 — relocate 종료</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재배치 순서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-verbose 출력 그대로</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Added target node rac2</a:t>
            </a:r>
          </a:p>
          <a:p>
            <a:pPr algn="l">
              <a:spcAft>
                <a:spcPts val="1000"/>
              </a:spcAft>
            </a:pPr>
            <a:r>
              <a:rPr sz="1700" b="0">
                <a:solidFill>
                  <a:srgbClr val="222222"/>
                </a:solidFill>
                <a:latin typeface="맑은 고딕"/>
              </a:rPr>
              <a:t>•  Configuration updated to two instances → Instance racdb_2 started</a:t>
            </a:r>
          </a:p>
          <a:p>
            <a:pPr algn="l">
              <a:spcAft>
                <a:spcPts val="1000"/>
              </a:spcAft>
            </a:pPr>
            <a:r>
              <a:rPr sz="1700" b="0">
                <a:solidFill>
                  <a:srgbClr val="222222"/>
                </a:solidFill>
                <a:latin typeface="맑은 고딕"/>
              </a:rPr>
              <a:t>•  Services relocated</a:t>
            </a:r>
          </a:p>
          <a:p>
            <a:pPr algn="l">
              <a:spcAft>
                <a:spcPts val="1000"/>
              </a:spcAft>
            </a:pPr>
            <a:r>
              <a:rPr sz="1700" b="0">
                <a:solidFill>
                  <a:srgbClr val="222222"/>
                </a:solidFill>
                <a:latin typeface="맑은 고딕"/>
              </a:rPr>
              <a:t>•  Waiting for up to 30 minutes for instance racdb1 to stop</a:t>
            </a:r>
          </a:p>
          <a:p>
            <a:pPr algn="l">
              <a:spcAft>
                <a:spcPts val="1000"/>
              </a:spcAft>
            </a:pPr>
            <a:r>
              <a:rPr sz="1700" b="0">
                <a:solidFill>
                  <a:srgbClr val="222222"/>
                </a:solidFill>
                <a:latin typeface="맑은 고딕"/>
              </a:rPr>
              <a:t>•  Instance racdb1 stopped → Configuration updated to one instance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알럿 로그로 본 재배치</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여는 데 23초, 닫는 데 62초</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18:13:21 rac2 racdb_2 기동 시작 / 18:13:25 rac1 재구성 (인스턴스 2)</a:t>
            </a:r>
          </a:p>
          <a:p>
            <a:pPr algn="l">
              <a:spcAft>
                <a:spcPts val="1000"/>
              </a:spcAft>
            </a:pPr>
            <a:r>
              <a:rPr sz="1700" b="0">
                <a:solidFill>
                  <a:srgbClr val="222222"/>
                </a:solidFill>
                <a:latin typeface="맑은 고딕"/>
              </a:rPr>
              <a:t>•  18:13:34 스레드 2 오픈 / 18:13:39 CDB OPEN / 18:13:44 RACPDB1</a:t>
            </a:r>
          </a:p>
          <a:p>
            <a:pPr algn="l">
              <a:spcAft>
                <a:spcPts val="1000"/>
              </a:spcAft>
            </a:pPr>
            <a:r>
              <a:rPr sz="1700" b="0">
                <a:solidFill>
                  <a:srgbClr val="222222"/>
                </a:solidFill>
                <a:latin typeface="맑은 고딕"/>
              </a:rPr>
              <a:t>•  18:13:46 racdb1 정지 시작 — transactional local</a:t>
            </a:r>
          </a:p>
          <a:p>
            <a:pPr algn="l">
              <a:spcAft>
                <a:spcPts val="1000"/>
              </a:spcAft>
            </a:pPr>
            <a:r>
              <a:rPr sz="1700" b="0">
                <a:solidFill>
                  <a:srgbClr val="222222"/>
                </a:solidFill>
                <a:latin typeface="맑은 고딕"/>
              </a:rPr>
              <a:t>•  _shutdown_completion_timeout_mins=30 ← -timeout 30</a:t>
            </a:r>
          </a:p>
          <a:p>
            <a:pPr algn="l">
              <a:spcAft>
                <a:spcPts val="1000"/>
              </a:spcAft>
            </a:pPr>
            <a:r>
              <a:rPr sz="1700" b="0">
                <a:solidFill>
                  <a:srgbClr val="222222"/>
                </a:solidFill>
                <a:latin typeface="맑은 고딕"/>
              </a:rPr>
              <a:t>•  18:14:48 racdb1 정지 완료</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오류 — rac2 에서 붙었더니 ORA-01034</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ORACLE_SID 는 racdb2, 인스턴스는 racdb_2</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sqlplus / as sysdba → ORA-01034 ORACLE not available</a:t>
            </a:r>
          </a:p>
          <a:p>
            <a:pPr algn="l">
              <a:spcAft>
                <a:spcPts val="1000"/>
              </a:spcAft>
            </a:pPr>
            <a:r>
              <a:rPr sz="1700" b="0">
                <a:solidFill>
                  <a:srgbClr val="222222"/>
                </a:solidFill>
                <a:latin typeface="맑은 고딕"/>
              </a:rPr>
              <a:t>•  ps -ef → ora_pmon_racdb_2</a:t>
            </a:r>
          </a:p>
          <a:p>
            <a:pPr algn="l">
              <a:spcAft>
                <a:spcPts val="1000"/>
              </a:spcAft>
            </a:pPr>
            <a:r>
              <a:rPr sz="1700" b="0">
                <a:solidFill>
                  <a:srgbClr val="222222"/>
                </a:solidFill>
                <a:latin typeface="맑은 고딕"/>
              </a:rPr>
              <a:t>•  echo $ORACLE_SID → racdb2 (프로필 고정값)</a:t>
            </a:r>
          </a:p>
          <a:p>
            <a:pPr algn="l">
              <a:spcAft>
                <a:spcPts val="1000"/>
              </a:spcAft>
            </a:pPr>
            <a:r>
              <a:rPr sz="1700" b="0">
                <a:solidFill>
                  <a:srgbClr val="222222"/>
                </a:solidFill>
                <a:latin typeface="맑은 고딕"/>
              </a:rPr>
              <a:t>•  export ORACLE_SID=racdb_2 → 스레드 2, UNDOTBS2, RACPDB1 READ WRITE</a:t>
            </a:r>
          </a:p>
          <a:p>
            <a:pPr algn="l">
              <a:spcAft>
                <a:spcPts val="1000"/>
              </a:spcAft>
            </a:pPr>
            <a:r>
              <a:rPr sz="1700" b="0">
                <a:solidFill>
                  <a:srgbClr val="222222"/>
                </a:solidFill>
                <a:latin typeface="맑은 고딕"/>
              </a:rPr>
              <a:t>•  운영에서는 서비스로 접속한다</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스레드와 UNDO 는 어떻게 잡혔나</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SPFILE 에 racdb_2 항목이 없다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v$spparameter — racdb1, racdb2 항목만</a:t>
            </a:r>
          </a:p>
          <a:p>
            <a:pPr algn="l">
              <a:spcAft>
                <a:spcPts val="1000"/>
              </a:spcAft>
            </a:pPr>
            <a:r>
              <a:rPr sz="1700" b="0">
                <a:solidFill>
                  <a:srgbClr val="222222"/>
                </a:solidFill>
                <a:latin typeface="맑은 고딕"/>
              </a:rPr>
              <a:t>•  racdb_2 는 열려 있는 스레드 중 비어 있는 2 를 잡았다</a:t>
            </a:r>
          </a:p>
          <a:p>
            <a:pPr algn="l">
              <a:spcAft>
                <a:spcPts val="1000"/>
              </a:spcAft>
            </a:pPr>
            <a:r>
              <a:rPr sz="1700" b="0">
                <a:solidFill>
                  <a:srgbClr val="222222"/>
                </a:solidFill>
                <a:latin typeface="맑은 고딕"/>
              </a:rPr>
              <a:t>•  UNDO 도 쓰이지 않던 UNDOTBS2</a:t>
            </a:r>
          </a:p>
          <a:p>
            <a:pPr algn="l">
              <a:spcAft>
                <a:spcPts val="1000"/>
              </a:spcAft>
            </a:pPr>
            <a:r>
              <a:rPr sz="1700" b="0">
                <a:solidFill>
                  <a:srgbClr val="222222"/>
                </a:solidFill>
                <a:latin typeface="맑은 고딕"/>
              </a:rPr>
              <a:t>•  srvctl remove instance 로 남겨 둔 것이 쓰였다</a:t>
            </a:r>
          </a:p>
          <a:p>
            <a:pPr algn="l">
              <a:spcAft>
                <a:spcPts val="1000"/>
              </a:spcAft>
            </a:pPr>
            <a:r>
              <a:rPr sz="1700" b="0">
                <a:solidFill>
                  <a:srgbClr val="222222"/>
                </a:solidFill>
                <a:latin typeface="맑은 고딕"/>
              </a:rPr>
              <a:t>•  dbca 로 지웠다면 잡을 스레드가 없었다</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19.4</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오류 재현 — 재배치 중에 다른 명령을 내면</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막히는 명령</a:t>
            </a:r>
          </a:p>
          <a:p>
            <a:pPr algn="l">
              <a:spcAft>
                <a:spcPts val="800"/>
              </a:spcAft>
            </a:pPr>
            <a:r>
              <a:rPr sz="1600" b="0">
                <a:solidFill>
                  <a:srgbClr val="FFFFFF"/>
                </a:solidFill>
                <a:latin typeface="맑은 고딕"/>
              </a:rPr>
              <a:t>•  통하는 명령</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재배치를 걸어 두고</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rac2 → rac1, 세션 두 개</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세션 A — srvctl relocate database -node rac1 -verbose</a:t>
            </a:r>
          </a:p>
          <a:p>
            <a:pPr algn="l">
              <a:spcAft>
                <a:spcPts val="1000"/>
              </a:spcAft>
            </a:pPr>
            <a:r>
              <a:rPr sz="1700" b="0">
                <a:solidFill>
                  <a:srgbClr val="222222"/>
                </a:solidFill>
                <a:latin typeface="맑은 고딕"/>
              </a:rPr>
              <a:t>•  세션 B, 15초 — status → Online relocation: ACTIVE</a:t>
            </a:r>
          </a:p>
          <a:p>
            <a:pPr algn="l">
              <a:spcAft>
                <a:spcPts val="1000"/>
              </a:spcAft>
            </a:pPr>
            <a:r>
              <a:rPr sz="1700" b="0">
                <a:solidFill>
                  <a:srgbClr val="222222"/>
                </a:solidFill>
                <a:latin typeface="맑은 고딕"/>
              </a:rPr>
              <a:t>•  Source racdb_2 on rac2, Destination racdb_1 on rac1</a:t>
            </a:r>
          </a:p>
          <a:p>
            <a:pPr algn="l">
              <a:spcAft>
                <a:spcPts val="1000"/>
              </a:spcAft>
            </a:pPr>
            <a:r>
              <a:rPr sz="1700" b="0">
                <a:solidFill>
                  <a:srgbClr val="222222"/>
                </a:solidFill>
                <a:latin typeface="맑은 고딕"/>
              </a:rPr>
              <a:t>•  목적지 이름 racdb_1 — 변환 때 구성에만 있던 이름</a:t>
            </a:r>
          </a:p>
          <a:p>
            <a:pPr algn="l">
              <a:spcAft>
                <a:spcPts val="1000"/>
              </a:spcAft>
            </a:pPr>
            <a:r>
              <a:rPr sz="1700" b="0">
                <a:solidFill>
                  <a:srgbClr val="222222"/>
                </a:solidFill>
                <a:latin typeface="맑은 고딕"/>
              </a:rPr>
              <a:t>•  이제 세 가지 명령을 차례로 낸다</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또 재배치하면 · 정지하면</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PRCD-1164, PRKO-2143</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relocate -node rac2 → PRCD-1161 + PRCD-1164 already active</a:t>
            </a:r>
          </a:p>
          <a:p>
            <a:pPr algn="l">
              <a:spcAft>
                <a:spcPts val="1000"/>
              </a:spcAft>
            </a:pPr>
            <a:r>
              <a:rPr sz="1700" b="0">
                <a:solidFill>
                  <a:srgbClr val="222222"/>
                </a:solidFill>
                <a:latin typeface="맑은 고딕"/>
              </a:rPr>
              <a:t>•  PRCD-1161 은 겉 메시지, 원인은 아래 줄 PRCD-1164</a:t>
            </a:r>
          </a:p>
          <a:p>
            <a:pPr algn="l">
              <a:spcAft>
                <a:spcPts val="1000"/>
              </a:spcAft>
            </a:pPr>
            <a:r>
              <a:rPr sz="1700" b="0">
                <a:solidFill>
                  <a:srgbClr val="222222"/>
                </a:solidFill>
                <a:latin typeface="맑은 고딕"/>
              </a:rPr>
              <a:t>•  진행 중인 재배치가 실패한 것은 아니다</a:t>
            </a:r>
          </a:p>
          <a:p>
            <a:pPr algn="l">
              <a:spcAft>
                <a:spcPts val="1000"/>
              </a:spcAft>
            </a:pPr>
            <a:r>
              <a:rPr sz="1700" b="0">
                <a:solidFill>
                  <a:srgbClr val="222222"/>
                </a:solidFill>
                <a:latin typeface="맑은 고딕"/>
              </a:rPr>
              <a:t>•  stop database → PRKO-2143 relocation already active</a:t>
            </a:r>
          </a:p>
          <a:p>
            <a:pPr algn="l">
              <a:spcAft>
                <a:spcPts val="1000"/>
              </a:spcAft>
            </a:pPr>
            <a:r>
              <a:rPr sz="1700" b="0">
                <a:solidFill>
                  <a:srgbClr val="222222"/>
                </a:solidFill>
                <a:latin typeface="맑은 고딕"/>
              </a:rPr>
              <a:t>•  정지가 필요하면 완료를 기다리거나 실패 시 -abort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시간 제한을 바꾸면 — 통한다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진행 중인 재배치에 반영된다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srvctl modify database -timeout 10 → rc=0 (10.0초)</a:t>
            </a:r>
          </a:p>
          <a:p>
            <a:pPr algn="l">
              <a:spcAft>
                <a:spcPts val="1000"/>
              </a:spcAft>
            </a:pPr>
            <a:r>
              <a:rPr sz="1700" b="0">
                <a:solidFill>
                  <a:srgbClr val="222222"/>
                </a:solidFill>
                <a:latin typeface="맑은 고딕"/>
              </a:rPr>
              <a:t>•  세션 A — Waiting for up to 10 minutes (원래 30)</a:t>
            </a:r>
          </a:p>
          <a:p>
            <a:pPr algn="l">
              <a:spcAft>
                <a:spcPts val="1000"/>
              </a:spcAft>
            </a:pPr>
            <a:r>
              <a:rPr sz="1700" b="0">
                <a:solidFill>
                  <a:srgbClr val="222222"/>
                </a:solidFill>
                <a:latin typeface="맑은 고딕"/>
              </a:rPr>
              <a:t>•  rac2 알럿 — _shutdown_completion_timeout_mins=10</a:t>
            </a:r>
          </a:p>
          <a:p>
            <a:pPr algn="l">
              <a:spcAft>
                <a:spcPts val="1000"/>
              </a:spcAft>
            </a:pPr>
            <a:r>
              <a:rPr sz="1700" b="0">
                <a:solidFill>
                  <a:srgbClr val="222222"/>
                </a:solidFill>
                <a:latin typeface="맑은 고딕"/>
              </a:rPr>
              <a:t>•  정지를 시작하는 순간의 구성 값을 읽는다</a:t>
            </a:r>
          </a:p>
          <a:p>
            <a:pPr algn="l">
              <a:spcAft>
                <a:spcPts val="1000"/>
              </a:spcAft>
            </a:pPr>
            <a:r>
              <a:rPr sz="1700" b="0">
                <a:solidFill>
                  <a:srgbClr val="222222"/>
                </a:solidFill>
                <a:latin typeface="맑은 고딕"/>
              </a:rPr>
              <a:t>•  재배치 중에는 그 DB 의 modify 도 하지 않는다</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재배치 중 명령 정리</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되돌아오는 재배치 85.9초</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status — 가능 (ACTIVE 표시)</a:t>
            </a:r>
          </a:p>
          <a:p>
            <a:pPr algn="l">
              <a:spcAft>
                <a:spcPts val="1000"/>
              </a:spcAft>
            </a:pPr>
            <a:r>
              <a:rPr sz="1700" b="0">
                <a:solidFill>
                  <a:srgbClr val="222222"/>
                </a:solidFill>
                <a:latin typeface="맑은 고딕"/>
              </a:rPr>
              <a:t>•  relocate — 거부 (PRCD-1161 + PRCD-1164)</a:t>
            </a:r>
          </a:p>
          <a:p>
            <a:pPr algn="l">
              <a:spcAft>
                <a:spcPts val="1000"/>
              </a:spcAft>
            </a:pPr>
            <a:r>
              <a:rPr sz="1700" b="0">
                <a:solidFill>
                  <a:srgbClr val="222222"/>
                </a:solidFill>
                <a:latin typeface="맑은 고딕"/>
              </a:rPr>
              <a:t>•  stop — 거부 (PRKO-2143)</a:t>
            </a:r>
          </a:p>
          <a:p>
            <a:pPr algn="l">
              <a:spcAft>
                <a:spcPts val="1000"/>
              </a:spcAft>
            </a:pPr>
            <a:r>
              <a:rPr sz="1700" b="0">
                <a:solidFill>
                  <a:srgbClr val="222222"/>
                </a:solidFill>
                <a:latin typeface="맑은 고딕"/>
              </a:rPr>
              <a:t>•  modify -timeout — 가능, 진행 중인 재배치에 반영</a:t>
            </a:r>
          </a:p>
          <a:p>
            <a:pPr algn="l">
              <a:spcAft>
                <a:spcPts val="1000"/>
              </a:spcAft>
            </a:pPr>
            <a:r>
              <a:rPr sz="1700" b="0">
                <a:solidFill>
                  <a:srgbClr val="222222"/>
                </a:solidFill>
                <a:latin typeface="맑은 고딕"/>
              </a:rPr>
              <a:t>•  rac1 복귀 후 인스턴스 이름은 racdb_1 — 처음의 racdb1 과 다르다</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19.5</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RAC 로 되돌리기</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변환과 이름 섞임</a:t>
            </a:r>
          </a:p>
          <a:p>
            <a:pPr algn="l">
              <a:spcAft>
                <a:spcPts val="800"/>
              </a:spcAft>
            </a:pPr>
            <a:r>
              <a:rPr sz="1600" b="0">
                <a:solidFill>
                  <a:srgbClr val="FFFFFF"/>
                </a:solidFill>
                <a:latin typeface="맑은 고딕"/>
              </a:rPr>
              <a:t>•  이름 원복</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RAC 로 변환하면</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3.3초, 이름은 racdb_1 그대로</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srvctl convert database -dbtype RAC -node rac1</a:t>
            </a:r>
          </a:p>
          <a:p>
            <a:pPr algn="l">
              <a:spcAft>
                <a:spcPts val="1000"/>
              </a:spcAft>
            </a:pPr>
            <a:r>
              <a:rPr sz="1700" b="0">
                <a:solidFill>
                  <a:srgbClr val="222222"/>
                </a:solidFill>
                <a:latin typeface="맑은 고딕"/>
              </a:rPr>
              <a:t>•  Type: RAC / Database instances: racdb_1</a:t>
            </a:r>
          </a:p>
          <a:p>
            <a:pPr algn="l">
              <a:spcAft>
                <a:spcPts val="1000"/>
              </a:spcAft>
            </a:pPr>
            <a:r>
              <a:rPr sz="1700" b="0">
                <a:solidFill>
                  <a:srgbClr val="222222"/>
                </a:solidFill>
                <a:latin typeface="맑은 고딕"/>
              </a:rPr>
              <a:t>•  접두어·후보 서버·시간 제한 줄 사라짐</a:t>
            </a:r>
          </a:p>
          <a:p>
            <a:pPr algn="l">
              <a:spcAft>
                <a:spcPts val="1000"/>
              </a:spcAft>
            </a:pPr>
            <a:r>
              <a:rPr sz="1700" b="0">
                <a:solidFill>
                  <a:srgbClr val="222222"/>
                </a:solidFill>
                <a:latin typeface="맑은 고딕"/>
              </a:rPr>
              <a:t>•  racdb2 를 바로 붙이면 → racdb2, racdb_1 섞임</a:t>
            </a:r>
          </a:p>
          <a:p>
            <a:pPr algn="l">
              <a:spcAft>
                <a:spcPts val="1000"/>
              </a:spcAft>
            </a:pPr>
            <a:r>
              <a:rPr sz="1700" b="0">
                <a:solidFill>
                  <a:srgbClr val="222222"/>
                </a:solidFill>
                <a:latin typeface="맑은 고딕"/>
              </a:rPr>
              <a:t>•  racdb_1 은 SPFILE 의 racdb1 항목을 못 쓴다</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오류 — 실행 중인 인스턴스 해제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PRKO-3147</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ronsvc 의 Preferred instances: racdb_1 (재배치로 따라 바뀜)</a:t>
            </a:r>
          </a:p>
          <a:p>
            <a:pPr algn="l">
              <a:spcAft>
                <a:spcPts val="1000"/>
              </a:spcAft>
            </a:pPr>
            <a:r>
              <a:rPr sz="1700" b="0">
                <a:solidFill>
                  <a:srgbClr val="222222"/>
                </a:solidFill>
                <a:latin typeface="맑은 고딕"/>
              </a:rPr>
              <a:t>•  remove instance racdb_1 → PRKO-3147 only preferred instance</a:t>
            </a:r>
          </a:p>
          <a:p>
            <a:pPr algn="l">
              <a:spcAft>
                <a:spcPts val="1000"/>
              </a:spcAft>
            </a:pPr>
            <a:r>
              <a:rPr sz="1700" b="0">
                <a:solidFill>
                  <a:srgbClr val="222222"/>
                </a:solidFill>
                <a:latin typeface="맑은 고딕"/>
              </a:rPr>
              <a:t>•  서비스가 갈 곳이 없어지므로 거부</a:t>
            </a:r>
          </a:p>
          <a:p>
            <a:pPr algn="l">
              <a:spcAft>
                <a:spcPts val="1000"/>
              </a:spcAft>
            </a:pPr>
            <a:r>
              <a:rPr sz="1700" b="0">
                <a:solidFill>
                  <a:srgbClr val="222222"/>
                </a:solidFill>
                <a:latin typeface="맑은 고딕"/>
              </a:rPr>
              <a:t>•  ronsvc 는 변환 조건용 — 이제 필요 없다</a:t>
            </a:r>
          </a:p>
          <a:p>
            <a:pPr algn="l">
              <a:spcAft>
                <a:spcPts val="1000"/>
              </a:spcAft>
            </a:pPr>
            <a:r>
              <a:rPr sz="1700" b="0">
                <a:solidFill>
                  <a:srgbClr val="222222"/>
                </a:solidFill>
                <a:latin typeface="맑은 고딕"/>
              </a:rPr>
              <a:t>•  서비스를 먼저 지운다</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이름 원복</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DB 를 한 번 완전히 내린다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stop / remove service ronsvc</a:t>
            </a:r>
          </a:p>
          <a:p>
            <a:pPr algn="l">
              <a:spcAft>
                <a:spcPts val="1000"/>
              </a:spcAft>
            </a:pPr>
            <a:r>
              <a:rPr sz="1700" b="0">
                <a:solidFill>
                  <a:srgbClr val="222222"/>
                </a:solidFill>
                <a:latin typeface="맑은 고딕"/>
              </a:rPr>
              <a:t>•  srvctl stop database (47.7초)</a:t>
            </a:r>
          </a:p>
          <a:p>
            <a:pPr algn="l">
              <a:spcAft>
                <a:spcPts val="1000"/>
              </a:spcAft>
            </a:pPr>
            <a:r>
              <a:rPr sz="1700" b="0">
                <a:solidFill>
                  <a:srgbClr val="222222"/>
                </a:solidFill>
                <a:latin typeface="맑은 고딕"/>
              </a:rPr>
              <a:t>•  remove instance racdb_1 (5.2초) → add instance racdb1 -node rac1 (1.4초)</a:t>
            </a:r>
          </a:p>
          <a:p>
            <a:pPr algn="l">
              <a:spcAft>
                <a:spcPts val="1000"/>
              </a:spcAft>
            </a:pPr>
            <a:r>
              <a:rPr sz="1700" b="0">
                <a:solidFill>
                  <a:srgbClr val="222222"/>
                </a:solidFill>
                <a:latin typeface="맑은 고딕"/>
              </a:rPr>
              <a:t>•  srvctl start database (30.6초) → racdb1, racdb2 OPEN</a:t>
            </a:r>
          </a:p>
          <a:p>
            <a:pPr algn="l">
              <a:spcAft>
                <a:spcPts val="1000"/>
              </a:spcAft>
            </a:pPr>
            <a:r>
              <a:rPr sz="1700" b="0">
                <a:solidFill>
                  <a:srgbClr val="222222"/>
                </a:solidFill>
                <a:latin typeface="맑은 고딕"/>
              </a:rPr>
              <a:t>•  스레드 1·2, UNDOTBS1·2 가 다시 이름에 고정</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기준선과 잔재</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18장 끝과 같다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PDB saved state — racdb1, racdb2 OPEN</a:t>
            </a:r>
          </a:p>
          <a:p>
            <a:pPr algn="l">
              <a:spcAft>
                <a:spcPts val="1000"/>
              </a:spcAft>
            </a:pPr>
            <a:r>
              <a:rPr sz="1700" b="0">
                <a:solidFill>
                  <a:srgbClr val="222222"/>
                </a:solidFill>
                <a:latin typeface="맑은 고딕"/>
              </a:rPr>
              <a:t>•  SPFILE 인스턴스별 항목 — racdb1·racdb2 각 3개, racdb_ 항목 없음</a:t>
            </a:r>
          </a:p>
          <a:p>
            <a:pPr algn="l">
              <a:spcAft>
                <a:spcPts val="1000"/>
              </a:spcAft>
            </a:pPr>
            <a:r>
              <a:rPr sz="1700" b="0">
                <a:solidFill>
                  <a:srgbClr val="222222"/>
                </a:solidFill>
                <a:latin typeface="맑은 고딕"/>
              </a:rPr>
              <a:t>•  서비스 10행, CRS 자원 17 / -init 13</a:t>
            </a:r>
          </a:p>
          <a:p>
            <a:pPr algn="l">
              <a:spcAft>
                <a:spcPts val="1000"/>
              </a:spcAft>
            </a:pPr>
            <a:r>
              <a:rPr sz="1700" b="0">
                <a:solidFill>
                  <a:srgbClr val="222222"/>
                </a:solidFill>
                <a:latin typeface="맑은 고딕"/>
              </a:rPr>
              <a:t>•  진단 디렉터리 racdb_1, racdb_2 가 남는다 (재배치 기록)</a:t>
            </a:r>
          </a:p>
          <a:p>
            <a:pPr algn="l">
              <a:spcAft>
                <a:spcPts val="1000"/>
              </a:spcAft>
            </a:pPr>
            <a:r>
              <a:rPr sz="1700" b="0">
                <a:solidFill>
                  <a:srgbClr val="222222"/>
                </a:solidFill>
                <a:latin typeface="맑은 고딕"/>
              </a:rPr>
              <a:t>•  OCR 수동 백업은 쓰지 않았다</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19.6</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RAC 와 RAC One Node 사이의 선택</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비교</a:t>
            </a:r>
          </a:p>
          <a:p>
            <a:pPr algn="l">
              <a:spcAft>
                <a:spcPts val="800"/>
              </a:spcAft>
            </a:pPr>
            <a:r>
              <a:rPr sz="1600" b="0">
                <a:solidFill>
                  <a:srgbClr val="FFFFFF"/>
                </a:solidFill>
                <a:latin typeface="맑은 고딕"/>
              </a:rPr>
              <a:t>•  이름 변화와 선택 기준</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비교</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노드 장애 때가 가장 다르다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동시에 여는 인스턴스 — 노드 수만큼 / 하나 (재배치 중 잠시 둘)</a:t>
            </a:r>
          </a:p>
          <a:p>
            <a:pPr algn="l">
              <a:spcAft>
                <a:spcPts val="1000"/>
              </a:spcAft>
            </a:pPr>
            <a:r>
              <a:rPr sz="1700" b="0">
                <a:solidFill>
                  <a:srgbClr val="222222"/>
                </a:solidFill>
                <a:latin typeface="맑은 고딕"/>
              </a:rPr>
              <a:t>•  노드 유지보수 — 인스턴스 하나 내려도 유지 / 먼저 재배치</a:t>
            </a:r>
          </a:p>
          <a:p>
            <a:pPr algn="l">
              <a:spcAft>
                <a:spcPts val="1000"/>
              </a:spcAft>
            </a:pPr>
            <a:r>
              <a:rPr sz="1700" b="0">
                <a:solidFill>
                  <a:srgbClr val="222222"/>
                </a:solidFill>
                <a:latin typeface="맑은 고딕"/>
              </a:rPr>
              <a:t>•  노드 장애 — 남은 인스턴스가 계속 / 다른 노드에서 재기동 (실측 안 함)</a:t>
            </a:r>
          </a:p>
          <a:p>
            <a:pPr algn="l">
              <a:spcAft>
                <a:spcPts val="1000"/>
              </a:spcAft>
            </a:pPr>
            <a:r>
              <a:rPr sz="1700" b="0">
                <a:solidFill>
                  <a:srgbClr val="222222"/>
                </a:solidFill>
                <a:latin typeface="맑은 고딕"/>
              </a:rPr>
              <a:t>•  인스턴스 이름 — 고정 / 재배치마다 바뀜</a:t>
            </a:r>
          </a:p>
          <a:p>
            <a:pPr algn="l">
              <a:spcAft>
                <a:spcPts val="1000"/>
              </a:spcAft>
            </a:pPr>
            <a:r>
              <a:rPr sz="1700" b="0">
                <a:solidFill>
                  <a:srgbClr val="222222"/>
                </a:solidFill>
                <a:latin typeface="맑은 고딕"/>
              </a:rPr>
              <a:t>•  유형 변경 — 두 방향 모두 DB 정지 없음 (6.2초, 3.3초)</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이름은 어떻게 바뀌었나</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오류 없이 어긋난 구간이 두 번</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RAC — racdb1, racdb2</a:t>
            </a:r>
          </a:p>
          <a:p>
            <a:pPr algn="l">
              <a:spcAft>
                <a:spcPts val="1000"/>
              </a:spcAft>
            </a:pPr>
            <a:r>
              <a:rPr sz="1700" b="0">
                <a:solidFill>
                  <a:srgbClr val="222222"/>
                </a:solidFill>
                <a:latin typeface="맑은 고딕"/>
              </a:rPr>
              <a:t>•  변환 직후 — 구성 racdb_1 / 실제 racdb1</a:t>
            </a:r>
          </a:p>
          <a:p>
            <a:pPr algn="l">
              <a:spcAft>
                <a:spcPts val="1000"/>
              </a:spcAft>
            </a:pPr>
            <a:r>
              <a:rPr sz="1700" b="0">
                <a:solidFill>
                  <a:srgbClr val="222222"/>
                </a:solidFill>
                <a:latin typeface="맑은 고딕"/>
              </a:rPr>
              <a:t>•  재배치마다 — racdb_2 ↔ racdb_1</a:t>
            </a:r>
          </a:p>
          <a:p>
            <a:pPr algn="l">
              <a:spcAft>
                <a:spcPts val="1000"/>
              </a:spcAft>
            </a:pPr>
            <a:r>
              <a:rPr sz="1700" b="0">
                <a:solidFill>
                  <a:srgbClr val="222222"/>
                </a:solidFill>
                <a:latin typeface="맑은 고딕"/>
              </a:rPr>
              <a:t>•  RAC 로 변환 후 racdb2 추가 — racdb2, racdb_1 섞임</a:t>
            </a:r>
          </a:p>
          <a:p>
            <a:pPr algn="l">
              <a:spcAft>
                <a:spcPts val="1000"/>
              </a:spcAft>
            </a:pPr>
            <a:r>
              <a:rPr sz="1700" b="0">
                <a:solidFill>
                  <a:srgbClr val="222222"/>
                </a:solidFill>
                <a:latin typeface="맑은 고딕"/>
              </a:rPr>
              <a:t>•  원복 — racdb1, racdb2</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어떤 데이터베이스를 RAC One Node 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이름에 기대는 스크립트를 먼저 찾는다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한 노드로 충분, 유지보수 중단은 곤란 → RAC One Node</a:t>
            </a:r>
          </a:p>
          <a:p>
            <a:pPr algn="l">
              <a:spcAft>
                <a:spcPts val="1000"/>
              </a:spcAft>
            </a:pPr>
            <a:r>
              <a:rPr sz="1700" b="0">
                <a:solidFill>
                  <a:srgbClr val="222222"/>
                </a:solidFill>
                <a:latin typeface="맑은 고딕"/>
              </a:rPr>
              <a:t>•  부하 분산이 필요 → RAC</a:t>
            </a:r>
          </a:p>
          <a:p>
            <a:pPr algn="l">
              <a:spcAft>
                <a:spcPts val="1000"/>
              </a:spcAft>
            </a:pPr>
            <a:r>
              <a:rPr sz="1700" b="0">
                <a:solidFill>
                  <a:srgbClr val="222222"/>
                </a:solidFill>
                <a:latin typeface="맑은 고딕"/>
              </a:rPr>
              <a:t>•  장애 순간에도 연속성 → RAC</a:t>
            </a:r>
          </a:p>
          <a:p>
            <a:pPr algn="l">
              <a:spcAft>
                <a:spcPts val="1000"/>
              </a:spcAft>
            </a:pPr>
            <a:r>
              <a:rPr sz="1700" b="0">
                <a:solidFill>
                  <a:srgbClr val="222222"/>
                </a:solidFill>
                <a:latin typeface="맑은 고딕"/>
              </a:rPr>
              <a:t>•  데이터베이스 여러 개를 노드에 나눠 배치 → RAC One Node</a:t>
            </a:r>
          </a:p>
          <a:p>
            <a:pPr algn="l">
              <a:spcAft>
                <a:spcPts val="1000"/>
              </a:spcAft>
            </a:pPr>
            <a:r>
              <a:rPr sz="1700" b="0">
                <a:solidFill>
                  <a:srgbClr val="222222"/>
                </a:solidFill>
                <a:latin typeface="맑은 고딕"/>
              </a:rPr>
              <a:t>•  인스턴스 이름을 쓰는 스크립트가 많다 → 바꾸기 전에 정리</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19.7</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정리와 운영 지침</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실측 시간</a:t>
            </a:r>
          </a:p>
          <a:p>
            <a:pPr algn="l">
              <a:spcAft>
                <a:spcPts val="800"/>
              </a:spcAft>
            </a:pPr>
            <a:r>
              <a:rPr sz="1600" b="0">
                <a:solidFill>
                  <a:srgbClr val="FFFFFF"/>
                </a:solidFill>
                <a:latin typeface="맑은 고딕"/>
              </a:rPr>
              <a:t>•  점검 항목</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이 장의 실측 시간</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변환은 가볍고 정리는 무겁다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변환 6.2초 / 되돌리기 3.3초 — DB 정지 없음</a:t>
            </a:r>
          </a:p>
          <a:p>
            <a:pPr algn="l">
              <a:spcAft>
                <a:spcPts val="1000"/>
              </a:spcAft>
            </a:pPr>
            <a:r>
              <a:rPr sz="1700" b="0">
                <a:solidFill>
                  <a:srgbClr val="222222"/>
                </a:solidFill>
                <a:latin typeface="맑은 고딕"/>
              </a:rPr>
              <a:t>•  재배치 99.5초 / 85.9초 — 그중 옛 인스턴스 정지 62초</a:t>
            </a:r>
          </a:p>
          <a:p>
            <a:pPr algn="l">
              <a:spcAft>
                <a:spcPts val="1000"/>
              </a:spcAft>
            </a:pPr>
            <a:r>
              <a:rPr sz="1700" b="0">
                <a:solidFill>
                  <a:srgbClr val="222222"/>
                </a:solidFill>
                <a:latin typeface="맑은 고딕"/>
              </a:rPr>
              <a:t>•  racdb2 정지 47.5초 / DB 정지 47.7초 / 기동 30.6초</a:t>
            </a:r>
          </a:p>
          <a:p>
            <a:pPr algn="l">
              <a:spcAft>
                <a:spcPts val="1000"/>
              </a:spcAft>
            </a:pPr>
            <a:r>
              <a:rPr sz="1700" b="0">
                <a:solidFill>
                  <a:srgbClr val="222222"/>
                </a:solidFill>
                <a:latin typeface="맑은 고딕"/>
              </a:rPr>
              <a:t>•  유지보수 창은 재배치·정지 시간을 기준으로</a:t>
            </a:r>
          </a:p>
          <a:p>
            <a:pPr algn="l">
              <a:spcAft>
                <a:spcPts val="1000"/>
              </a:spcAft>
            </a:pPr>
            <a:r>
              <a:rPr sz="1700" b="0">
                <a:solidFill>
                  <a:srgbClr val="222222"/>
                </a:solidFill>
                <a:latin typeface="맑은 고딕"/>
              </a:rPr>
              <a:t>•  세션이 많으면 transactional 정지가 길어진다 (상한 -timeout)</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점검 항목과 상황별 대응</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이름은 기억하지 말고 매번 확인</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변환 전 — Type, 인스턴스 하나, 서비스 하나 이상, OCR 백업</a:t>
            </a:r>
          </a:p>
          <a:p>
            <a:pPr algn="l">
              <a:spcAft>
                <a:spcPts val="1000"/>
              </a:spcAft>
            </a:pPr>
            <a:r>
              <a:rPr sz="1700" b="0">
                <a:solidFill>
                  <a:srgbClr val="222222"/>
                </a:solidFill>
                <a:latin typeface="맑은 고딕"/>
              </a:rPr>
              <a:t>•  재배치 중 — srvctl status -v 의 Online relocation</a:t>
            </a:r>
          </a:p>
          <a:p>
            <a:pPr algn="l">
              <a:spcAft>
                <a:spcPts val="1000"/>
              </a:spcAft>
            </a:pPr>
            <a:r>
              <a:rPr sz="1700" b="0">
                <a:solidFill>
                  <a:srgbClr val="222222"/>
                </a:solidFill>
                <a:latin typeface="맑은 고딕"/>
              </a:rPr>
              <a:t>•  재배치 후 — pmon 이름으로 지금 인스턴스 확인</a:t>
            </a:r>
          </a:p>
          <a:p>
            <a:pPr algn="l">
              <a:spcAft>
                <a:spcPts val="1000"/>
              </a:spcAft>
            </a:pPr>
            <a:r>
              <a:rPr sz="1700" b="0">
                <a:solidFill>
                  <a:srgbClr val="222222"/>
                </a:solidFill>
                <a:latin typeface="맑은 고딕"/>
              </a:rPr>
              <a:t>•  되돌린 뒤 — v$spparameter 의 sid 와 gv$instance 대조</a:t>
            </a:r>
          </a:p>
          <a:p>
            <a:pPr algn="l">
              <a:spcAft>
                <a:spcPts val="1000"/>
              </a:spcAft>
            </a:pPr>
            <a:r>
              <a:rPr sz="1700" b="0">
                <a:solidFill>
                  <a:srgbClr val="222222"/>
                </a:solidFill>
                <a:latin typeface="맑은 고딕"/>
              </a:rPr>
              <a:t>•  PRKO-3147 → 서비스 정리 / ORA-01034 → 실제 이름으로</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다음 장으로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진단·성능·종합 운영</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19장까지 — 구성, 저장, 서비스, 백업, 노드, 유형</a:t>
            </a:r>
          </a:p>
          <a:p>
            <a:pPr algn="l">
              <a:spcAft>
                <a:spcPts val="1000"/>
              </a:spcAft>
            </a:pPr>
            <a:r>
              <a:rPr sz="1700" b="0">
                <a:solidFill>
                  <a:srgbClr val="222222"/>
                </a:solidFill>
                <a:latin typeface="맑은 고딕"/>
              </a:rPr>
              <a:t>•  20장 — 돌아가는 클러스터를 진단한다</a:t>
            </a:r>
          </a:p>
          <a:p>
            <a:pPr algn="l">
              <a:spcAft>
                <a:spcPts val="1000"/>
              </a:spcAft>
            </a:pPr>
            <a:r>
              <a:rPr sz="1700" b="0">
                <a:solidFill>
                  <a:srgbClr val="222222"/>
                </a:solidFill>
                <a:latin typeface="맑은 고딕"/>
              </a:rPr>
              <a:t>•  클러스터 대기 이벤트와 인터커넥트</a:t>
            </a:r>
          </a:p>
          <a:p>
            <a:pPr algn="l">
              <a:spcAft>
                <a:spcPts val="1000"/>
              </a:spcAft>
            </a:pPr>
            <a:r>
              <a:rPr sz="1700" b="0">
                <a:solidFill>
                  <a:srgbClr val="222222"/>
                </a:solidFill>
                <a:latin typeface="맑은 고딕"/>
              </a:rPr>
              <a:t>•  로그 수집과 종합 점검 스크립트</a:t>
            </a:r>
          </a:p>
          <a:p>
            <a:pPr algn="l">
              <a:spcAft>
                <a:spcPts val="1000"/>
              </a:spcAft>
            </a:pPr>
            <a:r>
              <a:rPr sz="1700" b="0">
                <a:solidFill>
                  <a:srgbClr val="222222"/>
                </a:solidFill>
                <a:latin typeface="맑은 고딕"/>
              </a:rPr>
              <a:t>•  장애 시나리오 종합</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3978</Words>
  <Application>Microsoft Office PowerPoint</Application>
  <PresentationFormat>와이드스크린</PresentationFormat>
  <Paragraphs>287</Paragraphs>
  <Slides>40</Slides>
  <Notes>30</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40</vt:i4>
      </vt:variant>
    </vt:vector>
  </HeadingPairs>
  <TitlesOfParts>
    <vt:vector size="44" baseType="lpstr">
      <vt:lpstr>맑은 고딕</vt:lpstr>
      <vt:lpstr>Arial</vt:lpstr>
      <vt:lpstr>Calibri</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KEONTAE KIM</cp:lastModifiedBy>
  <cp:revision>2</cp:revision>
  <dcterms:created xsi:type="dcterms:W3CDTF">2013-01-27T09:14:16Z</dcterms:created>
  <dcterms:modified xsi:type="dcterms:W3CDTF">2026-10-29T10:19:56Z</dcterms:modified>
  <cp:category/>
</cp:coreProperties>
</file>
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4" d="100"/>
          <a:sy n="104" d="100"/>
        </p:scale>
        <p:origin x="834" y="12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429AB3-8DEE-4F58-A697-48990A75C6B9}" type="datetimeFigureOut">
              <a:rPr lang="ko-KR" altLang="en-US" smtClean="0"/>
              <a:t>2026-10-29</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4B3843-21CC-44B3-8B4C-DC7BDC88963B}" type="slidenum">
              <a:rPr lang="ko-KR" altLang="en-US" smtClean="0"/>
              <a:t>‹#›</a:t>
            </a:fld>
            <a:endParaRPr lang="ko-KR" altLang="en-US"/>
          </a:p>
        </p:txBody>
      </p:sp>
    </p:spTree>
    <p:extLst>
      <p:ext uri="{BB962C8B-B14F-4D97-AF65-F5344CB8AC3E}">
        <p14:creationId xmlns:p14="http://schemas.microsoft.com/office/powerpoint/2010/main" val="2216378188"/>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두 장의 성격 차이를 먼저 분명히 합니다. 7장에서 별칭을 만들고 지우는 데는 1초도 걸리지 않았고 되돌리기도 쉬웠습니다. 8장은 다릅니다. 명령 자체는 즉시 끝나지만 그 뒤의 리밸런스가 몇 분에서 몇 시간까지 갑니다. 실습을 계획할 때 이 시간을 반드시 고려해야 합니다. 그리고 중간에 멈추면 흔적이 남는다는 점도 미리 알아 두시기 바랍니다. 실측 수치를 그대로 인용하며 설명하십시오.</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실습 환경을 만들며 처음 만나는 오류입니다. 속성이라고 다 같은 속성이 아닙니다. AU 크기나 섹터 크기처럼 디스크그룹을 만들 때 결정되어 나중에 바꿀 수 없는 것은 CREATE 에서만 지정할 수 있고, disk_repair_time 처럼 운영 중에 조정하는 것은 ALTER 로만 설정합니다. 실습에서는 기본값 3.6시간을 3분으로 줄여야 타이머 만료를 기다릴 수 있습니다.</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6장에서 이중화가 용량을 절반으로 만든다고 배웠는데 여기서 실제 숫자로 확인합니다. 2500MB 를 넣었더니 5220MB 를 썼습니다. 두 배가 조금 넘습니다. 초과분은 파일 헤더와 디스크그룹 메타데이터입니다. 그리고 실습 설계상 중요한 점이 있습니다. 데이터가 없으면 리밸런스가 1초 만에 끝나 관찰할 것이 없습니다. 그래서 일부러 2500MB 를 채웁니다. 이 오류는 실습 초반에 반드시 한 번 만나게 됩니다.</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ASM 미러링을 오해하기 쉬운 지점입니다. RAID 1 처럼 한쪽은 원본 전용, 다른 쪽은 미러 전용일 것이라고 생각하는데 그렇지 않습니다. 원본과 미러가 모든 디스크에 고르게 섞여 있습니다. 미러 전용 디스크를 두면 그 디스크가 평소에 놀게 되므로 읽기 성능을 위해 섞습니다. 다만 같은 익스텐트의 두 사본은 반드시 다른 장애 그룹에 놓입니다. 숫자를 칠판에 적어 두고 비교하면 효과가 좋습니다.</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리밸런스 진행률을 모니터링하는 스크립트를 만들 때 반드시 알아야 할 함정입니다. sofar 나누기 est_work 로 퍼센트를 계산하면 100을 넘거나 뒤로 갑니다. 실측에서 1139 까지 올라갔던 sofar 가 38 로 떨어졌습니다. 리밸런스가 단계별로 진행되고 단계가 바뀔 때 카운터가 초기화되기 때문입니다. 완료 여부는 v 달러 asm_operation 에 행이 있는지로만 판단하십시오.</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리밸런스가 무엇을 하는지 결과로 보여 줍니다. 새 디스크에만 새 데이터를 쓰는 것이 아니라 기존 데이터를 옮겨 와 전체를 고르게 만듭니다. 그래서 시간이 걸립니다. 디스크가 100장인 디스크그룹에 한 장을 추가해도 전체 재분배가 일어납니다. 용량이 다른 디스크가 섞여 있으면 절대량이 아니라 사용 비율을 맞춘다는 점도 기억해 두시기 바랍니다. 진행률 계산 스크립트를 쓰신다면 반드시 확인하십시오.</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처음 보면 당황스러운 결과입니다. 디스크를 추가했는데 쓸 수 있는 공간이 3분의 1로 줄었습니다. 그러나 이것은 손해가 아니라 계산이 정확해진 것입니다. 디스크 2장일 때의 4038 은 손실 대비가 전혀 없는 숫자였습니다. 한 장이 죽으면 미러를 다시 만들 곳이 아예 없으니까요. 3장이 되어서야 비로소 의미 있는 안전 여유가 계산됩니다. 디스크가 많은 운영 환경일수록 이 차이가 커집니다.</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6장에서 ASM 프로세스 37개를 셀 때 RBAL 은 있었지만 ARB 는 없었던 이유가 여기 있습니다. RBAL 은 항상 떠 있으면서 리밸런스가 필요한지 판단하고 계획을 세우는 조정자이고, 실제 데이터 복사는 그때그때 뜨는 ARB 슬레이브가 합니다. 파워는 이 슬레이브의 수를 정합니다. ps 로 슬레이브 수를 세면 파워가 실제로 적용됐는지 확인할 수 있습니다. 실습에서는 파워 0으로 멈췄다 재개하는 것까지 해 봅니다.</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같은 조건에서 파워만 바꿔 실측한 결과입니다. 무작정 올린다고 비례해서 빨라지지 않습니다. 파워는 동시에 도는 ARB 슬레이브 수를 정할 뿐이고, 슬레이브를 늘려도 디스크가 감당하지 못하면 소용이 없습니다. 실습 환경은 가상 디스크가 하나의 물리 디스크에 얹혀 있어 특히 그렇습니다. 그리고 제거가 추가보다 빠른 이유도 함께 설명합니다. 사고로 이어지기 쉬운 지점이므로 강조해 주십시오.</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직관과 반대라고 느낄 수 있어 설명이 필요합니다. 디스크를 빼는 것이 더 오래 걸릴 것 같지만 실제로는 반대입니다. 제거는 나가는 디스크에 있던 데이터만 남은 디스크로 옮기면 끝나지만, 추가는 기존 모든 디스크에서 새 디스크로 데이터를 옮겨 균형을 맞춰야 합니다. 옮기는 총량이 다릅니다. 작업 계획을 세울 때 이 비대칭을 고려하십시오. 헤더 상태를 직접 조회해 확인하는 것이 요령입니다.</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실무에서 바로 쓸 수 있는 기준입니다. 특히 파워 0을 기억해 두시기 바랍니다. 낮에 디스크를 추가했다가 업무 응답이 느려졌을 때 즉시 멈출 수 있습니다. 완전히 취소되는 것이 아니라 중단된 상태로 남으므로 야간에 파워를 올려 재개하면 중단 지점부터 이어집니다. 작은 값으로 시작해 EST_MINUTES 를 보고 조정하는 것이 안전합니다. 5장 실습과 나란히 놓고 비교하면 이해가 빠릅니다.</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오류를 만나면 당황하기 쉽습니다. 디스크가 3장이나 있는데 왜 한 장을 못 빼느냐는 것입니다. 이유는 결과 상태에 있습니다. 2개가 되면 Normal 중복도의 최소 요건에 딱 맞게 되고, 그 상태에서는 한 장만 더 잃어도 복구할 수 없습니다. ASM 이 그 위험한 상태로 가는 것을 막습니다. FORCE 로 뚫기 전에 왜 막혔는지 이해하시기 바랍니다. alert.log 의 주석 한 줄이 결정적 단서가 됩니다.</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실무에서 가장 위험한 지점 중 하나입니다. drop disk 명령이 성공했다는 것만 보고 스토리지 담당자에게 디스크 회수를 요청하면 데이터를 잃을 수 있습니다. DROPPING 상태에서는 그 디스크에 아직 유일한 사본이 남아 있을 수 있습니다. 반드시 HEADER_STATUS 가 FORMER 로 바뀐 것을 확인한 뒤에 장비에서 분리하십시오. 이 두 숫자의 대비가 이 장 전체의 결론입니다.</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FORCE 를 쉽게 쓰면 안 되는 이유를 실측으로 보여 줍니다. 정상 제거는 헤더를 FORMER 로 깨끗이 정리하지만 FORCE 는 MEMBER 로 남깁니다. 그 디스크를 다시 쓰려면 또 FORCE 가 필요하고, 이런 흔적이 쌓이면 어느 디스크가 어느 디스크그룹에 실제로 속하는지 헤더만으로는 알 수 없게 됩니다. 다른 클러스터의 디스크를 빼앗는 사고도 이런 상황에서 생깁니다.</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5장에서 디스크를 내렸을 때 REPAIR_TIMER 가 0에서 움직이지 않아 의아했던 것을 여기서 해소합니다. 그때는 Voting File 을 담은 디스크였고 mandatory 속성이 해제되면서 타이머 관리 대상에서 빠졌습니다. 이번 TESTN 에는 Voting File 이 없으므로 정상적으로 180초가 잡힙니다. 그리고 USED_MB 가 그대로 유지된다는 점이 다음 슬라이드의 전제가 됩니다.</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DISK_REPAIR_TIME 이 실제로 무엇을 하는지 보여 주는 실습입니다. 타이머가 만료되면 ASM 이 사람의 개입 없이 스스로 디스크를 제거합니다. alert.log 의 주석이 결정적 단서입니다. 이 동작 때문에 스토리지 점검처럼 예정된 작업이 있을 때는 DISK_REPAIR_TIME 을 작업 시간보다 길게 잡아야 합니다. 넘기면 복귀 후 전체 리밸런스가 일어납니다.</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장의 핵심 대비입니다. 같은 디스크인데 추가는 239초, 복귀는 9초입니다. 차이는 옮기는 양입니다. 전체 리밸런스는 모든 익스텐트를 재분배하지만 재동기화는 오프라인 동안 변한 것만 갱신합니다. 그리고 5장에서 겪은 ORA-15283 이 여기서 완전히 이해됩니다. compatible.rdbms 10.1 이 막고 있던 기능이 바로 이 fast mirror resync 였습니다.</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설계 문서만 믿지 말고 조회로 확인하라는 것이 이 슬라이드의 요점입니다. 장애 그룹 이름을 빠뜨리고 디스크를 추가하면 ASM 이 디스크마다 새 장애 그룹을 만들어 버립니다. 이 조회로 대각선이 비어 있는지 확인하면 배치가 안전한지 검증할 수 있습니다. 확장 클러스터에서 특히 중요합니다. 사이트 A 에 원본과 미러가 함께 놓였다면 사이트 A 가 끊길 때 데이터를 잃습니다.</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장의 실측 결과를 그대로 운영 지침으로 옮긴 것입니다. 각 항목마다 근거가 되는 실측이 있습니다. 특히 세 번째와 네 번째가 사고와 직결됩니다. DROPPING 상태에서 디스크를 뽑으면 데이터를 잃고, 습관적으로 FORCE 를 붙이면 헤더에 흔적이 쌓입니다. 마지막 항목은 계획된 작업에서 가장 자주 놓치는 부분입니다. 조회문이 길어 보이지만 조인 키는 두 개뿐입니다.</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세 가지 모두 이 장의 실습에서 직접 확인한 것입니다. 첫째는 명령 1초, 리밸런스 239초의 대비입니다. 둘째는 용량 계획의 기본입니다. Normal 중복도에서는 절반만 쓸 수 있고 여기에 REQUIRED_MIRROR_FREE_MB 까지 빼야 실제 가용량이 나옵니다. 셋째는 FORCE 의 연쇄 효과입니다. 한 번 쓰면 다음에도 써야 하는 상황이 만들어집니다. 각 항목의 근거가 되는 실측을 함께 짚어 주십시오.</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6장부터 계속 강조한 원칙이 여기서도 반복됩니다. ORA-15018 과 ORA-15032 는 결과만 알려 주는 포괄 코드이고 실제 원인은 그 아래 줄에 있습니다. 그리고 세 오류 모두 ASM 이 데이터를 지키려는 동작입니다. ORA-59327 은 복구 불가능한 상태로 가는 것을, ORA-15033 은 다른 디스크그룹의 디스크를 빼앗는 것을 막습니다. 세 가지 모두 현장에서 실제로 자주 일어납니다.</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세 장을 하나로 묶어 정리합니다. 6장에서 만든 test 디스크를 7장과 8장에서 그대로 썼습니다. 그리고 5장에서 만났던 ORA-15283 이 여기서 완결됩니다. 그때 compatible.rdbms 10.1 이 막고 있던 fast mirror resync 를 8장에서 실제로 써 보고 239초와 9초의 차이를 확인했습니다. 장을 넘나드는 이런 연결이 실습 환경을 한 벌로 유지한 이유입니다.</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실습을 마치면 반드시 원상 복구를 확인합니다. 이 과정의 모든 장이 그 원칙을 지킵니다. 딱 하나 되돌리지 못한 것이 5장에서 올린 compatible.rdbms 입니다. 그것 외에는 클러스터 상태, OCR ID, 데이터베이스 인스턴스가 모두 처음과 같아야 합니다. 다음 장 실습이 깨끗한 상태에서 시작되도록 하는 것이 목적입니다. 오류 번호대만 보고 계층을 짚는 연습을 시키십시오.</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5394960"/>
            <a:ext cx="12191695"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457200"/>
            <a:ext cx="10698480" cy="548640"/>
          </a:xfrm>
          <a:prstGeom prst="rect">
            <a:avLst/>
          </a:prstGeom>
          <a:noFill/>
        </p:spPr>
        <p:txBody>
          <a:bodyPr wrap="square">
            <a:spAutoFit/>
          </a:bodyPr>
          <a:lstStyle/>
          <a:p>
            <a:pPr algn="l">
              <a:spcAft>
                <a:spcPts val="600"/>
              </a:spcAft>
            </a:pPr>
            <a:r>
              <a:rPr sz="1600" b="1">
                <a:solidFill>
                  <a:srgbClr val="FFFFFF"/>
                </a:solidFill>
                <a:latin typeface="맑은 고딕"/>
              </a:rPr>
              <a:t>Oracle 19c Real Application Clusters</a:t>
            </a:r>
          </a:p>
        </p:txBody>
      </p:sp>
      <p:sp>
        <p:nvSpPr>
          <p:cNvPr id="6" name="TextBox 5"/>
          <p:cNvSpPr txBox="1"/>
          <p:nvPr/>
        </p:nvSpPr>
        <p:spPr>
          <a:xfrm>
            <a:off x="731520" y="2377440"/>
            <a:ext cx="10698480" cy="615553"/>
          </a:xfrm>
          <a:prstGeom prst="rect">
            <a:avLst/>
          </a:prstGeom>
          <a:noFill/>
        </p:spPr>
        <p:txBody>
          <a:bodyPr wrap="square">
            <a:spAutoFit/>
          </a:bodyPr>
          <a:lstStyle/>
          <a:p>
            <a:pPr algn="l">
              <a:spcAft>
                <a:spcPts val="600"/>
              </a:spcAft>
            </a:pPr>
            <a:r>
              <a:rPr sz="3400" b="1" dirty="0">
                <a:solidFill>
                  <a:srgbClr val="C0392B"/>
                </a:solidFill>
                <a:latin typeface="맑은 고딕"/>
              </a:rPr>
              <a:t>ASM </a:t>
            </a:r>
            <a:r>
              <a:rPr sz="3400" b="1" dirty="0" err="1">
                <a:solidFill>
                  <a:srgbClr val="C0392B"/>
                </a:solidFill>
                <a:latin typeface="맑은 고딕"/>
              </a:rPr>
              <a:t>리밸런스</a:t>
            </a:r>
            <a:endParaRPr sz="3400" b="1" dirty="0">
              <a:solidFill>
                <a:srgbClr val="C0392B"/>
              </a:solidFill>
              <a:latin typeface="맑은 고딕"/>
            </a:endParaRPr>
          </a:p>
        </p:txBody>
      </p:sp>
      <p:sp>
        <p:nvSpPr>
          <p:cNvPr id="7" name="TextBox 6"/>
          <p:cNvSpPr txBox="1"/>
          <p:nvPr/>
        </p:nvSpPr>
        <p:spPr>
          <a:xfrm>
            <a:off x="731520" y="4114800"/>
            <a:ext cx="10698480" cy="1097280"/>
          </a:xfrm>
          <a:prstGeom prst="rect">
            <a:avLst/>
          </a:prstGeom>
          <a:noFill/>
        </p:spPr>
        <p:txBody>
          <a:bodyPr wrap="square">
            <a:spAutoFit/>
          </a:bodyPr>
          <a:lstStyle/>
          <a:p>
            <a:pPr algn="l">
              <a:spcAft>
                <a:spcPts val="600"/>
              </a:spcAft>
            </a:pPr>
            <a:r>
              <a:rPr sz="1500" b="0">
                <a:solidFill>
                  <a:srgbClr val="5A6672"/>
                </a:solidFill>
                <a:latin typeface="맑은 고딕"/>
              </a:rPr>
              <a:t>이중화</a:t>
            </a:r>
          </a:p>
        </p:txBody>
      </p:sp>
      <p:sp>
        <p:nvSpPr>
          <p:cNvPr id="8" name="TextBox 7"/>
          <p:cNvSpPr txBox="1"/>
          <p:nvPr/>
        </p:nvSpPr>
        <p:spPr>
          <a:xfrm>
            <a:off x="731520" y="5577840"/>
            <a:ext cx="10698480" cy="914400"/>
          </a:xfrm>
          <a:prstGeom prst="rect">
            <a:avLst/>
          </a:prstGeom>
          <a:noFill/>
        </p:spPr>
        <p:txBody>
          <a:bodyPr wrap="square">
            <a:spAutoFit/>
          </a:bodyPr>
          <a:lstStyle/>
          <a:p>
            <a:pPr algn="l">
              <a:spcAft>
                <a:spcPts val="600"/>
              </a:spcAft>
            </a:pPr>
            <a:r>
              <a:rPr sz="2000" b="1">
                <a:solidFill>
                  <a:srgbClr val="C0392B"/>
                </a:solidFill>
                <a:latin typeface="맑은 고딕"/>
              </a:rPr>
              <a:t>디스크를 넣고 빼고 잃어 본다. 239초와 9초의 차이는 어디서 오는가</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학습 목표</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리밸런스가 무엇을 옮기는지 익스텐트 단위로 확인한다</a:t>
            </a:r>
          </a:p>
          <a:p>
            <a:pPr algn="l">
              <a:spcAft>
                <a:spcPts val="1000"/>
              </a:spcAft>
            </a:pPr>
            <a:r>
              <a:rPr sz="1600" b="0">
                <a:solidFill>
                  <a:srgbClr val="222222"/>
                </a:solidFill>
                <a:latin typeface="맑은 고딕"/>
              </a:rPr>
              <a:t>•  v$asm_operation 을 정확히 읽는다</a:t>
            </a:r>
          </a:p>
          <a:p>
            <a:pPr algn="l">
              <a:spcAft>
                <a:spcPts val="1000"/>
              </a:spcAft>
            </a:pPr>
            <a:r>
              <a:rPr sz="1600" b="0">
                <a:solidFill>
                  <a:srgbClr val="222222"/>
                </a:solidFill>
                <a:latin typeface="맑은 고딕"/>
              </a:rPr>
              <a:t>•  리밸런스 파워의 효과와 한계를 실측으로 안다</a:t>
            </a:r>
          </a:p>
          <a:p>
            <a:pPr algn="l">
              <a:spcAft>
                <a:spcPts val="1000"/>
              </a:spcAft>
            </a:pPr>
            <a:r>
              <a:rPr sz="1600" b="0">
                <a:solidFill>
                  <a:srgbClr val="222222"/>
                </a:solidFill>
                <a:latin typeface="맑은 고딕"/>
              </a:rPr>
              <a:t>•  디스크 제거가 즉시 일어나지 않는 이유를 설명한다</a:t>
            </a:r>
          </a:p>
          <a:p>
            <a:pPr algn="l">
              <a:spcAft>
                <a:spcPts val="1000"/>
              </a:spcAft>
            </a:pPr>
            <a:r>
              <a:rPr sz="1600" b="0">
                <a:solidFill>
                  <a:srgbClr val="222222"/>
                </a:solidFill>
                <a:latin typeface="맑은 고딕"/>
              </a:rPr>
              <a:t>•  FORCE 제거가 남기는 흔적과 그 대가를 안다</a:t>
            </a:r>
          </a:p>
          <a:p>
            <a:pPr algn="l">
              <a:spcAft>
                <a:spcPts val="1000"/>
              </a:spcAft>
            </a:pPr>
            <a:r>
              <a:rPr sz="1600" b="0">
                <a:solidFill>
                  <a:srgbClr val="222222"/>
                </a:solidFill>
                <a:latin typeface="맑은 고딕"/>
              </a:rPr>
              <a:t>•  DISK_REPAIR_TIME 만료 시 ASM 의 자동 동작을 관찰한다</a:t>
            </a:r>
          </a:p>
          <a:p>
            <a:pPr algn="l">
              <a:spcAft>
                <a:spcPts val="1000"/>
              </a:spcAft>
            </a:pPr>
            <a:r>
              <a:rPr sz="1600" b="0">
                <a:solidFill>
                  <a:srgbClr val="222222"/>
                </a:solidFill>
                <a:latin typeface="맑은 고딕"/>
              </a:rPr>
              <a:t>•  fast mirror resync 가 왜 26배 빠른지 설명한다</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Agenda</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8.1 리밸런스란 무엇인가</a:t>
            </a:r>
          </a:p>
          <a:p>
            <a:pPr algn="l">
              <a:spcAft>
                <a:spcPts val="1000"/>
              </a:spcAft>
            </a:pPr>
            <a:r>
              <a:rPr sz="1600" b="0">
                <a:solidFill>
                  <a:srgbClr val="222222"/>
                </a:solidFill>
                <a:latin typeface="맑은 고딕"/>
              </a:rPr>
              <a:t>•  8.2 디스크 추가와 리밸런스</a:t>
            </a:r>
          </a:p>
          <a:p>
            <a:pPr algn="l">
              <a:spcAft>
                <a:spcPts val="1000"/>
              </a:spcAft>
            </a:pPr>
            <a:r>
              <a:rPr sz="1600" b="0">
                <a:solidFill>
                  <a:srgbClr val="222222"/>
                </a:solidFill>
                <a:latin typeface="맑은 고딕"/>
              </a:rPr>
              <a:t>•  8.3 리밸런스 속도 조절</a:t>
            </a:r>
          </a:p>
          <a:p>
            <a:pPr algn="l">
              <a:spcAft>
                <a:spcPts val="1000"/>
              </a:spcAft>
            </a:pPr>
            <a:r>
              <a:rPr sz="1600" b="0">
                <a:solidFill>
                  <a:srgbClr val="222222"/>
                </a:solidFill>
                <a:latin typeface="맑은 고딕"/>
              </a:rPr>
              <a:t>•  8.4 디스크 제거</a:t>
            </a:r>
          </a:p>
          <a:p>
            <a:pPr algn="l">
              <a:spcAft>
                <a:spcPts val="1000"/>
              </a:spcAft>
            </a:pPr>
            <a:r>
              <a:rPr sz="1600" b="0">
                <a:solidFill>
                  <a:srgbClr val="222222"/>
                </a:solidFill>
                <a:latin typeface="맑은 고딕"/>
              </a:rPr>
              <a:t>•  8.5 디스크 손실 재현</a:t>
            </a:r>
          </a:p>
          <a:p>
            <a:pPr algn="l">
              <a:spcAft>
                <a:spcPts val="1000"/>
              </a:spcAft>
            </a:pPr>
            <a:r>
              <a:rPr sz="1600" b="0">
                <a:solidFill>
                  <a:srgbClr val="222222"/>
                </a:solidFill>
                <a:latin typeface="맑은 고딕"/>
              </a:rPr>
              <a:t>•  8.6 장애 그룹이 실제로 지켜지는가</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7장과 무엇이 다른가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데이터가 실제로 움직인다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7장 — 이름·별칭·템플릿. 메타데이터만. 1초면 끝난다</a:t>
            </a:r>
          </a:p>
          <a:p>
            <a:pPr algn="l">
              <a:spcAft>
                <a:spcPts val="1000"/>
              </a:spcAft>
            </a:pPr>
            <a:r>
              <a:rPr sz="1700" b="0">
                <a:solidFill>
                  <a:srgbClr val="222222"/>
                </a:solidFill>
                <a:latin typeface="맑은 고딕"/>
              </a:rPr>
              <a:t>•  8장 — 리밸런스. 수천 개 익스텐트를 실제로 복사한다</a:t>
            </a:r>
          </a:p>
          <a:p>
            <a:pPr algn="l">
              <a:spcAft>
                <a:spcPts val="1000"/>
              </a:spcAft>
            </a:pPr>
            <a:r>
              <a:rPr sz="1700" b="0">
                <a:solidFill>
                  <a:srgbClr val="222222"/>
                </a:solidFill>
                <a:latin typeface="맑은 고딕"/>
              </a:rPr>
              <a:t>•  실측 — 2500MB 테이블스페이스에 디스크 한 장 추가에 239초</a:t>
            </a:r>
          </a:p>
          <a:p>
            <a:pPr algn="l">
              <a:spcAft>
                <a:spcPts val="1000"/>
              </a:spcAft>
            </a:pPr>
            <a:r>
              <a:rPr sz="1700" b="0">
                <a:solidFill>
                  <a:srgbClr val="222222"/>
                </a:solidFill>
                <a:latin typeface="맑은 고딕"/>
              </a:rPr>
              <a:t>•  그리고 이 장은 파괴적이다. 디스크를 강제로 내린다</a:t>
            </a:r>
          </a:p>
          <a:p>
            <a:pPr algn="l">
              <a:spcAft>
                <a:spcPts val="1000"/>
              </a:spcAft>
            </a:pPr>
            <a:r>
              <a:rPr sz="1700" b="0">
                <a:solidFill>
                  <a:srgbClr val="222222"/>
                </a:solidFill>
                <a:latin typeface="맑은 고딕"/>
              </a:rPr>
              <a:t>•  6장에서 만든 test1~test6 을 그대로 쓴다</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8.1</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리밸런스란 무엇인가</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실습 환경 만들기</a:t>
            </a:r>
          </a:p>
          <a:p>
            <a:pPr algn="l">
              <a:spcAft>
                <a:spcPts val="800"/>
              </a:spcAft>
            </a:pPr>
            <a:r>
              <a:rPr sz="1600" b="0">
                <a:solidFill>
                  <a:srgbClr val="FFFFFF"/>
                </a:solidFill>
                <a:latin typeface="맑은 고딕"/>
              </a:rPr>
              <a:t>•  미러는 어디에 있는가</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ORA-15237</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disk_repair_time 은 CREATE 에 못 쓴다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create diskgroup ... attribute 'disk_repair_time'='3m' → ORA-15237</a:t>
            </a:r>
          </a:p>
          <a:p>
            <a:pPr algn="l">
              <a:spcAft>
                <a:spcPts val="1000"/>
              </a:spcAft>
            </a:pPr>
            <a:r>
              <a:rPr sz="1700" b="0">
                <a:solidFill>
                  <a:srgbClr val="222222"/>
                </a:solidFill>
                <a:latin typeface="맑은 고딕"/>
              </a:rPr>
              <a:t>•  invalid attribute disk_repair_time to CREATE DISKGROUP command</a:t>
            </a:r>
          </a:p>
          <a:p>
            <a:pPr algn="l">
              <a:spcAft>
                <a:spcPts val="1000"/>
              </a:spcAft>
            </a:pPr>
            <a:r>
              <a:rPr sz="1700" b="0">
                <a:solidFill>
                  <a:srgbClr val="222222"/>
                </a:solidFill>
                <a:latin typeface="맑은 고딕"/>
              </a:rPr>
              <a:t>•  CREATE 에 쓸 수 있는 것 — compatible 계열, au_size, sector_size</a:t>
            </a:r>
          </a:p>
          <a:p>
            <a:pPr algn="l">
              <a:spcAft>
                <a:spcPts val="1000"/>
              </a:spcAft>
            </a:pPr>
            <a:r>
              <a:rPr sz="1700" b="0">
                <a:solidFill>
                  <a:srgbClr val="222222"/>
                </a:solidFill>
                <a:latin typeface="맑은 고딕"/>
              </a:rPr>
              <a:t>•  생성 시점에 고정되는 속성만 허용된다</a:t>
            </a:r>
          </a:p>
          <a:p>
            <a:pPr algn="l">
              <a:spcAft>
                <a:spcPts val="1000"/>
              </a:spcAft>
            </a:pPr>
            <a:r>
              <a:rPr sz="1700" b="0">
                <a:solidFill>
                  <a:srgbClr val="222222"/>
                </a:solidFill>
                <a:latin typeface="맑은 고딕"/>
              </a:rPr>
              <a:t>•  나머지는 ALTER DISKGROUP ... SET ATTRIBUTE 로 설정한다</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2500MB 가 5220MB 가 된다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Normal 중복도의 대가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create tablespace ts_reb datafile '+TESTN' size 2500M — 272초 소요</a:t>
            </a:r>
          </a:p>
          <a:p>
            <a:pPr algn="l">
              <a:spcAft>
                <a:spcPts val="1000"/>
              </a:spcAft>
            </a:pPr>
            <a:r>
              <a:rPr sz="1700" b="0">
                <a:solidFill>
                  <a:srgbClr val="222222"/>
                </a:solidFill>
                <a:latin typeface="맑은 고딕"/>
              </a:rPr>
              <a:t>•  D_A 2610MB, D_B 2610MB. 합계 5220MB</a:t>
            </a:r>
          </a:p>
          <a:p>
            <a:pPr algn="l">
              <a:spcAft>
                <a:spcPts val="1000"/>
              </a:spcAft>
            </a:pPr>
            <a:r>
              <a:rPr sz="1700" b="0">
                <a:solidFill>
                  <a:srgbClr val="222222"/>
                </a:solidFill>
                <a:latin typeface="맑은 고딕"/>
              </a:rPr>
              <a:t>•  데이터가 두 벌 저장되었고 메타데이터가 더해졌다</a:t>
            </a:r>
          </a:p>
          <a:p>
            <a:pPr algn="l">
              <a:spcAft>
                <a:spcPts val="1000"/>
              </a:spcAft>
            </a:pPr>
            <a:r>
              <a:rPr sz="1700" b="0">
                <a:solidFill>
                  <a:srgbClr val="222222"/>
                </a:solidFill>
                <a:latin typeface="맑은 고딕"/>
              </a:rPr>
              <a:t>•  6장에서 본 USABLE_FILE_MB 의 근거가 여기 있다</a:t>
            </a:r>
          </a:p>
          <a:p>
            <a:pPr algn="l">
              <a:spcAft>
                <a:spcPts val="1000"/>
              </a:spcAft>
            </a:pPr>
            <a:r>
              <a:rPr sz="1700" b="0">
                <a:solidFill>
                  <a:srgbClr val="222222"/>
                </a:solidFill>
                <a:latin typeface="맑은 고딕"/>
              </a:rPr>
              <a:t>•  실습에 데이터가 필요한 이유 — 빈 디스크그룹은 리밸런스가 즉시 끝난다</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x$kffxp</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미러가 어디 있는지 직접 본다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DISK 는 디스크 번호, SIDE 는 사본 번호 (0=원본, 1=미러)</a:t>
            </a:r>
          </a:p>
          <a:p>
            <a:pPr algn="l">
              <a:spcAft>
                <a:spcPts val="1000"/>
              </a:spcAft>
            </a:pPr>
            <a:r>
              <a:rPr sz="1700" b="0">
                <a:solidFill>
                  <a:srgbClr val="222222"/>
                </a:solidFill>
                <a:latin typeface="맑은 고딕"/>
              </a:rPr>
              <a:t>•  디스크 0에 원본 1302 · 미러 1305, 디스크 1에 원본 1305 · 미러 1302</a:t>
            </a:r>
          </a:p>
          <a:p>
            <a:pPr algn="l">
              <a:spcAft>
                <a:spcPts val="1000"/>
              </a:spcAft>
            </a:pPr>
            <a:r>
              <a:rPr sz="1700" b="0">
                <a:solidFill>
                  <a:srgbClr val="222222"/>
                </a:solidFill>
                <a:latin typeface="맑은 고딕"/>
              </a:rPr>
              <a:t>•  미러 전용 디스크를 두지 않는다. 고르게 섞는다</a:t>
            </a:r>
          </a:p>
          <a:p>
            <a:pPr algn="l">
              <a:spcAft>
                <a:spcPts val="1000"/>
              </a:spcAft>
            </a:pPr>
            <a:r>
              <a:rPr sz="1700" b="0">
                <a:solidFill>
                  <a:srgbClr val="222222"/>
                </a:solidFill>
                <a:latin typeface="맑은 고딕"/>
              </a:rPr>
              <a:t>•  이유는 읽기 성능 — 두 디스크가 모두 읽기를 처리한다</a:t>
            </a:r>
          </a:p>
          <a:p>
            <a:pPr algn="l">
              <a:spcAft>
                <a:spcPts val="1000"/>
              </a:spcAft>
            </a:pPr>
            <a:r>
              <a:rPr sz="1700" b="0">
                <a:solidFill>
                  <a:srgbClr val="222222"/>
                </a:solidFill>
                <a:latin typeface="맑은 고딕"/>
              </a:rPr>
              <a:t>•  규칙 하나 — 같은 익스텐트의 사본은 다른 장애 그룹에</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8.2</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디스크 추가와 리밸런스</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파워 1로 추가한다</a:t>
            </a:r>
          </a:p>
          <a:p>
            <a:pPr algn="l">
              <a:spcAft>
                <a:spcPts val="800"/>
              </a:spcAft>
            </a:pPr>
            <a:r>
              <a:rPr sz="1600" b="0">
                <a:solidFill>
                  <a:srgbClr val="FFFFFF"/>
                </a:solidFill>
                <a:latin typeface="맑은 고딕"/>
              </a:rPr>
              <a:t>•  결과 — 고르게 재분배된다</a:t>
            </a:r>
          </a:p>
          <a:p>
            <a:pPr algn="l">
              <a:spcAft>
                <a:spcPts val="800"/>
              </a:spcAft>
            </a:pPr>
            <a:r>
              <a:rPr sz="1600" b="0">
                <a:solidFill>
                  <a:srgbClr val="FFFFFF"/>
                </a:solidFill>
                <a:latin typeface="맑은 고딕"/>
              </a:rPr>
              <a:t>•  ARB 프로세스</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v$asm_operation 을 정확히 읽는다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sofar 는 뒤로 간다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처음에는 est_work 가 0 — 아직 계산 중</a:t>
            </a:r>
          </a:p>
          <a:p>
            <a:pPr algn="l">
              <a:spcAft>
                <a:spcPts val="1000"/>
              </a:spcAft>
            </a:pPr>
            <a:r>
              <a:rPr sz="1700" b="0">
                <a:solidFill>
                  <a:srgbClr val="222222"/>
                </a:solidFill>
                <a:latin typeface="맑은 고딕"/>
              </a:rPr>
              <a:t>•  sofar 가 1139 까지 갔다가 38 로 떨어진다</a:t>
            </a:r>
          </a:p>
          <a:p>
            <a:pPr algn="l">
              <a:spcAft>
                <a:spcPts val="1000"/>
              </a:spcAft>
            </a:pPr>
            <a:r>
              <a:rPr sz="1700" b="0">
                <a:solidFill>
                  <a:srgbClr val="222222"/>
                </a:solidFill>
                <a:latin typeface="맑은 고딕"/>
              </a:rPr>
              <a:t>•  리밸런스가 여러 단계로 나뉘고 단계마다 카운터가 초기화된다</a:t>
            </a:r>
          </a:p>
          <a:p>
            <a:pPr algn="l">
              <a:spcAft>
                <a:spcPts val="1000"/>
              </a:spcAft>
            </a:pPr>
            <a:r>
              <a:rPr sz="1700" b="0">
                <a:solidFill>
                  <a:srgbClr val="222222"/>
                </a:solidFill>
                <a:latin typeface="맑은 고딕"/>
              </a:rPr>
              <a:t>•  두 번째 단계는 est_work 도 0이다</a:t>
            </a:r>
          </a:p>
          <a:p>
            <a:pPr algn="l">
              <a:spcAft>
                <a:spcPts val="1000"/>
              </a:spcAft>
            </a:pPr>
            <a:r>
              <a:rPr sz="1700" b="0">
                <a:solidFill>
                  <a:srgbClr val="222222"/>
                </a:solidFill>
                <a:latin typeface="맑은 고딕"/>
              </a:rPr>
              <a:t>•  완료 판단은 진행률이 아니라 뷰가 비었는지로</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결과</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2610 · 2610 이 1779 · 1778 · 1775 로</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디스크 2장에서 3장으로. 사용량이 고르게 나뉜다</a:t>
            </a:r>
          </a:p>
          <a:p>
            <a:pPr algn="l">
              <a:spcAft>
                <a:spcPts val="1000"/>
              </a:spcAft>
            </a:pPr>
            <a:r>
              <a:rPr sz="1700" b="0">
                <a:solidFill>
                  <a:srgbClr val="222222"/>
                </a:solidFill>
                <a:latin typeface="맑은 고딕"/>
              </a:rPr>
              <a:t>•  익스텐트 개수도 1776 · 1775 · 1772 로 거의 같다</a:t>
            </a:r>
          </a:p>
          <a:p>
            <a:pPr algn="l">
              <a:spcAft>
                <a:spcPts val="1000"/>
              </a:spcAft>
            </a:pPr>
            <a:r>
              <a:rPr sz="1700" b="0">
                <a:solidFill>
                  <a:srgbClr val="222222"/>
                </a:solidFill>
                <a:latin typeface="맑은 고딕"/>
              </a:rPr>
              <a:t>•  ASM 리밸런스의 목표 — 모든 디스크의 사용률을 같게</a:t>
            </a:r>
          </a:p>
          <a:p>
            <a:pPr algn="l">
              <a:spcAft>
                <a:spcPts val="1000"/>
              </a:spcAft>
            </a:pPr>
            <a:r>
              <a:rPr sz="1700" b="0">
                <a:solidFill>
                  <a:srgbClr val="222222"/>
                </a:solidFill>
                <a:latin typeface="맑은 고딕"/>
              </a:rPr>
              <a:t>•  용량이 다른 디스크가 섞여 있으면 비율을 맞춘다</a:t>
            </a:r>
          </a:p>
          <a:p>
            <a:pPr algn="l">
              <a:spcAft>
                <a:spcPts val="1000"/>
              </a:spcAft>
            </a:pPr>
            <a:r>
              <a:rPr sz="1700" b="0">
                <a:solidFill>
                  <a:srgbClr val="222222"/>
                </a:solidFill>
                <a:latin typeface="맑은 고딕"/>
              </a:rPr>
              <a:t>•  239.1초 걸렸다 (파워 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디스크를 늘렸는데 쓸 공간이 줄었다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USABLE 4038 → 1430</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TOTAL_MB 8192 → 12288 (늘었다)</a:t>
            </a:r>
          </a:p>
          <a:p>
            <a:pPr algn="l">
              <a:spcAft>
                <a:spcPts val="1000"/>
              </a:spcAft>
            </a:pPr>
            <a:r>
              <a:rPr sz="1700" b="0">
                <a:solidFill>
                  <a:srgbClr val="222222"/>
                </a:solidFill>
                <a:latin typeface="맑은 고딕"/>
              </a:rPr>
              <a:t>•  USABLE_FILE_MB 4038 → 1430 (줄었다)</a:t>
            </a:r>
          </a:p>
          <a:p>
            <a:pPr algn="l">
              <a:spcAft>
                <a:spcPts val="1000"/>
              </a:spcAft>
            </a:pPr>
            <a:r>
              <a:rPr sz="1700" b="0">
                <a:solidFill>
                  <a:srgbClr val="222222"/>
                </a:solidFill>
                <a:latin typeface="맑은 고딕"/>
              </a:rPr>
              <a:t>•  원인 — REQUIRED_MIRROR_FREE_MB 가 0에서 4096 이 되었다</a:t>
            </a:r>
          </a:p>
          <a:p>
            <a:pPr algn="l">
              <a:spcAft>
                <a:spcPts val="1000"/>
              </a:spcAft>
            </a:pPr>
            <a:r>
              <a:rPr sz="1700" b="0">
                <a:solidFill>
                  <a:srgbClr val="222222"/>
                </a:solidFill>
                <a:latin typeface="맑은 고딕"/>
              </a:rPr>
              <a:t>•  디스크 2장일 때는 한 장 잃으면 미러 만들 곳이 없어 계산이 0</a:t>
            </a:r>
          </a:p>
          <a:p>
            <a:pPr algn="l">
              <a:spcAft>
                <a:spcPts val="1000"/>
              </a:spcAft>
            </a:pPr>
            <a:r>
              <a:rPr sz="1700" b="0">
                <a:solidFill>
                  <a:srgbClr val="222222"/>
                </a:solidFill>
                <a:latin typeface="맑은 고딕"/>
              </a:rPr>
              <a:t>•  (6956 - 4096) / 2 = 1430. 계산이 정확히 맞는다</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ARB 프로세스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평상시에는 없다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평상시 ps 로 세면 asm_arb 는 0개</a:t>
            </a:r>
          </a:p>
          <a:p>
            <a:pPr algn="l">
              <a:spcAft>
                <a:spcPts val="1000"/>
              </a:spcAft>
            </a:pPr>
            <a:r>
              <a:rPr sz="1700" b="0">
                <a:solidFill>
                  <a:srgbClr val="222222"/>
                </a:solidFill>
                <a:latin typeface="맑은 고딕"/>
              </a:rPr>
              <a:t>•  리밸런스 시작 시 ARBA 와 ARB0 이 뜬다</a:t>
            </a:r>
          </a:p>
          <a:p>
            <a:pPr algn="l">
              <a:spcAft>
                <a:spcPts val="1000"/>
              </a:spcAft>
            </a:pPr>
            <a:r>
              <a:rPr sz="1700" b="0">
                <a:solidFill>
                  <a:srgbClr val="222222"/>
                </a:solidFill>
                <a:latin typeface="맑은 고딕"/>
              </a:rPr>
              <a:t>•  ARBA — 작업량 추정. EST_WORK 와 EST_MINUTES 를 계산</a:t>
            </a:r>
          </a:p>
          <a:p>
            <a:pPr algn="l">
              <a:spcAft>
                <a:spcPts val="1000"/>
              </a:spcAft>
            </a:pPr>
            <a:r>
              <a:rPr sz="1700" b="0">
                <a:solidFill>
                  <a:srgbClr val="222222"/>
                </a:solidFill>
                <a:latin typeface="맑은 고딕"/>
              </a:rPr>
              <a:t>•  ARB0 — 실제 익스텐트 복사. with 1 parallel I/O 가 파워 1</a:t>
            </a:r>
          </a:p>
          <a:p>
            <a:pPr algn="l">
              <a:spcAft>
                <a:spcPts val="1000"/>
              </a:spcAft>
            </a:pPr>
            <a:r>
              <a:rPr sz="1700" b="0">
                <a:solidFill>
                  <a:srgbClr val="222222"/>
                </a:solidFill>
                <a:latin typeface="맑은 고딕"/>
              </a:rPr>
              <a:t>•  끝나면 종료되고 전 인스턴스에 멤버십 갱신을 요청한다</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8.3</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리밸런스 속도 조절</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파워 1과 파워 8</a:t>
            </a:r>
          </a:p>
          <a:p>
            <a:pPr algn="l">
              <a:spcAft>
                <a:spcPts val="800"/>
              </a:spcAft>
            </a:pPr>
            <a:r>
              <a:rPr sz="1600" b="0">
                <a:solidFill>
                  <a:srgbClr val="FFFFFF"/>
                </a:solidFill>
                <a:latin typeface="맑은 고딕"/>
              </a:rPr>
              <a:t>•  파워를 어떻게 정할 것인가</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파워 8은 3.5배 빠르다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선형이 아니다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추가 파워 1 — 239.1초</a:t>
            </a:r>
          </a:p>
          <a:p>
            <a:pPr algn="l">
              <a:spcAft>
                <a:spcPts val="1000"/>
              </a:spcAft>
            </a:pPr>
            <a:r>
              <a:rPr sz="1700" b="0">
                <a:solidFill>
                  <a:srgbClr val="222222"/>
                </a:solidFill>
                <a:latin typeface="맑은 고딕"/>
              </a:rPr>
              <a:t>•  추가 파워 8 — 68.4초 (3.5배)</a:t>
            </a:r>
          </a:p>
          <a:p>
            <a:pPr algn="l">
              <a:spcAft>
                <a:spcPts val="1000"/>
              </a:spcAft>
            </a:pPr>
            <a:r>
              <a:rPr sz="1700" b="0">
                <a:solidFill>
                  <a:srgbClr val="222222"/>
                </a:solidFill>
                <a:latin typeface="맑은 고딕"/>
              </a:rPr>
              <a:t>•  제거 파워 1 — 88.4초</a:t>
            </a:r>
          </a:p>
          <a:p>
            <a:pPr algn="l">
              <a:spcAft>
                <a:spcPts val="1000"/>
              </a:spcAft>
            </a:pPr>
            <a:r>
              <a:rPr sz="1700" b="0">
                <a:solidFill>
                  <a:srgbClr val="222222"/>
                </a:solidFill>
                <a:latin typeface="맑은 고딕"/>
              </a:rPr>
              <a:t>•  8배를 줬는데 3.5배만 빨라졌다</a:t>
            </a:r>
          </a:p>
          <a:p>
            <a:pPr algn="l">
              <a:spcAft>
                <a:spcPts val="1000"/>
              </a:spcAft>
            </a:pPr>
            <a:r>
              <a:rPr sz="1700" b="0">
                <a:solidFill>
                  <a:srgbClr val="222222"/>
                </a:solidFill>
                <a:latin typeface="맑은 고딕"/>
              </a:rPr>
              <a:t>•  병목은 파워가 아니라 I/O 대역폭과 CPU 다</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제거가 추가보다 빠른 이유</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옮길 양이 다르다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제거 88.4초 vs 추가 239.1초 (같은 파워 1)</a:t>
            </a:r>
          </a:p>
          <a:p>
            <a:pPr algn="l">
              <a:spcAft>
                <a:spcPts val="1000"/>
              </a:spcAft>
            </a:pPr>
            <a:r>
              <a:rPr sz="1700" b="0">
                <a:solidFill>
                  <a:srgbClr val="222222"/>
                </a:solidFill>
                <a:latin typeface="맑은 고딕"/>
              </a:rPr>
              <a:t>•  제거 — 나가는 디스크의 데이터만 다른 곳으로 옮긴다</a:t>
            </a:r>
          </a:p>
          <a:p>
            <a:pPr algn="l">
              <a:spcAft>
                <a:spcPts val="1000"/>
              </a:spcAft>
            </a:pPr>
            <a:r>
              <a:rPr sz="1700" b="0">
                <a:solidFill>
                  <a:srgbClr val="222222"/>
                </a:solidFill>
                <a:latin typeface="맑은 고딕"/>
              </a:rPr>
              <a:t>•  추가 — 전체를 다시 고르게 재분배한다</a:t>
            </a:r>
          </a:p>
          <a:p>
            <a:pPr algn="l">
              <a:spcAft>
                <a:spcPts val="1000"/>
              </a:spcAft>
            </a:pPr>
            <a:r>
              <a:rPr sz="1700" b="0">
                <a:solidFill>
                  <a:srgbClr val="222222"/>
                </a:solidFill>
                <a:latin typeface="맑은 고딕"/>
              </a:rPr>
              <a:t>•  디스크가 많을수록 이 차이가 커진다</a:t>
            </a:r>
          </a:p>
          <a:p>
            <a:pPr algn="l">
              <a:spcAft>
                <a:spcPts val="1000"/>
              </a:spcAft>
            </a:pPr>
            <a:r>
              <a:rPr sz="1700" b="0">
                <a:solidFill>
                  <a:srgbClr val="222222"/>
                </a:solidFill>
                <a:latin typeface="맑은 고딕"/>
              </a:rPr>
              <a:t>•  작업 계획 시 추가 쪽에 더 넉넉한 시간을 잡는다</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파워를 정하는 기준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0부터 1024 까지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0 — 리밸런스를 멈춘다. 업무 시간 긴급 중단용</a:t>
            </a:r>
          </a:p>
          <a:p>
            <a:pPr algn="l">
              <a:spcAft>
                <a:spcPts val="1000"/>
              </a:spcAft>
            </a:pPr>
            <a:r>
              <a:rPr sz="1700" b="0">
                <a:solidFill>
                  <a:srgbClr val="222222"/>
                </a:solidFill>
                <a:latin typeface="맑은 고딕"/>
              </a:rPr>
              <a:t>•  1 — 기본값. 업무 영향 최소. 대신 오래 걸린다</a:t>
            </a:r>
          </a:p>
          <a:p>
            <a:pPr algn="l">
              <a:spcAft>
                <a:spcPts val="1000"/>
              </a:spcAft>
            </a:pPr>
            <a:r>
              <a:rPr sz="1700" b="0">
                <a:solidFill>
                  <a:srgbClr val="222222"/>
                </a:solidFill>
                <a:latin typeface="맑은 고딕"/>
              </a:rPr>
              <a:t>•  4~8 — 야간·주말. 실측에서 8이 1보다 3.5배 빨랐다</a:t>
            </a:r>
          </a:p>
          <a:p>
            <a:pPr algn="l">
              <a:spcAft>
                <a:spcPts val="1000"/>
              </a:spcAft>
            </a:pPr>
            <a:r>
              <a:rPr sz="1700" b="0">
                <a:solidFill>
                  <a:srgbClr val="222222"/>
                </a:solidFill>
                <a:latin typeface="맑은 고딕"/>
              </a:rPr>
              <a:t>•  그 이상 — 디스크가 많고 대역폭이 넉넉할 때만 의미</a:t>
            </a:r>
          </a:p>
          <a:p>
            <a:pPr algn="l">
              <a:spcAft>
                <a:spcPts val="1000"/>
              </a:spcAft>
            </a:pPr>
            <a:r>
              <a:rPr sz="1700" b="0">
                <a:solidFill>
                  <a:srgbClr val="222222"/>
                </a:solidFill>
                <a:latin typeface="맑은 고딕"/>
              </a:rPr>
              <a:t>•  리밸런스 중에도 파워를 바꿀 수 있다</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8.4</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디스크 제거</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장애 그룹 수를 줄일 수 없다</a:t>
            </a:r>
          </a:p>
          <a:p>
            <a:pPr algn="l">
              <a:spcAft>
                <a:spcPts val="800"/>
              </a:spcAft>
            </a:pPr>
            <a:r>
              <a:rPr sz="1600" b="0">
                <a:solidFill>
                  <a:srgbClr val="FFFFFF"/>
                </a:solidFill>
                <a:latin typeface="맑은 고딕"/>
              </a:rPr>
              <a:t>•  제거는 즉시 일어나지 않는다</a:t>
            </a:r>
          </a:p>
          <a:p>
            <a:pPr algn="l">
              <a:spcAft>
                <a:spcPts val="800"/>
              </a:spcAft>
            </a:pPr>
            <a:r>
              <a:rPr sz="1600" b="0">
                <a:solidFill>
                  <a:srgbClr val="FFFFFF"/>
                </a:solidFill>
                <a:latin typeface="맑은 고딕"/>
              </a:rPr>
              <a:t>•  FORCE 제거의 대가</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ORA-59327</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최소 요건까지 줄일 수 없다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장애 그룹 3개에서 2개로 줄이려 하면 거절된다</a:t>
            </a:r>
          </a:p>
          <a:p>
            <a:pPr algn="l">
              <a:spcAft>
                <a:spcPts val="1000"/>
              </a:spcAft>
            </a:pPr>
            <a:r>
              <a:rPr sz="1700" b="0">
                <a:solidFill>
                  <a:srgbClr val="222222"/>
                </a:solidFill>
                <a:latin typeface="맑은 고딕"/>
              </a:rPr>
              <a:t>•  Dropping more fail groups is not allowed with disk group redundancy</a:t>
            </a:r>
          </a:p>
          <a:p>
            <a:pPr algn="l">
              <a:spcAft>
                <a:spcPts val="1000"/>
              </a:spcAft>
            </a:pPr>
            <a:r>
              <a:rPr sz="1700" b="0">
                <a:solidFill>
                  <a:srgbClr val="222222"/>
                </a:solidFill>
                <a:latin typeface="맑은 고딕"/>
              </a:rPr>
              <a:t>•  2개는 Normal 의 최소 요건. 한 장만 더 잃으면 복구 불가</a:t>
            </a:r>
          </a:p>
          <a:p>
            <a:pPr algn="l">
              <a:spcAft>
                <a:spcPts val="1000"/>
              </a:spcAft>
            </a:pPr>
            <a:r>
              <a:rPr sz="1700" b="0">
                <a:solidFill>
                  <a:srgbClr val="222222"/>
                </a:solidFill>
                <a:latin typeface="맑은 고딕"/>
              </a:rPr>
              <a:t>•  4개에서 3개로 줄이는 것은 허용된다</a:t>
            </a:r>
          </a:p>
          <a:p>
            <a:pPr algn="l">
              <a:spcAft>
                <a:spcPts val="1000"/>
              </a:spcAft>
            </a:pPr>
            <a:r>
              <a:rPr sz="1700" b="0">
                <a:solidFill>
                  <a:srgbClr val="222222"/>
                </a:solidFill>
                <a:latin typeface="맑은 고딕"/>
              </a:rPr>
              <a:t>•  19c 에서 추가된 검사다</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DROPPING 상태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명령이 끝나도 디스크는 남아 있다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drop disk 명령은 즉시 끝난다</a:t>
            </a:r>
          </a:p>
          <a:p>
            <a:pPr algn="l">
              <a:spcAft>
                <a:spcPts val="1000"/>
              </a:spcAft>
            </a:pPr>
            <a:r>
              <a:rPr sz="1700" b="0">
                <a:solidFill>
                  <a:srgbClr val="222222"/>
                </a:solidFill>
                <a:latin typeface="맑은 고딕"/>
              </a:rPr>
              <a:t>•  그런데 STATE 가 DROPPING, HEADER_STATUS 는 아직 MEMBER</a:t>
            </a:r>
          </a:p>
          <a:p>
            <a:pPr algn="l">
              <a:spcAft>
                <a:spcPts val="1000"/>
              </a:spcAft>
            </a:pPr>
            <a:r>
              <a:rPr sz="1700" b="0">
                <a:solidFill>
                  <a:srgbClr val="222222"/>
                </a:solidFill>
                <a:latin typeface="맑은 고딕"/>
              </a:rPr>
              <a:t>•  데이터를 옮기는 중이다. 리밸런스가 끝나야 실제로 빠진다</a:t>
            </a:r>
          </a:p>
          <a:p>
            <a:pPr algn="l">
              <a:spcAft>
                <a:spcPts val="1000"/>
              </a:spcAft>
            </a:pPr>
            <a:r>
              <a:rPr sz="1700" b="0">
                <a:solidFill>
                  <a:srgbClr val="222222"/>
                </a:solidFill>
                <a:latin typeface="맑은 고딕"/>
              </a:rPr>
              <a:t>•  완료 후 — NAME 이 비고 HEADER_STATUS 가 FORMER, GROUP_NUMBER 0</a:t>
            </a:r>
          </a:p>
          <a:p>
            <a:pPr algn="l">
              <a:spcAft>
                <a:spcPts val="1000"/>
              </a:spcAft>
            </a:pPr>
            <a:r>
              <a:rPr sz="1700" b="0">
                <a:solidFill>
                  <a:srgbClr val="222222"/>
                </a:solidFill>
                <a:latin typeface="맑은 고딕"/>
              </a:rPr>
              <a:t>•  이때가 되어야 물리적으로 뽑아도 된다</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FORCE 의 대가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헤더가 MEMBER 로 남는다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drop disk ... force 는 통한다</a:t>
            </a:r>
          </a:p>
          <a:p>
            <a:pPr algn="l">
              <a:spcAft>
                <a:spcPts val="1000"/>
              </a:spcAft>
            </a:pPr>
            <a:r>
              <a:rPr sz="1700" b="0">
                <a:solidFill>
                  <a:srgbClr val="222222"/>
                </a:solidFill>
                <a:latin typeface="맑은 고딕"/>
              </a:rPr>
              <a:t>•  이름이 _DROPPED_0002_TESTN 으로 바뀐다</a:t>
            </a:r>
          </a:p>
          <a:p>
            <a:pPr algn="l">
              <a:spcAft>
                <a:spcPts val="1000"/>
              </a:spcAft>
            </a:pPr>
            <a:r>
              <a:rPr sz="1700" b="0">
                <a:solidFill>
                  <a:srgbClr val="222222"/>
                </a:solidFill>
                <a:latin typeface="맑은 고딕"/>
              </a:rPr>
              <a:t>•  그런데 완료 후 HEADER_STATUS 가 FORMER 가 아니라 MEMBER</a:t>
            </a:r>
          </a:p>
          <a:p>
            <a:pPr algn="l">
              <a:spcAft>
                <a:spcPts val="1000"/>
              </a:spcAft>
            </a:pPr>
            <a:r>
              <a:rPr sz="1700" b="0">
                <a:solidFill>
                  <a:srgbClr val="222222"/>
                </a:solidFill>
                <a:latin typeface="맑은 고딕"/>
              </a:rPr>
              <a:t>•  재사용하려 하면 ORA-15033: disk belongs to diskgroup</a:t>
            </a:r>
          </a:p>
          <a:p>
            <a:pPr algn="l">
              <a:spcAft>
                <a:spcPts val="1000"/>
              </a:spcAft>
            </a:pPr>
            <a:r>
              <a:rPr sz="1700" b="0">
                <a:solidFill>
                  <a:srgbClr val="222222"/>
                </a:solidFill>
                <a:latin typeface="맑은 고딕"/>
              </a:rPr>
              <a:t>•  되살리려면 add 에도 FORCE 가 필요하다</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8.5</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디스크 손실 재현</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디스크를 내린다</a:t>
            </a:r>
          </a:p>
          <a:p>
            <a:pPr algn="l">
              <a:spcAft>
                <a:spcPts val="800"/>
              </a:spcAft>
            </a:pPr>
            <a:r>
              <a:rPr sz="1600" b="0">
                <a:solidFill>
                  <a:srgbClr val="FFFFFF"/>
                </a:solidFill>
                <a:latin typeface="맑은 고딕"/>
              </a:rPr>
              <a:t>•  타이머가 만료되면</a:t>
            </a:r>
          </a:p>
          <a:p>
            <a:pPr algn="l">
              <a:spcAft>
                <a:spcPts val="800"/>
              </a:spcAft>
            </a:pPr>
            <a:r>
              <a:rPr sz="1600" b="0">
                <a:solidFill>
                  <a:srgbClr val="FFFFFF"/>
                </a:solidFill>
                <a:latin typeface="맑은 고딕"/>
              </a:rPr>
              <a:t>•  타이머 안에 되돌리면</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5장과 다른 점</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이번에는 타이머가 흐른다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REPAIR_TIMER 가 180 (disk_repair_time 3m)</a:t>
            </a:r>
          </a:p>
          <a:p>
            <a:pPr algn="l">
              <a:spcAft>
                <a:spcPts val="1000"/>
              </a:spcAft>
            </a:pPr>
            <a:r>
              <a:rPr sz="1700" b="0">
                <a:solidFill>
                  <a:srgbClr val="222222"/>
                </a:solidFill>
                <a:latin typeface="맑은 고딕"/>
              </a:rPr>
              <a:t>•  5장에서는 0이었다 — Voting File 디스크의 mandatory 속성 때문</a:t>
            </a:r>
          </a:p>
          <a:p>
            <a:pPr algn="l">
              <a:spcAft>
                <a:spcPts val="1000"/>
              </a:spcAft>
            </a:pPr>
            <a:r>
              <a:rPr sz="1700" b="0">
                <a:solidFill>
                  <a:srgbClr val="222222"/>
                </a:solidFill>
                <a:latin typeface="맑은 고딕"/>
              </a:rPr>
              <a:t>•  TESTN 에는 Voting File 이 없으므로 정상 동작한다</a:t>
            </a:r>
          </a:p>
          <a:p>
            <a:pPr algn="l">
              <a:spcAft>
                <a:spcPts val="1000"/>
              </a:spcAft>
            </a:pPr>
            <a:r>
              <a:rPr sz="1700" b="0">
                <a:solidFill>
                  <a:srgbClr val="222222"/>
                </a:solidFill>
                <a:latin typeface="맑은 고딕"/>
              </a:rPr>
              <a:t>•  STATE 는 NORMAL. DROPPING 이 아니다</a:t>
            </a:r>
          </a:p>
          <a:p>
            <a:pPr algn="l">
              <a:spcAft>
                <a:spcPts val="1000"/>
              </a:spcAft>
            </a:pPr>
            <a:r>
              <a:rPr sz="1700" b="0">
                <a:solidFill>
                  <a:srgbClr val="222222"/>
                </a:solidFill>
                <a:latin typeface="맑은 고딕"/>
              </a:rPr>
              <a:t>•  USED_MB 가 유지된다 — 제거가 아니라 일시적 오프라인</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타이머가 만료되면</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ASM 이 스스로 FORCE 를 실행한다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20:10:07 오프라인 → 20:13:06 강제 제거. 정확히 3분</a:t>
            </a:r>
          </a:p>
          <a:p>
            <a:pPr algn="l">
              <a:spcAft>
                <a:spcPts val="1000"/>
              </a:spcAft>
            </a:pPr>
            <a:r>
              <a:rPr sz="1700" b="0">
                <a:solidFill>
                  <a:srgbClr val="222222"/>
                </a:solidFill>
                <a:latin typeface="맑은 고딕"/>
              </a:rPr>
              <a:t>•  alert.log — alter diskgroup TESTN drop disk D_C force /* ASM SERVER */</a:t>
            </a:r>
          </a:p>
          <a:p>
            <a:pPr algn="l">
              <a:spcAft>
                <a:spcPts val="1000"/>
              </a:spcAft>
            </a:pPr>
            <a:r>
              <a:rPr sz="1700" b="0">
                <a:solidFill>
                  <a:srgbClr val="222222"/>
                </a:solidFill>
                <a:latin typeface="맑은 고딕"/>
              </a:rPr>
              <a:t>•  주석이 사람이 아니라 ASM 이 낸 명령임을 알려 준다</a:t>
            </a:r>
          </a:p>
          <a:p>
            <a:pPr algn="l">
              <a:spcAft>
                <a:spcPts val="1000"/>
              </a:spcAft>
            </a:pPr>
            <a:r>
              <a:rPr sz="1700" b="0">
                <a:solidFill>
                  <a:srgbClr val="222222"/>
                </a:solidFill>
                <a:latin typeface="맑은 고딕"/>
              </a:rPr>
              <a:t>•  이름이 _DROPPED_0002_TESTN, STATE 가 FORCING</a:t>
            </a:r>
          </a:p>
          <a:p>
            <a:pPr algn="l">
              <a:spcAft>
                <a:spcPts val="1000"/>
              </a:spcAft>
            </a:pPr>
            <a:r>
              <a:rPr sz="1700" b="0">
                <a:solidFill>
                  <a:srgbClr val="222222"/>
                </a:solidFill>
                <a:latin typeface="맑은 고딕"/>
              </a:rPr>
              <a:t>•  헤더는 MEMBER 로 남는다. 재사용에 FORCE 가 필요하다</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239초 vs 9초</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Staleness Registry</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타이머 안에 online 하면 약 9초에 끝난다</a:t>
            </a:r>
          </a:p>
          <a:p>
            <a:pPr algn="l">
              <a:spcAft>
                <a:spcPts val="1000"/>
              </a:spcAft>
            </a:pPr>
            <a:r>
              <a:rPr sz="1700" b="0">
                <a:solidFill>
                  <a:srgbClr val="222222"/>
                </a:solidFill>
                <a:latin typeface="맑은 고딕"/>
              </a:rPr>
              <a:t>•  alert.log — Starting resync using Staleness Registry and ATE scan</a:t>
            </a:r>
          </a:p>
          <a:p>
            <a:pPr algn="l">
              <a:spcAft>
                <a:spcPts val="1000"/>
              </a:spcAft>
            </a:pPr>
            <a:r>
              <a:rPr sz="1700" b="0">
                <a:solidFill>
                  <a:srgbClr val="222222"/>
                </a:solidFill>
                <a:latin typeface="맑은 고딕"/>
              </a:rPr>
              <a:t>•  오프라인 동안 반영 못한 변경만 별도 구조에 기록해 둔다</a:t>
            </a:r>
          </a:p>
          <a:p>
            <a:pPr algn="l">
              <a:spcAft>
                <a:spcPts val="1000"/>
              </a:spcAft>
            </a:pPr>
            <a:r>
              <a:rPr sz="1700" b="0">
                <a:solidFill>
                  <a:srgbClr val="222222"/>
                </a:solidFill>
                <a:latin typeface="맑은 고딕"/>
              </a:rPr>
              <a:t>•  돌아오면 그 목록의 익스텐트만 갱신한다 = fast mirror resync</a:t>
            </a:r>
          </a:p>
          <a:p>
            <a:pPr algn="l">
              <a:spcAft>
                <a:spcPts val="1000"/>
              </a:spcAft>
            </a:pPr>
            <a:r>
              <a:rPr sz="1700" b="0">
                <a:solidFill>
                  <a:srgbClr val="222222"/>
                </a:solidFill>
                <a:latin typeface="맑은 고딕"/>
              </a:rPr>
              <a:t>•  11.1 기능. 5장의 ORA-15283 이 막았던 것이 바로 이것</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8.6</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장애 그룹 검증과 운영 지침</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원본과 미러의 짝을 맞춰 본다</a:t>
            </a:r>
          </a:p>
          <a:p>
            <a:pPr algn="l">
              <a:spcAft>
                <a:spcPts val="800"/>
              </a:spcAft>
            </a:pPr>
            <a:r>
              <a:rPr sz="1600" b="0">
                <a:solidFill>
                  <a:srgbClr val="FFFFFF"/>
                </a:solidFill>
                <a:latin typeface="맑은 고딕"/>
              </a:rPr>
              <a:t>•  운영 지침</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대각선이 비어 있는가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설계를 조회로 검증한다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x$kffxp 를 자기 자신과 조인해 원본-미러 짝을 만든다</a:t>
            </a:r>
          </a:p>
          <a:p>
            <a:pPr algn="l">
              <a:spcAft>
                <a:spcPts val="1000"/>
              </a:spcAft>
            </a:pPr>
            <a:r>
              <a:rPr sz="1700" b="0">
                <a:solidFill>
                  <a:srgbClr val="222222"/>
                </a:solidFill>
                <a:latin typeface="맑은 고딕"/>
              </a:rPr>
              <a:t>•  조인 키 — number_kffxp(파일번호), xnum_kffxp(익스텐트번호)</a:t>
            </a:r>
          </a:p>
          <a:p>
            <a:pPr algn="l">
              <a:spcAft>
                <a:spcPts val="1000"/>
              </a:spcAft>
            </a:pPr>
            <a:r>
              <a:rPr sz="1700" b="0">
                <a:solidFill>
                  <a:srgbClr val="222222"/>
                </a:solidFill>
                <a:latin typeface="맑은 고딕"/>
              </a:rPr>
              <a:t>•  lxn_kffxp 0인 행과 1인 행을 짝짓는다</a:t>
            </a:r>
          </a:p>
          <a:p>
            <a:pPr algn="l">
              <a:spcAft>
                <a:spcPts val="1000"/>
              </a:spcAft>
            </a:pPr>
            <a:r>
              <a:rPr sz="1700" b="0">
                <a:solidFill>
                  <a:srgbClr val="222222"/>
                </a:solidFill>
                <a:latin typeface="맑은 고딕"/>
              </a:rPr>
              <a:t>•  결과 12개 조합 모두 PRI_DISK ≠ SEC_DISK</a:t>
            </a:r>
          </a:p>
          <a:p>
            <a:pPr algn="l">
              <a:spcAft>
                <a:spcPts val="1000"/>
              </a:spcAft>
            </a:pPr>
            <a:r>
              <a:rPr sz="1700" b="0">
                <a:solidFill>
                  <a:srgbClr val="222222"/>
                </a:solidFill>
                <a:latin typeface="맑은 고딕"/>
              </a:rPr>
              <a:t>•  같은 디스크에 원본과 미러가 놓인 익스텐트가 하나도 없다</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운영 지침 일곱 가지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실측에 근거한다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업무 시간 파워 1, 야간 4~8 (8이 3.5배 빨랐다)</a:t>
            </a:r>
          </a:p>
          <a:p>
            <a:pPr algn="l">
              <a:spcAft>
                <a:spcPts val="1000"/>
              </a:spcAft>
            </a:pPr>
            <a:r>
              <a:rPr sz="1700" b="0">
                <a:solidFill>
                  <a:srgbClr val="222222"/>
                </a:solidFill>
                <a:latin typeface="맑은 고딕"/>
              </a:rPr>
              <a:t>•  업무 영향 시 파워 0 으로 멈추고 야간 재개</a:t>
            </a:r>
          </a:p>
          <a:p>
            <a:pPr algn="l">
              <a:spcAft>
                <a:spcPts val="1000"/>
              </a:spcAft>
            </a:pPr>
            <a:r>
              <a:rPr sz="1700" b="0">
                <a:solidFill>
                  <a:srgbClr val="222222"/>
                </a:solidFill>
                <a:latin typeface="맑은 고딕"/>
              </a:rPr>
              <a:t>•  물리 회수는 HEADER_STATUS 가 FORMER 가 된 뒤에</a:t>
            </a:r>
          </a:p>
          <a:p>
            <a:pPr algn="l">
              <a:spcAft>
                <a:spcPts val="1000"/>
              </a:spcAft>
            </a:pPr>
            <a:r>
              <a:rPr sz="1700" b="0">
                <a:solidFill>
                  <a:srgbClr val="222222"/>
                </a:solidFill>
                <a:latin typeface="맑은 고딕"/>
              </a:rPr>
              <a:t>•  FORCE 전에 막힌 이유를 확인한다</a:t>
            </a:r>
          </a:p>
          <a:p>
            <a:pPr algn="l">
              <a:spcAft>
                <a:spcPts val="1000"/>
              </a:spcAft>
            </a:pPr>
            <a:r>
              <a:rPr sz="1700" b="0">
                <a:solidFill>
                  <a:srgbClr val="222222"/>
                </a:solidFill>
                <a:latin typeface="맑은 고딕"/>
              </a:rPr>
              <a:t>•  스토리지 점검 전 DISK_REPAIR_TIME 을 작업 시간보다 길게</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가장 흔한 실수 셋</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모두 이 장에서 확인했다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추가 명령이 끝났다고 작업이 끝난 것으로 오해한다</a:t>
            </a:r>
          </a:p>
          <a:p>
            <a:pPr algn="l">
              <a:spcAft>
                <a:spcPts val="1000"/>
              </a:spcAft>
            </a:pPr>
            <a:r>
              <a:rPr sz="1700" b="0">
                <a:solidFill>
                  <a:srgbClr val="222222"/>
                </a:solidFill>
                <a:latin typeface="맑은 고딕"/>
              </a:rPr>
              <a:t>•  FREE_MB 만 보고 용량이 충분하다고 판단한다</a:t>
            </a:r>
          </a:p>
          <a:p>
            <a:pPr algn="l">
              <a:spcAft>
                <a:spcPts val="1000"/>
              </a:spcAft>
            </a:pPr>
            <a:r>
              <a:rPr sz="1700" b="0">
                <a:solidFill>
                  <a:srgbClr val="222222"/>
                </a:solidFill>
                <a:latin typeface="맑은 고딕"/>
              </a:rPr>
              <a:t>•  실측 — FREE_MB 11040 인데 USABLE_FILE_MB 는 3472. 세 배 차이</a:t>
            </a:r>
          </a:p>
          <a:p>
            <a:pPr algn="l">
              <a:spcAft>
                <a:spcPts val="1000"/>
              </a:spcAft>
            </a:pPr>
            <a:r>
              <a:rPr sz="1700" b="0">
                <a:solidFill>
                  <a:srgbClr val="222222"/>
                </a:solidFill>
                <a:latin typeface="맑은 고딕"/>
              </a:rPr>
              <a:t>•  막히면 일단 FORCE 를 붙인다</a:t>
            </a:r>
          </a:p>
          <a:p>
            <a:pPr algn="l">
              <a:spcAft>
                <a:spcPts val="1000"/>
              </a:spcAft>
            </a:pPr>
            <a:r>
              <a:rPr sz="1700" b="0">
                <a:solidFill>
                  <a:srgbClr val="222222"/>
                </a:solidFill>
                <a:latin typeface="맑은 고딕"/>
              </a:rPr>
              <a:t>•  FORCE 는 흔적을 남기고 그 흔적이 다음 작업을 또 막는다</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8.7</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이 장에서 만난 오류</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계층으로 묶어 본다</a:t>
            </a:r>
          </a:p>
          <a:p>
            <a:pPr algn="l">
              <a:spcAft>
                <a:spcPts val="800"/>
              </a:spcAft>
            </a:pPr>
            <a:r>
              <a:rPr sz="1600" b="0">
                <a:solidFill>
                  <a:srgbClr val="FFFFFF"/>
                </a:solidFill>
                <a:latin typeface="맑은 고딕"/>
              </a:rPr>
              <a:t>•  6~8장을 잇는 실</a:t>
            </a:r>
          </a:p>
          <a:p>
            <a:pPr algn="l">
              <a:spcAft>
                <a:spcPts val="800"/>
              </a:spcAft>
            </a:pPr>
            <a:r>
              <a:rPr sz="1600" b="0">
                <a:solidFill>
                  <a:srgbClr val="FFFFFF"/>
                </a:solidFill>
                <a:latin typeface="맑은 고딕"/>
              </a:rPr>
              <a:t>•  다음 장으로</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재현한 오류 다섯 가지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모두 이유가 있다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ORA-15018 / ORA-15237 — CREATE 에 못 쓰는 속성</a:t>
            </a:r>
          </a:p>
          <a:p>
            <a:pPr algn="l">
              <a:spcAft>
                <a:spcPts val="1000"/>
              </a:spcAft>
            </a:pPr>
            <a:r>
              <a:rPr sz="1700" b="0">
                <a:solidFill>
                  <a:srgbClr val="222222"/>
                </a:solidFill>
                <a:latin typeface="맑은 고딕"/>
              </a:rPr>
              <a:t>•  ORA-15032 / ORA-59327 — 장애 그룹을 최소 요건까지 줄이려 함</a:t>
            </a:r>
          </a:p>
          <a:p>
            <a:pPr algn="l">
              <a:spcAft>
                <a:spcPts val="1000"/>
              </a:spcAft>
            </a:pPr>
            <a:r>
              <a:rPr sz="1700" b="0">
                <a:solidFill>
                  <a:srgbClr val="222222"/>
                </a:solidFill>
                <a:latin typeface="맑은 고딕"/>
              </a:rPr>
              <a:t>•  ORA-15032 / ORA-15033 — FORCE 제거 후 헤더가 MEMBER 로 남음</a:t>
            </a:r>
          </a:p>
          <a:p>
            <a:pPr algn="l">
              <a:spcAft>
                <a:spcPts val="1000"/>
              </a:spcAft>
            </a:pPr>
            <a:r>
              <a:rPr sz="1700" b="0">
                <a:solidFill>
                  <a:srgbClr val="222222"/>
                </a:solidFill>
                <a:latin typeface="맑은 고딕"/>
              </a:rPr>
              <a:t>•  셋 다 ASM 이 위험한 상태를 막으려는 것이다</a:t>
            </a:r>
          </a:p>
          <a:p>
            <a:pPr algn="l">
              <a:spcAft>
                <a:spcPts val="1000"/>
              </a:spcAft>
            </a:pPr>
            <a:r>
              <a:rPr sz="1700" b="0">
                <a:solidFill>
                  <a:srgbClr val="222222"/>
                </a:solidFill>
                <a:latin typeface="맑은 고딕"/>
              </a:rPr>
              <a:t>•  FORCE 로 뚫기 전에 왜 막혔는지 먼저 본다</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6장부터 8장까지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하나의 흐름이었다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6장 — 디스크그룹이라는 그릇을 만들었다</a:t>
            </a:r>
          </a:p>
          <a:p>
            <a:pPr algn="l">
              <a:spcAft>
                <a:spcPts val="1000"/>
              </a:spcAft>
            </a:pPr>
            <a:r>
              <a:rPr sz="1700" b="0">
                <a:solidFill>
                  <a:srgbClr val="222222"/>
                </a:solidFill>
                <a:latin typeface="맑은 고딕"/>
              </a:rPr>
              <a:t>•  7장 — 그 안의 파일과 이름을 다뤘다. 메타데이터만</a:t>
            </a:r>
          </a:p>
          <a:p>
            <a:pPr algn="l">
              <a:spcAft>
                <a:spcPts val="1000"/>
              </a:spcAft>
            </a:pPr>
            <a:r>
              <a:rPr sz="1700" b="0">
                <a:solidFill>
                  <a:srgbClr val="222222"/>
                </a:solidFill>
                <a:latin typeface="맑은 고딕"/>
              </a:rPr>
              <a:t>•  8장 — 그릇의 크기를 바꿨다. 데이터가 실제로 움직였다</a:t>
            </a:r>
          </a:p>
          <a:p>
            <a:pPr algn="l">
              <a:spcAft>
                <a:spcPts val="1000"/>
              </a:spcAft>
            </a:pPr>
            <a:r>
              <a:rPr sz="1700" b="0">
                <a:solidFill>
                  <a:srgbClr val="222222"/>
                </a:solidFill>
                <a:latin typeface="맑은 고딕"/>
              </a:rPr>
              <a:t>•  test1~test6 디스크 6장을 세 장에 걸쳐 썼다</a:t>
            </a:r>
          </a:p>
          <a:p>
            <a:pPr algn="l">
              <a:spcAft>
                <a:spcPts val="1000"/>
              </a:spcAft>
            </a:pPr>
            <a:r>
              <a:rPr sz="1700" b="0">
                <a:solidFill>
                  <a:srgbClr val="222222"/>
                </a:solidFill>
                <a:latin typeface="맑은 고딕"/>
              </a:rPr>
              <a:t>•  5장의 ORA-15283 이 8장에서 완전히 이해된다</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실습 환경 정리</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다음 장을 위해</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TESTN 디스크그룹과 TS_REB 테이블스페이스를 지운다</a:t>
            </a:r>
          </a:p>
          <a:p>
            <a:pPr algn="l">
              <a:spcAft>
                <a:spcPts val="1000"/>
              </a:spcAft>
            </a:pPr>
            <a:r>
              <a:rPr sz="1700" b="0">
                <a:solidFill>
                  <a:srgbClr val="222222"/>
                </a:solidFill>
                <a:latin typeface="맑은 고딕"/>
              </a:rPr>
              <a:t>•  test1~test6 이 FORMER 로 돌아온 것을 확인한다</a:t>
            </a:r>
          </a:p>
          <a:p>
            <a:pPr algn="l">
              <a:spcAft>
                <a:spcPts val="1000"/>
              </a:spcAft>
            </a:pPr>
            <a:r>
              <a:rPr sz="1700" b="0">
                <a:solidFill>
                  <a:srgbClr val="222222"/>
                </a:solidFill>
                <a:latin typeface="맑은 고딕"/>
              </a:rPr>
              <a:t>•  클러스터 6줄 online, 두 인스턴스 running, OCR ID 665666554</a:t>
            </a:r>
          </a:p>
          <a:p>
            <a:pPr algn="l">
              <a:spcAft>
                <a:spcPts val="1000"/>
              </a:spcAft>
            </a:pPr>
            <a:r>
              <a:rPr sz="1700" b="0">
                <a:solidFill>
                  <a:srgbClr val="222222"/>
                </a:solidFill>
                <a:latin typeface="맑은 고딕"/>
              </a:rPr>
              <a:t>•  +CRS 의 compatible.rdbms 는 11.2 로 남는다 (5장의 비가역 변경)</a:t>
            </a:r>
          </a:p>
          <a:p>
            <a:pPr algn="l">
              <a:spcAft>
                <a:spcPts val="1000"/>
              </a:spcAft>
            </a:pPr>
            <a:r>
              <a:rPr sz="1700" b="0">
                <a:solidFill>
                  <a:srgbClr val="222222"/>
                </a:solidFill>
                <a:latin typeface="맑은 고딕"/>
              </a:rPr>
              <a:t>•  그 외에는 5장 종료 시점과 같은 상태다</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요약</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리밸런스는 데이터를 실제로 옮긴다. 7장의 메타데이터 작업과 다르다</a:t>
            </a:r>
          </a:p>
          <a:p>
            <a:pPr algn="l">
              <a:spcAft>
                <a:spcPts val="1000"/>
              </a:spcAft>
            </a:pPr>
            <a:r>
              <a:rPr sz="1600" b="0">
                <a:solidFill>
                  <a:srgbClr val="222222"/>
                </a:solidFill>
                <a:latin typeface="맑은 고딕"/>
              </a:rPr>
              <a:t>•  x$kffxp 로 원본과 미러가 고르게 섞인 것을 확인했다</a:t>
            </a:r>
          </a:p>
          <a:p>
            <a:pPr algn="l">
              <a:spcAft>
                <a:spcPts val="1000"/>
              </a:spcAft>
            </a:pPr>
            <a:r>
              <a:rPr sz="1600" b="0">
                <a:solidFill>
                  <a:srgbClr val="222222"/>
                </a:solidFill>
                <a:latin typeface="맑은 고딕"/>
              </a:rPr>
              <a:t>•  disk_repair_time 은 CREATE 에 못 쓴다. ORA-15237</a:t>
            </a:r>
          </a:p>
          <a:p>
            <a:pPr algn="l">
              <a:spcAft>
                <a:spcPts val="1000"/>
              </a:spcAft>
            </a:pPr>
            <a:r>
              <a:rPr sz="1600" b="0">
                <a:solidFill>
                  <a:srgbClr val="222222"/>
                </a:solidFill>
                <a:latin typeface="맑은 고딕"/>
              </a:rPr>
              <a:t>•  v$asm_operation 의 sofar 는 단계마다 초기화된다</a:t>
            </a:r>
          </a:p>
          <a:p>
            <a:pPr algn="l">
              <a:spcAft>
                <a:spcPts val="1000"/>
              </a:spcAft>
            </a:pPr>
            <a:r>
              <a:rPr sz="1600" b="0">
                <a:solidFill>
                  <a:srgbClr val="222222"/>
                </a:solidFill>
                <a:latin typeface="맑은 고딕"/>
              </a:rPr>
              <a:t>•  디스크 추가 후 USABLE_FILE_MB 가 줄 수 있다. 계산이 정확해진 것</a:t>
            </a:r>
          </a:p>
          <a:p>
            <a:pPr algn="l">
              <a:spcAft>
                <a:spcPts val="1000"/>
              </a:spcAft>
            </a:pPr>
            <a:r>
              <a:rPr sz="1600" b="0">
                <a:solidFill>
                  <a:srgbClr val="222222"/>
                </a:solidFill>
                <a:latin typeface="맑은 고딕"/>
              </a:rPr>
              <a:t>•  파워 8은 파워 1보다 3.5배 빨랐다. 선형이 아니다</a:t>
            </a:r>
          </a:p>
          <a:p>
            <a:pPr algn="l">
              <a:spcAft>
                <a:spcPts val="1000"/>
              </a:spcAft>
            </a:pPr>
            <a:r>
              <a:rPr sz="1600" b="0">
                <a:solidFill>
                  <a:srgbClr val="222222"/>
                </a:solidFill>
                <a:latin typeface="맑은 고딕"/>
              </a:rPr>
              <a:t>•  장애 그룹 최소 요건까지 줄이는 제거는 ORA-59327 로 막힌다</a:t>
            </a:r>
          </a:p>
          <a:p>
            <a:pPr algn="l">
              <a:spcAft>
                <a:spcPts val="1000"/>
              </a:spcAft>
            </a:pPr>
            <a:r>
              <a:rPr sz="1600" b="0">
                <a:solidFill>
                  <a:srgbClr val="222222"/>
                </a:solidFill>
                <a:latin typeface="맑은 고딕"/>
              </a:rPr>
              <a:t>•  DROPPING 중에는 물리적으로 뽑으면 안 된다</a:t>
            </a:r>
          </a:p>
          <a:p>
            <a:pPr algn="l">
              <a:spcAft>
                <a:spcPts val="1000"/>
              </a:spcAft>
            </a:pPr>
            <a:r>
              <a:rPr sz="1600" b="0">
                <a:solidFill>
                  <a:srgbClr val="222222"/>
                </a:solidFill>
                <a:latin typeface="맑은 고딕"/>
              </a:rPr>
              <a:t>•  FORCE 제거는 헤더를 MEMBER 로 남긴다. ORA-15033</a:t>
            </a:r>
          </a:p>
          <a:p>
            <a:pPr algn="l">
              <a:spcAft>
                <a:spcPts val="1000"/>
              </a:spcAft>
            </a:pPr>
            <a:r>
              <a:rPr sz="1600" b="0">
                <a:solidFill>
                  <a:srgbClr val="222222"/>
                </a:solidFill>
                <a:latin typeface="맑은 고딕"/>
              </a:rPr>
              <a:t>•  타이머 만료 시 ASM 이 스스로 drop disk force 를 실행한다</a:t>
            </a:r>
          </a:p>
          <a:p>
            <a:pPr algn="l">
              <a:spcAft>
                <a:spcPts val="1000"/>
              </a:spcAft>
            </a:pPr>
            <a:r>
              <a:rPr sz="1600" b="0">
                <a:solidFill>
                  <a:srgbClr val="222222"/>
                </a:solidFill>
                <a:latin typeface="맑은 고딕"/>
              </a:rPr>
              <a:t>•  타이머 안 online 은 Staleness Registry 로 약 9초</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퀴즈</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x$kffxp 의 SIDE 가 0과 1로 나뉘는 것은 무엇을 뜻하는가</a:t>
            </a:r>
          </a:p>
          <a:p>
            <a:pPr algn="l">
              <a:spcAft>
                <a:spcPts val="1000"/>
              </a:spcAft>
            </a:pPr>
            <a:r>
              <a:rPr sz="1600" b="0">
                <a:solidFill>
                  <a:srgbClr val="222222"/>
                </a:solidFill>
                <a:latin typeface="맑은 고딕"/>
              </a:rPr>
              <a:t>•  디스크를 추가했는데 USABLE_FILE_MB 가 줄었다. 문제인가</a:t>
            </a:r>
          </a:p>
          <a:p>
            <a:pPr algn="l">
              <a:spcAft>
                <a:spcPts val="1000"/>
              </a:spcAft>
            </a:pPr>
            <a:r>
              <a:rPr sz="1600" b="0">
                <a:solidFill>
                  <a:srgbClr val="222222"/>
                </a:solidFill>
                <a:latin typeface="맑은 고딕"/>
              </a:rPr>
              <a:t>•  v$asm_operation 의 sofar 가 뒤로 갔다. 실패인가</a:t>
            </a:r>
          </a:p>
          <a:p>
            <a:pPr algn="l">
              <a:spcAft>
                <a:spcPts val="1000"/>
              </a:spcAft>
            </a:pPr>
            <a:r>
              <a:rPr sz="1600" b="0">
                <a:solidFill>
                  <a:srgbClr val="222222"/>
                </a:solidFill>
                <a:latin typeface="맑은 고딕"/>
              </a:rPr>
              <a:t>•  파워를 8배 올렸는데 3.5배만 빨라진 이유는</a:t>
            </a:r>
          </a:p>
          <a:p>
            <a:pPr algn="l">
              <a:spcAft>
                <a:spcPts val="1000"/>
              </a:spcAft>
            </a:pPr>
            <a:r>
              <a:rPr sz="1600" b="0">
                <a:solidFill>
                  <a:srgbClr val="222222"/>
                </a:solidFill>
                <a:latin typeface="맑은 고딕"/>
              </a:rPr>
              <a:t>•  ORA-59327 로 막혔다. FORCE 전에 무엇을 하는가</a:t>
            </a:r>
          </a:p>
          <a:p>
            <a:pPr algn="l">
              <a:spcAft>
                <a:spcPts val="1000"/>
              </a:spcAft>
            </a:pPr>
            <a:r>
              <a:rPr sz="1600" b="0">
                <a:solidFill>
                  <a:srgbClr val="222222"/>
                </a:solidFill>
                <a:latin typeface="맑은 고딕"/>
              </a:rPr>
              <a:t>•  DROPPING 상태에서 디스크를 뽑으면</a:t>
            </a:r>
          </a:p>
          <a:p>
            <a:pPr algn="l">
              <a:spcAft>
                <a:spcPts val="1000"/>
              </a:spcAft>
            </a:pPr>
            <a:r>
              <a:rPr sz="1600" b="0">
                <a:solidFill>
                  <a:srgbClr val="222222"/>
                </a:solidFill>
                <a:latin typeface="맑은 고딕"/>
              </a:rPr>
              <a:t>•  FORCE 제거 후 ORA-15033 이 나는 이유는</a:t>
            </a:r>
          </a:p>
          <a:p>
            <a:pPr algn="l">
              <a:spcAft>
                <a:spcPts val="1000"/>
              </a:spcAft>
            </a:pPr>
            <a:r>
              <a:rPr sz="1600" b="0">
                <a:solidFill>
                  <a:srgbClr val="222222"/>
                </a:solidFill>
                <a:latin typeface="맑은 고딕"/>
              </a:rPr>
              <a:t>•  online 이 9초 만에 끝난 것은 무엇 덕분인가</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실습 개요</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01 현재 디스크 배치 — v$asm_disk 와 x$kffxp</a:t>
            </a:r>
          </a:p>
          <a:p>
            <a:pPr algn="l">
              <a:spcAft>
                <a:spcPts val="1000"/>
              </a:spcAft>
            </a:pPr>
            <a:r>
              <a:rPr sz="1600" b="0">
                <a:solidFill>
                  <a:srgbClr val="222222"/>
                </a:solidFill>
                <a:latin typeface="맑은 고딕"/>
              </a:rPr>
              <a:t>•  02 디스크 추가와 리밸런스 관찰 — v$asm_operation 반복 조회</a:t>
            </a:r>
          </a:p>
          <a:p>
            <a:pPr algn="l">
              <a:spcAft>
                <a:spcPts val="1000"/>
              </a:spcAft>
            </a:pPr>
            <a:r>
              <a:rPr sz="1600" b="0">
                <a:solidFill>
                  <a:srgbClr val="222222"/>
                </a:solidFill>
                <a:latin typeface="맑은 고딕"/>
              </a:rPr>
              <a:t>•  03 리밸런스 속도 조절 — 파워 1과 8 비교</a:t>
            </a:r>
          </a:p>
          <a:p>
            <a:pPr algn="l">
              <a:spcAft>
                <a:spcPts val="1000"/>
              </a:spcAft>
            </a:pPr>
            <a:r>
              <a:rPr sz="1600" b="0">
                <a:solidFill>
                  <a:srgbClr val="222222"/>
                </a:solidFill>
                <a:latin typeface="맑은 고딕"/>
              </a:rPr>
              <a:t>•  04 디스크 제거 — ORA-59327 과 DROPPING 상태</a:t>
            </a:r>
          </a:p>
          <a:p>
            <a:pPr algn="l">
              <a:spcAft>
                <a:spcPts val="1000"/>
              </a:spcAft>
            </a:pPr>
            <a:r>
              <a:rPr sz="1600" b="0">
                <a:solidFill>
                  <a:srgbClr val="222222"/>
                </a:solidFill>
                <a:latin typeface="맑은 고딕"/>
              </a:rPr>
              <a:t>•  05 장애 그룹 검증 — 원본과 미러의 짝 확인</a:t>
            </a:r>
          </a:p>
          <a:p>
            <a:pPr algn="l">
              <a:spcAft>
                <a:spcPts val="1000"/>
              </a:spcAft>
            </a:pPr>
            <a:r>
              <a:rPr sz="1600" b="0">
                <a:solidFill>
                  <a:srgbClr val="222222"/>
                </a:solidFill>
                <a:latin typeface="맑은 고딕"/>
              </a:rPr>
              <a:t>•  06 디스크 강제 손실 — 타이머 만료와 자동 제거 (파괴적)</a:t>
            </a:r>
          </a:p>
          <a:p>
            <a:pPr algn="l">
              <a:spcAft>
                <a:spcPts val="1000"/>
              </a:spcAft>
            </a:pPr>
            <a:r>
              <a:rPr sz="1600" b="0">
                <a:solidFill>
                  <a:srgbClr val="222222"/>
                </a:solidFill>
                <a:latin typeface="맑은 고딕"/>
              </a:rPr>
              <a:t>•  07 복구 — 타이머 내 online 과 fast mirror resync</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3333</Words>
  <Application>Microsoft Office PowerPoint</Application>
  <PresentationFormat>와이드스크린</PresentationFormat>
  <Paragraphs>264</Paragraphs>
  <Slides>36</Slides>
  <Notes>23</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36</vt:i4>
      </vt:variant>
    </vt:vector>
  </HeadingPairs>
  <TitlesOfParts>
    <vt:vector size="40" baseType="lpstr">
      <vt:lpstr>맑은 고딕</vt:lpstr>
      <vt:lpstr>Arial</vt:lpstr>
      <vt:lpstr>Calibri</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KEONTAE KIM</cp:lastModifiedBy>
  <cp:revision>2</cp:revision>
  <dcterms:created xsi:type="dcterms:W3CDTF">2013-01-27T09:14:16Z</dcterms:created>
  <dcterms:modified xsi:type="dcterms:W3CDTF">2026-10-29T10:15:04Z</dcterms:modified>
  <cp:category/>
</cp:coreProperties>
</file>
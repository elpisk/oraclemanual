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7943B-689D-4B3C-AEE8-CE9C9276B421}"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44D8C7-8314-4735-905E-ADBA105BE2CD}" type="slidenum">
              <a:rPr lang="ko-KR" altLang="en-US" smtClean="0"/>
              <a:t>‹#›</a:t>
            </a:fld>
            <a:endParaRPr lang="ko-KR" altLang="en-US"/>
          </a:p>
        </p:txBody>
      </p:sp>
    </p:spTree>
    <p:extLst>
      <p:ext uri="{BB962C8B-B14F-4D97-AF65-F5344CB8AC3E}">
        <p14:creationId xmlns:p14="http://schemas.microsoft.com/office/powerpoint/2010/main" val="35619918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장을 잇는 슬라이드입니다. 13장에서 편중을 수치로 확인하고 조치는 미뤄 두었으며, 14장에서 srvctl 문법을 익혔습니다. 이 장은 그 둘을 합칩니다. 서비스라는 개념을 처음 만나는 수강생에게는 "인스턴스와 클라이언트 사이에 두는 이름표" 라는 비유가 잘 통합니다. 이름표를 옮기면 접속이 따라 옮겨 가고 클라이언트는 아무것도 바꾸지 않아도 된다는 것이 핵심입니다.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출력이 없는 것과 오류가 나는 것을 구분하게 하십시오. 종료 코드 0 이 근거입니다. 다섯 서비스의 성격이 각각 다르다는 점을 짚어야 뒤 내용이 이어집니다. 특히 CON_ID 열을 함께 조회하게 하십시오. racpdb1 만 3 이고 나머지는 1 인데, 이것이 다음 슬라이드에서 DBA_SERVICES 에 racpdb1 이 없는 이유가 됩니다. 12장에서 다룬 컨테이너 개념이 여기서 다시 쓰입니다.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뷰의 시야 차이를 가르치는 슬라이드입니다. GV$ACTIVE_SERVICES 는 인스턴스 전체를, DBA_SERVICES 는 현재 컨테이너만 봅니다. 어느 것이 안 보인다고 없는 것이 아니라는 점을 강조하십시오. SERVICE_ID 가 건너뛰는 것은 10장에서 데이터파일 번호가 연속이 아니었던 것과 같은 이야기이며, 번호를 세어 개수를 짐작하는 습관을 버리게 하는 좋은 사례입니다.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줄이 진단의 핵심입니다. 두 리스너를 구분하지 못하면 "서비스가 있는데 왜 접속이 안 되나" 에서 막힙니다. GUID 서비스는 9장의 ASM 디렉터리 이름과 연결해 설명하면 수강생이 반가워합니다. 같은 값이 스토리지 계층과 네트워크 계층 양쪽에 나타난다는 것을 보여 주는 좋은 예입니다. 로컬 리스너가 공용 IP 와 VIP 를 둘 다 듣는다는 점도 함께 짚어 두십시오.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랩에서 관찰된 것이므로 그대로 다루십시오. 실습이나 테스트로 만든 것을 지울 때 여러 곳에 자국이 남는다는 것을 보여 주는 사례입니다. 14장에서 자원 정의에 남은 이름을 봤고 여기서는 리스너에 남은 서비스를 봅니다. 정리 절차를 만들 때 지워야 할 곳이 하나가 아니라는 감각을 길러 주는 것이 이 슬라이드의 목적입니다. 접속에는 영향이 없으므로 급히 고칠 일은 아니며, 정기 재시작 때 자연히 정리됩니다.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가지를 모두 다루되 첫째와 넷째에 시간을 쓰십시오. 첫째는 13장의 숙제에 대한 답이고 넷째는 15.5 절의 계획 정지 절차로 이어집니다. 둘째는 15.5.4 절에서, 셋째는 15.5.2 절에서 각각 실측으로 확인합니다. 이 슬라이드를 이 장 전체의 목차처럼 써도 좋습니다. 네 이유를 한 문장으로 묶으면 인스턴스와 클라이언트 사이에 이름표를 두는 것이 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서비스를 엇갈리게 배치하는 형태를 그림으로 그려 주면 이해가 빠릅니다. 평소에는 나뉘어 돌고 한쪽이 죽으면 남은 쪽이 둘 다 받습니다. 이것이 이 장 전체에서 쓰는 구성이므로 여기서 확실히 잡아 두십시오. 실무에서도 이 형태가 출발점이 되며, 서비스가 넷 이상이면 노드마다 골고루 배분합니다. 가용 인스턴스를 지정하지 않으면 선호가 죽었을 때 서비스가 사라진다는 점도 지금 미리 말해 두십시오.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14장과의 연결을 강하게 만들어 주십시오. 서비스가 특별한 것이 아니라 같은 자원 모델 위의 한 종류라는 것을 알면 crsctl 로 조회하는 법도 자연히 따라옵니다. 자원 개수가 늘고 주는 것도 실제로 세어 보게 하십시오. 기준선 점검이 왜 유용한지 몸으로 느끼게 됩니다. 성공하면 아무것도 출력하지 않는 명령이므로 종료 코드를 확인하는 습관도 함께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14장에서 정리한 접두어 체계를 바로 써먹는 슬라이드입니다. 접두어만 보고 어디를 봐야 할지 판단하게 해 보십시오. 그리고 왜 다행인지도 설명해야 합니다. 잘못된 인스턴스 이름으로 서비스가 만들어지면 기동할 때가 되어서야 문제를 알게 되고, 그때는 이미 다른 설정이 그 서비스에 의존하고 있을 수 있습니다. 만들 때 막아 주는 것이 훨씬 싸게 먹힙니다. 실제 인스턴스 이름은 srvctl config database 의 Database instances 항목으로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항목이 많아 보이지만 실무에서 만지는 것은 몇 개뿐이라고 안심시키십시오. Cardinality 는 선호 인스턴스를 둘 지정하면 2 가 됩니다. CLB Goal 은 15.6 절에서 분산 결과를 해석할 때 다시 필요하므로 지금 값만 확인해 두게 하십시오. 마지막 줄에서 -pdb 옵션을 예고하면 CDB 환경 설계로 자연스럽게 넘어갑니다. 실무에서는 PDB 마다 서비스를 두는 편이 낫고, PDB 를 다른 CDB 로 옮길 때 서비스 이름만 유지하면 클라이언트를 바꾸지 않아도 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줄이 중요합니다. 두 출처가 서로 다른 곳에서 오므로 일치해야 정상입니다. 어긋난다면 CRS 와 인스턴스의 인식이 다른 것이고 그 자체가 이상 신호입니다. srvctl status database -v 하나로 인스턴스와 서비스를 함께 볼 수 있다는 점도 알려 주십시오. 장애 대응에서 첫 번째로 칠 만한 명령이며, 서비스가 없을 때는 이 문구가 아예 나오지 않는다는 것도 비교해 보게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has N instance(s) 라는 숫자가 이 장에서 반복해서 나오므로 읽는 법을 확실히 잡아 주십시오. 이 숫자가 SCAN 이 고를 수 있는 후보의 수입니다. 1 이면 결정적이고 2 이면 선택이 생기며, 15.6 절의 부하 기반 분산은 후자에서만 의미가 있습니다. 이 구분을 세워 두면 뒷부분이 훨씬 명확해집니다. 로컬 리스너에 없는 서비스는 그 노드에서 돌지 않는다는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확인의 마지막 단계는 실제 접속이라는 원칙을 세워 주십시오. 정의와 상태가 맞아도 실제 접속은 다르게 갈 수 있습니다. 그리고 SCAN 을 써야 하는 이유를 분명히 하십시오. 로컬 리스너로 붙으면 그 노드에만 갈 수 있으므로 서비스가 동작하는지 확인할 수 없습니다. 서비스 이름을 인자로 받아 여러 번 붙고 인스턴스 이름을 세는 접속 확인 스크립트를 하나 만들어 두라고 권하십시오. 서비스를 옮길 때마다 이 스크립트로 검증하면 실수를 즉시 잡을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소요 시간이 짧다는 것이 운영상 의미가 큽니다. 유지보수 창을 잡을 때 서비스 이동에 드는 시간은 무시해도 될 수준입니다. -oldinst 를 왜 요구하는지도 설명하십시오. 여러 인스턴스에서 도는 서비스라면 어느 것을 옮길지 특정해야 하며, 실수로 엉뚱한 것을 옮기는 일을 막아 줍니다. 세 번 측정이 모두 2 초 안팎이었다는 것도 재현성의 근거입니다. 이동 후 접속을 다시 세어 새 인스턴스로 가는지 확인하는 단계까지 반드시 밟게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실측이 유지보수 절차의 근거가 됩니다. 노드를 내리기 전에 서비스를 먼저 옮기면 새 접속은 다른 노드로 가고 기존 세션은 자기 일을 마칠 시간을 얻습니다. 세션이 모두 빠진 뒤에 내리면 아무도 끊기지 않습니다. 반대로 기존 세션까지 정리하고 싶은 경우가 있으므로 drain 옵션의 존재도 알려 두십시오. 정해진 시간 동안 세션이 빠지기를 기다리고 그래도 남으면 끊는 방식이며, 유지보수 창이 짧을 때 쓰입니다.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차이를 모르면 "왜 다시 돌아갔지" 에서 막힙니다. 14장에서 세운 status/config 구분이 여기서 구체적인 결과로 나타난다는 점을 짚어 주십시오. 그리고 이것이 대체로 바람직한 동작이라는 것도 말해야 합니다. 임시 조치가 영구히 남지 않는 편이 안전하며, 영구 변경은 명시적인 명령으로만 이뤄지는 것이 좋습니다. 다만 재기동 시점을 모르면 놀랄 수 있으므로 옮겨 둔 서비스는 기록해 두어야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14장에서 세운 "마지막 줄을 먼저 읽는다" 규칙을 다시 적용하는 자리입니다. 네 줄 중 앞의 셋은 정보가 거의 없습니다. 그리고 이 거부가 왜 좋은 설계인지 설명하십시오. 서비스가 도는 인스턴스를 실수로 내리면 그 서비스의 접속이 전부 끊깁니다. 오라클이 한 번 물어보게 만든 것이며, 서비스가 없었다면 이 명령은 그냥 통과했을 것입니다. 이 거부가 나오면 옮겨야 할 서비스가 남아 있다는 신호로 읽으십시오.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중요한 오해를 바로잡는 슬라이드입니다. 가용 인스턴스를 지정했으니 알아서 옮겨 갈 것이라는 기대가 자연스럽지만 실측은 반대였습니다. 12장의 원리로 설명하십시오. 정상 종료면 CRS 는 다시 올리지 않으며, 서비스도 자원이므로 같은 규칙을 따릅니다. 관리자가 의도적으로 내렸다고 판단해 서비스 자원의 TARGET 도 함께 OFFLINE 으로 내립니다. 그동안 그 서비스로 접속하면 ORA-12514 이며, 노드가 둘인데 서비스가 없어 못 쓰는 상황이 만들어집니다.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실험을 나란히 놓고 비교하게 하십시오. 같은 서비스, 같은 가용 인스턴스인데 결과가 반대입니다. 차이는 정상 종료인가 비정상 종료인가 하나뿐이며, 이것은 12장에서 인스턴스를 두고, 14장에서 사용자 자원을 두고 확인한 것과 완전히 같은 원리입니다. 세 장에 걸쳐 같은 원리가 반복된다는 것을 짚어 주면 수강생의 이해가 단단해집니다. 정리하면 CRS 가 보는 것은 어떤 도구를 썼느냐가 아니라 종료 방식입니다.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관찰이 이 장에서 가장 실무적인 교훈입니다. "인스턴스 복구 확인" 에서 절차를 끝내면 부하가 한쪽에 몰린 채로 며칠이 지나갑니다. 13장에서 본 편중이 이렇게 생기기도 한다는 점을 연결해 주십시오. 되돌리는 것은 1.7 초짜리 명령 하나이므로 어려운 일이 아니라 잊기 쉬운 일이라는 표현이 정확합니다. 옮기는 데 비용이 들기 때문에 CRS 가 스스로 되돌리지 않는다는 설계 의도도 함께 설명하십시오.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네 단계를 절차서로 만들어 두라고 권하십시오. 실무에서 그대로 쓰입니다. 3번에서 -force 가 필요 없어진다는 점이 절차가 옳다는 증거이기도 합니다. force 를 써야 한다면 순서가 틀린 것입니다. 4번은 앞 슬라이드의 교훈과 같은 이야기이며 두 번 강조해도 지나치지 않습니다. 절차서의 마지막 줄에 반드시 넣게 하십시오. 2번의 세션 배출은 GV$SESSION 의 인스턴스별 세션 수로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SYS$USERS 항목을 특히 강조하십시오. 서비스를 아무리 잘 설계해도 클라이언트가 서비스 이름 없이 접속하면 소용이 없습니다. 이 조회로 그런 접속을 찾아낼 수 있으며, 서비스 도입 프로젝트의 첫 단계가 대개 이 값을 0 으로 만드는 일입니다. 그런 접속은 서비스를 옮겨도 따라오지 않습니다. 13장의 편중 분석과 이어 주면 과정 전체의 흐름이 살아납니다. MACHINE 과 PROGRAM 을 함께 조회하면 어느 클라이언트인지까지 좁혀집니다.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결과를 나란히 보여 주는 것이 이 슬라이드의 전부입니다. 한 번만 재고 판단하면 안 된다는 교훈이 여기서 나옵니다. 10 대 10 이 규칙이 아니라 두 인스턴스의 부하가 비슷했기 때문에 나온 결과라는 점을 분명히 하십시오. 재기동 직후 몰리는 것은 오히려 부하 기반 분산이 동작하고 있다는 증거입니다. 확인이 필요하면 시간을 두고 여러 번 재고, 접속 횟수보다 GV$SESSION 의 인스턴스별 세션 수를 보게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값의 차이를 애플리케이션 형태와 묶어 설명하십시오. 대부분의 현대 애플리케이션은 커넥션 풀을 쓰므로 LONG 이 맞습니다. 실습에서 형태와 설정이 어긋났다는 점을 솔직히 짚으면 설정이 결과에 어떻게 작용하는지 오히려 명확해집니다. 값을 바꿔 다시 재 보게 하는 것도 좋은 심화 과제이며, srvctl modify service 의 -clbgoal 옵션으로 바꿉니다.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 전체를 한 화면에 정리하는 슬라이드입니다. 두 층을 구분하지 못하면 "분산이 안 된다" 는 진단이 엉뚱한 곳을 향합니다. ch15_oltp 가 10 회 모두 racdb1 로 간 것은 분산 실패가 아니라 1 층에서 결정된 결과입니다. 요구사항이 무엇이냐에 따라 어느 층을 쓸지 정하라는 것이 결론이며, 둘을 섞는 구성도 흔히 쓰입니다. 두 층은 SCAN 리스너의 has N instance(s) 숫자로 구분됩니다.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ORA-12514 의 의미를 정확히 새겨 주십시오. 이 오류만 보고 서비스가 존재하지 않는다고 단정하면 진단이 어긋납니다. 원인 후보를 네 가지 이상 들 수 있어야 하며, 확인 순서는 srvctl status service → srvctl config service → lsnrctl status 입니다. 기준선 숫자로 정리를 확인하는 습관도 여기서 다시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번째가 이 장의 핵심 점검입니다. 장애 후 서비스가 옮겨 간 채로 남아 있는 것을 잡아 줍니다. 12장의 SPFILE 점검, 13장의 스토리지 점검, 14장의 자원 점검에 이어 네 번째 목록이며 넷을 합치면 일상 점검이 완성됩니다. 자동으로 되돌리는 것까지는 권하지 않습니다. 서비스가 옮겨 가 있다는 것은 무슨 일이 있었다는 뜻이므로 사람이 원인을 확인한 뒤 되돌리는 편이 안전합니다.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원칙을 체크리스트로 만들어 두라고 권하십시오. 첫째가 가장 중요하고 가장 자주 어겨집니다. 데이터베이스 이름으로 접속해 두면 나중에 그 애플리케이션만 옮기고 싶어도 방법이 없습니다. 셋째를 빠뜨리면 선호 인스턴스가 죽었을 때 서비스가 사라진다는 점을 15.5 절의 실측과 연결해 설명하십시오. 다섯 원칙 모두 설계 단계에서 정해야 하며, 운영에 들어간 뒤에 바꾸려면 클라이언트까지 손대야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config 출력의 여러 항목을 비워 두었는데 그것들이 16장의 주제라고 예고하십시오. 이 장은 서버 쪽에서 접속을 어디로 보낼지 정했고, 16장은 그 접속이 끊어졌을 때 클라이언트가 무엇을 겪는지를 다룹니다. 두 장을 합쳐야 RAC 의 고가용성이 완성된다는 점을 말해 주면 동기가 생깁니다. 이 장에서 kill -9 로 만든 장애에서 클라이언트가 무엇을 겪었는지 되짚어 보게 하면 자연스럽게 이어집니다.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lgn="l">
              <a:spcAft>
                <a:spcPts val="600"/>
              </a:spcAft>
            </a:pPr>
            <a:r>
              <a:rPr lang="ko-KR" altLang="en-US" sz="3400" b="1" dirty="0">
                <a:solidFill>
                  <a:srgbClr val="C0392B"/>
                </a:solidFill>
                <a:latin typeface="맑은 고딕"/>
              </a:rPr>
              <a:t>동적 데이터베이스 서비스</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동적 데이터베이스 서비스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클라이언트는 인스턴스가 아니라 이름에 접속한다. 이름표를 옮기면 접속이 따라온다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서비스가 무엇이며 왜 필요한지 설명한다</a:t>
            </a:r>
          </a:p>
          <a:p>
            <a:pPr algn="l">
              <a:spcAft>
                <a:spcPts val="1000"/>
              </a:spcAft>
            </a:pPr>
            <a:r>
              <a:rPr sz="1600" b="0">
                <a:solidFill>
                  <a:srgbClr val="222222"/>
                </a:solidFill>
                <a:latin typeface="맑은 고딕"/>
              </a:rPr>
              <a:t>•  선호·가용 인스턴스를 지정해 서비스를 만들고 기동한다</a:t>
            </a:r>
          </a:p>
          <a:p>
            <a:pPr algn="l">
              <a:spcAft>
                <a:spcPts val="1000"/>
              </a:spcAft>
            </a:pPr>
            <a:r>
              <a:rPr sz="1600" b="0">
                <a:solidFill>
                  <a:srgbClr val="222222"/>
                </a:solidFill>
                <a:latin typeface="맑은 고딕"/>
              </a:rPr>
              <a:t>•  서비스 이동이 새 접속과 기존 세션에 각각 어떻게 작용하는지 안다</a:t>
            </a:r>
          </a:p>
          <a:p>
            <a:pPr algn="l">
              <a:spcAft>
                <a:spcPts val="1000"/>
              </a:spcAft>
            </a:pPr>
            <a:r>
              <a:rPr sz="1600" b="0">
                <a:solidFill>
                  <a:srgbClr val="222222"/>
                </a:solidFill>
                <a:latin typeface="맑은 고딕"/>
              </a:rPr>
              <a:t>•  계획 정지와 실제 장애에서 서비스의 운명이 다른 이유를 안다</a:t>
            </a:r>
          </a:p>
          <a:p>
            <a:pPr algn="l">
              <a:spcAft>
                <a:spcPts val="1000"/>
              </a:spcAft>
            </a:pPr>
            <a:r>
              <a:rPr sz="1600" b="0">
                <a:solidFill>
                  <a:srgbClr val="222222"/>
                </a:solidFill>
                <a:latin typeface="맑은 고딕"/>
              </a:rPr>
              <a:t>•  SCAN 분산이 부하 기반이라는 것을 실측으로 확인한다</a:t>
            </a:r>
          </a:p>
          <a:p>
            <a:pPr algn="l">
              <a:spcAft>
                <a:spcPts val="1000"/>
              </a:spcAft>
            </a:pPr>
            <a:r>
              <a:rPr sz="1600" b="0">
                <a:solidFill>
                  <a:srgbClr val="222222"/>
                </a:solidFill>
                <a:latin typeface="맑은 고딕"/>
              </a:rPr>
              <a:t>•  서비스 설계와 점검의 원칙을 세운다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15.1 서비스란 무엇인가</a:t>
            </a:r>
          </a:p>
          <a:p>
            <a:pPr algn="l">
              <a:spcAft>
                <a:spcPts val="1000"/>
              </a:spcAft>
            </a:pPr>
            <a:r>
              <a:rPr sz="1600" b="0">
                <a:solidFill>
                  <a:srgbClr val="222222"/>
                </a:solidFill>
                <a:latin typeface="맑은 고딕"/>
              </a:rPr>
              <a:t>•  15.2 서비스 생성</a:t>
            </a:r>
          </a:p>
          <a:p>
            <a:pPr algn="l">
              <a:spcAft>
                <a:spcPts val="1000"/>
              </a:spcAft>
            </a:pPr>
            <a:r>
              <a:rPr sz="1600" b="0">
                <a:solidFill>
                  <a:srgbClr val="222222"/>
                </a:solidFill>
                <a:latin typeface="맑은 고딕"/>
              </a:rPr>
              <a:t>•  15.3 기동과 배치 확인</a:t>
            </a:r>
          </a:p>
          <a:p>
            <a:pPr algn="l">
              <a:spcAft>
                <a:spcPts val="1000"/>
              </a:spcAft>
            </a:pPr>
            <a:r>
              <a:rPr sz="1600" b="0">
                <a:solidFill>
                  <a:srgbClr val="222222"/>
                </a:solidFill>
                <a:latin typeface="맑은 고딕"/>
              </a:rPr>
              <a:t>•  15.4 서비스 이동</a:t>
            </a:r>
          </a:p>
          <a:p>
            <a:pPr algn="l">
              <a:spcAft>
                <a:spcPts val="1000"/>
              </a:spcAft>
            </a:pPr>
            <a:r>
              <a:rPr sz="1600" b="0">
                <a:solidFill>
                  <a:srgbClr val="222222"/>
                </a:solidFill>
                <a:latin typeface="맑은 고딕"/>
              </a:rPr>
              <a:t>•  15.5 장애 시 자동 이동</a:t>
            </a:r>
          </a:p>
          <a:p>
            <a:pPr algn="l">
              <a:spcAft>
                <a:spcPts val="1000"/>
              </a:spcAft>
            </a:pPr>
            <a:r>
              <a:rPr sz="1600" b="0">
                <a:solidFill>
                  <a:srgbClr val="222222"/>
                </a:solidFill>
                <a:latin typeface="맑은 고딕"/>
              </a:rPr>
              <a:t>•  15.6 SCAN 을 통한 부하 분산</a:t>
            </a:r>
          </a:p>
          <a:p>
            <a:pPr algn="l">
              <a:spcAft>
                <a:spcPts val="1000"/>
              </a:spcAft>
            </a:pPr>
            <a:r>
              <a:rPr sz="1600" b="0">
                <a:solidFill>
                  <a:srgbClr val="222222"/>
                </a:solidFill>
                <a:latin typeface="맑은 고딕"/>
              </a:rPr>
              <a:t>•  15.7 정리와 운영 지침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13장이 남긴 숙제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부하를 어떻게 나누는가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13장 — rac1 의 redo size 가 rac2 의 약 1.8배였다</a:t>
            </a:r>
          </a:p>
          <a:p>
            <a:pPr algn="l">
              <a:spcAft>
                <a:spcPts val="1000"/>
              </a:spcAft>
            </a:pPr>
            <a:r>
              <a:rPr sz="1700" b="0">
                <a:solidFill>
                  <a:srgbClr val="222222"/>
                </a:solidFill>
                <a:latin typeface="맑은 고딕"/>
              </a:rPr>
              <a:t>•  조치는 리두·UNDO 크기 조절이 아니라 부하 분산이라고 했다</a:t>
            </a:r>
          </a:p>
          <a:p>
            <a:pPr algn="l">
              <a:spcAft>
                <a:spcPts val="1000"/>
              </a:spcAft>
            </a:pPr>
            <a:r>
              <a:rPr sz="1700" b="0">
                <a:solidFill>
                  <a:srgbClr val="222222"/>
                </a:solidFill>
                <a:latin typeface="맑은 고딕"/>
              </a:rPr>
              <a:t>•  그 도구가 이 장의 서비스다</a:t>
            </a:r>
          </a:p>
          <a:p>
            <a:pPr algn="l">
              <a:spcAft>
                <a:spcPts val="1000"/>
              </a:spcAft>
            </a:pPr>
            <a:r>
              <a:rPr sz="1700" b="0">
                <a:solidFill>
                  <a:srgbClr val="222222"/>
                </a:solidFill>
                <a:latin typeface="맑은 고딕"/>
              </a:rPr>
              <a:t>•  서비스 = 어떤 접속을 어느 인스턴스가 받을 것인가</a:t>
            </a:r>
          </a:p>
          <a:p>
            <a:pPr algn="l">
              <a:spcAft>
                <a:spcPts val="1000"/>
              </a:spcAft>
            </a:pPr>
            <a:r>
              <a:rPr sz="1700" b="0">
                <a:solidFill>
                  <a:srgbClr val="222222"/>
                </a:solidFill>
                <a:latin typeface="맑은 고딕"/>
              </a:rPr>
              <a:t>•  14장에서 본 srvctl 대상 목록 중 아직 안 다룬 것</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기본 서비스</a:t>
            </a:r>
          </a:p>
          <a:p>
            <a:pPr algn="l">
              <a:spcAft>
                <a:spcPts val="800"/>
              </a:spcAft>
            </a:pPr>
            <a:r>
              <a:rPr sz="1600" b="0">
                <a:solidFill>
                  <a:srgbClr val="FFFFFF"/>
                </a:solidFill>
                <a:latin typeface="맑은 고딕"/>
              </a:rPr>
              <a:t>•  리스너에서 읽기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사용자 서비스가 없어도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서비스는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status service → 출력 없음, 종료 코드 0 (오류가 아니다)</a:t>
            </a:r>
          </a:p>
          <a:p>
            <a:pPr algn="l">
              <a:spcAft>
                <a:spcPts val="1000"/>
              </a:spcAft>
            </a:pPr>
            <a:r>
              <a:rPr sz="1700" b="0">
                <a:solidFill>
                  <a:srgbClr val="222222"/>
                </a:solidFill>
                <a:latin typeface="맑은 고딕"/>
              </a:rPr>
              <a:t>•  GV$ACTIVE_SERVICES 는 10행</a:t>
            </a:r>
          </a:p>
          <a:p>
            <a:pPr algn="l">
              <a:spcAft>
                <a:spcPts val="1000"/>
              </a:spcAft>
            </a:pPr>
            <a:r>
              <a:rPr sz="1700" b="0">
                <a:solidFill>
                  <a:srgbClr val="222222"/>
                </a:solidFill>
                <a:latin typeface="맑은 고딕"/>
              </a:rPr>
              <a:t>•  SYS$BACKGROUND / SYS$USERS — 내부. 지울 수도 옮길 수도 없다</a:t>
            </a:r>
          </a:p>
          <a:p>
            <a:pPr algn="l">
              <a:spcAft>
                <a:spcPts val="1000"/>
              </a:spcAft>
            </a:pPr>
            <a:r>
              <a:rPr sz="1700" b="0">
                <a:solidFill>
                  <a:srgbClr val="222222"/>
                </a:solidFill>
                <a:latin typeface="맑은 고딕"/>
              </a:rPr>
              <a:t>•  racdb — DB 이름과 같은 기본 서비스, 양 인스턴스에서 돈다</a:t>
            </a:r>
          </a:p>
          <a:p>
            <a:pPr algn="l">
              <a:spcAft>
                <a:spcPts val="1000"/>
              </a:spcAft>
            </a:pPr>
            <a:r>
              <a:rPr sz="1700" b="0">
                <a:solidFill>
                  <a:srgbClr val="222222"/>
                </a:solidFill>
                <a:latin typeface="맑은 고딕"/>
              </a:rPr>
              <a:t>•  racdbXDB — XML DB용 / racpdb1 — PDB 서비스 (CON_ID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DBA_SERVICES 는 4행뿐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컨테이너의 시야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SYS$BACKGROUND / SYS$USERS / racdbXDB / racdb</a:t>
            </a:r>
          </a:p>
          <a:p>
            <a:pPr algn="l">
              <a:spcAft>
                <a:spcPts val="1000"/>
              </a:spcAft>
            </a:pPr>
            <a:r>
              <a:rPr sz="1700" b="0">
                <a:solidFill>
                  <a:srgbClr val="222222"/>
                </a:solidFill>
                <a:latin typeface="맑은 고딕"/>
              </a:rPr>
              <a:t>•  racpdb1 이 없다 — CDB$ROOT 에서 조회했기 때문</a:t>
            </a:r>
          </a:p>
          <a:p>
            <a:pPr algn="l">
              <a:spcAft>
                <a:spcPts val="1000"/>
              </a:spcAft>
            </a:pPr>
            <a:r>
              <a:rPr sz="1700" b="0">
                <a:solidFill>
                  <a:srgbClr val="222222"/>
                </a:solidFill>
                <a:latin typeface="맑은 고딕"/>
              </a:rPr>
              <a:t>•  PDB 에 접속해 같은 뷰를 보면 나온다</a:t>
            </a:r>
          </a:p>
          <a:p>
            <a:pPr algn="l">
              <a:spcAft>
                <a:spcPts val="1000"/>
              </a:spcAft>
            </a:pPr>
            <a:r>
              <a:rPr sz="1700" b="0">
                <a:solidFill>
                  <a:srgbClr val="222222"/>
                </a:solidFill>
                <a:latin typeface="맑은 고딕"/>
              </a:rPr>
              <a:t>•  SERVICE_ID 가 1·2·5·6 — 3·4 는 CDB 내부용 예약</a:t>
            </a:r>
          </a:p>
          <a:p>
            <a:pPr algn="l">
              <a:spcAft>
                <a:spcPts val="1000"/>
              </a:spcAft>
            </a:pPr>
            <a:r>
              <a:rPr sz="1700" b="0">
                <a:solidFill>
                  <a:srgbClr val="222222"/>
                </a:solidFill>
                <a:latin typeface="맑은 고딕"/>
              </a:rPr>
              <a:t>•  번호가 연속이라는 보장은 어디에도 없다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로컬 리스너와 SCAN 리스너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보여 주는 것이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로컬 LISTENER — racdb1 만 등록, has 1 instance(s)</a:t>
            </a:r>
          </a:p>
          <a:p>
            <a:pPr algn="l">
              <a:spcAft>
                <a:spcPts val="1000"/>
              </a:spcAft>
            </a:pPr>
            <a:r>
              <a:rPr sz="1700" b="0">
                <a:solidFill>
                  <a:srgbClr val="222222"/>
                </a:solidFill>
                <a:latin typeface="맑은 고딕"/>
              </a:rPr>
              <a:t>•  SCAN LISTENER_SCAN1 — 양쪽 등록, has 2 instance(s)</a:t>
            </a:r>
          </a:p>
          <a:p>
            <a:pPr algn="l">
              <a:spcAft>
                <a:spcPts val="1000"/>
              </a:spcAft>
            </a:pPr>
            <a:r>
              <a:rPr sz="1700" b="0">
                <a:solidFill>
                  <a:srgbClr val="222222"/>
                </a:solidFill>
                <a:latin typeface="맑은 고딕"/>
              </a:rPr>
              <a:t>•  로컬은 공용 IP 와 VIP 둘 다 듣는다</a:t>
            </a:r>
          </a:p>
          <a:p>
            <a:pPr algn="l">
              <a:spcAft>
                <a:spcPts val="1000"/>
              </a:spcAft>
            </a:pPr>
            <a:r>
              <a:rPr sz="1700" b="0">
                <a:solidFill>
                  <a:srgbClr val="222222"/>
                </a:solidFill>
                <a:latin typeface="맑은 고딕"/>
              </a:rPr>
              <a:t>•  32자리 16진수 서비스는 PDB 의 GUID (9장에서 본 그 값)</a:t>
            </a:r>
          </a:p>
          <a:p>
            <a:pPr algn="l">
              <a:spcAft>
                <a:spcPts val="1000"/>
              </a:spcAft>
            </a:pPr>
            <a:r>
              <a:rPr sz="1700" b="0">
                <a:solidFill>
                  <a:srgbClr val="222222"/>
                </a:solidFill>
                <a:latin typeface="맑은 고딕"/>
              </a:rPr>
              <a:t>•  로컬에 없으면 그 노드 문제, SCAN 에 없으면 클러스터 전체 문제</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리스너에 남은 옛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+ASM_CH9DG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9장에서 만들었다 지운 디스크그룹의 서비스가 남아 있었다</a:t>
            </a:r>
          </a:p>
          <a:p>
            <a:pPr algn="l">
              <a:spcAft>
                <a:spcPts val="1000"/>
              </a:spcAft>
            </a:pPr>
            <a:r>
              <a:rPr sz="1700" b="0">
                <a:solidFill>
                  <a:srgbClr val="222222"/>
                </a:solidFill>
                <a:latin typeface="맑은 고딕"/>
              </a:rPr>
              <a:t>•  asmcmd lsdg 에는 CRS·DATA·FRA 셋뿐</a:t>
            </a:r>
          </a:p>
          <a:p>
            <a:pPr algn="l">
              <a:spcAft>
                <a:spcPts val="1000"/>
              </a:spcAft>
            </a:pPr>
            <a:r>
              <a:rPr sz="1700" b="0">
                <a:solidFill>
                  <a:srgbClr val="222222"/>
                </a:solidFill>
                <a:latin typeface="맑은 고딕"/>
              </a:rPr>
              <a:t>•  등록 취소 신호가 없으면 리스너 재시작까지 남는다</a:t>
            </a:r>
          </a:p>
          <a:p>
            <a:pPr algn="l">
              <a:spcAft>
                <a:spcPts val="1000"/>
              </a:spcAft>
            </a:pPr>
            <a:r>
              <a:rPr sz="1700" b="0">
                <a:solidFill>
                  <a:srgbClr val="222222"/>
                </a:solidFill>
                <a:latin typeface="맑은 고딕"/>
              </a:rPr>
              <a:t>•  14장의 pullup 절에 남은 ora.CH9DG.dg 와 같은 종류</a:t>
            </a:r>
          </a:p>
          <a:p>
            <a:pPr algn="l">
              <a:spcAft>
                <a:spcPts val="1000"/>
              </a:spcAft>
            </a:pPr>
            <a:r>
              <a:rPr sz="1700" b="0">
                <a:solidFill>
                  <a:srgbClr val="222222"/>
                </a:solidFill>
                <a:latin typeface="맑은 고딕"/>
              </a:rPr>
              <a:t>•  접속에는 영향 없지만 목록을 읽는 사람이 혼란스럽다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서비스가 필요한가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부하를 의도적으로 나눈다 — OLTP 는 rac1, 배치는 rac2</a:t>
            </a:r>
          </a:p>
          <a:p>
            <a:pPr algn="l">
              <a:spcAft>
                <a:spcPts val="1000"/>
              </a:spcAft>
            </a:pPr>
            <a:r>
              <a:rPr sz="1700" b="0">
                <a:solidFill>
                  <a:srgbClr val="222222"/>
                </a:solidFill>
                <a:latin typeface="맑은 고딕"/>
              </a:rPr>
              <a:t>•  접속의 성격을 이름으로 구분한다 — GV$SESSION.SERVICE_NAME</a:t>
            </a:r>
          </a:p>
          <a:p>
            <a:pPr algn="l">
              <a:spcAft>
                <a:spcPts val="1000"/>
              </a:spcAft>
            </a:pPr>
            <a:r>
              <a:rPr sz="1700" b="0">
                <a:solidFill>
                  <a:srgbClr val="222222"/>
                </a:solidFill>
                <a:latin typeface="맑은 고딕"/>
              </a:rPr>
              <a:t>•  장애 시 접속을 옮긴다 — 선호가 죽으면 가용으로</a:t>
            </a:r>
          </a:p>
          <a:p>
            <a:pPr algn="l">
              <a:spcAft>
                <a:spcPts val="1000"/>
              </a:spcAft>
            </a:pPr>
            <a:r>
              <a:rPr sz="1700" b="0">
                <a:solidFill>
                  <a:srgbClr val="222222"/>
                </a:solidFill>
                <a:latin typeface="맑은 고딕"/>
              </a:rPr>
              <a:t>•  유지보수 전에 접속을 미리 비운다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선호와 가용</a:t>
            </a:r>
          </a:p>
          <a:p>
            <a:pPr algn="l">
              <a:spcAft>
                <a:spcPts val="800"/>
              </a:spcAft>
            </a:pPr>
            <a:r>
              <a:rPr sz="1600" b="0">
                <a:solidFill>
                  <a:srgbClr val="FFFFFF"/>
                </a:solidFill>
                <a:latin typeface="맑은 고딕"/>
              </a:rPr>
              <a:t>•  자원이 된다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선호와 가용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정하는 것은 둘뿐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preferred — 평소에 어느 인스턴스에서 돌 것인가</a:t>
            </a:r>
          </a:p>
          <a:p>
            <a:pPr algn="l">
              <a:spcAft>
                <a:spcPts val="1000"/>
              </a:spcAft>
            </a:pPr>
            <a:r>
              <a:rPr sz="1700" b="0">
                <a:solidFill>
                  <a:srgbClr val="222222"/>
                </a:solidFill>
                <a:latin typeface="맑은 고딕"/>
              </a:rPr>
              <a:t>•  available — 그것이 죽으면 어디로 갈 것인가</a:t>
            </a:r>
          </a:p>
          <a:p>
            <a:pPr algn="l">
              <a:spcAft>
                <a:spcPts val="1000"/>
              </a:spcAft>
            </a:pPr>
            <a:r>
              <a:rPr sz="1700" b="0">
                <a:solidFill>
                  <a:srgbClr val="222222"/>
                </a:solidFill>
                <a:latin typeface="맑은 고딕"/>
              </a:rPr>
              <a:t>•  ch15_oltp — 선호 racdb1, 가용 racdb2</a:t>
            </a:r>
          </a:p>
          <a:p>
            <a:pPr algn="l">
              <a:spcAft>
                <a:spcPts val="1000"/>
              </a:spcAft>
            </a:pPr>
            <a:r>
              <a:rPr sz="1700" b="0">
                <a:solidFill>
                  <a:srgbClr val="222222"/>
                </a:solidFill>
                <a:latin typeface="맑은 고딕"/>
              </a:rPr>
              <a:t>•  ch15_batch — 선호 racdb2, 가용 racdb1</a:t>
            </a:r>
          </a:p>
          <a:p>
            <a:pPr algn="l">
              <a:spcAft>
                <a:spcPts val="1000"/>
              </a:spcAft>
            </a:pPr>
            <a:r>
              <a:rPr sz="1700" b="0">
                <a:solidFill>
                  <a:srgbClr val="222222"/>
                </a:solidFill>
                <a:latin typeface="맑은 고딕"/>
              </a:rPr>
              <a:t>•  엇갈리게 배치하는 것이 부하 분산의 기본형</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서비스는 CRS 자원이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14장의 모델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이름은 ora.&lt;DB이름&gt;.&lt;서비스이름&gt;.svc</a:t>
            </a:r>
          </a:p>
          <a:p>
            <a:pPr algn="l">
              <a:spcAft>
                <a:spcPts val="1000"/>
              </a:spcAft>
            </a:pPr>
            <a:r>
              <a:rPr sz="1700" b="0">
                <a:solidFill>
                  <a:srgbClr val="222222"/>
                </a:solidFill>
                <a:latin typeface="맑은 고딕"/>
              </a:rPr>
              <a:t>•  만들기만 하면 TARGET·STATE 모두 OFFLINE</a:t>
            </a:r>
          </a:p>
          <a:p>
            <a:pPr algn="l">
              <a:spcAft>
                <a:spcPts val="1000"/>
              </a:spcAft>
            </a:pPr>
            <a:r>
              <a:rPr sz="1700" b="0">
                <a:solidFill>
                  <a:srgbClr val="222222"/>
                </a:solidFill>
                <a:latin typeface="맑은 고딕"/>
              </a:rPr>
              <a:t>•  add 6.3초, 성공하면 아무것도 출력하지 않는다</a:t>
            </a:r>
          </a:p>
          <a:p>
            <a:pPr algn="l">
              <a:spcAft>
                <a:spcPts val="1000"/>
              </a:spcAft>
            </a:pPr>
            <a:r>
              <a:rPr sz="1700" b="0">
                <a:solidFill>
                  <a:srgbClr val="222222"/>
                </a:solidFill>
                <a:latin typeface="맑은 고딕"/>
              </a:rPr>
              <a:t>•  자원 개수 17 → 19 로 늘었다</a:t>
            </a:r>
          </a:p>
          <a:p>
            <a:pPr algn="l">
              <a:spcAft>
                <a:spcPts val="1000"/>
              </a:spcAft>
            </a:pPr>
            <a:r>
              <a:rPr sz="1700" b="0">
                <a:solidFill>
                  <a:srgbClr val="222222"/>
                </a:solidFill>
                <a:latin typeface="맑은 고딕"/>
              </a:rPr>
              <a:t>•  14장에서 개수를 기록해 두라고 한 이유가 여기서 드러난다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만들기 전에 막아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인스턴스를 선호로 → PRKO-2101</a:t>
            </a:r>
          </a:p>
          <a:p>
            <a:pPr algn="l">
              <a:spcAft>
                <a:spcPts val="1000"/>
              </a:spcAft>
            </a:pPr>
            <a:r>
              <a:rPr sz="1700" b="0">
                <a:solidFill>
                  <a:srgbClr val="222222"/>
                </a:solidFill>
                <a:latin typeface="맑은 고딕"/>
              </a:rPr>
              <a:t>•  "Failed to find database instances racdb9"</a:t>
            </a:r>
          </a:p>
          <a:p>
            <a:pPr algn="l">
              <a:spcAft>
                <a:spcPts val="1000"/>
              </a:spcAft>
            </a:pPr>
            <a:r>
              <a:rPr sz="1700" b="0">
                <a:solidFill>
                  <a:srgbClr val="222222"/>
                </a:solidFill>
                <a:latin typeface="맑은 고딕"/>
              </a:rPr>
              <a:t>•  없는 DB → PRCD-1120 + PRCR-1001 (두 줄)</a:t>
            </a:r>
          </a:p>
          <a:p>
            <a:pPr algn="l">
              <a:spcAft>
                <a:spcPts val="1000"/>
              </a:spcAft>
            </a:pPr>
            <a:r>
              <a:rPr sz="1700" b="0">
                <a:solidFill>
                  <a:srgbClr val="222222"/>
                </a:solidFill>
                <a:latin typeface="맑은 고딕"/>
              </a:rPr>
              <a:t>•  PRKO 는 명령행 해석, PRC 계열은 대상이나 상태</a:t>
            </a:r>
          </a:p>
          <a:p>
            <a:pPr algn="l">
              <a:spcAft>
                <a:spcPts val="1000"/>
              </a:spcAft>
            </a:pPr>
            <a:r>
              <a:rPr sz="1700" b="0">
                <a:solidFill>
                  <a:srgbClr val="222222"/>
                </a:solidFill>
                <a:latin typeface="맑은 고딕"/>
              </a:rPr>
              <a:t>•  만들기 전에 잡아 주는 것이 다행이다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config 가 보여 주는 기본값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지정한 것은 셋뿐인데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Cardinality 1 — 한 번에 한 인스턴스에서만</a:t>
            </a:r>
          </a:p>
          <a:p>
            <a:pPr algn="l">
              <a:spcAft>
                <a:spcPts val="1000"/>
              </a:spcAft>
            </a:pPr>
            <a:r>
              <a:rPr sz="1700" b="0">
                <a:solidFill>
                  <a:srgbClr val="222222"/>
                </a:solidFill>
                <a:latin typeface="맑은 고딕"/>
              </a:rPr>
              <a:t>•  Service role PRIMARY — Data Guard 관련</a:t>
            </a:r>
          </a:p>
          <a:p>
            <a:pPr algn="l">
              <a:spcAft>
                <a:spcPts val="1000"/>
              </a:spcAft>
            </a:pPr>
            <a:r>
              <a:rPr sz="1700" b="0">
                <a:solidFill>
                  <a:srgbClr val="222222"/>
                </a:solidFill>
                <a:latin typeface="맑은 고딕"/>
              </a:rPr>
              <a:t>•  Management policy AUTOMATIC — DB 뜰 때 함께 뜬다</a:t>
            </a:r>
          </a:p>
          <a:p>
            <a:pPr algn="l">
              <a:spcAft>
                <a:spcPts val="1000"/>
              </a:spcAft>
            </a:pPr>
            <a:r>
              <a:rPr sz="1700" b="0">
                <a:solidFill>
                  <a:srgbClr val="222222"/>
                </a:solidFill>
                <a:latin typeface="맑은 고딕"/>
              </a:rPr>
              <a:t>•  Connection Load Balancing Goal LONG — 세션 수 기준</a:t>
            </a:r>
          </a:p>
          <a:p>
            <a:pPr algn="l">
              <a:spcAft>
                <a:spcPts val="1000"/>
              </a:spcAft>
            </a:pPr>
            <a:r>
              <a:rPr sz="1700" b="0">
                <a:solidFill>
                  <a:srgbClr val="222222"/>
                </a:solidFill>
                <a:latin typeface="맑은 고딕"/>
              </a:rPr>
              <a:t>•  Pluggable database name 이 비어 있다 — CDB$ROOT 에 붙는 서비스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기동과 배치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각도로 확인</a:t>
            </a:r>
          </a:p>
          <a:p>
            <a:pPr algn="l">
              <a:spcAft>
                <a:spcPts val="800"/>
              </a:spcAft>
            </a:pPr>
            <a:r>
              <a:rPr sz="1600" b="0">
                <a:solidFill>
                  <a:srgbClr val="FFFFFF"/>
                </a:solidFill>
                <a:latin typeface="맑은 고딕"/>
              </a:rPr>
              <a:t>•  실제 접속</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기동과 배치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의도한 대로 앉았는가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 는 둘 합쳐 6.0초</a:t>
            </a:r>
          </a:p>
          <a:p>
            <a:pPr algn="l">
              <a:spcAft>
                <a:spcPts val="1000"/>
              </a:spcAft>
            </a:pPr>
            <a:r>
              <a:rPr sz="1700" b="0">
                <a:solidFill>
                  <a:srgbClr val="222222"/>
                </a:solidFill>
                <a:latin typeface="맑은 고딕"/>
              </a:rPr>
              <a:t>•  srvctl status service → ch15_oltp/racdb1, ch15_batch/racdb2</a:t>
            </a:r>
          </a:p>
          <a:p>
            <a:pPr algn="l">
              <a:spcAft>
                <a:spcPts val="1000"/>
              </a:spcAft>
            </a:pPr>
            <a:r>
              <a:rPr sz="1700" b="0">
                <a:solidFill>
                  <a:srgbClr val="222222"/>
                </a:solidFill>
                <a:latin typeface="맑은 고딕"/>
              </a:rPr>
              <a:t>•  srvctl status database -v 에 "with online services" 가 붙는다</a:t>
            </a:r>
          </a:p>
          <a:p>
            <a:pPr algn="l">
              <a:spcAft>
                <a:spcPts val="1000"/>
              </a:spcAft>
            </a:pPr>
            <a:r>
              <a:rPr sz="1700" b="0">
                <a:solidFill>
                  <a:srgbClr val="222222"/>
                </a:solidFill>
                <a:latin typeface="맑은 고딕"/>
              </a:rPr>
              <a:t>•  GV$ACTIVE_SERVICES 로도 같은 배치</a:t>
            </a:r>
          </a:p>
          <a:p>
            <a:pPr algn="l">
              <a:spcAft>
                <a:spcPts val="1000"/>
              </a:spcAft>
            </a:pPr>
            <a:r>
              <a:rPr sz="1700" b="0">
                <a:solidFill>
                  <a:srgbClr val="222222"/>
                </a:solidFill>
                <a:latin typeface="맑은 고딕"/>
              </a:rPr>
              <a:t>•  srvctl 은 CRS 가 아는 것, GV$ 는 인스턴스가 아는 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리스너 쪽이 결정적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has 1 instance(s)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로컬 리스너 — ch15_oltp 만, ch15_batch 는 없다</a:t>
            </a:r>
          </a:p>
          <a:p>
            <a:pPr algn="l">
              <a:spcAft>
                <a:spcPts val="1000"/>
              </a:spcAft>
            </a:pPr>
            <a:r>
              <a:rPr sz="1700" b="0">
                <a:solidFill>
                  <a:srgbClr val="222222"/>
                </a:solidFill>
                <a:latin typeface="맑은 고딕"/>
              </a:rPr>
              <a:t>•  SCAN 리스너 — 둘 다 있지만 각각 has 1 instance(s)</a:t>
            </a:r>
          </a:p>
          <a:p>
            <a:pPr algn="l">
              <a:spcAft>
                <a:spcPts val="1000"/>
              </a:spcAft>
            </a:pPr>
            <a:r>
              <a:rPr sz="1700" b="0">
                <a:solidFill>
                  <a:srgbClr val="222222"/>
                </a:solidFill>
                <a:latin typeface="맑은 고딕"/>
              </a:rPr>
              <a:t>•  기본 서비스 racdb 는 has 2 instance(s)</a:t>
            </a:r>
          </a:p>
          <a:p>
            <a:pPr algn="l">
              <a:spcAft>
                <a:spcPts val="1000"/>
              </a:spcAft>
            </a:pPr>
            <a:r>
              <a:rPr sz="1700" b="0">
                <a:solidFill>
                  <a:srgbClr val="222222"/>
                </a:solidFill>
                <a:latin typeface="맑은 고딕"/>
              </a:rPr>
              <a:t>•  그러므로 SCAN 은 ch15_oltp 를 racdb1 로만 넘길 수 있다</a:t>
            </a:r>
          </a:p>
          <a:p>
            <a:pPr algn="l">
              <a:spcAft>
                <a:spcPts val="1000"/>
              </a:spcAft>
            </a:pPr>
            <a:r>
              <a:rPr sz="1700" b="0">
                <a:solidFill>
                  <a:srgbClr val="222222"/>
                </a:solidFill>
                <a:latin typeface="맑은 고딕"/>
              </a:rPr>
              <a:t>•  선택의 여지가 없다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실제로 접속해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10회 중 10회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SCAN 을 통해 ch15_oltp 로 10회 → 10회 모두 racdb1</a:t>
            </a:r>
          </a:p>
          <a:p>
            <a:pPr algn="l">
              <a:spcAft>
                <a:spcPts val="1000"/>
              </a:spcAft>
            </a:pPr>
            <a:r>
              <a:rPr sz="1700" b="0">
                <a:solidFill>
                  <a:srgbClr val="222222"/>
                </a:solidFill>
                <a:latin typeface="맑은 고딕"/>
              </a:rPr>
              <a:t>•  ch15_batch 로 10회 → 10회 모두 racdb2</a:t>
            </a:r>
          </a:p>
          <a:p>
            <a:pPr algn="l">
              <a:spcAft>
                <a:spcPts val="1000"/>
              </a:spcAft>
            </a:pPr>
            <a:r>
              <a:rPr sz="1700" b="0">
                <a:solidFill>
                  <a:srgbClr val="222222"/>
                </a:solidFill>
                <a:latin typeface="맑은 고딕"/>
              </a:rPr>
              <a:t>•  예외 없음</a:t>
            </a:r>
          </a:p>
          <a:p>
            <a:pPr algn="l">
              <a:spcAft>
                <a:spcPts val="1000"/>
              </a:spcAft>
            </a:pPr>
            <a:r>
              <a:rPr sz="1700" b="0">
                <a:solidFill>
                  <a:srgbClr val="222222"/>
                </a:solidFill>
                <a:latin typeface="맑은 고딕"/>
              </a:rPr>
              <a:t>•  접속 문자열의 서비스 이름만 바꾸면 다른 노드로 간다</a:t>
            </a:r>
          </a:p>
          <a:p>
            <a:pPr algn="l">
              <a:spcAft>
                <a:spcPts val="1000"/>
              </a:spcAft>
            </a:pPr>
            <a:r>
              <a:rPr sz="1700" b="0">
                <a:solidFill>
                  <a:srgbClr val="222222"/>
                </a:solidFill>
                <a:latin typeface="맑은 고딕"/>
              </a:rPr>
              <a:t>•  확인은 반드시 SCAN 을 통해서 (로컬 리스너 주소는 안 된다)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 이동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새 접속과 기존 세션</a:t>
            </a:r>
          </a:p>
          <a:p>
            <a:pPr algn="l">
              <a:spcAft>
                <a:spcPts val="800"/>
              </a:spcAft>
            </a:pPr>
            <a:r>
              <a:rPr sz="1600" b="0">
                <a:solidFill>
                  <a:srgbClr val="FFFFFF"/>
                </a:solidFill>
                <a:latin typeface="맑은 고딕"/>
              </a:rPr>
              <a:t>•  현실과 정의</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relocate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2초면 끝난다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relocate service -oldinst racdb1 -newinst racdb2</a:t>
            </a:r>
          </a:p>
          <a:p>
            <a:pPr algn="l">
              <a:spcAft>
                <a:spcPts val="1000"/>
              </a:spcAft>
            </a:pPr>
            <a:r>
              <a:rPr sz="1700" b="0">
                <a:solidFill>
                  <a:srgbClr val="222222"/>
                </a:solidFill>
                <a:latin typeface="맑은 고딕"/>
              </a:rPr>
              <a:t>•  세 번 측정에 2.1 / 2.0 / 1.7초</a:t>
            </a:r>
          </a:p>
          <a:p>
            <a:pPr algn="l">
              <a:spcAft>
                <a:spcPts val="1000"/>
              </a:spcAft>
            </a:pPr>
            <a:r>
              <a:rPr sz="1700" b="0">
                <a:solidFill>
                  <a:srgbClr val="222222"/>
                </a:solidFill>
                <a:latin typeface="맑은 고딕"/>
              </a:rPr>
              <a:t>•  -oldinst 를 함께 지정하는 것은 안전장치다</a:t>
            </a:r>
          </a:p>
          <a:p>
            <a:pPr algn="l">
              <a:spcAft>
                <a:spcPts val="1000"/>
              </a:spcAft>
            </a:pPr>
            <a:r>
              <a:rPr sz="1700" b="0">
                <a:solidFill>
                  <a:srgbClr val="222222"/>
                </a:solidFill>
                <a:latin typeface="맑은 고딕"/>
              </a:rPr>
              <a:t>•  이동 후 접속 10회 모두 racdb2</a:t>
            </a:r>
          </a:p>
          <a:p>
            <a:pPr algn="l">
              <a:spcAft>
                <a:spcPts val="1000"/>
              </a:spcAft>
            </a:pPr>
            <a:r>
              <a:rPr sz="1700" b="0">
                <a:solidFill>
                  <a:srgbClr val="222222"/>
                </a:solidFill>
                <a:latin typeface="맑은 고딕"/>
              </a:rPr>
              <a:t>•  클라이언트는 아무것도 바꾸지 않았다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중인 세션은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끊어지지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45초 대기 세션을 띄우고 12초 뒤에 relocate</a:t>
            </a:r>
          </a:p>
          <a:p>
            <a:pPr algn="l">
              <a:spcAft>
                <a:spcPts val="1000"/>
              </a:spcAft>
            </a:pPr>
            <a:r>
              <a:rPr sz="1700" b="0">
                <a:solidFill>
                  <a:srgbClr val="222222"/>
                </a:solidFill>
                <a:latin typeface="맑은 고딕"/>
              </a:rPr>
              <a:t>•  BEFORE racdb1 sid=20 / AFTER racdb1 sid=20</a:t>
            </a:r>
          </a:p>
          <a:p>
            <a:pPr algn="l">
              <a:spcAft>
                <a:spcPts val="1000"/>
              </a:spcAft>
            </a:pPr>
            <a:r>
              <a:rPr sz="1700" b="0">
                <a:solidFill>
                  <a:srgbClr val="222222"/>
                </a:solidFill>
                <a:latin typeface="맑은 고딕"/>
              </a:rPr>
              <a:t>•  같은 인스턴스, 같은 세션 ID</a:t>
            </a:r>
          </a:p>
          <a:p>
            <a:pPr algn="l">
              <a:spcAft>
                <a:spcPts val="1000"/>
              </a:spcAft>
            </a:pPr>
            <a:r>
              <a:rPr sz="1700" b="0">
                <a:solidFill>
                  <a:srgbClr val="222222"/>
                </a:solidFill>
                <a:latin typeface="맑은 고딕"/>
              </a:rPr>
              <a:t>•  relocate 는 새 접속의 방향만 바꾼다</a:t>
            </a:r>
          </a:p>
          <a:p>
            <a:pPr algn="l">
              <a:spcAft>
                <a:spcPts val="1000"/>
              </a:spcAft>
            </a:pPr>
            <a:r>
              <a:rPr sz="1700" b="0">
                <a:solidFill>
                  <a:srgbClr val="222222"/>
                </a:solidFill>
                <a:latin typeface="맑은 고딕"/>
              </a:rPr>
              <a:t>•  기존 세션까지 정리하려면 -drain_timeout 과 -stopoption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현실은 바뀌고 정의는 그대로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 와 config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서비스는 racdb2 에서 도는데 Preferred 는 여전히 racdb1</a:t>
            </a:r>
          </a:p>
          <a:p>
            <a:pPr algn="l">
              <a:spcAft>
                <a:spcPts val="1000"/>
              </a:spcAft>
            </a:pPr>
            <a:r>
              <a:rPr sz="1700" b="0">
                <a:solidFill>
                  <a:srgbClr val="222222"/>
                </a:solidFill>
                <a:latin typeface="맑은 고딕"/>
              </a:rPr>
              <a:t>•  14장의 status/config 구분이 그대로 적용된다</a:t>
            </a:r>
          </a:p>
          <a:p>
            <a:pPr algn="l">
              <a:spcAft>
                <a:spcPts val="1000"/>
              </a:spcAft>
            </a:pPr>
            <a:r>
              <a:rPr sz="1700" b="0">
                <a:solidFill>
                  <a:srgbClr val="222222"/>
                </a:solidFill>
                <a:latin typeface="맑은 고딕"/>
              </a:rPr>
              <a:t>•  결과 — DB 를 재기동하면 선호 인스턴스로 원위치된다</a:t>
            </a:r>
          </a:p>
          <a:p>
            <a:pPr algn="l">
              <a:spcAft>
                <a:spcPts val="1000"/>
              </a:spcAft>
            </a:pPr>
            <a:r>
              <a:rPr sz="1700" b="0">
                <a:solidFill>
                  <a:srgbClr val="222222"/>
                </a:solidFill>
                <a:latin typeface="맑은 고딕"/>
              </a:rPr>
              <a:t>•  임시로 옮겨 둔 것이 재기동으로 되돌아가는 셈</a:t>
            </a:r>
          </a:p>
          <a:p>
            <a:pPr algn="l">
              <a:spcAft>
                <a:spcPts val="1000"/>
              </a:spcAft>
            </a:pPr>
            <a:r>
              <a:rPr sz="1700" b="0">
                <a:solidFill>
                  <a:srgbClr val="222222"/>
                </a:solidFill>
                <a:latin typeface="맑은 고딕"/>
              </a:rPr>
              <a:t>•  영구히 바꾸려면 srvctl modify service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시 자동 이동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계획 정지 vs 실제 장애</a:t>
            </a:r>
          </a:p>
          <a:p>
            <a:pPr algn="l">
              <a:spcAft>
                <a:spcPts val="800"/>
              </a:spcAft>
            </a:pPr>
            <a:r>
              <a:rPr sz="1600" b="0">
                <a:solidFill>
                  <a:srgbClr val="FFFFFF"/>
                </a:solidFill>
                <a:latin typeface="맑은 고딕"/>
              </a:rPr>
              <a:t>•  복귀는 사람의 일</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서비스가 있으면 그냥 못 내린다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CRS-2974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instance (force 없이) → 네 줄의 오류</a:t>
            </a:r>
          </a:p>
          <a:p>
            <a:pPr algn="l">
              <a:spcAft>
                <a:spcPts val="1000"/>
              </a:spcAft>
            </a:pPr>
            <a:r>
              <a:rPr sz="1700" b="0">
                <a:solidFill>
                  <a:srgbClr val="222222"/>
                </a:solidFill>
                <a:latin typeface="맑은 고딕"/>
              </a:rPr>
              <a:t>•  PRCD-1131 / PRCR-1133 / PRCR-1132 / CRS-2974</a:t>
            </a:r>
          </a:p>
          <a:p>
            <a:pPr algn="l">
              <a:spcAft>
                <a:spcPts val="1000"/>
              </a:spcAft>
            </a:pPr>
            <a:r>
              <a:rPr sz="1700" b="0">
                <a:solidFill>
                  <a:srgbClr val="222222"/>
                </a:solidFill>
                <a:latin typeface="맑은 고딕"/>
              </a:rPr>
              <a:t>•  마지막 줄이 진짜 이유 — 서비스를 정지하거나 옮겨야 하는데 force 가 없다</a:t>
            </a:r>
          </a:p>
          <a:p>
            <a:pPr algn="l">
              <a:spcAft>
                <a:spcPts val="1000"/>
              </a:spcAft>
            </a:pPr>
            <a:r>
              <a:rPr sz="1700" b="0">
                <a:solidFill>
                  <a:srgbClr val="222222"/>
                </a:solidFill>
                <a:latin typeface="맑은 고딕"/>
              </a:rPr>
              <a:t>•  무심코 내리는 일을 막아 주는 좋은 설계</a:t>
            </a:r>
          </a:p>
          <a:p>
            <a:pPr algn="l">
              <a:spcAft>
                <a:spcPts val="1000"/>
              </a:spcAft>
            </a:pPr>
            <a:r>
              <a:rPr sz="1700" b="0">
                <a:solidFill>
                  <a:srgbClr val="222222"/>
                </a:solidFill>
                <a:latin typeface="맑은 고딕"/>
              </a:rPr>
              <a:t>•  서비스가 없었다면 그냥 통과했을 것이다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-force 는 옮기라는 뜻이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흔한 오해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-force 로 정지 → 서비스가 racdb2 로 가지 않고 그냥 멈췄다</a:t>
            </a:r>
          </a:p>
          <a:p>
            <a:pPr algn="l">
              <a:spcAft>
                <a:spcPts val="1000"/>
              </a:spcAft>
            </a:pPr>
            <a:r>
              <a:rPr sz="1700" b="0">
                <a:solidFill>
                  <a:srgbClr val="222222"/>
                </a:solidFill>
                <a:latin typeface="맑은 고딕"/>
              </a:rPr>
              <a:t>•  가용 인스턴스를 지정해 두었는데도 그렇다</a:t>
            </a:r>
          </a:p>
          <a:p>
            <a:pPr algn="l">
              <a:spcAft>
                <a:spcPts val="1000"/>
              </a:spcAft>
            </a:pPr>
            <a:r>
              <a:rPr sz="1700" b="0">
                <a:solidFill>
                  <a:srgbClr val="222222"/>
                </a:solidFill>
                <a:latin typeface="맑은 고딕"/>
              </a:rPr>
              <a:t>•  60초 동안 네 번 관찰, 계속 "is not running"</a:t>
            </a:r>
          </a:p>
          <a:p>
            <a:pPr algn="l">
              <a:spcAft>
                <a:spcPts val="1000"/>
              </a:spcAft>
            </a:pPr>
            <a:r>
              <a:rPr sz="1700" b="0">
                <a:solidFill>
                  <a:srgbClr val="222222"/>
                </a:solidFill>
                <a:latin typeface="맑은 고딕"/>
              </a:rPr>
              <a:t>•  그동안 접속하면 ORA-12514</a:t>
            </a:r>
          </a:p>
          <a:p>
            <a:pPr algn="l">
              <a:spcAft>
                <a:spcPts val="1000"/>
              </a:spcAft>
            </a:pPr>
            <a:r>
              <a:rPr sz="1700" b="0">
                <a:solidFill>
                  <a:srgbClr val="222222"/>
                </a:solidFill>
                <a:latin typeface="맑은 고딕"/>
              </a:rPr>
              <a:t>•  -force = "옮겨라" 가 아니라 "돌고 있어도 강행하라"</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실제 장애는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kill -9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12:58:06 ora_pmon_racdb1 을 kill -9</a:t>
            </a:r>
          </a:p>
          <a:p>
            <a:pPr algn="l">
              <a:spcAft>
                <a:spcPts val="1000"/>
              </a:spcAft>
            </a:pPr>
            <a:r>
              <a:rPr sz="1700" b="0">
                <a:solidFill>
                  <a:srgbClr val="222222"/>
                </a:solidFill>
                <a:latin typeface="맑은 고딕"/>
              </a:rPr>
              <a:t>•  +10초 (12:58:16) — ch15_oltp 가 이미 racdb2 에서 돈다</a:t>
            </a:r>
          </a:p>
          <a:p>
            <a:pPr algn="l">
              <a:spcAft>
                <a:spcPts val="1000"/>
              </a:spcAft>
            </a:pPr>
            <a:r>
              <a:rPr sz="1700" b="0">
                <a:solidFill>
                  <a:srgbClr val="222222"/>
                </a:solidFill>
                <a:latin typeface="맑은 고딕"/>
              </a:rPr>
              <a:t>•  가용 인스턴스를 지정해 둔 효과</a:t>
            </a:r>
          </a:p>
          <a:p>
            <a:pPr algn="l">
              <a:spcAft>
                <a:spcPts val="1000"/>
              </a:spcAft>
            </a:pPr>
            <a:r>
              <a:rPr sz="1700" b="0">
                <a:solidFill>
                  <a:srgbClr val="222222"/>
                </a:solidFill>
                <a:latin typeface="맑은 고딕"/>
              </a:rPr>
              <a:t>•  +47초 — racdb1 이 CRS 에 의해 되살아났다</a:t>
            </a:r>
          </a:p>
          <a:p>
            <a:pPr algn="l">
              <a:spcAft>
                <a:spcPts val="1000"/>
              </a:spcAft>
            </a:pPr>
            <a:r>
              <a:rPr sz="1700" b="0">
                <a:solidFill>
                  <a:srgbClr val="222222"/>
                </a:solidFill>
                <a:latin typeface="맑은 고딕"/>
              </a:rPr>
              <a:t>•  계획 정지와 정확히 대비된다. 차이는 종료 방식 하나</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그런데 돌아오지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158초까지 관찰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racdb1 은 47초에 살아났는데 서비스는 racdb2 에 그대로</a:t>
            </a:r>
          </a:p>
          <a:p>
            <a:pPr algn="l">
              <a:spcAft>
                <a:spcPts val="1000"/>
              </a:spcAft>
            </a:pPr>
            <a:r>
              <a:rPr sz="1700" b="0">
                <a:solidFill>
                  <a:srgbClr val="222222"/>
                </a:solidFill>
                <a:latin typeface="맑은 고딕"/>
              </a:rPr>
              <a:t>•  +75초, +111초, +158초 세 번 더 확인. 변화 없음</a:t>
            </a:r>
          </a:p>
          <a:p>
            <a:pPr algn="l">
              <a:spcAft>
                <a:spcPts val="1000"/>
              </a:spcAft>
            </a:pPr>
            <a:r>
              <a:rPr sz="1700" b="0">
                <a:solidFill>
                  <a:srgbClr val="222222"/>
                </a:solidFill>
                <a:latin typeface="맑은 고딕"/>
              </a:rPr>
              <a:t>•  이유 — 옮기는 데 비용이 든다. 지금 잘 돌고 있다</a:t>
            </a:r>
          </a:p>
          <a:p>
            <a:pPr algn="l">
              <a:spcAft>
                <a:spcPts val="1000"/>
              </a:spcAft>
            </a:pPr>
            <a:r>
              <a:rPr sz="1700" b="0">
                <a:solidFill>
                  <a:srgbClr val="222222"/>
                </a:solidFill>
                <a:latin typeface="맑은 고딕"/>
              </a:rPr>
              <a:t>•  복귀는 관리자의 일 (relocate 1.7초)</a:t>
            </a:r>
          </a:p>
          <a:p>
            <a:pPr algn="l">
              <a:spcAft>
                <a:spcPts val="1000"/>
              </a:spcAft>
            </a:pPr>
            <a:r>
              <a:rPr sz="1700" b="0">
                <a:solidFill>
                  <a:srgbClr val="222222"/>
                </a:solidFill>
                <a:latin typeface="맑은 고딕"/>
              </a:rPr>
              <a:t>•  장애 절차서의 마지막 항목에 이것을 넣어라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 정지의 올바른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서비스를 먼저 옮긴다 (relocate, 2초)</a:t>
            </a:r>
          </a:p>
          <a:p>
            <a:pPr algn="l">
              <a:spcAft>
                <a:spcPts val="1000"/>
              </a:spcAft>
            </a:pPr>
            <a:r>
              <a:rPr sz="1700" b="0">
                <a:solidFill>
                  <a:srgbClr val="222222"/>
                </a:solidFill>
                <a:latin typeface="맑은 고딕"/>
              </a:rPr>
              <a:t>•  2. 기존 세션이 빠질 시간을 준다</a:t>
            </a:r>
          </a:p>
          <a:p>
            <a:pPr algn="l">
              <a:spcAft>
                <a:spcPts val="1000"/>
              </a:spcAft>
            </a:pPr>
            <a:r>
              <a:rPr sz="1700" b="0">
                <a:solidFill>
                  <a:srgbClr val="222222"/>
                </a:solidFill>
                <a:latin typeface="맑은 고딕"/>
              </a:rPr>
              <a:t>•  3. 인스턴스를 내린다 — 이제 -force 없이 통과한다</a:t>
            </a:r>
          </a:p>
          <a:p>
            <a:pPr algn="l">
              <a:spcAft>
                <a:spcPts val="1000"/>
              </a:spcAft>
            </a:pPr>
            <a:r>
              <a:rPr sz="1700" b="0">
                <a:solidFill>
                  <a:srgbClr val="222222"/>
                </a:solidFill>
                <a:latin typeface="맑은 고딕"/>
              </a:rPr>
              <a:t>•  4. 작업 후 인스턴스를 올리고 서비스를 되돌린다</a:t>
            </a:r>
          </a:p>
          <a:p>
            <a:pPr algn="l">
              <a:spcAft>
                <a:spcPts val="1000"/>
              </a:spcAft>
            </a:pPr>
            <a:r>
              <a:rPr sz="1700" b="0">
                <a:solidFill>
                  <a:srgbClr val="222222"/>
                </a:solidFill>
                <a:latin typeface="맑은 고딕"/>
              </a:rPr>
              <a:t>•  4번을 빠뜨리면 부하 분산이 원래대로 돌아오지 않는다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서비스로 세션을 분류한다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GV$SESSION.SERVICE_NAME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어느 서비스로 들어온 세션인지 알 수 있다</a:t>
            </a:r>
          </a:p>
          <a:p>
            <a:pPr algn="l">
              <a:spcAft>
                <a:spcPts val="1000"/>
              </a:spcAft>
            </a:pPr>
            <a:r>
              <a:rPr sz="1700" b="0">
                <a:solidFill>
                  <a:srgbClr val="222222"/>
                </a:solidFill>
                <a:latin typeface="맑은 고딕"/>
              </a:rPr>
              <a:t>•  서비스 이름 짓는 방식이 곧 분류 체계가 된다</a:t>
            </a:r>
          </a:p>
          <a:p>
            <a:pPr algn="l">
              <a:spcAft>
                <a:spcPts val="1000"/>
              </a:spcAft>
            </a:pPr>
            <a:r>
              <a:rPr sz="1700" b="0">
                <a:solidFill>
                  <a:srgbClr val="222222"/>
                </a:solidFill>
                <a:latin typeface="맑은 고딕"/>
              </a:rPr>
              <a:t>•  SYS$USERS 가 많다면 — 서비스를 지정하지 않은 클라이언트</a:t>
            </a:r>
          </a:p>
          <a:p>
            <a:pPr algn="l">
              <a:spcAft>
                <a:spcPts val="1000"/>
              </a:spcAft>
            </a:pPr>
            <a:r>
              <a:rPr sz="1700" b="0">
                <a:solidFill>
                  <a:srgbClr val="222222"/>
                </a:solidFill>
                <a:latin typeface="맑은 고딕"/>
              </a:rPr>
              <a:t>•  그런 접속은 서비스를 옮겨도 따라오지 않는다</a:t>
            </a:r>
          </a:p>
          <a:p>
            <a:pPr algn="l">
              <a:spcAft>
                <a:spcPts val="1000"/>
              </a:spcAft>
            </a:pPr>
            <a:r>
              <a:rPr sz="1700" b="0">
                <a:solidFill>
                  <a:srgbClr val="222222"/>
                </a:solidFill>
                <a:latin typeface="맑은 고딕"/>
              </a:rPr>
              <a:t>•  13장의 부하 편중을 다룰 때 이 조회가 출발점</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SCAN 을 통한 부하 분산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 재고 다른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라운드로빈이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서비스 racdb 로 20회 접속 → 10 대 10</a:t>
            </a:r>
          </a:p>
          <a:p>
            <a:pPr algn="l">
              <a:spcAft>
                <a:spcPts val="1000"/>
              </a:spcAft>
            </a:pPr>
            <a:r>
              <a:rPr sz="1700" b="0">
                <a:solidFill>
                  <a:srgbClr val="222222"/>
                </a:solidFill>
                <a:latin typeface="맑은 고딕"/>
              </a:rPr>
              <a:t>•  다른 시점에 같은 측정 → 20회 모두 racdb1</a:t>
            </a:r>
          </a:p>
          <a:p>
            <a:pPr algn="l">
              <a:spcAft>
                <a:spcPts val="1000"/>
              </a:spcAft>
            </a:pPr>
            <a:r>
              <a:rPr sz="1700" b="0">
                <a:solidFill>
                  <a:srgbClr val="222222"/>
                </a:solidFill>
                <a:latin typeface="맑은 고딕"/>
              </a:rPr>
              <a:t>•  차이 — racdb1 을 막 재기동한 직후였다</a:t>
            </a:r>
          </a:p>
          <a:p>
            <a:pPr algn="l">
              <a:spcAft>
                <a:spcPts val="1000"/>
              </a:spcAft>
            </a:pPr>
            <a:r>
              <a:rPr sz="1700" b="0">
                <a:solidFill>
                  <a:srgbClr val="222222"/>
                </a:solidFill>
                <a:latin typeface="맑은 고딕"/>
              </a:rPr>
              <a:t>•  세션이 없는 쪽으로 전부 보냈다</a:t>
            </a:r>
          </a:p>
          <a:p>
            <a:pPr algn="l">
              <a:spcAft>
                <a:spcPts val="1000"/>
              </a:spcAft>
            </a:pPr>
            <a:r>
              <a:rPr sz="1700" b="0">
                <a:solidFill>
                  <a:srgbClr val="222222"/>
                </a:solidFill>
                <a:latin typeface="맑은 고딕"/>
              </a:rPr>
              <a:t>•  부하 기반이다. 번갈아 넘기는 것이 아니다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판단 기준은 CLB Goal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LONG 과 SHORT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LONG (기본) — 오래 유지되는 접속 가정, 세션 수 기준</a:t>
            </a:r>
          </a:p>
          <a:p>
            <a:pPr algn="l">
              <a:spcAft>
                <a:spcPts val="1000"/>
              </a:spcAft>
            </a:pPr>
            <a:r>
              <a:rPr sz="1700" b="0">
                <a:solidFill>
                  <a:srgbClr val="222222"/>
                </a:solidFill>
                <a:latin typeface="맑은 고딕"/>
              </a:rPr>
              <a:t>•  SHORT — 짧은 접속 가정, 응답 시간 기준</a:t>
            </a:r>
          </a:p>
          <a:p>
            <a:pPr algn="l">
              <a:spcAft>
                <a:spcPts val="1000"/>
              </a:spcAft>
            </a:pPr>
            <a:r>
              <a:rPr sz="1700" b="0">
                <a:solidFill>
                  <a:srgbClr val="222222"/>
                </a:solidFill>
                <a:latin typeface="맑은 고딕"/>
              </a:rPr>
              <a:t>•  커넥션 풀을 쓰면 LONG, 접속·해제를 반복하면 SHORT</a:t>
            </a:r>
          </a:p>
          <a:p>
            <a:pPr algn="l">
              <a:spcAft>
                <a:spcPts val="1000"/>
              </a:spcAft>
            </a:pPr>
            <a:r>
              <a:rPr sz="1700" b="0">
                <a:solidFill>
                  <a:srgbClr val="222222"/>
                </a:solidFill>
                <a:latin typeface="맑은 고딕"/>
              </a:rPr>
              <a:t>•  위 측정은 형태로는 SHORT 인데 설정은 LONG 이었다</a:t>
            </a:r>
          </a:p>
          <a:p>
            <a:pPr algn="l">
              <a:spcAft>
                <a:spcPts val="1000"/>
              </a:spcAft>
            </a:pPr>
            <a:r>
              <a:rPr sz="1700" b="0">
                <a:solidFill>
                  <a:srgbClr val="222222"/>
                </a:solidFill>
                <a:latin typeface="맑은 고딕"/>
              </a:rPr>
              <a:t>•  그래서 세션 수가 적은 쪽으로 몰렸다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분산은 두 층이다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어디서 정하는가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1층 — 서비스가 어느 인스턴스에서 도는가 (관리자가 정한다)</a:t>
            </a:r>
          </a:p>
          <a:p>
            <a:pPr algn="l">
              <a:spcAft>
                <a:spcPts val="1000"/>
              </a:spcAft>
            </a:pPr>
            <a:r>
              <a:rPr sz="1700" b="0">
                <a:solidFill>
                  <a:srgbClr val="222222"/>
                </a:solidFill>
                <a:latin typeface="맑은 고딕"/>
              </a:rPr>
              <a:t>•  2층 — 여러 인스턴스에서 도는 서비스를 SCAN 이 어디로 (리스너가 정한다)</a:t>
            </a:r>
          </a:p>
          <a:p>
            <a:pPr algn="l">
              <a:spcAft>
                <a:spcPts val="1000"/>
              </a:spcAft>
            </a:pPr>
            <a:r>
              <a:rPr sz="1700" b="0">
                <a:solidFill>
                  <a:srgbClr val="222222"/>
                </a:solidFill>
                <a:latin typeface="맑은 고딕"/>
              </a:rPr>
              <a:t>•  확실히 나누려면 1층 — 서비스를 둘로, 선호를 엇갈리게</a:t>
            </a:r>
          </a:p>
          <a:p>
            <a:pPr algn="l">
              <a:spcAft>
                <a:spcPts val="1000"/>
              </a:spcAft>
            </a:pPr>
            <a:r>
              <a:rPr sz="1700" b="0">
                <a:solidFill>
                  <a:srgbClr val="222222"/>
                </a:solidFill>
                <a:latin typeface="맑은 고딕"/>
              </a:rPr>
              <a:t>•  접속 수만 고르게 하려면 2층으로 충분</a:t>
            </a:r>
          </a:p>
          <a:p>
            <a:pPr algn="l">
              <a:spcAft>
                <a:spcPts val="1000"/>
              </a:spcAft>
            </a:pPr>
            <a:r>
              <a:rPr sz="1700" b="0">
                <a:solidFill>
                  <a:srgbClr val="222222"/>
                </a:solidFill>
                <a:latin typeface="맑은 고딕"/>
              </a:rPr>
              <a:t>•  섞을 수도 있다 — 선호를 둘 지정하면 Cardinality 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 순서와 ORA-12514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정지 후 삭제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service → srvctl remove service</a:t>
            </a:r>
          </a:p>
          <a:p>
            <a:pPr algn="l">
              <a:spcAft>
                <a:spcPts val="1000"/>
              </a:spcAft>
            </a:pPr>
            <a:r>
              <a:rPr sz="1700" b="0">
                <a:solidFill>
                  <a:srgbClr val="222222"/>
                </a:solidFill>
                <a:latin typeface="맑은 고딕"/>
              </a:rPr>
              <a:t>•  정지 상태의 서비스로 접속하면 ORA-12514</a:t>
            </a:r>
          </a:p>
          <a:p>
            <a:pPr algn="l">
              <a:spcAft>
                <a:spcPts val="1000"/>
              </a:spcAft>
            </a:pPr>
            <a:r>
              <a:rPr sz="1700" b="0">
                <a:solidFill>
                  <a:srgbClr val="222222"/>
                </a:solidFill>
                <a:latin typeface="맑은 고딕"/>
              </a:rPr>
              <a:t>•  뜻은 "그런 서비스가 없다" 가 아니라 "리스너가 지금 모른다"</a:t>
            </a:r>
          </a:p>
          <a:p>
            <a:pPr algn="l">
              <a:spcAft>
                <a:spcPts val="1000"/>
              </a:spcAft>
            </a:pPr>
            <a:r>
              <a:rPr sz="1700" b="0">
                <a:solidFill>
                  <a:srgbClr val="222222"/>
                </a:solidFill>
                <a:latin typeface="맑은 고딕"/>
              </a:rPr>
              <a:t>•  원인 후보 — 정지됨 / 인스턴스가 죽음 / 이름 오타 / 옮겨 감</a:t>
            </a:r>
          </a:p>
          <a:p>
            <a:pPr algn="l">
              <a:spcAft>
                <a:spcPts val="1000"/>
              </a:spcAft>
            </a:pPr>
            <a:r>
              <a:rPr sz="1700" b="0">
                <a:solidFill>
                  <a:srgbClr val="222222"/>
                </a:solidFill>
                <a:latin typeface="맑은 고딕"/>
              </a:rPr>
              <a:t>•  정리 후 GV$ACTIVE_SERVICES 10행, 자원 17개로 복귀</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 관점의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매일 확인할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서비스가 도는가 — srvctl status service</a:t>
            </a:r>
          </a:p>
          <a:p>
            <a:pPr algn="l">
              <a:spcAft>
                <a:spcPts val="1000"/>
              </a:spcAft>
            </a:pPr>
            <a:r>
              <a:rPr sz="1700" b="0">
                <a:solidFill>
                  <a:srgbClr val="222222"/>
                </a:solidFill>
                <a:latin typeface="맑은 고딕"/>
              </a:rPr>
              <a:t>•  선호 인스턴스에 있는가 — status 와 config 의 Preferred 비교</a:t>
            </a:r>
          </a:p>
          <a:p>
            <a:pPr algn="l">
              <a:spcAft>
                <a:spcPts val="1000"/>
              </a:spcAft>
            </a:pPr>
            <a:r>
              <a:rPr sz="1700" b="0">
                <a:solidFill>
                  <a:srgbClr val="222222"/>
                </a:solidFill>
                <a:latin typeface="맑은 고딕"/>
              </a:rPr>
              <a:t>•  인스턴스별 배치 — srvctl status database -v</a:t>
            </a:r>
          </a:p>
          <a:p>
            <a:pPr algn="l">
              <a:spcAft>
                <a:spcPts val="1000"/>
              </a:spcAft>
            </a:pPr>
            <a:r>
              <a:rPr sz="1700" b="0">
                <a:solidFill>
                  <a:srgbClr val="222222"/>
                </a:solidFill>
                <a:latin typeface="맑은 고딕"/>
              </a:rPr>
              <a:t>•  주간 — lsnrctl status LISTENER_SCAN1</a:t>
            </a:r>
          </a:p>
          <a:p>
            <a:pPr algn="l">
              <a:spcAft>
                <a:spcPts val="1000"/>
              </a:spcAft>
            </a:pPr>
            <a:r>
              <a:rPr sz="1700" b="0">
                <a:solidFill>
                  <a:srgbClr val="222222"/>
                </a:solidFill>
                <a:latin typeface="맑은 고딕"/>
              </a:rPr>
              <a:t>•  변경 후 — SCAN 접속 스크립트로 실제 경로 확인</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 설계의 다섯 원칙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처음부터 이렇게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애플리케이션마다 서비스를 둔다 (DB 이름으로 접속하지 않는다)</a:t>
            </a:r>
          </a:p>
          <a:p>
            <a:pPr algn="l">
              <a:spcAft>
                <a:spcPts val="1000"/>
              </a:spcAft>
            </a:pPr>
            <a:r>
              <a:rPr sz="1700" b="0">
                <a:solidFill>
                  <a:srgbClr val="222222"/>
                </a:solidFill>
                <a:latin typeface="맑은 고딕"/>
              </a:rPr>
              <a:t>•  이름에 성격을 담는다 (GV$SESSION 분류에 그대로 쓰인다)</a:t>
            </a:r>
          </a:p>
          <a:p>
            <a:pPr algn="l">
              <a:spcAft>
                <a:spcPts val="1000"/>
              </a:spcAft>
            </a:pPr>
            <a:r>
              <a:rPr sz="1700" b="0">
                <a:solidFill>
                  <a:srgbClr val="222222"/>
                </a:solidFill>
                <a:latin typeface="맑은 고딕"/>
              </a:rPr>
              <a:t>•  선호와 가용을 반드시 지정한다</a:t>
            </a:r>
          </a:p>
          <a:p>
            <a:pPr algn="l">
              <a:spcAft>
                <a:spcPts val="1000"/>
              </a:spcAft>
            </a:pPr>
            <a:r>
              <a:rPr sz="1700" b="0">
                <a:solidFill>
                  <a:srgbClr val="222222"/>
                </a:solidFill>
                <a:latin typeface="맑은 고딕"/>
              </a:rPr>
              <a:t>•  서로 다른 서비스의 선호를 엇갈리게 배치한다</a:t>
            </a:r>
          </a:p>
          <a:p>
            <a:pPr algn="l">
              <a:spcAft>
                <a:spcPts val="1000"/>
              </a:spcAft>
            </a:pPr>
            <a:r>
              <a:rPr sz="1700" b="0">
                <a:solidFill>
                  <a:srgbClr val="222222"/>
                </a:solidFill>
                <a:latin typeface="맑은 고딕"/>
              </a:rPr>
              <a:t>•  CDB 라면 -pdb 를 지정한다</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 위에 무엇을 얹는가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 장 — 서비스가 어디서 도는가</a:t>
            </a:r>
          </a:p>
          <a:p>
            <a:pPr algn="l">
              <a:spcAft>
                <a:spcPts val="1000"/>
              </a:spcAft>
            </a:pPr>
            <a:r>
              <a:rPr sz="1700" b="0">
                <a:solidFill>
                  <a:srgbClr val="222222"/>
                </a:solidFill>
                <a:latin typeface="맑은 고딕"/>
              </a:rPr>
              <a:t>•  16장 — 그 서비스에 부하 관리와 장애 조치를 얹는다</a:t>
            </a:r>
          </a:p>
          <a:p>
            <a:pPr algn="l">
              <a:spcAft>
                <a:spcPts val="1000"/>
              </a:spcAft>
            </a:pPr>
            <a:r>
              <a:rPr sz="1700" b="0">
                <a:solidFill>
                  <a:srgbClr val="222222"/>
                </a:solidFill>
                <a:latin typeface="맑은 고딕"/>
              </a:rPr>
              <a:t>•  config 에서 비워 둔 Failover 계열과 TAF policy</a:t>
            </a:r>
          </a:p>
          <a:p>
            <a:pPr algn="l">
              <a:spcAft>
                <a:spcPts val="1000"/>
              </a:spcAft>
            </a:pPr>
            <a:r>
              <a:rPr sz="1700" b="0">
                <a:solidFill>
                  <a:srgbClr val="222222"/>
                </a:solidFill>
                <a:latin typeface="맑은 고딕"/>
              </a:rPr>
              <a:t>•  FAN 이벤트, clbgoal·rlbgoal, Application Continuity</a:t>
            </a:r>
          </a:p>
          <a:p>
            <a:pPr algn="l">
              <a:spcAft>
                <a:spcPts val="1000"/>
              </a:spcAft>
            </a:pPr>
            <a:r>
              <a:rPr sz="1700" b="0">
                <a:solidFill>
                  <a:srgbClr val="222222"/>
                </a:solidFill>
                <a:latin typeface="맑은 고딕"/>
              </a:rPr>
              <a:t>•  클라이언트가 장애를 겪는 방식을 바꾼다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3658</Words>
  <Application>Microsoft Office PowerPoint</Application>
  <PresentationFormat>와이드스크린</PresentationFormat>
  <Paragraphs>274</Paragraphs>
  <Slides>39</Slides>
  <Notes>29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39</vt:i4>
      </vt:variant>
    </vt:vector>
  </HeadingPairs>
  <TitlesOfParts>
    <vt:vector size="43"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3</cp:revision>
  <dcterms:created xsi:type="dcterms:W3CDTF">2013-01-27T09:14:16Z</dcterms:created>
  <dcterms:modified xsi:type="dcterms:W3CDTF">2026-10-29T10:19:24Z</dcterms:modified>
  <cp:category/>
</cp:coreProperties>
</file>
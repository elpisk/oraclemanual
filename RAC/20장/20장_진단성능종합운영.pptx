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2AC2C6-E088-4299-9E64-1F2085CE9D6C}" type="datetimeFigureOut">
              <a:rPr lang="ko-KR" altLang="en-US" smtClean="0"/>
              <a:t>2026-10-29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047A84-D0EB-4590-A01F-7E4590FCA639}" type="slidenum">
              <a:rPr lang="ko-KR" altLang="en-US" smtClean="0"/>
              <a:t>‹#›</a:t>
            </a:fld>
            <a:endParaRPr lang="ko-KR" altLang="en-US"/>
          </a:p>
        </p:txBody>
      </p:sp>
    </p:spTree>
    <p:extLst>
      <p:ext uri="{BB962C8B-B14F-4D97-AF65-F5344CB8AC3E}">
        <p14:creationId xmlns:p14="http://schemas.microsoft.com/office/powerpoint/2010/main" val="298904505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장의 성격을 먼저 알려 주십시오. 새로운 기능을 배우는 장이 아니라 지금까지 만든 것을 운영하는 장입니다. 앞의 열아홉 장에서 장마다 점검 항목을 하나씩 쌓아 왔는데 이 장에서 그것을 하나의 스크립트로 합칩니다. 그리고 마지막에 실제로 장애를 내고 그 스크립트가 잡아내는지 확인합니다. 배운 것이 실제로 동작하는지 검증하는 장이라고 소개하면 학습 동기가 분명해집니다. 마지막 강의이므로 속도를 조금 늦추고 앞 장들을 자주 되짚어 주십시오.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의도적으로 예상을 깨뜨립니다. 5장에서 직접 구성한 주소가 나올 것이라고 기대하게 한 뒤 다른 값을 보여 주십시오. 링크 로컬 주소가 무엇인지 짧게 설명합니다. 같은 링크 안에서만 유효하고 라우터를 넘지 않는 주소이며, 그래서 인터커넥트처럼 같은 스위치에 붙은 노드끼리 쓰는 용도에 맞습니다. 이 주소가 어디서 왔는지가 다음 슬라이드의 주제입니다. 예상이 깨지는 경험이 기억에 오래 남으므로 답을 먼저 말하지 마십시오.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명령을 나란히 놓으면 그림이 맞습니다. oifcfg 는 CRS 에 등록된 구성이고 ip 명령은 실제 커널이 가진 주소입니다. 하나의 물리 인터페이스에 주소가 둘 붙어 있고 데이터베이스는 별칭 쪽을 씁니다. 여기서 학습자가 흔히 혼동하는 것은 두 주소 중 어느 것이 진짜인가입니다. 둘 다 진짜이며 역할이 다릅니다. 실제 패킷은 물리 인터페이스로 나가고 별칭은 그 위에 얹힌 논리 주소입니다.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15장의 서비스와 연결하면 이해가 빠릅니다. 서비스는 클라이언트와 인스턴스 사이의 이름표였고 HAIP 는 데이터베이스와 물리 네트워크 사이의 이름표입니다. 둘 다 한쪽이 바뀌어도 다른 쪽이 영향을 받지 않게 합니다. 이 과정에서 반복해 나온 간접층의 설계 패턴이며, SCAN 도 같은 구조입니다. 추상화가 왜 필요한지 설명할 때 이 세 가지를 나란히 놓으면 좋습니다. 간접층을 하나 두면 양쪽이 독립적으로 바뀔 수 있다는 것이 공통된 이득입니다.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절차는 이 랩에서 실제로 겪은 사고에서 나왔습니다. rac1 이 클러스터에 붙지 못했는데 사설망 ping 은 정상이었습니다. 물리 주소는 살아 있고 HAIP 자원만 OFFLINE 이었기 때문입니다. ping 만 확인하고 넘어가면 원인을 찾지 못합니다. 네 단계를 순서대로 밟아야 하는 이유가 여기 있습니다. 4단계의 IS_PUBLIC 이 YES 로 나오면 공용망으로 캐시 퓨전이 흐르고 있다는 뜻이며 성능과 보안 양쪽에서 심각한 오구성입니다.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짝을 이루는 통계라는 점을 강조하십시오. 한쪽만 보면 해석이 어렵지만 짝으로 보면 방향이 보입니다. 이 랩에서 인스턴스 1 이 served 가 압도적으로 많은데 이는 인스턴스 1 이 블록을 주로 공급하는 쪽이라는 뜻입니다. local 과 remote grants 의 비율은 인터커넥트 부담을 보는 지표입니다. 인스턴스 1 은 13866 대 3309 로 로컬이 압도적이고 인스턴스 2 는 4649 대 4122 로 비슷한데, 두 인스턴스의 작업 성격이 다르다는 신호입니다.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WAIT_CLASS 로 걸러 보라는 조언이 실무에서 유용합니다. 대기 이벤트가 수백 가지인데 Cluster 클래스만 보면 RAC 때문에 생긴 것만 남습니다. 그리고 gc 대기가 있다는 것 자체는 정상임을 반드시 짚어 주십시오. 캐시 퓨전이 동작하고 있다는 증거이며 RAC 를 쓰는 이상 없을 수 없습니다. 문제는 그 비중이 얼마나 되는가입니다. 정상과 이상을 가르는 기준은 절대값이 아니라 전체 DB 시간에서 차지하는 비율이며, 이 판단 기준을 먼저 세워 두어야 다음 절의 분석이 의미를 갖습니다.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문법을 알려 주면 처음 보는 gc 이벤트도 해석할 수 있습니다. 예를 들어 gc current grant busy 가 나오면 현재 블록의 권한을 받으려는데 상대가 바빠 기다렸다고 읽습니다. 3-way 는 자원 마스터가 제3의 인스턴스여서 한 번 더 거친 경우이며 노드가 셋 이상일 때만 나옵니다. 이 랩은 2 노드이므로 3-way 가 아예 없다는 점을 확인시켜 주십시오. congested 는 LMS 프로세스가 밀려 처리가 늦은 경우로, 이 랩에서는 거의 나오지 않습니다.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실험 설계를 설명하십시오. 좁은 범위를 골라야 같은 블록에 몰립니다. 한 행이 200 바이트이므로 50 행이면 몇 블록 안에 들어갑니다. 만약 id 범위를 넓게 잡으면 서로 다른 블록을 만지게 되어 경합이 거의 생기지 않습니다. 첫 시도에서 실제로 그런 일이 있었고 통계가 거의 움직이지 않았습니다. 그래서 범위를 좁히고 시간을 40 초로 늘려 다시 측정했습니다. 실험을 설계할 때 무엇을 통제해야 하는지 보여 주는 사례입니다.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대칭이 이 실험의 가장 좋은 증거입니다. 3987 과 3996 이 엇갈려 정확히 짝을 이룹니다. 우연이 아니라 실제로 블록이 오갔다는 뜻입니다. remote grants 가 거의 늘지 않은 것도 해석해 주십시오. 권한만 주고받은 것이 아니라 실제 블록을 옮겼기 때문입니다. 만약 두 노드가 같은 블록을 읽기만 했다면 grants 가 늘고 blocks 는 덜 늘었을 것입니다. 통계를 볼 때 짝이 되는 항목을 함께 보는 습관을 길러 주십시오.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순위가 바뀌었다는 것이 핵심입니다. busy 가 붙은 이벤트가 1위로 올라온 것은 정확히 우리가 만든 상황입니다. 평균 대기가 두 배 넘게 길어진 것도 설명하십시오. 블록을 그냥 받는 것보다 상대가 쓰기를 끝낼 때까지 기다린 뒤 받는 것이 당연히 오래 걸립니다. gc buffer busy release 는 같은 경합을 반대편에서 본 것입니다. 다른 세션이 그 블록을 보내는 중이라 기다린 것이며, 두 이벤트가 함께 오르는 것이 전형적인 패턴입니다.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실무에서 가장 자주 쓰이는 조회입니다. 시스템 전체 대기가 크다는 것을 알아도 어느 테이블이 원인인지 모르면 손을 댈 수 없습니다. 실측에서 CH20_T 하나가 전체 증가분의 거의 전부를 만들었습니다. 실제 환경에서도 대개 그렇습니다. 시퀀스로 채우는 인덱스의 오른쪽 끝, 상태 플래그를 계속 갱신하는 좁은 테이블, 카운터 한 행이 전형적인 범인입니다. 조회 조건에 owner 와 object_name 을 넣어 좁히면 부담 없이 자주 돌릴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undo header 가 큰 이유를 반드시 설명하십시오. 13장에서 UNDO 테이블스페이스를 인스턴스마다 따로 두었습니다. 그래서 다른 인스턴스가 바꾼 블록의 읽기 일관성 사본을 만들려면 그 인스턴스의 UNDO 헤더를 인터커넥트로 가져와야 합니다. 설계상 불가피한 비용이며 UNDO 를 나누지 않으면 더 큰 경합이 생깁니다. CR_2HOP 이 CR_BLOCK 과 같은 것도 2 노드에서는 당연한 결과이며, 노드가 셋 이상이면 3HOP 열에 값이 생깁니다.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다섯 단계 중 5번의 첫 번째 방법을 강조하십시오. 서비스로 그 업무를 한 노드에 모으면 캐시 퓨전이 아예 필요 없어집니다. 가장 빠르고 확실한 해법입니다. RAC 를 쓰는데 한 노드로 몰아넣는 것이 지는 것처럼 느껴진다는 반론이 흔한데, 다른 업무가 반대 노드를 쓰면 전체적으로는 잘 나뉜 것이라고 설명해 주십시오. 15장의 선호 인스턴스 배치가 성능 문제의 해법으로 쓰이는 지점입니다.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오래된 자료를 그대로 따라 하면 막히는 대표적인 예입니다. 검색 결과가 비어 있다는 사실 자체가 정보이며, 그럴 때 무엇으로 대체되었는지 찾아보는 습관을 길러 주십시오. TFA 의 장점도 짚어 주십시오. diagcollection.pl 은 노드마다 따로 실행해야 했지만 TFA 는 데몬끼리 통신하므로 한 노드에서 명령하면 모든 노드의 로그를 모읍니다. 버전이 올라가며 도구가 바뀌는 일은 흔하므로, 명령이 없다고 해서 기능이 사라진 것은 아니라는 점을 함께 알려 주십시오.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옵션 하나하나가 수집량과 시간을 크게 바꿉니다. 컴포넌트를 지정하지 않으면 전부 모으므로 훨씬 커지고, 시간 범위를 주지 않으면 기본값으로 수십 GB 가 될 수 있습니다. 289 초라는 실측을 강조하십시오. 한 노드에서 한 시간 분량만 모으는 데도 5 분 가까이 걸립니다. 장애 중인 시스템에서 전 노드를 대상으로 돌리면 상황을 더 악화시킬 수 있습니다. 그래서 수집 명령을 미리 정해 문서에 적어 두고 장애 때는 그대로 실행하도록 준비해 두는 편이 좋습니다.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오류 메시지가 유효한 예를 함께 알려 주는 좋은 사례입니다. 메시지를 읽으면 바로 고칠 수 있습니다. 이 제약이 실무에서는 오히려 다행이라는 점도 이야기해 주십시오. 장애 시각을 정확히 모르는 경우가 많으므로 넉넉히 잡는 편이 낫습니다. 정확한 구간을 아는 경우에만 from 과 to 를 쓰면 됩니다. 이 사례처럼 오류 메시지 안에 해답이 들어 있는 경우가 많으므로, 메시지를 끝까지 읽는 습관을 강조해 주십시오. 검색부터 하는 습관은 오히려 시간을 더 쓰게 만듭니다.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운영 관점의 주의사항입니다. 장애가 잦은 시스템일수록 수집을 자주 하게 되고 저장소가 빠르게 커집니다. Grid Home 이 있는 파일시스템이 차면 CRS 자체가 문제를 겪을 수 있으므로 정기적으로 정리해야 합니다. 그리고 수집 시점도 중요합니다. 로그는 회전하므로 며칠 지나면 사라지고, 반대로 장애가 진행 중일 때 수집하면 부하를 더합니다. 급한 불을 끈 직후가 가장 좋은 시점입니다.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srdc 옵션이 실무에서 가장 유용합니다. 증상별로 오라클이 요구하는 파일 목록이 미리 정의되어 있어 빠뜨림이 없습니다. SR 을 열면 지원 엔지니어가 파일을 더 달라고 요청하며 왕복하는 경우가 흔한데, srdc 를 쓰면 그 왕복이 크게 줄어듭니다. 어떤 srdc 프로파일이 있는지는 tfactl diagcollect -srdc 로 목록을 볼 수 있습니다. 목록을 한 번 훑어 두면 자기 환경에서 자주 겪는 증상에 맞는 프로파일을 미리 골라 둘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순서가 그대로 진단 순서라는 점이 핵심입니다. 아래 계층이 무너지면 위 계층에 단서가 없습니다. 예를 들어 클러스터가 안 떠 있으면 서비스 상태를 보는 것이 의미가 없습니다. 장마다 만든 점검 항목이 여기서 하나로 모인다는 것을 보여 주면 과정 전체가 하나의 흐름이었다는 것이 드러납니다. 각 계층이 어느 장에서 나왔는지 괄호로 표시한 것도 그 의도입니다. 서비스 계층이 세 번째인 이유도 짚어 주십시오. 인스턴스가 떠 있어야 서비스가 붙습니다.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번째 원칙을 특히 강조하십시오. 기준선을 하드코딩하는 것이 나쁜 습관처럼 보이지만 여기서는 의도된 것입니다. 환경이 바뀌면 스크립트가 경고를 내고, 그 경고를 없애려면 사람이 숫자를 고쳐야 합니다. 그 순간이 곧 구성 변경을 인지하고 문서화하는 순간입니다. 자동으로 적응하는 스크립트는 편하지만 변경을 조용히 삼켜 버립니다. 나머지 두 원칙도 실무에서 그대로 쓰입니다. 실패와 경고를 나누지 않으면 매일 실패가 나와 아무도 보지 않게 되고, 종료 코드를 돌려주지 않으면 자동화에 연결할 수 없습니다.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 초라는 실측이 중요합니다. 매일 돌리기에 부담이 없는 수준이어야 실제로 돌아갑니다. 몇 분씩 걸리는 점검 스크립트는 결국 아무도 안 돌립니다. 출력이 한 화면에 들어오는 것도 의도입니다. 스크롤해야 보이는 점검 결과는 사람이 대충 넘깁니다. 실무에서 점검 스크립트를 만들 때 이 두 가지 제약을 먼저 정하고 항목을 고르라고 조언해 주십시오. 항목이 많을수록 좋은 것이 아니라 매일 보게 되는 항목만 남기는 것이 좋다는 점을 강조하십시오.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14장에서 다룬 의도된 OFFLINE 이 여기서 다시 나옵니다. 스크립트가 이것을 FAIL 로 잡으면 매일 실패가 나와 쓸모가 없어집니다. 반대로 아예 안 보이게 하면 진짜 문제가 생겨도 모릅니다. 그래서 WARN 으로 두었습니다. 다만 운영이 길어지면 알려진 예외는 스크립트에서 걸러 내고 새로운 것만 보이게 하는 편이 낫다는 점도 알려 주십시오. 경고 피로는 실제로 사고를 만듭니다.</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이것이 이 장에서 가장 값진 발견입니다. 스크립트를 만들고 돌려 본 덕분에 찾았습니다. 출력이 이상하면 원인을 끝까지 확인해야 한다는 것을 보여 주는 사례입니다. 여기서 그냥 넘어갔다면 실제 장애 때 스레드 하나가 30 분째 아카이브를 못 만들고 있어도 화면에 아무것도 안 나왔을 것입니다. 조용한 실패가 가장 위험합니다. 자기가 만든 도구를 의심하는 것도 실력입니다. 출력이 예상과 다르면 시스템이 아니라 도구를 먼저 의심해 보라고 조언해 주십시오.</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원칙을 일반화해 강조하십시오. 실제 있는 것을 기준으로 조회하면 없는 것이 안 보입니다. 있어야 할 것의 목록을 기준으로 조회하고 실제 값을 붙여야 빠진 것이 드러납니다. 이 랩의 스크립트가 자원 개수를 17 과 비교하는 것도 같은 원리입니다. 그리고 서비스 점검에도 같은 약점이 있다고 알려 주십시오. 이 랩은 사용자 서비스가 없어 항상 OK 로 나오지만, 서비스가 있어야 할 환경이라면 그 목록을 별도로 관리해야 합니다.</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검증의 설계를 보여 주는 슬라이드입니다. 점검 스크립트를 만들었으면 반드시 장애를 내고 잡히는지 확인해야 합니다. 확인하지 않은 점검 스크립트는 안심만 주고 실제로는 아무것도 못 잡을 수 있습니다. 세 시점을 고른 이유도 설명하십시오. 정상 기준선, 장애 상태, 복구 후를 각각 봐야 스크립트가 양방향으로 동작하는지 알 수 있습니다. 점검 도구를 만든 뒤 반드시 한 번은 일부러 깨뜨려 보는 것이 좋다는 원칙으로 정리해 주십시오.</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가지를 나눠 설명하십시오. 첫째는 14장에서 배운 신호이며 TARGET 은 ONLINE 인데 STATE 가 OFFLINE 인 슬롯이 생겼습니다. 둘째는 스크립트가 의도한 대로 잡은 것입니다. 셋째가 중요합니다. 스토리지와 백업 계층에서는 인스턴스 2 관련 행이 조용히 사라졌을 뿐 FAIL 로 잡히지 않았습니다. 20.4.4 절에서 지적한 결함이 실제 장애에서 그대로 나타난 것이며, 인스턴스 계층 점검이 없었다면 놓쳤을 것입니다.</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복구 확인까지가 점검 스크립트의 목적입니다. 장애를 잡는 것만으로는 반쪽입니다. 복구되었는지도 같은 도구로 확인할 수 있어야 운영자가 상황을 판단할 수 있습니다. 약 100 초라는 시간은 17장 실습 05 의 측정과 일치합니다. 인스턴스 복구 자체는 1 초 미만이고 나머지는 인스턴스 재기동 시간이라는 점을 다시 짚어 주십시오. 그리고 복구가 자동으로 되었다고 해서 원인 분석을 건너뛰면 안 된다는 점도 함께 짚어 주십시오. 같은 장애가 반복되면 그것은 이미 자동 복구로 감출 수 없는 문제입니다.</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계획하지 않았지만 가장 값진 발견입니다. 14장에서 본 두 속성이 실제로 동작한 순간입니다. 자원이 한 시간 넘게 살아 있어야 재시도 횟수가 초기화되는데, 두 장애 사이가 4 분이었으므로 초기화되지 않았습니다. TARGET 은 여전히 ONLINE 이라는 점을 강조하십시오. CRS 는 떠 있어야 한다고 알지만 더 시도하지 않습니다. 실무 규칙으로 정리해 주십시오. 점검이 FAIL 을 보고했는데 몇 분이 지나도 그대로면 CRS 를 더 기다리지 말고 crsctl stat res 와 CRS 알럿 로그의 CRS-2771 을 확인합니다. 그리고 한 시간에 두 번 죽었다는 것 자체가 원인이 남아 있다는 신호입니다.</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이 장의 결론입니다. 하나의 사건이 모든 계층에 흔적을 남기므로 계층 순으로 점검하면 어디서 시작된 문제인지 추적할 수 있습니다. 반대로 한 계층만 보면 오진합니다. 백업 계층만 보는 사람은 아카이브 대상이 하나로 줄었다는 것을 아카이브 설정 문제로 오해할 수 있습니다. 실제 원인은 인스턴스가 죽은 것입니다. 진단은 항상 아래에서 위로 올라가야 합니다. 진단을 아래에서 위로 올라가는 훈련을 반복해 주십시오.</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줄이 가장 설득력 있는 근거입니다. 17장에서 직접 확인했습니다. 공유 스토리지이므로 장애도 공유됩니다. 인스턴스가 둘이어도 데이터베이스가 하나라는 12장의 명제가 여기서 한계로 나타납니다. Data Guard 는 정확히 그 한계를 메웁니다. 두 기술을 비교표로만 외우게 하지 말고 이 실측 경험과 연결해 주십시오. 그리고 RAC 가 막지 못하는 장애가 있다는 것이 RAC 의 결함이 아니라 설계 범위라는 점도 분명히 해 주십시오. 목적이 다른 기술을 겹쳐 쓰는 것이 정상적인 구성입니다.</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번째 줄을 반드시 강조하십시오. 스탠바이는 원본을 그대로 따라가므로 잘못된 DELETE 도 그대로 따라갑니다. RAC 도 Data Guard 도 사람의 실수를 막지 못합니다. 세 가지 기술이 서로를 대체하지 않는다는 것이 결론입니다. 가용성 설계를 할 때 이 표를 놓고 어떤 사건까지 대비할 것인지 정하면 필요한 기술이 자연스럽게 정해집니다. 표를 그대로 외우기보다 자기 환경에서 어떤 사건이 실제로 일어날 수 있는지 적어 보게 하면 훨씬 잘 남습니다.</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과정에서 한 일이 Data Guard 의 전제 조건을 이미 상당 부분 만들어 놓았다는 점을 보여 주십시오. 특히 17장 실습 02 를 다시 언급하면 좋습니다. 아카이브를 로컬 경로에 두면 다른 노드가 못 읽는다고 했는데, 그 구성이면 스탠바이도 반쪽만 받습니다. sid='*' 가 RAC 특유의 부분입니다. 어느 인스턴스에서 리두가 나오든 스탠바이로 가야 하므로 모든 인스턴스가 같은 설정을 가져야 합니다.</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기술 선택의 원칙을 다루는 슬라이드입니다. 이 과정을 마친 학습자가 RAC 를 무조건 좋은 것으로 여기지 않게 하는 것이 목적입니다. 이 과정에서 다룬 것만 해도 인터커넥트, 투표 디스크, OCR, 서비스, 스레드별 아카이브가 있습니다. 그것을 다 알아야 운영할 수 있습니다. 가용성 목표가 낮다면 잘 만든 단일 인스턴스와 잘 검증된 백업이 더 나은 선택일 수 있다고 솔직하게 말해 주십시오.</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과정 전체를 한 화면에 놓고 흐름을 되짚어 주십시오. 각 구간이 다음 구간의 전제였다는 것을 보여 주면 좋습니다. 5장의 인터커넥트가 20장의 HAIP 로 이어지고, 13장의 UNDO 분리가 20장의 undo header 전송으로 이어지고, 17장의 ARCHIVELOG 전환이 20.6 의 Data Guard 전제 조건이 됩니다. 따로 배운 것이 아니라 하나의 시스템이었다는 인상을 남기는 것이 마지막 강의의 목적입니다.</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다섯 가지 모두 문서나 통념과 실제가 달랐던 사례입니다. 확인하지 않았다면 잘못된 지식을 그대로 가지고 갔을 것입니다. 특히 첫 번째는 이 과정에서 한 번 잘못 쓴 뒤 나중에 발견해 바로잡은 것입니다. 그리고 이 장의 점검 스크립트조차 자기 출력으로 자기 결함을 드러냈습니다. 만든 것을 반드시 돌려 보고, 돌린 결과를 반드시 읽으라는 것이 이 과정이 남기는 가장 실용적인 조언입니다.</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슬라이드입니다. 되돌리기가 왜 실력인지 설명해 주십시오. 되돌릴 자신이 없으면 아무것도 시도하지 못하고, 시도하지 못하면 배우지 못합니다. 반대로 되돌릴 수 있으면 과감하게 실험할 수 있습니다. 이 과정에서 인스턴스를 죽이고 데이터파일을 지우고 노드 구성을 건드릴 수 있었던 것도 기준선이 정의되어 있었기 때문입니다. 운영에서도 같은 원칙이 적용된다는 말로 과정을 마무리하십시오.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19c Real Application Clusters</a:t>
            </a:r>
          </a:p>
        </p:txBody>
      </p:sp>
      <p:sp>
        <p:nvSpPr>
          <p:cNvPr id="6" name="TextBox 5"/>
          <p:cNvSpPr txBox="1"/>
          <p:nvPr/>
        </p:nvSpPr>
        <p:spPr>
          <a:xfrm>
            <a:off x="731520" y="2377440"/>
            <a:ext cx="10698480" cy="615553"/>
          </a:xfrm>
          <a:prstGeom prst="rect">
            <a:avLst/>
          </a:prstGeom>
          <a:noFill/>
        </p:spPr>
        <p:txBody>
          <a:bodyPr wrap="square">
            <a:spAutoFit/>
          </a:bodyPr>
          <a:lstStyle/>
          <a:p>
            <a:pPr>
              <a:spcAft>
                <a:spcPts val="600"/>
              </a:spcAft>
            </a:pPr>
            <a:r>
              <a:rPr lang="ko-KR" altLang="en-US" sz="3400" b="1" dirty="0">
                <a:solidFill>
                  <a:srgbClr val="C0392B"/>
                </a:solidFill>
                <a:latin typeface="맑은 고딕"/>
              </a:rPr>
              <a:t>진단 성능 종합운영</a:t>
            </a:r>
            <a:endParaRPr sz="3400" b="1" dirty="0">
              <a:solidFill>
                <a:srgbClr val="C0392B"/>
              </a:solidFill>
              <a:latin typeface="맑은 고딕"/>
            </a:endParaRP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진단·성능·종합 운영</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gc 대기를 읽고, 로그를 모으고, 점검을 하나로 묶는다</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인터커넥트가 실제로 무슨 주소를 쓰는지 확인하고 HAIP 를 이해한다</a:t>
            </a:r>
          </a:p>
          <a:p>
            <a:pPr algn="l">
              <a:spcAft>
                <a:spcPts val="1000"/>
              </a:spcAft>
            </a:pPr>
            <a:r>
              <a:rPr sz="1600" b="0">
                <a:solidFill>
                  <a:srgbClr val="222222"/>
                </a:solidFill>
                <a:latin typeface="맑은 고딕"/>
              </a:rPr>
              <a:t>•  gc 계열 대기 이벤트의 이름을 세 부분으로 읽는다</a:t>
            </a:r>
          </a:p>
          <a:p>
            <a:pPr algn="l">
              <a:spcAft>
                <a:spcPts val="1000"/>
              </a:spcAft>
            </a:pPr>
            <a:r>
              <a:rPr sz="1600" b="0">
                <a:solidFill>
                  <a:srgbClr val="222222"/>
                </a:solidFill>
                <a:latin typeface="맑은 고딕"/>
              </a:rPr>
              <a:t>•  부하를 만들어 캐시 퓨전 통계가 어떻게 변하는지 관찰한다</a:t>
            </a:r>
          </a:p>
          <a:p>
            <a:pPr algn="l">
              <a:spcAft>
                <a:spcPts val="1000"/>
              </a:spcAft>
            </a:pPr>
            <a:r>
              <a:rPr sz="1600" b="0">
                <a:solidFill>
                  <a:srgbClr val="222222"/>
                </a:solidFill>
                <a:latin typeface="맑은 고딕"/>
              </a:rPr>
              <a:t>•  경합의 원인 객체를 세그먼트 단위로 특정한다</a:t>
            </a:r>
          </a:p>
          <a:p>
            <a:pPr algn="l">
              <a:spcAft>
                <a:spcPts val="1000"/>
              </a:spcAft>
            </a:pPr>
            <a:r>
              <a:rPr sz="1600" b="0">
                <a:solidFill>
                  <a:srgbClr val="222222"/>
                </a:solidFill>
                <a:latin typeface="맑은 고딕"/>
              </a:rPr>
              <a:t>•  19c 의 로그 수집 도구인 TFA 를 사용한다</a:t>
            </a:r>
          </a:p>
          <a:p>
            <a:pPr algn="l">
              <a:spcAft>
                <a:spcPts val="1000"/>
              </a:spcAft>
            </a:pPr>
            <a:r>
              <a:rPr sz="1600" b="0">
                <a:solidFill>
                  <a:srgbClr val="222222"/>
                </a:solidFill>
                <a:latin typeface="맑은 고딕"/>
              </a:rPr>
              <a:t>•  장마다 만든 점검 항목을 하나의 스크립트로 합친다</a:t>
            </a:r>
          </a:p>
          <a:p>
            <a:pPr algn="l">
              <a:spcAft>
                <a:spcPts val="1000"/>
              </a:spcAft>
            </a:pPr>
            <a:r>
              <a:rPr sz="1600" b="0">
                <a:solidFill>
                  <a:srgbClr val="222222"/>
                </a:solidFill>
                <a:latin typeface="맑은 고딕"/>
              </a:rPr>
              <a:t>•  RAC 와 Data Guard 가 각각 무엇을 막는지 구분한다</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20.1 인터커넥트 확인</a:t>
            </a:r>
          </a:p>
          <a:p>
            <a:pPr algn="l">
              <a:spcAft>
                <a:spcPts val="1000"/>
              </a:spcAft>
            </a:pPr>
            <a:r>
              <a:rPr sz="1600" b="0">
                <a:solidFill>
                  <a:srgbClr val="222222"/>
                </a:solidFill>
                <a:latin typeface="맑은 고딕"/>
              </a:rPr>
              <a:t>•  20.2 클러스터 대기 이벤트</a:t>
            </a:r>
          </a:p>
          <a:p>
            <a:pPr algn="l">
              <a:spcAft>
                <a:spcPts val="1000"/>
              </a:spcAft>
            </a:pPr>
            <a:r>
              <a:rPr sz="1600" b="0">
                <a:solidFill>
                  <a:srgbClr val="222222"/>
                </a:solidFill>
                <a:latin typeface="맑은 고딕"/>
              </a:rPr>
              <a:t>•  20.3 로그 수집</a:t>
            </a:r>
          </a:p>
          <a:p>
            <a:pPr algn="l">
              <a:spcAft>
                <a:spcPts val="1000"/>
              </a:spcAft>
            </a:pPr>
            <a:r>
              <a:rPr sz="1600" b="0">
                <a:solidFill>
                  <a:srgbClr val="222222"/>
                </a:solidFill>
                <a:latin typeface="맑은 고딕"/>
              </a:rPr>
              <a:t>•  20.4 종합 점검 스크립트</a:t>
            </a:r>
          </a:p>
          <a:p>
            <a:pPr algn="l">
              <a:spcAft>
                <a:spcPts val="1000"/>
              </a:spcAft>
            </a:pPr>
            <a:r>
              <a:rPr sz="1600" b="0">
                <a:solidFill>
                  <a:srgbClr val="222222"/>
                </a:solidFill>
                <a:latin typeface="맑은 고딕"/>
              </a:rPr>
              <a:t>•  20.5 장애 시나리오 종합</a:t>
            </a:r>
          </a:p>
          <a:p>
            <a:pPr algn="l">
              <a:spcAft>
                <a:spcPts val="1000"/>
              </a:spcAft>
            </a:pPr>
            <a:r>
              <a:rPr sz="1600" b="0">
                <a:solidFill>
                  <a:srgbClr val="222222"/>
                </a:solidFill>
                <a:latin typeface="맑은 고딕"/>
              </a:rPr>
              <a:t>•  20.6 RAC 와 Data Guard</a:t>
            </a:r>
          </a:p>
          <a:p>
            <a:pPr algn="l">
              <a:spcAft>
                <a:spcPts val="1000"/>
              </a:spcAft>
            </a:pPr>
            <a:r>
              <a:rPr sz="1600" b="0">
                <a:solidFill>
                  <a:srgbClr val="222222"/>
                </a:solidFill>
                <a:latin typeface="맑은 고딕"/>
              </a:rPr>
              <a:t>•  20.7 과정을 마치며</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마지막 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열아홉 장을 하나로 묶는다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지금까지 — 만들고, 돌리고, 나누고, 지켰다</a:t>
            </a:r>
          </a:p>
          <a:p>
            <a:pPr algn="l">
              <a:spcAft>
                <a:spcPts val="1000"/>
              </a:spcAft>
            </a:pPr>
            <a:r>
              <a:rPr sz="1700" b="0">
                <a:solidFill>
                  <a:srgbClr val="222222"/>
                </a:solidFill>
                <a:latin typeface="맑은 고딕"/>
              </a:rPr>
              <a:t>•  이 장 — 문제가 생겼을 때 무엇을 보는가</a:t>
            </a:r>
          </a:p>
          <a:p>
            <a:pPr algn="l">
              <a:spcAft>
                <a:spcPts val="1000"/>
              </a:spcAft>
            </a:pPr>
            <a:r>
              <a:rPr sz="1700" b="0">
                <a:solidFill>
                  <a:srgbClr val="222222"/>
                </a:solidFill>
                <a:latin typeface="맑은 고딕"/>
              </a:rPr>
              <a:t>•  RAC 에만 있는 대기 이벤트를 읽는 법</a:t>
            </a:r>
          </a:p>
          <a:p>
            <a:pPr algn="l">
              <a:spcAft>
                <a:spcPts val="1000"/>
              </a:spcAft>
            </a:pPr>
            <a:r>
              <a:rPr sz="1700" b="0">
                <a:solidFill>
                  <a:srgbClr val="222222"/>
                </a:solidFill>
                <a:latin typeface="맑은 고딕"/>
              </a:rPr>
              <a:t>•  인터커넥트가 실제로 쓰는 것을 확인하는 법</a:t>
            </a:r>
          </a:p>
          <a:p>
            <a:pPr algn="l">
              <a:spcAft>
                <a:spcPts val="1000"/>
              </a:spcAft>
            </a:pPr>
            <a:r>
              <a:rPr sz="1700" b="0">
                <a:solidFill>
                  <a:srgbClr val="222222"/>
                </a:solidFill>
                <a:latin typeface="맑은 고딕"/>
              </a:rPr>
              <a:t>•  로그를 모으는 법과 점검을 자동화하는 법</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20.1</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인터커넥트 확인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등록한 주소와 쓰는 주소</a:t>
            </a:r>
          </a:p>
          <a:p>
            <a:pPr algn="l">
              <a:spcAft>
                <a:spcPts val="800"/>
              </a:spcAft>
            </a:pPr>
            <a:r>
              <a:rPr sz="1600" b="0">
                <a:solidFill>
                  <a:srgbClr val="FFFFFF"/>
                </a:solidFill>
                <a:latin typeface="맑은 고딕"/>
              </a:rPr>
              <a:t>•  HAIP 와 진단 순서</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데이터베이스가 보고하는 주소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예상과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5장에서 인터커넥트를 172.16.119.0 대역으로 구성했다</a:t>
            </a:r>
          </a:p>
          <a:p>
            <a:pPr algn="l">
              <a:spcAft>
                <a:spcPts val="1000"/>
              </a:spcAft>
            </a:pPr>
            <a:r>
              <a:rPr sz="1700" b="0">
                <a:solidFill>
                  <a:srgbClr val="222222"/>
                </a:solidFill>
                <a:latin typeface="맑은 고딕"/>
              </a:rPr>
              <a:t>•  GV$CLUSTER_INTERCONNECTS → 169.254.27.118 / 169.254.26.245</a:t>
            </a:r>
          </a:p>
          <a:p>
            <a:pPr algn="l">
              <a:spcAft>
                <a:spcPts val="1000"/>
              </a:spcAft>
            </a:pPr>
            <a:r>
              <a:rPr sz="1700" b="0">
                <a:solidFill>
                  <a:srgbClr val="222222"/>
                </a:solidFill>
                <a:latin typeface="맑은 고딕"/>
              </a:rPr>
              <a:t>•  인터페이스 이름도 ens160 이 아니라 ens160:1</a:t>
            </a:r>
          </a:p>
          <a:p>
            <a:pPr algn="l">
              <a:spcAft>
                <a:spcPts val="1000"/>
              </a:spcAft>
            </a:pPr>
            <a:r>
              <a:rPr sz="1700" b="0">
                <a:solidFill>
                  <a:srgbClr val="222222"/>
                </a:solidFill>
                <a:latin typeface="맑은 고딕"/>
              </a:rPr>
              <a:t>•  콜론 뒤의 1 은 가상 인터페이스라는 뜻</a:t>
            </a:r>
          </a:p>
          <a:p>
            <a:pPr algn="l">
              <a:spcAft>
                <a:spcPts val="1000"/>
              </a:spcAft>
            </a:pPr>
            <a:r>
              <a:rPr sz="1700" b="0">
                <a:solidFill>
                  <a:srgbClr val="222222"/>
                </a:solidFill>
                <a:latin typeface="맑은 고딕"/>
              </a:rPr>
              <a:t>•  169.254.x.x 는 링크 로컬 대역 — 라우팅되지 않는다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주소가 함께 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oifcfg 와 ip 명령</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oifcfg getif → ens160 / 172.16.119.0 / cluster_interconnect,asm</a:t>
            </a:r>
          </a:p>
          <a:p>
            <a:pPr algn="l">
              <a:spcAft>
                <a:spcPts val="1000"/>
              </a:spcAft>
            </a:pPr>
            <a:r>
              <a:rPr sz="1700" b="0">
                <a:solidFill>
                  <a:srgbClr val="222222"/>
                </a:solidFill>
                <a:latin typeface="맑은 고딕"/>
              </a:rPr>
              <a:t>•  ip -4 addr show ens160 → 172.16.119.101 (물리)</a:t>
            </a:r>
          </a:p>
          <a:p>
            <a:pPr algn="l">
              <a:spcAft>
                <a:spcPts val="1000"/>
              </a:spcAft>
            </a:pPr>
            <a:r>
              <a:rPr sz="1700" b="0">
                <a:solidFill>
                  <a:srgbClr val="222222"/>
                </a:solidFill>
                <a:latin typeface="맑은 고딕"/>
              </a:rPr>
              <a:t>•  같은 인터페이스에 169.254.27.118 (ens160:1 별칭)</a:t>
            </a:r>
          </a:p>
          <a:p>
            <a:pPr algn="l">
              <a:spcAft>
                <a:spcPts val="1000"/>
              </a:spcAft>
            </a:pPr>
            <a:r>
              <a:rPr sz="1700" b="0">
                <a:solidFill>
                  <a:srgbClr val="222222"/>
                </a:solidFill>
                <a:latin typeface="맑은 고딕"/>
              </a:rPr>
              <a:t>•  관리자가 등록한 것은 물리, 데이터베이스가 쓰는 것은 별칭</a:t>
            </a:r>
          </a:p>
          <a:p>
            <a:pPr algn="l">
              <a:spcAft>
                <a:spcPts val="1000"/>
              </a:spcAft>
            </a:pPr>
            <a:r>
              <a:rPr sz="1700" b="0">
                <a:solidFill>
                  <a:srgbClr val="222222"/>
                </a:solidFill>
                <a:latin typeface="맑은 고딕"/>
              </a:rPr>
              <a:t>•  별칭이 곧 HAIP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왜 HAIP 를 쓰는가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물리 구성과 데이터베이스를 떼어 놓는다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인터커넥트를 여러 개 둘 수 있게 하기 위해서</a:t>
            </a:r>
          </a:p>
          <a:p>
            <a:pPr algn="l">
              <a:spcAft>
                <a:spcPts val="1000"/>
              </a:spcAft>
            </a:pPr>
            <a:r>
              <a:rPr sz="1700" b="0">
                <a:solidFill>
                  <a:srgbClr val="222222"/>
                </a:solidFill>
                <a:latin typeface="맑은 고딕"/>
              </a:rPr>
              <a:t>•  CRS 가 물리 인터페이스 위에 HAIP 를 만들고 부하를 나눈다</a:t>
            </a:r>
          </a:p>
          <a:p>
            <a:pPr algn="l">
              <a:spcAft>
                <a:spcPts val="1000"/>
              </a:spcAft>
            </a:pPr>
            <a:r>
              <a:rPr sz="1700" b="0">
                <a:solidFill>
                  <a:srgbClr val="222222"/>
                </a:solidFill>
                <a:latin typeface="맑은 고딕"/>
              </a:rPr>
              <a:t>•  하나가 죽으면 남은 쪽으로 HAIP 를 옮긴다</a:t>
            </a:r>
          </a:p>
          <a:p>
            <a:pPr algn="l">
              <a:spcAft>
                <a:spcPts val="1000"/>
              </a:spcAft>
            </a:pPr>
            <a:r>
              <a:rPr sz="1700" b="0">
                <a:solidFill>
                  <a:srgbClr val="222222"/>
                </a:solidFill>
                <a:latin typeface="맑은 고딕"/>
              </a:rPr>
              <a:t>•  데이터베이스는 HAIP 주소만 알면 된다</a:t>
            </a:r>
          </a:p>
          <a:p>
            <a:pPr algn="l">
              <a:spcAft>
                <a:spcPts val="1000"/>
              </a:spcAft>
            </a:pPr>
            <a:r>
              <a:rPr sz="1700" b="0">
                <a:solidFill>
                  <a:srgbClr val="222222"/>
                </a:solidFill>
                <a:latin typeface="맑은 고딕"/>
              </a:rPr>
              <a:t>•  15장의 서비스와 같은 구조 — 사이에 놓인 이름표</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인터커넥트를 진단하는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ping 만으로는 부족하다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1단계 oifcfg getif — 어떤 인터페이스가 등록되어 있는가</a:t>
            </a:r>
          </a:p>
          <a:p>
            <a:pPr algn="l">
              <a:spcAft>
                <a:spcPts val="1000"/>
              </a:spcAft>
            </a:pPr>
            <a:r>
              <a:rPr sz="1700" b="0">
                <a:solidFill>
                  <a:srgbClr val="222222"/>
                </a:solidFill>
                <a:latin typeface="맑은 고딕"/>
              </a:rPr>
              <a:t>•  2단계 ip -4 addr show — 물리와 169.254 별칭이 함께 있는가</a:t>
            </a:r>
          </a:p>
          <a:p>
            <a:pPr algn="l">
              <a:spcAft>
                <a:spcPts val="1000"/>
              </a:spcAft>
            </a:pPr>
            <a:r>
              <a:rPr sz="1700" b="0">
                <a:solidFill>
                  <a:srgbClr val="222222"/>
                </a:solidFill>
                <a:latin typeface="맑은 고딕"/>
              </a:rPr>
              <a:t>•  3단계 crsctl status res ora.cluster_interconnect.haip -init</a:t>
            </a:r>
          </a:p>
          <a:p>
            <a:pPr algn="l">
              <a:spcAft>
                <a:spcPts val="1000"/>
              </a:spcAft>
            </a:pPr>
            <a:r>
              <a:rPr sz="1700" b="0">
                <a:solidFill>
                  <a:srgbClr val="222222"/>
                </a:solidFill>
                <a:latin typeface="맑은 고딕"/>
              </a:rPr>
              <a:t>•  4단계 GV$CLUSTER_INTERCONNECTS — IS_PUBLIC 이 NO 인가</a:t>
            </a:r>
          </a:p>
          <a:p>
            <a:pPr algn="l">
              <a:spcAft>
                <a:spcPts val="1000"/>
              </a:spcAft>
            </a:pPr>
            <a:r>
              <a:rPr sz="1700" b="0">
                <a:solidFill>
                  <a:srgbClr val="222222"/>
                </a:solidFill>
                <a:latin typeface="맑은 고딕"/>
              </a:rPr>
              <a:t>•  이 랩의 실제 사고 — ping 은 되는데 HAIP 만 OFFLINE 이었다</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인터커넥트 통계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received 와 served 는 짝이다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gc cr blocks received / served, gc current blocks received / served</a:t>
            </a:r>
          </a:p>
          <a:p>
            <a:pPr algn="l">
              <a:spcAft>
                <a:spcPts val="1000"/>
              </a:spcAft>
            </a:pPr>
            <a:r>
              <a:rPr sz="1700" b="0">
                <a:solidFill>
                  <a:srgbClr val="222222"/>
                </a:solidFill>
                <a:latin typeface="맑은 고딕"/>
              </a:rPr>
              <a:t>•  한 인스턴스가 받은 것이 다른 인스턴스가 보낸 것</a:t>
            </a:r>
          </a:p>
          <a:p>
            <a:pPr algn="l">
              <a:spcAft>
                <a:spcPts val="1000"/>
              </a:spcAft>
            </a:pPr>
            <a:r>
              <a:rPr sz="1700" b="0">
                <a:solidFill>
                  <a:srgbClr val="222222"/>
                </a:solidFill>
                <a:latin typeface="맑은 고딕"/>
              </a:rPr>
              <a:t>•  값이 정확히 같지는 않다 — 조회 시점과 갱신 시점이 다르다</a:t>
            </a:r>
          </a:p>
          <a:p>
            <a:pPr algn="l">
              <a:spcAft>
                <a:spcPts val="1000"/>
              </a:spcAft>
            </a:pPr>
            <a:r>
              <a:rPr sz="1700" b="0">
                <a:solidFill>
                  <a:srgbClr val="222222"/>
                </a:solidFill>
                <a:latin typeface="맑은 고딕"/>
              </a:rPr>
              <a:t>•  gc local grants 13866 대 gc remote grants 3309 (인스턴스 1)</a:t>
            </a:r>
          </a:p>
          <a:p>
            <a:pPr algn="l">
              <a:spcAft>
                <a:spcPts val="1000"/>
              </a:spcAft>
            </a:pPr>
            <a:r>
              <a:rPr sz="1700" b="0">
                <a:solidFill>
                  <a:srgbClr val="222222"/>
                </a:solidFill>
                <a:latin typeface="맑은 고딕"/>
              </a:rPr>
              <a:t>•  로컬 비율이 높을수록 인터커넥트를 덜 탄다</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20.2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클러스터 대기 이벤트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gc 이름을 읽는 법</a:t>
            </a:r>
          </a:p>
          <a:p>
            <a:pPr algn="l">
              <a:spcAft>
                <a:spcPts val="800"/>
              </a:spcAft>
            </a:pPr>
            <a:r>
              <a:rPr sz="1600" b="0">
                <a:solidFill>
                  <a:srgbClr val="FFFFFF"/>
                </a:solidFill>
                <a:latin typeface="맑은 고딕"/>
              </a:rPr>
              <a:t>•  경합을 만들고 원인을 특정한다</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gc 계열이란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Global Cache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 에만 있는 대기 이벤트는 대부분 gc 로 시작</a:t>
            </a:r>
          </a:p>
          <a:p>
            <a:pPr algn="l">
              <a:spcAft>
                <a:spcPts val="1000"/>
              </a:spcAft>
            </a:pPr>
            <a:r>
              <a:rPr sz="1700" b="0">
                <a:solidFill>
                  <a:srgbClr val="222222"/>
                </a:solidFill>
                <a:latin typeface="맑은 고딕"/>
              </a:rPr>
              <a:t>•  13장의 캐시 퓨전이 만드는 대기</a:t>
            </a:r>
          </a:p>
          <a:p>
            <a:pPr algn="l">
              <a:spcAft>
                <a:spcPts val="1000"/>
              </a:spcAft>
            </a:pPr>
            <a:r>
              <a:rPr sz="1700" b="0">
                <a:solidFill>
                  <a:srgbClr val="222222"/>
                </a:solidFill>
                <a:latin typeface="맑은 고딕"/>
              </a:rPr>
              <a:t>•  다른 인스턴스가 가진 블록을 받아 오기까지 기다린 시간</a:t>
            </a:r>
          </a:p>
          <a:p>
            <a:pPr algn="l">
              <a:spcAft>
                <a:spcPts val="1000"/>
              </a:spcAft>
            </a:pPr>
            <a:r>
              <a:rPr sz="1700" b="0">
                <a:solidFill>
                  <a:srgbClr val="222222"/>
                </a:solidFill>
                <a:latin typeface="맑은 고딕"/>
              </a:rPr>
              <a:t>•  WAIT_CLASS 가 모두 Cluster</a:t>
            </a:r>
          </a:p>
          <a:p>
            <a:pPr algn="l">
              <a:spcAft>
                <a:spcPts val="1000"/>
              </a:spcAft>
            </a:pPr>
            <a:r>
              <a:rPr sz="1700" b="0">
                <a:solidFill>
                  <a:srgbClr val="222222"/>
                </a:solidFill>
                <a:latin typeface="맑은 고딕"/>
              </a:rPr>
              <a:t>•  이 클래스만 걸러 보면 RAC 특유의 대기를 한눈에</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이름을 세 부분으로 읽는다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블록 종류 + 동작 + 결과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블록 종류 — cr(읽기 일관성 사본) / current(현재 블록)</a:t>
            </a:r>
          </a:p>
          <a:p>
            <a:pPr algn="l">
              <a:spcAft>
                <a:spcPts val="1000"/>
              </a:spcAft>
            </a:pPr>
            <a:r>
              <a:rPr sz="1700" b="0">
                <a:solidFill>
                  <a:srgbClr val="222222"/>
                </a:solidFill>
                <a:latin typeface="맑은 고딕"/>
              </a:rPr>
              <a:t>•  동작 — block(블록 자체) / grant(권한만) / multi block</a:t>
            </a:r>
          </a:p>
          <a:p>
            <a:pPr algn="l">
              <a:spcAft>
                <a:spcPts val="1000"/>
              </a:spcAft>
            </a:pPr>
            <a:r>
              <a:rPr sz="1700" b="0">
                <a:solidFill>
                  <a:srgbClr val="222222"/>
                </a:solidFill>
                <a:latin typeface="맑은 고딕"/>
              </a:rPr>
              <a:t>•  결과 — 2-way / 3-way / busy / congested</a:t>
            </a:r>
          </a:p>
          <a:p>
            <a:pPr algn="l">
              <a:spcAft>
                <a:spcPts val="1000"/>
              </a:spcAft>
            </a:pPr>
            <a:r>
              <a:rPr sz="1700" b="0">
                <a:solidFill>
                  <a:srgbClr val="222222"/>
                </a:solidFill>
                <a:latin typeface="맑은 고딕"/>
              </a:rPr>
              <a:t>•  gc cr block 2-way — 읽기 사본을 한 번에 받았다, 정상</a:t>
            </a:r>
          </a:p>
          <a:p>
            <a:pPr algn="l">
              <a:spcAft>
                <a:spcPts val="1000"/>
              </a:spcAft>
            </a:pPr>
            <a:r>
              <a:rPr sz="1700" b="0">
                <a:solidFill>
                  <a:srgbClr val="222222"/>
                </a:solidFill>
                <a:latin typeface="맑은 고딕"/>
              </a:rPr>
              <a:t>•  gc current block busy — 상대가 쓰고 있어 기다렸다, 경합</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경합을 직접 만든다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같은 50 행을 40 초 동안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실험 테이블 CH20_T — 20000 행, 한 행 200 바이트</a:t>
            </a:r>
          </a:p>
          <a:p>
            <a:pPr algn="l">
              <a:spcAft>
                <a:spcPts val="1000"/>
              </a:spcAft>
            </a:pPr>
            <a:r>
              <a:rPr sz="1700" b="0">
                <a:solidFill>
                  <a:srgbClr val="222222"/>
                </a:solidFill>
                <a:latin typeface="맑은 고딕"/>
              </a:rPr>
              <a:t>•  양 노드에서 동시에 id between 1 and 50 을 갱신</a:t>
            </a:r>
          </a:p>
          <a:p>
            <a:pPr algn="l">
              <a:spcAft>
                <a:spcPts val="1000"/>
              </a:spcAft>
            </a:pPr>
            <a:r>
              <a:rPr sz="1700" b="0">
                <a:solidFill>
                  <a:srgbClr val="222222"/>
                </a:solidFill>
                <a:latin typeface="맑은 고딕"/>
              </a:rPr>
              <a:t>•  rac1 은 'a', rac2 는 'b' 로 채운다</a:t>
            </a:r>
          </a:p>
          <a:p>
            <a:pPr algn="l">
              <a:spcAft>
                <a:spcPts val="1000"/>
              </a:spcAft>
            </a:pPr>
            <a:r>
              <a:rPr sz="1700" b="0">
                <a:solidFill>
                  <a:srgbClr val="222222"/>
                </a:solidFill>
                <a:latin typeface="맑은 고딕"/>
              </a:rPr>
              <a:t>•  같은 블록을 두 인스턴스가 번갈아 가져가야 한다</a:t>
            </a:r>
          </a:p>
          <a:p>
            <a:pPr algn="l">
              <a:spcAft>
                <a:spcPts val="1000"/>
              </a:spcAft>
            </a:pPr>
            <a:r>
              <a:rPr sz="1700" b="0">
                <a:solidFill>
                  <a:srgbClr val="222222"/>
                </a:solidFill>
                <a:latin typeface="맑은 고딕"/>
              </a:rPr>
              <a:t>•  캐시 퓨전이 가장 바쁘게 도는 상황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통계가 대칭으로 움직인다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received 와 served</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gc current blocks received 인스턴스1 +3987, 인스턴스2 +3996</a:t>
            </a:r>
          </a:p>
          <a:p>
            <a:pPr algn="l">
              <a:spcAft>
                <a:spcPts val="1000"/>
              </a:spcAft>
            </a:pPr>
            <a:r>
              <a:rPr sz="1700" b="0">
                <a:solidFill>
                  <a:srgbClr val="222222"/>
                </a:solidFill>
                <a:latin typeface="맑은 고딕"/>
              </a:rPr>
              <a:t>•  gc current blocks served 인스턴스1 +3996, 인스턴스2 +3987</a:t>
            </a:r>
          </a:p>
          <a:p>
            <a:pPr algn="l">
              <a:spcAft>
                <a:spcPts val="1000"/>
              </a:spcAft>
            </a:pPr>
            <a:r>
              <a:rPr sz="1700" b="0">
                <a:solidFill>
                  <a:srgbClr val="222222"/>
                </a:solidFill>
                <a:latin typeface="맑은 고딕"/>
              </a:rPr>
              <a:t>•  한쪽 received 증가분이 다른 쪽 served 증가분과 정확히 같다</a:t>
            </a:r>
          </a:p>
          <a:p>
            <a:pPr algn="l">
              <a:spcAft>
                <a:spcPts val="1000"/>
              </a:spcAft>
            </a:pPr>
            <a:r>
              <a:rPr sz="1700" b="0">
                <a:solidFill>
                  <a:srgbClr val="222222"/>
                </a:solidFill>
                <a:latin typeface="맑은 고딕"/>
              </a:rPr>
              <a:t>•  40 초 동안 블록이 약 8000 번 인터커넥트를 오갔다</a:t>
            </a:r>
          </a:p>
          <a:p>
            <a:pPr algn="l">
              <a:spcAft>
                <a:spcPts val="1000"/>
              </a:spcAft>
            </a:pPr>
            <a:r>
              <a:rPr sz="1700" b="0">
                <a:solidFill>
                  <a:srgbClr val="222222"/>
                </a:solidFill>
                <a:latin typeface="맑은 고딕"/>
              </a:rPr>
              <a:t>•  remote grants 는 +205, +198 로 거의 안 늘었다</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상위 대기가 바뀐다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2-way 에서 busy 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실험 전 1위 — gc cr block 2-way (평균 0.06 센티초)</a:t>
            </a:r>
          </a:p>
          <a:p>
            <a:pPr algn="l">
              <a:spcAft>
                <a:spcPts val="1000"/>
              </a:spcAft>
            </a:pPr>
            <a:r>
              <a:rPr sz="1700" b="0">
                <a:solidFill>
                  <a:srgbClr val="222222"/>
                </a:solidFill>
                <a:latin typeface="맑은 고딕"/>
              </a:rPr>
              <a:t>•  실험 후 1위 — gc current block busy 양 노드에서</a:t>
            </a:r>
          </a:p>
          <a:p>
            <a:pPr algn="l">
              <a:spcAft>
                <a:spcPts val="1000"/>
              </a:spcAft>
            </a:pPr>
            <a:r>
              <a:rPr sz="1700" b="0">
                <a:solidFill>
                  <a:srgbClr val="222222"/>
                </a:solidFill>
                <a:latin typeface="맑은 고딕"/>
              </a:rPr>
              <a:t>•  인스턴스2 4728 회 20.76 초, 인스턴스1 4733 회 19.71 초</a:t>
            </a:r>
          </a:p>
          <a:p>
            <a:pPr algn="l">
              <a:spcAft>
                <a:spcPts val="1000"/>
              </a:spcAft>
            </a:pPr>
            <a:r>
              <a:rPr sz="1700" b="0">
                <a:solidFill>
                  <a:srgbClr val="222222"/>
                </a:solidFill>
                <a:latin typeface="맑은 고딕"/>
              </a:rPr>
              <a:t>•  평균 대기 0.42~0.44 센티초 — 2-way 의 두 배 넘게</a:t>
            </a:r>
          </a:p>
          <a:p>
            <a:pPr algn="l">
              <a:spcAft>
                <a:spcPts val="1000"/>
              </a:spcAft>
            </a:pPr>
            <a:r>
              <a:rPr sz="1700" b="0">
                <a:solidFill>
                  <a:srgbClr val="222222"/>
                </a:solidFill>
                <a:latin typeface="맑은 고딕"/>
              </a:rPr>
              <a:t>•  gc buffer busy release 도 1000 회 가까이</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어느 객체가 문제인가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GV$SEGMENT_STATISTICS</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대기 이벤트만으로는 어디를 고칠지 모른다</a:t>
            </a:r>
          </a:p>
          <a:p>
            <a:pPr algn="l">
              <a:spcAft>
                <a:spcPts val="1000"/>
              </a:spcAft>
            </a:pPr>
            <a:r>
              <a:rPr sz="1700" b="0">
                <a:solidFill>
                  <a:srgbClr val="222222"/>
                </a:solidFill>
                <a:latin typeface="맑은 고딕"/>
              </a:rPr>
              <a:t>•  CH20_T 하나가 gc current blocks received 3786 / 3787</a:t>
            </a:r>
          </a:p>
          <a:p>
            <a:pPr algn="l">
              <a:spcAft>
                <a:spcPts val="1000"/>
              </a:spcAft>
            </a:pPr>
            <a:r>
              <a:rPr sz="1700" b="0">
                <a:solidFill>
                  <a:srgbClr val="222222"/>
                </a:solidFill>
                <a:latin typeface="맑은 고딕"/>
              </a:rPr>
              <a:t>•  앞 절의 전체 증가분과 거의 같다 — 범인이 특정되었다</a:t>
            </a:r>
          </a:p>
          <a:p>
            <a:pPr algn="l">
              <a:spcAft>
                <a:spcPts val="1000"/>
              </a:spcAft>
            </a:pPr>
            <a:r>
              <a:rPr sz="1700" b="0">
                <a:solidFill>
                  <a:srgbClr val="222222"/>
                </a:solidFill>
                <a:latin typeface="맑은 고딕"/>
              </a:rPr>
              <a:t>•  시스템 전체가 느린 것과 특정 세그먼트가 원인인 것은 다르다</a:t>
            </a:r>
          </a:p>
          <a:p>
            <a:pPr algn="l">
              <a:spcAft>
                <a:spcPts val="1000"/>
              </a:spcAft>
            </a:pPr>
            <a:r>
              <a:rPr sz="1700" b="0">
                <a:solidFill>
                  <a:srgbClr val="222222"/>
                </a:solidFill>
                <a:latin typeface="맑은 고딕"/>
              </a:rPr>
              <a:t>•  대개 소수의 테이블이나 인덱스가 대부분을 만든다</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어떤 블록이 오갔는가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GV$INSTANCE_CACHE_TRANSFER</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data block 의 CURRENT_BUSY 4407 / 4452 — 가장 크다</a:t>
            </a:r>
          </a:p>
          <a:p>
            <a:pPr algn="l">
              <a:spcAft>
                <a:spcPts val="1000"/>
              </a:spcAft>
            </a:pPr>
            <a:r>
              <a:rPr sz="1700" b="0">
                <a:solidFill>
                  <a:srgbClr val="222222"/>
                </a:solidFill>
                <a:latin typeface="맑은 고딕"/>
              </a:rPr>
              <a:t>•  undo header 의 CR_BLOCK 2009 / 3634 — 두 번째로 크다</a:t>
            </a:r>
          </a:p>
          <a:p>
            <a:pPr algn="l">
              <a:spcAft>
                <a:spcPts val="1000"/>
              </a:spcAft>
            </a:pPr>
            <a:r>
              <a:rPr sz="1700" b="0">
                <a:solidFill>
                  <a:srgbClr val="222222"/>
                </a:solidFill>
                <a:latin typeface="맑은 고딕"/>
              </a:rPr>
              <a:t>•  읽기 일관성 사본을 만들려면 상대의 UNDO 헤더를 봐야 한다</a:t>
            </a:r>
          </a:p>
          <a:p>
            <a:pPr algn="l">
              <a:spcAft>
                <a:spcPts val="1000"/>
              </a:spcAft>
            </a:pPr>
            <a:r>
              <a:rPr sz="1700" b="0">
                <a:solidFill>
                  <a:srgbClr val="222222"/>
                </a:solidFill>
                <a:latin typeface="맑은 고딕"/>
              </a:rPr>
              <a:t>•  13장에서 UNDO 를 인스턴스별로 나눈 것이 여기서 비용이 된다</a:t>
            </a:r>
          </a:p>
          <a:p>
            <a:pPr algn="l">
              <a:spcAft>
                <a:spcPts val="1000"/>
              </a:spcAft>
            </a:pPr>
            <a:r>
              <a:rPr sz="1700" b="0">
                <a:solidFill>
                  <a:srgbClr val="222222"/>
                </a:solidFill>
                <a:latin typeface="맑은 고딕"/>
              </a:rPr>
              <a:t>•  CR_2HOP 이 항상 CR_BLOCK 과 같다 — 2 노드이므로</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gc 대기가 크다는 보고를 받았을 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다섯 단계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정말 문제인가 — 전체 DB 시간 대비 비율로 판단</a:t>
            </a:r>
          </a:p>
          <a:p>
            <a:pPr algn="l">
              <a:spcAft>
                <a:spcPts val="1000"/>
              </a:spcAft>
            </a:pPr>
            <a:r>
              <a:rPr sz="1700" b="0">
                <a:solidFill>
                  <a:srgbClr val="222222"/>
                </a:solidFill>
                <a:latin typeface="맑은 고딕"/>
              </a:rPr>
              <a:t>•  2 busy 인가 2-way 인가 — 경합인가 대역폭인가</a:t>
            </a:r>
          </a:p>
          <a:p>
            <a:pPr algn="l">
              <a:spcAft>
                <a:spcPts val="1000"/>
              </a:spcAft>
            </a:pPr>
            <a:r>
              <a:rPr sz="1700" b="0">
                <a:solidFill>
                  <a:srgbClr val="222222"/>
                </a:solidFill>
                <a:latin typeface="맑은 고딕"/>
              </a:rPr>
              <a:t>•  3 GV$SEGMENT_STATISTICS 로 세그먼트 특정</a:t>
            </a:r>
          </a:p>
          <a:p>
            <a:pPr algn="l">
              <a:spcAft>
                <a:spcPts val="1000"/>
              </a:spcAft>
            </a:pPr>
            <a:r>
              <a:rPr sz="1700" b="0">
                <a:solidFill>
                  <a:srgbClr val="222222"/>
                </a:solidFill>
                <a:latin typeface="맑은 고딕"/>
              </a:rPr>
              <a:t>•  4 그 세그먼트에 무슨 일이 일어나는지 확인</a:t>
            </a:r>
          </a:p>
          <a:p>
            <a:pPr algn="l">
              <a:spcAft>
                <a:spcPts val="1000"/>
              </a:spcAft>
            </a:pPr>
            <a:r>
              <a:rPr sz="1700" b="0">
                <a:solidFill>
                  <a:srgbClr val="222222"/>
                </a:solidFill>
                <a:latin typeface="맑은 고딕"/>
              </a:rPr>
              <a:t>•  5 서비스 분리 / 시퀀스 캐시·해시 파티션 / 애플리케이션 수정</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20.3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로그 수집</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diagcollection.pl 은 없다</a:t>
            </a:r>
          </a:p>
          <a:p>
            <a:pPr algn="l">
              <a:spcAft>
                <a:spcPts val="800"/>
              </a:spcAft>
            </a:pPr>
            <a:r>
              <a:rPr sz="1600" b="0">
                <a:solidFill>
                  <a:srgbClr val="FFFFFF"/>
                </a:solidFill>
                <a:latin typeface="맑은 고딕"/>
              </a:rPr>
              <a:t>•  TFA 사용법</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19c 에는 diagcollection.pl 이 없다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TFA 로 대체되었다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11g·12c 자료의 diagcollection.pl 을 찾으면 없다</a:t>
            </a:r>
          </a:p>
          <a:p>
            <a:pPr algn="l">
              <a:spcAft>
                <a:spcPts val="1000"/>
              </a:spcAft>
            </a:pPr>
            <a:r>
              <a:rPr sz="1700" b="0">
                <a:solidFill>
                  <a:srgbClr val="222222"/>
                </a:solidFill>
                <a:latin typeface="맑은 고딕"/>
              </a:rPr>
              <a:t>•  find 로 검색해도 아무것도 나오지 않는다</a:t>
            </a:r>
          </a:p>
          <a:p>
            <a:pPr algn="l">
              <a:spcAft>
                <a:spcPts val="1000"/>
              </a:spcAft>
            </a:pPr>
            <a:r>
              <a:rPr sz="1700" b="0">
                <a:solidFill>
                  <a:srgbClr val="222222"/>
                </a:solidFill>
                <a:latin typeface="맑은 고딕"/>
              </a:rPr>
              <a:t>•  bin 에 tfactl 이 있다 — Trace File Analyzer</a:t>
            </a:r>
          </a:p>
          <a:p>
            <a:pPr algn="l">
              <a:spcAft>
                <a:spcPts val="1000"/>
              </a:spcAft>
            </a:pPr>
            <a:r>
              <a:rPr sz="1700" b="0">
                <a:solidFill>
                  <a:srgbClr val="222222"/>
                </a:solidFill>
                <a:latin typeface="맑은 고딕"/>
              </a:rPr>
              <a:t>•  두 노드에서 데몬으로 실행 중, 포트 5000</a:t>
            </a:r>
          </a:p>
          <a:p>
            <a:pPr algn="l">
              <a:spcAft>
                <a:spcPts val="1000"/>
              </a:spcAft>
            </a:pPr>
            <a:r>
              <a:rPr sz="1700" b="0">
                <a:solidFill>
                  <a:srgbClr val="222222"/>
                </a:solidFill>
                <a:latin typeface="맑은 고딕"/>
              </a:rPr>
              <a:t>•  버전 18.3.3.0.0, Inventory Status COMPLETE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수집 실행</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컴포넌트와 시간 범위를 지정한다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tfactl diagcollect -crs -last 1h -node local -tag ch20</a:t>
            </a:r>
          </a:p>
          <a:p>
            <a:pPr algn="l">
              <a:spcAft>
                <a:spcPts val="1000"/>
              </a:spcAft>
            </a:pPr>
            <a:r>
              <a:rPr sz="1700" b="0">
                <a:solidFill>
                  <a:srgbClr val="222222"/>
                </a:solidFill>
                <a:latin typeface="맑은 고딕"/>
              </a:rPr>
              <a:t>•  한 시간 분량 CRS 로그가 289 초에 63MB</a:t>
            </a:r>
          </a:p>
          <a:p>
            <a:pPr algn="l">
              <a:spcAft>
                <a:spcPts val="1000"/>
              </a:spcAft>
            </a:pPr>
            <a:r>
              <a:rPr sz="1700" b="0">
                <a:solidFill>
                  <a:srgbClr val="222222"/>
                </a:solidFill>
                <a:latin typeface="맑은 고딕"/>
              </a:rPr>
              <a:t>•  -crs 는 컴포넌트 — database, asm, tns 등이 있다</a:t>
            </a:r>
          </a:p>
          <a:p>
            <a:pPr algn="l">
              <a:spcAft>
                <a:spcPts val="1000"/>
              </a:spcAft>
            </a:pPr>
            <a:r>
              <a:rPr sz="1700" b="0">
                <a:solidFill>
                  <a:srgbClr val="222222"/>
                </a:solidFill>
                <a:latin typeface="맑은 고딕"/>
              </a:rPr>
              <a:t>•  -node local 은 이 노드만, -node all 이면 전 노드</a:t>
            </a:r>
          </a:p>
          <a:p>
            <a:pPr algn="l">
              <a:spcAft>
                <a:spcPts val="1000"/>
              </a:spcAft>
            </a:pPr>
            <a:r>
              <a:rPr sz="1700" b="0">
                <a:solidFill>
                  <a:srgbClr val="222222"/>
                </a:solidFill>
                <a:latin typeface="맑은 고딕"/>
              </a:rPr>
              <a:t>•  -tag 는 저장소 안의 디렉터리 이름</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재현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-last 5m 은 받지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tfactl diagcollect -last 5m -node local</a:t>
            </a:r>
          </a:p>
          <a:p>
            <a:pPr algn="l">
              <a:spcAft>
                <a:spcPts val="1000"/>
              </a:spcAft>
            </a:pPr>
            <a:r>
              <a:rPr sz="1700" b="0">
                <a:solidFill>
                  <a:srgbClr val="222222"/>
                </a:solidFill>
                <a:latin typeface="맑은 고딕"/>
              </a:rPr>
              <a:t>•  The time entered is invalid: 5m</a:t>
            </a:r>
          </a:p>
          <a:p>
            <a:pPr algn="l">
              <a:spcAft>
                <a:spcPts val="1000"/>
              </a:spcAft>
            </a:pPr>
            <a:r>
              <a:rPr sz="1700" b="0">
                <a:solidFill>
                  <a:srgbClr val="222222"/>
                </a:solidFill>
                <a:latin typeface="맑은 고딕"/>
              </a:rPr>
              <a:t>•  유효한 예 — 2h, 10d 즉 시간 단위는 h 와 d 뿐</a:t>
            </a:r>
          </a:p>
          <a:p>
            <a:pPr algn="l">
              <a:spcAft>
                <a:spcPts val="1000"/>
              </a:spcAft>
            </a:pPr>
            <a:r>
              <a:rPr sz="1700" b="0">
                <a:solidFill>
                  <a:srgbClr val="222222"/>
                </a:solidFill>
                <a:latin typeface="맑은 고딕"/>
              </a:rPr>
              <a:t>•  5 분어치만 보고 싶어도 최소 1h</a:t>
            </a:r>
          </a:p>
          <a:p>
            <a:pPr algn="l">
              <a:spcAft>
                <a:spcPts val="1000"/>
              </a:spcAft>
            </a:pPr>
            <a:r>
              <a:rPr sz="1700" b="0">
                <a:solidFill>
                  <a:srgbClr val="222222"/>
                </a:solidFill>
                <a:latin typeface="맑은 고딕"/>
              </a:rPr>
              <a:t>•  시각을 정확히 안다면 -from 과 -to 로 구간 지정</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저장소 관리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쌓이면 디스크를 먹는다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저장 위치 /u01/app/grid/tfa/repository/&lt;tag&gt;</a:t>
            </a:r>
          </a:p>
          <a:p>
            <a:pPr algn="l">
              <a:spcAft>
                <a:spcPts val="1000"/>
              </a:spcAft>
            </a:pPr>
            <a:r>
              <a:rPr sz="1700" b="0">
                <a:solidFill>
                  <a:srgbClr val="222222"/>
                </a:solidFill>
                <a:latin typeface="맑은 고딕"/>
              </a:rPr>
              <a:t>•  이 랩의 저장소가 이미 430MB</a:t>
            </a:r>
          </a:p>
          <a:p>
            <a:pPr algn="l">
              <a:spcAft>
                <a:spcPts val="1000"/>
              </a:spcAft>
            </a:pPr>
            <a:r>
              <a:rPr sz="1700" b="0">
                <a:solidFill>
                  <a:srgbClr val="222222"/>
                </a:solidFill>
                <a:latin typeface="맑은 고딕"/>
              </a:rPr>
              <a:t>•  한 번 수집에 61MB 압축 파일 하나</a:t>
            </a:r>
          </a:p>
          <a:p>
            <a:pPr algn="l">
              <a:spcAft>
                <a:spcPts val="1000"/>
              </a:spcAft>
            </a:pPr>
            <a:r>
              <a:rPr sz="1700" b="0">
                <a:solidFill>
                  <a:srgbClr val="222222"/>
                </a:solidFill>
                <a:latin typeface="맑은 고딕"/>
              </a:rPr>
              <a:t>•  오래된 수집물은 지워야 한다</a:t>
            </a:r>
          </a:p>
          <a:p>
            <a:pPr algn="l">
              <a:spcAft>
                <a:spcPts val="1000"/>
              </a:spcAft>
            </a:pPr>
            <a:r>
              <a:rPr sz="1700" b="0">
                <a:solidFill>
                  <a:srgbClr val="222222"/>
                </a:solidFill>
                <a:latin typeface="맑은 고딕"/>
              </a:rPr>
              <a:t>•  수집 자체가 I/O 부하를 준다</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언제 무엇을 모으는가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목적에 따라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오라클 지원에 SR 을 열 때 — -srdc 로 증상별 수집</a:t>
            </a:r>
          </a:p>
          <a:p>
            <a:pPr algn="l">
              <a:spcAft>
                <a:spcPts val="1000"/>
              </a:spcAft>
            </a:pPr>
            <a:r>
              <a:rPr sz="1700" b="0">
                <a:solidFill>
                  <a:srgbClr val="222222"/>
                </a:solidFill>
                <a:latin typeface="맑은 고딕"/>
              </a:rPr>
              <a:t>•  예를 들어 노드 축출이면 -srdc dbrac_evictions</a:t>
            </a:r>
          </a:p>
          <a:p>
            <a:pPr algn="l">
              <a:spcAft>
                <a:spcPts val="1000"/>
              </a:spcAft>
            </a:pPr>
            <a:r>
              <a:rPr sz="1700" b="0">
                <a:solidFill>
                  <a:srgbClr val="222222"/>
                </a:solidFill>
                <a:latin typeface="맑은 고딕"/>
              </a:rPr>
              <a:t>•  스스로 분석할 때 — 컴포넌트를 좁힌다</a:t>
            </a:r>
          </a:p>
          <a:p>
            <a:pPr algn="l">
              <a:spcAft>
                <a:spcPts val="1000"/>
              </a:spcAft>
            </a:pPr>
            <a:r>
              <a:rPr sz="1700" b="0">
                <a:solidFill>
                  <a:srgbClr val="222222"/>
                </a:solidFill>
                <a:latin typeface="맑은 고딕"/>
              </a:rPr>
              <a:t>•  시간 범위를 반드시 준다</a:t>
            </a:r>
          </a:p>
          <a:p>
            <a:pPr algn="l">
              <a:spcAft>
                <a:spcPts val="1000"/>
              </a:spcAft>
            </a:pPr>
            <a:r>
              <a:rPr sz="1700" b="0">
                <a:solidFill>
                  <a:srgbClr val="222222"/>
                </a:solidFill>
                <a:latin typeface="맑은 고딕"/>
              </a:rPr>
              <a:t>•  급한 불을 끈 뒤에 모은다</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20.4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종합 점검 스크립트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여섯 계층으로 묶는다</a:t>
            </a:r>
          </a:p>
          <a:p>
            <a:pPr algn="l">
              <a:spcAft>
                <a:spcPts val="800"/>
              </a:spcAft>
            </a:pPr>
            <a:r>
              <a:rPr sz="1600" b="0">
                <a:solidFill>
                  <a:srgbClr val="FFFFFF"/>
                </a:solidFill>
                <a:latin typeface="맑은 고딕"/>
              </a:rPr>
              <a:t>•  스크립트의 결함을 찾는다</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무엇을 합치는가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여섯 계층</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클러스터 (14장) — 스택 online, 자원 개수, TARGET/STATE</a:t>
            </a:r>
          </a:p>
          <a:p>
            <a:pPr algn="l">
              <a:spcAft>
                <a:spcPts val="1000"/>
              </a:spcAft>
            </a:pPr>
            <a:r>
              <a:rPr sz="1700" b="0">
                <a:solidFill>
                  <a:srgbClr val="222222"/>
                </a:solidFill>
                <a:latin typeface="맑은 고딕"/>
              </a:rPr>
              <a:t>•  2 알림 (16장) — ONS 데몬 생존, 상대 노드 연결</a:t>
            </a:r>
          </a:p>
          <a:p>
            <a:pPr algn="l">
              <a:spcAft>
                <a:spcPts val="1000"/>
              </a:spcAft>
            </a:pPr>
            <a:r>
              <a:rPr sz="1700" b="0">
                <a:solidFill>
                  <a:srgbClr val="222222"/>
                </a:solidFill>
                <a:latin typeface="맑은 고딕"/>
              </a:rPr>
              <a:t>•  3 서비스 (15·16장) — 기동 여부, 선호 인스턴스 배치</a:t>
            </a:r>
          </a:p>
          <a:p>
            <a:pPr algn="l">
              <a:spcAft>
                <a:spcPts val="1000"/>
              </a:spcAft>
            </a:pPr>
            <a:r>
              <a:rPr sz="1700" b="0">
                <a:solidFill>
                  <a:srgbClr val="222222"/>
                </a:solidFill>
                <a:latin typeface="맑은 고딕"/>
              </a:rPr>
              <a:t>•  4 인스턴스 (12장) — Open 인스턴스 수, SPFILE 표기</a:t>
            </a:r>
          </a:p>
          <a:p>
            <a:pPr algn="l">
              <a:spcAft>
                <a:spcPts val="1000"/>
              </a:spcAft>
            </a:pPr>
            <a:r>
              <a:rPr sz="1700" b="0">
                <a:solidFill>
                  <a:srgbClr val="222222"/>
                </a:solidFill>
                <a:latin typeface="맑은 고딕"/>
              </a:rPr>
              <a:t>•  5 스토리지 (13장) / 6 백업 (17장)</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스크립트 설계 원칙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셋</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실패와 경고를 나눈다 — 인스턴스 다운은 FAIL, 자원 개수는 WARN</a:t>
            </a:r>
          </a:p>
          <a:p>
            <a:pPr algn="l">
              <a:spcAft>
                <a:spcPts val="1000"/>
              </a:spcAft>
            </a:pPr>
            <a:r>
              <a:rPr sz="1700" b="0">
                <a:solidFill>
                  <a:srgbClr val="222222"/>
                </a:solidFill>
                <a:latin typeface="맑은 고딕"/>
              </a:rPr>
              <a:t>•  종료 코드로 실패 건수를 돌려준다 — 감시 도구가 판단</a:t>
            </a:r>
          </a:p>
          <a:p>
            <a:pPr algn="l">
              <a:spcAft>
                <a:spcPts val="1000"/>
              </a:spcAft>
            </a:pPr>
            <a:r>
              <a:rPr sz="1700" b="0">
                <a:solidFill>
                  <a:srgbClr val="222222"/>
                </a:solidFill>
                <a:latin typeface="맑은 고딕"/>
              </a:rPr>
              <a:t>•  기준선을 숫자로 박아 둔다 — 자원 17개, 스택 6/6</a:t>
            </a:r>
          </a:p>
          <a:p>
            <a:pPr algn="l">
              <a:spcAft>
                <a:spcPts val="1000"/>
              </a:spcAft>
            </a:pPr>
            <a:r>
              <a:rPr sz="1700" b="0">
                <a:solidFill>
                  <a:srgbClr val="222222"/>
                </a:solidFill>
                <a:latin typeface="맑은 고딕"/>
              </a:rPr>
              <a:t>•  기준선을 고칠 때가 구성 변경을 인지하는 때</a:t>
            </a:r>
          </a:p>
          <a:p>
            <a:pPr algn="l">
              <a:spcAft>
                <a:spcPts val="1000"/>
              </a:spcAft>
            </a:pPr>
            <a:r>
              <a:rPr sz="1700" b="0">
                <a:solidFill>
                  <a:srgbClr val="222222"/>
                </a:solidFill>
                <a:latin typeface="맑은 고딕"/>
              </a:rPr>
              <a:t>•  헬퍼 함수 ok / bad / warn / sec 로 출력을 통일</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실행 결과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11.5 초, 실패 0 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스택 online 6/6, 일반 자원 17개, -init 자원 13개</a:t>
            </a:r>
          </a:p>
          <a:p>
            <a:pPr algn="l">
              <a:spcAft>
                <a:spcPts val="1000"/>
              </a:spcAft>
            </a:pPr>
            <a:r>
              <a:rPr sz="1700" b="0">
                <a:solidFill>
                  <a:srgbClr val="222222"/>
                </a:solidFill>
                <a:latin typeface="맑은 고딕"/>
              </a:rPr>
              <a:t>•  ONS 데몬 응답, 상대 노드 1개</a:t>
            </a:r>
          </a:p>
          <a:p>
            <a:pPr algn="l">
              <a:spcAft>
                <a:spcPts val="1000"/>
              </a:spcAft>
            </a:pPr>
            <a:r>
              <a:rPr sz="1700" b="0">
                <a:solidFill>
                  <a:srgbClr val="222222"/>
                </a:solidFill>
                <a:latin typeface="맑은 고딕"/>
              </a:rPr>
              <a:t>•  인스턴스 2개 Open</a:t>
            </a:r>
          </a:p>
          <a:p>
            <a:pPr algn="l">
              <a:spcAft>
                <a:spcPts val="1000"/>
              </a:spcAft>
            </a:pPr>
            <a:r>
              <a:rPr sz="1700" b="0">
                <a:solidFill>
                  <a:srgbClr val="222222"/>
                </a:solidFill>
                <a:latin typeface="맑은 고딕"/>
              </a:rPr>
              <a:t>•  thread 1/2 current=1, dest1=VALID, FRA 7.4%</a:t>
            </a:r>
          </a:p>
          <a:p>
            <a:pPr algn="l">
              <a:spcAft>
                <a:spcPts val="1000"/>
              </a:spcAft>
            </a:pPr>
            <a:r>
              <a:rPr sz="1700" b="0">
                <a:solidFill>
                  <a:srgbClr val="222222"/>
                </a:solidFill>
                <a:latin typeface="맑은 고딕"/>
              </a:rPr>
              <a:t>•  spfile 경로와 인터커넥트 주소까지 한 화면에</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알려진 WARN 넷</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의도된 OFFLINE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ora.asmnet1.asmnetwork, ora.ASMNET1LSNR_ASM.lsnr, ora.asm</a:t>
            </a:r>
          </a:p>
          <a:p>
            <a:pPr algn="l">
              <a:spcAft>
                <a:spcPts val="1000"/>
              </a:spcAft>
            </a:pPr>
            <a:r>
              <a:rPr sz="1700" b="0">
                <a:solidFill>
                  <a:srgbClr val="222222"/>
                </a:solidFill>
                <a:latin typeface="맑은 고딕"/>
              </a:rPr>
              <a:t>•  셋 다 ora.asmgroup 의 빈 슬롯 (Flex ASM)</a:t>
            </a:r>
          </a:p>
          <a:p>
            <a:pPr algn="l">
              <a:spcAft>
                <a:spcPts val="1000"/>
              </a:spcAft>
            </a:pPr>
            <a:r>
              <a:rPr sz="1700" b="0">
                <a:solidFill>
                  <a:srgbClr val="222222"/>
                </a:solidFill>
                <a:latin typeface="맑은 고딕"/>
              </a:rPr>
              <a:t>•  ora.chad — rac2 쪽이 OFFLINE</a:t>
            </a:r>
          </a:p>
          <a:p>
            <a:pPr algn="l">
              <a:spcAft>
                <a:spcPts val="1000"/>
              </a:spcAft>
            </a:pPr>
            <a:r>
              <a:rPr sz="1700" b="0">
                <a:solidFill>
                  <a:srgbClr val="222222"/>
                </a:solidFill>
                <a:latin typeface="맑은 고딕"/>
              </a:rPr>
              <a:t>•  FAIL 이 아니라 WARN 인 것이 맞다</a:t>
            </a:r>
          </a:p>
          <a:p>
            <a:pPr algn="l">
              <a:spcAft>
                <a:spcPts val="1000"/>
              </a:spcAft>
            </a:pPr>
            <a:r>
              <a:rPr sz="1700" b="0">
                <a:solidFill>
                  <a:srgbClr val="222222"/>
                </a:solidFill>
                <a:latin typeface="맑은 고딕"/>
              </a:rPr>
              <a:t>•  다만 매일 같은 WARN 이 나오면 사람이 무시하게 된다</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스크립트가 자기 결함을 드러냈다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스레드 2 가 사라졌다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아카이브 점검 출력에 thread 1 만 나왔다</a:t>
            </a:r>
          </a:p>
          <a:p>
            <a:pPr algn="l">
              <a:spcAft>
                <a:spcPts val="1000"/>
              </a:spcAft>
            </a:pPr>
            <a:r>
              <a:rPr sz="1700" b="0">
                <a:solidFill>
                  <a:srgbClr val="222222"/>
                </a:solidFill>
                <a:latin typeface="맑은 고딕"/>
              </a:rPr>
              <a:t>•  문제인가, 스크립트가 잘못된 것인가</a:t>
            </a:r>
          </a:p>
          <a:p>
            <a:pPr algn="l">
              <a:spcAft>
                <a:spcPts val="1000"/>
              </a:spcAft>
            </a:pPr>
            <a:r>
              <a:rPr sz="1700" b="0">
                <a:solidFill>
                  <a:srgbClr val="222222"/>
                </a:solidFill>
                <a:latin typeface="맑은 고딕"/>
              </a:rPr>
              <a:t>•  v$archived_log 를 group by thread# 하면 행 없는 스레드는 빠진다</a:t>
            </a:r>
          </a:p>
          <a:p>
            <a:pPr algn="l">
              <a:spcAft>
                <a:spcPts val="1000"/>
              </a:spcAft>
            </a:pPr>
            <a:r>
              <a:rPr sz="1700" b="0">
                <a:solidFill>
                  <a:srgbClr val="222222"/>
                </a:solidFill>
                <a:latin typeface="맑은 고딕"/>
              </a:rPr>
              <a:t>•  스레드 2 는 정리 이후 아카이브를 아직 안 만들었다</a:t>
            </a:r>
          </a:p>
          <a:p>
            <a:pPr algn="l">
              <a:spcAft>
                <a:spcPts val="1000"/>
              </a:spcAft>
            </a:pPr>
            <a:r>
              <a:rPr sz="1700" b="0">
                <a:solidFill>
                  <a:srgbClr val="222222"/>
                </a:solidFill>
                <a:latin typeface="맑은 고딕"/>
              </a:rPr>
              <a:t>•  점검 스크립트가 "없는 것" 을 알려 주지 못한다</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고치는 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V$THREAD 에 아우터 조인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v$thread 를 기준으로 left join</a:t>
            </a:r>
          </a:p>
          <a:p>
            <a:pPr algn="l">
              <a:spcAft>
                <a:spcPts val="1000"/>
              </a:spcAft>
            </a:pPr>
            <a:r>
              <a:rPr sz="1700" b="0">
                <a:solidFill>
                  <a:srgbClr val="222222"/>
                </a:solidFill>
                <a:latin typeface="맑은 고딕"/>
              </a:rPr>
              <a:t>•  스레드 2 가 archived=0 으로 드러난다</a:t>
            </a:r>
          </a:p>
          <a:p>
            <a:pPr algn="l">
              <a:spcAft>
                <a:spcPts val="1000"/>
              </a:spcAft>
            </a:pPr>
            <a:r>
              <a:rPr sz="1700" b="0">
                <a:solidFill>
                  <a:srgbClr val="222222"/>
                </a:solidFill>
                <a:latin typeface="맑은 고딕"/>
              </a:rPr>
              <a:t>•  원칙 — "있어야 할 것의 목록" 을 기준으로 조회한다</a:t>
            </a:r>
          </a:p>
          <a:p>
            <a:pPr algn="l">
              <a:spcAft>
                <a:spcPts val="1000"/>
              </a:spcAft>
            </a:pPr>
            <a:r>
              <a:rPr sz="1700" b="0">
                <a:solidFill>
                  <a:srgbClr val="222222"/>
                </a:solidFill>
                <a:latin typeface="맑은 고딕"/>
              </a:rPr>
              <a:t>•  스레드는 V$THREAD, 인스턴스는 GV$INSTANCE, 자원은 기준선 개수</a:t>
            </a:r>
          </a:p>
          <a:p>
            <a:pPr algn="l">
              <a:spcAft>
                <a:spcPts val="1000"/>
              </a:spcAft>
            </a:pPr>
            <a:r>
              <a:rPr sz="1700" b="0">
                <a:solidFill>
                  <a:srgbClr val="222222"/>
                </a:solidFill>
                <a:latin typeface="맑은 고딕"/>
              </a:rPr>
              <a:t>•  같은 함정이 스레드별 CURRENT 조회와 서비스 점검에도 있다</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20.5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장애 시나리오 종합</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만든 것을 검증한다</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시나리오 설계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장애를 내고 잡히는지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17장 실습 05 와 같은 방식 — racdb2 의 pmon 을 kill -9</a:t>
            </a:r>
          </a:p>
          <a:p>
            <a:pPr algn="l">
              <a:spcAft>
                <a:spcPts val="1000"/>
              </a:spcAft>
            </a:pPr>
            <a:r>
              <a:rPr sz="1700" b="0">
                <a:solidFill>
                  <a:srgbClr val="222222"/>
                </a:solidFill>
                <a:latin typeface="맑은 고딕"/>
              </a:rPr>
              <a:t>•  세 시점에서 점검 스크립트를 돌린다</a:t>
            </a:r>
          </a:p>
          <a:p>
            <a:pPr algn="l">
              <a:spcAft>
                <a:spcPts val="1000"/>
              </a:spcAft>
            </a:pPr>
            <a:r>
              <a:rPr sz="1700" b="0">
                <a:solidFill>
                  <a:srgbClr val="222222"/>
                </a:solidFill>
                <a:latin typeface="맑은 고딕"/>
              </a:rPr>
              <a:t>•  장애 전 / 약 20 초 후 / 약 101 초 후</a:t>
            </a:r>
          </a:p>
          <a:p>
            <a:pPr algn="l">
              <a:spcAft>
                <a:spcPts val="1000"/>
              </a:spcAft>
            </a:pPr>
            <a:r>
              <a:rPr sz="1700" b="0">
                <a:solidFill>
                  <a:srgbClr val="222222"/>
                </a:solidFill>
                <a:latin typeface="맑은 고딕"/>
              </a:rPr>
              <a:t>•  스크립트가 잡아내는가</a:t>
            </a:r>
          </a:p>
          <a:p>
            <a:pPr algn="l">
              <a:spcAft>
                <a:spcPts val="1000"/>
              </a:spcAft>
            </a:pPr>
            <a:r>
              <a:rPr sz="1700" b="0">
                <a:solidFill>
                  <a:srgbClr val="222222"/>
                </a:solidFill>
                <a:latin typeface="맑은 고딕"/>
              </a:rPr>
              <a:t>•  자동 복구 후 정상으로 돌아오는가</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20 초 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가지가 동시에 드러났다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ora.racdb.db 가 TARGET/STATE 불일치 목록에 추가</a:t>
            </a:r>
          </a:p>
          <a:p>
            <a:pPr algn="l">
              <a:spcAft>
                <a:spcPts val="1000"/>
              </a:spcAft>
            </a:pPr>
            <a:r>
              <a:rPr sz="1700" b="0">
                <a:solidFill>
                  <a:srgbClr val="222222"/>
                </a:solidFill>
                <a:latin typeface="맑은 고딕"/>
              </a:rPr>
              <a:t>•  인스턴스 계층 FAIL — Open 인스턴스 1 개</a:t>
            </a:r>
          </a:p>
          <a:p>
            <a:pPr algn="l">
              <a:spcAft>
                <a:spcPts val="1000"/>
              </a:spcAft>
            </a:pPr>
            <a:r>
              <a:rPr sz="1700" b="0">
                <a:solidFill>
                  <a:srgbClr val="222222"/>
                </a:solidFill>
                <a:latin typeface="맑은 고딕"/>
              </a:rPr>
              <a:t>•  thread 2 가 CURRENT 목록에서 조용히 사라졌다</a:t>
            </a:r>
          </a:p>
          <a:p>
            <a:pPr algn="l">
              <a:spcAft>
                <a:spcPts val="1000"/>
              </a:spcAft>
            </a:pPr>
            <a:r>
              <a:rPr sz="1700" b="0">
                <a:solidFill>
                  <a:srgbClr val="222222"/>
                </a:solidFill>
                <a:latin typeface="맑은 고딕"/>
              </a:rPr>
              <a:t>•  inst 2 의 dest1 행도 사라졌다</a:t>
            </a:r>
          </a:p>
          <a:p>
            <a:pPr algn="l">
              <a:spcAft>
                <a:spcPts val="1000"/>
              </a:spcAft>
            </a:pPr>
            <a:r>
              <a:rPr sz="1700" b="0">
                <a:solidFill>
                  <a:srgbClr val="222222"/>
                </a:solidFill>
                <a:latin typeface="맑은 고딕"/>
              </a:rPr>
              <a:t>•  결과 실패 1 건</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101 초 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CRS 가 자동 복구했다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인스턴스 2 개 Open 으로 복귀</a:t>
            </a:r>
          </a:p>
          <a:p>
            <a:pPr algn="l">
              <a:spcAft>
                <a:spcPts val="1000"/>
              </a:spcAft>
            </a:pPr>
            <a:r>
              <a:rPr sz="1700" b="0">
                <a:solidFill>
                  <a:srgbClr val="222222"/>
                </a:solidFill>
                <a:latin typeface="맑은 고딕"/>
              </a:rPr>
              <a:t>•  thread 1/2 current=1, inst 1/2 dest1=VALID</a:t>
            </a:r>
          </a:p>
          <a:p>
            <a:pPr algn="l">
              <a:spcAft>
                <a:spcPts val="1000"/>
              </a:spcAft>
            </a:pPr>
            <a:r>
              <a:rPr sz="1700" b="0">
                <a:solidFill>
                  <a:srgbClr val="222222"/>
                </a:solidFill>
                <a:latin typeface="맑은 고딕"/>
              </a:rPr>
              <a:t>•  결과 실패 0 건</a:t>
            </a:r>
          </a:p>
          <a:p>
            <a:pPr algn="l">
              <a:spcAft>
                <a:spcPts val="1000"/>
              </a:spcAft>
            </a:pPr>
            <a:r>
              <a:rPr sz="1700" b="0">
                <a:solidFill>
                  <a:srgbClr val="222222"/>
                </a:solidFill>
                <a:latin typeface="맑은 고딕"/>
              </a:rPr>
              <a:t>•  12장부터 반복해 본 그 동작</a:t>
            </a:r>
          </a:p>
          <a:p>
            <a:pPr algn="l">
              <a:spcAft>
                <a:spcPts val="1000"/>
              </a:spcAft>
            </a:pPr>
            <a:r>
              <a:rPr sz="1700" b="0">
                <a:solidFill>
                  <a:srgbClr val="222222"/>
                </a:solidFill>
                <a:latin typeface="맑은 고딕"/>
              </a:rPr>
              <a:t>•  스크립트가 장애 탐지와 복구 확인을 모두 해 주었다</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자동 복구는 무한하지 않다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CRS-2771</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실습 준비 중 같은 장애를 한 시간 안에 두 번 냈다</a:t>
            </a:r>
          </a:p>
          <a:p>
            <a:pPr algn="l">
              <a:spcAft>
                <a:spcPts val="1000"/>
              </a:spcAft>
            </a:pPr>
            <a:r>
              <a:rPr sz="1700" b="0">
                <a:solidFill>
                  <a:srgbClr val="222222"/>
                </a:solidFill>
                <a:latin typeface="맑은 고딕"/>
              </a:rPr>
              <a:t>•  두 번째에는 CRS 가 인스턴스를 살리지 않았다</a:t>
            </a:r>
          </a:p>
          <a:p>
            <a:pPr algn="l">
              <a:spcAft>
                <a:spcPts val="1000"/>
              </a:spcAft>
            </a:pPr>
            <a:r>
              <a:rPr sz="1700" b="0">
                <a:solidFill>
                  <a:srgbClr val="222222"/>
                </a:solidFill>
                <a:latin typeface="맑은 고딕"/>
              </a:rPr>
              <a:t>•  RESTART_ATTEMPTS=2, UPTIME_THRESHOLD=1h</a:t>
            </a:r>
          </a:p>
          <a:p>
            <a:pPr algn="l">
              <a:spcAft>
                <a:spcPts val="1000"/>
              </a:spcAft>
            </a:pPr>
            <a:r>
              <a:rPr sz="1700" b="0">
                <a:solidFill>
                  <a:srgbClr val="222222"/>
                </a:solidFill>
                <a:latin typeface="맑은 고딕"/>
              </a:rPr>
              <a:t>•  CRS-2771 Maximum restart attempts reached / CRS-2769</a:t>
            </a:r>
          </a:p>
          <a:p>
            <a:pPr algn="l">
              <a:spcAft>
                <a:spcPts val="1000"/>
              </a:spcAft>
            </a:pPr>
            <a:r>
              <a:rPr sz="1700" b="0">
                <a:solidFill>
                  <a:srgbClr val="222222"/>
                </a:solidFill>
                <a:latin typeface="맑은 고딕"/>
              </a:rPr>
              <a:t>•  srvctl start instance 로 사람이 올리면 42.9 초에 복귀</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하나의 사건이 여섯 계층에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추적과 오진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클러스터 — 자원 상태가 어긋났다 (14장)</a:t>
            </a:r>
          </a:p>
          <a:p>
            <a:pPr algn="l">
              <a:spcAft>
                <a:spcPts val="1000"/>
              </a:spcAft>
            </a:pPr>
            <a:r>
              <a:rPr sz="1700" b="0">
                <a:solidFill>
                  <a:srgbClr val="222222"/>
                </a:solidFill>
                <a:latin typeface="맑은 고딕"/>
              </a:rPr>
              <a:t>•  인스턴스 — 개수가 줄었다 (12장)</a:t>
            </a:r>
          </a:p>
          <a:p>
            <a:pPr algn="l">
              <a:spcAft>
                <a:spcPts val="1000"/>
              </a:spcAft>
            </a:pPr>
            <a:r>
              <a:rPr sz="1700" b="0">
                <a:solidFill>
                  <a:srgbClr val="222222"/>
                </a:solidFill>
                <a:latin typeface="맑은 고딕"/>
              </a:rPr>
              <a:t>•  스토리지 — 스레드가 사라졌다 (13장)</a:t>
            </a:r>
          </a:p>
          <a:p>
            <a:pPr algn="l">
              <a:spcAft>
                <a:spcPts val="1000"/>
              </a:spcAft>
            </a:pPr>
            <a:r>
              <a:rPr sz="1700" b="0">
                <a:solidFill>
                  <a:srgbClr val="222222"/>
                </a:solidFill>
                <a:latin typeface="맑은 고딕"/>
              </a:rPr>
              <a:t>•  백업 — 아카이브 대상이 하나로 줄었다 (17장)</a:t>
            </a:r>
          </a:p>
          <a:p>
            <a:pPr algn="l">
              <a:spcAft>
                <a:spcPts val="1000"/>
              </a:spcAft>
            </a:pPr>
            <a:r>
              <a:rPr sz="1700" b="0">
                <a:solidFill>
                  <a:srgbClr val="222222"/>
                </a:solidFill>
                <a:latin typeface="맑은 고딕"/>
              </a:rPr>
              <a:t>•  한 계층만 보면 오진한다</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20.6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RAC 와 Data Guard</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무엇이 다르고 어떻게 겹치는가</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둘은 다른 문제를 푼다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경쟁 관계가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 — 인스턴스·서버 장애를 막는다</a:t>
            </a:r>
          </a:p>
          <a:p>
            <a:pPr algn="l">
              <a:spcAft>
                <a:spcPts val="1000"/>
              </a:spcAft>
            </a:pPr>
            <a:r>
              <a:rPr sz="1700" b="0">
                <a:solidFill>
                  <a:srgbClr val="222222"/>
                </a:solidFill>
                <a:latin typeface="맑은 고딕"/>
              </a:rPr>
              <a:t>•  Data Guard — 스토리지·사이트 장애를 막는다</a:t>
            </a:r>
          </a:p>
          <a:p>
            <a:pPr algn="l">
              <a:spcAft>
                <a:spcPts val="1000"/>
              </a:spcAft>
            </a:pPr>
            <a:r>
              <a:rPr sz="1700" b="0">
                <a:solidFill>
                  <a:srgbClr val="222222"/>
                </a:solidFill>
                <a:latin typeface="맑은 고딕"/>
              </a:rPr>
              <a:t>•  RAC 는 데이터 사본이 하나 (공유 스토리지)</a:t>
            </a:r>
          </a:p>
          <a:p>
            <a:pPr algn="l">
              <a:spcAft>
                <a:spcPts val="1000"/>
              </a:spcAft>
            </a:pPr>
            <a:r>
              <a:rPr sz="1700" b="0">
                <a:solidFill>
                  <a:srgbClr val="222222"/>
                </a:solidFill>
                <a:latin typeface="맑은 고딕"/>
              </a:rPr>
              <a:t>•  Data Guard 는 사본이 둘 이상 (독립 스토리지)</a:t>
            </a:r>
          </a:p>
          <a:p>
            <a:pPr algn="l">
              <a:spcAft>
                <a:spcPts val="1000"/>
              </a:spcAft>
            </a:pPr>
            <a:r>
              <a:rPr sz="1700" b="0">
                <a:solidFill>
                  <a:srgbClr val="222222"/>
                </a:solidFill>
                <a:latin typeface="맑은 고딕"/>
              </a:rPr>
              <a:t>•  17장 실습 06 — 데이터파일 하나를 지우자 양 노드에서 ORA-00376</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사건별로 누가 막는가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겹쳐 쓰는 이유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rac2 인스턴스 다운 / 서버 고장 → RAC, 무중단</a:t>
            </a:r>
          </a:p>
          <a:p>
            <a:pPr algn="l">
              <a:spcAft>
                <a:spcPts val="1000"/>
              </a:spcAft>
            </a:pPr>
            <a:r>
              <a:rPr sz="1700" b="0">
                <a:solidFill>
                  <a:srgbClr val="222222"/>
                </a:solidFill>
                <a:latin typeface="맑은 고딕"/>
              </a:rPr>
              <a:t>•  스토리지 어레이 고장 → Data Guard, Failover</a:t>
            </a:r>
          </a:p>
          <a:p>
            <a:pPr algn="l">
              <a:spcAft>
                <a:spcPts val="1000"/>
              </a:spcAft>
            </a:pPr>
            <a:r>
              <a:rPr sz="1700" b="0">
                <a:solidFill>
                  <a:srgbClr val="222222"/>
                </a:solidFill>
                <a:latin typeface="맑은 고딕"/>
              </a:rPr>
              <a:t>•  데이터센터 정전 → Data Guard, Failover</a:t>
            </a:r>
          </a:p>
          <a:p>
            <a:pPr algn="l">
              <a:spcAft>
                <a:spcPts val="1000"/>
              </a:spcAft>
            </a:pPr>
            <a:r>
              <a:rPr sz="1700" b="0">
                <a:solidFill>
                  <a:srgbClr val="222222"/>
                </a:solidFill>
                <a:latin typeface="맑은 고딕"/>
              </a:rPr>
              <a:t>•  실수로 DROP → 둘 다 못 막는다</a:t>
            </a:r>
          </a:p>
          <a:p>
            <a:pPr algn="l">
              <a:spcAft>
                <a:spcPts val="1000"/>
              </a:spcAft>
            </a:pPr>
            <a:r>
              <a:rPr sz="1700" b="0">
                <a:solidFill>
                  <a:srgbClr val="222222"/>
                </a:solidFill>
                <a:latin typeface="맑은 고딕"/>
              </a:rPr>
              <a:t>•  플래시백 또는 시점 복구 — 17장의 백업이 여전히 필요하다</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RAC 쪽 준비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이미 한 것과 남은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충족 — ARCHIVELOG 모드 (17장)</a:t>
            </a:r>
          </a:p>
          <a:p>
            <a:pPr algn="l">
              <a:spcAft>
                <a:spcPts val="1000"/>
              </a:spcAft>
            </a:pPr>
            <a:r>
              <a:rPr sz="1700" b="0">
                <a:solidFill>
                  <a:srgbClr val="222222"/>
                </a:solidFill>
                <a:latin typeface="맑은 고딕"/>
              </a:rPr>
              <a:t>•  충족 — 스레드별 리두 그룹 (13장)</a:t>
            </a:r>
          </a:p>
          <a:p>
            <a:pPr algn="l">
              <a:spcAft>
                <a:spcPts val="1000"/>
              </a:spcAft>
            </a:pPr>
            <a:r>
              <a:rPr sz="1700" b="0">
                <a:solidFill>
                  <a:srgbClr val="222222"/>
                </a:solidFill>
                <a:latin typeface="맑은 고딕"/>
              </a:rPr>
              <a:t>•  충족 — 공유 스토리지에 아카이브 (17장)</a:t>
            </a:r>
          </a:p>
          <a:p>
            <a:pPr algn="l">
              <a:spcAft>
                <a:spcPts val="1000"/>
              </a:spcAft>
            </a:pPr>
            <a:r>
              <a:rPr sz="1700" b="0">
                <a:solidFill>
                  <a:srgbClr val="222222"/>
                </a:solidFill>
                <a:latin typeface="맑은 고딕"/>
              </a:rPr>
              <a:t>•  미충족 — FORCE LOGGING, log_archive_config, 스탠바이 리두</a:t>
            </a:r>
          </a:p>
          <a:p>
            <a:pPr algn="l">
              <a:spcAft>
                <a:spcPts val="1000"/>
              </a:spcAft>
            </a:pPr>
            <a:r>
              <a:rPr sz="1700" b="0">
                <a:solidFill>
                  <a:srgbClr val="222222"/>
                </a:solidFill>
                <a:latin typeface="맑은 고딕"/>
              </a:rPr>
              <a:t>•  RAC 특유 — 파라미터는 sid='*' 로 모든 인스턴스에 같게</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가용성 기술을 고를 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목표가 먼저다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 를 쓸까 Data Guard 를 쓸까" 는 잘못된 질문</a:t>
            </a:r>
          </a:p>
          <a:p>
            <a:pPr algn="l">
              <a:spcAft>
                <a:spcPts val="1000"/>
              </a:spcAft>
            </a:pPr>
            <a:r>
              <a:rPr sz="1700" b="0">
                <a:solidFill>
                  <a:srgbClr val="222222"/>
                </a:solidFill>
                <a:latin typeface="맑은 고딕"/>
              </a:rPr>
              <a:t>•  "무슨 장애를 막고 싶은가" 가 먼저</a:t>
            </a:r>
          </a:p>
          <a:p>
            <a:pPr algn="l">
              <a:spcAft>
                <a:spcPts val="1000"/>
              </a:spcAft>
            </a:pPr>
            <a:r>
              <a:rPr sz="1700" b="0">
                <a:solidFill>
                  <a:srgbClr val="222222"/>
                </a:solidFill>
                <a:latin typeface="맑은 고딕"/>
              </a:rPr>
              <a:t>•  예산과 운영 능력을 정직하게 본다</a:t>
            </a:r>
          </a:p>
          <a:p>
            <a:pPr algn="l">
              <a:spcAft>
                <a:spcPts val="1000"/>
              </a:spcAft>
            </a:pPr>
            <a:r>
              <a:rPr sz="1700" b="0">
                <a:solidFill>
                  <a:srgbClr val="222222"/>
                </a:solidFill>
                <a:latin typeface="맑은 고딕"/>
              </a:rPr>
              <a:t>•  RAC 는 노드 수만큼 라이선스, 운영이 복잡하다</a:t>
            </a:r>
          </a:p>
          <a:p>
            <a:pPr algn="l">
              <a:spcAft>
                <a:spcPts val="1000"/>
              </a:spcAft>
            </a:pPr>
            <a:r>
              <a:rPr sz="1700" b="0">
                <a:solidFill>
                  <a:srgbClr val="222222"/>
                </a:solidFill>
                <a:latin typeface="맑은 고딕"/>
              </a:rPr>
              <a:t>•  목표가 "1 시간 안에 복구" 라면 백업만으로 충분할 수 있다</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20.7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과정을 마치며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스무 장을 지나왔다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흐름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1~5장 개념과 준비 — 인터커넥트를 잘못 잡으면 뒤가 흔들린다</a:t>
            </a:r>
          </a:p>
          <a:p>
            <a:pPr algn="l">
              <a:spcAft>
                <a:spcPts val="1000"/>
              </a:spcAft>
            </a:pPr>
            <a:r>
              <a:rPr sz="1700" b="0">
                <a:solidFill>
                  <a:srgbClr val="222222"/>
                </a:solidFill>
                <a:latin typeface="맑은 고딕"/>
              </a:rPr>
              <a:t>•  6~9장 Grid Infrastructure 와 ASM — OCR, 투표 디스크, 리밸런스</a:t>
            </a:r>
          </a:p>
          <a:p>
            <a:pPr algn="l">
              <a:spcAft>
                <a:spcPts val="1000"/>
              </a:spcAft>
            </a:pPr>
            <a:r>
              <a:rPr sz="1700" b="0">
                <a:solidFill>
                  <a:srgbClr val="222222"/>
                </a:solidFill>
                <a:latin typeface="맑은 고딕"/>
              </a:rPr>
              <a:t>•  10~11장 데이터베이스 생성 — 기본값이 나중에 만드는 결과</a:t>
            </a:r>
          </a:p>
          <a:p>
            <a:pPr algn="l">
              <a:spcAft>
                <a:spcPts val="1000"/>
              </a:spcAft>
            </a:pPr>
            <a:r>
              <a:rPr sz="1700" b="0">
                <a:solidFill>
                  <a:srgbClr val="222222"/>
                </a:solidFill>
                <a:latin typeface="맑은 고딕"/>
              </a:rPr>
              <a:t>•  12~14장 인스턴스와 클러스터 자원 — srvctl 과 crsctl 의 경계</a:t>
            </a:r>
          </a:p>
          <a:p>
            <a:pPr algn="l">
              <a:spcAft>
                <a:spcPts val="1000"/>
              </a:spcAft>
            </a:pPr>
            <a:r>
              <a:rPr sz="1700" b="0">
                <a:solidFill>
                  <a:srgbClr val="222222"/>
                </a:solidFill>
                <a:latin typeface="맑은 고딕"/>
              </a:rPr>
              <a:t>•  15~17장 서비스·부하 관리·백업, 20장 진단과 성능</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과정에서 가장 자주 한 것</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실제로 확인한다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restore spfile 이 CRS 등록을 바꿔 버렸다</a:t>
            </a:r>
          </a:p>
          <a:p>
            <a:pPr algn="l">
              <a:spcAft>
                <a:spcPts val="1000"/>
              </a:spcAft>
            </a:pPr>
            <a:r>
              <a:rPr sz="1700" b="0">
                <a:solidFill>
                  <a:srgbClr val="222222"/>
                </a:solidFill>
                <a:latin typeface="맑은 고딕"/>
              </a:rPr>
              <a:t>•  log_archive_dest_1='' 는 기본값 복원이 아니라 비활성화였다</a:t>
            </a:r>
          </a:p>
          <a:p>
            <a:pPr algn="l">
              <a:spcAft>
                <a:spcPts val="1000"/>
              </a:spcAft>
            </a:pPr>
            <a:r>
              <a:rPr sz="1700" b="0">
                <a:solidFill>
                  <a:srgbClr val="222222"/>
                </a:solidFill>
                <a:latin typeface="맑은 고딕"/>
              </a:rPr>
              <a:t>•  인터커넥트 주소가 등록한 것과 달랐다</a:t>
            </a:r>
          </a:p>
          <a:p>
            <a:pPr algn="l">
              <a:spcAft>
                <a:spcPts val="1000"/>
              </a:spcAft>
            </a:pPr>
            <a:r>
              <a:rPr sz="1700" b="0">
                <a:solidFill>
                  <a:srgbClr val="222222"/>
                </a:solidFill>
                <a:latin typeface="맑은 고딕"/>
              </a:rPr>
              <a:t>•  TAF 설정이 서비스와 클라이언트 중 어느 쪽을 따르는가</a:t>
            </a:r>
          </a:p>
          <a:p>
            <a:pPr algn="l">
              <a:spcAft>
                <a:spcPts val="1000"/>
              </a:spcAft>
            </a:pPr>
            <a:r>
              <a:rPr sz="1700" b="0">
                <a:solidFill>
                  <a:srgbClr val="222222"/>
                </a:solidFill>
                <a:latin typeface="맑은 고딕"/>
              </a:rPr>
              <a:t>•  diagcollection.pl 은 이미 없었다</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되돌리기를 습관으로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마지막 당부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이 과정의 모든 실습이 기준선으로 돌아오게 설계되었다</a:t>
            </a:r>
          </a:p>
          <a:p>
            <a:pPr algn="l">
              <a:spcAft>
                <a:spcPts val="1000"/>
              </a:spcAft>
            </a:pPr>
            <a:r>
              <a:rPr sz="1700" b="0">
                <a:solidFill>
                  <a:srgbClr val="222222"/>
                </a:solidFill>
                <a:latin typeface="맑은 고딕"/>
              </a:rPr>
              <a:t>•  무엇을 바꿨는지 알아야 되돌릴 수 있다</a:t>
            </a:r>
          </a:p>
          <a:p>
            <a:pPr algn="l">
              <a:spcAft>
                <a:spcPts val="1000"/>
              </a:spcAft>
            </a:pPr>
            <a:r>
              <a:rPr sz="1700" b="0">
                <a:solidFill>
                  <a:srgbClr val="222222"/>
                </a:solidFill>
                <a:latin typeface="맑은 고딕"/>
              </a:rPr>
              <a:t>•  되돌릴 수 있어야 과감하게 시도할 수 있다</a:t>
            </a:r>
          </a:p>
          <a:p>
            <a:pPr algn="l">
              <a:spcAft>
                <a:spcPts val="1000"/>
              </a:spcAft>
            </a:pPr>
            <a:r>
              <a:rPr sz="1700" b="0">
                <a:solidFill>
                  <a:srgbClr val="222222"/>
                </a:solidFill>
                <a:latin typeface="맑은 고딕"/>
              </a:rPr>
              <a:t>•  기준선 — FRA 825MB/5파일, CRS 자원 17개, 두 인스턴스 OPEN</a:t>
            </a:r>
          </a:p>
          <a:p>
            <a:pPr algn="l">
              <a:spcAft>
                <a:spcPts val="1000"/>
              </a:spcAft>
            </a:pPr>
            <a:r>
              <a:rPr sz="1700" b="0">
                <a:solidFill>
                  <a:srgbClr val="222222"/>
                </a:solidFill>
                <a:latin typeface="맑은 고딕"/>
              </a:rPr>
              <a:t>•  점검 스크립트는 남겨 둔다 — 이 과정의 결과물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4884</Words>
  <Application>Microsoft Office PowerPoint</Application>
  <PresentationFormat>와이드스크린</PresentationFormat>
  <Paragraphs>340</Paragraphs>
  <Slides>47</Slides>
  <Notes>37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47</vt:i4>
      </vt:variant>
    </vt:vector>
  </HeadingPairs>
  <TitlesOfParts>
    <vt:vector size="51"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KEONTAE KIM</cp:lastModifiedBy>
  <cp:revision>2</cp:revision>
  <dcterms:created xsi:type="dcterms:W3CDTF">2013-01-27T09:14:16Z</dcterms:created>
  <dcterms:modified xsi:type="dcterms:W3CDTF">2026-10-29T10:20:32Z</dcterms:modified>
  <cp:category/>
</cp:coreProperties>
</file>
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출발점을 분명히 합니다. 4장에서 Grid Infrastructure 설치를 끝내고 백업 상태를 확인했을 때 나온 답이 PROT-24 와 PROT-25 였습니다. 백업이 한 벌도 없다는 뜻입니다. 이 장은 그 상태에서 출발해 백업을 만들고, 다중화하고, 일부러 디스크를 내려 보고, 다시 복구하는 과정을 전부 실측으로 따라갑니다. 데이터베이스 관리자가 놓치기 쉬운 영역인데, 데이터 파일이 아무리 안전해도 클러스터 구성 정보가 사라지면 클러스터를 처음부터 다시 만들어야 하기 때문에 실무 비중이 매우 큽니다.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ocrdump 의 출력을 함께 읽습니다. OCR 을 단순한 바이너리 파일로 생각하면 왜 백업과 복원이 그렇게 까다로운지 이해할 수 없습니다. 실제로는 권한이 붙은 트리 구조이고, 각 키마다 소유자와 읽기·쓰기 권한이 따로 지정되어 있습니다. 그래서 파일 단위 복사로는 안 되고 전용 명령을 써야 합니다. 428개라는 숫자도 기억해 두면 좋습니다. 리소스를 추가할수록 늘어나므로 클러스터 규모의 간접 지표가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무중단 패치가 어떻게 가능한지를 구조로 설명하는 슬라이드입니다. 롤링 패치는 노드를 하나씩 내려 패치하고 다시 올리는 방식이라, 중간에는 rac1 과 rac2 의 버전이 다릅니다. Clusterware 는 활성 버전과 노드별 실제 버전을 별도 키로 관리해 이 상태를 정상으로 취급합니다. 그리고 백업 목록에 패치 레벨이 함께 표시되는 이유도 여기서 나옵니다. 패치 레벨이 다른 백업으로 복원하면 노드 간 버전 정보가 어긋나기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2장에서 OHAS 스택과 CRS 스택을 나눠 봤던 내용이 여기서 다시 연결됩니다. 왜 저장소를 두 벌로 나눴는가에 대한 답이 부팅 순서입니다. OCR 이 ASM 안에 있는데 ASM 을 띄우는 정보도 OCR 에 있다면 영원히 뜰 수 없습니다. 그래서 부팅에 꼭 필요한 최소 정보만 로컬 파일시스템의 OLR 에 두고, 나머지 클러스터 구성은 공유 저장소의 OCR 에 둡니다. 이 구조를 이해하면 노드 하나만 안 뜨는 장애를 진단할 때 어느 쪽을 봐야 하는지 바로 판단할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매우 유용한 습관입니다. OCR 관련 작업을 하고 나면 무엇이 어떻게 됐는지 확신이 서지 않을 때가 많습니다. ID 값 하나를 기억해 두면 판단이 쉬워집니다. 이 장의 실습에서 OCR 을 지웠다 다시 만들고, 다른 디스크그룹으로 옮겼다 되돌리는데도 ID 는 665666554 로 끝까지 유지됩니다. 반대로 ASM 파일 번호는 계속 바뀝니다. 컨테이너는 바뀌어도 내용은 그대로라는 점을 ID 가 증명해 줍니다.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ocrcheck 출력의 마지막 두 줄을 그냥 지나치기 쉬운데, 서로 다른 것을 검사합니다. 앞은 디스크에 기록된 블록이 손상되지 않았는지를 보고, 뒤는 키 트리의 참조 관계가 끊어진 곳이 없는지를 봅니다. 스토리지 계층은 정상인데 OCR 내부 구조만 어긋난 사례가 실제로 존재하기 때문에 두 검사가 따로 있습니다. 점검 스크립트를 만들 때 이 두 줄이 모두 succeeded 인지 확인하도록 작성하시기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파일을 손으로 고치고 싶은 유혹이 생기는 상황이 있습니다. 노드 간 불일치가 발생했을 때입니다. 하지만 직접 편집하면 ASM 안의 실제 파일과 어긋나 더 큰 문제가 됩니다. 노드 하나만 어긋났다면 ocrconfig -repair 를 쓰는 것이 정답이고, 이 명령은 해당 노드의 CRS 가 내려가 있어야 동작합니다. 첫 줄 주석은 감사 추적에 유용합니다. 언제 무엇이 무엇으로 바뀌었는지가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두 메시지를 오류로 착각해 원인을 찾느라 시간을 쓰는 경우가 많습니다. 실패했다는 뜻이 아니라 보여 줄 것이 없다는 뜻입니다. 실습에서는 개별 옵션으로도 확인해 두 메시지가 각각 무엇에 대한 것인지 분리해서 보게 됩니다. 그리고 이 상태 자체가 위험 신호라는 점이 중요합니다. 지금 클러스터에 문제가 생기면 되돌릴 수단이 아무것도 없다는 뜻이기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환경에서 반드시 만나게 되는 상황이고, 운영 환경에서도 야간 정지 배치가 있으면 똑같이 발생합니다. 확인 방법을 익혀 두시기 바랍니다. ps 의 lstart 옵션은 프로세스 시작 시각을 사람이 읽을 수 있는 형태로 보여 줍니다. 이 시각과 현재 시각의 차이가 4시간을 넘지 않으면 자동 백업이 없는 것이 정상입니다. 원인을 잘못 짚어 스토리지나 권한을 뒤지는 일이 없도록 하시기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 과 OLR 을 나란히 놓으면 백업 정책의 차이가 드러납니다. OLR 은 내용이 자주 바뀌지 않고 구성이 변할 때만 갱신되므로 사건 기반으로 충분합니다. OCR 은 리소스 상태가 계속 변하므로 주기적으로 떠야 합니다. 그리고 OLR 백업이 노드 로컬이라는 점이 중요합니다. 노드 하나가 통째로 사라지면 그 노드의 OLR 백업도 함께 사라지므로, 복구가 아니라 노드 재구축이 정답이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인터넷 자료를 그대로 따라 하다 막히는 대표적인 지점입니다. 11g 시절에는 실제로 그 경로에 백업이 쌓였습니다. 12c 에서 기본값이 바뀌었는데 문서가 함께 갱신되지 않은 자료들이 아직도 많이 돌아다닙니다. 확인 방법은 간단합니다. 문서를 믿는 대신 직접 백업을 한 번 만들고 출력이 알려 주는 경로를 읽으면 됩니다. 이 장의 실습이 계속 그 방식을 취합니다.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권한 경계를 확인하는 습관을 계속 이어 갑니다. 3장과 4장에서 계정 가드가 양방향으로 걸려 있음을 봤는데, OCR 도 같은 원칙을 따릅니다. 상태를 읽는 것은 grid 도 되지만 바꾸는 것은 root 만 됩니다. 실무에서 백업 스크립트를 만들 때 이 점이 중요합니다. grid 계정의 cron 으로 돌리면 PROT-20 으로 실패하므로 root 의 cron 이거나 sudo 를 거쳐야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5.3 절의 핵심입니다. 출력 한 줄을 정확히 읽는 훈련입니다. 특히 세 번째, 명령을 받은 노드와 실제로 수행한 노드가 다르다는 점은 처음 보면 오류로 착각하기 쉽습니다. Clusterware 는 여러 crsd 중 하나가 마스터 역할을 맡고, OCR 을 바꾸는 작업은 그쪽으로 넘겨 직렬화합니다. 그래서 어느 노드에서 명령을 내리든 결과는 같습니다. 마스터가 누구인지는 추적 파일로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메시지를 정확히 해석하는 연습입니다. invalid storage type 이라는 표현을 놓치면 권한 문제로 오해해 chmod 와 chown 을 반복하게 됩니다. 설계 의도를 이해하면 메시지가 자연스럽게 읽힙니다. 백업의 목적은 노드가 사라졌을 때 되살리는 것인데, 그 백업이 사라진 노드 안에 있으면 목적을 달성할 수 없습니다. 그래서 아예 지정할 수 없게 만들어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백업을 어디에 두느냐가 보호 수준을 결정한다는 점을 보여 줍니다. asmcmd 의 Redund 컬럼을 읽는 법을 익혀 두시기 바랍니다. MIRROR 는 두 벌, UNPROT 은 보호 없음, HIGH 는 세 벌입니다. 실습에서 OCR 을 +DATA 로 다중화했을 때 같은 OCR 이 한쪽은 MIRROR, 다른 쪽은 UNPROT 으로 저장되는 것을 직접 확인하게 됩니다. 다중화를 했다고 해서 모든 사본이 동등하게 보호되는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백업의 성격 차이를 정리합니다. 물리적 백업은 자동으로 쌓이지만 ASM 안에 있어서, 디스크그룹 자체가 날아가면 백업도 함께 날아갑니다. 논리적 export 는 자동으로 만들어지지 않지만 208KB 짜리 작은 파일이라 어디든 둘 수 있습니다. 이 둘은 대체재가 아니라 보완재입니다. 실무에서는 구성 변경 직전에 두 가지를 함께 실행하고 export 파일만 클러스터 밖 백업 서버로 복사하는 방식을 권합니다.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오류를 계층으로 읽는 훈련을 계속합니다. 두 줄이 함께 나오는 이유는 판정과 근거가 다른 계층에서 만들어지기 때문입니다. 실무 가치는 PROC-50 의 노드 이름에 있습니다. 노드가 여러 개인 클러스터에서 특정 노드만 디스크그룹을 마운트하지 못한 상태라면, 이 메시지가 그 노드를 정확히 지목해 줍니다. 오류를 보고 바로 그 노드로 가서 ASM 상태를 확인하면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ocrcheck 출력에서 빈 슬롯을 세는 방법을 알려 드립니다. 처음 보면 not configured 세 줄이 뭔가 잘못된 것처럼 보이는데, 등록 가능한 최대 개수가 5개이고 지금 2개를 썼다는 뜻입니다. 그리고 공간 수치가 변하지 않는다는 점도 확인하시기 바랍니다. 다중화는 같은 내용을 여러 곳에 복제해 가용성을 높이는 것이지 저장 용량을 늘리는 것이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ocr.loc 을 직접 편집하지 말라고 한 이유가 여기서 구체화됩니다. ocrconfig 명령은 ASM 안의 실제 파일 생성, 로컬 ocr.loc 갱신, 다른 노드 ocr.loc 갱신을 하나의 작업으로 처리합니다. 손으로 고치면 이 셋 중 하나만 바뀌어 불일치가 생깁니다. 실습에서 두 노드의 파일을 나란히 확인해 완전히 같음을 눈으로 보게 됩니다. 노드가 늘어날수록 이 자동 전파의 가치가 커집니다.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 이 절의 결론이 모두 들어 있습니다. Clusterware 는 OCR 을 0벌로 만드는 것을 스스로 금지합니다. 그래서 위치 이동은 항상 추가가 먼저이고 삭제가 나중입니다. 실습에서 파일 번호가 registry.255.1242760249 에서 registry.255.1242835837 로 바뀌는 것을 보게 되는데, 이때 ID 가 그대로라는 점을 반드시 함께 확인하시기 바랍니다. 파일은 새것이고 내용은 옛것이라는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Voting File 개수를 왜 마음대로 정할 수 없는지에 대한 답입니다. 과반수 규칙이 클러스터 스플릿 브레인 방지의 핵심이므로, 개수는 중복도가 강제합니다. 표의 세 줄을 외우기보다 규칙을 이해하시기 바랍니다. 3개 중 2개, 5개 중 3개에 접근할 수 있어야 살아남습니다. 이 규칙은 7장의 노드 축출과 스플릿 브레인 실습에서 다시 등장하므로 여기서 확실히 잡고 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자주 나오는 질문에 대한 답입니다. ASM 에 있다고 했는데 왜 asmcmd 로는 안 보이느냐는 것입니다. 정확히 말하면 ASM 디스크그룹의 디스크에 있지만 ASM 파일시스템 계층을 거치지 않습니다. 이유는 다시 부팅 순서입니다. CSS 는 ASM 인스턴스가 뜨기 전에 Voting File 을 읽어야 하므로 ASM 을 경유할 수 없습니다. 그래서 디스크 헤더 정보만으로 직접 접근하는 방식을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오류를 권한 문제로 오해하기 쉬워서 실습에서 grid 와 root 양쪽으로 확인합니다. 같은 메시지가 나오면 권한이 아니라 구성 방식의 제약임이 분명해집니다. 사람이 Voting File 을 하나만 더 넣으면 개수가 짝수가 되어 과반수 규칙이 깨질 수 있고, 하나만 빼면 중복도가 보장하는 손실 허용치와 어긋납니다. 그래서 개별 조작을 아예 막고 디스크그룹 단위 교체만 허용합니다.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 오류 스택을 읽는 방법을 훈련하는 슬라이드입니다. 맨 위 메시지만 검색하면 답을 찾기 어렵습니다. 실제 원인은 항상 스택의 가장 아래에 있습니다. 그리고 CRS-4628 을 반드시 확인하는 습관을 들이시기 바랍니다. 롤백에 성공했다는 뜻이므로 구성이 중간 상태로 남지 않았다는 보증입니다. 이 줄이 없는 실패는 위험하므로 즉시 현재 상태를 직접 조회해야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의 내부 순서를 출력으로 확인하는 슬라이드입니다. Successful addition 이 먼저 나오고 Successful deletion 이 뒤따르는 것을 눈으로 보게 됩니다. 이 순서 덕분에 데이터베이스를 내리지 않고도 Voting File 위치를 옮길 수 있습니다. 그리고 되돌렸을 때 FUID 가 전부 새 값이라는 점이 중요합니다. Voting File 은 되살아나는 것이 아니라 새로 만들어집니다. 이 성질은 다음 절에서 다시 활용됩니다.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가장 실무적인 발견입니다. 19c 로 설치했으니 모든 기능이 켜져 있으리라 생각하기 쉽지만 디스크그룹 속성은 설치 버전과 무관하게 기본값을 따릅니다. 4장에서 우리가 작성한 응답 파일에 compatible.rdbms 항목이 없었고, 지정하지 않으면 ASM 은 가장 낮은 값을 넣습니다. 인터넷 자료를 그대로 따라 하다 여기서 막히는 사례가 많은데, 원인을 정확히 진단하는 것이 이 실습의 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주의 환기용입니다. 이 장의 다른 모든 실습은 원상 복구되지만 이 한 가지만 예외입니다. 그래서 실습에서 필요한 최소 값인 11.2 까지만 올립니다. 19.0 까지 올리면 데이터베이스 쪽 호환성 제약이 함께 걸리므로 불필요한 위험을 지게 됩니다. 상향 전에 같은 값으로 설정하면 성공한다는 점도 함께 확인하는데, 이것이 왜 그런지 설명할 수 있어야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v$asm_disk 를 읽는 훈련입니다. PATH 가 비는 것을 보고 디스크가 사라졌다고 오해하기 쉬운데, 물리적으로는 /dev/asmdisk/crs3 이 그대로 있습니다. ASM 이 그 디스크를 열지 않고 있을 뿐입니다. TOTAL_MB 가 그대로라는 점이 이를 증명합니다. 내려간 디스크도 여전히 디스크그룹의 구성원이고, 제거된 것이 아니라 일시적으로 접근 불가로 표시된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디스크 교체 작업을 계획할 때 쓰는 체크리스트입니다. USABLE_FILE_MB 는 ASM 이 계산해 주는 안전 여유이고, 이 값이 음수라면 지금 디스크를 내리는 것 자체가 위험합니다. Voting File 을 담은 디스크인지도 함께 확인해야 재배치가 일어날 것을 예상할 수 있습니다. 그리고 작업 전후의 FUID 목록이 결과를 검증하는 유일하게 확실한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실습 6의 결론입니다. 이론으로 배운 손실 허용치가 실제로 동작하는 것을 눈으로 확인하는 순간입니다. 디스크 한 장을 잃었는데도 클러스터와 데이터베이스가 모두 정상이라는 것을 네 가지 명령으로 각각 확인합니다. 그리고 rac2 에서도 같은 2개가 보이는지 반드시 확인하시기 바랍니다. 한쪽 노드에서만 확인하면 노드 간 인식 차이를 놓칠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alert.log 를 시각순으로 읽으면 내부 동작이 드러납니다. 중요한 것은 디스크 OFFLINE 과 Voting File 조정이 별개의 단계이고 사이에 짧은 시차가 있다는 점입니다. 디스크를 내린 직후 곧바로 crsctl query css votedisk 를 실행하면 아직 3개로 보일 수 있습니다. 그래서 실습에서 15초를 기다린 뒤 확인합니다. 성급하게 판단해 문제로 오해하지 않도록 주의하시기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일반적인 ASM 디스크와 Voting File 디스크의 차이를 보여 줍니다. 보통은 REPAIR_TIMER 가 흐르기 시작하고 DISK_REPAIR_TIME 을 넘기면 디스크가 강제로 제거되면서 전체 리밸런스가 일어납니다. 그런데 여기서는 타이머가 움직이지 않았습니다. 설정을 잘못한 것이 아니라 이 디스크가 mandatory 속성을 잃었기 때문입니다. alert.log 를 함께 읽지 않으면 설명할 수 없는 현상입니다.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6의 마지막 함정입니다. 작업 전 FUID 를 기록해 두라고 했는데, 복구 후 값이 다르다고 실패로 판단하면 안 됩니다. Voting File 은 디스크가 돌아오면 새로 배치되고 새 FUID 를 받습니다. 그러면 FUID 기록이 왜 필요한가 하면, 무엇이 바뀌고 무엇이 그대로인지를 구분하기 위해서입니다. 여기서도 1번과 2번은 그대로이고 3번만 바뀌었다는 사실이 재배치 범위를 정확히 알려 줍니다.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절차가 왜 그렇게 번거로운지에 대한 답입니다. 명령 하나로 끝나지 않고 클러스터를 내렸다 배타 모드로 올렸다 다시 내리는 과정을 거치는 이유가 이 PROT-19 에 있습니다. 실습에서는 실제로 복원을 수행하지 않고 이 가드만 확인합니다. 클러스터가 정상인 상태에서 굳이 복원할 이유가 없기 때문입니다. 대신 절차서를 작성해 실제 상황에 대비합니다. 세 명령이 모두 같은 메시지로 막힌다는 사실 자체가 중요한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절차의 각 단계에 이유가 있습니다. 한 노드에서만 띄우는 것은 두 노드가 동시에 OCR 을 쓰지 못하게 하기 위함이고, -nocrs 는 crsd 를 띄우지 않아 PROT-19 를 피하기 위함입니다. 종료에 -f 가 필요한 이유는 배타 모드 스택이 정상 종료 경로를 따르지 않기 때문입니다. 이 절차를 외우기보다 각 단계가 무엇을 위한 것인지 설명할 수 있어야 실제 상황에서 응용할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OCR·Voting File</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관리</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백업, 다중화, 디스크 강제 OFFLINE, 그리고 복구 절차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OCR 과 OLR 의 역할과 저장 위치를 구분한다</a:t>
            </a:r>
          </a:p>
          <a:p>
            <a:pPr algn="l">
              <a:spcAft>
                <a:spcPts val="1000"/>
              </a:spcAft>
            </a:pPr>
            <a:r>
              <a:rPr sz="1600" b="0">
                <a:solidFill>
                  <a:srgbClr val="222222"/>
                </a:solidFill>
                <a:latin typeface="맑은 고딕"/>
              </a:rPr>
              <a:t>•  설치 직후 백업이 없는 이유를 crsd 기동 시각으로 설명한다</a:t>
            </a:r>
          </a:p>
          <a:p>
            <a:pPr algn="l">
              <a:spcAft>
                <a:spcPts val="1000"/>
              </a:spcAft>
            </a:pPr>
            <a:r>
              <a:rPr sz="1600" b="0">
                <a:solidFill>
                  <a:srgbClr val="222222"/>
                </a:solidFill>
                <a:latin typeface="맑은 고딕"/>
              </a:rPr>
              <a:t>•  물리적 백업과 논리적 export 를 목적에 맞게 선택한다</a:t>
            </a:r>
          </a:p>
          <a:p>
            <a:pPr algn="l">
              <a:spcAft>
                <a:spcPts val="1000"/>
              </a:spcAft>
            </a:pPr>
            <a:r>
              <a:rPr sz="1600" b="0">
                <a:solidFill>
                  <a:srgbClr val="222222"/>
                </a:solidFill>
                <a:latin typeface="맑은 고딕"/>
              </a:rPr>
              <a:t>•  OCR 다중화의 순서와 PROT-28 가드를 안다</a:t>
            </a:r>
          </a:p>
          <a:p>
            <a:pPr algn="l">
              <a:spcAft>
                <a:spcPts val="1000"/>
              </a:spcAft>
            </a:pPr>
            <a:r>
              <a:rPr sz="1600" b="0">
                <a:solidFill>
                  <a:srgbClr val="222222"/>
                </a:solidFill>
                <a:latin typeface="맑은 고딕"/>
              </a:rPr>
              <a:t>•  Voting File 개수가 중복도로 결정되는 이유를 설명한다</a:t>
            </a:r>
          </a:p>
          <a:p>
            <a:pPr algn="l">
              <a:spcAft>
                <a:spcPts val="1000"/>
              </a:spcAft>
            </a:pPr>
            <a:r>
              <a:rPr sz="1600" b="0">
                <a:solidFill>
                  <a:srgbClr val="222222"/>
                </a:solidFill>
                <a:latin typeface="맑은 고딕"/>
              </a:rPr>
              <a:t>•  디스크 OFFLINE 을 막는 compatible.rdbms 제약을 진단한다</a:t>
            </a:r>
          </a:p>
          <a:p>
            <a:pPr algn="l">
              <a:spcAft>
                <a:spcPts val="1000"/>
              </a:spcAft>
            </a:pPr>
            <a:r>
              <a:rPr sz="1600" b="0">
                <a:solidFill>
                  <a:srgbClr val="222222"/>
                </a:solidFill>
                <a:latin typeface="맑은 고딕"/>
              </a:rPr>
              <a:t>•  시나리오별 복구 절차를 절차서로 정리한다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5.1 OCR 은 무엇을 담고 있는가</a:t>
            </a:r>
          </a:p>
          <a:p>
            <a:pPr algn="l">
              <a:spcAft>
                <a:spcPts val="1000"/>
              </a:spcAft>
            </a:pPr>
            <a:r>
              <a:rPr sz="1600" b="0">
                <a:solidFill>
                  <a:srgbClr val="222222"/>
                </a:solidFill>
                <a:latin typeface="맑은 고딕"/>
              </a:rPr>
              <a:t>•  5.2 백업 — 있는가, 어디에 있는가</a:t>
            </a:r>
          </a:p>
          <a:p>
            <a:pPr algn="l">
              <a:spcAft>
                <a:spcPts val="1000"/>
              </a:spcAft>
            </a:pPr>
            <a:r>
              <a:rPr sz="1600" b="0">
                <a:solidFill>
                  <a:srgbClr val="222222"/>
                </a:solidFill>
                <a:latin typeface="맑은 고딕"/>
              </a:rPr>
              <a:t>•  5.3 백업을 만든다</a:t>
            </a:r>
          </a:p>
          <a:p>
            <a:pPr algn="l">
              <a:spcAft>
                <a:spcPts val="1000"/>
              </a:spcAft>
            </a:pPr>
            <a:r>
              <a:rPr sz="1600" b="0">
                <a:solidFill>
                  <a:srgbClr val="222222"/>
                </a:solidFill>
                <a:latin typeface="맑은 고딕"/>
              </a:rPr>
              <a:t>•  5.4 OCR 다중화</a:t>
            </a:r>
          </a:p>
          <a:p>
            <a:pPr algn="l">
              <a:spcAft>
                <a:spcPts val="1000"/>
              </a:spcAft>
            </a:pPr>
            <a:r>
              <a:rPr sz="1600" b="0">
                <a:solidFill>
                  <a:srgbClr val="222222"/>
                </a:solidFill>
                <a:latin typeface="맑은 고딕"/>
              </a:rPr>
              <a:t>•  5.5 Voting File</a:t>
            </a:r>
          </a:p>
          <a:p>
            <a:pPr algn="l">
              <a:spcAft>
                <a:spcPts val="1000"/>
              </a:spcAft>
            </a:pPr>
            <a:r>
              <a:rPr sz="1600" b="0">
                <a:solidFill>
                  <a:srgbClr val="222222"/>
                </a:solidFill>
                <a:latin typeface="맑은 고딕"/>
              </a:rPr>
              <a:t>•  5.6 오류 재현 — 디스크를 내려 본다</a:t>
            </a:r>
          </a:p>
          <a:p>
            <a:pPr algn="l">
              <a:spcAft>
                <a:spcPts val="1000"/>
              </a:spcAft>
            </a:pPr>
            <a:r>
              <a:rPr sz="1600" b="0">
                <a:solidFill>
                  <a:srgbClr val="222222"/>
                </a:solidFill>
                <a:latin typeface="맑은 고딕"/>
              </a:rPr>
              <a:t>•  5.7 복구 절차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OCR 은 무엇을 담고 있는가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레지스트리라는 이름의 뜻</a:t>
            </a:r>
          </a:p>
          <a:p>
            <a:pPr algn="l">
              <a:spcAft>
                <a:spcPts val="800"/>
              </a:spcAft>
            </a:pPr>
            <a:r>
              <a:rPr sz="1600" b="0">
                <a:solidFill>
                  <a:srgbClr val="FFFFFF"/>
                </a:solidFill>
                <a:latin typeface="맑은 고딕"/>
              </a:rPr>
              <a:t>•  OCR 과 OLR 의 분업</a:t>
            </a:r>
          </a:p>
          <a:p>
            <a:pPr algn="l">
              <a:spcAft>
                <a:spcPts val="800"/>
              </a:spcAft>
            </a:pPr>
            <a:r>
              <a:rPr sz="1600" b="0">
                <a:solidFill>
                  <a:srgbClr val="FFFFFF"/>
                </a:solidFill>
                <a:latin typeface="맑은 고딕"/>
              </a:rPr>
              <a:t>•  ocr.loc 라는 부트스트랩 파일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저장소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무너지면 클러스터가 뜨지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 — 클러스터 전체가 공유하는 구성 정보 1벌</a:t>
            </a:r>
          </a:p>
          <a:p>
            <a:pPr algn="l">
              <a:spcAft>
                <a:spcPts val="1000"/>
              </a:spcAft>
            </a:pPr>
            <a:r>
              <a:rPr sz="1700" b="0">
                <a:solidFill>
                  <a:srgbClr val="222222"/>
                </a:solidFill>
                <a:latin typeface="맑은 고딕"/>
              </a:rPr>
              <a:t>•  OLR — 각 노드가 혼자 들고 있는 부팅용 정보</a:t>
            </a:r>
          </a:p>
          <a:p>
            <a:pPr algn="l">
              <a:spcAft>
                <a:spcPts val="1000"/>
              </a:spcAft>
            </a:pPr>
            <a:r>
              <a:rPr sz="1700" b="0">
                <a:solidFill>
                  <a:srgbClr val="222222"/>
                </a:solidFill>
                <a:latin typeface="맑은 고딕"/>
              </a:rPr>
              <a:t>•  Voting File — 노드들이 서로의 생존을 확인하는 게시판</a:t>
            </a:r>
          </a:p>
          <a:p>
            <a:pPr algn="l">
              <a:spcAft>
                <a:spcPts val="1000"/>
              </a:spcAft>
            </a:pPr>
            <a:r>
              <a:rPr sz="1700" b="0">
                <a:solidFill>
                  <a:srgbClr val="222222"/>
                </a:solidFill>
                <a:latin typeface="맑은 고딕"/>
              </a:rPr>
              <a:t>•  데이터베이스가 멀쩡해도 이 셋이 깨지면 클러스터는 서지 않는다</a:t>
            </a:r>
          </a:p>
          <a:p>
            <a:pPr algn="l">
              <a:spcAft>
                <a:spcPts val="1000"/>
              </a:spcAft>
            </a:pPr>
            <a:r>
              <a:rPr sz="1700" b="0">
                <a:solidFill>
                  <a:srgbClr val="222222"/>
                </a:solidFill>
                <a:latin typeface="맑은 고딕"/>
              </a:rPr>
              <a:t>•  4장 마지막 확인 결과는 PROT-24 / PROT-25 였다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 은 키-값 트리다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ocrdump 로 확인한 구조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점으로 구분된 키 경로와 값 — Windows 레지스트리와 같은 형태</a:t>
            </a:r>
          </a:p>
          <a:p>
            <a:pPr algn="l">
              <a:spcAft>
                <a:spcPts val="1000"/>
              </a:spcAft>
            </a:pPr>
            <a:r>
              <a:rPr sz="1700" b="0">
                <a:solidFill>
                  <a:srgbClr val="222222"/>
                </a:solidFill>
                <a:latin typeface="맑은 고딕"/>
              </a:rPr>
              <a:t>•  타입이 붙는다 — UB4(정수), ORATEXT(문자열), UNDEF(중간 노드)</a:t>
            </a:r>
          </a:p>
          <a:p>
            <a:pPr algn="l">
              <a:spcAft>
                <a:spcPts val="1000"/>
              </a:spcAft>
            </a:pPr>
            <a:r>
              <a:rPr sz="1700" b="0">
                <a:solidFill>
                  <a:srgbClr val="222222"/>
                </a:solidFill>
                <a:latin typeface="맑은 고딕"/>
              </a:rPr>
              <a:t>•  키마다 SECURITY 블록이 따로 있다 — 접근 제어가 키 단위다</a:t>
            </a:r>
          </a:p>
          <a:p>
            <a:pPr algn="l">
              <a:spcAft>
                <a:spcPts val="1000"/>
              </a:spcAft>
            </a:pPr>
            <a:r>
              <a:rPr sz="1700" b="0">
                <a:solidFill>
                  <a:srgbClr val="222222"/>
                </a:solidFill>
                <a:latin typeface="맑은 고딕"/>
              </a:rPr>
              <a:t>•  소유자도 키마다 다르다 — SYSTEM 은 grid, SYSTEM.version 은 root</a:t>
            </a:r>
          </a:p>
          <a:p>
            <a:pPr algn="l">
              <a:spcAft>
                <a:spcPts val="1000"/>
              </a:spcAft>
            </a:pPr>
            <a:r>
              <a:rPr sz="1700" b="0">
                <a:solidFill>
                  <a:srgbClr val="222222"/>
                </a:solidFill>
                <a:latin typeface="맑은 고딕"/>
              </a:rPr>
              <a:t>•  우리 클러스터의 키 개수는 428개였다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롤링 패치의 근거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SYSTEM.version.hostnames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activeversion — 지금 이 클러스터에서 활성화된 버전</a:t>
            </a:r>
          </a:p>
          <a:p>
            <a:pPr algn="l">
              <a:spcAft>
                <a:spcPts val="1000"/>
              </a:spcAft>
            </a:pPr>
            <a:r>
              <a:rPr sz="1700" b="0">
                <a:solidFill>
                  <a:srgbClr val="222222"/>
                </a:solidFill>
                <a:latin typeface="맑은 고딕"/>
              </a:rPr>
              <a:t>•  hostnames.rac1 / hostnames.rac2 — 각 노드의 실제 버전</a:t>
            </a:r>
          </a:p>
          <a:p>
            <a:pPr algn="l">
              <a:spcAft>
                <a:spcPts val="1000"/>
              </a:spcAft>
            </a:pPr>
            <a:r>
              <a:rPr sz="1700" b="0">
                <a:solidFill>
                  <a:srgbClr val="222222"/>
                </a:solidFill>
                <a:latin typeface="맑은 고딕"/>
              </a:rPr>
              <a:t>•  두 값을 따로 관리하기 때문에 노드별 버전 차이를 허용할 수 있다</a:t>
            </a:r>
          </a:p>
          <a:p>
            <a:pPr algn="l">
              <a:spcAft>
                <a:spcPts val="1000"/>
              </a:spcAft>
            </a:pPr>
            <a:r>
              <a:rPr sz="1700" b="0">
                <a:solidFill>
                  <a:srgbClr val="222222"/>
                </a:solidFill>
                <a:latin typeface="맑은 고딕"/>
              </a:rPr>
              <a:t>•  백업 목록 끝의 724960844 도 같은 패치 레벨 값이다</a:t>
            </a:r>
          </a:p>
          <a:p>
            <a:pPr algn="l">
              <a:spcAft>
                <a:spcPts val="1000"/>
              </a:spcAft>
            </a:pPr>
            <a:r>
              <a:rPr sz="1700" b="0">
                <a:solidFill>
                  <a:srgbClr val="222222"/>
                </a:solidFill>
                <a:latin typeface="맑은 고딕"/>
              </a:rPr>
              <a:t>•  패치 레벨이 다른 백업으로는 복원하면 안 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 과 OLR 의 분업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닭과 달걀 문제를 푸는 방식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 은 ASM 디스크그룹 안에 있다</a:t>
            </a:r>
          </a:p>
          <a:p>
            <a:pPr algn="l">
              <a:spcAft>
                <a:spcPts val="1000"/>
              </a:spcAft>
            </a:pPr>
            <a:r>
              <a:rPr sz="1700" b="0">
                <a:solidFill>
                  <a:srgbClr val="222222"/>
                </a:solidFill>
                <a:latin typeface="맑은 고딕"/>
              </a:rPr>
              <a:t>•  ASM 을 띄우려면 먼저 ASM 기동 정보를 읽어야 한다</a:t>
            </a:r>
          </a:p>
          <a:p>
            <a:pPr algn="l">
              <a:spcAft>
                <a:spcPts val="1000"/>
              </a:spcAft>
            </a:pPr>
            <a:r>
              <a:rPr sz="1700" b="0">
                <a:solidFill>
                  <a:srgbClr val="222222"/>
                </a:solidFill>
                <a:latin typeface="맑은 고딕"/>
              </a:rPr>
              <a:t>•  그 정보가 OLR 에 있다 — 로컬 파일시스템</a:t>
            </a:r>
          </a:p>
          <a:p>
            <a:pPr algn="l">
              <a:spcAft>
                <a:spcPts val="1000"/>
              </a:spcAft>
            </a:pPr>
            <a:r>
              <a:rPr sz="1700" b="0">
                <a:solidFill>
                  <a:srgbClr val="222222"/>
                </a:solidFill>
                <a:latin typeface="맑은 고딕"/>
              </a:rPr>
              <a:t>•  ohasd 는 OLR 을, crsd 는 OCR 을 읽는다</a:t>
            </a:r>
          </a:p>
          <a:p>
            <a:pPr algn="l">
              <a:spcAft>
                <a:spcPts val="1000"/>
              </a:spcAft>
            </a:pPr>
            <a:r>
              <a:rPr sz="1700" b="0">
                <a:solidFill>
                  <a:srgbClr val="222222"/>
                </a:solidFill>
                <a:latin typeface="맑은 고딕"/>
              </a:rPr>
              <a:t>•  ocrcheck 와 ocrcheck -local 로 각각 확인한다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ID 값은 대조 기준이다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665666554 를 기억하라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 ID 665666554 — 이 클러스터의 식별자</a:t>
            </a:r>
          </a:p>
          <a:p>
            <a:pPr algn="l">
              <a:spcAft>
                <a:spcPts val="1000"/>
              </a:spcAft>
            </a:pPr>
            <a:r>
              <a:rPr sz="1700" b="0">
                <a:solidFill>
                  <a:srgbClr val="222222"/>
                </a:solidFill>
                <a:latin typeface="맑은 고딕"/>
              </a:rPr>
              <a:t>•  다중화해도, 위치를 옮겨도 ID 는 유지된다</a:t>
            </a:r>
          </a:p>
          <a:p>
            <a:pPr algn="l">
              <a:spcAft>
                <a:spcPts val="1000"/>
              </a:spcAft>
            </a:pPr>
            <a:r>
              <a:rPr sz="1700" b="0">
                <a:solidFill>
                  <a:srgbClr val="222222"/>
                </a:solidFill>
                <a:latin typeface="맑은 고딕"/>
              </a:rPr>
              <a:t>•  바뀌었다면 다른 클러스터의 OCR 을 물고 있다는 뜻</a:t>
            </a:r>
          </a:p>
          <a:p>
            <a:pPr algn="l">
              <a:spcAft>
                <a:spcPts val="1000"/>
              </a:spcAft>
            </a:pPr>
            <a:r>
              <a:rPr sz="1700" b="0">
                <a:solidFill>
                  <a:srgbClr val="222222"/>
                </a:solidFill>
                <a:latin typeface="맑은 고딕"/>
              </a:rPr>
              <a:t>•  OLR ID 는 노드마다 다르다 — rac1 은 1636561748, rac2 는 877385927</a:t>
            </a:r>
          </a:p>
          <a:p>
            <a:pPr algn="l">
              <a:spcAft>
                <a:spcPts val="1000"/>
              </a:spcAft>
            </a:pPr>
            <a:r>
              <a:rPr sz="1700" b="0">
                <a:solidFill>
                  <a:srgbClr val="222222"/>
                </a:solidFill>
                <a:latin typeface="맑은 고딕"/>
              </a:rPr>
              <a:t>•  작업 전후 대조용으로 문서에 적어 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검사는 두 층위다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물리와 논리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Cluster registry integrity check — 각 저장 위치의 블록 체크섬</a:t>
            </a:r>
          </a:p>
          <a:p>
            <a:pPr algn="l">
              <a:spcAft>
                <a:spcPts val="1000"/>
              </a:spcAft>
            </a:pPr>
            <a:r>
              <a:rPr sz="1700" b="0">
                <a:solidFill>
                  <a:srgbClr val="222222"/>
                </a:solidFill>
                <a:latin typeface="맑은 고딕"/>
              </a:rPr>
              <a:t>•  Logical corruption check — 키 트리의 부모-자식 관계</a:t>
            </a:r>
          </a:p>
          <a:p>
            <a:pPr algn="l">
              <a:spcAft>
                <a:spcPts val="1000"/>
              </a:spcAft>
            </a:pPr>
            <a:r>
              <a:rPr sz="1700" b="0">
                <a:solidFill>
                  <a:srgbClr val="222222"/>
                </a:solidFill>
                <a:latin typeface="맑은 고딕"/>
              </a:rPr>
              <a:t>•  물리적으로 멀쩡한데 논리적으로 깨진 OCR 이 존재할 수 있다</a:t>
            </a:r>
          </a:p>
          <a:p>
            <a:pPr algn="l">
              <a:spcAft>
                <a:spcPts val="1000"/>
              </a:spcAft>
            </a:pPr>
            <a:r>
              <a:rPr sz="1700" b="0">
                <a:solidFill>
                  <a:srgbClr val="222222"/>
                </a:solidFill>
                <a:latin typeface="맑은 고딕"/>
              </a:rPr>
              <a:t>•  ocrcheck -local 에는 논리 검사 줄이 없다 — OLR 은 구조가 단순</a:t>
            </a:r>
          </a:p>
          <a:p>
            <a:pPr algn="l">
              <a:spcAft>
                <a:spcPts val="1000"/>
              </a:spcAft>
            </a:pPr>
            <a:r>
              <a:rPr sz="1700" b="0">
                <a:solidFill>
                  <a:srgbClr val="222222"/>
                </a:solidFill>
                <a:latin typeface="맑은 고딕"/>
              </a:rPr>
              <a:t>•  두 줄 모두 succeeded 를 확인해야 정상이다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ocr.loc — 부트스트랩 파일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평문이지만 손대지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/etc/oracle/ocr.loc 에 OCR 위치가 평문으로 적혀 있다</a:t>
            </a:r>
          </a:p>
          <a:p>
            <a:pPr algn="l">
              <a:spcAft>
                <a:spcPts val="1000"/>
              </a:spcAft>
            </a:pPr>
            <a:r>
              <a:rPr sz="1700" b="0">
                <a:solidFill>
                  <a:srgbClr val="222222"/>
                </a:solidFill>
                <a:latin typeface="맑은 고딕"/>
              </a:rPr>
              <a:t>•  첫 줄 주석은 ocrconfig 가 남긴 변경 이력이다</a:t>
            </a:r>
          </a:p>
          <a:p>
            <a:pPr algn="l">
              <a:spcAft>
                <a:spcPts val="1000"/>
              </a:spcAft>
            </a:pPr>
            <a:r>
              <a:rPr sz="1700" b="0">
                <a:solidFill>
                  <a:srgbClr val="222222"/>
                </a:solidFill>
                <a:latin typeface="맑은 고딕"/>
              </a:rPr>
              <a:t>•  local_only=false — 클러스터 구성원. Oracle Restart 는 true</a:t>
            </a:r>
          </a:p>
          <a:p>
            <a:pPr algn="l">
              <a:spcAft>
                <a:spcPts val="1000"/>
              </a:spcAft>
            </a:pPr>
            <a:r>
              <a:rPr sz="1700" b="0">
                <a:solidFill>
                  <a:srgbClr val="222222"/>
                </a:solidFill>
                <a:latin typeface="맑은 고딕"/>
              </a:rPr>
              <a:t>•  ocrcheck -config 는 디스크그룹까지, ocr.loc 은 파일 번호까지</a:t>
            </a:r>
          </a:p>
          <a:p>
            <a:pPr algn="l">
              <a:spcAft>
                <a:spcPts val="1000"/>
              </a:spcAft>
            </a:pPr>
            <a:r>
              <a:rPr sz="1700" b="0">
                <a:solidFill>
                  <a:srgbClr val="222222"/>
                </a:solidFill>
                <a:latin typeface="맑은 고딕"/>
              </a:rPr>
              <a:t>•  직접 편집 금지 — ocrconfig 명령이 모든 노드를 함께 맞춘다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백업 — 있는가, 어디에 있는가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PROT-24 와 PROT-25 의 뜻</a:t>
            </a:r>
          </a:p>
          <a:p>
            <a:pPr algn="l">
              <a:spcAft>
                <a:spcPts val="800"/>
              </a:spcAft>
            </a:pPr>
            <a:r>
              <a:rPr sz="1600" b="0">
                <a:solidFill>
                  <a:srgbClr val="FFFFFF"/>
                </a:solidFill>
                <a:latin typeface="맑은 고딕"/>
              </a:rPr>
              <a:t>•  자동 백업이 없는 진짜 이유</a:t>
            </a:r>
          </a:p>
          <a:p>
            <a:pPr algn="l">
              <a:spcAft>
                <a:spcPts val="800"/>
              </a:spcAft>
            </a:pPr>
            <a:r>
              <a:rPr sz="1600" b="0">
                <a:solidFill>
                  <a:srgbClr val="FFFFFF"/>
                </a:solidFill>
                <a:latin typeface="맑은 고딕"/>
              </a:rPr>
              <a:t>•  OLR 은 이미 백업되어 있다</a:t>
            </a:r>
          </a:p>
          <a:p>
            <a:pPr algn="l">
              <a:spcAft>
                <a:spcPts val="800"/>
              </a:spcAft>
            </a:pPr>
            <a:r>
              <a:rPr sz="1600" b="0">
                <a:solidFill>
                  <a:srgbClr val="FFFFFF"/>
                </a:solidFill>
                <a:latin typeface="맑은 고딕"/>
              </a:rPr>
              <a:t>•  cdata 아래에 클러스터명 디렉터리가 없다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PROT-24 / PROT-25</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오류가 아니라 상태 보고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PROT-24 — 자동 백업이 하나도 없다</a:t>
            </a:r>
          </a:p>
          <a:p>
            <a:pPr algn="l">
              <a:spcAft>
                <a:spcPts val="1000"/>
              </a:spcAft>
            </a:pPr>
            <a:r>
              <a:rPr sz="1700" b="0">
                <a:solidFill>
                  <a:srgbClr val="222222"/>
                </a:solidFill>
                <a:latin typeface="맑은 고딕"/>
              </a:rPr>
              <a:t>•  PROT-25 — 수동 백업이 하나도 없다</a:t>
            </a:r>
          </a:p>
          <a:p>
            <a:pPr algn="l">
              <a:spcAft>
                <a:spcPts val="1000"/>
              </a:spcAft>
            </a:pPr>
            <a:r>
              <a:rPr sz="1700" b="0">
                <a:solidFill>
                  <a:srgbClr val="222222"/>
                </a:solidFill>
                <a:latin typeface="맑은 고딕"/>
              </a:rPr>
              <a:t>•  ocrconfig -showbackup auto / manual 로 개별 확인 가능</a:t>
            </a:r>
          </a:p>
          <a:p>
            <a:pPr algn="l">
              <a:spcAft>
                <a:spcPts val="1000"/>
              </a:spcAft>
            </a:pPr>
            <a:r>
              <a:rPr sz="1700" b="0">
                <a:solidFill>
                  <a:srgbClr val="222222"/>
                </a:solidFill>
                <a:latin typeface="맑은 고딕"/>
              </a:rPr>
              <a:t>•  수동 백업이 없는 이유 — 아무도 실행하지 않았다</a:t>
            </a:r>
          </a:p>
          <a:p>
            <a:pPr algn="l">
              <a:spcAft>
                <a:spcPts val="1000"/>
              </a:spcAft>
            </a:pPr>
            <a:r>
              <a:rPr sz="1700" b="0">
                <a:solidFill>
                  <a:srgbClr val="222222"/>
                </a:solidFill>
                <a:latin typeface="맑은 고딕"/>
              </a:rPr>
              <a:t>•  자동 백업이 없는 이유 — 시간이 부족했다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백업 타이머의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crsd 재시작마다 초기화된다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crsd 는 4시간 주기로 OCR 을 자동 백업한다</a:t>
            </a:r>
          </a:p>
          <a:p>
            <a:pPr algn="l">
              <a:spcAft>
                <a:spcPts val="1000"/>
              </a:spcAft>
            </a:pPr>
            <a:r>
              <a:rPr sz="1700" b="0">
                <a:solidFill>
                  <a:srgbClr val="222222"/>
                </a:solidFill>
                <a:latin typeface="맑은 고딕"/>
              </a:rPr>
              <a:t>•  우리 crsd 는 뜬 지 24분이었다 — 15:53:29 기동, 16:17 확인</a:t>
            </a:r>
          </a:p>
          <a:p>
            <a:pPr algn="l">
              <a:spcAft>
                <a:spcPts val="1000"/>
              </a:spcAft>
            </a:pPr>
            <a:r>
              <a:rPr sz="1700" b="0">
                <a:solidFill>
                  <a:srgbClr val="222222"/>
                </a:solidFill>
                <a:latin typeface="맑은 고딕"/>
              </a:rPr>
              <a:t>•  타이머는 crsd 가 재시작될 때마다 0으로 돌아간다</a:t>
            </a:r>
          </a:p>
          <a:p>
            <a:pPr algn="l">
              <a:spcAft>
                <a:spcPts val="1000"/>
              </a:spcAft>
            </a:pPr>
            <a:r>
              <a:rPr sz="1700" b="0">
                <a:solidFill>
                  <a:srgbClr val="222222"/>
                </a:solidFill>
                <a:latin typeface="맑은 고딕"/>
              </a:rPr>
              <a:t>•  클러스터를 자주 내리는 환경에서는 영원히 만들어지지 않는다</a:t>
            </a:r>
          </a:p>
          <a:p>
            <a:pPr algn="l">
              <a:spcAft>
                <a:spcPts val="1000"/>
              </a:spcAft>
            </a:pPr>
            <a:r>
              <a:rPr sz="1700" b="0">
                <a:solidFill>
                  <a:srgbClr val="222222"/>
                </a:solidFill>
                <a:latin typeface="맑은 고딕"/>
              </a:rPr>
              <a:t>•  ps -eo pid,lstart,cmd 로 기동 시각을 확인한다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OLR 은 대조군이다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사건 기반 백업</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설치 시점에 이미 두 벌 있었다</a:t>
            </a:r>
          </a:p>
          <a:p>
            <a:pPr algn="l">
              <a:spcAft>
                <a:spcPts val="1000"/>
              </a:spcAft>
            </a:pPr>
            <a:r>
              <a:rPr sz="1700" b="0">
                <a:solidFill>
                  <a:srgbClr val="222222"/>
                </a:solidFill>
                <a:latin typeface="맑은 고딕"/>
              </a:rPr>
              <a:t>•  backup_20260831_191414.olr — root.sh 가 OLR 을 만든 직후</a:t>
            </a:r>
          </a:p>
          <a:p>
            <a:pPr algn="l">
              <a:spcAft>
                <a:spcPts val="1000"/>
              </a:spcAft>
            </a:pPr>
            <a:r>
              <a:rPr sz="1700" b="0">
                <a:solidFill>
                  <a:srgbClr val="222222"/>
                </a:solidFill>
                <a:latin typeface="맑은 고딕"/>
              </a:rPr>
              <a:t>•  autobackup_20260831_192729.olr — 구성 완료 뒤</a:t>
            </a:r>
          </a:p>
          <a:p>
            <a:pPr algn="l">
              <a:spcAft>
                <a:spcPts val="1000"/>
              </a:spcAft>
            </a:pPr>
            <a:r>
              <a:rPr sz="1700" b="0">
                <a:solidFill>
                  <a:srgbClr val="222222"/>
                </a:solidFill>
                <a:latin typeface="맑은 고딕"/>
              </a:rPr>
              <a:t>•  OLR 의 자동 백업은 주기가 아니라 사건 기반이다</a:t>
            </a:r>
          </a:p>
          <a:p>
            <a:pPr algn="l">
              <a:spcAft>
                <a:spcPts val="1000"/>
              </a:spcAft>
            </a:pPr>
            <a:r>
              <a:rPr sz="1700" b="0">
                <a:solidFill>
                  <a:srgbClr val="222222"/>
                </a:solidFill>
                <a:latin typeface="맑은 고딕"/>
              </a:rPr>
              <a:t>•  노드 로컬 — rac2 에서 rac1 의 OLR 을 복원할 방법은 없다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11g 문서를 믿지 마라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cdata 에 클러스터명 디렉터리가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많은 자료가 GRID_HOME/cdata/&lt;클러스터명&gt;/ 을 안내한다</a:t>
            </a:r>
          </a:p>
          <a:p>
            <a:pPr algn="l">
              <a:spcAft>
                <a:spcPts val="1000"/>
              </a:spcAft>
            </a:pPr>
            <a:r>
              <a:rPr sz="1700" b="0">
                <a:solidFill>
                  <a:srgbClr val="222222"/>
                </a:solidFill>
                <a:latin typeface="맑은 고딕"/>
              </a:rPr>
              <a:t>•  실제로는 localhost 와 rac1 만 있다</a:t>
            </a:r>
          </a:p>
          <a:p>
            <a:pPr algn="l">
              <a:spcAft>
                <a:spcPts val="1000"/>
              </a:spcAft>
            </a:pPr>
            <a:r>
              <a:rPr sz="1700" b="0">
                <a:solidFill>
                  <a:srgbClr val="222222"/>
                </a:solidFill>
                <a:latin typeface="맑은 고딕"/>
              </a:rPr>
              <a:t>•  rac-cluster 디렉터리는 아예 존재하지 않는다</a:t>
            </a:r>
          </a:p>
          <a:p>
            <a:pPr algn="l">
              <a:spcAft>
                <a:spcPts val="1000"/>
              </a:spcAft>
            </a:pPr>
            <a:r>
              <a:rPr sz="1700" b="0">
                <a:solidFill>
                  <a:srgbClr val="222222"/>
                </a:solidFill>
                <a:latin typeface="맑은 고딕"/>
              </a:rPr>
              <a:t>•  12c 이후 OCR 백업의 기본 위치는 로컬 파일시스템이 아니다</a:t>
            </a:r>
          </a:p>
          <a:p>
            <a:pPr algn="l">
              <a:spcAft>
                <a:spcPts val="1000"/>
              </a:spcAft>
            </a:pPr>
            <a:r>
              <a:rPr sz="1700" b="0">
                <a:solidFill>
                  <a:srgbClr val="222222"/>
                </a:solidFill>
                <a:latin typeface="맑은 고딕"/>
              </a:rPr>
              <a:t>•  백업을 한 번 만들어 보면 답이 나온다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백업을 만든다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권한 가드 PROT-20</a:t>
            </a:r>
          </a:p>
          <a:p>
            <a:pPr algn="l">
              <a:spcAft>
                <a:spcPts val="800"/>
              </a:spcAft>
            </a:pPr>
            <a:r>
              <a:rPr sz="1600" b="0">
                <a:solidFill>
                  <a:srgbClr val="FFFFFF"/>
                </a:solidFill>
                <a:latin typeface="맑은 고딕"/>
              </a:rPr>
              <a:t>•  백업은 OCR 마스터 노드가 수행한다</a:t>
            </a:r>
          </a:p>
          <a:p>
            <a:pPr algn="l">
              <a:spcAft>
                <a:spcPts val="800"/>
              </a:spcAft>
            </a:pPr>
            <a:r>
              <a:rPr sz="1600" b="0">
                <a:solidFill>
                  <a:srgbClr val="FFFFFF"/>
                </a:solidFill>
                <a:latin typeface="맑은 고딕"/>
              </a:rPr>
              <a:t>•  PROT-42 — 저장소 종류 제약</a:t>
            </a:r>
          </a:p>
          <a:p>
            <a:pPr algn="l">
              <a:spcAft>
                <a:spcPts val="800"/>
              </a:spcAft>
            </a:pPr>
            <a:r>
              <a:rPr sz="1600" b="0">
                <a:solidFill>
                  <a:srgbClr val="FFFFFF"/>
                </a:solidFill>
                <a:latin typeface="맑은 고딕"/>
              </a:rPr>
              <a:t>•  물리적 백업과 논리적 export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권한 가드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읽기는 grid, 쓰기는 root</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grid 로 -manualbackup — PROT-20</a:t>
            </a:r>
          </a:p>
          <a:p>
            <a:pPr algn="l">
              <a:spcAft>
                <a:spcPts val="1000"/>
              </a:spcAft>
            </a:pPr>
            <a:r>
              <a:rPr sz="1700" b="0">
                <a:solidFill>
                  <a:srgbClr val="222222"/>
                </a:solidFill>
                <a:latin typeface="맑은 고딕"/>
              </a:rPr>
              <a:t>•  grid 로 -export — PROT-20</a:t>
            </a:r>
          </a:p>
          <a:p>
            <a:pPr algn="l">
              <a:spcAft>
                <a:spcPts val="1000"/>
              </a:spcAft>
            </a:pPr>
            <a:r>
              <a:rPr sz="1700" b="0">
                <a:solidFill>
                  <a:srgbClr val="222222"/>
                </a:solidFill>
                <a:latin typeface="맑은 고딕"/>
              </a:rPr>
              <a:t>•  grid 로 -showbackup — 동작한다</a:t>
            </a:r>
          </a:p>
          <a:p>
            <a:pPr algn="l">
              <a:spcAft>
                <a:spcPts val="1000"/>
              </a:spcAft>
            </a:pPr>
            <a:r>
              <a:rPr sz="1700" b="0">
                <a:solidFill>
                  <a:srgbClr val="222222"/>
                </a:solidFill>
                <a:latin typeface="맑은 고딕"/>
              </a:rPr>
              <a:t>•  OCR 은 Clusterware 구성 그 자체이므로 변경 권한을 root 로 좁혔다</a:t>
            </a:r>
          </a:p>
          <a:p>
            <a:pPr algn="l">
              <a:spcAft>
                <a:spcPts val="1000"/>
              </a:spcAft>
            </a:pPr>
            <a:r>
              <a:rPr sz="1700" b="0">
                <a:solidFill>
                  <a:srgbClr val="222222"/>
                </a:solidFill>
                <a:latin typeface="맑은 고딕"/>
              </a:rPr>
              <a:t>•  4장에서 본 Grid 홈 권한 설계와 같은 사고방식</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백업 한 줄에 담긴 세 가지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rac1 에서 실행했는데 rac2 가 찍혔다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위치가 +CRS 디스크그룹 안이다 — 파일시스템이 아니다</a:t>
            </a:r>
          </a:p>
          <a:p>
            <a:pPr algn="l">
              <a:spcAft>
                <a:spcPts val="1000"/>
              </a:spcAft>
            </a:pPr>
            <a:r>
              <a:rPr sz="1700" b="0">
                <a:solidFill>
                  <a:srgbClr val="222222"/>
                </a:solidFill>
                <a:latin typeface="맑은 고딕"/>
              </a:rPr>
              <a:t>•  파일명 끝 .258.1242835765 — ASM 파일 번호와 incarnation</a:t>
            </a:r>
          </a:p>
          <a:p>
            <a:pPr algn="l">
              <a:spcAft>
                <a:spcPts val="1000"/>
              </a:spcAft>
            </a:pPr>
            <a:r>
              <a:rPr sz="1700" b="0">
                <a:solidFill>
                  <a:srgbClr val="222222"/>
                </a:solidFill>
                <a:latin typeface="맑은 고딕"/>
              </a:rPr>
              <a:t>•  맨 앞 노드 이름이 rac2 — 명령은 rac1 에서 실행했다</a:t>
            </a:r>
          </a:p>
          <a:p>
            <a:pPr algn="l">
              <a:spcAft>
                <a:spcPts val="1000"/>
              </a:spcAft>
            </a:pPr>
            <a:r>
              <a:rPr sz="1700" b="0">
                <a:solidFill>
                  <a:srgbClr val="222222"/>
                </a:solidFill>
                <a:latin typeface="맑은 고딕"/>
              </a:rPr>
              <a:t>•  OCR 백업은 OCR 마스터 노드가 수행한다</a:t>
            </a:r>
          </a:p>
          <a:p>
            <a:pPr algn="l">
              <a:spcAft>
                <a:spcPts val="1000"/>
              </a:spcAft>
            </a:pPr>
            <a:r>
              <a:rPr sz="1700" b="0">
                <a:solidFill>
                  <a:srgbClr val="222222"/>
                </a:solidFill>
                <a:latin typeface="맑은 고딕"/>
              </a:rPr>
              <a:t>•  crsd 추적 파일의 OCRSRV s_backup 항목에 흔적이 남는다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PROT-42</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백업 위치는 공유 저장소여야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로컬 디렉터리를 만들고 소유자까지 맞춰도 거절된다</a:t>
            </a:r>
          </a:p>
          <a:p>
            <a:pPr algn="l">
              <a:spcAft>
                <a:spcPts val="1000"/>
              </a:spcAft>
            </a:pPr>
            <a:r>
              <a:rPr sz="1700" b="0">
                <a:solidFill>
                  <a:srgbClr val="222222"/>
                </a:solidFill>
                <a:latin typeface="맑은 고딕"/>
              </a:rPr>
              <a:t>•  PROT-42 — 권한이 아니라 저장소 종류의 문제</a:t>
            </a:r>
          </a:p>
          <a:p>
            <a:pPr algn="l">
              <a:spcAft>
                <a:spcPts val="1000"/>
              </a:spcAft>
            </a:pPr>
            <a:r>
              <a:rPr sz="1700" b="0">
                <a:solidFill>
                  <a:srgbClr val="222222"/>
                </a:solidFill>
                <a:latin typeface="맑은 고딕"/>
              </a:rPr>
              <a:t>•  /u01 은 노드 로컬 — rac1 이 사라지면 백업도 사라진다</a:t>
            </a:r>
          </a:p>
          <a:p>
            <a:pPr algn="l">
              <a:spcAft>
                <a:spcPts val="1000"/>
              </a:spcAft>
            </a:pPr>
            <a:r>
              <a:rPr sz="1700" b="0">
                <a:solidFill>
                  <a:srgbClr val="222222"/>
                </a:solidFill>
                <a:latin typeface="맑은 고딕"/>
              </a:rPr>
              <a:t>•  유효한 위치 — ASM 디스크그룹, ACFS, 공유 NFS</a:t>
            </a:r>
          </a:p>
          <a:p>
            <a:pPr algn="l">
              <a:spcAft>
                <a:spcPts val="1000"/>
              </a:spcAft>
            </a:pPr>
            <a:r>
              <a:rPr sz="1700" b="0">
                <a:solidFill>
                  <a:srgbClr val="222222"/>
                </a:solidFill>
                <a:latin typeface="맑은 고딕"/>
              </a:rPr>
              <a:t>•  Clusterware 가 그 상황을 아예 막는다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백업 파일도 미러링된다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Redund MIRROR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 는 Normal 중복도 — 백업 파일도 두 벌로 미러링</a:t>
            </a:r>
          </a:p>
          <a:p>
            <a:pPr algn="l">
              <a:spcAft>
                <a:spcPts val="1000"/>
              </a:spcAft>
            </a:pPr>
            <a:r>
              <a:rPr sz="1700" b="0">
                <a:solidFill>
                  <a:srgbClr val="222222"/>
                </a:solidFill>
                <a:latin typeface="맑은 고딕"/>
              </a:rPr>
              <a:t>•  asmcmd ls -l 에서 Type OCRBACKUP, Redund MIRROR 로 보인다</a:t>
            </a:r>
          </a:p>
          <a:p>
            <a:pPr algn="l">
              <a:spcAft>
                <a:spcPts val="1000"/>
              </a:spcAft>
            </a:pPr>
            <a:r>
              <a:rPr sz="1700" b="0">
                <a:solidFill>
                  <a:srgbClr val="222222"/>
                </a:solidFill>
                <a:latin typeface="맑은 고딕"/>
              </a:rPr>
              <a:t>•  백업 자체가 이미 디스크 한 장 손실을 견딘다</a:t>
            </a:r>
          </a:p>
          <a:p>
            <a:pPr algn="l">
              <a:spcAft>
                <a:spcPts val="1000"/>
              </a:spcAft>
            </a:pPr>
            <a:r>
              <a:rPr sz="1700" b="0">
                <a:solidFill>
                  <a:srgbClr val="222222"/>
                </a:solidFill>
                <a:latin typeface="맑은 고딕"/>
              </a:rPr>
              <a:t>•  같은 OCR 이 +DATA(External) 에서는 UNPROT 으로 저장된다</a:t>
            </a:r>
          </a:p>
          <a:p>
            <a:pPr algn="l">
              <a:spcAft>
                <a:spcPts val="1000"/>
              </a:spcAft>
            </a:pPr>
            <a:r>
              <a:rPr sz="1700" b="0">
                <a:solidFill>
                  <a:srgbClr val="222222"/>
                </a:solidFill>
                <a:latin typeface="맑은 고딕"/>
              </a:rPr>
              <a:t>•  다중화의 보호 수준은 위치마다 다를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물리적 백업과 논리적 export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480MB 대 208KB</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-manualbackup — OCR 저장 영역 전체, ASM/공유FS 만</a:t>
            </a:r>
          </a:p>
          <a:p>
            <a:pPr algn="l">
              <a:spcAft>
                <a:spcPts val="1000"/>
              </a:spcAft>
            </a:pPr>
            <a:r>
              <a:rPr sz="1700" b="0">
                <a:solidFill>
                  <a:srgbClr val="222222"/>
                </a:solidFill>
                <a:latin typeface="맑은 고딕"/>
              </a:rPr>
              <a:t>•  -export — 존재하는 키만 직렬화, 저장 위치 제약 없음</a:t>
            </a:r>
          </a:p>
          <a:p>
            <a:pPr algn="l">
              <a:spcAft>
                <a:spcPts val="1000"/>
              </a:spcAft>
            </a:pPr>
            <a:r>
              <a:rPr sz="1700" b="0">
                <a:solidFill>
                  <a:srgbClr val="222222"/>
                </a:solidFill>
                <a:latin typeface="맑은 고딕"/>
              </a:rPr>
              <a:t>•  복원 명령이 다르다 — -restore 와 -import</a:t>
            </a:r>
          </a:p>
          <a:p>
            <a:pPr algn="l">
              <a:spcAft>
                <a:spcPts val="1000"/>
              </a:spcAft>
            </a:pPr>
            <a:r>
              <a:rPr sz="1700" b="0">
                <a:solidFill>
                  <a:srgbClr val="222222"/>
                </a:solidFill>
                <a:latin typeface="맑은 고딕"/>
              </a:rPr>
              <a:t>•  PROT-58 이 export 성공 메시지다</a:t>
            </a:r>
          </a:p>
          <a:p>
            <a:pPr algn="l">
              <a:spcAft>
                <a:spcPts val="1000"/>
              </a:spcAft>
            </a:pPr>
            <a:r>
              <a:rPr sz="1700" b="0">
                <a:solidFill>
                  <a:srgbClr val="222222"/>
                </a:solidFill>
                <a:latin typeface="맑은 고딕"/>
              </a:rPr>
              <a:t>•  실무 기준 — 구성 변경 직전에 둘 다 실행하고 export 는 밖으로 뺀다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OCR 다중화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잘못된 위치는 먼저 걸러진다</a:t>
            </a:r>
          </a:p>
          <a:p>
            <a:pPr algn="l">
              <a:spcAft>
                <a:spcPts val="800"/>
              </a:spcAft>
            </a:pPr>
            <a:r>
              <a:rPr sz="1600" b="0">
                <a:solidFill>
                  <a:srgbClr val="FFFFFF"/>
                </a:solidFill>
                <a:latin typeface="맑은 고딕"/>
              </a:rPr>
              <a:t>•  5개 슬롯과 자동 전파</a:t>
            </a:r>
          </a:p>
          <a:p>
            <a:pPr algn="l">
              <a:spcAft>
                <a:spcPts val="800"/>
              </a:spcAft>
            </a:pPr>
            <a:r>
              <a:rPr sz="1600" b="0">
                <a:solidFill>
                  <a:srgbClr val="FFFFFF"/>
                </a:solidFill>
                <a:latin typeface="맑은 고딕"/>
              </a:rPr>
              <a:t>•  마지막 한 벌은 지울 수 없다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실패부터 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PROT-30 / PROC-50 / PROT-29</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없는 디스크그룹 — PROT-30 과 PROC-50 이 함께 나온다</a:t>
            </a:r>
          </a:p>
          <a:p>
            <a:pPr algn="l">
              <a:spcAft>
                <a:spcPts val="1000"/>
              </a:spcAft>
            </a:pPr>
            <a:r>
              <a:rPr sz="1700" b="0">
                <a:solidFill>
                  <a:srgbClr val="222222"/>
                </a:solidFill>
                <a:latin typeface="맑은 고딕"/>
              </a:rPr>
              <a:t>•  PROT-30 은 상위 계층의 판정, PROC-50 은 하위 계층의 근거</a:t>
            </a:r>
          </a:p>
          <a:p>
            <a:pPr algn="l">
              <a:spcAft>
                <a:spcPts val="1000"/>
              </a:spcAft>
            </a:pPr>
            <a:r>
              <a:rPr sz="1700" b="0">
                <a:solidFill>
                  <a:srgbClr val="222222"/>
                </a:solidFill>
                <a:latin typeface="맑은 고딕"/>
              </a:rPr>
              <a:t>•  PROC-50 은 어느 노드에서 접근 실패했는지 이름을 찍어 준다</a:t>
            </a:r>
          </a:p>
          <a:p>
            <a:pPr algn="l">
              <a:spcAft>
                <a:spcPts val="1000"/>
              </a:spcAft>
            </a:pPr>
            <a:r>
              <a:rPr sz="1700" b="0">
                <a:solidFill>
                  <a:srgbClr val="222222"/>
                </a:solidFill>
                <a:latin typeface="맑은 고딕"/>
              </a:rPr>
              <a:t>•  이미 등록된 위치 — PROT-29</a:t>
            </a:r>
          </a:p>
          <a:p>
            <a:pPr algn="l">
              <a:spcAft>
                <a:spcPts val="1000"/>
              </a:spcAft>
            </a:pPr>
            <a:r>
              <a:rPr sz="1700" b="0">
                <a:solidFill>
                  <a:srgbClr val="222222"/>
                </a:solidFill>
                <a:latin typeface="맑은 고딕"/>
              </a:rPr>
              <a:t>•  3노드 이상에서 한 노드만 마운트 실패한 경우를 잡아낸다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5개 슬롯</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ocrcheck 는 항상 다섯 자리를 보여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추가 후 두 위치 모두 integrity check succeeded</a:t>
            </a:r>
          </a:p>
          <a:p>
            <a:pPr algn="l">
              <a:spcAft>
                <a:spcPts val="1000"/>
              </a:spcAft>
            </a:pPr>
            <a:r>
              <a:rPr sz="1700" b="0">
                <a:solidFill>
                  <a:srgbClr val="222222"/>
                </a:solidFill>
                <a:latin typeface="맑은 고딕"/>
              </a:rPr>
              <a:t>•  Device/File not configured 가 세 줄 — 남은 슬롯</a:t>
            </a:r>
          </a:p>
          <a:p>
            <a:pPr algn="l">
              <a:spcAft>
                <a:spcPts val="1000"/>
              </a:spcAft>
            </a:pPr>
            <a:r>
              <a:rPr sz="1700" b="0">
                <a:solidFill>
                  <a:srgbClr val="222222"/>
                </a:solidFill>
                <a:latin typeface="맑은 고딕"/>
              </a:rPr>
              <a:t>•  OCR 은 최대 5벌까지 등록할 수 있다</a:t>
            </a:r>
          </a:p>
          <a:p>
            <a:pPr algn="l">
              <a:spcAft>
                <a:spcPts val="1000"/>
              </a:spcAft>
            </a:pPr>
            <a:r>
              <a:rPr sz="1700" b="0">
                <a:solidFill>
                  <a:srgbClr val="222222"/>
                </a:solidFill>
                <a:latin typeface="맑은 고딕"/>
              </a:rPr>
              <a:t>•  ID 는 665666554 그대로, 총 공간과 사용 공간도 그대로</a:t>
            </a:r>
          </a:p>
          <a:p>
            <a:pPr algn="l">
              <a:spcAft>
                <a:spcPts val="1000"/>
              </a:spcAft>
            </a:pPr>
            <a:r>
              <a:rPr sz="1700" b="0">
                <a:solidFill>
                  <a:srgbClr val="222222"/>
                </a:solidFill>
                <a:latin typeface="맑은 고딕"/>
              </a:rPr>
              <a:t>•  다중화는 복제이지 공간 확장이 아니다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전파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명령 한 번에 모든 노드가 맞춰진다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rac1 에서 ocrconfig -add 를 한 번 실행했다</a:t>
            </a:r>
          </a:p>
          <a:p>
            <a:pPr algn="l">
              <a:spcAft>
                <a:spcPts val="1000"/>
              </a:spcAft>
            </a:pPr>
            <a:r>
              <a:rPr sz="1700" b="0">
                <a:solidFill>
                  <a:srgbClr val="222222"/>
                </a:solidFill>
                <a:latin typeface="맑은 고딕"/>
              </a:rPr>
              <a:t>•  rac2 의 /etc/oracle/ocr.loc 도 한 글자까지 같아졌다</a:t>
            </a:r>
          </a:p>
          <a:p>
            <a:pPr algn="l">
              <a:spcAft>
                <a:spcPts val="1000"/>
              </a:spcAft>
            </a:pPr>
            <a:r>
              <a:rPr sz="1700" b="0">
                <a:solidFill>
                  <a:srgbClr val="222222"/>
                </a:solidFill>
                <a:latin typeface="맑은 고딕"/>
              </a:rPr>
              <a:t>•  새 키 ocrmirrorconfig_loc 이 생긴다</a:t>
            </a:r>
          </a:p>
          <a:p>
            <a:pPr algn="l">
              <a:spcAft>
                <a:spcPts val="1000"/>
              </a:spcAft>
            </a:pPr>
            <a:r>
              <a:rPr sz="1700" b="0">
                <a:solidFill>
                  <a:srgbClr val="222222"/>
                </a:solidFill>
                <a:latin typeface="맑은 고딕"/>
              </a:rPr>
              <a:t>•  세 번째부터는 ocrconfig_loc3, ocrconfig_loc4</a:t>
            </a:r>
          </a:p>
          <a:p>
            <a:pPr algn="l">
              <a:spcAft>
                <a:spcPts val="1000"/>
              </a:spcAft>
            </a:pPr>
            <a:r>
              <a:rPr sz="1700" b="0">
                <a:solidFill>
                  <a:srgbClr val="222222"/>
                </a:solidFill>
                <a:latin typeface="맑은 고딕"/>
              </a:rPr>
              <a:t>•  그래서 손으로 편집하면 안 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PROT-28</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마지막 한 벌은 지울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두 벌인 상태에서 하나를 지우면 지워진다 — 클러스터 무영향</a:t>
            </a:r>
          </a:p>
          <a:p>
            <a:pPr algn="l">
              <a:spcAft>
                <a:spcPts val="1000"/>
              </a:spcAft>
            </a:pPr>
            <a:r>
              <a:rPr sz="1700" b="0">
                <a:solidFill>
                  <a:srgbClr val="222222"/>
                </a:solidFill>
                <a:latin typeface="맑은 고딕"/>
              </a:rPr>
              <a:t>•  한 벌만 남았을 때 지우려 하면 PROT-28</a:t>
            </a:r>
          </a:p>
          <a:p>
            <a:pPr algn="l">
              <a:spcAft>
                <a:spcPts val="1000"/>
              </a:spcAft>
            </a:pPr>
            <a:r>
              <a:rPr sz="1700" b="0">
                <a:solidFill>
                  <a:srgbClr val="222222"/>
                </a:solidFill>
                <a:latin typeface="맑은 고딕"/>
              </a:rPr>
              <a:t>•  위치를 옮기려면 add 를 먼저, delete 를 나중에</a:t>
            </a:r>
          </a:p>
          <a:p>
            <a:pPr algn="l">
              <a:spcAft>
                <a:spcPts val="1000"/>
              </a:spcAft>
            </a:pPr>
            <a:r>
              <a:rPr sz="1700" b="0">
                <a:solidFill>
                  <a:srgbClr val="222222"/>
                </a:solidFill>
                <a:latin typeface="맑은 고딕"/>
              </a:rPr>
              <a:t>•  지웠다 다시 만들면 ASM 파일 번호는 바뀐다</a:t>
            </a:r>
          </a:p>
          <a:p>
            <a:pPr algn="l">
              <a:spcAft>
                <a:spcPts val="1000"/>
              </a:spcAft>
            </a:pPr>
            <a:r>
              <a:rPr sz="1700" b="0">
                <a:solidFill>
                  <a:srgbClr val="222222"/>
                </a:solidFill>
                <a:latin typeface="맑은 고딕"/>
              </a:rPr>
              <a:t>•  그래도 ID 는 665666554 그대로 — 컨테이너만 바뀌었다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Voting File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왜 3개인가 — 과반수 규칙</a:t>
            </a:r>
          </a:p>
          <a:p>
            <a:pPr algn="l">
              <a:spcAft>
                <a:spcPts val="800"/>
              </a:spcAft>
            </a:pPr>
            <a:r>
              <a:rPr sz="1600" b="0">
                <a:solidFill>
                  <a:srgbClr val="FFFFFF"/>
                </a:solidFill>
                <a:latin typeface="맑은 고딕"/>
              </a:rPr>
              <a:t>•  개별 add/delete 는 막혀 있다</a:t>
            </a:r>
          </a:p>
          <a:p>
            <a:pPr algn="l">
              <a:spcAft>
                <a:spcPts val="800"/>
              </a:spcAft>
            </a:pPr>
            <a:r>
              <a:rPr sz="1600" b="0">
                <a:solidFill>
                  <a:srgbClr val="FFFFFF"/>
                </a:solidFill>
                <a:latin typeface="맑은 고딕"/>
              </a:rPr>
              <a:t>•  replace 의 실패와 롤백</a:t>
            </a:r>
          </a:p>
          <a:p>
            <a:pPr algn="l">
              <a:spcAft>
                <a:spcPts val="800"/>
              </a:spcAft>
            </a:pPr>
            <a:r>
              <a:rPr sz="1600" b="0">
                <a:solidFill>
                  <a:srgbClr val="FFFFFF"/>
                </a:solidFill>
                <a:latin typeface="맑은 고딕"/>
              </a:rPr>
              <a:t>•  무중단 이동과 FUID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개수는 중복도가 정한다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우리가 정하지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External 1개 — 손실 허용 0, 최소 디스크 1</a:t>
            </a:r>
          </a:p>
          <a:p>
            <a:pPr algn="l">
              <a:spcAft>
                <a:spcPts val="1000"/>
              </a:spcAft>
            </a:pPr>
            <a:r>
              <a:rPr sz="1700" b="0">
                <a:solidFill>
                  <a:srgbClr val="222222"/>
                </a:solidFill>
                <a:latin typeface="맑은 고딕"/>
              </a:rPr>
              <a:t>•  Normal 3개 — 손실 허용 1, 최소 디스크 3</a:t>
            </a:r>
          </a:p>
          <a:p>
            <a:pPr algn="l">
              <a:spcAft>
                <a:spcPts val="1000"/>
              </a:spcAft>
            </a:pPr>
            <a:r>
              <a:rPr sz="1700" b="0">
                <a:solidFill>
                  <a:srgbClr val="222222"/>
                </a:solidFill>
                <a:latin typeface="맑은 고딕"/>
              </a:rPr>
              <a:t>•  High 5개 — 손실 허용 2, 최소 디스크 5</a:t>
            </a:r>
          </a:p>
          <a:p>
            <a:pPr algn="l">
              <a:spcAft>
                <a:spcPts val="1000"/>
              </a:spcAft>
            </a:pPr>
            <a:r>
              <a:rPr sz="1700" b="0">
                <a:solidFill>
                  <a:srgbClr val="222222"/>
                </a:solidFill>
                <a:latin typeface="맑은 고딕"/>
              </a:rPr>
              <a:t>•  항상 홀수 — 과반수에 접근해야 구성원으로 남는다</a:t>
            </a:r>
          </a:p>
          <a:p>
            <a:pPr algn="l">
              <a:spcAft>
                <a:spcPts val="1000"/>
              </a:spcAft>
            </a:pPr>
            <a:r>
              <a:rPr sz="1700" b="0">
                <a:solidFill>
                  <a:srgbClr val="222222"/>
                </a:solidFill>
                <a:latin typeface="맑은 고딕"/>
              </a:rPr>
              <a:t>•  짝수면 반반으로 갈릴 때 결론이 나지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Voting File 은 ASM 파일이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asmcmd 목록에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 에는 OCRFILE, OCRBACKUP, ASMPARAMETERFILE 만 보인다</a:t>
            </a:r>
          </a:p>
          <a:p>
            <a:pPr algn="l">
              <a:spcAft>
                <a:spcPts val="1000"/>
              </a:spcAft>
            </a:pPr>
            <a:r>
              <a:rPr sz="1700" b="0">
                <a:solidFill>
                  <a:srgbClr val="222222"/>
                </a:solidFill>
                <a:latin typeface="맑은 고딕"/>
              </a:rPr>
              <a:t>•  Voting File 은 디스크의 지정된 오프셋에 직접 기록된다</a:t>
            </a:r>
          </a:p>
          <a:p>
            <a:pPr algn="l">
              <a:spcAft>
                <a:spcPts val="1000"/>
              </a:spcAft>
            </a:pPr>
            <a:r>
              <a:rPr sz="1700" b="0">
                <a:solidFill>
                  <a:srgbClr val="222222"/>
                </a:solidFill>
                <a:latin typeface="맑은 고딕"/>
              </a:rPr>
              <a:t>•  이유는 부팅 순서 — CSS 는 ASM 보다 먼저 읽어야 한다</a:t>
            </a:r>
          </a:p>
          <a:p>
            <a:pPr algn="l">
              <a:spcAft>
                <a:spcPts val="1000"/>
              </a:spcAft>
            </a:pPr>
            <a:r>
              <a:rPr sz="1700" b="0">
                <a:solidFill>
                  <a:srgbClr val="222222"/>
                </a:solidFill>
                <a:latin typeface="맑은 고딕"/>
              </a:rPr>
              <a:t>•  그래서 File Name 에 원시 장치 경로가 찍힌다</a:t>
            </a:r>
          </a:p>
          <a:p>
            <a:pPr algn="l">
              <a:spcAft>
                <a:spcPts val="1000"/>
              </a:spcAft>
            </a:pPr>
            <a:r>
              <a:rPr sz="1700" b="0">
                <a:solidFill>
                  <a:srgbClr val="222222"/>
                </a:solidFill>
                <a:latin typeface="맑은 고딕"/>
              </a:rPr>
              <a:t>•  v$asm_disk 의 VOTING_FILE 컬럼으로 확인한다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CRS-4258</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개별 추가·삭제는 막혀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add css votedisk — CRS-4258</a:t>
            </a:r>
          </a:p>
          <a:p>
            <a:pPr algn="l">
              <a:spcAft>
                <a:spcPts val="1000"/>
              </a:spcAft>
            </a:pPr>
            <a:r>
              <a:rPr sz="1700" b="0">
                <a:solidFill>
                  <a:srgbClr val="222222"/>
                </a:solidFill>
                <a:latin typeface="맑은 고딕"/>
              </a:rPr>
              <a:t>•  crsctl delete css votedisk &lt;FUID&gt; — CRS-4258</a:t>
            </a:r>
          </a:p>
          <a:p>
            <a:pPr algn="l">
              <a:spcAft>
                <a:spcPts val="1000"/>
              </a:spcAft>
            </a:pPr>
            <a:r>
              <a:rPr sz="1700" b="0">
                <a:solidFill>
                  <a:srgbClr val="222222"/>
                </a:solidFill>
                <a:latin typeface="맑은 고딕"/>
              </a:rPr>
              <a:t>•  grid 로 실행해도 같은 오류 — 권한 문제가 아니다</a:t>
            </a:r>
          </a:p>
          <a:p>
            <a:pPr algn="l">
              <a:spcAft>
                <a:spcPts val="1000"/>
              </a:spcAft>
            </a:pPr>
            <a:r>
              <a:rPr sz="1700" b="0">
                <a:solidFill>
                  <a:srgbClr val="222222"/>
                </a:solidFill>
                <a:latin typeface="맑은 고딕"/>
              </a:rPr>
              <a:t>•  ASM 에 있으면 개수와 배치는 중복도가 결정한다</a:t>
            </a:r>
          </a:p>
          <a:p>
            <a:pPr algn="l">
              <a:spcAft>
                <a:spcPts val="1000"/>
              </a:spcAft>
            </a:pPr>
            <a:r>
              <a:rPr sz="1700" b="0">
                <a:solidFill>
                  <a:srgbClr val="222222"/>
                </a:solidFill>
                <a:latin typeface="맑은 고딕"/>
              </a:rPr>
              <a:t>•  남은 수단은 crsctl replace votedisk 하나뿐</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오류는 아래부터 읽는다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CRS-4648 스택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CRS-4648 — 실패했다 (판정)</a:t>
            </a:r>
          </a:p>
          <a:p>
            <a:pPr algn="l">
              <a:spcAft>
                <a:spcPts val="1000"/>
              </a:spcAft>
            </a:pPr>
            <a:r>
              <a:rPr sz="1700" b="0">
                <a:solidFill>
                  <a:srgbClr val="222222"/>
                </a:solidFill>
                <a:latin typeface="맑은 고딕"/>
              </a:rPr>
              <a:t>•  CLSU-00107 / CLSU-00104 — 중간 계층</a:t>
            </a:r>
          </a:p>
          <a:p>
            <a:pPr algn="l">
              <a:spcAft>
                <a:spcPts val="1000"/>
              </a:spcAft>
            </a:pPr>
            <a:r>
              <a:rPr sz="1700" b="0">
                <a:solidFill>
                  <a:srgbClr val="222222"/>
                </a:solidFill>
                <a:latin typeface="맑은 고딕"/>
              </a:rPr>
              <a:t>•  ORA-15001 — 진짜 원인. 디스크그룹이 없거나 마운트되지 않았다</a:t>
            </a:r>
          </a:p>
          <a:p>
            <a:pPr algn="l">
              <a:spcAft>
                <a:spcPts val="1000"/>
              </a:spcAft>
            </a:pPr>
            <a:r>
              <a:rPr sz="1700" b="0">
                <a:solidFill>
                  <a:srgbClr val="222222"/>
                </a:solidFill>
                <a:latin typeface="맑은 고딕"/>
              </a:rPr>
              <a:t>•  ORA-06512 at SYS.X$DBMS_DISKGROUP — PL/SQL 호출의 흔적</a:t>
            </a:r>
          </a:p>
          <a:p>
            <a:pPr algn="l">
              <a:spcAft>
                <a:spcPts val="1000"/>
              </a:spcAft>
            </a:pPr>
            <a:r>
              <a:rPr sz="1700" b="0">
                <a:solidFill>
                  <a:srgbClr val="222222"/>
                </a:solidFill>
                <a:latin typeface="맑은 고딕"/>
              </a:rPr>
              <a:t>•  CRS-4628 — 롤백 성공. 중간 상태로 남지 않았다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무중단 이동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추가가 먼저, 삭제가 나중</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+DATA 로 replace — 새 위치 추가 후 옛 위치 3개 삭제</a:t>
            </a:r>
          </a:p>
          <a:p>
            <a:pPr algn="l">
              <a:spcAft>
                <a:spcPts val="1000"/>
              </a:spcAft>
            </a:pPr>
            <a:r>
              <a:rPr sz="1700" b="0">
                <a:solidFill>
                  <a:srgbClr val="222222"/>
                </a:solidFill>
                <a:latin typeface="맑은 고딕"/>
              </a:rPr>
              <a:t>•  결과는 1개. External 중복도이므로</a:t>
            </a:r>
          </a:p>
          <a:p>
            <a:pPr algn="l">
              <a:spcAft>
                <a:spcPts val="1000"/>
              </a:spcAft>
            </a:pPr>
            <a:r>
              <a:rPr sz="1700" b="0">
                <a:solidFill>
                  <a:srgbClr val="222222"/>
                </a:solidFill>
                <a:latin typeface="맑은 고딕"/>
              </a:rPr>
              <a:t>•  어느 순간에도 0개가 되지 않는다 — 그래서 무중단</a:t>
            </a:r>
          </a:p>
          <a:p>
            <a:pPr algn="l">
              <a:spcAft>
                <a:spcPts val="1000"/>
              </a:spcAft>
            </a:pPr>
            <a:r>
              <a:rPr sz="1700" b="0">
                <a:solidFill>
                  <a:srgbClr val="222222"/>
                </a:solidFill>
                <a:latin typeface="맑은 고딕"/>
              </a:rPr>
              <a:t>•  +CRS 로 되돌리면 3개, 그런데 FUID 는 전부 새것</a:t>
            </a:r>
          </a:p>
          <a:p>
            <a:pPr algn="l">
              <a:spcAft>
                <a:spcPts val="1000"/>
              </a:spcAft>
            </a:pPr>
            <a:r>
              <a:rPr sz="1700" b="0">
                <a:solidFill>
                  <a:srgbClr val="222222"/>
                </a:solidFill>
                <a:latin typeface="맑은 고딕"/>
              </a:rPr>
              <a:t>•  클러스터도 racdb1, racdb2 도 내내 정상이었다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오류 재현 — 디스크를 내려 본다</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ORA-15283 — 교재대로 했는데 실패한다</a:t>
            </a:r>
          </a:p>
          <a:p>
            <a:pPr algn="l">
              <a:spcAft>
                <a:spcPts val="800"/>
              </a:spcAft>
            </a:pPr>
            <a:r>
              <a:rPr sz="1600" b="0">
                <a:solidFill>
                  <a:srgbClr val="FFFFFF"/>
                </a:solidFill>
                <a:latin typeface="맑은 고딕"/>
              </a:rPr>
              <a:t>•  compatible 속성은 한 방향</a:t>
            </a:r>
          </a:p>
          <a:p>
            <a:pPr algn="l">
              <a:spcAft>
                <a:spcPts val="800"/>
              </a:spcAft>
            </a:pPr>
            <a:r>
              <a:rPr sz="1600" b="0">
                <a:solidFill>
                  <a:srgbClr val="FFFFFF"/>
                </a:solidFill>
                <a:latin typeface="맑은 고딕"/>
              </a:rPr>
              <a:t>•  디스크를 내리고 클러스터를 관찰한다</a:t>
            </a:r>
          </a:p>
          <a:p>
            <a:pPr algn="l">
              <a:spcAft>
                <a:spcPts val="800"/>
              </a:spcAft>
            </a:pPr>
            <a:r>
              <a:rPr sz="1600" b="0">
                <a:solidFill>
                  <a:srgbClr val="FFFFFF"/>
                </a:solidFill>
                <a:latin typeface="맑은 고딕"/>
              </a:rPr>
              <a:t>•  복구와 FUID 변화</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ORA-15283</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설치 기본값이 기능을 막고 있었다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diskgroup CRS offline disk CRS_0002 가 실패한다</a:t>
            </a:r>
          </a:p>
          <a:p>
            <a:pPr algn="l">
              <a:spcAft>
                <a:spcPts val="1000"/>
              </a:spcAft>
            </a:pPr>
            <a:r>
              <a:rPr sz="1700" b="0">
                <a:solidFill>
                  <a:srgbClr val="222222"/>
                </a:solidFill>
                <a:latin typeface="맑은 고딕"/>
              </a:rPr>
              <a:t>•  ORA-15032 는 포괄 메시지, 진짜 이유는 ORA-15283</a:t>
            </a:r>
          </a:p>
          <a:p>
            <a:pPr algn="l">
              <a:spcAft>
                <a:spcPts val="1000"/>
              </a:spcAft>
            </a:pPr>
            <a:r>
              <a:rPr sz="1700" b="0">
                <a:solidFill>
                  <a:srgbClr val="222222"/>
                </a:solidFill>
                <a:latin typeface="맑은 고딕"/>
              </a:rPr>
              <a:t>•  compatible.asm 19.0.0.0.0 인데 compatible.rdbms 는 10.1.0.0.0</a:t>
            </a:r>
          </a:p>
          <a:p>
            <a:pPr algn="l">
              <a:spcAft>
                <a:spcPts val="1000"/>
              </a:spcAft>
            </a:pPr>
            <a:r>
              <a:rPr sz="1700" b="0">
                <a:solidFill>
                  <a:srgbClr val="222222"/>
                </a:solidFill>
                <a:latin typeface="맑은 고딕"/>
              </a:rPr>
              <a:t>•  gridSetup 이 만든 기본값 — 응답 파일에 지정하지 않았다</a:t>
            </a:r>
          </a:p>
          <a:p>
            <a:pPr algn="l">
              <a:spcAft>
                <a:spcPts val="1000"/>
              </a:spcAft>
            </a:pPr>
            <a:r>
              <a:rPr sz="1700" b="0">
                <a:solidFill>
                  <a:srgbClr val="222222"/>
                </a:solidFill>
                <a:latin typeface="맑은 고딕"/>
              </a:rPr>
              <a:t>•  fast mirror resync 는 11.1 기능이라 막혀 있었다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ORA-15244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올릴 수는 있고 낮출 수는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10.1 인 상태에서 10.1 로 설정 — 성공한다 (변경이 아니므로)</a:t>
            </a:r>
          </a:p>
          <a:p>
            <a:pPr algn="l">
              <a:spcAft>
                <a:spcPts val="1000"/>
              </a:spcAft>
            </a:pPr>
            <a:r>
              <a:rPr sz="1700" b="0">
                <a:solidFill>
                  <a:srgbClr val="222222"/>
                </a:solidFill>
                <a:latin typeface="맑은 고딕"/>
              </a:rPr>
              <a:t>•  11.2 로 상향 — 성공</a:t>
            </a:r>
          </a:p>
          <a:p>
            <a:pPr algn="l">
              <a:spcAft>
                <a:spcPts val="1000"/>
              </a:spcAft>
            </a:pPr>
            <a:r>
              <a:rPr sz="1700" b="0">
                <a:solidFill>
                  <a:srgbClr val="222222"/>
                </a:solidFill>
                <a:latin typeface="맑은 고딕"/>
              </a:rPr>
              <a:t>•  다시 10.1 로 — ORA-15242 / ORA-15244</a:t>
            </a:r>
          </a:p>
          <a:p>
            <a:pPr algn="l">
              <a:spcAft>
                <a:spcPts val="1000"/>
              </a:spcAft>
            </a:pPr>
            <a:r>
              <a:rPr sz="1700" b="0">
                <a:solidFill>
                  <a:srgbClr val="222222"/>
                </a:solidFill>
                <a:latin typeface="맑은 고딕"/>
              </a:rPr>
              <a:t>•  new compatibility setting less than current</a:t>
            </a:r>
          </a:p>
          <a:p>
            <a:pPr algn="l">
              <a:spcAft>
                <a:spcPts val="1000"/>
              </a:spcAft>
            </a:pPr>
            <a:r>
              <a:rPr sz="1700" b="0">
                <a:solidFill>
                  <a:srgbClr val="222222"/>
                </a:solidFill>
                <a:latin typeface="맑은 고딕"/>
              </a:rPr>
              <a:t>•  낮추려면 디스크그룹 재생성뿐 — +CRS 는 곧 클러스터 재구축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디스크를 내린 직후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가지가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MODE_STATUS 가 OFFLINE</a:t>
            </a:r>
          </a:p>
          <a:p>
            <a:pPr algn="l">
              <a:spcAft>
                <a:spcPts val="1000"/>
              </a:spcAft>
            </a:pPr>
            <a:r>
              <a:rPr sz="1700" b="0">
                <a:solidFill>
                  <a:srgbClr val="222222"/>
                </a:solidFill>
                <a:latin typeface="맑은 고딕"/>
              </a:rPr>
              <a:t>•  PATH 가 빈다 — ASM 이 더 이상 열어 두지 않는다</a:t>
            </a:r>
          </a:p>
          <a:p>
            <a:pPr algn="l">
              <a:spcAft>
                <a:spcPts val="1000"/>
              </a:spcAft>
            </a:pPr>
            <a:r>
              <a:rPr sz="1700" b="0">
                <a:solidFill>
                  <a:srgbClr val="222222"/>
                </a:solidFill>
                <a:latin typeface="맑은 고딕"/>
              </a:rPr>
              <a:t>•  VOTING_FILE 이 N 이 된다</a:t>
            </a:r>
          </a:p>
          <a:p>
            <a:pPr algn="l">
              <a:spcAft>
                <a:spcPts val="1000"/>
              </a:spcAft>
            </a:pPr>
            <a:r>
              <a:rPr sz="1700" b="0">
                <a:solidFill>
                  <a:srgbClr val="222222"/>
                </a:solidFill>
                <a:latin typeface="맑은 고딕"/>
              </a:rPr>
              <a:t>•  디스크그룹은 여전히 MOUNTED, OFFLINE_DISKS 는 1</a:t>
            </a:r>
          </a:p>
          <a:p>
            <a:pPr algn="l">
              <a:spcAft>
                <a:spcPts val="1000"/>
              </a:spcAft>
            </a:pPr>
            <a:r>
              <a:rPr sz="1700" b="0">
                <a:solidFill>
                  <a:srgbClr val="222222"/>
                </a:solidFill>
                <a:latin typeface="맑은 고딕"/>
              </a:rPr>
              <a:t>•  TOTAL_MB 는 12288 그대로 — 제거가 아니라 접근 불가 표시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USABLE_FILE_MB 3634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여유가 줄었다는 뜻</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지금 상태에서 디스크 한 장을 더 잃어도 살아남으려면 얼마나 쓸 수 있는가</a:t>
            </a:r>
          </a:p>
          <a:p>
            <a:pPr algn="l">
              <a:spcAft>
                <a:spcPts val="1000"/>
              </a:spcAft>
            </a:pPr>
            <a:r>
              <a:rPr sz="1700" b="0">
                <a:solidFill>
                  <a:srgbClr val="222222"/>
                </a:solidFill>
                <a:latin typeface="맑은 고딕"/>
              </a:rPr>
              <a:t>•  음수가 되면 추가 손실 시 복구가 불가능하다는 신호</a:t>
            </a:r>
          </a:p>
          <a:p>
            <a:pPr algn="l">
              <a:spcAft>
                <a:spcPts val="1000"/>
              </a:spcAft>
            </a:pPr>
            <a:r>
              <a:rPr sz="1700" b="0">
                <a:solidFill>
                  <a:srgbClr val="222222"/>
                </a:solidFill>
                <a:latin typeface="맑은 고딕"/>
              </a:rPr>
              <a:t>•  운영에서 디스크를 내리기 전에 반드시 확인할 값</a:t>
            </a:r>
          </a:p>
          <a:p>
            <a:pPr algn="l">
              <a:spcAft>
                <a:spcPts val="1000"/>
              </a:spcAft>
            </a:pPr>
            <a:r>
              <a:rPr sz="1700" b="0">
                <a:solidFill>
                  <a:srgbClr val="222222"/>
                </a:solidFill>
                <a:latin typeface="맑은 고딕"/>
              </a:rPr>
              <a:t>•  함께 볼 것 — VOTING_FILE 이 Y 인가, DISK_REPAIR_TIME 은 충분한가</a:t>
            </a:r>
          </a:p>
          <a:p>
            <a:pPr algn="l">
              <a:spcAft>
                <a:spcPts val="1000"/>
              </a:spcAft>
            </a:pPr>
            <a:r>
              <a:rPr sz="1700" b="0">
                <a:solidFill>
                  <a:srgbClr val="222222"/>
                </a:solidFill>
                <a:latin typeface="맑은 고딕"/>
              </a:rPr>
              <a:t>•  작업 전후로 crsctl query css votedisk 를 실행해 FUID 를 기록한다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클러스터는 계속 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3개 중 2개는 과반수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Voting File 이 3개에서 2개가 되었다</a:t>
            </a:r>
          </a:p>
          <a:p>
            <a:pPr algn="l">
              <a:spcAft>
                <a:spcPts val="1000"/>
              </a:spcAft>
            </a:pPr>
            <a:r>
              <a:rPr sz="1700" b="0">
                <a:solidFill>
                  <a:srgbClr val="222222"/>
                </a:solidFill>
                <a:latin typeface="맑은 고딕"/>
              </a:rPr>
              <a:t>•  두 노드 모두 CRS-4537 / 4529 / 4533 online</a:t>
            </a:r>
          </a:p>
          <a:p>
            <a:pPr algn="l">
              <a:spcAft>
                <a:spcPts val="1000"/>
              </a:spcAft>
            </a:pPr>
            <a:r>
              <a:rPr sz="1700" b="0">
                <a:solidFill>
                  <a:srgbClr val="222222"/>
                </a:solidFill>
                <a:latin typeface="맑은 고딕"/>
              </a:rPr>
              <a:t>•  racdb1, racdb2 모두 running</a:t>
            </a:r>
          </a:p>
          <a:p>
            <a:pPr algn="l">
              <a:spcAft>
                <a:spcPts val="1000"/>
              </a:spcAft>
            </a:pPr>
            <a:r>
              <a:rPr sz="1700" b="0">
                <a:solidFill>
                  <a:srgbClr val="222222"/>
                </a:solidFill>
                <a:latin typeface="맑은 고딕"/>
              </a:rPr>
              <a:t>•  ocrcheck ID 665666554 그대로</a:t>
            </a:r>
          </a:p>
          <a:p>
            <a:pPr algn="l">
              <a:spcAft>
                <a:spcPts val="1000"/>
              </a:spcAft>
            </a:pPr>
            <a:r>
              <a:rPr sz="1700" b="0">
                <a:solidFill>
                  <a:srgbClr val="222222"/>
                </a:solidFill>
                <a:latin typeface="맑은 고딕"/>
              </a:rPr>
              <a:t>•  Normal 중복도의 설계가 실제로 동작했다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 이 한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PST 갱신과 재배치는 별개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GMON 이 PST(Partner Status Table) 를 갱신한다</a:t>
            </a:r>
          </a:p>
          <a:p>
            <a:pPr algn="l">
              <a:spcAft>
                <a:spcPts val="1000"/>
              </a:spcAft>
            </a:pPr>
            <a:r>
              <a:rPr sz="1700" b="0">
                <a:solidFill>
                  <a:srgbClr val="222222"/>
                </a:solidFill>
                <a:latin typeface="맑은 고딕"/>
              </a:rPr>
              <a:t>•  op = clear mandatory — Voting File 디스크의 속성 해제</a:t>
            </a:r>
          </a:p>
          <a:p>
            <a:pPr algn="l">
              <a:spcAft>
                <a:spcPts val="1000"/>
              </a:spcAft>
            </a:pPr>
            <a:r>
              <a:rPr sz="1700" b="0">
                <a:solidFill>
                  <a:srgbClr val="222222"/>
                </a:solidFill>
                <a:latin typeface="맑은 고딕"/>
              </a:rPr>
              <a:t>•  직후 refresh 에서는 아직 3개로 보였다</a:t>
            </a:r>
          </a:p>
          <a:p>
            <a:pPr algn="l">
              <a:spcAft>
                <a:spcPts val="1000"/>
              </a:spcAft>
            </a:pPr>
            <a:r>
              <a:rPr sz="1700" b="0">
                <a:solidFill>
                  <a:srgbClr val="222222"/>
                </a:solidFill>
                <a:latin typeface="맑은 고딕"/>
              </a:rPr>
              <a:t>•  ASM 이 재배치가 필요하다고 판단하고 수행 — 그래서 2개가 되었다</a:t>
            </a:r>
          </a:p>
          <a:p>
            <a:pPr algn="l">
              <a:spcAft>
                <a:spcPts val="1000"/>
              </a:spcAft>
            </a:pPr>
            <a:r>
              <a:rPr sz="1700" b="0">
                <a:solidFill>
                  <a:srgbClr val="222222"/>
                </a:solidFill>
                <a:latin typeface="맑은 고딕"/>
              </a:rPr>
              <a:t>•  without client assisting — +CRS 에는 DB 파일이 없다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repair_timer 가 0인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mandatory 속성</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disk_repair_time 12.0h, failgroup_repair_time 24.0h 로 넉넉했다</a:t>
            </a:r>
          </a:p>
          <a:p>
            <a:pPr algn="l">
              <a:spcAft>
                <a:spcPts val="1000"/>
              </a:spcAft>
            </a:pPr>
            <a:r>
              <a:rPr sz="1700" b="0">
                <a:solidFill>
                  <a:srgbClr val="222222"/>
                </a:solidFill>
                <a:latin typeface="맑은 고딕"/>
              </a:rPr>
              <a:t>•  그런데 1분을 기다려도 REPAIR_TIMER 는 0에서 움직이지 않았다</a:t>
            </a:r>
          </a:p>
          <a:p>
            <a:pPr algn="l">
              <a:spcAft>
                <a:spcPts val="1000"/>
              </a:spcAft>
            </a:pPr>
            <a:r>
              <a:rPr sz="1700" b="0">
                <a:solidFill>
                  <a:srgbClr val="222222"/>
                </a:solidFill>
                <a:latin typeface="맑은 고딕"/>
              </a:rPr>
              <a:t>•  이유는 op = clear mandatory</a:t>
            </a:r>
          </a:p>
          <a:p>
            <a:pPr algn="l">
              <a:spcAft>
                <a:spcPts val="1000"/>
              </a:spcAft>
            </a:pPr>
            <a:r>
              <a:rPr sz="1700" b="0">
                <a:solidFill>
                  <a:srgbClr val="222222"/>
                </a:solidFill>
                <a:latin typeface="맑은 고딕"/>
              </a:rPr>
              <a:t>•  Voting File 을 담은 디스크는 mandatory 속성을 갖는다</a:t>
            </a:r>
          </a:p>
          <a:p>
            <a:pPr algn="l">
              <a:spcAft>
                <a:spcPts val="1000"/>
              </a:spcAft>
            </a:pPr>
            <a:r>
              <a:rPr sz="1700" b="0">
                <a:solidFill>
                  <a:srgbClr val="222222"/>
                </a:solidFill>
                <a:latin typeface="맑은 고딕"/>
              </a:rPr>
              <a:t>•  이미 재배치로 처리되었으므로 타이머 관리 대상이 아니다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복구와 FUID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되살아나는 것이 아니라 새로 만들어진다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diskgroup CRS online disk CRS_0002 — 20초 안에 리밸런스 완료</a:t>
            </a:r>
          </a:p>
          <a:p>
            <a:pPr algn="l">
              <a:spcAft>
                <a:spcPts val="1000"/>
              </a:spcAft>
            </a:pPr>
            <a:r>
              <a:rPr sz="1700" b="0">
                <a:solidFill>
                  <a:srgbClr val="222222"/>
                </a:solidFill>
                <a:latin typeface="맑은 고딕"/>
              </a:rPr>
              <a:t>•  PATH 복귀, VOTING_FILE 다시 Y, OFFLINE_DISKS 0</a:t>
            </a:r>
          </a:p>
          <a:p>
            <a:pPr algn="l">
              <a:spcAft>
                <a:spcPts val="1000"/>
              </a:spcAft>
            </a:pPr>
            <a:r>
              <a:rPr sz="1700" b="0">
                <a:solidFill>
                  <a:srgbClr val="222222"/>
                </a:solidFill>
                <a:latin typeface="맑은 고딕"/>
              </a:rPr>
              <a:t>•  그런데 세 번째 FUID 가 038ff992... 에서 da88767c... 로 바뀌었다</a:t>
            </a:r>
          </a:p>
          <a:p>
            <a:pPr algn="l">
              <a:spcAft>
                <a:spcPts val="1000"/>
              </a:spcAft>
            </a:pPr>
            <a:r>
              <a:rPr sz="1700" b="0">
                <a:solidFill>
                  <a:srgbClr val="222222"/>
                </a:solidFill>
                <a:latin typeface="맑은 고딕"/>
              </a:rPr>
              <a:t>•  1번과 2번은 그대로</a:t>
            </a:r>
          </a:p>
          <a:p>
            <a:pPr algn="l">
              <a:spcAft>
                <a:spcPts val="1000"/>
              </a:spcAft>
            </a:pPr>
            <a:r>
              <a:rPr sz="1700" b="0">
                <a:solidFill>
                  <a:srgbClr val="222222"/>
                </a:solidFill>
                <a:latin typeface="맑은 고딕"/>
              </a:rPr>
              <a:t>•  판단 기준은 옛 FUID 가 아니라 개수와 STATE 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복구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PROT-19 — 클러스터가 떠 있으면 복원할 수 없다</a:t>
            </a:r>
          </a:p>
          <a:p>
            <a:pPr algn="l">
              <a:spcAft>
                <a:spcPts val="800"/>
              </a:spcAft>
            </a:pPr>
            <a:r>
              <a:rPr sz="1600" b="0">
                <a:solidFill>
                  <a:srgbClr val="FFFFFF"/>
                </a:solidFill>
                <a:latin typeface="맑은 고딕"/>
              </a:rPr>
              <a:t>•  시나리오별 절차</a:t>
            </a:r>
          </a:p>
          <a:p>
            <a:pPr algn="l">
              <a:spcAft>
                <a:spcPts val="800"/>
              </a:spcAft>
            </a:pPr>
            <a:r>
              <a:rPr sz="1600" b="0">
                <a:solidFill>
                  <a:srgbClr val="FFFFFF"/>
                </a:solidFill>
                <a:latin typeface="맑은 고딕"/>
              </a:rPr>
              <a:t>•  배타 모드 기동</a:t>
            </a:r>
          </a:p>
          <a:p>
            <a:pPr algn="l">
              <a:spcAft>
                <a:spcPts val="800"/>
              </a:spcAft>
            </a:pPr>
            <a:r>
              <a:rPr sz="1600" b="0">
                <a:solidFill>
                  <a:srgbClr val="FFFFFF"/>
                </a:solidFill>
                <a:latin typeface="맑은 고딕"/>
              </a:rPr>
              <a:t>•  평상시 습관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PROT-19</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복구 절차의 첫 단계를 결정한다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-restore, -import, -repair 모두 같은 벽에 막힌다</a:t>
            </a:r>
          </a:p>
          <a:p>
            <a:pPr algn="l">
              <a:spcAft>
                <a:spcPts val="1000"/>
              </a:spcAft>
            </a:pPr>
            <a:r>
              <a:rPr sz="1700" b="0">
                <a:solidFill>
                  <a:srgbClr val="222222"/>
                </a:solidFill>
                <a:latin typeface="맑은 고딕"/>
              </a:rPr>
              <a:t>•  Cannot proceed while the Cluster Ready Service is running</a:t>
            </a:r>
          </a:p>
          <a:p>
            <a:pPr algn="l">
              <a:spcAft>
                <a:spcPts val="1000"/>
              </a:spcAft>
            </a:pPr>
            <a:r>
              <a:rPr sz="1700" b="0">
                <a:solidFill>
                  <a:srgbClr val="222222"/>
                </a:solidFill>
                <a:latin typeface="맑은 고딕"/>
              </a:rPr>
              <a:t>•  crsd 는 OCR 을 열어 놓고 계속 읽고 쓴다</a:t>
            </a:r>
          </a:p>
          <a:p>
            <a:pPr algn="l">
              <a:spcAft>
                <a:spcPts val="1000"/>
              </a:spcAft>
            </a:pPr>
            <a:r>
              <a:rPr sz="1700" b="0">
                <a:solidFill>
                  <a:srgbClr val="222222"/>
                </a:solidFill>
                <a:latin typeface="맑은 고딕"/>
              </a:rPr>
              <a:t>•  그 밑에서 파일을 갈아 끼우면 내용이 어긋난다</a:t>
            </a:r>
          </a:p>
          <a:p>
            <a:pPr algn="l">
              <a:spcAft>
                <a:spcPts val="1000"/>
              </a:spcAft>
            </a:pPr>
            <a:r>
              <a:rPr sz="1700" b="0">
                <a:solidFill>
                  <a:srgbClr val="222222"/>
                </a:solidFill>
                <a:latin typeface="맑은 고딕"/>
              </a:rPr>
              <a:t>•  그래서 모든 노드에서 crsctl stop crs 가 먼저다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배타 모드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crsctl start crs -excl -nocrs</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한 노드에서만, 클러스터 서비스 없이 기동</a:t>
            </a:r>
          </a:p>
          <a:p>
            <a:pPr algn="l">
              <a:spcAft>
                <a:spcPts val="1000"/>
              </a:spcAft>
            </a:pPr>
            <a:r>
              <a:rPr sz="1700" b="0">
                <a:solidFill>
                  <a:srgbClr val="222222"/>
                </a:solidFill>
                <a:latin typeface="맑은 고딕"/>
              </a:rPr>
              <a:t>•  ASM 은 뜨고 crsd 는 뜨지 않는다 — PROT-19 를 피한다</a:t>
            </a:r>
          </a:p>
          <a:p>
            <a:pPr algn="l">
              <a:spcAft>
                <a:spcPts val="1000"/>
              </a:spcAft>
            </a:pPr>
            <a:r>
              <a:rPr sz="1700" b="0">
                <a:solidFill>
                  <a:srgbClr val="222222"/>
                </a:solidFill>
                <a:latin typeface="맑은 고딕"/>
              </a:rPr>
              <a:t>•  순서 — 전 노드 정지, 한 노드 배타 기동, 복원, 검증, 정상 기동</a:t>
            </a:r>
          </a:p>
          <a:p>
            <a:pPr algn="l">
              <a:spcAft>
                <a:spcPts val="1000"/>
              </a:spcAft>
            </a:pPr>
            <a:r>
              <a:rPr sz="1700" b="0">
                <a:solidFill>
                  <a:srgbClr val="222222"/>
                </a:solidFill>
                <a:latin typeface="맑은 고딕"/>
              </a:rPr>
              <a:t>•  배타 모드 종료에는 crsctl stop crs -f 가 필요하다</a:t>
            </a:r>
          </a:p>
          <a:p>
            <a:pPr algn="l">
              <a:spcAft>
                <a:spcPts val="1000"/>
              </a:spcAft>
            </a:pPr>
            <a:r>
              <a:rPr sz="1700" b="0">
                <a:solidFill>
                  <a:srgbClr val="222222"/>
                </a:solidFill>
                <a:latin typeface="맑은 고딕"/>
              </a:rPr>
              <a:t>•  백업 경로는 showbackup 출력을 그대로 복사해 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OCR 은 권한이 붙은 키-값 트리다. 428개 키, ID 665666554</a:t>
            </a:r>
          </a:p>
          <a:p>
            <a:pPr algn="l">
              <a:spcAft>
                <a:spcPts val="1000"/>
              </a:spcAft>
            </a:pPr>
            <a:r>
              <a:rPr sz="1600" b="0">
                <a:solidFill>
                  <a:srgbClr val="222222"/>
                </a:solidFill>
                <a:latin typeface="맑은 고딕"/>
              </a:rPr>
              <a:t>•  설치 직후 백업은 없다. crsd 재시작마다 4시간 타이머가 초기화된다</a:t>
            </a:r>
          </a:p>
          <a:p>
            <a:pPr algn="l">
              <a:spcAft>
                <a:spcPts val="1000"/>
              </a:spcAft>
            </a:pPr>
            <a:r>
              <a:rPr sz="1600" b="0">
                <a:solidFill>
                  <a:srgbClr val="222222"/>
                </a:solidFill>
                <a:latin typeface="맑은 고딕"/>
              </a:rPr>
              <a:t>•  백업 위치는 ASM 또는 공유 FS 여야 한다. 로컬은 PROT-42</a:t>
            </a:r>
          </a:p>
          <a:p>
            <a:pPr algn="l">
              <a:spcAft>
                <a:spcPts val="1000"/>
              </a:spcAft>
            </a:pPr>
            <a:r>
              <a:rPr sz="1600" b="0">
                <a:solidFill>
                  <a:srgbClr val="222222"/>
                </a:solidFill>
                <a:latin typeface="맑은 고딕"/>
              </a:rPr>
              <a:t>•  백업은 OCR 마스터 노드가 수행한다</a:t>
            </a:r>
          </a:p>
          <a:p>
            <a:pPr algn="l">
              <a:spcAft>
                <a:spcPts val="1000"/>
              </a:spcAft>
            </a:pPr>
            <a:r>
              <a:rPr sz="1600" b="0">
                <a:solidFill>
                  <a:srgbClr val="222222"/>
                </a:solidFill>
                <a:latin typeface="맑은 고딕"/>
              </a:rPr>
              <a:t>•  OCR 최대 5벌, 마지막 한 벌은 PROT-28 로 보호된다</a:t>
            </a:r>
          </a:p>
          <a:p>
            <a:pPr algn="l">
              <a:spcAft>
                <a:spcPts val="1000"/>
              </a:spcAft>
            </a:pPr>
            <a:r>
              <a:rPr sz="1600" b="0">
                <a:solidFill>
                  <a:srgbClr val="222222"/>
                </a:solidFill>
                <a:latin typeface="맑은 고딕"/>
              </a:rPr>
              <a:t>•  Voting File 개수는 중복도가 정한다. 개별 조작은 CRS-4258</a:t>
            </a:r>
          </a:p>
          <a:p>
            <a:pPr algn="l">
              <a:spcAft>
                <a:spcPts val="1000"/>
              </a:spcAft>
            </a:pPr>
            <a:r>
              <a:rPr sz="1600" b="0">
                <a:solidFill>
                  <a:srgbClr val="222222"/>
                </a:solidFill>
                <a:latin typeface="맑은 고딕"/>
              </a:rPr>
              <a:t>•  디스크 OFFLINE 에는 compatible.rdbms 11.1 이상이 필요하다</a:t>
            </a:r>
          </a:p>
          <a:p>
            <a:pPr algn="l">
              <a:spcAft>
                <a:spcPts val="1000"/>
              </a:spcAft>
            </a:pPr>
            <a:r>
              <a:rPr sz="1600" b="0">
                <a:solidFill>
                  <a:srgbClr val="222222"/>
                </a:solidFill>
                <a:latin typeface="맑은 고딕"/>
              </a:rPr>
              <a:t>•  복원은 PROT-19 때문에 배타 모드 기동이 필요하다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ocrcheck 의 ID 가 바뀌었다면 무엇을 의심하는가</a:t>
            </a:r>
          </a:p>
          <a:p>
            <a:pPr algn="l">
              <a:spcAft>
                <a:spcPts val="1000"/>
              </a:spcAft>
            </a:pPr>
            <a:r>
              <a:rPr sz="1600" b="0">
                <a:solidFill>
                  <a:srgbClr val="222222"/>
                </a:solidFill>
                <a:latin typeface="맑은 고딕"/>
              </a:rPr>
              <a:t>•  OCR 백업을 /u01 아래에 둘 수 없는 이유는</a:t>
            </a:r>
          </a:p>
          <a:p>
            <a:pPr algn="l">
              <a:spcAft>
                <a:spcPts val="1000"/>
              </a:spcAft>
            </a:pPr>
            <a:r>
              <a:rPr sz="1600" b="0">
                <a:solidFill>
                  <a:srgbClr val="222222"/>
                </a:solidFill>
                <a:latin typeface="맑은 고딕"/>
              </a:rPr>
              <a:t>•  rac1 에서 실행했는데 출력에 rac2 가 찍혔다. 오류인가</a:t>
            </a:r>
          </a:p>
          <a:p>
            <a:pPr algn="l">
              <a:spcAft>
                <a:spcPts val="1000"/>
              </a:spcAft>
            </a:pPr>
            <a:r>
              <a:rPr sz="1600" b="0">
                <a:solidFill>
                  <a:srgbClr val="222222"/>
                </a:solidFill>
                <a:latin typeface="맑은 고딕"/>
              </a:rPr>
              <a:t>•  Normal 중복도에서 Voting File 이 3개인 이유를 과반수 규칙으로 설명하라</a:t>
            </a:r>
          </a:p>
          <a:p>
            <a:pPr algn="l">
              <a:spcAft>
                <a:spcPts val="1000"/>
              </a:spcAft>
            </a:pPr>
            <a:r>
              <a:rPr sz="1600" b="0">
                <a:solidFill>
                  <a:srgbClr val="222222"/>
                </a:solidFill>
                <a:latin typeface="맑은 고딕"/>
              </a:rPr>
              <a:t>•  CRS-4258 은 권한 문제인가</a:t>
            </a:r>
          </a:p>
          <a:p>
            <a:pPr algn="l">
              <a:spcAft>
                <a:spcPts val="1000"/>
              </a:spcAft>
            </a:pPr>
            <a:r>
              <a:rPr sz="1600" b="0">
                <a:solidFill>
                  <a:srgbClr val="222222"/>
                </a:solidFill>
                <a:latin typeface="맑은 고딕"/>
              </a:rPr>
              <a:t>•  ORA-15283 을 만나면 무엇을 확인하는가</a:t>
            </a:r>
          </a:p>
          <a:p>
            <a:pPr algn="l">
              <a:spcAft>
                <a:spcPts val="1000"/>
              </a:spcAft>
            </a:pPr>
            <a:r>
              <a:rPr sz="1600" b="0">
                <a:solidFill>
                  <a:srgbClr val="222222"/>
                </a:solidFill>
                <a:latin typeface="맑은 고딕"/>
              </a:rPr>
              <a:t>•  복구 후 FUID 가 바뀌었다. 실패인가</a:t>
            </a:r>
          </a:p>
          <a:p>
            <a:pPr algn="l">
              <a:spcAft>
                <a:spcPts val="1000"/>
              </a:spcAft>
            </a:pPr>
            <a:r>
              <a:rPr sz="1600" b="0">
                <a:solidFill>
                  <a:srgbClr val="222222"/>
                </a:solidFill>
                <a:latin typeface="맑은 고딕"/>
              </a:rPr>
              <a:t>•  PROT-19 다음 단계는 무엇인가</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현재 구성 확인 — ocrcheck, votedisk, ocr.loc 대조 기준 기록</a:t>
            </a:r>
          </a:p>
          <a:p>
            <a:pPr algn="l">
              <a:spcAft>
                <a:spcPts val="1000"/>
              </a:spcAft>
            </a:pPr>
            <a:r>
              <a:rPr sz="1600" b="0">
                <a:solidFill>
                  <a:srgbClr val="222222"/>
                </a:solidFill>
                <a:latin typeface="맑은 고딕"/>
              </a:rPr>
              <a:t>•  02 백업 상태 진단 — PROT-24/25 와 crsd 기동 시각</a:t>
            </a:r>
          </a:p>
          <a:p>
            <a:pPr algn="l">
              <a:spcAft>
                <a:spcPts val="1000"/>
              </a:spcAft>
            </a:pPr>
            <a:r>
              <a:rPr sz="1600" b="0">
                <a:solidFill>
                  <a:srgbClr val="222222"/>
                </a:solidFill>
                <a:latin typeface="맑은 고딕"/>
              </a:rPr>
              <a:t>•  03 수동 백업과 export — PROT-20 가드, +CRS 저장 확인</a:t>
            </a:r>
          </a:p>
          <a:p>
            <a:pPr algn="l">
              <a:spcAft>
                <a:spcPts val="1000"/>
              </a:spcAft>
            </a:pPr>
            <a:r>
              <a:rPr sz="1600" b="0">
                <a:solidFill>
                  <a:srgbClr val="222222"/>
                </a:solidFill>
                <a:latin typeface="맑은 고딕"/>
              </a:rPr>
              <a:t>•  04 OCR 다중화 — PROT-30/PROC-50, PROT-29, PROT-28</a:t>
            </a:r>
          </a:p>
          <a:p>
            <a:pPr algn="l">
              <a:spcAft>
                <a:spcPts val="1000"/>
              </a:spcAft>
            </a:pPr>
            <a:r>
              <a:rPr sz="1600" b="0">
                <a:solidFill>
                  <a:srgbClr val="222222"/>
                </a:solidFill>
                <a:latin typeface="맑은 고딕"/>
              </a:rPr>
              <a:t>•  05 Voting File 재배치 — CRS-4258, CRS-4261, CRS-4648</a:t>
            </a:r>
          </a:p>
          <a:p>
            <a:pPr algn="l">
              <a:spcAft>
                <a:spcPts val="1000"/>
              </a:spcAft>
            </a:pPr>
            <a:r>
              <a:rPr sz="1600" b="0">
                <a:solidFill>
                  <a:srgbClr val="222222"/>
                </a:solidFill>
                <a:latin typeface="맑은 고딕"/>
              </a:rPr>
              <a:t>•  06 디스크 강제 OFFLINE — ORA-15283 진단 후 완주 (파괴적)</a:t>
            </a:r>
          </a:p>
          <a:p>
            <a:pPr algn="l">
              <a:spcAft>
                <a:spcPts val="1000"/>
              </a:spcAft>
            </a:pPr>
            <a:r>
              <a:rPr sz="1600" b="0">
                <a:solidFill>
                  <a:srgbClr val="222222"/>
                </a:solidFill>
                <a:latin typeface="맑은 고딕"/>
              </a:rPr>
              <a:t>•  07 복구 절차 정리 — PROT-19 확인과 절차서 작성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
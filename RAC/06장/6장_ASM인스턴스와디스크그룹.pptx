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C15F9-7829-416F-A5D8-8D802FC6DAE1}"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5C410E-31FE-4870-8126-6BDBF221F847}" type="slidenum">
              <a:rPr lang="ko-KR" altLang="en-US" smtClean="0"/>
              <a:t>‹#›</a:t>
            </a:fld>
            <a:endParaRPr lang="ko-KR" altLang="en-US"/>
          </a:p>
        </p:txBody>
      </p:sp>
    </p:spTree>
    <p:extLst>
      <p:ext uri="{BB962C8B-B14F-4D97-AF65-F5344CB8AC3E}">
        <p14:creationId xmlns:p14="http://schemas.microsoft.com/office/powerpoint/2010/main" val="164873054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5장과 6장을 잇는 슬라이드입니다. 5장에서 OCR 과 Voting File 을 다루면서 계속 +CRS 디스크그룹이 등장했는데, 그것을 관리하는 계층을 이제 들여다봅니다. ASM 이 별도의 데몬이 아니라 오라클 인스턴스라는 점이 처음에는 낯설게 느껴집니다. 커널은 데이터베이스와 같은 것을 쓰고, 접속도 sqlplus 로 하고, 조회도 v 달러 뷰로 합니다. 다른 점은 마운트할 데이터베이스가 없다는 것뿐입니다.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인스턴스를 나란히 조회해 차이를 확인합니다. ASM 인스턴스가 STARTED 에 머무는 이유는 마운트할 데이터베이스가 없기 때문입니다. 데이터베이스를 마운트하지 않았으니 v 달러 datafile 을 조회하면 ORA-01507 이 납니다. 이것은 오류가 아니라 구조상 당연한 결과입니다. 실습에서 이 오류를 직접 만나 보고, 어떤 뷰가 ASM 에서 의미 있고 어떤 뷰가 그렇지 않은지 감을 잡게 됩니다.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프로세스 목록을 함께 읽습니다. 개수 차이가 ASM 이 무엇을 하지 않는지를 보여 줍니다. 데이터베이스의 백그라운드 프로세스 대부분은 SQL 처리, 옵티마이저 통계, 리스너 등록 같은 일을 하는데 ASM 에는 그런 일이 없습니다. 반면 LMON, LMD0, LMS0 이 있다는 점이 중요합니다. ASM 인스턴스도 두 노드가 같은 디스크그룹 메타데이터를 공유하므로 캐시 퓨전과 같은 조정 장치가 필요합니다.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파라미터를 실측 값과 함께 봅니다. 특히 ASM_DISKSTRING 은 3장에서 udev 로 만든 디렉터리와 직결됩니다. 넓게 잡으면 기동할 때마다 모든 블록 장치를 열어 헤더를 읽으므로 디스크가 많은 환경에서 기동이 느려집니다. asmcmd dsget 을 실행하면 parameter 와 profile 두 줄이 나오는데, 앞은 현재 인스턴스 값이고 뒤는 GPnP 프로파일에 저장된 값입니다. 두 값이 어긋나면 재기동 후 디스크를 못 찾습니다.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자주 나오는 질문입니다. 목록에 +CRS 가 없으니 빠뜨린 것 아니냐는 것입니다. 답은 순서에 있습니다. ASM 의 SPFILE 자체가 +CRS 안에 있으므로, ASM_DISKGROUPS 파라미터를 읽으려면 이미 +CRS 가 마운트되어 있어야 합니다. 그래서 Clusterware 가 GPnP 프로파일 정보만으로 +CRS 를 먼저 마운트하고, 그다음에 SPFILE 을 읽습니다. 5장의 OLR 과 OCR 관계와 똑같은 구조입니다.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오류를 직접 재현합니다. ORA-15021 은 파라미터가 인스턴스 종류에 묶여 있음을 보여 줍니다. 운영에서 잘못된 SID 로 접속해 명령을 내리는 실수가 흔한데, 이 오류가 그것을 잡아 줍니다. ORA-00068 의 상한 1024 는 이론적인 값이고, 8장에서 파워 1과 8의 실제 차이를 측정해 보면 무작정 올린다고 빨라지지 않는다는 것을 알게 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 달러 asm_disk 를 읽는 훈련입니다. 이 뷰는 디스크그룹에 속한 디스크와 속하지 않은 디스크를 모두 보여 줍니다. 새 디스크를 붙였을 때 여기 나타나는지가 첫 확인 지점입니다. 나타나지 않으면 ASM_DISKSTRING 경로에 없거나 udev 링크가 만들어지지 않은 것입니다. 나타나기는 하는데 CANDIDATE 가 아니면 다른 용도로 쓰이던 디스크입니다.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대비를 놓치면 디스크가 인식되지 않았다고 오해합니다. TOTAL_MB 가 0이라고 해서 디스크가 비어 있거나 고장 난 것이 아닙니다. ASM 이 아직 그 디스크를 쓰지 않기로 했을 뿐입니다. OS_MB 가 제대로 나온다면 장치 자체는 정상입니다. 실습에서 디스크그룹을 만든 뒤 같은 행을 다시 조회해 TOTAL_MB 가 4096 으로 바뀌는 것을 확인합니다.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 판단 기준으로 정리한 표입니다. 앞의 세 가지는 그대로 쓸 수 있고, MEMBER 는 FORCE 를 붙여야 하는데 이것은 다른 클러스터가 쓰고 있는 디스크를 빼앗는 행위가 될 수 있어 매우 위험합니다. 새 디스크를 받았는데 MEMBER 로 나온다면 스토리지 담당자에게 확인해야 합니다. 이전 시스템에서 반납된 디스크가 초기화 없이 넘어온 경우가 종종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3장의 준비 작업이 왜 필요했는지 여기서 확인됩니다. 리눅스는 부팅 순서에 따라 sd 뒤의 문자를 다르게 붙일 수 있습니다. 실제로 이 환경의 rac2 에서는 재부팅 후 sda 와 sdb 가 바뀐 적도 있습니다. WWN 기준 udev 규칙이 없으면 디스크그룹이 깨집니다. 실습에서 양 노드의 v 달러 asm_disk 를 대조해 같은 6장이 보이는지 반드시 확인하시기 바랍니다.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오류를 계층으로 읽는 습관을 계속 이어 갑니다. ORA-15018 은 결과만 알려 주고 원인은 그 아래 줄에 있습니다. 세 오류를 실습에서 직접 만들어 보면 어떤 상황에서 어떤 코드가 나오는지 몸에 익습니다. 특히 ORA-15167 은 메시지 안의 숫자가 중복도에 따라 2에서 3으로 바뀌므로, 같은 코드라도 메시지를 끝까지 읽어야 한다는 점을 보여 줍니다.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5장에서 겪은 문제를 여기서 예방합니다. 응답 파일이나 CREATE DISKGROUP 문에 compatible 항목을 쓰지 않으면 ASM 이 가장 낮은 값을 넣습니다. 19c 로 설치했으니 당연히 19가 들어갈 것이라 생각하기 쉬운데 그렇지 않습니다. 두 속성의 의미도 구분해야 합니다. compatible.asm 은 이 디스크그룹에서 쓸 수 있는 ASM 기능을, compatible.rdbms 는 이 디스크그룹을 사용할 수 있는 데이터베이스의 최저 버전을 뜻합니다.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RAC 초심자가 자주 놓치는 지점입니다. 디스크그룹을 만들면 클러스터 전체에 반영될 것이라 생각하는데, 메타데이터는 공유되지만 마운트는 인스턴스별 동작입니다. TOTAL_MB 가 0으로 보이는 것도 마운트하지 않아 크기를 읽지 않았기 때문입니다. 실습에서 rac2 로 넘어가 직접 마운트해 보고, 그 전후로 값이 어떻게 바뀌는지 확인합니다. 노드가 여덟 개인 클러스터라면 일곱 번을 더 해야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6.3 절의 실무 요점입니다. SQL 로 마운트하면 ASM 계층에서는 MOUNTED 인데 Clusterware 계층에서는 OFFLINE 인 상태가 됩니다. 이 상태로 두면 노드를 재기동했을 때 디스크그룹이 자동으로 올라오지 않고, 그 위의 데이터베이스도 기동에 실패합니다. srvctl 을 쓰면 리소스를 통해 마운트하므로 두 계층이 일치하고 자동 기동도 보장됩니다.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앞서 본 CANDIDATE 행과 나란히 놓고 비교합니다. 다섯 컬럼이 한꺼번에 바뀝니다. 이 변화를 기억해 두면 문제 상황에서 어디까지 진행됐는지 판단할 수 있습니다. 예를 들어 NAME 은 붙었는데 MOUNT_STATUS 가 CLOSED 라면 편입은 되었지만 현재 인스턴스가 열지 않은 상태이고, 이는 디스크그룹이 언마운트되었거나 디스크에 접근할 수 없다는 뜻입니다.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가장 인상적인 실측입니다. 이중화의 비용이 숫자로 드러납니다. USABLE_FILE_MB 세 값이 4000 언저리로 거의 같습니다. 용량 산정을 할 때 이 점을 놓치면 스토리지 발주 규모가 두세 배 틀립니다. 100TB 를 High 로 구성하면 실제로 쓸 수 있는 것은 33TB 입니다. 반대로 말하면 33TB 를 쓰려면 100TB 를 사야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장애 그룹의 정의를 정확히 이해해야 합니다. 논리적 구분이 아니라 함께 죽는 물리적 단위입니다. 같은 스토리지 컨트롤러, 같은 랙, 같은 전원 계통이 기준입니다. 실습 환경은 디스크가 전부 같은 VMware 호스트의 같은 폴더에 있으므로 사실상 장애 그룹이 하나입니다. 학습을 위해 나눈 것일 뿐이라는 점을 분명히 인식하고, 실무에서는 스토리지 구성도를 보고 나눠야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 판단 기준을 정리합니다. RAID 보호가 있는 스토리지 위에 ASM Normal 을 얹으면 절반의 절반이 되어 25퍼센트만 쓸 수 있고, 쓰기도 두 배가 되어 성능이 나빠집니다. 우리 환경에서 +CRS 만 Normal 인 것은 두 가지 이유입니다. VMware 가상 디스크에 RAID 보호가 없고, OCR 과 Voting File 이 들어 있어 5장에서 본 대로 Voting File 3개가 필요하기 때문입니다.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정상적인 보호 동작을 확인하는 슬라이드입니다. 데이터베이스가 그 안의 파일을 열고 있으면 ASM 이 언마운트를 거부합니다. 함께 볼 것은 데이터베이스 alert.log 입니다. 테이블스페이스를 만드는 순간 데이터베이스와 디스크그룹 리소스 사이에 의존 관계가 자동 설정됩니다. 이 의존 관계 때문에 이후 Clusterware 는 데이터베이스보다 디스크그룹을 먼저 띄우려 합니다.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실습에서 Flex ASM 의 동작을 우연히 목격하게 됩니다. rac1 의 데이터베이스가 rac1 의 ASM 을 잃자 rac2 의 +ASM2 에 붙었습니다. 이것은 12c 부터의 Flex ASM 구조 덕분입니다. 다만 이 슬라이드의 요점은 그것이 아니라 FORCE 의 위험입니다. 데이터베이스와 ASM 의 인식이 어긋난 상태가 만들어지고, 그 테이블스페이스에 접근하는 첫 쿼리부터 오류가 번지기 시작합니다.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삭제 과정에서 오류가 두 번 나오고 이유가 매번 다릅니다. 이 장에서 계속 강조한 패턴입니다. 첫 줄은 결과, 둘째 줄이 원인입니다. 그리고 삭제 후 헤더가 FORMER 가 된다는 점을 기억하시기 바랍니다. CANDIDATE 와 실무적으로 같지만, FORMER 를 보면 이 디스크가 전에 쓰인 적이 있다는 사실을 알 수 있어 남의 데이터가 있었을 가능성을 한 번 생각해 볼 단서가 됩니다.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만난 오류를 계층으로 묶어 정리합니다. 규칙이 하나 보입니다. ORA-15018 과 ORA-15039 는 결과만 알려 주는 포괄 코드이고, 실제 원인은 항상 그 아래 줄에 있습니다. 5장에서 ORA-15032 아래에 ORA-15283 이 붙었던 것과 같은 구조입니다. 오류를 검색할 때 첫 줄이 아니라 마지막 줄의 코드로 검색해야 답을 빨리 찾습니다.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실무에서 그대로 쓸 수 있는 순서입니다. 다섯 항목 각각이 이 장에서 실제로 부딪힌 문제에 대응합니다. 양 노드 확인을 빠뜨리면 마운트가 실패하고, compatible 을 빠뜨리면 5장처럼 나중에 기능이 막히고, 다른 노드 마운트를 빠뜨리면 그 노드에서 데이터베이스가 안 뜹니다. 체크리스트를 문서로 만들어 두고 매번 확인하는 것이 안전합니다. 특히 노드가 많을수록 확인 항목이 늘어납니다.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 전체를 관통하는 구조입니다. ASM 은 저장소를 관리하고 Clusterware 는 리소스를 관리하는데, 두 계층이 항상 같은 상태를 보는 것은 아닙니다. 디스크그룹을 만들거나 지우면 양쪽이 함께 바뀌지만, 마운트와 언마운트는 SQL 로 하면 ASM 계층만 바뀝니다. 그래서 진단할 때는 두 계층을 모두 조회하고, 조작할 때는 srvctl 로 통일하는 것이 원칙입니다.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6장에서 디스크그룹이라는 그릇을 만들었으니, 7장에서는 그 안의 파일을 보고 8장에서는 그릇의 크기를 바꿉니다. 특히 8장은 이 장에서 살짝 언급만 하고 넘어간 REQUIRED_MIRROR_FREE_MB 와 ASM_POWER_LIMIT 이 실제로 어떻게 동작하는지를 측정으로 확인하는 장입니다. 세 장이 하나의 흐름이므로 test 디스크 6장을 계속 사용합니다.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615553"/>
          </a:xfrm>
          <a:prstGeom prst="rect">
            <a:avLst/>
          </a:prstGeom>
          <a:noFill/>
        </p:spPr>
        <p:txBody>
          <a:bodyPr wrap="square">
            <a:spAutoFit/>
          </a:bodyPr>
          <a:lstStyle/>
          <a:p>
            <a:pPr algn="l">
              <a:spcAft>
                <a:spcPts val="600"/>
              </a:spcAft>
            </a:pPr>
            <a:r>
              <a:rPr sz="3400" b="1" dirty="0">
                <a:solidFill>
                  <a:srgbClr val="C0392B"/>
                </a:solidFill>
                <a:latin typeface="맑은 고딕"/>
              </a:rPr>
              <a:t>ASM </a:t>
            </a:r>
            <a:r>
              <a:rPr sz="3400" b="1" dirty="0" err="1">
                <a:solidFill>
                  <a:srgbClr val="C0392B"/>
                </a:solidFill>
                <a:latin typeface="맑은 고딕"/>
              </a:rPr>
              <a:t>인스턴스</a:t>
            </a:r>
            <a:endParaRPr sz="3400" b="1" dirty="0">
              <a:solidFill>
                <a:srgbClr val="C0392B"/>
              </a:solidFill>
              <a:latin typeface="맑은 고딕"/>
            </a:endParaRP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디스크그룹</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데이터파일 없는 인스턴스, HEADER_STATUS, 이중화 세 가지의 실제 비용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ASM 인스턴스와 DB 인스턴스의 차이를 근거와 함께 설명한다</a:t>
            </a:r>
          </a:p>
          <a:p>
            <a:pPr algn="l">
              <a:spcAft>
                <a:spcPts val="1000"/>
              </a:spcAft>
            </a:pPr>
            <a:r>
              <a:rPr sz="1600" b="0">
                <a:solidFill>
                  <a:srgbClr val="222222"/>
                </a:solidFill>
                <a:latin typeface="맑은 고딕"/>
              </a:rPr>
              <a:t>•  ASM 고유 백그라운드 프로세스의 역할을 안다</a:t>
            </a:r>
          </a:p>
          <a:p>
            <a:pPr algn="l">
              <a:spcAft>
                <a:spcPts val="1000"/>
              </a:spcAft>
            </a:pPr>
            <a:r>
              <a:rPr sz="1600" b="0">
                <a:solidFill>
                  <a:srgbClr val="222222"/>
                </a:solidFill>
                <a:latin typeface="맑은 고딕"/>
              </a:rPr>
              <a:t>•  ASM 파라미터의 적용 범위와 경계를 확인한다</a:t>
            </a:r>
          </a:p>
          <a:p>
            <a:pPr algn="l">
              <a:spcAft>
                <a:spcPts val="1000"/>
              </a:spcAft>
            </a:pPr>
            <a:r>
              <a:rPr sz="1600" b="0">
                <a:solidFill>
                  <a:srgbClr val="222222"/>
                </a:solidFill>
                <a:latin typeface="맑은 고딕"/>
              </a:rPr>
              <a:t>•  HEADER_STATUS 와 TOTAL_MB/OS_MB 를 정확히 읽는다</a:t>
            </a:r>
          </a:p>
          <a:p>
            <a:pPr algn="l">
              <a:spcAft>
                <a:spcPts val="1000"/>
              </a:spcAft>
            </a:pPr>
            <a:r>
              <a:rPr sz="1600" b="0">
                <a:solidFill>
                  <a:srgbClr val="222222"/>
                </a:solidFill>
                <a:latin typeface="맑은 고딕"/>
              </a:rPr>
              <a:t>•  디스크그룹 생성 실패 세 가지를 진단한다</a:t>
            </a:r>
          </a:p>
          <a:p>
            <a:pPr algn="l">
              <a:spcAft>
                <a:spcPts val="1000"/>
              </a:spcAft>
            </a:pPr>
            <a:r>
              <a:rPr sz="1600" b="0">
                <a:solidFill>
                  <a:srgbClr val="222222"/>
                </a:solidFill>
                <a:latin typeface="맑은 고딕"/>
              </a:rPr>
              <a:t>•  두 노드에서의 마운트 동작과 클러스터 리소스의 관계를 설명한다</a:t>
            </a:r>
          </a:p>
          <a:p>
            <a:pPr algn="l">
              <a:spcAft>
                <a:spcPts val="1000"/>
              </a:spcAft>
            </a:pPr>
            <a:r>
              <a:rPr sz="1600" b="0">
                <a:solidFill>
                  <a:srgbClr val="222222"/>
                </a:solidFill>
                <a:latin typeface="맑은 고딕"/>
              </a:rPr>
              <a:t>•  External·Normal·High 의 요건과 실제 용량 차이를 안다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6.1 ASM 인스턴스란 무엇인가</a:t>
            </a:r>
          </a:p>
          <a:p>
            <a:pPr algn="l">
              <a:spcAft>
                <a:spcPts val="1000"/>
              </a:spcAft>
            </a:pPr>
            <a:r>
              <a:rPr sz="1600" b="0">
                <a:solidFill>
                  <a:srgbClr val="222222"/>
                </a:solidFill>
                <a:latin typeface="맑은 고딕"/>
              </a:rPr>
              <a:t>•  6.2 디스크 발견</a:t>
            </a:r>
          </a:p>
          <a:p>
            <a:pPr algn="l">
              <a:spcAft>
                <a:spcPts val="1000"/>
              </a:spcAft>
            </a:pPr>
            <a:r>
              <a:rPr sz="1600" b="0">
                <a:solidFill>
                  <a:srgbClr val="222222"/>
                </a:solidFill>
                <a:latin typeface="맑은 고딕"/>
              </a:rPr>
              <a:t>•  6.3 디스크그룹 만들기</a:t>
            </a:r>
          </a:p>
          <a:p>
            <a:pPr algn="l">
              <a:spcAft>
                <a:spcPts val="1000"/>
              </a:spcAft>
            </a:pPr>
            <a:r>
              <a:rPr sz="1600" b="0">
                <a:solidFill>
                  <a:srgbClr val="222222"/>
                </a:solidFill>
                <a:latin typeface="맑은 고딕"/>
              </a:rPr>
              <a:t>•  6.4 이중화 수준 세 가지</a:t>
            </a:r>
          </a:p>
          <a:p>
            <a:pPr algn="l">
              <a:spcAft>
                <a:spcPts val="1000"/>
              </a:spcAft>
            </a:pPr>
            <a:r>
              <a:rPr sz="1600" b="0">
                <a:solidFill>
                  <a:srgbClr val="222222"/>
                </a:solidFill>
                <a:latin typeface="맑은 고딕"/>
              </a:rPr>
              <a:t>•  6.5 마운트와 언마운트</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ASM 인스턴스란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데이터파일이 없는 인스턴스</a:t>
            </a:r>
          </a:p>
          <a:p>
            <a:pPr algn="l">
              <a:spcAft>
                <a:spcPts val="800"/>
              </a:spcAft>
            </a:pPr>
            <a:r>
              <a:rPr sz="1600" b="0">
                <a:solidFill>
                  <a:srgbClr val="FFFFFF"/>
                </a:solidFill>
                <a:latin typeface="맑은 고딕"/>
              </a:rPr>
              <a:t>•  백그라운드 프로세스</a:t>
            </a:r>
          </a:p>
          <a:p>
            <a:pPr algn="l">
              <a:spcAft>
                <a:spcPts val="800"/>
              </a:spcAft>
            </a:pPr>
            <a:r>
              <a:rPr sz="1600" b="0">
                <a:solidFill>
                  <a:srgbClr val="FFFFFF"/>
                </a:solidFill>
                <a:latin typeface="맑은 고딕"/>
              </a:rPr>
              <a:t>•  ASM 파라미터</a:t>
            </a:r>
          </a:p>
          <a:p>
            <a:pPr algn="l">
              <a:spcAft>
                <a:spcPts val="800"/>
              </a:spcAft>
            </a:pPr>
            <a:r>
              <a:rPr sz="1600" b="0">
                <a:solidFill>
                  <a:srgbClr val="FFFFFF"/>
                </a:solidFill>
                <a:latin typeface="맑은 고딕"/>
              </a:rPr>
              <a:t>•  파라미터의 경계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5장에서 여기까지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OCR 이 있던 그 디스크그룹</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5장의 OCR 과 Voting File 은 모두 +CRS 안에 있었다</a:t>
            </a:r>
          </a:p>
          <a:p>
            <a:pPr algn="l">
              <a:spcAft>
                <a:spcPts val="1000"/>
              </a:spcAft>
            </a:pPr>
            <a:r>
              <a:rPr sz="1700" b="0">
                <a:solidFill>
                  <a:srgbClr val="222222"/>
                </a:solidFill>
                <a:latin typeface="맑은 고딕"/>
              </a:rPr>
              <a:t>•  +CRS 를 관리하는 것이 ASM 이다</a:t>
            </a:r>
          </a:p>
          <a:p>
            <a:pPr algn="l">
              <a:spcAft>
                <a:spcPts val="1000"/>
              </a:spcAft>
            </a:pPr>
            <a:r>
              <a:rPr sz="1700" b="0">
                <a:solidFill>
                  <a:srgbClr val="222222"/>
                </a:solidFill>
                <a:latin typeface="맑은 고딕"/>
              </a:rPr>
              <a:t>•  ASM 은 데몬이 아니라 오라클 인스턴스다</a:t>
            </a:r>
          </a:p>
          <a:p>
            <a:pPr algn="l">
              <a:spcAft>
                <a:spcPts val="1000"/>
              </a:spcAft>
            </a:pPr>
            <a:r>
              <a:rPr sz="1700" b="0">
                <a:solidFill>
                  <a:srgbClr val="222222"/>
                </a:solidFill>
                <a:latin typeface="맑은 고딕"/>
              </a:rPr>
              <a:t>•  SGA 가 있고 백그라운드 프로세스가 있고 SQL 로 조작한다</a:t>
            </a:r>
          </a:p>
          <a:p>
            <a:pPr algn="l">
              <a:spcAft>
                <a:spcPts val="1000"/>
              </a:spcAft>
            </a:pPr>
            <a:r>
              <a:rPr sz="1700" b="0">
                <a:solidFill>
                  <a:srgbClr val="222222"/>
                </a:solidFill>
                <a:latin typeface="맑은 고딕"/>
              </a:rPr>
              <a:t>•  그런데 데이터파일은 하나도 열지 않는다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데이터파일이 없다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STATUS 가 영원히 STARTED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+ASM1 의 STATUS 는 OPEN 이 아니라 STARTED</a:t>
            </a:r>
          </a:p>
          <a:p>
            <a:pPr algn="l">
              <a:spcAft>
                <a:spcPts val="1000"/>
              </a:spcAft>
            </a:pPr>
            <a:r>
              <a:rPr sz="1700" b="0">
                <a:solidFill>
                  <a:srgbClr val="222222"/>
                </a:solidFill>
                <a:latin typeface="맑은 고딕"/>
              </a:rPr>
              <a:t>•  INSTANCE_ROLE 은 UNKNOWN</a:t>
            </a:r>
          </a:p>
          <a:p>
            <a:pPr algn="l">
              <a:spcAft>
                <a:spcPts val="1000"/>
              </a:spcAft>
            </a:pPr>
            <a:r>
              <a:rPr sz="1700" b="0">
                <a:solidFill>
                  <a:srgbClr val="222222"/>
                </a:solidFill>
                <a:latin typeface="맑은 고딕"/>
              </a:rPr>
              <a:t>•  v$datafile 조회 시 ORA-01507: database not mounted</a:t>
            </a:r>
          </a:p>
          <a:p>
            <a:pPr algn="l">
              <a:spcAft>
                <a:spcPts val="1000"/>
              </a:spcAft>
            </a:pPr>
            <a:r>
              <a:rPr sz="1700" b="0">
                <a:solidFill>
                  <a:srgbClr val="222222"/>
                </a:solidFill>
                <a:latin typeface="맑은 고딕"/>
              </a:rPr>
              <a:t>•  같은 노드 racdb1 은 OPEN / PRIMARY_INSTANCE / 데이터파일 13개</a:t>
            </a:r>
          </a:p>
          <a:p>
            <a:pPr algn="l">
              <a:spcAft>
                <a:spcPts val="1000"/>
              </a:spcAft>
            </a:pPr>
            <a:r>
              <a:rPr sz="1700" b="0">
                <a:solidFill>
                  <a:srgbClr val="222222"/>
                </a:solidFill>
                <a:latin typeface="맑은 고딕"/>
              </a:rPr>
              <a:t>•  구분 기준은 INSTANCE_TYPE 파라미터 (ASM vs RDBMS)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프로세스는 훨씬 가볍다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37개 대 115개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asm_ 접두어 37개, ora_ 접두어 115개</a:t>
            </a:r>
          </a:p>
          <a:p>
            <a:pPr algn="l">
              <a:spcAft>
                <a:spcPts val="1000"/>
              </a:spcAft>
            </a:pPr>
            <a:r>
              <a:rPr sz="1700" b="0">
                <a:solidFill>
                  <a:srgbClr val="222222"/>
                </a:solidFill>
                <a:latin typeface="맑은 고딕"/>
              </a:rPr>
              <a:t>•  ASM 고유 — RBAL(리밸런스 조정), GMON(멤버십·PST), ASMB(DB 연결)</a:t>
            </a:r>
          </a:p>
          <a:p>
            <a:pPr algn="l">
              <a:spcAft>
                <a:spcPts val="1000"/>
              </a:spcAft>
            </a:pPr>
            <a:r>
              <a:rPr sz="1700" b="0">
                <a:solidFill>
                  <a:srgbClr val="222222"/>
                </a:solidFill>
                <a:latin typeface="맑은 고딕"/>
              </a:rPr>
              <a:t>•  RAC 공통 — LMON, LMD0, LMS0 도 ASM 에 있다</a:t>
            </a:r>
          </a:p>
          <a:p>
            <a:pPr algn="l">
              <a:spcAft>
                <a:spcPts val="1000"/>
              </a:spcAft>
            </a:pPr>
            <a:r>
              <a:rPr sz="1700" b="0">
                <a:solidFill>
                  <a:srgbClr val="222222"/>
                </a:solidFill>
                <a:latin typeface="맑은 고딕"/>
              </a:rPr>
              <a:t>•  ASM 도 클러스터를 이루므로 전역 큐가 필요하다</a:t>
            </a:r>
          </a:p>
          <a:p>
            <a:pPr algn="l">
              <a:spcAft>
                <a:spcPts val="1000"/>
              </a:spcAft>
            </a:pPr>
            <a:r>
              <a:rPr sz="1700" b="0">
                <a:solidFill>
                  <a:srgbClr val="222222"/>
                </a:solidFill>
                <a:latin typeface="맑은 고딕"/>
              </a:rPr>
              <a:t>•  GMON 은 5장 디스크 OFFLINE 때 이미 만났다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네 가지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기억할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INSTANCE_TYPE = ASM — 인스턴스의 성격. 변경 불가</a:t>
            </a:r>
          </a:p>
          <a:p>
            <a:pPr algn="l">
              <a:spcAft>
                <a:spcPts val="1000"/>
              </a:spcAft>
            </a:pPr>
            <a:r>
              <a:rPr sz="1700" b="0">
                <a:solidFill>
                  <a:srgbClr val="222222"/>
                </a:solidFill>
                <a:latin typeface="맑은 고딕"/>
              </a:rPr>
              <a:t>•  ASM_DISKSTRING = /dev/asmdisk/* — 디스크 탐색 경로</a:t>
            </a:r>
          </a:p>
          <a:p>
            <a:pPr algn="l">
              <a:spcAft>
                <a:spcPts val="1000"/>
              </a:spcAft>
            </a:pPr>
            <a:r>
              <a:rPr sz="1700" b="0">
                <a:solidFill>
                  <a:srgbClr val="222222"/>
                </a:solidFill>
                <a:latin typeface="맑은 고딕"/>
              </a:rPr>
              <a:t>•  ASM_POWER_LIMIT = 1 — 리밸런스 병렬도. 8장의 주제</a:t>
            </a:r>
          </a:p>
          <a:p>
            <a:pPr algn="l">
              <a:spcAft>
                <a:spcPts val="1000"/>
              </a:spcAft>
            </a:pPr>
            <a:r>
              <a:rPr sz="1700" b="0">
                <a:solidFill>
                  <a:srgbClr val="222222"/>
                </a:solidFill>
                <a:latin typeface="맑은 고딕"/>
              </a:rPr>
              <a:t>•  ASM_DISKGROUPS = DATA, FRA — 기동 시 자동 마운트 목록</a:t>
            </a:r>
          </a:p>
          <a:p>
            <a:pPr algn="l">
              <a:spcAft>
                <a:spcPts val="1000"/>
              </a:spcAft>
            </a:pPr>
            <a:r>
              <a:rPr sz="1700" b="0">
                <a:solidFill>
                  <a:srgbClr val="222222"/>
                </a:solidFill>
                <a:latin typeface="맑은 고딕"/>
              </a:rPr>
              <a:t>•  ASM 의 SPFILE 도 +CRS 안에 있다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ASM_DISKGROUPS 에 +CRS 가 없다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설정 누락이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목록에는 DATA, FRA 만 있다</a:t>
            </a:r>
          </a:p>
          <a:p>
            <a:pPr algn="l">
              <a:spcAft>
                <a:spcPts val="1000"/>
              </a:spcAft>
            </a:pPr>
            <a:r>
              <a:rPr sz="1700" b="0">
                <a:solidFill>
                  <a:srgbClr val="222222"/>
                </a:solidFill>
                <a:latin typeface="맑은 고딕"/>
              </a:rPr>
              <a:t>•  +CRS 는 Clusterware 가 직접 마운트한다</a:t>
            </a:r>
          </a:p>
          <a:p>
            <a:pPr algn="l">
              <a:spcAft>
                <a:spcPts val="1000"/>
              </a:spcAft>
            </a:pPr>
            <a:r>
              <a:rPr sz="1700" b="0">
                <a:solidFill>
                  <a:srgbClr val="222222"/>
                </a:solidFill>
                <a:latin typeface="맑은 고딕"/>
              </a:rPr>
              <a:t>•  OCR 과 Voting File 이 그 안에 있기 때문</a:t>
            </a:r>
          </a:p>
          <a:p>
            <a:pPr algn="l">
              <a:spcAft>
                <a:spcPts val="1000"/>
              </a:spcAft>
            </a:pPr>
            <a:r>
              <a:rPr sz="1700" b="0">
                <a:solidFill>
                  <a:srgbClr val="222222"/>
                </a:solidFill>
                <a:latin typeface="맑은 고딕"/>
              </a:rPr>
              <a:t>•  ASM_DISKGROUPS 를 읽으려면 SPFILE 이 필요한데 SPFILE 도 +CRS 에 있다</a:t>
            </a:r>
          </a:p>
          <a:p>
            <a:pPr algn="l">
              <a:spcAft>
                <a:spcPts val="1000"/>
              </a:spcAft>
            </a:pPr>
            <a:r>
              <a:rPr sz="1700" b="0">
                <a:solidFill>
                  <a:srgbClr val="222222"/>
                </a:solidFill>
                <a:latin typeface="맑은 고딕"/>
              </a:rPr>
              <a:t>•  5장에서 본 부트스트랩 문제와 같은 구조다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ORA-15021 / ORA-00068</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파라미터의 경계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RDBMS 인스턴스에서 asm_power_limit 설정 — ORA-15021</a:t>
            </a:r>
          </a:p>
          <a:p>
            <a:pPr algn="l">
              <a:spcAft>
                <a:spcPts val="1000"/>
              </a:spcAft>
            </a:pPr>
            <a:r>
              <a:rPr sz="1700" b="0">
                <a:solidFill>
                  <a:srgbClr val="222222"/>
                </a:solidFill>
                <a:latin typeface="맑은 고딕"/>
              </a:rPr>
              <a:t>•  parameter is not valid in RDBMS instance</a:t>
            </a:r>
          </a:p>
          <a:p>
            <a:pPr algn="l">
              <a:spcAft>
                <a:spcPts val="1000"/>
              </a:spcAft>
            </a:pPr>
            <a:r>
              <a:rPr sz="1700" b="0">
                <a:solidFill>
                  <a:srgbClr val="222222"/>
                </a:solidFill>
                <a:latin typeface="맑은 고딕"/>
              </a:rPr>
              <a:t>•  값 2000 을 넣으면 — ORA-00068, must be between 0 and 1024</a:t>
            </a:r>
          </a:p>
          <a:p>
            <a:pPr algn="l">
              <a:spcAft>
                <a:spcPts val="1000"/>
              </a:spcAft>
            </a:pPr>
            <a:r>
              <a:rPr sz="1700" b="0">
                <a:solidFill>
                  <a:srgbClr val="222222"/>
                </a:solidFill>
                <a:latin typeface="맑은 고딕"/>
              </a:rPr>
              <a:t>•  상한은 11g 까지 11, 12c 부터 1024</a:t>
            </a:r>
          </a:p>
          <a:p>
            <a:pPr algn="l">
              <a:spcAft>
                <a:spcPts val="1000"/>
              </a:spcAft>
            </a:pPr>
            <a:r>
              <a:rPr sz="1700" b="0">
                <a:solidFill>
                  <a:srgbClr val="222222"/>
                </a:solidFill>
                <a:latin typeface="맑은 고딕"/>
              </a:rPr>
              <a:t>•  실제 의미 있는 값은 디스크 수와 I/O 대역폭이 정한다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 발견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HEADER_STATUS 가 말하는 것</a:t>
            </a:r>
          </a:p>
          <a:p>
            <a:pPr algn="l">
              <a:spcAft>
                <a:spcPts val="800"/>
              </a:spcAft>
            </a:pPr>
            <a:r>
              <a:rPr sz="1600" b="0">
                <a:solidFill>
                  <a:srgbClr val="FFFFFF"/>
                </a:solidFill>
                <a:latin typeface="맑은 고딕"/>
              </a:rPr>
              <a:t>•  TOTAL_MB 와 OS_MB</a:t>
            </a:r>
          </a:p>
          <a:p>
            <a:pPr algn="l">
              <a:spcAft>
                <a:spcPts val="800"/>
              </a:spcAft>
            </a:pPr>
            <a:r>
              <a:rPr sz="1600" b="0">
                <a:solidFill>
                  <a:srgbClr val="FFFFFF"/>
                </a:solidFill>
                <a:latin typeface="맑은 고딕"/>
              </a:rPr>
              <a:t>•  두 노드가 같은 디스크를 보는가</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CANDIDATE 6 / MEMBER 8</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v$asm_disk 한 장</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새로 붙인 test1~test6 은 CANDIDATE</a:t>
            </a:r>
          </a:p>
          <a:p>
            <a:pPr algn="l">
              <a:spcAft>
                <a:spcPts val="1000"/>
              </a:spcAft>
            </a:pPr>
            <a:r>
              <a:rPr sz="1700" b="0">
                <a:solidFill>
                  <a:srgbClr val="222222"/>
                </a:solidFill>
                <a:latin typeface="맑은 고딕"/>
              </a:rPr>
              <a:t>•  기존 crs/data/fra 8장은 MEMBER</a:t>
            </a:r>
          </a:p>
          <a:p>
            <a:pPr algn="l">
              <a:spcAft>
                <a:spcPts val="1000"/>
              </a:spcAft>
            </a:pPr>
            <a:r>
              <a:rPr sz="1700" b="0">
                <a:solidFill>
                  <a:srgbClr val="222222"/>
                </a:solidFill>
                <a:latin typeface="맑은 고딕"/>
              </a:rPr>
              <a:t>•  CANDIDATE 는 NAME 이 비어 있다 — 이름은 편입될 때 붙는다</a:t>
            </a:r>
          </a:p>
          <a:p>
            <a:pPr algn="l">
              <a:spcAft>
                <a:spcPts val="1000"/>
              </a:spcAft>
            </a:pPr>
            <a:r>
              <a:rPr sz="1700" b="0">
                <a:solidFill>
                  <a:srgbClr val="222222"/>
                </a:solidFill>
                <a:latin typeface="맑은 고딕"/>
              </a:rPr>
              <a:t>•  MOUNT_STATUS 가 CLOSED — 헤더만 읽고 열지 않았다</a:t>
            </a:r>
          </a:p>
          <a:p>
            <a:pPr algn="l">
              <a:spcAft>
                <a:spcPts val="1000"/>
              </a:spcAft>
            </a:pPr>
            <a:r>
              <a:rPr sz="1700" b="0">
                <a:solidFill>
                  <a:srgbClr val="222222"/>
                </a:solidFill>
                <a:latin typeface="맑은 고딕"/>
              </a:rPr>
              <a:t>•  GROUP_NUMBER 가 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TOTAL_MB 0, OS_MB 4096</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고장이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CANDIDATE 디스크의 TOTAL_MB 는 0</a:t>
            </a:r>
          </a:p>
          <a:p>
            <a:pPr algn="l">
              <a:spcAft>
                <a:spcPts val="1000"/>
              </a:spcAft>
            </a:pPr>
            <a:r>
              <a:rPr sz="1700" b="0">
                <a:solidFill>
                  <a:srgbClr val="222222"/>
                </a:solidFill>
                <a:latin typeface="맑은 고딕"/>
              </a:rPr>
              <a:t>•  같은 행의 OS_MB 는 4096</a:t>
            </a:r>
          </a:p>
          <a:p>
            <a:pPr algn="l">
              <a:spcAft>
                <a:spcPts val="1000"/>
              </a:spcAft>
            </a:pPr>
            <a:r>
              <a:rPr sz="1700" b="0">
                <a:solidFill>
                  <a:srgbClr val="222222"/>
                </a:solidFill>
                <a:latin typeface="맑은 고딕"/>
              </a:rPr>
              <a:t>•  TOTAL_MB = ASM 이 쓸 수 있는 크기</a:t>
            </a:r>
          </a:p>
          <a:p>
            <a:pPr algn="l">
              <a:spcAft>
                <a:spcPts val="1000"/>
              </a:spcAft>
            </a:pPr>
            <a:r>
              <a:rPr sz="1700" b="0">
                <a:solidFill>
                  <a:srgbClr val="222222"/>
                </a:solidFill>
                <a:latin typeface="맑은 고딕"/>
              </a:rPr>
              <a:t>•  OS_MB = 운영체제가 보고한 크기</a:t>
            </a:r>
          </a:p>
          <a:p>
            <a:pPr algn="l">
              <a:spcAft>
                <a:spcPts val="1000"/>
              </a:spcAft>
            </a:pPr>
            <a:r>
              <a:rPr sz="1700" b="0">
                <a:solidFill>
                  <a:srgbClr val="222222"/>
                </a:solidFill>
                <a:latin typeface="맑은 고딕"/>
              </a:rPr>
              <a:t>•  디스크그룹에 편입되면 TOTAL_MB 가 채워진다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HEADER_STATUS 여섯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넣을 수 있는가로 나뉜다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CANDIDATE — 한 번도 쓰인 적 없음. 그대로 사용 가능</a:t>
            </a:r>
          </a:p>
          <a:p>
            <a:pPr algn="l">
              <a:spcAft>
                <a:spcPts val="1000"/>
              </a:spcAft>
            </a:pPr>
            <a:r>
              <a:rPr sz="1700" b="0">
                <a:solidFill>
                  <a:srgbClr val="222222"/>
                </a:solidFill>
                <a:latin typeface="맑은 고딕"/>
              </a:rPr>
              <a:t>•  FORMER — 디스크그룹에서 빠졌던 디스크. 그대로 사용 가능</a:t>
            </a:r>
          </a:p>
          <a:p>
            <a:pPr algn="l">
              <a:spcAft>
                <a:spcPts val="1000"/>
              </a:spcAft>
            </a:pPr>
            <a:r>
              <a:rPr sz="1700" b="0">
                <a:solidFill>
                  <a:srgbClr val="222222"/>
                </a:solidFill>
                <a:latin typeface="맑은 고딕"/>
              </a:rPr>
              <a:t>•  PROVISIONED — 관리자가 표시함. 그대로 사용 가능</a:t>
            </a:r>
          </a:p>
          <a:p>
            <a:pPr algn="l">
              <a:spcAft>
                <a:spcPts val="1000"/>
              </a:spcAft>
            </a:pPr>
            <a:r>
              <a:rPr sz="1700" b="0">
                <a:solidFill>
                  <a:srgbClr val="222222"/>
                </a:solidFill>
                <a:latin typeface="맑은 고딕"/>
              </a:rPr>
              <a:t>•  MEMBER — 현재 어느 디스크그룹의 구성원. FORCE 필요 (위험)</a:t>
            </a:r>
          </a:p>
          <a:p>
            <a:pPr algn="l">
              <a:spcAft>
                <a:spcPts val="1000"/>
              </a:spcAft>
            </a:pPr>
            <a:r>
              <a:rPr sz="1700" b="0">
                <a:solidFill>
                  <a:srgbClr val="222222"/>
                </a:solidFill>
                <a:latin typeface="맑은 고딕"/>
              </a:rPr>
              <a:t>•  FOREIGN / CONFLICT — 다른 제품 사용 중 / 헤더 모순</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노드에서 같은 6장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WWN 기준 udev 의 효과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rac1 에서 sdj~sdo, rac2 에서도 sdj~sdo</a:t>
            </a:r>
          </a:p>
          <a:p>
            <a:pPr algn="l">
              <a:spcAft>
                <a:spcPts val="1000"/>
              </a:spcAft>
            </a:pPr>
            <a:r>
              <a:rPr sz="1700" b="0">
                <a:solidFill>
                  <a:srgbClr val="222222"/>
                </a:solidFill>
                <a:latin typeface="맑은 고딕"/>
              </a:rPr>
              <a:t>•  그러나 장치 이름은 노드마다 달라질 수 있다</a:t>
            </a:r>
          </a:p>
          <a:p>
            <a:pPr algn="l">
              <a:spcAft>
                <a:spcPts val="1000"/>
              </a:spcAft>
            </a:pPr>
            <a:r>
              <a:rPr sz="1700" b="0">
                <a:solidFill>
                  <a:srgbClr val="222222"/>
                </a:solidFill>
                <a:latin typeface="맑은 고딕"/>
              </a:rPr>
              <a:t>•  udev 규칙이 WWN 기준이므로 /dev/asmdisk/test1 은 항상 같은 디스크</a:t>
            </a:r>
          </a:p>
          <a:p>
            <a:pPr algn="l">
              <a:spcAft>
                <a:spcPts val="1000"/>
              </a:spcAft>
            </a:pPr>
            <a:r>
              <a:rPr sz="1700" b="0">
                <a:solidFill>
                  <a:srgbClr val="222222"/>
                </a:solidFill>
                <a:latin typeface="맑은 고딕"/>
              </a:rPr>
              <a:t>•  3장에서 만든 규칙이 여기서 값을 한다</a:t>
            </a:r>
          </a:p>
          <a:p>
            <a:pPr algn="l">
              <a:spcAft>
                <a:spcPts val="1000"/>
              </a:spcAft>
            </a:pPr>
            <a:r>
              <a:rPr sz="1700" b="0">
                <a:solidFill>
                  <a:srgbClr val="222222"/>
                </a:solidFill>
                <a:latin typeface="맑은 고딕"/>
              </a:rPr>
              <a:t>•  한 노드에서만 안 보이면 디스크그룹 마운트가 실패한다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디스크그룹 만들기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실패하는 경우부터</a:t>
            </a:r>
          </a:p>
          <a:p>
            <a:pPr algn="l">
              <a:spcAft>
                <a:spcPts val="800"/>
              </a:spcAft>
            </a:pPr>
            <a:r>
              <a:rPr sz="1600" b="0">
                <a:solidFill>
                  <a:srgbClr val="FFFFFF"/>
                </a:solidFill>
                <a:latin typeface="맑은 고딕"/>
              </a:rPr>
              <a:t>•  만들어 본다</a:t>
            </a:r>
          </a:p>
          <a:p>
            <a:pPr algn="l">
              <a:spcAft>
                <a:spcPts val="800"/>
              </a:spcAft>
            </a:pPr>
            <a:r>
              <a:rPr sz="1600" b="0">
                <a:solidFill>
                  <a:srgbClr val="FFFFFF"/>
                </a:solidFill>
                <a:latin typeface="맑은 고딕"/>
              </a:rPr>
              <a:t>•  만든 노드에서만 마운트된다</a:t>
            </a:r>
          </a:p>
          <a:p>
            <a:pPr algn="l">
              <a:spcAft>
                <a:spcPts val="800"/>
              </a:spcAft>
            </a:pPr>
            <a:r>
              <a:rPr sz="1600" b="0">
                <a:solidFill>
                  <a:srgbClr val="FFFFFF"/>
                </a:solidFill>
                <a:latin typeface="맑은 고딕"/>
              </a:rPr>
              <a:t>•  디스크는 어떻게 바뀌었나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ORA-15018 아래를 읽는다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 실패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ORA-15029 — 이미 다른 디스크그룹이 쓰고 있다 (MEMBER 지정)</a:t>
            </a:r>
          </a:p>
          <a:p>
            <a:pPr algn="l">
              <a:spcAft>
                <a:spcPts val="1000"/>
              </a:spcAft>
            </a:pPr>
            <a:r>
              <a:rPr sz="1700" b="0">
                <a:solidFill>
                  <a:srgbClr val="222222"/>
                </a:solidFill>
                <a:latin typeface="맑은 고딕"/>
              </a:rPr>
              <a:t>•  ORA-15031 — 경로에 맞는 디스크가 없다 (오타·udev 링크 없음)</a:t>
            </a:r>
          </a:p>
          <a:p>
            <a:pPr algn="l">
              <a:spcAft>
                <a:spcPts val="1000"/>
              </a:spcAft>
            </a:pPr>
            <a:r>
              <a:rPr sz="1700" b="0">
                <a:solidFill>
                  <a:srgbClr val="222222"/>
                </a:solidFill>
                <a:latin typeface="맑은 고딕"/>
              </a:rPr>
              <a:t>•  ORA-15167 — 장애 그룹이 부족하다 (Normal 은 2, High 는 3)</a:t>
            </a:r>
          </a:p>
          <a:p>
            <a:pPr algn="l">
              <a:spcAft>
                <a:spcPts val="1000"/>
              </a:spcAft>
            </a:pPr>
            <a:r>
              <a:rPr sz="1700" b="0">
                <a:solidFill>
                  <a:srgbClr val="222222"/>
                </a:solidFill>
                <a:latin typeface="맑은 고딕"/>
              </a:rPr>
              <a:t>•  ORA-15018 은 세 번 모두 나오는 포괄 메시지</a:t>
            </a:r>
          </a:p>
          <a:p>
            <a:pPr algn="l">
              <a:spcAft>
                <a:spcPts val="1000"/>
              </a:spcAft>
            </a:pPr>
            <a:r>
              <a:rPr sz="1700" b="0">
                <a:solidFill>
                  <a:srgbClr val="222222"/>
                </a:solidFill>
                <a:latin typeface="맑은 고딕"/>
              </a:rPr>
              <a:t>•  5장의 ORA-15032 / ORA-15283 과 같은 구조</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compatible 은 만들 때 지정한다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5장의 교훈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gridSetup 이 만든 +CRS 는 compatible.rdbms 가 10.1 이었다</a:t>
            </a:r>
          </a:p>
          <a:p>
            <a:pPr algn="l">
              <a:spcAft>
                <a:spcPts val="1000"/>
              </a:spcAft>
            </a:pPr>
            <a:r>
              <a:rPr sz="1700" b="0">
                <a:solidFill>
                  <a:srgbClr val="222222"/>
                </a:solidFill>
                <a:latin typeface="맑은 고딕"/>
              </a:rPr>
              <a:t>•  그 때문에 5장에서 디스크 OFFLINE 이 막혔다</a:t>
            </a:r>
          </a:p>
          <a:p>
            <a:pPr algn="l">
              <a:spcAft>
                <a:spcPts val="1000"/>
              </a:spcAft>
            </a:pPr>
            <a:r>
              <a:rPr sz="1700" b="0">
                <a:solidFill>
                  <a:srgbClr val="222222"/>
                </a:solidFill>
                <a:latin typeface="맑은 고딕"/>
              </a:rPr>
              <a:t>•  올리는 것은 되고 낮추는 것은 안 된다</a:t>
            </a:r>
          </a:p>
          <a:p>
            <a:pPr algn="l">
              <a:spcAft>
                <a:spcPts val="1000"/>
              </a:spcAft>
            </a:pPr>
            <a:r>
              <a:rPr sz="1700" b="0">
                <a:solidFill>
                  <a:srgbClr val="222222"/>
                </a:solidFill>
                <a:latin typeface="맑은 고딕"/>
              </a:rPr>
              <a:t>•  직접 만들 때는 처음부터 지정한다</a:t>
            </a:r>
          </a:p>
          <a:p>
            <a:pPr algn="l">
              <a:spcAft>
                <a:spcPts val="1000"/>
              </a:spcAft>
            </a:pPr>
            <a:r>
              <a:rPr sz="1700" b="0">
                <a:solidFill>
                  <a:srgbClr val="222222"/>
                </a:solidFill>
                <a:latin typeface="맑은 고딕"/>
              </a:rPr>
              <a:t>•  compatible.asm 은 ASM 기능, compatible.rdbms 는 DB 최저 버전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rac1 에서 만들면 rac2 는 DISMOUNTED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자동 마운트가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존재는 즉시 전파된다 — rac2 의 v$asm_diskgroup 에 나타난다</a:t>
            </a:r>
          </a:p>
          <a:p>
            <a:pPr algn="l">
              <a:spcAft>
                <a:spcPts val="1000"/>
              </a:spcAft>
            </a:pPr>
            <a:r>
              <a:rPr sz="1700" b="0">
                <a:solidFill>
                  <a:srgbClr val="222222"/>
                </a:solidFill>
                <a:latin typeface="맑은 고딕"/>
              </a:rPr>
              <a:t>•  그러나 STATE 가 DISMOUNTED, TOTAL_MB 는 0</a:t>
            </a:r>
          </a:p>
          <a:p>
            <a:pPr algn="l">
              <a:spcAft>
                <a:spcPts val="1000"/>
              </a:spcAft>
            </a:pPr>
            <a:r>
              <a:rPr sz="1700" b="0">
                <a:solidFill>
                  <a:srgbClr val="222222"/>
                </a:solidFill>
                <a:latin typeface="맑은 고딕"/>
              </a:rPr>
              <a:t>•  rac2 에서 alter diskgroup TEST mount 를 실행해야 한다</a:t>
            </a:r>
          </a:p>
          <a:p>
            <a:pPr algn="l">
              <a:spcAft>
                <a:spcPts val="1000"/>
              </a:spcAft>
            </a:pPr>
            <a:r>
              <a:rPr sz="1700" b="0">
                <a:solidFill>
                  <a:srgbClr val="222222"/>
                </a:solidFill>
                <a:latin typeface="맑은 고딕"/>
              </a:rPr>
              <a:t>•  마운트하지 않았으므로 크기를 모른다</a:t>
            </a:r>
          </a:p>
          <a:p>
            <a:pPr algn="l">
              <a:spcAft>
                <a:spcPts val="1000"/>
              </a:spcAft>
            </a:pPr>
            <a:r>
              <a:rPr sz="1700" b="0">
                <a:solidFill>
                  <a:srgbClr val="222222"/>
                </a:solidFill>
                <a:latin typeface="맑은 고딕"/>
              </a:rPr>
              <a:t>•  노드가 많을수록 빠뜨리기 쉬운 단계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마운트는 리소스에 반영되지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계층의 불일치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ora.TEST.dg 리소스는 자동 생성된다</a:t>
            </a:r>
          </a:p>
          <a:p>
            <a:pPr algn="l">
              <a:spcAft>
                <a:spcPts val="1000"/>
              </a:spcAft>
            </a:pPr>
            <a:r>
              <a:rPr sz="1700" b="0">
                <a:solidFill>
                  <a:srgbClr val="222222"/>
                </a:solidFill>
                <a:latin typeface="맑은 고딕"/>
              </a:rPr>
              <a:t>•  그런데 crsctl status 에서는 OFFLINE</a:t>
            </a:r>
          </a:p>
          <a:p>
            <a:pPr algn="l">
              <a:spcAft>
                <a:spcPts val="1000"/>
              </a:spcAft>
            </a:pPr>
            <a:r>
              <a:rPr sz="1700" b="0">
                <a:solidFill>
                  <a:srgbClr val="222222"/>
                </a:solidFill>
                <a:latin typeface="맑은 고딕"/>
              </a:rPr>
              <a:t>•  srvctl status diskgroup 은 Disk Group TEST is not running</a:t>
            </a:r>
          </a:p>
          <a:p>
            <a:pPr algn="l">
              <a:spcAft>
                <a:spcPts val="1000"/>
              </a:spcAft>
            </a:pPr>
            <a:r>
              <a:rPr sz="1700" b="0">
                <a:solidFill>
                  <a:srgbClr val="222222"/>
                </a:solidFill>
                <a:latin typeface="맑은 고딕"/>
              </a:rPr>
              <a:t>•  만들기·지우기는 연동, 올리기·내리기는 연동되지 않는다</a:t>
            </a:r>
          </a:p>
          <a:p>
            <a:pPr algn="l">
              <a:spcAft>
                <a:spcPts val="1000"/>
              </a:spcAft>
            </a:pPr>
            <a:r>
              <a:rPr sz="1700" b="0">
                <a:solidFill>
                  <a:srgbClr val="222222"/>
                </a:solidFill>
                <a:latin typeface="맑은 고딕"/>
              </a:rPr>
              <a:t>•  운영에서는 srvctl start diskgroup 을 쓴다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편입되면 무엇이 바뀌는가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CANDIDATE 에서 MEMBER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NAME 이 붙는다 — TEST_0000 (디스크그룹명 + 4자리)</a:t>
            </a:r>
          </a:p>
          <a:p>
            <a:pPr algn="l">
              <a:spcAft>
                <a:spcPts val="1000"/>
              </a:spcAft>
            </a:pPr>
            <a:r>
              <a:rPr sz="1700" b="0">
                <a:solidFill>
                  <a:srgbClr val="222222"/>
                </a:solidFill>
                <a:latin typeface="맑은 고딕"/>
              </a:rPr>
              <a:t>•  HEADER_STATUS 가 MEMBER</a:t>
            </a:r>
          </a:p>
          <a:p>
            <a:pPr algn="l">
              <a:spcAft>
                <a:spcPts val="1000"/>
              </a:spcAft>
            </a:pPr>
            <a:r>
              <a:rPr sz="1700" b="0">
                <a:solidFill>
                  <a:srgbClr val="222222"/>
                </a:solidFill>
                <a:latin typeface="맑은 고딕"/>
              </a:rPr>
              <a:t>•  MOUNT_STATUS 가 CACHED</a:t>
            </a:r>
          </a:p>
          <a:p>
            <a:pPr algn="l">
              <a:spcAft>
                <a:spcPts val="1000"/>
              </a:spcAft>
            </a:pPr>
            <a:r>
              <a:rPr sz="1700" b="0">
                <a:solidFill>
                  <a:srgbClr val="222222"/>
                </a:solidFill>
                <a:latin typeface="맑은 고딕"/>
              </a:rPr>
              <a:t>•  GROUP_NUMBER 가 배정된다</a:t>
            </a:r>
          </a:p>
          <a:p>
            <a:pPr algn="l">
              <a:spcAft>
                <a:spcPts val="1000"/>
              </a:spcAft>
            </a:pPr>
            <a:r>
              <a:rPr sz="1700" b="0">
                <a:solidFill>
                  <a:srgbClr val="222222"/>
                </a:solidFill>
                <a:latin typeface="맑은 고딕"/>
              </a:rPr>
              <a:t>•  TOTAL_MB 가 0에서 4096 으로 채워진다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이중화 수준 세 가지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요건과 실제 용량</a:t>
            </a:r>
          </a:p>
          <a:p>
            <a:pPr algn="l">
              <a:spcAft>
                <a:spcPts val="800"/>
              </a:spcAft>
            </a:pPr>
            <a:r>
              <a:rPr sz="1600" b="0">
                <a:solidFill>
                  <a:srgbClr val="FFFFFF"/>
                </a:solidFill>
                <a:latin typeface="맑은 고딕"/>
              </a:rPr>
              <a:t>•  장애 그룹의 이름</a:t>
            </a:r>
          </a:p>
          <a:p>
            <a:pPr algn="l">
              <a:spcAft>
                <a:spcPts val="800"/>
              </a:spcAft>
            </a:pPr>
            <a:r>
              <a:rPr sz="1600" b="0">
                <a:solidFill>
                  <a:srgbClr val="FFFFFF"/>
                </a:solidFill>
                <a:latin typeface="맑은 고딕"/>
              </a:rPr>
              <a:t>•  어느 중복도를 고를 것인가</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4GB 디스크 1·2·3장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담을 수 있는 양은 모두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External 디스크 1장 — TOTAL 4096, USABLE 3998</a:t>
            </a:r>
          </a:p>
          <a:p>
            <a:pPr algn="l">
              <a:spcAft>
                <a:spcPts val="1000"/>
              </a:spcAft>
            </a:pPr>
            <a:r>
              <a:rPr sz="1700" b="0">
                <a:solidFill>
                  <a:srgbClr val="222222"/>
                </a:solidFill>
                <a:latin typeface="맑은 고딕"/>
              </a:rPr>
              <a:t>•  Normal 디스크 2장 — TOTAL 8192, USABLE 4038</a:t>
            </a:r>
          </a:p>
          <a:p>
            <a:pPr algn="l">
              <a:spcAft>
                <a:spcPts val="1000"/>
              </a:spcAft>
            </a:pPr>
            <a:r>
              <a:rPr sz="1700" b="0">
                <a:solidFill>
                  <a:srgbClr val="222222"/>
                </a:solidFill>
                <a:latin typeface="맑은 고딕"/>
              </a:rPr>
              <a:t>•  High 디스크 3장 — TOTAL 12288, USABLE 4037</a:t>
            </a:r>
          </a:p>
          <a:p>
            <a:pPr algn="l">
              <a:spcAft>
                <a:spcPts val="1000"/>
              </a:spcAft>
            </a:pPr>
            <a:r>
              <a:rPr sz="1700" b="0">
                <a:solidFill>
                  <a:srgbClr val="222222"/>
                </a:solidFill>
                <a:latin typeface="맑은 고딕"/>
              </a:rPr>
              <a:t>•  디스크를 세 배 넣었는데 담을 수 있는 양은 그대로</a:t>
            </a:r>
          </a:p>
          <a:p>
            <a:pPr algn="l">
              <a:spcAft>
                <a:spcPts val="1000"/>
              </a:spcAft>
            </a:pPr>
            <a:r>
              <a:rPr sz="1700" b="0">
                <a:solidFill>
                  <a:srgbClr val="222222"/>
                </a:solidFill>
                <a:latin typeface="맑은 고딕"/>
              </a:rPr>
              <a:t>•  늘어난 것은 용량이 아니라 견딜 수 있는 손실 개수</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장애 그룹은 함께 죽는 단위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이름을 의미 있게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지정하지 않으면 디스크마다 별도 장애 그룹, 이름은 디스크 이름</a:t>
            </a:r>
          </a:p>
          <a:p>
            <a:pPr algn="l">
              <a:spcAft>
                <a:spcPts val="1000"/>
              </a:spcAft>
            </a:pPr>
            <a:r>
              <a:rPr sz="1700" b="0">
                <a:solidFill>
                  <a:srgbClr val="222222"/>
                </a:solidFill>
                <a:latin typeface="맑은 고딕"/>
              </a:rPr>
              <a:t>•  FAILGROUP_TYPE 은 REGULAR 또는 QUORUM</a:t>
            </a:r>
          </a:p>
          <a:p>
            <a:pPr algn="l">
              <a:spcAft>
                <a:spcPts val="1000"/>
              </a:spcAft>
            </a:pPr>
            <a:r>
              <a:rPr sz="1700" b="0">
                <a:solidFill>
                  <a:srgbClr val="222222"/>
                </a:solidFill>
                <a:latin typeface="맑은 고딕"/>
              </a:rPr>
              <a:t>•  QUORUM 은 데이터 없이 투표만 — 확장 클러스터의 제3 사이트</a:t>
            </a:r>
          </a:p>
          <a:p>
            <a:pPr algn="l">
              <a:spcAft>
                <a:spcPts val="1000"/>
              </a:spcAft>
            </a:pPr>
            <a:r>
              <a:rPr sz="1700" b="0">
                <a:solidFill>
                  <a:srgbClr val="222222"/>
                </a:solidFill>
                <a:latin typeface="맑은 고딕"/>
              </a:rPr>
              <a:t>•  FG1, FG2 대신 CTRL_A, RACK_B, SITE_SEOUL 처럼</a:t>
            </a:r>
          </a:p>
          <a:p>
            <a:pPr algn="l">
              <a:spcAft>
                <a:spcPts val="1000"/>
              </a:spcAft>
            </a:pPr>
            <a:r>
              <a:rPr sz="1700" b="0">
                <a:solidFill>
                  <a:srgbClr val="222222"/>
                </a:solidFill>
                <a:latin typeface="맑은 고딕"/>
              </a:rPr>
              <a:t>•  실습 환경은 물리적으로 장애 그룹이 하나뿐이다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어느 중복도를 고를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판단 기준은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스토리지가 이미 보호하고 있는가</a:t>
            </a:r>
          </a:p>
          <a:p>
            <a:pPr algn="l">
              <a:spcAft>
                <a:spcPts val="1000"/>
              </a:spcAft>
            </a:pPr>
            <a:r>
              <a:rPr sz="1700" b="0">
                <a:solidFill>
                  <a:srgbClr val="222222"/>
                </a:solidFill>
                <a:latin typeface="맑은 고딕"/>
              </a:rPr>
              <a:t>•  엔터프라이즈 스토리지(RAID) — External</a:t>
            </a:r>
          </a:p>
          <a:p>
            <a:pPr algn="l">
              <a:spcAft>
                <a:spcPts val="1000"/>
              </a:spcAft>
            </a:pPr>
            <a:r>
              <a:rPr sz="1700" b="0">
                <a:solidFill>
                  <a:srgbClr val="222222"/>
                </a:solidFill>
                <a:latin typeface="맑은 고딕"/>
              </a:rPr>
              <a:t>•  JBOD·로컬 디스크 — Normal 이상</a:t>
            </a:r>
          </a:p>
          <a:p>
            <a:pPr algn="l">
              <a:spcAft>
                <a:spcPts val="1000"/>
              </a:spcAft>
            </a:pPr>
            <a:r>
              <a:rPr sz="1700" b="0">
                <a:solidFill>
                  <a:srgbClr val="222222"/>
                </a:solidFill>
                <a:latin typeface="맑은 고딕"/>
              </a:rPr>
              <a:t>•  OCR·Voting File 디스크그룹 — Normal 이상</a:t>
            </a:r>
          </a:p>
          <a:p>
            <a:pPr algn="l">
              <a:spcAft>
                <a:spcPts val="1000"/>
              </a:spcAft>
            </a:pPr>
            <a:r>
              <a:rPr sz="1700" b="0">
                <a:solidFill>
                  <a:srgbClr val="222222"/>
                </a:solidFill>
                <a:latin typeface="맑은 고딕"/>
              </a:rPr>
              <a:t>•  흔한 실수는 RAID 위에 Normal 을 얹는 것 (100TB 가 25TB 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마운트와 언마운트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사용 중이면 언마운트할 수 없다</a:t>
            </a:r>
          </a:p>
          <a:p>
            <a:pPr algn="l">
              <a:spcAft>
                <a:spcPts val="800"/>
              </a:spcAft>
            </a:pPr>
            <a:r>
              <a:rPr sz="1600" b="0">
                <a:solidFill>
                  <a:srgbClr val="FFFFFF"/>
                </a:solidFill>
                <a:latin typeface="맑은 고딕"/>
              </a:rPr>
              <a:t>•  FORCE 를 붙이면</a:t>
            </a:r>
          </a:p>
          <a:p>
            <a:pPr algn="l">
              <a:spcAft>
                <a:spcPts val="800"/>
              </a:spcAft>
            </a:pPr>
            <a:r>
              <a:rPr sz="1600" b="0">
                <a:solidFill>
                  <a:srgbClr val="FFFFFF"/>
                </a:solidFill>
                <a:latin typeface="맑은 고딕"/>
              </a:rPr>
              <a:t>•  삭제도 같은 원리다</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ORA-15027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 중에는 내릴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+TEST 에 테이블스페이스를 만들어 사용 중으로 만든다</a:t>
            </a:r>
          </a:p>
          <a:p>
            <a:pPr algn="l">
              <a:spcAft>
                <a:spcPts val="1000"/>
              </a:spcAft>
            </a:pPr>
            <a:r>
              <a:rPr sz="1700" b="0">
                <a:solidFill>
                  <a:srgbClr val="222222"/>
                </a:solidFill>
                <a:latin typeface="맑은 고딕"/>
              </a:rPr>
              <a:t>•  alter diskgroup TEST dismount → ORA-15027</a:t>
            </a:r>
          </a:p>
          <a:p>
            <a:pPr algn="l">
              <a:spcAft>
                <a:spcPts val="1000"/>
              </a:spcAft>
            </a:pPr>
            <a:r>
              <a:rPr sz="1700" b="0">
                <a:solidFill>
                  <a:srgbClr val="222222"/>
                </a:solidFill>
                <a:latin typeface="맑은 고딕"/>
              </a:rPr>
              <a:t>•  active use of diskgroup precludes its dismount</a:t>
            </a:r>
          </a:p>
          <a:p>
            <a:pPr algn="l">
              <a:spcAft>
                <a:spcPts val="1000"/>
              </a:spcAft>
            </a:pPr>
            <a:r>
              <a:rPr sz="1700" b="0">
                <a:solidFill>
                  <a:srgbClr val="222222"/>
                </a:solidFill>
                <a:latin typeface="맑은 고딕"/>
              </a:rPr>
              <a:t>•  DB alert.log 에 의존 관계 설정 기록이 남는다</a:t>
            </a:r>
          </a:p>
          <a:p>
            <a:pPr algn="l">
              <a:spcAft>
                <a:spcPts val="1000"/>
              </a:spcAft>
            </a:pPr>
            <a:r>
              <a:rPr sz="1700" b="0">
                <a:solidFill>
                  <a:srgbClr val="222222"/>
                </a:solidFill>
                <a:latin typeface="맑은 고딕"/>
              </a:rPr>
              <a:t>•  dependency between database racdb and diskgroup resource ora.TEST.dg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FORCE 의 대가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는 여전히 ONLINE 이라고 믿는다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dismount force 는 성공한다</a:t>
            </a:r>
          </a:p>
          <a:p>
            <a:pPr algn="l">
              <a:spcAft>
                <a:spcPts val="1000"/>
              </a:spcAft>
            </a:pPr>
            <a:r>
              <a:rPr sz="1700" b="0">
                <a:solidFill>
                  <a:srgbClr val="222222"/>
                </a:solidFill>
                <a:latin typeface="맑은 고딕"/>
              </a:rPr>
              <a:t>•  그런데 DB 쪽 dba_tablespaces / v$datafile 은 여전히 ONLINE</a:t>
            </a:r>
          </a:p>
          <a:p>
            <a:pPr algn="l">
              <a:spcAft>
                <a:spcPts val="1000"/>
              </a:spcAft>
            </a:pPr>
            <a:r>
              <a:rPr sz="1700" b="0">
                <a:solidFill>
                  <a:srgbClr val="222222"/>
                </a:solidFill>
                <a:latin typeface="맑은 고딕"/>
              </a:rPr>
              <a:t>•  실제로는 접근할 수 없는데도 그렇다</a:t>
            </a:r>
          </a:p>
          <a:p>
            <a:pPr algn="l">
              <a:spcAft>
                <a:spcPts val="1000"/>
              </a:spcAft>
            </a:pPr>
            <a:r>
              <a:rPr sz="1700" b="0">
                <a:solidFill>
                  <a:srgbClr val="222222"/>
                </a:solidFill>
                <a:latin typeface="맑은 고딕"/>
              </a:rPr>
              <a:t>•  DB 가 ASMB 로 복구를 시도한다 — 그것도 rac2 의 +ASM2 로</a:t>
            </a:r>
          </a:p>
          <a:p>
            <a:pPr algn="l">
              <a:spcAft>
                <a:spcPts val="1000"/>
              </a:spcAft>
            </a:pPr>
            <a:r>
              <a:rPr sz="1700" b="0">
                <a:solidFill>
                  <a:srgbClr val="222222"/>
                </a:solidFill>
                <a:latin typeface="맑은 고딕"/>
              </a:rPr>
              <a:t>•  순서를 지켜라 — 먼저 DB 쪽 정리, 그다음 ASM 언마운트</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ORA-15053 / ORA-15073</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삭제도 두 단계로 막힌다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파일이 있으면 — ORA-15053: contains existing files</a:t>
            </a:r>
          </a:p>
          <a:p>
            <a:pPr algn="l">
              <a:spcAft>
                <a:spcPts val="1000"/>
              </a:spcAft>
            </a:pPr>
            <a:r>
              <a:rPr sz="1700" b="0">
                <a:solidFill>
                  <a:srgbClr val="222222"/>
                </a:solidFill>
                <a:latin typeface="맑은 고딕"/>
              </a:rPr>
              <a:t>•  다른 인스턴스가 마운트 중이면 — ORA-15073: mounted by another ASM instance</a:t>
            </a:r>
          </a:p>
          <a:p>
            <a:pPr algn="l">
              <a:spcAft>
                <a:spcPts val="1000"/>
              </a:spcAft>
            </a:pPr>
            <a:r>
              <a:rPr sz="1700" b="0">
                <a:solidFill>
                  <a:srgbClr val="222222"/>
                </a:solidFill>
                <a:latin typeface="맑은 고딕"/>
              </a:rPr>
              <a:t>•  둘 다 ORA-15039 아래에 붙는다</a:t>
            </a:r>
          </a:p>
          <a:p>
            <a:pPr algn="l">
              <a:spcAft>
                <a:spcPts val="1000"/>
              </a:spcAft>
            </a:pPr>
            <a:r>
              <a:rPr sz="1700" b="0">
                <a:solidFill>
                  <a:srgbClr val="222222"/>
                </a:solidFill>
                <a:latin typeface="맑은 고딕"/>
              </a:rPr>
              <a:t>•  rac2 에서 dismount 한 뒤에야 rac1 에서 지워진다</a:t>
            </a:r>
          </a:p>
          <a:p>
            <a:pPr algn="l">
              <a:spcAft>
                <a:spcPts val="1000"/>
              </a:spcAft>
            </a:pPr>
            <a:r>
              <a:rPr sz="1700" b="0">
                <a:solidFill>
                  <a:srgbClr val="222222"/>
                </a:solidFill>
                <a:latin typeface="맑은 고딕"/>
              </a:rPr>
              <a:t>•  결과 헤더는 CANDIDATE 가 아니라 FORMER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정리와 실무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이 장에서 재현한 오류 코드</a:t>
            </a:r>
          </a:p>
          <a:p>
            <a:pPr algn="l">
              <a:spcAft>
                <a:spcPts val="800"/>
              </a:spcAft>
            </a:pPr>
            <a:r>
              <a:rPr sz="1600" b="0">
                <a:solidFill>
                  <a:srgbClr val="FFFFFF"/>
                </a:solidFill>
                <a:latin typeface="맑은 고딕"/>
              </a:rPr>
              <a:t>•  디스크그룹 작업 체크리스트</a:t>
            </a:r>
          </a:p>
          <a:p>
            <a:pPr algn="l">
              <a:spcAft>
                <a:spcPts val="800"/>
              </a:spcAft>
            </a:pPr>
            <a:r>
              <a:rPr sz="1600" b="0">
                <a:solidFill>
                  <a:srgbClr val="FFFFFF"/>
                </a:solidFill>
                <a:latin typeface="맑은 고딕"/>
              </a:rPr>
              <a:t>•  7장·8장으로 이어지는 것</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재현한 오류 코드 열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계층으로 묶어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인스턴스 계층 — ORA-01507(DB 미마운트), ORA-15021(RDBMS 에서 ASM 파라미터)</a:t>
            </a:r>
          </a:p>
          <a:p>
            <a:pPr algn="l">
              <a:spcAft>
                <a:spcPts val="1000"/>
              </a:spcAft>
            </a:pPr>
            <a:r>
              <a:rPr sz="1700" b="0">
                <a:solidFill>
                  <a:srgbClr val="222222"/>
                </a:solidFill>
                <a:latin typeface="맑은 고딕"/>
              </a:rPr>
              <a:t>•  값 검증 — ORA-00068(0~1024)</a:t>
            </a:r>
          </a:p>
          <a:p>
            <a:pPr algn="l">
              <a:spcAft>
                <a:spcPts val="1000"/>
              </a:spcAft>
            </a:pPr>
            <a:r>
              <a:rPr sz="1700" b="0">
                <a:solidFill>
                  <a:srgbClr val="222222"/>
                </a:solidFill>
                <a:latin typeface="맑은 고딕"/>
              </a:rPr>
              <a:t>•  생성 — ORA-15018 아래 ORA-15029 / ORA-15031 / ORA-15167</a:t>
            </a:r>
          </a:p>
          <a:p>
            <a:pPr algn="l">
              <a:spcAft>
                <a:spcPts val="1000"/>
              </a:spcAft>
            </a:pPr>
            <a:r>
              <a:rPr sz="1700" b="0">
                <a:solidFill>
                  <a:srgbClr val="222222"/>
                </a:solidFill>
                <a:latin typeface="맑은 고딕"/>
              </a:rPr>
              <a:t>•  마운트 — ORA-15027(사용 중 언마운트)</a:t>
            </a:r>
          </a:p>
          <a:p>
            <a:pPr algn="l">
              <a:spcAft>
                <a:spcPts val="1000"/>
              </a:spcAft>
            </a:pPr>
            <a:r>
              <a:rPr sz="1700" b="0">
                <a:solidFill>
                  <a:srgbClr val="222222"/>
                </a:solidFill>
                <a:latin typeface="맑은 고딕"/>
              </a:rPr>
              <a:t>•  삭제 — ORA-15039 아래 ORA-15053 / ORA-15073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디스크그룹 작업 체크리스트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만들기 전과 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만들기 전 — 양 노드에서 HEADER_STATUS 확인, OS_MB 로 크기 확인</a:t>
            </a:r>
          </a:p>
          <a:p>
            <a:pPr algn="l">
              <a:spcAft>
                <a:spcPts val="1000"/>
              </a:spcAft>
            </a:pPr>
            <a:r>
              <a:rPr sz="1700" b="0">
                <a:solidFill>
                  <a:srgbClr val="222222"/>
                </a:solidFill>
                <a:latin typeface="맑은 고딕"/>
              </a:rPr>
              <a:t>•  만들 때 — compatible.asm / compatible.rdbms 를 명시한다</a:t>
            </a:r>
          </a:p>
          <a:p>
            <a:pPr algn="l">
              <a:spcAft>
                <a:spcPts val="1000"/>
              </a:spcAft>
            </a:pPr>
            <a:r>
              <a:rPr sz="1700" b="0">
                <a:solidFill>
                  <a:srgbClr val="222222"/>
                </a:solidFill>
                <a:latin typeface="맑은 고딕"/>
              </a:rPr>
              <a:t>•  만들 때 — 장애 그룹 이름을 물리적 경계로 붙인다</a:t>
            </a:r>
          </a:p>
          <a:p>
            <a:pPr algn="l">
              <a:spcAft>
                <a:spcPts val="1000"/>
              </a:spcAft>
            </a:pPr>
            <a:r>
              <a:rPr sz="1700" b="0">
                <a:solidFill>
                  <a:srgbClr val="222222"/>
                </a:solidFill>
                <a:latin typeface="맑은 고딕"/>
              </a:rPr>
              <a:t>•  만든 후 — 다른 노드에서 마운트, srvctl status 로 리소스 확인</a:t>
            </a:r>
          </a:p>
          <a:p>
            <a:pPr algn="l">
              <a:spcAft>
                <a:spcPts val="1000"/>
              </a:spcAft>
            </a:pPr>
            <a:r>
              <a:rPr sz="1700" b="0">
                <a:solidFill>
                  <a:srgbClr val="222222"/>
                </a:solidFill>
                <a:latin typeface="맑은 고딕"/>
              </a:rPr>
              <a:t>•  지우기 전 — DB 쪽 파일 정리, 다른 노드에서 언마운트</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계층을 함께 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 과 Clusterware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ASM 계층 — v$asm_diskgroup 의 STATE</a:t>
            </a:r>
          </a:p>
          <a:p>
            <a:pPr algn="l">
              <a:spcAft>
                <a:spcPts val="1000"/>
              </a:spcAft>
            </a:pPr>
            <a:r>
              <a:rPr sz="1700" b="0">
                <a:solidFill>
                  <a:srgbClr val="222222"/>
                </a:solidFill>
                <a:latin typeface="맑은 고딕"/>
              </a:rPr>
              <a:t>•  Clusterware 계층 — crsctl status resource ora.XXX.dg</a:t>
            </a:r>
          </a:p>
          <a:p>
            <a:pPr algn="l">
              <a:spcAft>
                <a:spcPts val="1000"/>
              </a:spcAft>
            </a:pPr>
            <a:r>
              <a:rPr sz="1700" b="0">
                <a:solidFill>
                  <a:srgbClr val="222222"/>
                </a:solidFill>
                <a:latin typeface="맑은 고딕"/>
              </a:rPr>
              <a:t>•  만들기·지우기는 자동 연동된다</a:t>
            </a:r>
          </a:p>
          <a:p>
            <a:pPr algn="l">
              <a:spcAft>
                <a:spcPts val="1000"/>
              </a:spcAft>
            </a:pPr>
            <a:r>
              <a:rPr sz="1700" b="0">
                <a:solidFill>
                  <a:srgbClr val="222222"/>
                </a:solidFill>
                <a:latin typeface="맑은 고딕"/>
              </a:rPr>
              <a:t>•  올리기·내리기는 연동되지 않는다</a:t>
            </a:r>
          </a:p>
          <a:p>
            <a:pPr algn="l">
              <a:spcAft>
                <a:spcPts val="1000"/>
              </a:spcAft>
            </a:pPr>
            <a:r>
              <a:rPr sz="1700" b="0">
                <a:solidFill>
                  <a:srgbClr val="222222"/>
                </a:solidFill>
                <a:latin typeface="맑은 고딕"/>
              </a:rPr>
              <a:t>•  운영 명령은 srvctl, 진단 조회는 v$ 뷰</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다음 장에서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파일과 리밸런스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7장 — ASM 안의 파일, 별칭, 디렉터리, 템플릿</a:t>
            </a:r>
          </a:p>
          <a:p>
            <a:pPr algn="l">
              <a:spcAft>
                <a:spcPts val="1000"/>
              </a:spcAft>
            </a:pPr>
            <a:r>
              <a:rPr sz="1700" b="0">
                <a:solidFill>
                  <a:srgbClr val="222222"/>
                </a:solidFill>
                <a:latin typeface="맑은 고딕"/>
              </a:rPr>
              <a:t>•  +DATA/RACDB/DATAFILE/system.257.1242761643 은 어떻게 만들어지는가</a:t>
            </a:r>
          </a:p>
          <a:p>
            <a:pPr algn="l">
              <a:spcAft>
                <a:spcPts val="1000"/>
              </a:spcAft>
            </a:pPr>
            <a:r>
              <a:rPr sz="1700" b="0">
                <a:solidFill>
                  <a:srgbClr val="222222"/>
                </a:solidFill>
                <a:latin typeface="맑은 고딕"/>
              </a:rPr>
              <a:t>•  8장 — 리밸런스와 이중화</a:t>
            </a:r>
          </a:p>
          <a:p>
            <a:pPr algn="l">
              <a:spcAft>
                <a:spcPts val="1000"/>
              </a:spcAft>
            </a:pPr>
            <a:r>
              <a:rPr sz="1700" b="0">
                <a:solidFill>
                  <a:srgbClr val="222222"/>
                </a:solidFill>
                <a:latin typeface="맑은 고딕"/>
              </a:rPr>
              <a:t>•  디스크를 추가하면 데이터가 어떻게 재분배되는가</a:t>
            </a:r>
          </a:p>
          <a:p>
            <a:pPr algn="l">
              <a:spcAft>
                <a:spcPts val="1000"/>
              </a:spcAft>
            </a:pPr>
            <a:r>
              <a:rPr sz="1700" b="0">
                <a:solidFill>
                  <a:srgbClr val="222222"/>
                </a:solidFill>
                <a:latin typeface="맑은 고딕"/>
              </a:rPr>
              <a:t>•  이 장에서 만든 test1~test6 을 계속 쓴다</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ASM 은 인스턴스다. STATUS 는 STARTED, 데이터파일 조회는 ORA-01507</a:t>
            </a:r>
          </a:p>
          <a:p>
            <a:pPr algn="l">
              <a:spcAft>
                <a:spcPts val="1000"/>
              </a:spcAft>
            </a:pPr>
            <a:r>
              <a:rPr sz="1600" b="0">
                <a:solidFill>
                  <a:srgbClr val="222222"/>
                </a:solidFill>
                <a:latin typeface="맑은 고딕"/>
              </a:rPr>
              <a:t>•  프로세스 37개 대 115개. RBAL·GMON·ASMB 가 ASM 고유</a:t>
            </a:r>
          </a:p>
          <a:p>
            <a:pPr algn="l">
              <a:spcAft>
                <a:spcPts val="1000"/>
              </a:spcAft>
            </a:pPr>
            <a:r>
              <a:rPr sz="1600" b="0">
                <a:solidFill>
                  <a:srgbClr val="222222"/>
                </a:solidFill>
                <a:latin typeface="맑은 고딕"/>
              </a:rPr>
              <a:t>•  ASM_DISKGROUPS 에 +CRS 가 없는 것은 정상 (부트스트랩 순서)</a:t>
            </a:r>
          </a:p>
          <a:p>
            <a:pPr algn="l">
              <a:spcAft>
                <a:spcPts val="1000"/>
              </a:spcAft>
            </a:pPr>
            <a:r>
              <a:rPr sz="1600" b="0">
                <a:solidFill>
                  <a:srgbClr val="222222"/>
                </a:solidFill>
                <a:latin typeface="맑은 고딕"/>
              </a:rPr>
              <a:t>•  ORA-15021 은 인스턴스 종류, ORA-00068 은 값 범위(0~1024)</a:t>
            </a:r>
          </a:p>
          <a:p>
            <a:pPr algn="l">
              <a:spcAft>
                <a:spcPts val="1000"/>
              </a:spcAft>
            </a:pPr>
            <a:r>
              <a:rPr sz="1600" b="0">
                <a:solidFill>
                  <a:srgbClr val="222222"/>
                </a:solidFill>
                <a:latin typeface="맑은 고딕"/>
              </a:rPr>
              <a:t>•  TOTAL_MB 는 ASM 기준, OS_MB 는 OS 기준. CANDIDATE 는 0</a:t>
            </a:r>
          </a:p>
          <a:p>
            <a:pPr algn="l">
              <a:spcAft>
                <a:spcPts val="1000"/>
              </a:spcAft>
            </a:pPr>
            <a:r>
              <a:rPr sz="1600" b="0">
                <a:solidFill>
                  <a:srgbClr val="222222"/>
                </a:solidFill>
                <a:latin typeface="맑은 고딕"/>
              </a:rPr>
              <a:t>•  생성 실패는 ORA-15029 / ORA-15031 / ORA-15167</a:t>
            </a:r>
          </a:p>
          <a:p>
            <a:pPr algn="l">
              <a:spcAft>
                <a:spcPts val="1000"/>
              </a:spcAft>
            </a:pPr>
            <a:r>
              <a:rPr sz="1600" b="0">
                <a:solidFill>
                  <a:srgbClr val="222222"/>
                </a:solidFill>
                <a:latin typeface="맑은 고딕"/>
              </a:rPr>
              <a:t>•  다른 노드에서는 DISMOUNTED. 직접 마운트해야 한다</a:t>
            </a:r>
          </a:p>
          <a:p>
            <a:pPr algn="l">
              <a:spcAft>
                <a:spcPts val="1000"/>
              </a:spcAft>
            </a:pPr>
            <a:r>
              <a:rPr sz="1600" b="0">
                <a:solidFill>
                  <a:srgbClr val="222222"/>
                </a:solidFill>
                <a:latin typeface="맑은 고딕"/>
              </a:rPr>
              <a:t>•  SQL 마운트는 리소스에 반영되지 않는다. 운영은 srvctl</a:t>
            </a:r>
          </a:p>
          <a:p>
            <a:pPr algn="l">
              <a:spcAft>
                <a:spcPts val="1000"/>
              </a:spcAft>
            </a:pPr>
            <a:r>
              <a:rPr sz="1600" b="0">
                <a:solidFill>
                  <a:srgbClr val="222222"/>
                </a:solidFill>
                <a:latin typeface="맑은 고딕"/>
              </a:rPr>
              <a:t>•  External·Normal·High 의 실제 용량은 모두 4GB 남짓이었다</a:t>
            </a:r>
          </a:p>
          <a:p>
            <a:pPr algn="l">
              <a:spcAft>
                <a:spcPts val="1000"/>
              </a:spcAft>
            </a:pPr>
            <a:r>
              <a:rPr sz="1600" b="0">
                <a:solidFill>
                  <a:srgbClr val="222222"/>
                </a:solidFill>
                <a:latin typeface="맑은 고딕"/>
              </a:rPr>
              <a:t>•  언마운트는 ORA-15027, 삭제는 ORA-15053 / ORA-15073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ASM 인스턴스의 STATUS 가 STARTED 인 이유는</a:t>
            </a:r>
          </a:p>
          <a:p>
            <a:pPr algn="l">
              <a:spcAft>
                <a:spcPts val="1000"/>
              </a:spcAft>
            </a:pPr>
            <a:r>
              <a:rPr sz="1600" b="0">
                <a:solidFill>
                  <a:srgbClr val="222222"/>
                </a:solidFill>
                <a:latin typeface="맑은 고딕"/>
              </a:rPr>
              <a:t>•  CANDIDATE 의 TOTAL_MB 가 0이다. 디스크 문제인가</a:t>
            </a:r>
          </a:p>
          <a:p>
            <a:pPr algn="l">
              <a:spcAft>
                <a:spcPts val="1000"/>
              </a:spcAft>
            </a:pPr>
            <a:r>
              <a:rPr sz="1600" b="0">
                <a:solidFill>
                  <a:srgbClr val="222222"/>
                </a:solidFill>
                <a:latin typeface="맑은 고딕"/>
              </a:rPr>
              <a:t>•  ASM_DISKGROUPS 에 +CRS 가 없다. 설정 누락인가</a:t>
            </a:r>
          </a:p>
          <a:p>
            <a:pPr algn="l">
              <a:spcAft>
                <a:spcPts val="1000"/>
              </a:spcAft>
            </a:pPr>
            <a:r>
              <a:rPr sz="1600" b="0">
                <a:solidFill>
                  <a:srgbClr val="222222"/>
                </a:solidFill>
                <a:latin typeface="맑은 고딕"/>
              </a:rPr>
              <a:t>•  Normal 을 디스크 1장으로 만들 수 없는 이유는</a:t>
            </a:r>
          </a:p>
          <a:p>
            <a:pPr algn="l">
              <a:spcAft>
                <a:spcPts val="1000"/>
              </a:spcAft>
            </a:pPr>
            <a:r>
              <a:rPr sz="1600" b="0">
                <a:solidFill>
                  <a:srgbClr val="222222"/>
                </a:solidFill>
                <a:latin typeface="맑은 고딕"/>
              </a:rPr>
              <a:t>•  디스크 3장 High 에 담을 수 있는 데이터는 얼마인가</a:t>
            </a:r>
          </a:p>
          <a:p>
            <a:pPr algn="l">
              <a:spcAft>
                <a:spcPts val="1000"/>
              </a:spcAft>
            </a:pPr>
            <a:r>
              <a:rPr sz="1600" b="0">
                <a:solidFill>
                  <a:srgbClr val="222222"/>
                </a:solidFill>
                <a:latin typeface="맑은 고딕"/>
              </a:rPr>
              <a:t>•  rac2 에서 DISMOUNTED 로 보인다. 오류인가</a:t>
            </a:r>
          </a:p>
          <a:p>
            <a:pPr algn="l">
              <a:spcAft>
                <a:spcPts val="1000"/>
              </a:spcAft>
            </a:pPr>
            <a:r>
              <a:rPr sz="1600" b="0">
                <a:solidFill>
                  <a:srgbClr val="222222"/>
                </a:solidFill>
                <a:latin typeface="맑은 고딕"/>
              </a:rPr>
              <a:t>•  SQL 로 마운트했는데 리소스는 OFFLINE 이다. 무엇이 문제인가</a:t>
            </a:r>
          </a:p>
          <a:p>
            <a:pPr algn="l">
              <a:spcAft>
                <a:spcPts val="1000"/>
              </a:spcAft>
            </a:pPr>
            <a:r>
              <a:rPr sz="1600" b="0">
                <a:solidFill>
                  <a:srgbClr val="222222"/>
                </a:solidFill>
                <a:latin typeface="맑은 고딕"/>
              </a:rPr>
              <a:t>•  drop diskgroup 이 ORA-15073 으로 막혔다. 다음 단계는</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ASM 인스턴스 파악 — v$instance 와 프로세스를 DB 와 대조</a:t>
            </a:r>
          </a:p>
          <a:p>
            <a:pPr algn="l">
              <a:spcAft>
                <a:spcPts val="1000"/>
              </a:spcAft>
            </a:pPr>
            <a:r>
              <a:rPr sz="1600" b="0">
                <a:solidFill>
                  <a:srgbClr val="222222"/>
                </a:solidFill>
                <a:latin typeface="맑은 고딕"/>
              </a:rPr>
              <a:t>•  02 ASM 파라미터 — 변경과 복구, ORA-15021 / ORA-00068</a:t>
            </a:r>
          </a:p>
          <a:p>
            <a:pPr algn="l">
              <a:spcAft>
                <a:spcPts val="1000"/>
              </a:spcAft>
            </a:pPr>
            <a:r>
              <a:rPr sz="1600" b="0">
                <a:solidFill>
                  <a:srgbClr val="222222"/>
                </a:solidFill>
                <a:latin typeface="맑은 고딕"/>
              </a:rPr>
              <a:t>•  03 디스크 발견 — HEADER_STATUS 와 TOTAL_MB/OS_MB</a:t>
            </a:r>
          </a:p>
          <a:p>
            <a:pPr algn="l">
              <a:spcAft>
                <a:spcPts val="1000"/>
              </a:spcAft>
            </a:pPr>
            <a:r>
              <a:rPr sz="1600" b="0">
                <a:solidFill>
                  <a:srgbClr val="222222"/>
                </a:solidFill>
                <a:latin typeface="맑은 고딕"/>
              </a:rPr>
              <a:t>•  04 디스크그룹 생성 — 양 노드 마운트와 리소스 상태</a:t>
            </a:r>
          </a:p>
          <a:p>
            <a:pPr algn="l">
              <a:spcAft>
                <a:spcPts val="1000"/>
              </a:spcAft>
            </a:pPr>
            <a:r>
              <a:rPr sz="1600" b="0">
                <a:solidFill>
                  <a:srgbClr val="222222"/>
                </a:solidFill>
                <a:latin typeface="맑은 고딕"/>
              </a:rPr>
              <a:t>•  05 오류 재현 — ORA-15029 / ORA-15031 / ORA-15167</a:t>
            </a:r>
          </a:p>
          <a:p>
            <a:pPr algn="l">
              <a:spcAft>
                <a:spcPts val="1000"/>
              </a:spcAft>
            </a:pPr>
            <a:r>
              <a:rPr sz="1600" b="0">
                <a:solidFill>
                  <a:srgbClr val="222222"/>
                </a:solidFill>
                <a:latin typeface="맑은 고딕"/>
              </a:rPr>
              <a:t>•  06 마운트와 언마운트 — ORA-15027 과 FORCE 의 결과</a:t>
            </a:r>
          </a:p>
          <a:p>
            <a:pPr algn="l">
              <a:spcAft>
                <a:spcPts val="1000"/>
              </a:spcAft>
            </a:pPr>
            <a:r>
              <a:rPr sz="1600" b="0">
                <a:solidFill>
                  <a:srgbClr val="222222"/>
                </a:solidFill>
                <a:latin typeface="맑은 고딕"/>
              </a:rPr>
              <a:t>•  07 이중화 세 가지 — 용량과 장애 그룹 비교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3461</Words>
  <Application>Microsoft Office PowerPoint</Application>
  <PresentationFormat>와이드스크린</PresentationFormat>
  <Paragraphs>278</Paragraphs>
  <Slides>37</Slides>
  <Notes>25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37</vt:i4>
      </vt:variant>
    </vt:vector>
  </HeadingPairs>
  <TitlesOfParts>
    <vt:vector size="41"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2</cp:revision>
  <dcterms:created xsi:type="dcterms:W3CDTF">2013-01-27T09:14:16Z</dcterms:created>
  <dcterms:modified xsi:type="dcterms:W3CDTF">2026-10-29T10:14:34Z</dcterms:modified>
  <cp:category/>
</cp:coreProperties>
</file>
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1장에서 세운 세 계층 그림을 다시 꺼내 주십시오. 이 장은 그중 맨 아래 한 층만 파고듭니다. 수강생에게 실무 상황을 상상하게 하는 것이 좋습니다. 새벽에 호출을 받았고 데이터베이스에 접속이 안 됩니다. 무엇부터 확인하시겠습니까 하고 물어보십시오. 대부분 sqlplus 나 리스너를 먼저 답합니다. 이 장이 끝나면 crsctl check cluster -all 이 첫 손에 잡히게 됩니다. 그 변화가 이 장의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줄이 이 슬라이드의 핵심입니다. crsctl status resource -t -init 출력에 ora.crsd 가 자원으로 들어 있다는 사실을 보여 주면 위계가 한눈에 이해됩니다. 수강생들이 흔히 하는 오해는 두 스택을 병렬 관계로 그리는 것입니다. 병렬이 아니라 포함 관계입니다. OHAS 가 CRS 를 자원으로 관리하고, CRS 가 다시 데이터베이스와 리스너를 자원으로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TimeoutStopSec 이 60분이라는 점을 짚어 주십시오. Oracle 스스로 Clusterware 정지가 그만큼 오래 걸릴 수 있다고 인정한 값입니다. 실측에서 crsctl stop crs 가 2.6분 걸렸는데, 자원이 많은 운영 클러스터에서는 훨씬 길어집니다. 작업 계획에 정지 시간을 넉넉히 잡아야 하는 근거로 쓸 수 있습니다. After 절의 network-online 도 언급해 주십시오. 네트워크 없이는 클러스터가 성립하지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ora.diskmon 을 짚어 주십시오. 1장의 ora.asmgroup 3번과 같은 종류의 함정입니다. OFFLINE 이라고 모두 문제가 아닙니다. diskmon 은 Exadata 스토리지 셀을 감시하는 자원이라 일반 환경에서는 쓰이지 않습니다. 이런 정상 OFFLINE 항목을 미리 알아 두지 않으면 점검할 때마다 불필요하게 조사하게 됩니다. 환경별로 정상 OFFLINE 목록을 문서화해 두라고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2.3 절 기동 순서의 근거가 됩니다. 왜 ohasd 가 먼저 뜨고 crsd 가 나중에 뜨는가 — crsd 는 OCR 을 읽어야 하는데 OCR 이 ASM 안에 있고, ASM 이 뜨려면 먼저 ocssd 가 멤버십을 확정해야 하기 때문입니다. 이 인과를 여기서 세워 두면 뒤의 로그 판독이 훨씬 쉬워집니다. ocrcheck 와 ocrcheck -local 을 헷갈려 엉뚱한 쪽을 점검하는 실수도 함께 경고해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 05 의 예고편입니다. check has 는 OHAS 하나만 보므로 online 이라 답하고, check crs 는 네 가지를 모두 확인하므로 첫 줄만 online 입니다. 수강생에게 왜 check crs 의 첫 줄이 여전히 online 인지 물어보십시오. crs 를 확인하려면 그 아래 OHAS 도 확인해야 하기 때문이며, 이 계층 구조가 출력 순서에 그대로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단계 판별로 조사 범위가 절반으로 줄어듭니다. 실무에서 매우 자주 쓰이므로 수강생이 손에 익도록 반복시켜 주십시오. 특히 -init 옵션은 평소에 쓸 일이 없어 잊기 쉬운데, 정작 필요한 순간이 장애 상황입니다. 실습 05 에서 직접 두드려 보게 하는 이유가 그것입니다. 메모지에 적어 모니터에 붙여 두라고 해도 과하지 않습니다. 장애 대응 훈련을 할 때 이 두 명령을 먼저 치는 것으로 시작하도록 습관을 잡아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실무 판별법입니다. CRS-2792 는 위층 자원 정지 완료, CRS-2793 은 아래층까지 완료, CRS-4133 은 OHAS 자체 정지입니다. stop cluster 에서는 CRS-2792 까지만 나옵니다. 작업 로그를 나중에 읽을 때 어느 명령을 썼는지 이 코드로 역추적할 수 있습니다. 소요 시간 차이도 강조하십시오. 5배 차이는 야간 작업 계획에서 무시할 수 없는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계정 배치에 규칙이 있다는 점이 이 슬라이드의 핵심입니다. 왜 ocssd 는 grid 인데 cssdagent 는 root 인가 하고 물어보십시오. ocssd 는 판단만 하고, 실제로 노드를 재부팅시키는 것은 cssdagent 이기 때문입니다. 권한이 필요한 일을 하는 쪽이 root 입니다. 이 규칙을 알면 새로운 프로세스를 봤을 때 그 역할을 짐작할 수 있습니다. 반대로 어떤 프로세스가 root 로 돌고 있다면 그 프로세스가 시스템을 바꿀 권한을 쓴다는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죽었을 때의 결과가 프로세스마다 크게 다르다는 점을 강조하십시오. evmd 가 죽으면 이벤트 통지가 끊길 뿐 자원 관리는 계속됩니다. 반면 ocssd 가 죽으면 노드 자체가 재부팅됩니다. 이 차이가 곧 각 프로세스의 중요도이고, 장애 대응의 긴급도이기도 합니다. 20장의 축출 분석에서 이 표를 다시 씁니다. 이 차이가 곧 각 프로세스의 중요도이고 장애 대응의 긴급도이기도 합니다. 20장의 축출 분석에서 이 표를 다시 씁니다.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사례를 여기서 풀어 주십시오. CPU 를 많이 쓴다는 이유로 cssdmonitor 를 kill 했다가 몇 초 뒤 노드가 재부팅된 사례입니다. 담당자는 자기가 재부팅시켰다고 생각하지 못하고 하드웨어를 의심했습니다. 프로세스 정리 작업에서 grid 홈의 프로세스를 제외하는 것을 운영 규칙으로 두라고 권하십시오. 실제로 자주 일어나는 사고입니다. 프로세스 정리 작업에서 grid 홈의 프로세스를 제외하는 것을 운영 규칙으로 두라고 권하십시오. 실제로 자주 일어나는 사고입니다.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자주 오해되는 부분입니다. 에이전트는 심부름꾼이지 자원 자체가 아닙니다. oraagent 를 죽여도 데이터베이스 인스턴스는 계속 돕니다. 다만 그동안 인스턴스가 죽어도 Clusterware 가 알아채지 못합니다. crsd 가 곧 새 에이전트를 띄우므로 실무에서 문제가 되는 일은 드물지만, 자원 상태가 이상하게 보일 때 확인해 볼 지점입니다. crsd 가 곧 새 에이전트를 띄우므로 실무에서 문제가 되는 일은 드물지만, 자원 상태가 이상할 때 확인해 볼 지점입니다.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시각을 그대로 보여 주는 것이 효과적입니다. 수강생이 자기 환경의 alert.log 를 열어 같은 흐름을 찾아보게 하십시오. 순서는 어디서나 같고 시간만 다릅니다. 특히 ocssd 기동에서 CRS-1601 까지 13초가 걸린 점을 짚어 주십시오. 이 구간이 다른 노드와 하트비트를 주고받으며 멤버십을 확정하는 시간입니다. 특히 ocssd 기동에서 CRS-1601 까지 13초가 걸린 점을 짚어 주십시오. 다른 노드와 하트비트를 주고받으며 멤버십을 확정하는 시간입니다.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조사 방법을 구체적으로 알려 주십시오. 축출이 발생하면 양쪽 노드의 alert.log 에서 CRS-1601 을 grep 해 시각을 맞춰 봅니다. 어느 노드가 먼저 상대를 뺐는지, Active nodes 목록이 어떻게 변했는지가 드러납니다. 그다음 그 시각 앞뒤의 ocssd.trc 를 봅니다. 20장에서 이 절차를 실습으로 다룹니다. 그다음 그 시각 앞뒤의 ocssd.trc 를 봅니다. 20장에서 이 절차를 실습으로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37초라는 숫자를 기억하게 하십시오. 이 구간이 ASM 인스턴스를 띄우고 +CRS 를 마운트하는 시간입니다. 부팅 직후 데이터베이스에 접속했다가 ORA-01034 를 만나는 이유가 여기 있습니다. 1장 실습 1에서 이미 겪은 오류와 연결해 주면 이해가 깊어집니다. 노드 재부팅 뒤에는 최소 2~3분 기다리라는 실무 지침의 근거이기도 합니다. 1장 실습 1에서 이미 겪은 오류와 연결해 주면 이해가 깊어집니다. 노드 재부팅 뒤 2~3분 기다리라는 지침의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14장의 srvctl 원칙과 연결해 주십시오. Clusterware 가 의존 관계를 알고 순서를 정하는데, crsctl 로 개별 자원을 직접 내리면 그 순서를 건너뜁니다. 그래서 운영 중 기동·정지는 srvctl 을 쓰라는 원칙이 나옵니다. 이 슬라이드가 그 원칙의 기술적 근거를 보여 줍니다. 그래서 운영 중 기동·정지는 srvctl 을 쓰라는 원칙이 나옵니다. 이 슬라이드가 그 원칙의 기술적 근거를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1장에서 본 crsctl status resource -t 의 두 덩어리와 대응합니다. Local Resources 와 Cluster Resources 라는 구분이 임의로 나눈 것이 아니라 자원 유형에서 나온 것임을 보여 주면 두 장이 연결됩니다. 유형 목록 전체를 외울 필요는 없고 이 구분만 잡으면 충분하다고 안내해 주십시오. 유형 목록 전체를 외울 필요는 없고 이 구분만 잡으면 충분하다고 안내해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번째와 네 번째 줄을 반복해 강조하십시오. 1장에서도 말했고 14장에서 표로 정리하지만, 습관은 반복으로만 붙습니다. 실제 사고 예를 들어 주십시오. 데이터베이스 자원을 crsctl stop resource 로 내리면 서비스가 다른 노드로 옮겨 가지 않은 채 끊깁니다. 조회는 crsctl status 로, 기동·정지는 srvctl 로가 안전한 기본값입니다. 조회는 crsctl status 로, 기동·정지는 srvctl 로가 안전한 기본값이라는 문장을 그대로 외우게 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페일백이 없다는 점이 실무에서 만드는 결과를 설명해 주십시오. 장애와 점검이 반복되면 자원이 조금씩 한쪽 노드로 쏠립니다. 어느 날 보면 SCAN 리스너, CVU, 그리고 여러 서비스가 모두 한 노드에 몰려 있습니다. 그 노드가 죽으면 영향이 커집니다. 정기 점검 항목에 자원 배치 확인을 넣으라고 권하십시오. 어느 날 보면 SCAN 리스너와 CVU 와 여러 서비스가 한 노드에 몰려 있습니다. 정기 점검 항목에 자원 배치 확인을 넣으라고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장에서 실무 가치가 가장 높습니다. 새벽에 오류 메시지 하나만 보고도 어느 계층이 죽었는지 바로 알 수 있게 됩니다. 특히 CRS-4639 와 CRS-4535 의 구분이 핵심입니다. 전자는 ohasd 부터 살려야 하고 후자는 crsd 이하만 보면 됩니다. 실습 05 에서 두 상태를 직접 만들어 보며 확인합니다. 특히 CRS-4639 와 CRS-4535 의 구분이 핵심입니다. 실습 05 에서 두 상태를 직접 만들어 보며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사례를 여기서 풀어 주십시오. 야간 작업 중 srvctl 이 PRKH-1010 으로 실패하자 같은 노드에서 30분간 반복 실행한 사례입니다. 다른 노드에서 olsnodes -s 를 한 번만 했다면 즉시 알았을 것입니다. RAC 진단은 항상 두 노드를 오가며 한다는 원칙을 이 장의 표어로 삼아도 좋습니다. RAC 진단은 항상 두 노드를 오가며 한다는 원칙을 이 장의 표어로 삼아도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디렉터리를 열면 파일이 수백 개라 압도됩니다. alert.log 하나만 먼저 보라고 분명히 말해 주십시오. 사람이 읽도록 정리된 요약이고 CRS-nnnnn 코드가 붙어 있어 문서에서 찾기 쉽습니다. .trc 파일은 alert.log 가 가리키는 상세를 볼 때나 Oracle 지원에 제출할 때 씁니다. CRS-5019 가 Details are at 으로 파일명을 알려 준 것이 좋은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rac1 의 로그를 rac2 에서 찾는 실수가 잦습니다. 경로에 노드 이름이 들어 있으니 hostname 을 써서 만들라고 안내하십시오. 두 노드의 로그를 나란히 보는 방법도 구체적으로 알려 주면 좋습니다. 시각으로 정렬해 합치거나 화면을 둘로 나눠 tail -f 를 겁니다. 축출은 두 노드의 사건이므로 한쪽만 봐서는 원인을 알 수 없습니다. 축출은 두 노드의 사건이므로 한쪽만 봐서는 원인을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가장 위험한 부분입니다. 아무 오류도 나지 않습니다. 설정대로 동작한 것이기 때문입니다. 노드 하나가 빠진 채 몇 주 운영되다가 나머지 노드에 장애가 났을 때 발견됩니다. 작업 체크리스트 마지막에 crsctl config crs 로 CRS-4622 를 확인하는 절차를 넣으라고 반드시 강조해 주십시오. 작업 체크리스트 마지막에 crsctl config crs 로 CRS-4622 를 확인하는 절차를 넣으라고 반드시 강조해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값의 차이를 설명하는 것이 이 슬라이드의 핵심입니다. 인터커넥트 지연은 곧 Cache Fusion 지연이라 오래 두면 데이터베이스 전체가 멈춥니다. 그래서 빨리 판단합니다. 반면 스토리지는 멀티패스 전환 같은 정상적인 지연이 있어 여유를 줍니다. 값 변경은 신중해야 한다는 점도 짚어 주십시오. misscount 를 늘리면 오탐은 줄지만 진짜 장애 감지가 늦어져 스플릿 브레인 위험이 커집니다.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Clusterware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구조와 프로세스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두 개의 스택, 프로세스의 역할, 기동 순서와 오류 판별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OHAS 스택과 CRS 스택을 구분하고 각각의 진입점과 저장소를 말한다</a:t>
            </a:r>
          </a:p>
          <a:p>
            <a:pPr algn="l">
              <a:spcAft>
                <a:spcPts val="1000"/>
              </a:spcAft>
            </a:pPr>
            <a:r>
              <a:rPr sz="1600" b="0">
                <a:solidFill>
                  <a:srgbClr val="222222"/>
                </a:solidFill>
                <a:latin typeface="맑은 고딕"/>
              </a:rPr>
              <a:t>•  명령이 어느 계층에게 묻는지 판별해 장애 범위를 좁힌다</a:t>
            </a:r>
          </a:p>
          <a:p>
            <a:pPr algn="l">
              <a:spcAft>
                <a:spcPts val="1000"/>
              </a:spcAft>
            </a:pPr>
            <a:r>
              <a:rPr sz="1600" b="0">
                <a:solidFill>
                  <a:srgbClr val="222222"/>
                </a:solidFill>
                <a:latin typeface="맑은 고딕"/>
              </a:rPr>
              <a:t>•  주요 데몬과 에이전트의 역할, 그리고 계정 배치의 이유를 설명한다</a:t>
            </a:r>
          </a:p>
          <a:p>
            <a:pPr algn="l">
              <a:spcAft>
                <a:spcPts val="1000"/>
              </a:spcAft>
            </a:pPr>
            <a:r>
              <a:rPr sz="1600" b="0">
                <a:solidFill>
                  <a:srgbClr val="222222"/>
                </a:solidFill>
                <a:latin typeface="맑은 고딕"/>
              </a:rPr>
              <a:t>•  alert.log 로 기동 순서를 따라가고 CRS-1601 과 CRS-5019 를 읽는다</a:t>
            </a:r>
          </a:p>
          <a:p>
            <a:pPr algn="l">
              <a:spcAft>
                <a:spcPts val="1000"/>
              </a:spcAft>
            </a:pPr>
            <a:r>
              <a:rPr sz="1600" b="0">
                <a:solidFill>
                  <a:srgbClr val="222222"/>
                </a:solidFill>
                <a:latin typeface="맑은 고딕"/>
              </a:rPr>
              <a:t>•  stop cluster 와 stop crs 의 차이를 출력만 보고 구별한다</a:t>
            </a:r>
          </a:p>
          <a:p>
            <a:pPr algn="l">
              <a:spcAft>
                <a:spcPts val="1000"/>
              </a:spcAft>
            </a:pPr>
            <a:r>
              <a:rPr sz="1600" b="0">
                <a:solidFill>
                  <a:srgbClr val="222222"/>
                </a:solidFill>
                <a:latin typeface="맑은 고딕"/>
              </a:rPr>
              <a:t>•  CRS-4639 · CRS-4535 · PRKH 계열 오류로 죽은 계층을 판별한다</a:t>
            </a:r>
          </a:p>
          <a:p>
            <a:pPr algn="l">
              <a:spcAft>
                <a:spcPts val="1000"/>
              </a:spcAft>
            </a:pPr>
            <a:r>
              <a:rPr sz="1600" b="0">
                <a:solidFill>
                  <a:srgbClr val="222222"/>
                </a:solidFill>
                <a:latin typeface="맑은 고딕"/>
              </a:rPr>
              <a:t>•  자동 기동 설정과 CSS 축출 파라미터를 조회하고 의미를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2.1 두 개의 스택</a:t>
            </a:r>
          </a:p>
          <a:p>
            <a:pPr algn="l">
              <a:spcAft>
                <a:spcPts val="1000"/>
              </a:spcAft>
            </a:pPr>
            <a:r>
              <a:rPr sz="1600" b="0">
                <a:solidFill>
                  <a:srgbClr val="222222"/>
                </a:solidFill>
                <a:latin typeface="맑은 고딕"/>
              </a:rPr>
              <a:t>•  2.2 프로세스 하나하나</a:t>
            </a:r>
          </a:p>
          <a:p>
            <a:pPr algn="l">
              <a:spcAft>
                <a:spcPts val="1000"/>
              </a:spcAft>
            </a:pPr>
            <a:r>
              <a:rPr sz="1600" b="0">
                <a:solidFill>
                  <a:srgbClr val="222222"/>
                </a:solidFill>
                <a:latin typeface="맑은 고딕"/>
              </a:rPr>
              <a:t>•  2.3 기동 순서 — 로그로 따라간다</a:t>
            </a:r>
          </a:p>
          <a:p>
            <a:pPr algn="l">
              <a:spcAft>
                <a:spcPts val="1000"/>
              </a:spcAft>
            </a:pPr>
            <a:r>
              <a:rPr sz="1600" b="0">
                <a:solidFill>
                  <a:srgbClr val="222222"/>
                </a:solidFill>
                <a:latin typeface="맑은 고딕"/>
              </a:rPr>
              <a:t>•  2.4 자원(resource)이라는 개념</a:t>
            </a:r>
          </a:p>
          <a:p>
            <a:pPr algn="l">
              <a:spcAft>
                <a:spcPts val="1000"/>
              </a:spcAft>
            </a:pPr>
            <a:r>
              <a:rPr sz="1600" b="0">
                <a:solidFill>
                  <a:srgbClr val="222222"/>
                </a:solidFill>
                <a:latin typeface="맑은 고딕"/>
              </a:rPr>
              <a:t>•  2.5 스택이 죽었을 때 나타나는 오류</a:t>
            </a:r>
          </a:p>
          <a:p>
            <a:pPr algn="l">
              <a:spcAft>
                <a:spcPts val="1000"/>
              </a:spcAft>
            </a:pPr>
            <a:r>
              <a:rPr sz="1600" b="0">
                <a:solidFill>
                  <a:srgbClr val="222222"/>
                </a:solidFill>
                <a:latin typeface="맑은 고딕"/>
              </a:rPr>
              <a:t>•  2.6 로그와 진단 정보</a:t>
            </a:r>
          </a:p>
          <a:p>
            <a:pPr algn="l">
              <a:spcAft>
                <a:spcPts val="1000"/>
              </a:spcAft>
            </a:pPr>
            <a:r>
              <a:rPr sz="1600" b="0">
                <a:solidFill>
                  <a:srgbClr val="222222"/>
                </a:solidFill>
                <a:latin typeface="맑은 고딕"/>
              </a:rPr>
              <a:t>•  2.7 자동 기동과 CSS 파라미터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개의 스택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OHAS 스택 — 아래층</a:t>
            </a:r>
          </a:p>
          <a:p>
            <a:pPr algn="l">
              <a:spcAft>
                <a:spcPts val="800"/>
              </a:spcAft>
            </a:pPr>
            <a:r>
              <a:rPr sz="1600" b="0">
                <a:solidFill>
                  <a:srgbClr val="FFFFFF"/>
                </a:solidFill>
                <a:latin typeface="맑은 고딕"/>
              </a:rPr>
              <a:t>•  CRS 스택 — 위층</a:t>
            </a:r>
          </a:p>
          <a:p>
            <a:pPr algn="l">
              <a:spcAft>
                <a:spcPts val="800"/>
              </a:spcAft>
            </a:pPr>
            <a:r>
              <a:rPr sz="1600" b="0">
                <a:solidFill>
                  <a:srgbClr val="FFFFFF"/>
                </a:solidFill>
                <a:latin typeface="맑은 고딕"/>
              </a:rPr>
              <a:t>•  OLR 과 OCR</a:t>
            </a:r>
          </a:p>
          <a:p>
            <a:pPr algn="l">
              <a:spcAft>
                <a:spcPts val="800"/>
              </a:spcAft>
            </a:pPr>
            <a:r>
              <a:rPr sz="1600" b="0">
                <a:solidFill>
                  <a:srgbClr val="FFFFFF"/>
                </a:solidFill>
                <a:latin typeface="맑은 고딕"/>
              </a:rPr>
              <a:t>•  명령으로 가르는 법</a:t>
            </a:r>
          </a:p>
          <a:p>
            <a:pPr algn="l">
              <a:spcAft>
                <a:spcPts val="800"/>
              </a:spcAft>
            </a:pPr>
            <a:r>
              <a:rPr sz="1600" b="0">
                <a:solidFill>
                  <a:srgbClr val="FFFFFF"/>
                </a:solidFill>
                <a:latin typeface="맑은 고딕"/>
              </a:rPr>
              <a:t>•  stop cluster 와 stop crs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이 장을 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문제는 대개 아래층에서 시작된다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장애의 상당수가 데이터베이스가 아니라 그 아래에서 시작된다</a:t>
            </a:r>
          </a:p>
          <a:p>
            <a:pPr algn="l">
              <a:spcAft>
                <a:spcPts val="1000"/>
              </a:spcAft>
            </a:pPr>
            <a:r>
              <a:rPr sz="1700" b="0">
                <a:solidFill>
                  <a:srgbClr val="222222"/>
                </a:solidFill>
                <a:latin typeface="맑은 고딕"/>
              </a:rPr>
              <a:t>•  DB 가 안 열린다는 신고에 SQL*Plus 부터 잡으면 시간을 버린다</a:t>
            </a:r>
          </a:p>
          <a:p>
            <a:pPr algn="l">
              <a:spcAft>
                <a:spcPts val="1000"/>
              </a:spcAft>
            </a:pPr>
            <a:r>
              <a:rPr sz="1700" b="0">
                <a:solidFill>
                  <a:srgbClr val="222222"/>
                </a:solidFill>
                <a:latin typeface="맑은 고딕"/>
              </a:rPr>
              <a:t>•  Clusterware 가 살아 있는가, 어느 단계까지 올라왔는가를 먼저 본다</a:t>
            </a:r>
          </a:p>
          <a:p>
            <a:pPr algn="l">
              <a:spcAft>
                <a:spcPts val="1000"/>
              </a:spcAft>
            </a:pPr>
            <a:r>
              <a:rPr sz="1700" b="0">
                <a:solidFill>
                  <a:srgbClr val="222222"/>
                </a:solidFill>
                <a:latin typeface="맑은 고딕"/>
              </a:rPr>
              <a:t>•  그 판단을 하려면 스택의 구조를 알아야 한다</a:t>
            </a:r>
          </a:p>
          <a:p>
            <a:pPr algn="l">
              <a:spcAft>
                <a:spcPts val="1000"/>
              </a:spcAft>
            </a:pPr>
            <a:r>
              <a:rPr sz="1700" b="0">
                <a:solidFill>
                  <a:srgbClr val="222222"/>
                </a:solidFill>
                <a:latin typeface="맑은 고딕"/>
              </a:rPr>
              <a:t>•  이 장의 실습 둘은 실제로 Clusterware 를 정지했다 되살린다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스택은 하나가 아니라 둘이다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먼저 잡아야 할 사실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아래 — OHAS(Oracle High Availability Services) 스택, 진입점 ohasd</a:t>
            </a:r>
          </a:p>
          <a:p>
            <a:pPr algn="l">
              <a:spcAft>
                <a:spcPts val="1000"/>
              </a:spcAft>
            </a:pPr>
            <a:r>
              <a:rPr sz="1700" b="0">
                <a:solidFill>
                  <a:srgbClr val="222222"/>
                </a:solidFill>
                <a:latin typeface="맑은 고딕"/>
              </a:rPr>
              <a:t>•  위 — CRS(Cluster Ready Services) 스택, 관리자 crsd</a:t>
            </a:r>
          </a:p>
          <a:p>
            <a:pPr algn="l">
              <a:spcAft>
                <a:spcPts val="1000"/>
              </a:spcAft>
            </a:pPr>
            <a:r>
              <a:rPr sz="1700" b="0">
                <a:solidFill>
                  <a:srgbClr val="222222"/>
                </a:solidFill>
                <a:latin typeface="맑은 고딕"/>
              </a:rPr>
              <a:t>•  명령이 다르고 관리 대상이 다르고 저장소도 다르다</a:t>
            </a:r>
          </a:p>
          <a:p>
            <a:pPr algn="l">
              <a:spcAft>
                <a:spcPts val="1000"/>
              </a:spcAft>
            </a:pPr>
            <a:r>
              <a:rPr sz="1700" b="0">
                <a:solidFill>
                  <a:srgbClr val="222222"/>
                </a:solidFill>
                <a:latin typeface="맑은 고딕"/>
              </a:rPr>
              <a:t>•  위층 전체가 아래층에게는 ora.crsd 자원 하나에 불과하다</a:t>
            </a:r>
          </a:p>
          <a:p>
            <a:pPr algn="l">
              <a:spcAft>
                <a:spcPts val="1000"/>
              </a:spcAft>
            </a:pPr>
            <a:r>
              <a:rPr sz="1700" b="0">
                <a:solidFill>
                  <a:srgbClr val="222222"/>
                </a:solidFill>
                <a:latin typeface="맑은 고딕"/>
              </a:rPr>
              <a:t>•  이 위계가 두 스택 관계의 전부다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OHAS 스택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systemd 가 띄우는 진입점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oracle-ohasd.service — After=network-online.target</a:t>
            </a:r>
          </a:p>
          <a:p>
            <a:pPr algn="l">
              <a:spcAft>
                <a:spcPts val="1000"/>
              </a:spcAft>
            </a:pPr>
            <a:r>
              <a:rPr sz="1700" b="0">
                <a:solidFill>
                  <a:srgbClr val="222222"/>
                </a:solidFill>
                <a:latin typeface="맑은 고딕"/>
              </a:rPr>
              <a:t>•  ExecStart=/etc/init.d/init.ohasd run</a:t>
            </a:r>
          </a:p>
          <a:p>
            <a:pPr algn="l">
              <a:spcAft>
                <a:spcPts val="1000"/>
              </a:spcAft>
            </a:pPr>
            <a:r>
              <a:rPr sz="1700" b="0">
                <a:solidFill>
                  <a:srgbClr val="222222"/>
                </a:solidFill>
                <a:latin typeface="맑은 고딕"/>
              </a:rPr>
              <a:t>•  Restart=always, StartLimitBurst=0 — 죽으면 무한 재기동</a:t>
            </a:r>
          </a:p>
          <a:p>
            <a:pPr algn="l">
              <a:spcAft>
                <a:spcPts val="1000"/>
              </a:spcAft>
            </a:pPr>
            <a:r>
              <a:rPr sz="1700" b="0">
                <a:solidFill>
                  <a:srgbClr val="222222"/>
                </a:solidFill>
                <a:latin typeface="맑은 고딕"/>
              </a:rPr>
              <a:t>•  TimeoutStopSec=60min — 정지에 최대 한 시간을 준다</a:t>
            </a:r>
          </a:p>
          <a:p>
            <a:pPr algn="l">
              <a:spcAft>
                <a:spcPts val="1000"/>
              </a:spcAft>
            </a:pPr>
            <a:r>
              <a:rPr sz="1700" b="0">
                <a:solidFill>
                  <a:srgbClr val="222222"/>
                </a:solidFill>
                <a:latin typeface="맑은 고딕"/>
              </a:rPr>
              <a:t>•  관리 자원은 crsctl status resource -t -init 로 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OHAS 가 관리하는 자원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-init 을 붙여야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ora.cssd, ora.evmd, ora.gipcd, ora.gpnpd, ora.mdnsd</a:t>
            </a:r>
          </a:p>
          <a:p>
            <a:pPr algn="l">
              <a:spcAft>
                <a:spcPts val="1000"/>
              </a:spcAft>
            </a:pPr>
            <a:r>
              <a:rPr sz="1700" b="0">
                <a:solidFill>
                  <a:srgbClr val="222222"/>
                </a:solidFill>
                <a:latin typeface="맑은 고딕"/>
              </a:rPr>
              <a:t>•  ora.ctssd, ora.storage, ora.crf, ora.cluster_interconnect.haip</a:t>
            </a:r>
          </a:p>
          <a:p>
            <a:pPr algn="l">
              <a:spcAft>
                <a:spcPts val="1000"/>
              </a:spcAft>
            </a:pPr>
            <a:r>
              <a:rPr sz="1700" b="0">
                <a:solidFill>
                  <a:srgbClr val="222222"/>
                </a:solidFill>
                <a:latin typeface="맑은 고딕"/>
              </a:rPr>
              <a:t>•  ora.asm, ora.cssdmonitor, ora.diskmon</a:t>
            </a:r>
          </a:p>
          <a:p>
            <a:pPr algn="l">
              <a:spcAft>
                <a:spcPts val="1000"/>
              </a:spcAft>
            </a:pPr>
            <a:r>
              <a:rPr sz="1700" b="0">
                <a:solidFill>
                  <a:srgbClr val="222222"/>
                </a:solidFill>
                <a:latin typeface="맑은 고딕"/>
              </a:rPr>
              <a:t>•  그리고 ora.crsd — 위층 스택 전체가 여기 자원 하나로 들어 있다</a:t>
            </a:r>
          </a:p>
          <a:p>
            <a:pPr algn="l">
              <a:spcAft>
                <a:spcPts val="1000"/>
              </a:spcAft>
            </a:pPr>
            <a:r>
              <a:rPr sz="1700" b="0">
                <a:solidFill>
                  <a:srgbClr val="222222"/>
                </a:solidFill>
                <a:latin typeface="맑은 고딕"/>
              </a:rPr>
              <a:t>•  ora.diskmon 이 OFFLINE 인 것은 정상 (Exadata 전용)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OLR 과 OCR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부팅 순서를 결정하는 차이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OLR — 노드마다 하나, 로컬 파일 /u01/app/grid/crsdata/rac1/olr/rac1_19.olr</a:t>
            </a:r>
          </a:p>
          <a:p>
            <a:pPr algn="l">
              <a:spcAft>
                <a:spcPts val="1000"/>
              </a:spcAft>
            </a:pPr>
            <a:r>
              <a:rPr sz="1700" b="0">
                <a:solidFill>
                  <a:srgbClr val="222222"/>
                </a:solidFill>
                <a:latin typeface="맑은 고딕"/>
              </a:rPr>
              <a:t>•  OCR — 클러스터 공유, ASM 디스크그룹 +CRS 안</a:t>
            </a:r>
          </a:p>
          <a:p>
            <a:pPr algn="l">
              <a:spcAft>
                <a:spcPts val="1000"/>
              </a:spcAft>
            </a:pPr>
            <a:r>
              <a:rPr sz="1700" b="0">
                <a:solidFill>
                  <a:srgbClr val="222222"/>
                </a:solidFill>
                <a:latin typeface="맑은 고딕"/>
              </a:rPr>
              <a:t>•  확인은 ocrcheck -local 과 ocrcheck 로 나뉜다</a:t>
            </a:r>
          </a:p>
          <a:p>
            <a:pPr algn="l">
              <a:spcAft>
                <a:spcPts val="1000"/>
              </a:spcAft>
            </a:pPr>
            <a:r>
              <a:rPr sz="1700" b="0">
                <a:solidFill>
                  <a:srgbClr val="222222"/>
                </a:solidFill>
                <a:latin typeface="맑은 고딕"/>
              </a:rPr>
              <a:t>•  실측 ID 가 다르다 — OLR 1636561748 / OCR 665666554, 완전히 별개다</a:t>
            </a:r>
          </a:p>
          <a:p>
            <a:pPr algn="l">
              <a:spcAft>
                <a:spcPts val="1000"/>
              </a:spcAft>
            </a:pPr>
            <a:r>
              <a:rPr sz="1700" b="0">
                <a:solidFill>
                  <a:srgbClr val="222222"/>
                </a:solidFill>
                <a:latin typeface="맑은 고딕"/>
              </a:rPr>
              <a:t>•  부팅 시 ASM 이 없으니 OLR 먼저, ASM 이 뜬 뒤 OCR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명령으로 두 스택을 가른다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화면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check has  →  CRS-4638 online (ohasd 살아 있음)</a:t>
            </a:r>
          </a:p>
          <a:p>
            <a:pPr algn="l">
              <a:spcAft>
                <a:spcPts val="1000"/>
              </a:spcAft>
            </a:pPr>
            <a:r>
              <a:rPr sz="1700" b="0">
                <a:solidFill>
                  <a:srgbClr val="222222"/>
                </a:solidFill>
                <a:latin typeface="맑은 고딕"/>
              </a:rPr>
              <a:t>•  crsctl check crs  →  4638 online + CRS-4535 + CRS-4530 + CRS-4534</a:t>
            </a:r>
          </a:p>
          <a:p>
            <a:pPr algn="l">
              <a:spcAft>
                <a:spcPts val="1000"/>
              </a:spcAft>
            </a:pPr>
            <a:r>
              <a:rPr sz="1700" b="0">
                <a:solidFill>
                  <a:srgbClr val="222222"/>
                </a:solidFill>
                <a:latin typeface="맑은 고딕"/>
              </a:rPr>
              <a:t>•  pgrep: ohasd.bin=1, crsd.bin=0, ocssd.bin=0</a:t>
            </a:r>
          </a:p>
          <a:p>
            <a:pPr algn="l">
              <a:spcAft>
                <a:spcPts val="1000"/>
              </a:spcAft>
            </a:pPr>
            <a:r>
              <a:rPr sz="1700" b="0">
                <a:solidFill>
                  <a:srgbClr val="222222"/>
                </a:solidFill>
                <a:latin typeface="맑은 고딕"/>
              </a:rPr>
              <a:t>•  한 화면이 두 스택의 구분을 그대로 보여 준다</a:t>
            </a:r>
          </a:p>
          <a:p>
            <a:pPr algn="l">
              <a:spcAft>
                <a:spcPts val="1000"/>
              </a:spcAft>
            </a:pPr>
            <a:r>
              <a:rPr sz="1700" b="0">
                <a:solidFill>
                  <a:srgbClr val="222222"/>
                </a:solidFill>
                <a:latin typeface="맑은 고딕"/>
              </a:rPr>
              <a:t>•  이것이 crsctl stop cluster 직후의 상태다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조회 명령의 대상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외워 둘 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OHAS 에게 묻는다 — crsctl check has, crsctl status resource -t -init</a:t>
            </a:r>
          </a:p>
          <a:p>
            <a:pPr algn="l">
              <a:spcAft>
                <a:spcPts val="1000"/>
              </a:spcAft>
            </a:pPr>
            <a:r>
              <a:rPr sz="1700" b="0">
                <a:solidFill>
                  <a:srgbClr val="222222"/>
                </a:solidFill>
                <a:latin typeface="맑은 고딕"/>
              </a:rPr>
              <a:t>•  위층에게 묻는다 — crsctl check crs, crsctl status resource -t</a:t>
            </a:r>
          </a:p>
          <a:p>
            <a:pPr algn="l">
              <a:spcAft>
                <a:spcPts val="1000"/>
              </a:spcAft>
            </a:pPr>
            <a:r>
              <a:rPr sz="1700" b="0">
                <a:solidFill>
                  <a:srgbClr val="222222"/>
                </a:solidFill>
                <a:latin typeface="맑은 고딕"/>
              </a:rPr>
              <a:t>•  위층에게 묻는다 — srvctl, olsnodes</a:t>
            </a:r>
          </a:p>
          <a:p>
            <a:pPr algn="l">
              <a:spcAft>
                <a:spcPts val="1000"/>
              </a:spcAft>
            </a:pPr>
            <a:r>
              <a:rPr sz="1700" b="0">
                <a:solidFill>
                  <a:srgbClr val="222222"/>
                </a:solidFill>
                <a:latin typeface="맑은 고딕"/>
              </a:rPr>
              <a:t>•  아래층은 되고 위층이 안 되면 → crsd 이하 문제</a:t>
            </a:r>
          </a:p>
          <a:p>
            <a:pPr algn="l">
              <a:spcAft>
                <a:spcPts val="1000"/>
              </a:spcAft>
            </a:pPr>
            <a:r>
              <a:rPr sz="1700" b="0">
                <a:solidFill>
                  <a:srgbClr val="222222"/>
                </a:solidFill>
                <a:latin typeface="맑은 고딕"/>
              </a:rPr>
              <a:t>•  아래층마저 안 되면 → ohasd 자체가 죽었다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stop cluster 와 stop crs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것이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stop cluster — CRS 계층만, ohasd 는 남는다, 실측 0.5분</a:t>
            </a:r>
          </a:p>
          <a:p>
            <a:pPr algn="l">
              <a:spcAft>
                <a:spcPts val="1000"/>
              </a:spcAft>
            </a:pPr>
            <a:r>
              <a:rPr sz="1700" b="0">
                <a:solidFill>
                  <a:srgbClr val="222222"/>
                </a:solidFill>
                <a:latin typeface="맑은 고딕"/>
              </a:rPr>
              <a:t>•  stop crs — 스택 전체, ohasd 도 종료, 실측 2.6분</a:t>
            </a:r>
          </a:p>
          <a:p>
            <a:pPr algn="l">
              <a:spcAft>
                <a:spcPts val="1000"/>
              </a:spcAft>
            </a:pPr>
            <a:r>
              <a:rPr sz="1700" b="0">
                <a:solidFill>
                  <a:srgbClr val="222222"/>
                </a:solidFill>
                <a:latin typeface="맑은 고딕"/>
              </a:rPr>
              <a:t>•  정지 후 check has: 전자는 CRS-4638, 후자는 CRS-4639</a:t>
            </a:r>
          </a:p>
          <a:p>
            <a:pPr algn="l">
              <a:spcAft>
                <a:spcPts val="1000"/>
              </a:spcAft>
            </a:pPr>
            <a:r>
              <a:rPr sz="1700" b="0">
                <a:solidFill>
                  <a:srgbClr val="222222"/>
                </a:solidFill>
                <a:latin typeface="맑은 고딕"/>
              </a:rPr>
              <a:t>•  정지 후 -init 조회: 전자는 가능, 후자는 불가</a:t>
            </a:r>
          </a:p>
          <a:p>
            <a:pPr algn="l">
              <a:spcAft>
                <a:spcPts val="1000"/>
              </a:spcAft>
            </a:pPr>
            <a:r>
              <a:rPr sz="1700" b="0">
                <a:solidFill>
                  <a:srgbClr val="222222"/>
                </a:solidFill>
                <a:latin typeface="맑은 고딕"/>
              </a:rPr>
              <a:t>•  구별법 — 출력에 CRS-4133 이 나오는가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프로세스 하나하나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핵심 데몬</a:t>
            </a:r>
          </a:p>
          <a:p>
            <a:pPr algn="l">
              <a:spcAft>
                <a:spcPts val="800"/>
              </a:spcAft>
            </a:pPr>
            <a:r>
              <a:rPr sz="1600" b="0">
                <a:solidFill>
                  <a:srgbClr val="FFFFFF"/>
                </a:solidFill>
                <a:latin typeface="맑은 고딕"/>
              </a:rPr>
              <a:t>•  계정 배치의 이유</a:t>
            </a:r>
          </a:p>
          <a:p>
            <a:pPr algn="l">
              <a:spcAft>
                <a:spcPts val="800"/>
              </a:spcAft>
            </a:pPr>
            <a:r>
              <a:rPr sz="1600" b="0">
                <a:solidFill>
                  <a:srgbClr val="FFFFFF"/>
                </a:solidFill>
                <a:latin typeface="맑은 고딕"/>
              </a:rPr>
              <a:t>•  감시자 — cssdagent 와 cssdmonitor</a:t>
            </a:r>
          </a:p>
          <a:p>
            <a:pPr algn="l">
              <a:spcAft>
                <a:spcPts val="800"/>
              </a:spcAft>
            </a:pPr>
            <a:r>
              <a:rPr sz="1600" b="0">
                <a:solidFill>
                  <a:srgbClr val="FFFFFF"/>
                </a:solidFill>
                <a:latin typeface="맑은 고딕"/>
              </a:rPr>
              <a:t>•  에이전트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실제 프로세스 목록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돌고 있는 것들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root — ohasd.bin, crsd.bin, cssdagent, cssdmonitor, octssd.bin, osysmond.bin</a:t>
            </a:r>
          </a:p>
          <a:p>
            <a:pPr algn="l">
              <a:spcAft>
                <a:spcPts val="1000"/>
              </a:spcAft>
            </a:pPr>
            <a:r>
              <a:rPr sz="1700" b="0">
                <a:solidFill>
                  <a:srgbClr val="222222"/>
                </a:solidFill>
                <a:latin typeface="맑은 고딕"/>
              </a:rPr>
              <a:t>•  grid — ocssd.bin, evmd.bin, gpnpd.bin, gipcd.bin, mdnsd.bin</a:t>
            </a:r>
          </a:p>
          <a:p>
            <a:pPr algn="l">
              <a:spcAft>
                <a:spcPts val="1000"/>
              </a:spcAft>
            </a:pPr>
            <a:r>
              <a:rPr sz="1700" b="0">
                <a:solidFill>
                  <a:srgbClr val="222222"/>
                </a:solidFill>
                <a:latin typeface="맑은 고딕"/>
              </a:rPr>
              <a:t>•  에이전트 — orarootagent 2개(계층별), oraagent 3개(계층·소유자별)</a:t>
            </a:r>
          </a:p>
          <a:p>
            <a:pPr algn="l">
              <a:spcAft>
                <a:spcPts val="1000"/>
              </a:spcAft>
            </a:pPr>
            <a:r>
              <a:rPr sz="1700" b="0">
                <a:solidFill>
                  <a:srgbClr val="222222"/>
                </a:solidFill>
                <a:latin typeface="맑은 고딕"/>
              </a:rPr>
              <a:t>•  규칙 — 노드를 재부팅시킬 권한이 필요하면 root</a:t>
            </a:r>
          </a:p>
          <a:p>
            <a:pPr algn="l">
              <a:spcAft>
                <a:spcPts val="1000"/>
              </a:spcAft>
            </a:pPr>
            <a:r>
              <a:rPr sz="1700" b="0">
                <a:solidFill>
                  <a:srgbClr val="222222"/>
                </a:solidFill>
                <a:latin typeface="맑은 고딕"/>
              </a:rPr>
              <a:t>•  oraagent 가 oracle 계정으로도 뜨는 이유는 DB 자원 때문이다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핵심 데몬의 역할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죽으면 무슨 일이 생기나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ohasd — OHAS 진입점. 죽으면 systemd 가 즉시 재기동</a:t>
            </a:r>
          </a:p>
          <a:p>
            <a:pPr algn="l">
              <a:spcAft>
                <a:spcPts val="1000"/>
              </a:spcAft>
            </a:pPr>
            <a:r>
              <a:rPr sz="1700" b="0">
                <a:solidFill>
                  <a:srgbClr val="222222"/>
                </a:solidFill>
                <a:latin typeface="맑은 고딕"/>
              </a:rPr>
              <a:t>•  crsd — OCR 을 읽어 위층 자원 관리. 죽으면 ohasd 가 재기동</a:t>
            </a:r>
          </a:p>
          <a:p>
            <a:pPr algn="l">
              <a:spcAft>
                <a:spcPts val="1000"/>
              </a:spcAft>
            </a:pPr>
            <a:r>
              <a:rPr sz="1700" b="0">
                <a:solidFill>
                  <a:srgbClr val="222222"/>
                </a:solidFill>
                <a:latin typeface="맑은 고딕"/>
              </a:rPr>
              <a:t>•  ocssd — 노드 멤버십 판정. 죽으면 노드가 재부팅된다</a:t>
            </a:r>
          </a:p>
          <a:p>
            <a:pPr algn="l">
              <a:spcAft>
                <a:spcPts val="1000"/>
              </a:spcAft>
            </a:pPr>
            <a:r>
              <a:rPr sz="1700" b="0">
                <a:solidFill>
                  <a:srgbClr val="222222"/>
                </a:solidFill>
                <a:latin typeface="맑은 고딕"/>
              </a:rPr>
              <a:t>•  evmd — 이벤트 발행, FAN 의 출발점. 죽으면 통지만 끊긴다</a:t>
            </a:r>
          </a:p>
          <a:p>
            <a:pPr algn="l">
              <a:spcAft>
                <a:spcPts val="1000"/>
              </a:spcAft>
            </a:pPr>
            <a:r>
              <a:rPr sz="1700" b="0">
                <a:solidFill>
                  <a:srgbClr val="222222"/>
                </a:solidFill>
                <a:latin typeface="맑은 고딕"/>
              </a:rPr>
              <a:t>•  gpnpd·gipcd·mdnsd — 부팅 정보·인터커넥트 통신·이름 발견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감시자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감시자를 감시하는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cssdagent — ocssd 를 기동하고 감시. 응답 없으면 노드 재부팅</a:t>
            </a:r>
          </a:p>
          <a:p>
            <a:pPr algn="l">
              <a:spcAft>
                <a:spcPts val="1000"/>
              </a:spcAft>
            </a:pPr>
            <a:r>
              <a:rPr sz="1700" b="0">
                <a:solidFill>
                  <a:srgbClr val="222222"/>
                </a:solidFill>
                <a:latin typeface="맑은 고딕"/>
              </a:rPr>
              <a:t>•  cssdmonitor — cssdagent 와 시스템 행(hang)을 감시</a:t>
            </a:r>
          </a:p>
          <a:p>
            <a:pPr algn="l">
              <a:spcAft>
                <a:spcPts val="1000"/>
              </a:spcAft>
            </a:pPr>
            <a:r>
              <a:rPr sz="1700" b="0">
                <a:solidFill>
                  <a:srgbClr val="222222"/>
                </a:solidFill>
                <a:latin typeface="맑은 고딕"/>
              </a:rPr>
              <a:t>•  둘 다 root 로 도는 이유 — 노드를 강제 재부팅해야 하므로</a:t>
            </a:r>
          </a:p>
          <a:p>
            <a:pPr algn="l">
              <a:spcAft>
                <a:spcPts val="1000"/>
              </a:spcAft>
            </a:pPr>
            <a:r>
              <a:rPr sz="1700" b="0">
                <a:solidFill>
                  <a:srgbClr val="222222"/>
                </a:solidFill>
                <a:latin typeface="맑은 고딕"/>
              </a:rPr>
              <a:t>•  왜 이렇게까지 하는가 — 멈춘 노드는 자기가 빠진 줄도 모른다</a:t>
            </a:r>
          </a:p>
          <a:p>
            <a:pPr algn="l">
              <a:spcAft>
                <a:spcPts val="1000"/>
              </a:spcAft>
            </a:pPr>
            <a:r>
              <a:rPr sz="1700" b="0">
                <a:solidFill>
                  <a:srgbClr val="222222"/>
                </a:solidFill>
                <a:latin typeface="맑은 고딕"/>
              </a:rPr>
              <a:t>•  그 상태로 공유 스토리지를 쓰면 데이터가 깨진다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에이전트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실제로 일하는 것은 이쪽이다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crsd 와 ohasd 는 지시만 한다</a:t>
            </a:r>
          </a:p>
          <a:p>
            <a:pPr algn="l">
              <a:spcAft>
                <a:spcPts val="1000"/>
              </a:spcAft>
            </a:pPr>
            <a:r>
              <a:rPr sz="1700" b="0">
                <a:solidFill>
                  <a:srgbClr val="222222"/>
                </a:solidFill>
                <a:latin typeface="맑은 고딕"/>
              </a:rPr>
              <a:t>•  orarootagent — root 권한 자원. VIP, 네트워크, HAIP, 디스크그룹</a:t>
            </a:r>
          </a:p>
          <a:p>
            <a:pPr algn="l">
              <a:spcAft>
                <a:spcPts val="1000"/>
              </a:spcAft>
            </a:pPr>
            <a:r>
              <a:rPr sz="1700" b="0">
                <a:solidFill>
                  <a:srgbClr val="222222"/>
                </a:solidFill>
                <a:latin typeface="맑은 고딕"/>
              </a:rPr>
              <a:t>•  oraagent — 일반 계정 자원. 리스너, ASM, 데이터베이스, 서비스</a:t>
            </a:r>
          </a:p>
          <a:p>
            <a:pPr algn="l">
              <a:spcAft>
                <a:spcPts val="1000"/>
              </a:spcAft>
            </a:pPr>
            <a:r>
              <a:rPr sz="1700" b="0">
                <a:solidFill>
                  <a:srgbClr val="222222"/>
                </a:solidFill>
                <a:latin typeface="맑은 고딕"/>
              </a:rPr>
              <a:t>•  자원 소유자별로 하나씩 뜬다 — 그래서 oraagent 가 여럿이다</a:t>
            </a:r>
          </a:p>
          <a:p>
            <a:pPr algn="l">
              <a:spcAft>
                <a:spcPts val="1000"/>
              </a:spcAft>
            </a:pPr>
            <a:r>
              <a:rPr sz="1700" b="0">
                <a:solidFill>
                  <a:srgbClr val="222222"/>
                </a:solidFill>
                <a:latin typeface="맑은 고딕"/>
              </a:rPr>
              <a:t>•  에이전트가 죽어도 자원은 살아 있다. 감시만 끊긴다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기동 순서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alert.log 로 따라가기</a:t>
            </a:r>
          </a:p>
          <a:p>
            <a:pPr algn="l">
              <a:spcAft>
                <a:spcPts val="800"/>
              </a:spcAft>
            </a:pPr>
            <a:r>
              <a:rPr sz="1600" b="0">
                <a:solidFill>
                  <a:srgbClr val="FFFFFF"/>
                </a:solidFill>
                <a:latin typeface="맑은 고딕"/>
              </a:rPr>
              <a:t>•  12단계와 실측 시각</a:t>
            </a:r>
          </a:p>
          <a:p>
            <a:pPr algn="l">
              <a:spcAft>
                <a:spcPts val="800"/>
              </a:spcAft>
            </a:pPr>
            <a:r>
              <a:rPr sz="1600" b="0">
                <a:solidFill>
                  <a:srgbClr val="FFFFFF"/>
                </a:solidFill>
                <a:latin typeface="맑은 고딕"/>
              </a:rPr>
              <a:t>•  CRS-1601 과 CRS-5019</a:t>
            </a:r>
          </a:p>
          <a:p>
            <a:pPr algn="l">
              <a:spcAft>
                <a:spcPts val="800"/>
              </a:spcAft>
            </a:pPr>
            <a:r>
              <a:rPr sz="1600" b="0">
                <a:solidFill>
                  <a:srgbClr val="FFFFFF"/>
                </a:solidFill>
                <a:latin typeface="맑은 고딕"/>
              </a:rPr>
              <a:t>•  정지는 기동의 역순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86초의 흐름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12:23:12 ohasd → 12:23:13 OLR(CRS-2112) → OHAS 기동(CRS-1301)</a:t>
            </a:r>
          </a:p>
          <a:p>
            <a:pPr algn="l">
              <a:spcAft>
                <a:spcPts val="1000"/>
              </a:spcAft>
            </a:pPr>
            <a:r>
              <a:rPr sz="1700" b="0">
                <a:solidFill>
                  <a:srgbClr val="222222"/>
                </a:solidFill>
                <a:latin typeface="맑은 고딕"/>
              </a:rPr>
              <a:t>•  12:23:16 cssdagent·cssdmonitor → 12:23:19 OHAS 계층 에이전트</a:t>
            </a:r>
          </a:p>
          <a:p>
            <a:pPr algn="l">
              <a:spcAft>
                <a:spcPts val="1000"/>
              </a:spcAft>
            </a:pPr>
            <a:r>
              <a:rPr sz="1700" b="0">
                <a:solidFill>
                  <a:srgbClr val="222222"/>
                </a:solidFill>
                <a:latin typeface="맑은 고딕"/>
              </a:rPr>
              <a:t>•  12:23:23~25 mdnsd → evmd → gpnpd → gipcd</a:t>
            </a:r>
          </a:p>
          <a:p>
            <a:pPr algn="l">
              <a:spcAft>
                <a:spcPts val="1000"/>
              </a:spcAft>
            </a:pPr>
            <a:r>
              <a:rPr sz="1700" b="0">
                <a:solidFill>
                  <a:srgbClr val="222222"/>
                </a:solidFill>
                <a:latin typeface="맑은 고딕"/>
              </a:rPr>
              <a:t>•  12:23:31 ocssd → 12:23:44 CRS-1601 멤버십 확정</a:t>
            </a:r>
          </a:p>
          <a:p>
            <a:pPr algn="l">
              <a:spcAft>
                <a:spcPts val="1000"/>
              </a:spcAft>
            </a:pPr>
            <a:r>
              <a:rPr sz="1700" b="0">
                <a:solidFill>
                  <a:srgbClr val="222222"/>
                </a:solidFill>
                <a:latin typeface="맑은 고딕"/>
              </a:rPr>
              <a:t>•  12:23:47 octssd → 12:23:56 CRS-5019 → 12:24:33 crsd → 12:24:38 CRS-1201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CRS-1601</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축출 조사의 첫 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CSSD Reconfiguration complete. Active nodes are rac1 rac2 .</a:t>
            </a:r>
          </a:p>
          <a:p>
            <a:pPr algn="l">
              <a:spcAft>
                <a:spcPts val="1000"/>
              </a:spcAft>
            </a:pPr>
            <a:r>
              <a:rPr sz="1700" b="0">
                <a:solidFill>
                  <a:srgbClr val="222222"/>
                </a:solidFill>
                <a:latin typeface="맑은 고딕"/>
              </a:rPr>
              <a:t>•  멤버십이 확정됐다는 뜻, 뒤의 목록이 그 결과</a:t>
            </a:r>
          </a:p>
          <a:p>
            <a:pPr algn="l">
              <a:spcAft>
                <a:spcPts val="1000"/>
              </a:spcAft>
            </a:pPr>
            <a:r>
              <a:rPr sz="1700" b="0">
                <a:solidFill>
                  <a:srgbClr val="222222"/>
                </a:solidFill>
                <a:latin typeface="맑은 고딕"/>
              </a:rPr>
              <a:t>•  노드가 들고 날 때마다 이 메시지가 남는다</a:t>
            </a:r>
          </a:p>
          <a:p>
            <a:pPr algn="l">
              <a:spcAft>
                <a:spcPts val="1000"/>
              </a:spcAft>
            </a:pPr>
            <a:r>
              <a:rPr sz="1700" b="0">
                <a:solidFill>
                  <a:srgbClr val="222222"/>
                </a:solidFill>
                <a:latin typeface="맑은 고딕"/>
              </a:rPr>
              <a:t>•  축출 사고를 조사할 때 가장 먼저 찾는 줄</a:t>
            </a:r>
          </a:p>
          <a:p>
            <a:pPr algn="l">
              <a:spcAft>
                <a:spcPts val="1000"/>
              </a:spcAft>
            </a:pPr>
            <a:r>
              <a:rPr sz="1700" b="0">
                <a:solidFill>
                  <a:srgbClr val="222222"/>
                </a:solidFill>
                <a:latin typeface="맑은 고딕"/>
              </a:rPr>
              <a:t>•  두 노드의 alert.log 를 시각 순으로 나란히 놓고 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CRS-5019</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오류처럼 보이지만 정상이다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All OCR locations are on ASM disk groups [CRS], and none are mounted</a:t>
            </a:r>
          </a:p>
          <a:p>
            <a:pPr algn="l">
              <a:spcAft>
                <a:spcPts val="1000"/>
              </a:spcAft>
            </a:pPr>
            <a:r>
              <a:rPr sz="1700" b="0">
                <a:solidFill>
                  <a:srgbClr val="222222"/>
                </a:solidFill>
                <a:latin typeface="맑은 고딕"/>
              </a:rPr>
              <a:t>•  OCR 이 ASM 안에 있는데 ASM 이 아직 안 떴다는 뜻</a:t>
            </a:r>
          </a:p>
          <a:p>
            <a:pPr algn="l">
              <a:spcAft>
                <a:spcPts val="1000"/>
              </a:spcAft>
            </a:pPr>
            <a:r>
              <a:rPr sz="1700" b="0">
                <a:solidFill>
                  <a:srgbClr val="222222"/>
                </a:solidFill>
                <a:latin typeface="맑은 고딕"/>
              </a:rPr>
              <a:t>•  부팅 과정의 과도기 메시지 — 곧 해소된다</a:t>
            </a:r>
          </a:p>
          <a:p>
            <a:pPr algn="l">
              <a:spcAft>
                <a:spcPts val="1000"/>
              </a:spcAft>
            </a:pPr>
            <a:r>
              <a:rPr sz="1700" b="0">
                <a:solidFill>
                  <a:srgbClr val="222222"/>
                </a:solidFill>
                <a:latin typeface="맑은 고딕"/>
              </a:rPr>
              <a:t>•  실측: 이 메시지 뒤 37초에 CRSD 기동</a:t>
            </a:r>
          </a:p>
          <a:p>
            <a:pPr algn="l">
              <a:spcAft>
                <a:spcPts val="1000"/>
              </a:spcAft>
            </a:pPr>
            <a:r>
              <a:rPr sz="1700" b="0">
                <a:solidFill>
                  <a:srgbClr val="222222"/>
                </a:solidFill>
                <a:latin typeface="맑은 고딕"/>
              </a:rPr>
              <a:t>•  이 줄 하나로 장애 판단을 하면 오히려 문제를 만든다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정지는 기동의 역순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의존 관계에서 도출된다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위층 자원(ons, network) → crsd → storage → asm → haip → cssd</a:t>
            </a:r>
          </a:p>
          <a:p>
            <a:pPr algn="l">
              <a:spcAft>
                <a:spcPts val="1000"/>
              </a:spcAft>
            </a:pPr>
            <a:r>
              <a:rPr sz="1700" b="0">
                <a:solidFill>
                  <a:srgbClr val="222222"/>
                </a:solidFill>
                <a:latin typeface="맑은 고딕"/>
              </a:rPr>
              <a:t>•  기동 때 cssd 가 가장 먼저였던 것과 정확히 반대</a:t>
            </a:r>
          </a:p>
          <a:p>
            <a:pPr algn="l">
              <a:spcAft>
                <a:spcPts val="1000"/>
              </a:spcAft>
            </a:pPr>
            <a:r>
              <a:rPr sz="1700" b="0">
                <a:solidFill>
                  <a:srgbClr val="222222"/>
                </a:solidFill>
                <a:latin typeface="맑은 고딕"/>
              </a:rPr>
              <a:t>•  Clusterware 가 자원별 의존 관계를 알고 순서를 스스로 정한다</a:t>
            </a:r>
          </a:p>
          <a:p>
            <a:pPr algn="l">
              <a:spcAft>
                <a:spcPts val="1000"/>
              </a:spcAft>
            </a:pPr>
            <a:r>
              <a:rPr sz="1700" b="0">
                <a:solidFill>
                  <a:srgbClr val="222222"/>
                </a:solidFill>
                <a:latin typeface="맑은 고딕"/>
              </a:rPr>
              <a:t>•  관리자가 순서를 지정하지 않는다</a:t>
            </a:r>
          </a:p>
          <a:p>
            <a:pPr algn="l">
              <a:spcAft>
                <a:spcPts val="1000"/>
              </a:spcAft>
            </a:pPr>
            <a:r>
              <a:rPr sz="1700" b="0">
                <a:solidFill>
                  <a:srgbClr val="222222"/>
                </a:solidFill>
                <a:latin typeface="맑은 고딕"/>
              </a:rPr>
              <a:t>•  실측 소요 — stop cluster 0.5분 / stop crs 2.6분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2.4-2.5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자원과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자원과 유형</a:t>
            </a:r>
          </a:p>
          <a:p>
            <a:pPr algn="l">
              <a:spcAft>
                <a:spcPts val="800"/>
              </a:spcAft>
            </a:pPr>
            <a:r>
              <a:rPr sz="1600" b="0">
                <a:solidFill>
                  <a:srgbClr val="FFFFFF"/>
                </a:solidFill>
                <a:latin typeface="맑은 고딕"/>
              </a:rPr>
              <a:t>•  ora. 접두어의 의미</a:t>
            </a:r>
          </a:p>
          <a:p>
            <a:pPr algn="l">
              <a:spcAft>
                <a:spcPts val="800"/>
              </a:spcAft>
            </a:pPr>
            <a:r>
              <a:rPr sz="1600" b="0">
                <a:solidFill>
                  <a:srgbClr val="FFFFFF"/>
                </a:solidFill>
                <a:latin typeface="맑은 고딕"/>
              </a:rPr>
              <a:t>•  자원 이동과 페일백</a:t>
            </a:r>
          </a:p>
          <a:p>
            <a:pPr algn="l">
              <a:spcAft>
                <a:spcPts val="800"/>
              </a:spcAft>
            </a:pPr>
            <a:r>
              <a:rPr sz="1600" b="0">
                <a:solidFill>
                  <a:srgbClr val="FFFFFF"/>
                </a:solidFill>
                <a:latin typeface="맑은 고딕"/>
              </a:rPr>
              <a:t>•  오류 코드로 계층 판별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자원과 유형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Clusterware 에게 세상은 자원의 집합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리스너도 VIP 도 디스크그룹도 데이터베이스도 모두 자원</a:t>
            </a:r>
          </a:p>
          <a:p>
            <a:pPr algn="l">
              <a:spcAft>
                <a:spcPts val="1000"/>
              </a:spcAft>
            </a:pPr>
            <a:r>
              <a:rPr sz="1700" b="0">
                <a:solidFill>
                  <a:srgbClr val="222222"/>
                </a:solidFill>
                <a:latin typeface="맑은 고딕"/>
              </a:rPr>
              <a:t>•  유형마다 기동·정지·점검 방법이 정의되어 있다</a:t>
            </a:r>
          </a:p>
          <a:p>
            <a:pPr algn="l">
              <a:spcAft>
                <a:spcPts val="1000"/>
              </a:spcAft>
            </a:pPr>
            <a:r>
              <a:rPr sz="1700" b="0">
                <a:solidFill>
                  <a:srgbClr val="222222"/>
                </a:solidFill>
                <a:latin typeface="맑은 고딕"/>
              </a:rPr>
              <a:t>•  기본 유형 넷 — application, cluster_resource, generic_application, local_resource</a:t>
            </a:r>
          </a:p>
          <a:p>
            <a:pPr algn="l">
              <a:spcAft>
                <a:spcPts val="1000"/>
              </a:spcAft>
            </a:pPr>
            <a:r>
              <a:rPr sz="1700" b="0">
                <a:solidFill>
                  <a:srgbClr val="222222"/>
                </a:solidFill>
                <a:latin typeface="맑은 고딕"/>
              </a:rPr>
              <a:t>•  그 위에 ora.database.type, ora.diskgroup.type 등 수십 가지</a:t>
            </a:r>
          </a:p>
          <a:p>
            <a:pPr algn="l">
              <a:spcAft>
                <a:spcPts val="1000"/>
              </a:spcAft>
            </a:pPr>
            <a:r>
              <a:rPr sz="1700" b="0">
                <a:solidFill>
                  <a:srgbClr val="222222"/>
                </a:solidFill>
                <a:latin typeface="맑은 고딕"/>
              </a:rPr>
              <a:t>•  local_resource 는 노드마다, cluster_resource 는 개수가 정해진다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 접두어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단순한 관례가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 가 붙으면 Oracle 이 정의한 자원</a:t>
            </a:r>
          </a:p>
          <a:p>
            <a:pPr algn="l">
              <a:spcAft>
                <a:spcPts val="1000"/>
              </a:spcAft>
            </a:pPr>
            <a:r>
              <a:rPr sz="1700" b="0">
                <a:solidFill>
                  <a:srgbClr val="222222"/>
                </a:solidFill>
                <a:latin typeface="맑은 고딕"/>
              </a:rPr>
              <a:t>•  사용자가 만든 자원에는 붙이지 않는다</a:t>
            </a:r>
          </a:p>
          <a:p>
            <a:pPr algn="l">
              <a:spcAft>
                <a:spcPts val="1000"/>
              </a:spcAft>
            </a:pPr>
            <a:r>
              <a:rPr sz="1700" b="0">
                <a:solidFill>
                  <a:srgbClr val="222222"/>
                </a:solidFill>
                <a:latin typeface="맑은 고딕"/>
              </a:rPr>
              <a:t>•  ora. 자원의 기동·정지는 srvctl 이 원칙</a:t>
            </a:r>
          </a:p>
          <a:p>
            <a:pPr algn="l">
              <a:spcAft>
                <a:spcPts val="1000"/>
              </a:spcAft>
            </a:pPr>
            <a:r>
              <a:rPr sz="1700" b="0">
                <a:solidFill>
                  <a:srgbClr val="222222"/>
                </a:solidFill>
                <a:latin typeface="맑은 고딕"/>
              </a:rPr>
              <a:t>•  crsctl 로 직접 다루면 의존 관계와 서비스 재배치를 건너뛴다</a:t>
            </a:r>
          </a:p>
          <a:p>
            <a:pPr algn="l">
              <a:spcAft>
                <a:spcPts val="1000"/>
              </a:spcAft>
            </a:pPr>
            <a:r>
              <a:rPr sz="1700" b="0">
                <a:solidFill>
                  <a:srgbClr val="222222"/>
                </a:solidFill>
                <a:latin typeface="맑은 고딕"/>
              </a:rPr>
              <a:t>•  generic_application 으로 사내 데몬도 등록할 수 있다(14장)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자원은 노드 사이를 옮겨 다닌다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정지 전 — ora.cvu, ora.qosmserver, ora.scan1.vip 모두 rac2</a:t>
            </a:r>
          </a:p>
          <a:p>
            <a:pPr algn="l">
              <a:spcAft>
                <a:spcPts val="1000"/>
              </a:spcAft>
            </a:pPr>
            <a:r>
              <a:rPr sz="1700" b="0">
                <a:solidFill>
                  <a:srgbClr val="222222"/>
                </a:solidFill>
                <a:latin typeface="맑은 고딕"/>
              </a:rPr>
              <a:t>•  rac2 정지 후 — 셋 다 rac1 으로 이동</a:t>
            </a:r>
          </a:p>
          <a:p>
            <a:pPr algn="l">
              <a:spcAft>
                <a:spcPts val="1000"/>
              </a:spcAft>
            </a:pPr>
            <a:r>
              <a:rPr sz="1700" b="0">
                <a:solidFill>
                  <a:srgbClr val="222222"/>
                </a:solidFill>
                <a:latin typeface="맑은 고딕"/>
              </a:rPr>
              <a:t>•  클러스터에 하나만 필요한 자원이므로 살아 있는 노드로 간다</a:t>
            </a:r>
          </a:p>
          <a:p>
            <a:pPr algn="l">
              <a:spcAft>
                <a:spcPts val="1000"/>
              </a:spcAft>
            </a:pPr>
            <a:r>
              <a:rPr sz="1700" b="0">
                <a:solidFill>
                  <a:srgbClr val="222222"/>
                </a:solidFill>
                <a:latin typeface="맑은 고딕"/>
              </a:rPr>
              <a:t>•  rac2 를 되살려도 돌아오지 않는다 — 페일백이 없다</a:t>
            </a:r>
          </a:p>
          <a:p>
            <a:pPr algn="l">
              <a:spcAft>
                <a:spcPts val="1000"/>
              </a:spcAft>
            </a:pPr>
            <a:r>
              <a:rPr sz="1700" b="0">
                <a:solidFill>
                  <a:srgbClr val="222222"/>
                </a:solidFill>
                <a:latin typeface="맑은 고딕"/>
              </a:rPr>
              <a:t>•  되돌리려면 srvctl relocate 로 직접 옮긴다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코드로 계층을 판별한다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 대응표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CRS-4639 — ohasd 에 닿지 못함. 스택 전체가 내려가 있다</a:t>
            </a:r>
          </a:p>
          <a:p>
            <a:pPr algn="l">
              <a:spcAft>
                <a:spcPts val="1000"/>
              </a:spcAft>
            </a:pPr>
            <a:r>
              <a:rPr sz="1700" b="0">
                <a:solidFill>
                  <a:srgbClr val="222222"/>
                </a:solidFill>
                <a:latin typeface="맑은 고딕"/>
              </a:rPr>
              <a:t>•  CRS-4535 — crsd 에 닿지 못함. ohasd 는 살아 있을 수 있다</a:t>
            </a:r>
          </a:p>
          <a:p>
            <a:pPr algn="l">
              <a:spcAft>
                <a:spcPts val="1000"/>
              </a:spcAft>
            </a:pPr>
            <a:r>
              <a:rPr sz="1700" b="0">
                <a:solidFill>
                  <a:srgbClr val="222222"/>
                </a:solidFill>
                <a:latin typeface="맑은 고딕"/>
              </a:rPr>
              <a:t>•  CRS-4530 — ocssd 에 닿지 못함 / CRS-4534 — evmd 에 닿지 못함</a:t>
            </a:r>
          </a:p>
          <a:p>
            <a:pPr algn="l">
              <a:spcAft>
                <a:spcPts val="1000"/>
              </a:spcAft>
            </a:pPr>
            <a:r>
              <a:rPr sz="1700" b="0">
                <a:solidFill>
                  <a:srgbClr val="222222"/>
                </a:solidFill>
                <a:latin typeface="맑은 고딕"/>
              </a:rPr>
              <a:t>•  PRKH-1010, PRKH-3003 — srvctl 이 CSS 와 통신 실패</a:t>
            </a:r>
          </a:p>
          <a:p>
            <a:pPr algn="l">
              <a:spcAft>
                <a:spcPts val="1000"/>
              </a:spcAft>
            </a:pPr>
            <a:r>
              <a:rPr sz="1700" b="0">
                <a:solidFill>
                  <a:srgbClr val="222222"/>
                </a:solidFill>
                <a:latin typeface="맑은 고딕"/>
              </a:rPr>
              <a:t>•  PRCO-19, PRCO-2 — olsnodes 가 클러스터와 통신 실패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다른 노드에서 확인한다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진단의 철칙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노드에서 명령이 실패하면 반드시 다른 노드에서 확인</a:t>
            </a:r>
          </a:p>
          <a:p>
            <a:pPr algn="l">
              <a:spcAft>
                <a:spcPts val="1000"/>
              </a:spcAft>
            </a:pPr>
            <a:r>
              <a:rPr sz="1700" b="0">
                <a:solidFill>
                  <a:srgbClr val="222222"/>
                </a:solidFill>
                <a:latin typeface="맑은 고딕"/>
              </a:rPr>
              <a:t>•  olsnodes -s 한 번이면 범위가 확정된다</a:t>
            </a:r>
          </a:p>
          <a:p>
            <a:pPr algn="l">
              <a:spcAft>
                <a:spcPts val="1000"/>
              </a:spcAft>
            </a:pPr>
            <a:r>
              <a:rPr sz="1700" b="0">
                <a:solidFill>
                  <a:srgbClr val="222222"/>
                </a:solidFill>
                <a:latin typeface="맑은 고딕"/>
              </a:rPr>
              <a:t>•  rac1 Active / rac2 Inactive → 그 노드만의 문제</a:t>
            </a:r>
          </a:p>
          <a:p>
            <a:pPr algn="l">
              <a:spcAft>
                <a:spcPts val="1000"/>
              </a:spcAft>
            </a:pPr>
            <a:r>
              <a:rPr sz="1700" b="0">
                <a:solidFill>
                  <a:srgbClr val="222222"/>
                </a:solidFill>
                <a:latin typeface="맑은 고딕"/>
              </a:rPr>
              <a:t>•  다른 노드에서도 실패 → 클러스터 전체 문제, 대응이 완전히 달라진다</a:t>
            </a:r>
          </a:p>
          <a:p>
            <a:pPr algn="l">
              <a:spcAft>
                <a:spcPts val="1000"/>
              </a:spcAft>
            </a:pPr>
            <a:r>
              <a:rPr sz="1700" b="0">
                <a:solidFill>
                  <a:srgbClr val="222222"/>
                </a:solidFill>
                <a:latin typeface="맑은 고딕"/>
              </a:rPr>
              <a:t>•  같은 노드에서 같은 명령을 반복하는 것은 시간 낭비다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2.6-2.7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로그와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ADR 구조와 로그 위치</a:t>
            </a:r>
          </a:p>
          <a:p>
            <a:pPr algn="l">
              <a:spcAft>
                <a:spcPts val="800"/>
              </a:spcAft>
            </a:pPr>
            <a:r>
              <a:rPr sz="1600" b="0">
                <a:solidFill>
                  <a:srgbClr val="FFFFFF"/>
                </a:solidFill>
                <a:latin typeface="맑은 고딕"/>
              </a:rPr>
              <a:t>•  문제별로 볼 곳</a:t>
            </a:r>
          </a:p>
          <a:p>
            <a:pPr algn="l">
              <a:spcAft>
                <a:spcPts val="800"/>
              </a:spcAft>
            </a:pPr>
            <a:r>
              <a:rPr sz="1600" b="0">
                <a:solidFill>
                  <a:srgbClr val="FFFFFF"/>
                </a:solidFill>
                <a:latin typeface="맑은 고딕"/>
              </a:rPr>
              <a:t>•  자동 기동 설정</a:t>
            </a:r>
          </a:p>
          <a:p>
            <a:pPr algn="l">
              <a:spcAft>
                <a:spcPts val="800"/>
              </a:spcAft>
            </a:pPr>
            <a:r>
              <a:rPr sz="1600" b="0">
                <a:solidFill>
                  <a:srgbClr val="FFFFFF"/>
                </a:solidFill>
                <a:latin typeface="맑은 고딕"/>
              </a:rPr>
              <a:t>•  CSS 축출 파라미터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adrci 가 지도를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adrci exec="show homes" 로 전체 목록</a:t>
            </a:r>
          </a:p>
          <a:p>
            <a:pPr algn="l">
              <a:spcAft>
                <a:spcPts val="1000"/>
              </a:spcAft>
            </a:pPr>
            <a:r>
              <a:rPr sz="1700" b="0">
                <a:solidFill>
                  <a:srgbClr val="222222"/>
                </a:solidFill>
                <a:latin typeface="맑은 고딕"/>
              </a:rPr>
              <a:t>•  Clusterware — diag/crs/&lt;노드&gt;/crs/trace/alert.log</a:t>
            </a:r>
          </a:p>
          <a:p>
            <a:pPr algn="l">
              <a:spcAft>
                <a:spcPts val="1000"/>
              </a:spcAft>
            </a:pPr>
            <a:r>
              <a:rPr sz="1700" b="0">
                <a:solidFill>
                  <a:srgbClr val="222222"/>
                </a:solidFill>
                <a:latin typeface="맑은 고딕"/>
              </a:rPr>
              <a:t>•  ASM — diag/asm/+asm/+ASM&lt;n&gt;/trace/</a:t>
            </a:r>
          </a:p>
          <a:p>
            <a:pPr algn="l">
              <a:spcAft>
                <a:spcPts val="1000"/>
              </a:spcAft>
            </a:pPr>
            <a:r>
              <a:rPr sz="1700" b="0">
                <a:solidFill>
                  <a:srgbClr val="222222"/>
                </a:solidFill>
                <a:latin typeface="맑은 고딕"/>
              </a:rPr>
              <a:t>•  리스너·SCAN 리스너 — diag/tnslsnr/&lt;노드&gt;/...</a:t>
            </a:r>
          </a:p>
          <a:p>
            <a:pPr algn="l">
              <a:spcAft>
                <a:spcPts val="1000"/>
              </a:spcAft>
            </a:pPr>
            <a:r>
              <a:rPr sz="1700" b="0">
                <a:solidFill>
                  <a:srgbClr val="222222"/>
                </a:solidFill>
                <a:latin typeface="맑은 고딕"/>
              </a:rPr>
              <a:t>•  사람이 먼저 읽을 것은 alert.log 하나다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 경로는 외우지 말고 확인한다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이름이 들어간다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계정에서 echo $ORACLE_BASE → /u01/app/grid</a:t>
            </a:r>
          </a:p>
          <a:p>
            <a:pPr algn="l">
              <a:spcAft>
                <a:spcPts val="1000"/>
              </a:spcAft>
            </a:pPr>
            <a:r>
              <a:rPr sz="1700" b="0">
                <a:solidFill>
                  <a:srgbClr val="222222"/>
                </a:solidFill>
                <a:latin typeface="맑은 고딕"/>
              </a:rPr>
              <a:t>•  그 아래 diag/crs/$(hostname -s)/crs/trace</a:t>
            </a:r>
          </a:p>
          <a:p>
            <a:pPr algn="l">
              <a:spcAft>
                <a:spcPts val="1000"/>
              </a:spcAft>
            </a:pPr>
            <a:r>
              <a:rPr sz="1700" b="0">
                <a:solidFill>
                  <a:srgbClr val="222222"/>
                </a:solidFill>
                <a:latin typeface="맑은 고딕"/>
              </a:rPr>
              <a:t>•  노드 이름이 경로에 들어가므로 엉뚱한 노드를 보는 실수를 막는다</a:t>
            </a:r>
          </a:p>
          <a:p>
            <a:pPr algn="l">
              <a:spcAft>
                <a:spcPts val="1000"/>
              </a:spcAft>
            </a:pPr>
            <a:r>
              <a:rPr sz="1700" b="0">
                <a:solidFill>
                  <a:srgbClr val="222222"/>
                </a:solidFill>
                <a:latin typeface="맑은 고딕"/>
              </a:rPr>
              <a:t>•  축출 조사는 두 노드의 alert.log 를 시각 순으로 나란히 놓고 본다</a:t>
            </a:r>
          </a:p>
          <a:p>
            <a:pPr algn="l">
              <a:spcAft>
                <a:spcPts val="1000"/>
              </a:spcAft>
            </a:pPr>
            <a:r>
              <a:rPr sz="1700" b="0">
                <a:solidFill>
                  <a:srgbClr val="222222"/>
                </a:solidFill>
                <a:latin typeface="맑은 고딕"/>
              </a:rPr>
              <a:t>•  두 파일을 한 화면에 놓는 것이 기본 방법이다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기동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잊으면 노드가 조용히 빠진다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config crs — 조회에도 root 가 필요하다(grid 는 CRS-4563)</a:t>
            </a:r>
          </a:p>
          <a:p>
            <a:pPr algn="l">
              <a:spcAft>
                <a:spcPts val="1000"/>
              </a:spcAft>
            </a:pPr>
            <a:r>
              <a:rPr sz="1700" b="0">
                <a:solidFill>
                  <a:srgbClr val="222222"/>
                </a:solidFill>
                <a:latin typeface="맑은 고딕"/>
              </a:rPr>
              <a:t>•  CRS-4622 enabled / CRS-4621 disabled</a:t>
            </a:r>
          </a:p>
          <a:p>
            <a:pPr algn="l">
              <a:spcAft>
                <a:spcPts val="1000"/>
              </a:spcAft>
            </a:pPr>
            <a:r>
              <a:rPr sz="1700" b="0">
                <a:solidFill>
                  <a:srgbClr val="222222"/>
                </a:solidFill>
                <a:latin typeface="맑은 고딕"/>
              </a:rPr>
              <a:t>•  crsctl disable crs — OS 패치처럼 재부팅이 잦은 작업 전에</a:t>
            </a:r>
          </a:p>
          <a:p>
            <a:pPr algn="l">
              <a:spcAft>
                <a:spcPts val="1000"/>
              </a:spcAft>
            </a:pPr>
            <a:r>
              <a:rPr sz="1700" b="0">
                <a:solidFill>
                  <a:srgbClr val="222222"/>
                </a:solidFill>
                <a:latin typeface="맑은 고딕"/>
              </a:rPr>
              <a:t>•  crsctl enable crs — 작업 후 반드시 되돌린다</a:t>
            </a:r>
          </a:p>
          <a:p>
            <a:pPr algn="l">
              <a:spcAft>
                <a:spcPts val="1000"/>
              </a:spcAft>
            </a:pPr>
            <a:r>
              <a:rPr sz="1700" b="0">
                <a:solidFill>
                  <a:srgbClr val="222222"/>
                </a:solidFill>
                <a:latin typeface="맑은 고딕"/>
              </a:rPr>
              <a:t>•  되돌리지 않으면 다음 재부팅 때 오류 없이 조용히 빠진다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CSS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노드를 죽이는가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misscount 30초 — 인터커넥트 하트비트가 끊긴 것으로 판단하는 시간</a:t>
            </a:r>
          </a:p>
          <a:p>
            <a:pPr algn="l">
              <a:spcAft>
                <a:spcPts val="1000"/>
              </a:spcAft>
            </a:pPr>
            <a:r>
              <a:rPr sz="1700" b="0">
                <a:solidFill>
                  <a:srgbClr val="222222"/>
                </a:solidFill>
                <a:latin typeface="맑은 고딕"/>
              </a:rPr>
              <a:t>•  disktimeout 200초 — 보팅 파일 I/O 응답을 기다리는 시간</a:t>
            </a:r>
          </a:p>
          <a:p>
            <a:pPr algn="l">
              <a:spcAft>
                <a:spcPts val="1000"/>
              </a:spcAft>
            </a:pPr>
            <a:r>
              <a:rPr sz="1700" b="0">
                <a:solidFill>
                  <a:srgbClr val="222222"/>
                </a:solidFill>
                <a:latin typeface="맑은 고딕"/>
              </a:rPr>
              <a:t>•  reboottime 3초 — 축출 결정 후 재부팅까지</a:t>
            </a:r>
          </a:p>
          <a:p>
            <a:pPr algn="l">
              <a:spcAft>
                <a:spcPts val="1000"/>
              </a:spcAft>
            </a:pPr>
            <a:r>
              <a:rPr sz="1700" b="0">
                <a:solidFill>
                  <a:srgbClr val="222222"/>
                </a:solidFill>
                <a:latin typeface="맑은 고딕"/>
              </a:rPr>
              <a:t>•  왜 네트워크는 30초, 디스크는 200초인가</a:t>
            </a:r>
          </a:p>
          <a:p>
            <a:pPr algn="l">
              <a:spcAft>
                <a:spcPts val="1000"/>
              </a:spcAft>
            </a:pPr>
            <a:r>
              <a:rPr sz="1700" b="0">
                <a:solidFill>
                  <a:srgbClr val="222222"/>
                </a:solidFill>
                <a:latin typeface="맑은 고딕"/>
              </a:rPr>
              <a:t>•  스토리지는 일시 지연이 흔하고 경로 전환에 시간이 걸린다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스택은 둘 — OHAS(ohasd, OLR) 와 CRS(crsd, OCR). 위층은 아래층의 자원 하나</a:t>
            </a:r>
          </a:p>
          <a:p>
            <a:pPr algn="l">
              <a:spcAft>
                <a:spcPts val="1000"/>
              </a:spcAft>
            </a:pPr>
            <a:r>
              <a:rPr sz="1600" b="0">
                <a:solidFill>
                  <a:srgbClr val="222222"/>
                </a:solidFill>
                <a:latin typeface="맑은 고딕"/>
              </a:rPr>
              <a:t>•  OLR 은 로컬 파일, OCR 은 ASM 안 — 그래서 부팅 순서가 정해진다</a:t>
            </a:r>
          </a:p>
          <a:p>
            <a:pPr algn="l">
              <a:spcAft>
                <a:spcPts val="1000"/>
              </a:spcAft>
            </a:pPr>
            <a:r>
              <a:rPr sz="1600" b="0">
                <a:solidFill>
                  <a:srgbClr val="222222"/>
                </a:solidFill>
                <a:latin typeface="맑은 고딕"/>
              </a:rPr>
              <a:t>•  check has 와 -init 은 OHAS 에게, 나머지는 위층에게 묻는다</a:t>
            </a:r>
          </a:p>
          <a:p>
            <a:pPr algn="l">
              <a:spcAft>
                <a:spcPts val="1000"/>
              </a:spcAft>
            </a:pPr>
            <a:r>
              <a:rPr sz="1600" b="0">
                <a:solidFill>
                  <a:srgbClr val="222222"/>
                </a:solidFill>
                <a:latin typeface="맑은 고딕"/>
              </a:rPr>
              <a:t>•  stop cluster 는 CRS 계층만(0.5분), stop crs 는 전체(2.6분), CRS-4133 으로 구별</a:t>
            </a:r>
          </a:p>
          <a:p>
            <a:pPr algn="l">
              <a:spcAft>
                <a:spcPts val="1000"/>
              </a:spcAft>
            </a:pPr>
            <a:r>
              <a:rPr sz="1600" b="0">
                <a:solidFill>
                  <a:srgbClr val="222222"/>
                </a:solidFill>
                <a:latin typeface="맑은 고딕"/>
              </a:rPr>
              <a:t>•  재부팅 권한이 필요한 프로세스는 root, 나머지는 grid</a:t>
            </a:r>
          </a:p>
          <a:p>
            <a:pPr algn="l">
              <a:spcAft>
                <a:spcPts val="1000"/>
              </a:spcAft>
            </a:pPr>
            <a:r>
              <a:rPr sz="1600" b="0">
                <a:solidFill>
                  <a:srgbClr val="222222"/>
                </a:solidFill>
                <a:latin typeface="맑은 고딕"/>
              </a:rPr>
              <a:t>•  cssdagent 와 cssdmonitor 는 감시자 — 죽이면 노드가 재부팅된다</a:t>
            </a:r>
          </a:p>
          <a:p>
            <a:pPr algn="l">
              <a:spcAft>
                <a:spcPts val="1000"/>
              </a:spcAft>
            </a:pPr>
            <a:r>
              <a:rPr sz="1600" b="0">
                <a:solidFill>
                  <a:srgbClr val="222222"/>
                </a:solidFill>
                <a:latin typeface="맑은 고딕"/>
              </a:rPr>
              <a:t>•  기동 순서 ohasd → OLR → ocssd → CRS-1601 → ASM → crsd, 실측 86초</a:t>
            </a:r>
          </a:p>
          <a:p>
            <a:pPr algn="l">
              <a:spcAft>
                <a:spcPts val="1000"/>
              </a:spcAft>
            </a:pPr>
            <a:r>
              <a:rPr sz="1600" b="0">
                <a:solidFill>
                  <a:srgbClr val="222222"/>
                </a:solidFill>
                <a:latin typeface="맑은 고딕"/>
              </a:rPr>
              <a:t>•  CRS-5019 는 부팅 중 정상 과도기 메시지</a:t>
            </a:r>
          </a:p>
          <a:p>
            <a:pPr algn="l">
              <a:spcAft>
                <a:spcPts val="1000"/>
              </a:spcAft>
            </a:pPr>
            <a:r>
              <a:rPr sz="1600" b="0">
                <a:solidFill>
                  <a:srgbClr val="222222"/>
                </a:solidFill>
                <a:latin typeface="맑은 고딕"/>
              </a:rPr>
              <a:t>•  CRS-4639 는 ohasd, CRS-4535 는 crsd 에 닿지 못한 것</a:t>
            </a:r>
          </a:p>
          <a:p>
            <a:pPr algn="l">
              <a:spcAft>
                <a:spcPts val="1000"/>
              </a:spcAft>
            </a:pPr>
            <a:r>
              <a:rPr sz="1600" b="0">
                <a:solidFill>
                  <a:srgbClr val="222222"/>
                </a:solidFill>
                <a:latin typeface="맑은 고딕"/>
              </a:rPr>
              <a:t>•  자원은 옮겨 가지만 돌아오지 않는다 — 페일백 없음</a:t>
            </a:r>
          </a:p>
          <a:p>
            <a:pPr algn="l">
              <a:spcAft>
                <a:spcPts val="1000"/>
              </a:spcAft>
            </a:pPr>
            <a:r>
              <a:rPr sz="1600" b="0">
                <a:solidFill>
                  <a:srgbClr val="222222"/>
                </a:solidFill>
                <a:latin typeface="맑은 고딕"/>
              </a:rPr>
              <a:t>•  자동 기동을 disable 한 채 잊으면 노드가 조용히 빠진다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check has 는 online 인데 check crs 는 CRS-4535 다. 어느 계층이 죽었고 무엇으로 조회하나</a:t>
            </a:r>
          </a:p>
          <a:p>
            <a:pPr algn="l">
              <a:spcAft>
                <a:spcPts val="1000"/>
              </a:spcAft>
            </a:pPr>
            <a:r>
              <a:rPr sz="1600" b="0">
                <a:solidFill>
                  <a:srgbClr val="222222"/>
                </a:solidFill>
                <a:latin typeface="맑은 고딕"/>
              </a:rPr>
              <a:t>•  Q2. stop cluster 와 stop crs 를 정지 출력만으로 구별하려면 무엇을 보나</a:t>
            </a:r>
          </a:p>
          <a:p>
            <a:pPr algn="l">
              <a:spcAft>
                <a:spcPts val="1000"/>
              </a:spcAft>
            </a:pPr>
            <a:r>
              <a:rPr sz="1600" b="0">
                <a:solidFill>
                  <a:srgbClr val="222222"/>
                </a:solidFill>
                <a:latin typeface="맑은 고딕"/>
              </a:rPr>
              <a:t>•  Q3. 부팅 로그의 CRS-5019 는 조치가 필요한가</a:t>
            </a:r>
          </a:p>
          <a:p>
            <a:pPr algn="l">
              <a:spcAft>
                <a:spcPts val="1000"/>
              </a:spcAft>
            </a:pPr>
            <a:r>
              <a:rPr sz="1600" b="0">
                <a:solidFill>
                  <a:srgbClr val="222222"/>
                </a:solidFill>
                <a:latin typeface="맑은 고딕"/>
              </a:rPr>
              <a:t>•  Q4. cssdmonitor 를 종료하면 어떤 일이 일어나는가</a:t>
            </a:r>
          </a:p>
          <a:p>
            <a:pPr algn="l">
              <a:spcAft>
                <a:spcPts val="1000"/>
              </a:spcAft>
            </a:pPr>
            <a:r>
              <a:rPr sz="1600" b="0">
                <a:solidFill>
                  <a:srgbClr val="222222"/>
                </a:solidFill>
                <a:latin typeface="맑은 고딕"/>
              </a:rPr>
              <a:t>•  Q5. 옮겨 간 SCAN VIP 는 노드가 돌아오면 자동으로 복귀하는가</a:t>
            </a:r>
          </a:p>
          <a:p>
            <a:pPr algn="l">
              <a:spcAft>
                <a:spcPts val="1000"/>
              </a:spcAft>
            </a:pPr>
            <a:r>
              <a:rPr sz="1600" b="0">
                <a:solidFill>
                  <a:srgbClr val="222222"/>
                </a:solidFill>
                <a:latin typeface="맑은 고딕"/>
              </a:rPr>
              <a:t>•  Q6. crsd 가 ocssd 보다 늦게 뜨는 구조적 이유는 무엇인가</a:t>
            </a:r>
          </a:p>
          <a:p>
            <a:pPr algn="l">
              <a:spcAft>
                <a:spcPts val="1000"/>
              </a:spcAft>
            </a:pPr>
            <a:r>
              <a:rPr sz="1600" b="0">
                <a:solidFill>
                  <a:srgbClr val="222222"/>
                </a:solidFill>
                <a:latin typeface="맑은 고딕"/>
              </a:rPr>
              <a:t>•  Q7. 한 노드에서 srvctl 이 PRKH-1010 으로 실패했다. 다음에 무엇을 하나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Clusterware 프로세스 식별 — ps, systemd 진입점, 역할, 25분</a:t>
            </a:r>
          </a:p>
          <a:p>
            <a:pPr algn="l">
              <a:spcAft>
                <a:spcPts val="1000"/>
              </a:spcAft>
            </a:pPr>
            <a:r>
              <a:rPr sz="1600" b="0">
                <a:solidFill>
                  <a:srgbClr val="222222"/>
                </a:solidFill>
                <a:latin typeface="맑은 고딕"/>
              </a:rPr>
              <a:t>•  02 두 스택의 구분 — check has/crs, -init, OLR 과 OCR, 20분</a:t>
            </a:r>
          </a:p>
          <a:p>
            <a:pPr algn="l">
              <a:spcAft>
                <a:spcPts val="1000"/>
              </a:spcAft>
            </a:pPr>
            <a:r>
              <a:rPr sz="1600" b="0">
                <a:solidFill>
                  <a:srgbClr val="222222"/>
                </a:solidFill>
                <a:latin typeface="맑은 고딕"/>
              </a:rPr>
              <a:t>•  03 자원 개념과 유형 — status resource, ora. 접두어, 25분</a:t>
            </a:r>
          </a:p>
          <a:p>
            <a:pPr algn="l">
              <a:spcAft>
                <a:spcPts val="1000"/>
              </a:spcAft>
            </a:pPr>
            <a:r>
              <a:rPr sz="1600" b="0">
                <a:solidFill>
                  <a:srgbClr val="222222"/>
                </a:solidFill>
                <a:latin typeface="맑은 고딕"/>
              </a:rPr>
              <a:t>•  04 기동 순서 추적 — alert.log, CRS-1601 과 CRS-5019, 두 노드, 35분</a:t>
            </a:r>
          </a:p>
          <a:p>
            <a:pPr algn="l">
              <a:spcAft>
                <a:spcPts val="1000"/>
              </a:spcAft>
            </a:pPr>
            <a:r>
              <a:rPr sz="1600" b="0">
                <a:solidFill>
                  <a:srgbClr val="222222"/>
                </a:solidFill>
                <a:latin typeface="맑은 고딕"/>
              </a:rPr>
              <a:t>•  05 정지 시 오류 재현 — stop cluster 대 stop crs, 오류 코드, 두 노드, 40분</a:t>
            </a:r>
          </a:p>
          <a:p>
            <a:pPr algn="l">
              <a:spcAft>
                <a:spcPts val="1000"/>
              </a:spcAft>
            </a:pPr>
            <a:r>
              <a:rPr sz="1600" b="0">
                <a:solidFill>
                  <a:srgbClr val="222222"/>
                </a:solidFill>
                <a:latin typeface="맑은 고딕"/>
              </a:rPr>
              <a:t>•  06 로그 위치 확인 — adrci show homes, 문제별 볼 곳, 20분</a:t>
            </a:r>
          </a:p>
          <a:p>
            <a:pPr algn="l">
              <a:spcAft>
                <a:spcPts val="1000"/>
              </a:spcAft>
            </a:pPr>
            <a:r>
              <a:rPr sz="1600" b="0">
                <a:solidFill>
                  <a:srgbClr val="222222"/>
                </a:solidFill>
                <a:latin typeface="맑은 고딕"/>
              </a:rPr>
              <a:t>•  07 자동 기동과 CSS 파라미터 — config/enable/disable, misscount, 25분</a:t>
            </a:r>
          </a:p>
          <a:p>
            <a:pPr algn="l">
              <a:spcAft>
                <a:spcPts val="1000"/>
              </a:spcAft>
            </a:pPr>
            <a:r>
              <a:rPr sz="1600" b="0">
                <a:solidFill>
                  <a:srgbClr val="222222"/>
                </a:solidFill>
                <a:latin typeface="맑은 고딕"/>
              </a:rPr>
              <a:t>•  04·05 는 Clusterware 를 정지한다. rac2 에서만 수행하고 반드시 복구를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
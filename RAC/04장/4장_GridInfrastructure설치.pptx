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무인 설치의 대가입니다. GUI 는 잘못된 값을 입력하면 다음으로 넘어가지 못하게 막지만, 무인 설치는 실행한 뒤에야 실패합니다. 그래서 응답 파일을 작성한 뒤 값을 한 번 눈으로 확인하는 절차가 필요합니다. 특히 인터페이스 이름과 디스크 경로처럼 환경마다 다른 값은 실제 시스템에서 확인한 값을 넣었는지 대조해야 합니다. 특히 인터페이스 이름과 디스크 경로처럼 환경마다 다른 값은 실제 시스템에서 확인한 값을 넣었는지 대조해야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항목이 서른 개 가까이 되어 압도되기 쉽습니다. 성격별로 묶으면 실제로 판단이 필요한 것은 몇 개 안 됩니다. 나머지는 환경 값을 그대로 옮겨 적는 것입니다. 판단이 필요한 항목은 디스크그룹 이중화, GIMR 사용 여부, rootScript 자동 실행 여부 정도입니다. 이 셋만 정하면 나머지는 3장에서 확인한 값을 채우면 됩니다. 이 셋만 정하면 나머지는 3장에서 확인한 값을 그대로 채우면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disksWithFailureGroupNames 의 연속 쉼표가 오타처럼 보여 고치는 경우가 있습니다. 디스크와 장애 그룹 이름을 쌍으로 적는 형식이고 이름을 비우면 자동 배정에 맡긴다는 뜻입니다. redundancy 를 NORMAL 로 하는 이유도 분명히 짚어 주십시오. 보팅 파일 개수가 여기서 결정되며 5장의 내용과 직결됩니다. redundancy 를 NORMAL 로 하는 이유도 분명히 짚어 주십시오. 보팅 파일 개수가 여기서 결정되며 5장 내용과 직결됩니다.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11g 에서는 stage 에 풀고 runInstaller 를 실행하면 설치 관리자가 지정한 홈으로 복사해 주었습니다. 12c 부터 바뀌었습니다. 이 차이를 모르면 준비 단계에서 디렉터리를 잘못 만들고 나중에 되돌려야 합니다. 3장의 준비 절차에 홈 디렉터리 생성과 소유권 부여가 들어 있는 이유가 이것입니다. 이 차이를 모르면 준비 단계에서 디렉터리를 잘못 만들고 나중에 되돌려야 합니다. 3장 준비 절차에 홈 생성과 소유권 부여가 들어 있는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줄이 4.3 절 전체의 근거입니다. Oracle 이 직접 순서를 명시하고 있습니다. 첫 노드는 단독으로, 나머지는 그 뒤에 병렬로 실행할 수 있다는 뜻입니다. 2노드에서는 결국 순차 실행이 됩니다. 이 문장을 수강생이 자기 눈으로 읽게 하는 것이 설명보다 효과적입니다. 첫 노드는 단독으로, 나머지는 그 뒤에 병렬로 실행할 수 있다는 뜻입니다. 2노드에서는 결국 순차 실행이 됩니다. 이 문장을 수강생이 자기 눈으로 읽게 하는 것이 설명보다 효과적입니다.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원격 작업에서 매우 실용적인 부분입니다. 세션을 붙들고 기다리다 끊기면 다시 실행해야 하는지 판단하기 어려워집니다. 이미 진행 중인데 다시 실행하면 상태가 엉킵니다. 폴링 방식은 이 위험을 없앱니다. 실측 시간표는 작업 창을 잡을 때 참고 자료로 쓰라고 안내하십시오. 하드웨어에 따라 달라지므로 비율을 보게 합니다. 이미 진행 중인데 다시 실행하면 상태가 엉킵니다. 폴링 방식은 이 위험을 없앱니다. 실측 시간표는 작업 창을 잡을 때 참고 자료로 쓰게 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 소요 시간이 이 차이를 그대로 보여 줍니다. rac1 은 6.0분, rac2 는 1.9분입니다. 3배 이상 차이가 나는 이유가 초기화 작업의 유무입니다. 수강생에게 이 숫자를 먼저 보여 주고 왜 차이가 나겠느냐고 물어보면 스스로 답에 도달합니다. 그다음 출력의 보팅 파일 생성 부분을 함께 읽으면 확실해집니다. 수강생에게 이 숫자를 먼저 보여 주고 왜 차이가 나겠느냐고 물어보면 스스로 답에 도달합니다. 그다음 출력의 보팅 파일 생성 부분을 함께 읽으면 확실해집니다.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Universal Id 라는 긴 16진수가 보팅 파일마다 붙습니다. 5장에서 다시 보게 되므로 여기서 존재만 알려 주십시오. 그리고 마지막 줄 확인을 반드시 강조하십시오. 스크립트를 두 창에 띄워 놓고 순서만 지키겠다고 생각하면 실수합니다. 자동화한다면 종료 코드와 Succeeded 문자열을 함께 검사하도록 만들어야 합니다. 마지막 줄 확인도 반드시 강조하십시오. 자동화한다면 종료 코드와 Succeeded 문자열을 함께 검사하도록 만들어야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 사용자의 기본 그룹은 3장에서 oinstall 로 맞춰 두었는데도 걸립니다. 인벤토리 쪽이 다르기 때문입니다. 두 파일을 모두 고쳐야 한다는 점이 중요합니다. /etc/oraInst.loc 만 고치고 인벤토리 안의 사본을 놓치는 경우가 있습니다. 설치 전 점검표에 cat /etc/oraInst.loc 과 id -gn 을 대조하는 항목을 넣어 두면 예방됩니다. 설치 전 점검표에 cat /etc/oraInst.loc 과 id -gn 을 대조하는 항목을 넣어 두면 예방됩니다.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좋은 습관이 문제를 만든 사례입니다. 설정 파일을 고치기 전에 사본을 만드는 것은 옳지만 그 위치가 문제였습니다. Oracle 의 디렉터리는 엄격하게 검사되므로 .orig, .bak, .save 를 그 안에 남기면 안 됩니다. 교재의 사례처럼 ORACLE_HOME 아래 .bak 때문에 opatch 가 실패해 반나절을 쓴 사이트도 있습니다. 교재의 사례처럼 ORACLE_HOME 아래 .bak 때문에 opatch 가 실패해 반나절을 쓴 사이트도 있습니다. 백업은 Oracle 이 들여다보지 않는 경로에 둡니다.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3장의 메시지와 연결됩니다. 사전 점검에서 걸리는 것은 좋은 일입니다. 빠르게 실패하고 되돌릴 것이 없기 때문입니다. 반대로 root.sh 실행 중에 실패하면 OCR 과 보팅 파일이 만들어진 상태라 deinstall 과 수동 정리가 필요합니다. cluvfy 를 충실히 돌리는 이유가 이 비대칭에 있습니다. 반대로 root.sh 실행 중에 실패하면 OCR 과 보팅 파일이 만들어진 상태라 deinstall 과 수동 정리가 필요합니다. cluvfy 를 충실히 돌리는 이유가 이 비대칭에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root.sh 를 grid 로 실행했을 때가 특이합니다. 화면에는 로그 파일 경로만 나오고 이유는 그 파일을 열어 봐야 알 수 있습니다. 실습 04 에서 직접 해 보게 하십시오. 아무것도 바꾸지 않으므로 안전하고, 확인 후 클러스터 상태를 점검하는 것까지 실습에 포함됩니다. 가드가 있다고 방심하지 말고 실행 전에 계정을 확인하는 습관이 우선입니다. 실습 04 에서 직접 해 보게 하십시오. 아무것도 바꾸지 않으므로 안전하고, 확인 후 클러스터 상태를 점검하는 것까지 실습에 포함됩니다.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값이 다르면 롤링 패치가 진행 중이거나 중단된 채 남아 있는 것입니다. upgrade state 가 ROLLING PATCH 로 표시됩니다. 패치 작업이 중단된 채 몇 주 방치된 사이트가 실제로 있습니다. 정기 점검 항목에 이 두 값의 일치 확인을 넣으라고 권하십시오. 18장의 노드 추가와 패치에서 다시 다룹니다. 패치 작업이 중단된 채 몇 주 방치된 사이트가 실제로 있습니다. 정기 점검 항목에 이 두 값의 일치 확인을 넣으라고 권하십시오.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개별 명령을 하나씩 두드리는 것보다 이 한 줄이 확실합니다. 다만 개별 명령도 알고 있어야 합니다. cluvfy 가 어느 항목에서 실패했을 때 그 부분만 직접 확인해야 하기 때문입니다. 설치 직후 이 명령의 출력을 파일로 남겨 두면 나중에 구성이 바뀌었을 때 비교 기준이 됩니다. 인수인계 문서에 첨부할 만한 자료입니다. 설치 직후 이 명령의 출력을 파일로 남겨 두면 나중에 구성이 바뀌었을 때 비교 기준이 됩니다. 인수인계 문서에 첨부할 만한 자료입니다.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차이를 짚어 주십시오. root.sh 는 누구나 실행할 수 있지만 안에서 UID 를 검사합니다. rootcrs.sh 는 아예 root 와 oinstall 그룹만 실행할 수 있습니다. 두 겹의 방어입니다. cv/rpm 위치도 기억하게 하십시오. 3장에서 cvuqdisk 를 설치할 때 여기서 RPM 을 꺼냈고, 두 번째 노드에는 이 파일을 복사해 설치했습니다. cv/rpm 위치도 기억하게 하십시오. 3장에서 cvuqdisk RPM 을 여기서 꺼냈습니다.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실습 06 에서 확인한 내용과 이어집니다. adrci 가 그 계정의 ORACLE_BASE 아래 홈만 보여 주는 이유가 이것입니다. 그리고 Grid 홈이 ORACLE_BASE 의 하위가 아니라는 점도 짚어 주십시오. /u01/app/19.3.0/grid 와 /u01/app/grid 는 별개 경로입니다. 처음 보면 오타처럼 보이지만 19c 의 표준입니다. Grid 홈이 ORACLE_BASE 의 하위가 아니라는 점도 짚어 주십시오. 처음 보면 오타처럼 보이지만 19c 의 표준 구성입니다.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oratab 에 racdb 가 없는 것을 이상하게 여기는 수강생이 많습니다. 단일 인스턴스에서는 oratab 의 세 번째 필드로 자동 기동을 제어하지만 RAC 는 Clusterware 자원으로 관리합니다. srvctl config database 의 Management policy 가 그 역할을 합니다. 12장에서 AUTOMATIC 과 MANUAL 의 차이를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deinstall 이 남기는 것들이 3장에서 stage -pre crsinst 가 /var/tmp/.oracle 을 검사하는 이유를 설명해 줍니다. 이전 설치의 잔재를 찾으려는 것입니다. 실습에서는 deinstall 을 실행하지 않습니다. 정상 동작 중인 클러스터를 지우는 명령이기 때문입니다. 도구가 존재하고 어떤 가드가 걸려 있는지만 확인합니다. 실습에서는 deinstall 을 실행하지 않습니다. 정상 동작 중인 클러스터를 지우는 명령이기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나중에 추가하는 것도 가능하지만 절차가 번거롭습니다. 설치 시점에 결정하는 편이 낫습니다. 운영 환경이라면 진단 이력이 필요한지, 별도 디스크그룹을 감당할 수 있는지를 보고 판단합니다. 장애 조사에서 며칠 전 CPU 와 메모리 추이를 봐야 하는 상황이 자주 있다면 GIMR 의 가치가 큽니다. 실습 환경에서는 디스크가 아까워 끄는 것이 합리적입니다. 장애 조사에서 며칠 전 CPU 와 메모리 추이를 봐야 하는 상황이 잦다면 GIMR 의 가치가 큽니다. 실습 환경에서는 디스크가 아까워 끄는 것이 합리적입니다.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실패한 시도의 시간이 짧다는 점을 짚어 주십시오. 사전 점검에서 막히면 1분 안팎에 끝납니다. 실제 설치가 시작된 뒤 실패하는 것과는 성격이 완전히 다릅니다. 작업 계획을 세울 때는 성공 경로의 시간뿐 아니라 실패했을 때 되돌리는 시간까지 감안한 여유를 넣어야 합니다. 야간 작업 창이 짧다면 특히 중요합니다. 작업 계획을 세울 때는 성공 경로의 시간뿐 아니라 실패했을 때 되돌리는 시간까지 감안한 여유를 넣어야 합니다. 야간 작업 창이 짧다면 특히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항목 모두 눈으로 확인하는 것이 요점입니다. 스크립트가 성공했다고 보고해도 실제 산출물을 봐야 합니다. 특히 보팅 파일 개수는 5장의 모든 내용과 직결되므로 이 시점에 확인해 두어야 합니다. 체크리스트를 종이에 인쇄해 하나씩 지워 가며 진행하라고 권하십시오. 야간 작업에서 특히 효과가 있습니다. 특히 보팅 파일 개수는 5장의 모든 내용과 직결되므로 이 시점에 확인해 두어야 합니다. 체크리스트를 인쇄해 하나씩 지워 가며 진행하라고 권하십시오.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다섯 가지를 파일로 남겨 두면 나중에 구성이 바뀌었을 때 비교 기준이 됩니다. 특히 자원 배치는 시간이 지나면 페일오버 때문에 달라지므로 설치 직후 상태를 남겨 두는 것이 유용합니다. 인수인계 문서에 첨부하면 다음 담당자가 원래 구성이 어땠는지 바로 알 수 있습니다. 날짜를 파일 이름에 넣어 두십시오. 특히 자원 배치는 시간이 지나면 페일오버 때문에 달라지므로 설치 직후 상태를 남겨 두는 것이 유용합니다. 날짜를 파일 이름에 넣게 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줄이 이 장의 가장 실무적인 교훈입니다. 좋은 습관으로 만든 백업 파일이 다음 단계를 막았습니다. 조치를 한 뒤에는 그 조치가 남긴 것이 없는지 확인하는 습관이 필요합니다. 임시 파일, 백업, 변경한 권한이 모두 대상입니다. 작업 기록을 남기면 나중에 원인을 추적할 때도 도움이 됩니다. 조치를 한 뒤에는 그 조치가 남긴 것이 없는지 확인하는 습관이 필요합니다. 임시 파일, 백업, 변경한 권한이 모두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4장과 5장이 자연스럽게 이어집니다. 이 장에서 만들어진 산출물을 다음 장에서 운영합니다. 수강생에게 지금 crsctl query css votedisk 출력을 저장해 두라고 하십시오. 5장에서 보팅 파일을 교체해 보면 File Universal Id 가 바뀌는데, 그때 비교할 기준이 됩니다. 설치와 운영이 연결되는 지점입니다. 5장에서 보팅 파일을 교체해 보면 File Universal Id 가 바뀌는데 그때 비교할 기준이 됩니다. 설치와 운영이 연결되는 지점입니다.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가지를 수강생이 말로 설명할 수 있으면 이 장은 충분합니다. 특히 두 번째와 세 번째는 실무에서 바로 만나는 것입니다. root.sh 순서는 모든 RAC 설치에서 지켜야 하고, 인벤토리 문제는 기존 이미지를 재사용하는 모든 환경에서 나타납니다. 나머지 셋은 알아 두면 시간을 아껴 주는 지식입니다. root.sh 순서는 모든 RAC 설치에서 지켜야 하고, 인벤토리 문제는 기존 이미지를 재사용하는 모든 환경에서 나타납니다.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Grid Infrastructure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설치</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응답 파일, 무인 설치, root.sh 순서, 그리고 실제로 만난 두 오류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무인 설치의 이점과 응답 파일 항목의 의미를 설명한다</a:t>
            </a:r>
          </a:p>
          <a:p>
            <a:pPr algn="l">
              <a:spcAft>
                <a:spcPts val="1000"/>
              </a:spcAft>
            </a:pPr>
            <a:r>
              <a:rPr sz="1600" b="0">
                <a:solidFill>
                  <a:srgbClr val="222222"/>
                </a:solidFill>
                <a:latin typeface="맑은 고딕"/>
              </a:rPr>
              <a:t>•  gridSetup.sh -silent 의 출력에서 다음 단계를 읽어 낸다</a:t>
            </a:r>
          </a:p>
          <a:p>
            <a:pPr algn="l">
              <a:spcAft>
                <a:spcPts val="1000"/>
              </a:spcAft>
            </a:pPr>
            <a:r>
              <a:rPr sz="1600" b="0">
                <a:solidFill>
                  <a:srgbClr val="222222"/>
                </a:solidFill>
                <a:latin typeface="맑은 고딕"/>
              </a:rPr>
              <a:t>•  root.sh 의 노드 순서가 왜 중요한지 근거와 함께 말한다</a:t>
            </a:r>
          </a:p>
          <a:p>
            <a:pPr algn="l">
              <a:spcAft>
                <a:spcPts val="1000"/>
              </a:spcAft>
            </a:pPr>
            <a:r>
              <a:rPr sz="1600" b="0">
                <a:solidFill>
                  <a:srgbClr val="222222"/>
                </a:solidFill>
                <a:latin typeface="맑은 고딕"/>
              </a:rPr>
              <a:t>•  INS-13013 과 INS-32050 의 원인과 조치를 안다</a:t>
            </a:r>
          </a:p>
          <a:p>
            <a:pPr algn="l">
              <a:spcAft>
                <a:spcPts val="1000"/>
              </a:spcAft>
            </a:pPr>
            <a:r>
              <a:rPr sz="1600" b="0">
                <a:solidFill>
                  <a:srgbClr val="222222"/>
                </a:solidFill>
                <a:latin typeface="맑은 고딕"/>
              </a:rPr>
              <a:t>•  계정 가드가 양방향으로 걸려 있음을 확인한다</a:t>
            </a:r>
          </a:p>
          <a:p>
            <a:pPr algn="l">
              <a:spcAft>
                <a:spcPts val="1000"/>
              </a:spcAft>
            </a:pPr>
            <a:r>
              <a:rPr sz="1600" b="0">
                <a:solidFill>
                  <a:srgbClr val="222222"/>
                </a:solidFill>
                <a:latin typeface="맑은 고딕"/>
              </a:rPr>
              <a:t>•  설치 후 검증을 crsctl 네 명령과 cluvfy 로 수행한다</a:t>
            </a:r>
          </a:p>
          <a:p>
            <a:pPr algn="l">
              <a:spcAft>
                <a:spcPts val="1000"/>
              </a:spcAft>
            </a:pPr>
            <a:r>
              <a:rPr sz="1600" b="0">
                <a:solidFill>
                  <a:srgbClr val="222222"/>
                </a:solidFill>
                <a:latin typeface="맑은 고딕"/>
              </a:rPr>
              <a:t>•  Grid 홈 구조와 두 ORACLE_HOME 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4.1 무인 설치와 응답 파일</a:t>
            </a:r>
          </a:p>
          <a:p>
            <a:pPr algn="l">
              <a:spcAft>
                <a:spcPts val="1000"/>
              </a:spcAft>
            </a:pPr>
            <a:r>
              <a:rPr sz="1600" b="0">
                <a:solidFill>
                  <a:srgbClr val="222222"/>
                </a:solidFill>
                <a:latin typeface="맑은 고딕"/>
              </a:rPr>
              <a:t>•  4.2 gridSetup.sh 실행</a:t>
            </a:r>
          </a:p>
          <a:p>
            <a:pPr algn="l">
              <a:spcAft>
                <a:spcPts val="1000"/>
              </a:spcAft>
            </a:pPr>
            <a:r>
              <a:rPr sz="1600" b="0">
                <a:solidFill>
                  <a:srgbClr val="222222"/>
                </a:solidFill>
                <a:latin typeface="맑은 고딕"/>
              </a:rPr>
              <a:t>•  4.3 root.sh — 노드 순서가 핵심</a:t>
            </a:r>
          </a:p>
          <a:p>
            <a:pPr algn="l">
              <a:spcAft>
                <a:spcPts val="1000"/>
              </a:spcAft>
            </a:pPr>
            <a:r>
              <a:rPr sz="1600" b="0">
                <a:solidFill>
                  <a:srgbClr val="222222"/>
                </a:solidFill>
                <a:latin typeface="맑은 고딕"/>
              </a:rPr>
              <a:t>•  4.4 실제로 만난 두 오류</a:t>
            </a:r>
          </a:p>
          <a:p>
            <a:pPr algn="l">
              <a:spcAft>
                <a:spcPts val="1000"/>
              </a:spcAft>
            </a:pPr>
            <a:r>
              <a:rPr sz="1600" b="0">
                <a:solidFill>
                  <a:srgbClr val="222222"/>
                </a:solidFill>
                <a:latin typeface="맑은 고딕"/>
              </a:rPr>
              <a:t>•  4.5 계정 경계</a:t>
            </a:r>
          </a:p>
          <a:p>
            <a:pPr algn="l">
              <a:spcAft>
                <a:spcPts val="1000"/>
              </a:spcAft>
            </a:pPr>
            <a:r>
              <a:rPr sz="1600" b="0">
                <a:solidFill>
                  <a:srgbClr val="222222"/>
                </a:solidFill>
                <a:latin typeface="맑은 고딕"/>
              </a:rPr>
              <a:t>•  4.6 설치 후 검증</a:t>
            </a:r>
          </a:p>
          <a:p>
            <a:pPr algn="l">
              <a:spcAft>
                <a:spcPts val="1000"/>
              </a:spcAft>
            </a:pPr>
            <a:r>
              <a:rPr sz="1600" b="0">
                <a:solidFill>
                  <a:srgbClr val="222222"/>
                </a:solidFill>
                <a:latin typeface="맑은 고딕"/>
              </a:rPr>
              <a:t>•  4.7 Grid 홈 구조</a:t>
            </a:r>
          </a:p>
          <a:p>
            <a:pPr algn="l">
              <a:spcAft>
                <a:spcPts val="1000"/>
              </a:spcAft>
            </a:pPr>
            <a:r>
              <a:rPr sz="1600" b="0">
                <a:solidFill>
                  <a:srgbClr val="222222"/>
                </a:solidFill>
                <a:latin typeface="맑은 고딕"/>
              </a:rPr>
              <a:t>•  4.8 설치 실패 시 되돌리기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무인 설치와 응답 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왜 무인 설치인가</a:t>
            </a:r>
          </a:p>
          <a:p>
            <a:pPr algn="l">
              <a:spcAft>
                <a:spcPts val="800"/>
              </a:spcAft>
            </a:pPr>
            <a:r>
              <a:rPr sz="1600" b="0">
                <a:solidFill>
                  <a:srgbClr val="FFFFFF"/>
                </a:solidFill>
                <a:latin typeface="맑은 고딕"/>
              </a:rPr>
              <a:t>•  실제로 사용한 응답 파일</a:t>
            </a:r>
          </a:p>
          <a:p>
            <a:pPr algn="l">
              <a:spcAft>
                <a:spcPts val="800"/>
              </a:spcAft>
            </a:pPr>
            <a:r>
              <a:rPr sz="1600" b="0">
                <a:solidFill>
                  <a:srgbClr val="FFFFFF"/>
                </a:solidFill>
                <a:latin typeface="맑은 고딕"/>
              </a:rPr>
              <a:t>•  항목별 의미</a:t>
            </a:r>
          </a:p>
          <a:p>
            <a:pPr algn="l">
              <a:spcAft>
                <a:spcPts val="800"/>
              </a:spcAft>
            </a:pPr>
            <a:r>
              <a:rPr sz="1600" b="0">
                <a:solidFill>
                  <a:srgbClr val="FFFFFF"/>
                </a:solidFill>
                <a:latin typeface="맑은 고딕"/>
              </a:rPr>
              <a:t>•  주의할 항목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무인 설치인가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가지 이점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X 환경을 준비하지 않아도 된다</a:t>
            </a:r>
          </a:p>
          <a:p>
            <a:pPr algn="l">
              <a:spcAft>
                <a:spcPts val="1000"/>
              </a:spcAft>
            </a:pPr>
            <a:r>
              <a:rPr sz="1700" b="0">
                <a:solidFill>
                  <a:srgbClr val="222222"/>
                </a:solidFill>
                <a:latin typeface="맑은 고딕"/>
              </a:rPr>
              <a:t>•  설치 조건이 파일 하나에 기록된다 — 나중에 확인할 수 있다</a:t>
            </a:r>
          </a:p>
          <a:p>
            <a:pPr algn="l">
              <a:spcAft>
                <a:spcPts val="1000"/>
              </a:spcAft>
            </a:pPr>
            <a:r>
              <a:rPr sz="1700" b="0">
                <a:solidFill>
                  <a:srgbClr val="222222"/>
                </a:solidFill>
                <a:latin typeface="맑은 고딕"/>
              </a:rPr>
              <a:t>•  같은 조건으로 다시 설치할 수 있다 — 재해 복구 훈련, 테스트 환경</a:t>
            </a:r>
          </a:p>
          <a:p>
            <a:pPr algn="l">
              <a:spcAft>
                <a:spcPts val="1000"/>
              </a:spcAft>
            </a:pPr>
            <a:r>
              <a:rPr sz="1700" b="0">
                <a:solidFill>
                  <a:srgbClr val="222222"/>
                </a:solidFill>
                <a:latin typeface="맑은 고딕"/>
              </a:rPr>
              <a:t>•  자동화에 넣을 수 있다</a:t>
            </a:r>
          </a:p>
          <a:p>
            <a:pPr algn="l">
              <a:spcAft>
                <a:spcPts val="1000"/>
              </a:spcAft>
            </a:pPr>
            <a:r>
              <a:rPr sz="1700" b="0">
                <a:solidFill>
                  <a:srgbClr val="222222"/>
                </a:solidFill>
                <a:latin typeface="맑은 고딕"/>
              </a:rPr>
              <a:t>•  대신 항목을 정확히 알아야 한다 — GUI 는 그 화면에서 막아 준다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응답 파일 항목 묶음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성격별로 보면 정리된다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설치 종류 — option=CRS_CONFIG (다른 값: CRS_SWONLY, HA_CONFIG)</a:t>
            </a:r>
          </a:p>
          <a:p>
            <a:pPr algn="l">
              <a:spcAft>
                <a:spcPts val="1000"/>
              </a:spcAft>
            </a:pPr>
            <a:r>
              <a:rPr sz="1700" b="0">
                <a:solidFill>
                  <a:srgbClr val="222222"/>
                </a:solidFill>
                <a:latin typeface="맑은 고딕"/>
              </a:rPr>
              <a:t>•  위치 — INVENTORY_LOCATION, ORACLE_BASE</a:t>
            </a:r>
          </a:p>
          <a:p>
            <a:pPr algn="l">
              <a:spcAft>
                <a:spcPts val="1000"/>
              </a:spcAft>
            </a:pPr>
            <a:r>
              <a:rPr sz="1700" b="0">
                <a:solidFill>
                  <a:srgbClr val="222222"/>
                </a:solidFill>
                <a:latin typeface="맑은 고딕"/>
              </a:rPr>
              <a:t>•  클러스터 — clusterName, ClusterConfiguration, clusterNodes</a:t>
            </a:r>
          </a:p>
          <a:p>
            <a:pPr algn="l">
              <a:spcAft>
                <a:spcPts val="1000"/>
              </a:spcAft>
            </a:pPr>
            <a:r>
              <a:rPr sz="1700" b="0">
                <a:solidFill>
                  <a:srgbClr val="222222"/>
                </a:solidFill>
                <a:latin typeface="맑은 고딕"/>
              </a:rPr>
              <a:t>•  네트워크 — networkInterfaceList (1=public, 5=ASM+private)</a:t>
            </a:r>
          </a:p>
          <a:p>
            <a:pPr algn="l">
              <a:spcAft>
                <a:spcPts val="1000"/>
              </a:spcAft>
            </a:pPr>
            <a:r>
              <a:rPr sz="1700" b="0">
                <a:solidFill>
                  <a:srgbClr val="222222"/>
                </a:solidFill>
                <a:latin typeface="맑은 고딕"/>
              </a:rPr>
              <a:t>•  ASM — OSDBA/OSOPER/OSASM, diskGroup 이름·이중화·AU·디스크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특히 주의할 항목 셋</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형식이 낯설다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networkInterfaceList — 이름:서브넷:용도. 실제 인터페이스 이름이어야 한다</a:t>
            </a:r>
          </a:p>
          <a:p>
            <a:pPr algn="l">
              <a:spcAft>
                <a:spcPts val="1000"/>
              </a:spcAft>
            </a:pPr>
            <a:r>
              <a:rPr sz="1700" b="0">
                <a:solidFill>
                  <a:srgbClr val="222222"/>
                </a:solidFill>
                <a:latin typeface="맑은 고딕"/>
              </a:rPr>
              <a:t>•  disksWithFailureGroupNames — 디스크,장애그룹 쌍. 자동 배정이면 쉼표가 연속</a:t>
            </a:r>
          </a:p>
          <a:p>
            <a:pPr algn="l">
              <a:spcAft>
                <a:spcPts val="1000"/>
              </a:spcAft>
            </a:pPr>
            <a:r>
              <a:rPr sz="1700" b="0">
                <a:solidFill>
                  <a:srgbClr val="222222"/>
                </a:solidFill>
                <a:latin typeface="맑은 고딕"/>
              </a:rPr>
              <a:t>•  redundancy=NORMAL — 보팅 파일 3벌 확보용. External 이면 1벌</a:t>
            </a:r>
          </a:p>
          <a:p>
            <a:pPr algn="l">
              <a:spcAft>
                <a:spcPts val="1000"/>
              </a:spcAft>
            </a:pPr>
            <a:r>
              <a:rPr sz="1700" b="0">
                <a:solidFill>
                  <a:srgbClr val="222222"/>
                </a:solidFill>
                <a:latin typeface="맑은 고딕"/>
              </a:rPr>
              <a:t>•  rootconfig.executeRootScript=false — 노드 순서를 직접 통제하기 위해</a:t>
            </a:r>
          </a:p>
          <a:p>
            <a:pPr algn="l">
              <a:spcAft>
                <a:spcPts val="1000"/>
              </a:spcAft>
            </a:pPr>
            <a:r>
              <a:rPr sz="1700" b="0">
                <a:solidFill>
                  <a:srgbClr val="222222"/>
                </a:solidFill>
                <a:latin typeface="맑은 고딕"/>
              </a:rPr>
              <a:t>•  비밀번호 두 항목은 평문이다 — 600 권한, 설치 후 shred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gridSetup.sh 실행</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미디어를 홈에 직접 푼다</a:t>
            </a:r>
          </a:p>
          <a:p>
            <a:pPr algn="l">
              <a:spcAft>
                <a:spcPts val="800"/>
              </a:spcAft>
            </a:pPr>
            <a:r>
              <a:rPr sz="1600" b="0">
                <a:solidFill>
                  <a:srgbClr val="FFFFFF"/>
                </a:solidFill>
                <a:latin typeface="맑은 고딕"/>
              </a:rPr>
              <a:t>•  무인 설치 실행과 출력 읽기</a:t>
            </a:r>
          </a:p>
          <a:p>
            <a:pPr algn="l">
              <a:spcAft>
                <a:spcPts val="800"/>
              </a:spcAft>
            </a:pPr>
            <a:r>
              <a:rPr sz="1600" b="0">
                <a:solidFill>
                  <a:srgbClr val="FFFFFF"/>
                </a:solidFill>
                <a:latin typeface="맑은 고딕"/>
              </a:rPr>
              <a:t>•  오래 걸리는 설치 지켜보기</a:t>
            </a:r>
          </a:p>
          <a:p>
            <a:pPr algn="l">
              <a:spcAft>
                <a:spcPts val="800"/>
              </a:spcAft>
            </a:pPr>
            <a:r>
              <a:rPr sz="1600" b="0">
                <a:solidFill>
                  <a:srgbClr val="FFFFFF"/>
                </a:solidFill>
                <a:latin typeface="맑은 고딕"/>
              </a:rPr>
              <a:t>•  설치 로그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19c 는 이미지 기반 설치다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압축을 푼 자리가 곧 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홈 디렉터리를 먼저 만들고 소유권을 grid 로 준다</a:t>
            </a:r>
          </a:p>
          <a:p>
            <a:pPr algn="l">
              <a:spcAft>
                <a:spcPts val="1000"/>
              </a:spcAft>
            </a:pPr>
            <a:r>
              <a:rPr sz="1700" b="0">
                <a:solidFill>
                  <a:srgbClr val="222222"/>
                </a:solidFill>
                <a:latin typeface="맑은 고딕"/>
              </a:rPr>
              <a:t>•  그 안에서 unzip 한다. 별도 stage 는 지원되지 않는다</a:t>
            </a:r>
          </a:p>
          <a:p>
            <a:pPr algn="l">
              <a:spcAft>
                <a:spcPts val="1000"/>
              </a:spcAft>
            </a:pPr>
            <a:r>
              <a:rPr sz="1700" b="0">
                <a:solidFill>
                  <a:srgbClr val="222222"/>
                </a:solidFill>
                <a:latin typeface="맑은 고딕"/>
              </a:rPr>
              <a:t>•  실측 — 미디어 2.9GB, 풀면 6.5GB, 4.3분</a:t>
            </a:r>
          </a:p>
          <a:p>
            <a:pPr algn="l">
              <a:spcAft>
                <a:spcPts val="1000"/>
              </a:spcAft>
            </a:pPr>
            <a:r>
              <a:rPr sz="1700" b="0">
                <a:solidFill>
                  <a:srgbClr val="222222"/>
                </a:solidFill>
                <a:latin typeface="맑은 고딕"/>
              </a:rPr>
              <a:t>•  항목 93개</a:t>
            </a:r>
          </a:p>
          <a:p>
            <a:pPr algn="l">
              <a:spcAft>
                <a:spcPts val="1000"/>
              </a:spcAft>
            </a:pPr>
            <a:r>
              <a:rPr sz="1700" b="0">
                <a:solidFill>
                  <a:srgbClr val="222222"/>
                </a:solidFill>
                <a:latin typeface="맑은 고딕"/>
              </a:rPr>
              <a:t>•  11g 경험자가 가장 자주 막히는 지점이다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설치 출력에서 읽어 낼 세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다음 단계가 적혀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Successfully Setup Software with warning(s) — 선택 요건 경고, 설치는 성공</a:t>
            </a:r>
          </a:p>
          <a:p>
            <a:pPr algn="l">
              <a:spcAft>
                <a:spcPts val="1000"/>
              </a:spcAft>
            </a:pPr>
            <a:r>
              <a:rPr sz="1700" b="0">
                <a:solidFill>
                  <a:srgbClr val="222222"/>
                </a:solidFill>
                <a:latin typeface="맑은 고딕"/>
              </a:rPr>
              <a:t>•  root.sh 를 실행할 노드 목록과 순서 안내</a:t>
            </a:r>
          </a:p>
          <a:p>
            <a:pPr algn="l">
              <a:spcAft>
                <a:spcPts val="1000"/>
              </a:spcAft>
            </a:pPr>
            <a:r>
              <a:rPr sz="1700" b="0">
                <a:solidFill>
                  <a:srgbClr val="222222"/>
                </a:solidFill>
                <a:latin typeface="맑은 고딕"/>
              </a:rPr>
              <a:t>•  Run the script on the local node first. After successful completion, you can start the script in parallel on all other nodes</a:t>
            </a:r>
          </a:p>
          <a:p>
            <a:pPr algn="l">
              <a:spcAft>
                <a:spcPts val="1000"/>
              </a:spcAft>
            </a:pPr>
            <a:r>
              <a:rPr sz="1700" b="0">
                <a:solidFill>
                  <a:srgbClr val="222222"/>
                </a:solidFill>
                <a:latin typeface="맑은 고딕"/>
              </a:rPr>
              <a:t>•  -executeConfigTools 로 구성 도구를 실행하라는 안내</a:t>
            </a:r>
          </a:p>
          <a:p>
            <a:pPr algn="l">
              <a:spcAft>
                <a:spcPts val="1000"/>
              </a:spcAft>
            </a:pPr>
            <a:r>
              <a:rPr sz="1700" b="0">
                <a:solidFill>
                  <a:srgbClr val="222222"/>
                </a:solidFill>
                <a:latin typeface="맑은 고딕"/>
              </a:rPr>
              <a:t>•  실측 6.0분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오래 걸리는 설치 지켜보기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세션을 붙들지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-waitForCompletion 은 프롬프트를 돌려주지 않는다</a:t>
            </a:r>
          </a:p>
          <a:p>
            <a:pPr algn="l">
              <a:spcAft>
                <a:spcPts val="1000"/>
              </a:spcAft>
            </a:pPr>
            <a:r>
              <a:rPr sz="1700" b="0">
                <a:solidFill>
                  <a:srgbClr val="222222"/>
                </a:solidFill>
                <a:latin typeface="맑은 고딕"/>
              </a:rPr>
              <a:t>•  SSH 세션이 끊기면 죽은 것처럼 보이지만 원격 프로세스는 살아 있다</a:t>
            </a:r>
          </a:p>
          <a:p>
            <a:pPr algn="l">
              <a:spcAft>
                <a:spcPts val="1000"/>
              </a:spcAft>
            </a:pPr>
            <a:r>
              <a:rPr sz="1700" b="0">
                <a:solidFill>
                  <a:srgbClr val="222222"/>
                </a:solidFill>
                <a:latin typeface="맑은 고딕"/>
              </a:rPr>
              <a:t>•  방법 1 — nohup 이나 screen 으로 띄우고 tail -f</a:t>
            </a:r>
          </a:p>
          <a:p>
            <a:pPr algn="l">
              <a:spcAft>
                <a:spcPts val="1000"/>
              </a:spcAft>
            </a:pPr>
            <a:r>
              <a:rPr sz="1700" b="0">
                <a:solidFill>
                  <a:srgbClr val="222222"/>
                </a:solidFill>
                <a:latin typeface="맑은 고딕"/>
              </a:rPr>
              <a:t>•  방법 2 — 폴링할 때마다 새로 접속해 pgrep 과 로그 꼬리만 확인</a:t>
            </a:r>
          </a:p>
          <a:p>
            <a:pPr algn="l">
              <a:spcAft>
                <a:spcPts val="1000"/>
              </a:spcAft>
            </a:pPr>
            <a:r>
              <a:rPr sz="1700" b="0">
                <a:solidFill>
                  <a:srgbClr val="222222"/>
                </a:solidFill>
                <a:latin typeface="맑은 고딕"/>
              </a:rPr>
              <a:t>•  실측 참고 — 압축 4.3분, gridSetup 6.0분, root.sh 6.0+1.9분, DB SW 8.0분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4.3-4.4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root.sh 와 두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노드 순서가 핵심인 이유</a:t>
            </a:r>
          </a:p>
          <a:p>
            <a:pPr algn="l">
              <a:spcAft>
                <a:spcPts val="800"/>
              </a:spcAft>
            </a:pPr>
            <a:r>
              <a:rPr sz="1600" b="0">
                <a:solidFill>
                  <a:srgbClr val="FFFFFF"/>
                </a:solidFill>
                <a:latin typeface="맑은 고딕"/>
              </a:rPr>
              <a:t>•  실측 소요 차이</a:t>
            </a:r>
          </a:p>
          <a:p>
            <a:pPr algn="l">
              <a:spcAft>
                <a:spcPts val="800"/>
              </a:spcAft>
            </a:pPr>
            <a:r>
              <a:rPr sz="1600" b="0">
                <a:solidFill>
                  <a:srgbClr val="FFFFFF"/>
                </a:solidFill>
                <a:latin typeface="맑은 고딕"/>
              </a:rPr>
              <a:t>•  INS-13013</a:t>
            </a:r>
          </a:p>
          <a:p>
            <a:pPr algn="l">
              <a:spcAft>
                <a:spcPts val="800"/>
              </a:spcAft>
            </a:pPr>
            <a:r>
              <a:rPr sz="1600" b="0">
                <a:solidFill>
                  <a:srgbClr val="FFFFFF"/>
                </a:solidFill>
                <a:latin typeface="맑은 고딕"/>
              </a:rPr>
              <a:t>•  INS-32050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root.sh 의 노드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첫 노드만 하는 일이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초기화 — 클러스터 레지스트리를 처음 만든다</a:t>
            </a:r>
          </a:p>
          <a:p>
            <a:pPr algn="l">
              <a:spcAft>
                <a:spcPts val="1000"/>
              </a:spcAft>
            </a:pPr>
            <a:r>
              <a:rPr sz="1700" b="0">
                <a:solidFill>
                  <a:srgbClr val="222222"/>
                </a:solidFill>
                <a:latin typeface="맑은 고딕"/>
              </a:rPr>
              <a:t>•  보팅 파일 생성 — +CRS 를 만들고 그 안에 배치한다</a:t>
            </a:r>
          </a:p>
          <a:p>
            <a:pPr algn="l">
              <a:spcAft>
                <a:spcPts val="1000"/>
              </a:spcAft>
            </a:pPr>
            <a:r>
              <a:rPr sz="1700" b="0">
                <a:solidFill>
                  <a:srgbClr val="222222"/>
                </a:solidFill>
                <a:latin typeface="맑은 고딕"/>
              </a:rPr>
              <a:t>•  클러스터 구성 확정 — 이름, 노드 목록, SCAN 등록</a:t>
            </a:r>
          </a:p>
          <a:p>
            <a:pPr algn="l">
              <a:spcAft>
                <a:spcPts val="1000"/>
              </a:spcAft>
            </a:pPr>
            <a:r>
              <a:rPr sz="1700" b="0">
                <a:solidFill>
                  <a:srgbClr val="222222"/>
                </a:solidFill>
                <a:latin typeface="맑은 고딕"/>
              </a:rPr>
              <a:t>•  두 번째 노드부터는 합류만 한다</a:t>
            </a:r>
          </a:p>
          <a:p>
            <a:pPr algn="l">
              <a:spcAft>
                <a:spcPts val="1000"/>
              </a:spcAft>
            </a:pPr>
            <a:r>
              <a:rPr sz="1700" b="0">
                <a:solidFill>
                  <a:srgbClr val="222222"/>
                </a:solidFill>
                <a:latin typeface="맑은 고딕"/>
              </a:rPr>
              <a:t>•  동시에 실행하면 양쪽이 OCR 을 초기화하려 들어 충돌한다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노드의 root.sh 출력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보팅 파일 3벌이 만들어진다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Successfully replaced voting disk group with +CRS</a:t>
            </a:r>
          </a:p>
          <a:p>
            <a:pPr algn="l">
              <a:spcAft>
                <a:spcPts val="1000"/>
              </a:spcAft>
            </a:pPr>
            <a:r>
              <a:rPr sz="1700" b="0">
                <a:solidFill>
                  <a:srgbClr val="222222"/>
                </a:solidFill>
                <a:latin typeface="맑은 고딕"/>
              </a:rPr>
              <a:t>•  CRS-4266: Voting file(s) successfully replaced</a:t>
            </a:r>
          </a:p>
          <a:p>
            <a:pPr algn="l">
              <a:spcAft>
                <a:spcPts val="1000"/>
              </a:spcAft>
            </a:pPr>
            <a:r>
              <a:rPr sz="1700" b="0">
                <a:solidFill>
                  <a:srgbClr val="222222"/>
                </a:solidFill>
                <a:latin typeface="맑은 고딕"/>
              </a:rPr>
              <a:t>•  ONLINE 세 줄, 각각 /dev/asmdisk/crs1, crs2, crs3</a:t>
            </a:r>
          </a:p>
          <a:p>
            <a:pPr algn="l">
              <a:spcAft>
                <a:spcPts val="1000"/>
              </a:spcAft>
            </a:pPr>
            <a:r>
              <a:rPr sz="1700" b="0">
                <a:solidFill>
                  <a:srgbClr val="222222"/>
                </a:solidFill>
                <a:latin typeface="맑은 고딕"/>
              </a:rPr>
              <a:t>•  Located 3 voting disk(s)</a:t>
            </a:r>
          </a:p>
          <a:p>
            <a:pPr algn="l">
              <a:spcAft>
                <a:spcPts val="1000"/>
              </a:spcAft>
            </a:pPr>
            <a:r>
              <a:rPr sz="1700" b="0">
                <a:solidFill>
                  <a:srgbClr val="222222"/>
                </a:solidFill>
                <a:latin typeface="맑은 고딕"/>
              </a:rPr>
              <a:t>•  마지막 줄 root.sh: Succeeded 를 눈으로 확인하고 넘어간다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INS-13013</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기존 이미지를 재사용할 때 흔하다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첫 실행이 1.3분 만에 사전 점검에서 멈췄다</a:t>
            </a:r>
          </a:p>
          <a:p>
            <a:pPr algn="l">
              <a:spcAft>
                <a:spcPts val="1000"/>
              </a:spcAft>
            </a:pPr>
            <a:r>
              <a:rPr sz="1700" b="0">
                <a:solidFill>
                  <a:srgbClr val="222222"/>
                </a:solidFill>
                <a:latin typeface="맑은 고딕"/>
              </a:rPr>
              <a:t>•  로그: the user grid has group dba as its primary group, which is different from the inventory group</a:t>
            </a:r>
          </a:p>
          <a:p>
            <a:pPr algn="l">
              <a:spcAft>
                <a:spcPts val="1000"/>
              </a:spcAft>
            </a:pPr>
            <a:r>
              <a:rPr sz="1700" b="0">
                <a:solidFill>
                  <a:srgbClr val="222222"/>
                </a:solidFill>
                <a:latin typeface="맑은 고딕"/>
              </a:rPr>
              <a:t>•  원인 — 원본 이미지의 /etc/oraInst.loc 이 inst_group=dba</a:t>
            </a:r>
          </a:p>
          <a:p>
            <a:pPr algn="l">
              <a:spcAft>
                <a:spcPts val="1000"/>
              </a:spcAft>
            </a:pPr>
            <a:r>
              <a:rPr sz="1700" b="0">
                <a:solidFill>
                  <a:srgbClr val="222222"/>
                </a:solidFill>
                <a:latin typeface="맑은 고딕"/>
              </a:rPr>
              <a:t>•  조치 — /etc/oraInst.loc 과 인벤토리 안 사본 둘 다 oinstall 로</a:t>
            </a:r>
          </a:p>
          <a:p>
            <a:pPr algn="l">
              <a:spcAft>
                <a:spcPts val="1000"/>
              </a:spcAft>
            </a:pPr>
            <a:r>
              <a:rPr sz="1700" b="0">
                <a:solidFill>
                  <a:srgbClr val="222222"/>
                </a:solidFill>
                <a:latin typeface="맑은 고딕"/>
              </a:rPr>
              <a:t>•  새로 설치한 서버라면 나지 않는다. 클론 환경 특유의 문제다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INS-32050</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조치가 만든 새 문제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인벤토리 그룹을 고친 뒤 DB 소프트웨어 설치에서 0.6분 만에 실패</a:t>
            </a:r>
          </a:p>
          <a:p>
            <a:pPr algn="l">
              <a:spcAft>
                <a:spcPts val="1000"/>
              </a:spcAft>
            </a:pPr>
            <a:r>
              <a:rPr sz="1700" b="0">
                <a:solidFill>
                  <a:srgbClr val="222222"/>
                </a:solidFill>
                <a:latin typeface="맑은 고딕"/>
              </a:rPr>
              <a:t>•  CAUSE 가 파일 이름까지 짚어 준다 — oraInst.loc.orig</a:t>
            </a:r>
          </a:p>
          <a:p>
            <a:pPr algn="l">
              <a:spcAft>
                <a:spcPts val="1000"/>
              </a:spcAft>
            </a:pPr>
            <a:r>
              <a:rPr sz="1700" b="0">
                <a:solidFill>
                  <a:srgbClr val="222222"/>
                </a:solidFill>
                <a:latin typeface="맑은 고딕"/>
              </a:rPr>
              <a:t>•  앞 조치를 하기 전에 만든 백업 파일이 root 소유로 남아 있었다</a:t>
            </a:r>
          </a:p>
          <a:p>
            <a:pPr algn="l">
              <a:spcAft>
                <a:spcPts val="1000"/>
              </a:spcAft>
            </a:pPr>
            <a:r>
              <a:rPr sz="1700" b="0">
                <a:solidFill>
                  <a:srgbClr val="222222"/>
                </a:solidFill>
                <a:latin typeface="맑은 고딕"/>
              </a:rPr>
              <a:t>•  설치 관리자는 인벤토리 아래 모든 파일에 읽기·쓰기를 요구한다</a:t>
            </a:r>
          </a:p>
          <a:p>
            <a:pPr algn="l">
              <a:spcAft>
                <a:spcPts val="1000"/>
              </a:spcAft>
            </a:pPr>
            <a:r>
              <a:rPr sz="1700" b="0">
                <a:solidFill>
                  <a:srgbClr val="222222"/>
                </a:solidFill>
                <a:latin typeface="맑은 고딕"/>
              </a:rPr>
              <a:t>•  조치 — 백업을 /root/rac_backup 으로 옮기고 소유권 재설정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오류의 공통점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사전 점검은 빨리 실패한다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둘 다 인벤토리 관련이고 기존 환경 재사용에서 비롯됐다</a:t>
            </a:r>
          </a:p>
          <a:p>
            <a:pPr algn="l">
              <a:spcAft>
                <a:spcPts val="1000"/>
              </a:spcAft>
            </a:pPr>
            <a:r>
              <a:rPr sz="1700" b="0">
                <a:solidFill>
                  <a:srgbClr val="222222"/>
                </a:solidFill>
                <a:latin typeface="맑은 고딕"/>
              </a:rPr>
              <a:t>•  INS-13013 1.3분, INS-32050 0.6분 만에 실패</a:t>
            </a:r>
          </a:p>
          <a:p>
            <a:pPr algn="l">
              <a:spcAft>
                <a:spcPts val="1000"/>
              </a:spcAft>
            </a:pPr>
            <a:r>
              <a:rPr sz="1700" b="0">
                <a:solidFill>
                  <a:srgbClr val="222222"/>
                </a:solidFill>
                <a:latin typeface="맑은 고딕"/>
              </a:rPr>
              <a:t>•  사전 점검 단계라 아무것도 설치되지 않았다 — 되돌릴 것이 없다</a:t>
            </a:r>
          </a:p>
          <a:p>
            <a:pPr algn="l">
              <a:spcAft>
                <a:spcPts val="1000"/>
              </a:spcAft>
            </a:pPr>
            <a:r>
              <a:rPr sz="1700" b="0">
                <a:solidFill>
                  <a:srgbClr val="222222"/>
                </a:solidFill>
                <a:latin typeface="맑은 고딕"/>
              </a:rPr>
              <a:t>•  원인 고치고 재실행하면 된다</a:t>
            </a:r>
          </a:p>
          <a:p>
            <a:pPr algn="l">
              <a:spcAft>
                <a:spcPts val="1000"/>
              </a:spcAft>
            </a:pPr>
            <a:r>
              <a:rPr sz="1700" b="0">
                <a:solidFill>
                  <a:srgbClr val="222222"/>
                </a:solidFill>
                <a:latin typeface="맑은 고딕"/>
              </a:rPr>
              <a:t>•  설치가 진행된 뒤 실패하는 것보다 훨씬 낫다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4.5-4.6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계정 경계와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가지 가드</a:t>
            </a:r>
          </a:p>
          <a:p>
            <a:pPr algn="l">
              <a:spcAft>
                <a:spcPts val="800"/>
              </a:spcAft>
            </a:pPr>
            <a:r>
              <a:rPr sz="1600" b="0">
                <a:solidFill>
                  <a:srgbClr val="FFFFFF"/>
                </a:solidFill>
                <a:latin typeface="맑은 고딕"/>
              </a:rPr>
              <a:t>•  버전 조회 네 가지</a:t>
            </a:r>
          </a:p>
          <a:p>
            <a:pPr algn="l">
              <a:spcAft>
                <a:spcPts val="800"/>
              </a:spcAft>
            </a:pPr>
            <a:r>
              <a:rPr sz="1600" b="0">
                <a:solidFill>
                  <a:srgbClr val="FFFFFF"/>
                </a:solidFill>
                <a:latin typeface="맑은 고딕"/>
              </a:rPr>
              <a:t>•  설치 후 검증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계정 가드가 양방향으로 걸려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잘못 실행하면 즉시 막힌다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root.sh 를 grid 로 → UID 검사 후 중단, 사유는 로그 파일에</a:t>
            </a:r>
          </a:p>
          <a:p>
            <a:pPr algn="l">
              <a:spcAft>
                <a:spcPts val="1000"/>
              </a:spcAft>
            </a:pPr>
            <a:r>
              <a:rPr sz="1700" b="0">
                <a:solidFill>
                  <a:srgbClr val="222222"/>
                </a:solidFill>
                <a:latin typeface="맑은 고딕"/>
              </a:rPr>
              <a:t>•  gridSetup.sh 를 root 로 → ERROR: You must not be logged in as root</a:t>
            </a:r>
          </a:p>
          <a:p>
            <a:pPr algn="l">
              <a:spcAft>
                <a:spcPts val="1000"/>
              </a:spcAft>
            </a:pPr>
            <a:r>
              <a:rPr sz="1700" b="0">
                <a:solidFill>
                  <a:srgbClr val="222222"/>
                </a:solidFill>
                <a:latin typeface="맑은 고딕"/>
              </a:rPr>
              <a:t>•  deinstall 을 root 로 → Log in as Oracle user and rerun</a:t>
            </a:r>
          </a:p>
          <a:p>
            <a:pPr algn="l">
              <a:spcAft>
                <a:spcPts val="1000"/>
              </a:spcAft>
            </a:pPr>
            <a:r>
              <a:rPr sz="1700" b="0">
                <a:solidFill>
                  <a:srgbClr val="222222"/>
                </a:solidFill>
                <a:latin typeface="맑은 고딕"/>
              </a:rPr>
              <a:t>•  crsctl 변경 계열을 grid 로 → CRS-4563: Insufficient user privileges</a:t>
            </a:r>
          </a:p>
          <a:p>
            <a:pPr algn="l">
              <a:spcAft>
                <a:spcPts val="1000"/>
              </a:spcAft>
            </a:pPr>
            <a:r>
              <a:rPr sz="1700" b="0">
                <a:solidFill>
                  <a:srgbClr val="222222"/>
                </a:solidFill>
                <a:latin typeface="맑은 고딕"/>
              </a:rPr>
              <a:t>•  규칙 — 시스템을 바꾸는 스크립트는 root, 소프트웨어 도구는 설치 사용자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crsctl query crs 네 하위 명령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각각 다른 것을 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activeversion -f — 클러스터가 합의한 활성 버전, 패치 수준, 업그레이드 상태</a:t>
            </a:r>
          </a:p>
          <a:p>
            <a:pPr algn="l">
              <a:spcAft>
                <a:spcPts val="1000"/>
              </a:spcAft>
            </a:pPr>
            <a:r>
              <a:rPr sz="1700" b="0">
                <a:solidFill>
                  <a:srgbClr val="222222"/>
                </a:solidFill>
                <a:latin typeface="맑은 고딕"/>
              </a:rPr>
              <a:t>•  softwareversion — 이 노드에 설치된 소프트웨어 버전</a:t>
            </a:r>
          </a:p>
          <a:p>
            <a:pPr algn="l">
              <a:spcAft>
                <a:spcPts val="1000"/>
              </a:spcAft>
            </a:pPr>
            <a:r>
              <a:rPr sz="1700" b="0">
                <a:solidFill>
                  <a:srgbClr val="222222"/>
                </a:solidFill>
                <a:latin typeface="맑은 고딕"/>
              </a:rPr>
              <a:t>•  releaseversion — 이 노드의 OHAS 릴리스 버전</a:t>
            </a:r>
          </a:p>
          <a:p>
            <a:pPr algn="l">
              <a:spcAft>
                <a:spcPts val="1000"/>
              </a:spcAft>
            </a:pPr>
            <a:r>
              <a:rPr sz="1700" b="0">
                <a:solidFill>
                  <a:srgbClr val="222222"/>
                </a:solidFill>
                <a:latin typeface="맑은 고딕"/>
              </a:rPr>
              <a:t>•  softwarepatch — 이 노드의 패치 수준</a:t>
            </a:r>
          </a:p>
          <a:p>
            <a:pPr algn="l">
              <a:spcAft>
                <a:spcPts val="1000"/>
              </a:spcAft>
            </a:pPr>
            <a:r>
              <a:rPr sz="1700" b="0">
                <a:solidFill>
                  <a:srgbClr val="222222"/>
                </a:solidFill>
                <a:latin typeface="맑은 고딕"/>
              </a:rPr>
              <a:t>•  정상이면 activeversion 의 patch level 과 각 노드 softwarepatch 가 같다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설치 후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cluvfy 한 번으로 28개 항목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stage -post crsinst -n rac1,rac2 — 실측 1.6분</a:t>
            </a:r>
          </a:p>
          <a:p>
            <a:pPr algn="l">
              <a:spcAft>
                <a:spcPts val="1000"/>
              </a:spcAft>
            </a:pPr>
            <a:r>
              <a:rPr sz="1700" b="0">
                <a:solidFill>
                  <a:srgbClr val="222222"/>
                </a:solidFill>
                <a:latin typeface="맑은 고딕"/>
              </a:rPr>
              <a:t>•  네트워크, 클러스터, 저장소, 이름, 시스템, 권한 여섯 묶음</a:t>
            </a:r>
          </a:p>
          <a:p>
            <a:pPr algn="l">
              <a:spcAft>
                <a:spcPts val="1000"/>
              </a:spcAft>
            </a:pPr>
            <a:r>
              <a:rPr sz="1700" b="0">
                <a:solidFill>
                  <a:srgbClr val="222222"/>
                </a:solidFill>
                <a:latin typeface="맑은 고딕"/>
              </a:rPr>
              <a:t>•  OCR·OLR·Voting Disk·ASM Integrity 가 모두 PASSED</a:t>
            </a:r>
          </a:p>
          <a:p>
            <a:pPr algn="l">
              <a:spcAft>
                <a:spcPts val="1000"/>
              </a:spcAft>
            </a:pPr>
            <a:r>
              <a:rPr sz="1700" b="0">
                <a:solidFill>
                  <a:srgbClr val="222222"/>
                </a:solidFill>
                <a:latin typeface="맑은 고딕"/>
              </a:rPr>
              <a:t>•  남은 것은 SCAN 경고 하나 — 3장에서 감수하기로 판단한 항목</a:t>
            </a:r>
          </a:p>
          <a:p>
            <a:pPr algn="l">
              <a:spcAft>
                <a:spcPts val="1000"/>
              </a:spcAft>
            </a:pPr>
            <a:r>
              <a:rPr sz="1700" b="0">
                <a:solidFill>
                  <a:srgbClr val="222222"/>
                </a:solidFill>
                <a:latin typeface="맑은 고딕"/>
              </a:rPr>
              <a:t>•  Post-check for cluster services setup was successful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4.7-4.8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홈 구조와 되돌리기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Grid 홈 구조</a:t>
            </a:r>
          </a:p>
          <a:p>
            <a:pPr algn="l">
              <a:spcAft>
                <a:spcPts val="800"/>
              </a:spcAft>
            </a:pPr>
            <a:r>
              <a:rPr sz="1600" b="0">
                <a:solidFill>
                  <a:srgbClr val="FFFFFF"/>
                </a:solidFill>
                <a:latin typeface="맑은 고딕"/>
              </a:rPr>
              <a:t>•  두 ORACLE_HOME</a:t>
            </a:r>
          </a:p>
          <a:p>
            <a:pPr algn="l">
              <a:spcAft>
                <a:spcPts val="800"/>
              </a:spcAft>
            </a:pPr>
            <a:r>
              <a:rPr sz="1600" b="0">
                <a:solidFill>
                  <a:srgbClr val="FFFFFF"/>
                </a:solidFill>
                <a:latin typeface="맑은 고딕"/>
              </a:rPr>
              <a:t>•  인벤토리와 oratab</a:t>
            </a:r>
          </a:p>
          <a:p>
            <a:pPr algn="l">
              <a:spcAft>
                <a:spcPts val="800"/>
              </a:spcAft>
            </a:pPr>
            <a:r>
              <a:rPr sz="1600" b="0">
                <a:solidFill>
                  <a:srgbClr val="FFFFFF"/>
                </a:solidFill>
                <a:latin typeface="맑은 고딕"/>
              </a:rPr>
              <a:t>•  deinstall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Grid 홈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93개 항목 중 자주 쓰는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bin — crsctl, srvctl, olsnodes, oifcfg, ocrcheck, cluvfy, asmcmd, sqlplus</a:t>
            </a:r>
          </a:p>
          <a:p>
            <a:pPr algn="l">
              <a:spcAft>
                <a:spcPts val="1000"/>
              </a:spcAft>
            </a:pPr>
            <a:r>
              <a:rPr sz="1700" b="0">
                <a:solidFill>
                  <a:srgbClr val="222222"/>
                </a:solidFill>
                <a:latin typeface="맑은 고딕"/>
              </a:rPr>
              <a:t>•  crs/install — rootcrs.sh / cv/rpm — cvuqdisk RPM</a:t>
            </a:r>
          </a:p>
          <a:p>
            <a:pPr algn="l">
              <a:spcAft>
                <a:spcPts val="1000"/>
              </a:spcAft>
            </a:pPr>
            <a:r>
              <a:rPr sz="1700" b="0">
                <a:solidFill>
                  <a:srgbClr val="222222"/>
                </a:solidFill>
                <a:latin typeface="맑은 고딕"/>
              </a:rPr>
              <a:t>•  deinstall — 제거 도구 / install — root.sh 실행 로그</a:t>
            </a:r>
          </a:p>
          <a:p>
            <a:pPr algn="l">
              <a:spcAft>
                <a:spcPts val="1000"/>
              </a:spcAft>
            </a:pPr>
            <a:r>
              <a:rPr sz="1700" b="0">
                <a:solidFill>
                  <a:srgbClr val="222222"/>
                </a:solidFill>
                <a:latin typeface="맑은 고딕"/>
              </a:rPr>
              <a:t>•  network/admin — listener.ora, tnsnames.ora</a:t>
            </a:r>
          </a:p>
          <a:p>
            <a:pPr algn="l">
              <a:spcAft>
                <a:spcPts val="1000"/>
              </a:spcAft>
            </a:pPr>
            <a:r>
              <a:rPr sz="1700" b="0">
                <a:solidFill>
                  <a:srgbClr val="222222"/>
                </a:solidFill>
                <a:latin typeface="맑은 고딕"/>
              </a:rPr>
              <a:t>•  root.sh 는 755(내부에서 UID 검사), rootcrs.sh 는 750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ORACLE_HOME 이 두 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ORACLE_BASE 도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 HOME /u01/app/19.3.0/grid, SID +ASM1, BASE /u01/app/grid</a:t>
            </a:r>
          </a:p>
          <a:p>
            <a:pPr algn="l">
              <a:spcAft>
                <a:spcPts val="1000"/>
              </a:spcAft>
            </a:pPr>
            <a:r>
              <a:rPr sz="1700" b="0">
                <a:solidFill>
                  <a:srgbClr val="222222"/>
                </a:solidFill>
                <a:latin typeface="맑은 고딕"/>
              </a:rPr>
              <a:t>•  oracle — HOME .../19.3.0/dbhome_rac, SID racdb1, BASE /u01/app/oracle</a:t>
            </a:r>
          </a:p>
          <a:p>
            <a:pPr algn="l">
              <a:spcAft>
                <a:spcPts val="1000"/>
              </a:spcAft>
            </a:pPr>
            <a:r>
              <a:rPr sz="1700" b="0">
                <a:solidFill>
                  <a:srgbClr val="222222"/>
                </a:solidFill>
                <a:latin typeface="맑은 고딕"/>
              </a:rPr>
              <a:t>•  진단 로그 위치가 여기서 갈린다</a:t>
            </a:r>
          </a:p>
          <a:p>
            <a:pPr algn="l">
              <a:spcAft>
                <a:spcPts val="1000"/>
              </a:spcAft>
            </a:pPr>
            <a:r>
              <a:rPr sz="1700" b="0">
                <a:solidFill>
                  <a:srgbClr val="222222"/>
                </a:solidFill>
                <a:latin typeface="맑은 고딕"/>
              </a:rPr>
              <a:t>•  Clusterware 로그는 /u01/app/grid/diag, DB 로그는 /u01/app/oracle/diag</a:t>
            </a:r>
          </a:p>
          <a:p>
            <a:pPr algn="l">
              <a:spcAft>
                <a:spcPts val="1000"/>
              </a:spcAft>
            </a:pPr>
            <a:r>
              <a:rPr sz="1700" b="0">
                <a:solidFill>
                  <a:srgbClr val="222222"/>
                </a:solidFill>
                <a:latin typeface="맑은 고딕"/>
              </a:rPr>
              <a:t>•  19c 에서 Grid 홈은 ORACLE_BASE 밖에 둔다 — 표준 구성이다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인벤토리와 oratab</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서버에 무엇이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인벤토리에 세 홈이 등록되어 있다</a:t>
            </a:r>
          </a:p>
          <a:p>
            <a:pPr algn="l">
              <a:spcAft>
                <a:spcPts val="1000"/>
              </a:spcAft>
            </a:pPr>
            <a:r>
              <a:rPr sz="1700" b="0">
                <a:solidFill>
                  <a:srgbClr val="222222"/>
                </a:solidFill>
                <a:latin typeface="맑은 고딕"/>
              </a:rPr>
              <a:t>•  OraDB19Home1(dbhome_1), OraGI19Home1(grid), OraDB19Home2(dbhome_rac)</a:t>
            </a:r>
          </a:p>
          <a:p>
            <a:pPr algn="l">
              <a:spcAft>
                <a:spcPts val="1000"/>
              </a:spcAft>
            </a:pPr>
            <a:r>
              <a:rPr sz="1700" b="0">
                <a:solidFill>
                  <a:srgbClr val="222222"/>
                </a:solidFill>
                <a:latin typeface="맑은 고딕"/>
              </a:rPr>
              <a:t>•  /etc/oratab 에는 원본 이미지의 orcl, PROD, KNH 만 있다</a:t>
            </a:r>
          </a:p>
          <a:p>
            <a:pPr algn="l">
              <a:spcAft>
                <a:spcPts val="1000"/>
              </a:spcAft>
            </a:pPr>
            <a:r>
              <a:rPr sz="1700" b="0">
                <a:solidFill>
                  <a:srgbClr val="222222"/>
                </a:solidFill>
                <a:latin typeface="맑은 고딕"/>
              </a:rPr>
              <a:t>•  racdb 는 oratab 에 없다</a:t>
            </a:r>
          </a:p>
          <a:p>
            <a:pPr algn="l">
              <a:spcAft>
                <a:spcPts val="1000"/>
              </a:spcAft>
            </a:pPr>
            <a:r>
              <a:rPr sz="1700" b="0">
                <a:solidFill>
                  <a:srgbClr val="222222"/>
                </a:solidFill>
                <a:latin typeface="맑은 고딕"/>
              </a:rPr>
              <a:t>•  RAC 데이터베이스는 Clusterware 가 관리하므로 oratab 자동 기동에 의존하지 않는다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설치 실패 시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실패 시점에 따라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사전 점검 실패 — 남는 것 없음. 고치고 재실행</a:t>
            </a:r>
          </a:p>
          <a:p>
            <a:pPr algn="l">
              <a:spcAft>
                <a:spcPts val="1000"/>
              </a:spcAft>
            </a:pPr>
            <a:r>
              <a:rPr sz="1700" b="0">
                <a:solidFill>
                  <a:srgbClr val="222222"/>
                </a:solidFill>
                <a:latin typeface="맑은 고딕"/>
              </a:rPr>
              <a:t>•  소프트웨어 복사 중 — 인벤토리 등록과 양 노드 파일. deinstall</a:t>
            </a:r>
          </a:p>
          <a:p>
            <a:pPr algn="l">
              <a:spcAft>
                <a:spcPts val="1000"/>
              </a:spcAft>
            </a:pPr>
            <a:r>
              <a:rPr sz="1700" b="0">
                <a:solidFill>
                  <a:srgbClr val="222222"/>
                </a:solidFill>
                <a:latin typeface="맑은 고딕"/>
              </a:rPr>
              <a:t>•  root.sh 중 — 위 + OCR, 보팅 파일, +CRS. deinstall 후 디스크 정리</a:t>
            </a:r>
          </a:p>
          <a:p>
            <a:pPr algn="l">
              <a:spcAft>
                <a:spcPts val="1000"/>
              </a:spcAft>
            </a:pPr>
            <a:r>
              <a:rPr sz="1700" b="0">
                <a:solidFill>
                  <a:srgbClr val="222222"/>
                </a:solidFill>
                <a:latin typeface="맑은 고딕"/>
              </a:rPr>
              <a:t>•  deinstall 이 못 지우는 것 — ASM 디스크 헤더, /var/tmp/.oracle, /etc/oracle</a:t>
            </a:r>
          </a:p>
          <a:p>
            <a:pPr algn="l">
              <a:spcAft>
                <a:spcPts val="1000"/>
              </a:spcAft>
            </a:pPr>
            <a:r>
              <a:rPr sz="1700" b="0">
                <a:solidFill>
                  <a:srgbClr val="222222"/>
                </a:solidFill>
                <a:latin typeface="맑은 고딕"/>
              </a:rPr>
              <a:t>•  실습 환경에서 다시 설치해 보려면 deinstall 보다 스냅샷 복원이 빠르다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무인 설치는 조건을 파일로 남기고 재현·자동화를 가능하게 한다</a:t>
            </a:r>
          </a:p>
          <a:p>
            <a:pPr algn="l">
              <a:spcAft>
                <a:spcPts val="1000"/>
              </a:spcAft>
            </a:pPr>
            <a:r>
              <a:rPr sz="1600" b="0">
                <a:solidFill>
                  <a:srgbClr val="222222"/>
                </a:solidFill>
                <a:latin typeface="맑은 고딕"/>
              </a:rPr>
              <a:t>•  19c 는 이미지 기반 — 미디어를 최종 홈에 직접 푼다</a:t>
            </a:r>
          </a:p>
          <a:p>
            <a:pPr algn="l">
              <a:spcAft>
                <a:spcPts val="1000"/>
              </a:spcAft>
            </a:pPr>
            <a:r>
              <a:rPr sz="1600" b="0">
                <a:solidFill>
                  <a:srgbClr val="222222"/>
                </a:solidFill>
                <a:latin typeface="맑은 고딕"/>
              </a:rPr>
              <a:t>•  networkInterfaceList 용도 코드 1=public, 5=ASM+private</a:t>
            </a:r>
          </a:p>
          <a:p>
            <a:pPr algn="l">
              <a:spcAft>
                <a:spcPts val="1000"/>
              </a:spcAft>
            </a:pPr>
            <a:r>
              <a:rPr sz="1600" b="0">
                <a:solidFill>
                  <a:srgbClr val="222222"/>
                </a:solidFill>
                <a:latin typeface="맑은 고딕"/>
              </a:rPr>
              <a:t>•  redundancy=NORMAL 이면 보팅 파일 3벌</a:t>
            </a:r>
          </a:p>
          <a:p>
            <a:pPr algn="l">
              <a:spcAft>
                <a:spcPts val="1000"/>
              </a:spcAft>
            </a:pPr>
            <a:r>
              <a:rPr sz="1600" b="0">
                <a:solidFill>
                  <a:srgbClr val="222222"/>
                </a:solidFill>
                <a:latin typeface="맑은 고딕"/>
              </a:rPr>
              <a:t>•  root.sh 는 첫 노드가 OCR 과 보팅 파일을 만든다. 순서 필수(6.0분 대 1.9분)</a:t>
            </a:r>
          </a:p>
          <a:p>
            <a:pPr algn="l">
              <a:spcAft>
                <a:spcPts val="1000"/>
              </a:spcAft>
            </a:pPr>
            <a:r>
              <a:rPr sz="1600" b="0">
                <a:solidFill>
                  <a:srgbClr val="222222"/>
                </a:solidFill>
                <a:latin typeface="맑은 고딕"/>
              </a:rPr>
              <a:t>•  INS-13013 — 설치 사용자 기본 그룹과 인벤토리 그룹 불일치</a:t>
            </a:r>
          </a:p>
          <a:p>
            <a:pPr algn="l">
              <a:spcAft>
                <a:spcPts val="1000"/>
              </a:spcAft>
            </a:pPr>
            <a:r>
              <a:rPr sz="1600" b="0">
                <a:solidFill>
                  <a:srgbClr val="222222"/>
                </a:solidFill>
                <a:latin typeface="맑은 고딕"/>
              </a:rPr>
              <a:t>•  INS-32050 — 인벤토리 안에 접근 불가 파일. 백업을 밖에 둔다</a:t>
            </a:r>
          </a:p>
          <a:p>
            <a:pPr algn="l">
              <a:spcAft>
                <a:spcPts val="1000"/>
              </a:spcAft>
            </a:pPr>
            <a:r>
              <a:rPr sz="1600" b="0">
                <a:solidFill>
                  <a:srgbClr val="222222"/>
                </a:solidFill>
                <a:latin typeface="맑은 고딕"/>
              </a:rPr>
              <a:t>•  사전 점검 실패는 빠르고 되돌릴 것이 없다(1.3분, 0.6분)</a:t>
            </a:r>
          </a:p>
          <a:p>
            <a:pPr algn="l">
              <a:spcAft>
                <a:spcPts val="1000"/>
              </a:spcAft>
            </a:pPr>
            <a:r>
              <a:rPr sz="1600" b="0">
                <a:solidFill>
                  <a:srgbClr val="222222"/>
                </a:solidFill>
                <a:latin typeface="맑은 고딕"/>
              </a:rPr>
              <a:t>•  계정 가드가 양방향 — root.sh 는 root, gridSetup·deinstall 은 설치 사용자</a:t>
            </a:r>
          </a:p>
          <a:p>
            <a:pPr algn="l">
              <a:spcAft>
                <a:spcPts val="1000"/>
              </a:spcAft>
            </a:pPr>
            <a:r>
              <a:rPr sz="1600" b="0">
                <a:solidFill>
                  <a:srgbClr val="222222"/>
                </a:solidFill>
                <a:latin typeface="맑은 고딕"/>
              </a:rPr>
              <a:t>•  crsctl query crs 네 하위 명령은 각각 다른 것을 말한다</a:t>
            </a:r>
          </a:p>
          <a:p>
            <a:pPr algn="l">
              <a:spcAft>
                <a:spcPts val="1000"/>
              </a:spcAft>
            </a:pPr>
            <a:r>
              <a:rPr sz="1600" b="0">
                <a:solidFill>
                  <a:srgbClr val="222222"/>
                </a:solidFill>
                <a:latin typeface="맑은 고딕"/>
              </a:rPr>
              <a:t>•  검증은 cluvfy stage -post crsinst 로 28개 항목, 1.6분</a:t>
            </a:r>
          </a:p>
          <a:p>
            <a:pPr algn="l">
              <a:spcAft>
                <a:spcPts val="1000"/>
              </a:spcAft>
            </a:pPr>
            <a:r>
              <a:rPr sz="1600" b="0">
                <a:solidFill>
                  <a:srgbClr val="222222"/>
                </a:solidFill>
                <a:latin typeface="맑은 고딕"/>
              </a:rPr>
              <a:t>•  ORACLE_HOME 두 개, ORACLE_BASE 도 다르다 — 로그 위치가 갈린다</a:t>
            </a:r>
          </a:p>
          <a:p>
            <a:pPr algn="l">
              <a:spcAft>
                <a:spcPts val="1000"/>
              </a:spcAft>
            </a:pPr>
            <a:r>
              <a:rPr sz="1600" b="0">
                <a:solidFill>
                  <a:srgbClr val="222222"/>
                </a:solidFill>
                <a:latin typeface="맑은 고딕"/>
              </a:rPr>
              <a:t>•  RAC DB 는 oratab 자동 기동에 의존하지 않는다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root.sh 를 두 노드에서 동시에 실행하면 안 되는 이유와 설치 관리자의 안내는</a:t>
            </a:r>
          </a:p>
          <a:p>
            <a:pPr algn="l">
              <a:spcAft>
                <a:spcPts val="1000"/>
              </a:spcAft>
            </a:pPr>
            <a:r>
              <a:rPr sz="1600" b="0">
                <a:solidFill>
                  <a:srgbClr val="222222"/>
                </a:solidFill>
                <a:latin typeface="맑은 고딕"/>
              </a:rPr>
              <a:t>•  Q2. root.sh 가 rac1 6.0분, rac2 1.9분인 이유는</a:t>
            </a:r>
          </a:p>
          <a:p>
            <a:pPr algn="l">
              <a:spcAft>
                <a:spcPts val="1000"/>
              </a:spcAft>
            </a:pPr>
            <a:r>
              <a:rPr sz="1600" b="0">
                <a:solidFill>
                  <a:srgbClr val="222222"/>
                </a:solidFill>
                <a:latin typeface="맑은 고딕"/>
              </a:rPr>
              <a:t>•  Q3. 기본 그룹은 oinstall 인데 INS-13013 이 났다. 어디를 확인하나</a:t>
            </a:r>
          </a:p>
          <a:p>
            <a:pPr algn="l">
              <a:spcAft>
                <a:spcPts val="1000"/>
              </a:spcAft>
            </a:pPr>
            <a:r>
              <a:rPr sz="1600" b="0">
                <a:solidFill>
                  <a:srgbClr val="222222"/>
                </a:solidFill>
                <a:latin typeface="맑은 고딕"/>
              </a:rPr>
              <a:t>•  Q4. 그룹을 고쳤는데 INS-32050 이 났다. 무엇이 원인일 수 있나</a:t>
            </a:r>
          </a:p>
          <a:p>
            <a:pPr algn="l">
              <a:spcAft>
                <a:spcPts val="1000"/>
              </a:spcAft>
            </a:pPr>
            <a:r>
              <a:rPr sz="1600" b="0">
                <a:solidFill>
                  <a:srgbClr val="222222"/>
                </a:solidFill>
                <a:latin typeface="맑은 고딕"/>
              </a:rPr>
              <a:t>•  Q5. gridSetup.sh 를 root 로 실행하면 어떻게 되고 왜 막나</a:t>
            </a:r>
          </a:p>
          <a:p>
            <a:pPr algn="l">
              <a:spcAft>
                <a:spcPts val="1000"/>
              </a:spcAft>
            </a:pPr>
            <a:r>
              <a:rPr sz="1600" b="0">
                <a:solidFill>
                  <a:srgbClr val="222222"/>
                </a:solidFill>
                <a:latin typeface="맑은 고딕"/>
              </a:rPr>
              <a:t>•  Q6. activeversion 의 patch level 과 softwarepatch 가 다르면 어떤 상황인가</a:t>
            </a:r>
          </a:p>
          <a:p>
            <a:pPr algn="l">
              <a:spcAft>
                <a:spcPts val="1000"/>
              </a:spcAft>
            </a:pPr>
            <a:r>
              <a:rPr sz="1600" b="0">
                <a:solidFill>
                  <a:srgbClr val="222222"/>
                </a:solidFill>
                <a:latin typeface="맑은 고딕"/>
              </a:rPr>
              <a:t>•  Q7. 설치 완료 환경에서 stage -pre crsinst 가 실패했다. 조치가 필요한가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응답 파일 읽기 — 항목별 의미, 용도 코드, 비밀번호 처리, 25분</a:t>
            </a:r>
          </a:p>
          <a:p>
            <a:pPr algn="l">
              <a:spcAft>
                <a:spcPts val="1000"/>
              </a:spcAft>
            </a:pPr>
            <a:r>
              <a:rPr sz="1600" b="0">
                <a:solidFill>
                  <a:srgbClr val="222222"/>
                </a:solidFill>
                <a:latin typeface="맑은 고딕"/>
              </a:rPr>
              <a:t>•  02 설치 로그 추적 — GridSetupActions, 첫 시도와 재시도, 25분</a:t>
            </a:r>
          </a:p>
          <a:p>
            <a:pPr algn="l">
              <a:spcAft>
                <a:spcPts val="1000"/>
              </a:spcAft>
            </a:pPr>
            <a:r>
              <a:rPr sz="1600" b="0">
                <a:solidFill>
                  <a:srgbClr val="222222"/>
                </a:solidFill>
                <a:latin typeface="맑은 고딕"/>
              </a:rPr>
              <a:t>•  03 root.sh 출력 읽기 — 보팅 파일 생성, 노드별 소요, 두 노드, 30분</a:t>
            </a:r>
          </a:p>
          <a:p>
            <a:pPr algn="l">
              <a:spcAft>
                <a:spcPts val="1000"/>
              </a:spcAft>
            </a:pPr>
            <a:r>
              <a:rPr sz="1600" b="0">
                <a:solidFill>
                  <a:srgbClr val="222222"/>
                </a:solidFill>
                <a:latin typeface="맑은 고딕"/>
              </a:rPr>
              <a:t>•  04 계정 가드 확인 — 세 가지 잘못된 실행과 무손상 검증, 25분</a:t>
            </a:r>
          </a:p>
          <a:p>
            <a:pPr algn="l">
              <a:spcAft>
                <a:spcPts val="1000"/>
              </a:spcAft>
            </a:pPr>
            <a:r>
              <a:rPr sz="1600" b="0">
                <a:solidFill>
                  <a:srgbClr val="222222"/>
                </a:solidFill>
                <a:latin typeface="맑은 고딕"/>
              </a:rPr>
              <a:t>•  05 설치 후 검증 — 버전 넷, 클러스터 상태, cluvfy post, 두 노드, 30분</a:t>
            </a:r>
          </a:p>
          <a:p>
            <a:pPr algn="l">
              <a:spcAft>
                <a:spcPts val="1000"/>
              </a:spcAft>
            </a:pPr>
            <a:r>
              <a:rPr sz="1600" b="0">
                <a:solidFill>
                  <a:srgbClr val="222222"/>
                </a:solidFill>
                <a:latin typeface="맑은 고딕"/>
              </a:rPr>
              <a:t>•  06 Grid 홈 구조 — 디렉터리, 실행 파일, 스크립트 권한, 25분</a:t>
            </a:r>
          </a:p>
          <a:p>
            <a:pPr algn="l">
              <a:spcAft>
                <a:spcPts val="1000"/>
              </a:spcAft>
            </a:pPr>
            <a:r>
              <a:rPr sz="1600" b="0">
                <a:solidFill>
                  <a:srgbClr val="222222"/>
                </a:solidFill>
                <a:latin typeface="맑은 고딕"/>
              </a:rPr>
              <a:t>•  07 두 ORACLE_HOME 구분 — 환경 변수, 인벤토리, oratab, 로그 위치, 25분</a:t>
            </a:r>
          </a:p>
          <a:p>
            <a:pPr algn="l">
              <a:spcAft>
                <a:spcPts val="1000"/>
              </a:spcAft>
            </a:pPr>
            <a:r>
              <a:rPr sz="1600" b="0">
                <a:solidFill>
                  <a:srgbClr val="222222"/>
                </a:solidFill>
                <a:latin typeface="맑은 고딕"/>
              </a:rPr>
              <a:t>•  설치를 다시 하지는 않는다. 산출물과 로그를 읽고 안전한 오류만 재현한다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4.9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정리와 다음 단계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실측 시간표</a:t>
            </a:r>
          </a:p>
          <a:p>
            <a:pPr algn="l">
              <a:spcAft>
                <a:spcPts val="800"/>
              </a:spcAft>
            </a:pPr>
            <a:r>
              <a:rPr sz="1600" b="0">
                <a:solidFill>
                  <a:srgbClr val="FFFFFF"/>
                </a:solidFill>
                <a:latin typeface="맑은 고딕"/>
              </a:rPr>
              <a:t>•  설치 체크리스트</a:t>
            </a:r>
          </a:p>
          <a:p>
            <a:pPr algn="l">
              <a:spcAft>
                <a:spcPts val="800"/>
              </a:spcAft>
            </a:pPr>
            <a:r>
              <a:rPr sz="1600" b="0">
                <a:solidFill>
                  <a:srgbClr val="FFFFFF"/>
                </a:solidFill>
                <a:latin typeface="맑은 고딕"/>
              </a:rPr>
              <a:t>•  다음 장 예고</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GIMR 을 쓸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 시점에 결정한다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GIMR 은 클러스터 상태 이력과 진단 정보를 담는 데이터베이스다</a:t>
            </a:r>
          </a:p>
          <a:p>
            <a:pPr algn="l">
              <a:spcAft>
                <a:spcPts val="1000"/>
              </a:spcAft>
            </a:pPr>
            <a:r>
              <a:rPr sz="1700" b="0">
                <a:solidFill>
                  <a:srgbClr val="222222"/>
                </a:solidFill>
                <a:latin typeface="맑은 고딕"/>
              </a:rPr>
              <a:t>•  쓰면 — 별도 디스크그룹과 수십 GB, 설치 시간 증가, CHM 이력 장기 보관</a:t>
            </a:r>
          </a:p>
          <a:p>
            <a:pPr algn="l">
              <a:spcAft>
                <a:spcPts val="1000"/>
              </a:spcAft>
            </a:pPr>
            <a:r>
              <a:rPr sz="1700" b="0">
                <a:solidFill>
                  <a:srgbClr val="222222"/>
                </a:solidFill>
                <a:latin typeface="맑은 고딕"/>
              </a:rPr>
              <a:t>•  안 쓰면 — 디스크와 시간 절약, 단기 이력만 로컬에 남는다</a:t>
            </a:r>
          </a:p>
          <a:p>
            <a:pPr algn="l">
              <a:spcAft>
                <a:spcPts val="1000"/>
              </a:spcAft>
            </a:pPr>
            <a:r>
              <a:rPr sz="1700" b="0">
                <a:solidFill>
                  <a:srgbClr val="222222"/>
                </a:solidFill>
                <a:latin typeface="맑은 고딕"/>
              </a:rPr>
              <a:t>•  19c 에서는 선택 사항이며 기본 권장은 사용이다</a:t>
            </a:r>
          </a:p>
          <a:p>
            <a:pPr algn="l">
              <a:spcAft>
                <a:spcPts val="1000"/>
              </a:spcAft>
            </a:pPr>
            <a:r>
              <a:rPr sz="1700" b="0">
                <a:solidFill>
                  <a:srgbClr val="222222"/>
                </a:solidFill>
                <a:latin typeface="맑은 고딕"/>
              </a:rPr>
              <a:t>•  실습 환경은 configureGIMR=false — 학습 목적에는 영향이 없다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실측 시간표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작업 창을 잡을 때 참고한다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미디어 압축 해제 4.3분 / gridSetup -silent 6.0분</a:t>
            </a:r>
          </a:p>
          <a:p>
            <a:pPr algn="l">
              <a:spcAft>
                <a:spcPts val="1000"/>
              </a:spcAft>
            </a:pPr>
            <a:r>
              <a:rPr sz="1700" b="0">
                <a:solidFill>
                  <a:srgbClr val="222222"/>
                </a:solidFill>
                <a:latin typeface="맑은 고딕"/>
              </a:rPr>
              <a:t>•  root.sh rac1 6.0분 + rac2 1.9분</a:t>
            </a:r>
          </a:p>
          <a:p>
            <a:pPr algn="l">
              <a:spcAft>
                <a:spcPts val="1000"/>
              </a:spcAft>
            </a:pPr>
            <a:r>
              <a:rPr sz="1700" b="0">
                <a:solidFill>
                  <a:srgbClr val="222222"/>
                </a:solidFill>
                <a:latin typeface="맑은 고딕"/>
              </a:rPr>
              <a:t>•  DB 미디어 압축 해제 5.2분 / runInstaller 8.0분</a:t>
            </a:r>
          </a:p>
          <a:p>
            <a:pPr algn="l">
              <a:spcAft>
                <a:spcPts val="1000"/>
              </a:spcAft>
            </a:pPr>
            <a:r>
              <a:rPr sz="1700" b="0">
                <a:solidFill>
                  <a:srgbClr val="222222"/>
                </a:solidFill>
                <a:latin typeface="맑은 고딕"/>
              </a:rPr>
              <a:t>•  실패한 시도 — gridSetup 1.3분, runInstaller 0.6분</a:t>
            </a:r>
          </a:p>
          <a:p>
            <a:pPr algn="l">
              <a:spcAft>
                <a:spcPts val="1000"/>
              </a:spcAft>
            </a:pPr>
            <a:r>
              <a:rPr sz="1700" b="0">
                <a:solidFill>
                  <a:srgbClr val="222222"/>
                </a:solidFill>
                <a:latin typeface="맑은 고딕"/>
              </a:rPr>
              <a:t>•  하드웨어에 따라 크게 달라진다. 절대값보다 비율을 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설치 체크리스트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순서대로 확인한다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준비 — 3장의 17항목 점검표를 통과했는가</a:t>
            </a:r>
          </a:p>
          <a:p>
            <a:pPr algn="l">
              <a:spcAft>
                <a:spcPts val="1000"/>
              </a:spcAft>
            </a:pPr>
            <a:r>
              <a:rPr sz="1700" b="0">
                <a:solidFill>
                  <a:srgbClr val="222222"/>
                </a:solidFill>
                <a:latin typeface="맑은 고딕"/>
              </a:rPr>
              <a:t>•  응답 파일 — 인터페이스 이름과 디스크 경로가 실제 값인가</a:t>
            </a:r>
          </a:p>
          <a:p>
            <a:pPr algn="l">
              <a:spcAft>
                <a:spcPts val="1000"/>
              </a:spcAft>
            </a:pPr>
            <a:r>
              <a:rPr sz="1700" b="0">
                <a:solidFill>
                  <a:srgbClr val="222222"/>
                </a:solidFill>
                <a:latin typeface="맑은 고딕"/>
              </a:rPr>
              <a:t>•  미디어 — 최종 홈에 직접 풀었는가, 소유권은 grid 인가</a:t>
            </a:r>
          </a:p>
          <a:p>
            <a:pPr algn="l">
              <a:spcAft>
                <a:spcPts val="1000"/>
              </a:spcAft>
            </a:pPr>
            <a:r>
              <a:rPr sz="1700" b="0">
                <a:solidFill>
                  <a:srgbClr val="222222"/>
                </a:solidFill>
                <a:latin typeface="맑은 고딕"/>
              </a:rPr>
              <a:t>•  설치 — Successfully Setup Software 를 확인했는가</a:t>
            </a:r>
          </a:p>
          <a:p>
            <a:pPr algn="l">
              <a:spcAft>
                <a:spcPts val="1000"/>
              </a:spcAft>
            </a:pPr>
            <a:r>
              <a:rPr sz="1700" b="0">
                <a:solidFill>
                  <a:srgbClr val="222222"/>
                </a:solidFill>
                <a:latin typeface="맑은 고딕"/>
              </a:rPr>
              <a:t>•  root.sh — 첫 노드 Succeeded 와 보팅 파일 3개를 눈으로 봤는가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설치 후 남기는 자료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인수인계에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stage -post crsinst 출력 전문</a:t>
            </a:r>
          </a:p>
          <a:p>
            <a:pPr algn="l">
              <a:spcAft>
                <a:spcPts val="1000"/>
              </a:spcAft>
            </a:pPr>
            <a:r>
              <a:rPr sz="1700" b="0">
                <a:solidFill>
                  <a:srgbClr val="222222"/>
                </a:solidFill>
                <a:latin typeface="맑은 고딕"/>
              </a:rPr>
              <a:t>•  crsctl query crs 네 명령의 출력</a:t>
            </a:r>
          </a:p>
          <a:p>
            <a:pPr algn="l">
              <a:spcAft>
                <a:spcPts val="1000"/>
              </a:spcAft>
            </a:pPr>
            <a:r>
              <a:rPr sz="1700" b="0">
                <a:solidFill>
                  <a:srgbClr val="222222"/>
                </a:solidFill>
                <a:latin typeface="맑은 고딕"/>
              </a:rPr>
              <a:t>•  crsctl status resource -t 전체</a:t>
            </a:r>
          </a:p>
          <a:p>
            <a:pPr algn="l">
              <a:spcAft>
                <a:spcPts val="1000"/>
              </a:spcAft>
            </a:pPr>
            <a:r>
              <a:rPr sz="1700" b="0">
                <a:solidFill>
                  <a:srgbClr val="222222"/>
                </a:solidFill>
                <a:latin typeface="맑은 고딕"/>
              </a:rPr>
              <a:t>•  crsctl query css votedisk 와 ocrcheck</a:t>
            </a:r>
          </a:p>
          <a:p>
            <a:pPr algn="l">
              <a:spcAft>
                <a:spcPts val="1000"/>
              </a:spcAft>
            </a:pPr>
            <a:r>
              <a:rPr sz="1700" b="0">
                <a:solidFill>
                  <a:srgbClr val="222222"/>
                </a:solidFill>
                <a:latin typeface="맑은 고딕"/>
              </a:rPr>
              <a:t>•  응답 파일 사본(비밀번호는 자리표시자로 교체)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장에서 배운 오류 다루기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공통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메시지의 CAUSE 와 ACTION 을 끝까지 읽는다 — 파일 이름까지 알려 준다</a:t>
            </a:r>
          </a:p>
          <a:p>
            <a:pPr algn="l">
              <a:spcAft>
                <a:spcPts val="1000"/>
              </a:spcAft>
            </a:pPr>
            <a:r>
              <a:rPr sz="1700" b="0">
                <a:solidFill>
                  <a:srgbClr val="222222"/>
                </a:solidFill>
                <a:latin typeface="맑은 고딕"/>
              </a:rPr>
              <a:t>•  로그 경로가 안내되면 그 파일을 연다</a:t>
            </a:r>
          </a:p>
          <a:p>
            <a:pPr algn="l">
              <a:spcAft>
                <a:spcPts val="1000"/>
              </a:spcAft>
            </a:pPr>
            <a:r>
              <a:rPr sz="1700" b="0">
                <a:solidFill>
                  <a:srgbClr val="222222"/>
                </a:solidFill>
                <a:latin typeface="맑은 고딕"/>
              </a:rPr>
              <a:t>•  한 번에 하나씩 고치고 재실행한다</a:t>
            </a:r>
          </a:p>
          <a:p>
            <a:pPr algn="l">
              <a:spcAft>
                <a:spcPts val="1000"/>
              </a:spcAft>
            </a:pPr>
            <a:r>
              <a:rPr sz="1700" b="0">
                <a:solidFill>
                  <a:srgbClr val="222222"/>
                </a:solidFill>
                <a:latin typeface="맑은 고딕"/>
              </a:rPr>
              <a:t>•  조치가 새 문제를 만들 수 있다 — INS-13013 조치가 INS-32050 을 낳았다</a:t>
            </a:r>
          </a:p>
          <a:p>
            <a:pPr algn="l">
              <a:spcAft>
                <a:spcPts val="1000"/>
              </a:spcAft>
            </a:pPr>
            <a:r>
              <a:rPr sz="1700" b="0">
                <a:solidFill>
                  <a:srgbClr val="222222"/>
                </a:solidFill>
                <a:latin typeface="맑은 고딕"/>
              </a:rPr>
              <a:t>•  사전 점검 실패는 되돌릴 것이 없으니 서두르지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 예고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OCR 과 Voting File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 장에서 root.sh 가 OCR 을 초기화하고 보팅 파일 3벌을 만들었다</a:t>
            </a:r>
          </a:p>
          <a:p>
            <a:pPr algn="l">
              <a:spcAft>
                <a:spcPts val="1000"/>
              </a:spcAft>
            </a:pPr>
            <a:r>
              <a:rPr sz="1700" b="0">
                <a:solidFill>
                  <a:srgbClr val="222222"/>
                </a:solidFill>
                <a:latin typeface="맑은 고딕"/>
              </a:rPr>
              <a:t>•  5장은 그 두 대상을 본격적으로 다룬다</a:t>
            </a:r>
          </a:p>
          <a:p>
            <a:pPr algn="l">
              <a:spcAft>
                <a:spcPts val="1000"/>
              </a:spcAft>
            </a:pPr>
            <a:r>
              <a:rPr sz="1700" b="0">
                <a:solidFill>
                  <a:srgbClr val="222222"/>
                </a:solidFill>
                <a:latin typeface="맑은 고딕"/>
              </a:rPr>
              <a:t>•  백업과 복원, 다중화, 손실 시 복구 절차</a:t>
            </a:r>
          </a:p>
          <a:p>
            <a:pPr algn="l">
              <a:spcAft>
                <a:spcPts val="1000"/>
              </a:spcAft>
            </a:pPr>
            <a:r>
              <a:rPr sz="1700" b="0">
                <a:solidFill>
                  <a:srgbClr val="222222"/>
                </a:solidFill>
                <a:latin typeface="맑은 고딕"/>
              </a:rPr>
              <a:t>•  +CRS 를 Normal 로 만든 이유가 5장에서 완전히 설명된다</a:t>
            </a:r>
          </a:p>
          <a:p>
            <a:pPr algn="l">
              <a:spcAft>
                <a:spcPts val="1000"/>
              </a:spcAft>
            </a:pPr>
            <a:r>
              <a:rPr sz="1700" b="0">
                <a:solidFill>
                  <a:srgbClr val="222222"/>
                </a:solidFill>
                <a:latin typeface="맑은 고딕"/>
              </a:rPr>
              <a:t>•  이 장의 File Universal Id 도 5장에서 다시 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장의 핵심 다섯</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19c 는 이미지 기반 설치 — 미디어를 최종 홈에 직접 푼다</a:t>
            </a:r>
          </a:p>
          <a:p>
            <a:pPr algn="l">
              <a:spcAft>
                <a:spcPts val="1000"/>
              </a:spcAft>
            </a:pPr>
            <a:r>
              <a:rPr sz="1700" b="0">
                <a:solidFill>
                  <a:srgbClr val="222222"/>
                </a:solidFill>
                <a:latin typeface="맑은 고딕"/>
              </a:rPr>
              <a:t>•  root.sh 는 첫 노드부터. 실측 6.0분 대 1.9분이 그 근거다</a:t>
            </a:r>
          </a:p>
          <a:p>
            <a:pPr algn="l">
              <a:spcAft>
                <a:spcPts val="1000"/>
              </a:spcAft>
            </a:pPr>
            <a:r>
              <a:rPr sz="1700" b="0">
                <a:solidFill>
                  <a:srgbClr val="222222"/>
                </a:solidFill>
                <a:latin typeface="맑은 고딕"/>
              </a:rPr>
              <a:t>•  INS-13013 과 INS-32050 은 인벤토리 문제이며 클론 환경에서 흔하다</a:t>
            </a:r>
          </a:p>
          <a:p>
            <a:pPr algn="l">
              <a:spcAft>
                <a:spcPts val="1000"/>
              </a:spcAft>
            </a:pPr>
            <a:r>
              <a:rPr sz="1700" b="0">
                <a:solidFill>
                  <a:srgbClr val="222222"/>
                </a:solidFill>
                <a:latin typeface="맑은 고딕"/>
              </a:rPr>
              <a:t>•  계정 가드가 양방향으로 걸려 있다</a:t>
            </a:r>
          </a:p>
          <a:p>
            <a:pPr algn="l">
              <a:spcAft>
                <a:spcPts val="1000"/>
              </a:spcAft>
            </a:pPr>
            <a:r>
              <a:rPr sz="1700" b="0">
                <a:solidFill>
                  <a:srgbClr val="222222"/>
                </a:solidFill>
                <a:latin typeface="맑은 고딕"/>
              </a:rPr>
              <a:t>•  검증은 cluvfy stage -post crsinst 한 줄로 28개 항목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
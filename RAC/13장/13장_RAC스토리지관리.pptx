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62547-3872-43A9-9629-89CC465F61A0}"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F58314-024B-4CBA-8BE9-A649409E24D8}" type="slidenum">
              <a:rPr lang="ko-KR" altLang="en-US" smtClean="0"/>
              <a:t>‹#›</a:t>
            </a:fld>
            <a:endParaRPr lang="ko-KR" altLang="en-US"/>
          </a:p>
        </p:txBody>
      </p:sp>
    </p:spTree>
    <p:extLst>
      <p:ext uri="{BB962C8B-B14F-4D97-AF65-F5344CB8AC3E}">
        <p14:creationId xmlns:p14="http://schemas.microsoft.com/office/powerpoint/2010/main" val="16201108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위치를 먼저 잡아 주십시오. 앞선 ASM 장들이 저장 계층이었다면 이 장은 데이터베이스 계층입니다. 다루는 대상은 단일 인스턴스 교육에서도 나오는 것들이지만 RAC 에서 성격이 갈립니다. 이 장의 뼈대는 단순합니다. 무엇을 공유하고 무엇을 나누는가, 그리고 그 기준이 무엇인가입니다. 실습에서 만나는 오류 셋이 그 경계를 정확히 보여 준다는 점을 예고해 두십시오. 파괴적인 작업은 없으므로 수강생 부담은 크지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SEQUENCE# 의 차이를 짚는 것이 핵심입니다. 두 스레드의 번호가 다르다는 것은 두 인스턴스가 서로 다른 속도로 리두를 쓰고 있다는 뜻입니다. 단일 인스턴스에서는 볼 수 없는 현상입니다. STATUS 열에서 CURRENT 가 두 개인 것도 처음 보면 이상하게 느껴질 수 있는데, 스레드마다 하나씩이므로 정상입니다. 이 두 관찰이 스레드 개념의 출발점입니다. 10장과 12장에서 THREAD# 를 여러 번 봤지만 그것이 무엇인지는 이 장에서 처음 정면으로 다룹니다.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V$THREAD 는 스레드와 인스턴스의 대응을 직접 보여 주는 뷰입니다. GV$INSTANCE 의 THREAD# 로도 알 수 있지만 이쪽이 스레드 관점의 정보를 더 줍니다. ENABLED 가 PUBLIC 과 PRIVATE 로 나뉜다는 점도 짚어 주십시오. PUBLIC 이면 어느 인스턴스든 그 스레드를 쓸 수 있고 PRIVATE 면 특정 인스턴스에 고정됩니다. 대부분의 환경에서 PUBLIC 을 씁니다.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나누는 이유를 물리적 특성에서 설명하십시오. 리두로그는 순차 쓰기이며 이것이 성능의 핵심입니다. 두 인스턴스가 공유하면 순서 보장을 위해 잠금이 필요하고, 그러면 순차 쓰기의 이점이 사라집니다. 마지막 줄이 중요합니다. 나눠 쓰되 복구는 함께 합니다. 스레드마다 SEQUENCE# 가 따로 올라가지만 스레드 간 순서는 SCN 이 정합니다. 인스턴스 하나가 죽으면 살아남은 쪽이 죽은 스레드를 읽어 복구합니다.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V$LOG 와 V$LOGFILE 을 조인하면 8 행이 나오는데 그룹은 넷입니다. 이 숫자 차이에서 두 개념을 분리해 설명하십시오. 스레드는 RAC 때문에 생긴 축이고 멤버는 안정성을 위한 축입니다. 축이 둘이므로 행이 곱해집니다. 멤버를 +DATA 와 +FRA 에 나눠 두면 디스크그룹 하나를 잃어도 리두가 남는다는 점도 함께 짚으십시오. 이 랩은 dbca 가 기본으로 그렇게 구성했습니다.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명령의 각 부분을 짚어 주십시오. thread 절이 RAC 전용입니다. 이것을 빠뜨리면 명령을 실행한 인스턴스의 스레드에 붙으므로, 다른 스레드에 추가하려던 의도와 어긋납니다. UNUSED 라는 상태도 처음 보는 값일 수 있습니다. 만들어졌지만 로그 스위치가 그 그룹 차례까지 오지 않은 상태입니다. 그리고 반드시 rac2 에서도 조회해 즉시 보이는 것을 확인시키십시오. 리두 구성은 컨트롤파일에 기록되고 컨트롤파일은 공유되기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메시지를 함께 읽는 시간을 가지십시오. 이 오류가 RAC 다운 이유는 인스턴스 이름과 스레드 번호가 들어 있기 때문입니다. 덕분에 어느 노드에서 로그 스위치를 해야 하는지 바로 알 수 있습니다. racdb1 이라고 했으니 rac1 에서 해야 합니다. 함께 나오는 ORA-00312 두 줄은 그 그룹의 멤버 파일 경로이며, 멤버가 둘이므로 두 줄입니다. 오류 메시지 하나에서 그룹 구성까지 읽을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리두 크기 변경 절차의 뼈대입니다. RAC 의 차이점은 2단계를 어느 노드에서 실행하느냐입니다. 스레드 1 의 그룹을 지우려면 racdb1 에서 스위치해야 하며, racdb2 에서 아무리 스위치해도 스레드 1 의 CURRENT 는 바뀌지 않습니다. 이것을 모르면 계속 스위치하면서 왜 안 바뀌는지 헤매게 됩니다. 스레드마다 최소 두 그룹이 필요하다는 제약도 함께 말해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크기 차이 자체는 문제가 아니라는 점을 먼저 말해 주십시오. 만들어진 시점과 사용량이 다르기 때문입니다. 다만 운영 환경에서 두 노드에 비슷한 부하가 걸린다면 결국 비슷해져야 합니다. 한쪽만 계속 커진다면 부하가 그 노드에 몰려 있다는 신호이며, 서비스 배치나 접속 분산을 점검할 근거가 됩니다. 13.5 절에서 이것을 리두 통계로 다시 확인하므로 두 지표를 함께 기억하게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나누는 이유를 세그먼트 수준에서 설명하는 슬라이드입니다. UNDO 테이블스페이스 안에 롤백 세그먼트가 여러 개 있고 트랜잭션마다 하나를 배정받습니다. 두 인스턴스가 같은 테이블스페이스를 쓰면 이 배정을 두고 경합이 생깁니다. 자동 UNDO 관리에서는 오라클이 세그먼트 개수를 알아서 조절하므로 관리자가 신경 쓸 일은 거의 없습니다. 관리자가 정하는 것은 어느 테이블스페이스를 쓸지 하나뿐입니다.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12장의 세 분류를 여기에 적용하는 슬라이드입니다. undo_management 와 undo_retention 은 "같은 것이 권장" 분류이고 undo_tablespace 만 "반드시 달라야" 입니다. 방식과 보존 기간은 공통이고 각자 쓸 테이블스페이스만 다릅니다. 다르게 잡으면 어느 노드에 접속했느냐에 따라 스냅숏 너무 오래됨 오류 시점이 달라져 진단이 어려워집니다. 같은 쿼리가 한 노드에서는 되고 다른 노드에서는 실패하는 상황이 만들어집니다.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수치를 읽는 법을 가르치십시오. UNDOBLKS 가 대부분 1 인데 한 구간만 310 인 것은 그 시간대에 대량 변경이 있었다는 뜻입니다. MAXQUERYLEN 이 1561 인 구간은 undo_retention 900 을 크게 넘었으므로 ORA-01555 가 날 수 있었던 구간입니다. 그리고 RAC 에서는 반드시 GV$ 로 봐야 한다는 점을 강조하십시오. UNDO 가 나뉘어 있으므로 한 인스턴스 통계는 절반입니다.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오류를 구분해 두면 진단이 빠릅니다. 노드를 추가할 때 새 UNDO 를 만들지 않고 SPFILE 에 이름만 지정하면 ORA-30012 이고, 기존 것을 그대로 쓰려 하면 ORA-30013 입니다. 앞에 나오는 ORA-02097 은 "파라미터를 바꿀 수 없다" 는 일반적인 메시지라 정보가 없습니다. 오라클 오류는 이렇게 겹쳐 나오는 경우가 많으므로 마지막 줄을 봐야 한다는 습관을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장을 연결하는 슬라이드입니다. 12장에서 오라클이 막아 주지 않는 위험한 변경을 봤고 여기서는 막아 줍니다. 무엇이 다른지를 생각해 보게 하십시오. 답은 검증 가능성입니다. UNDO 테이블스페이스가 지금 다른 인스턴스에 물려 있는지는 실행 시점에 확인 가능한 사실입니다. 반면 cluster_database=FALSE 가 지금 이 상황에서 틀린지는 도구가 판단할 수 없습니다.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템프파일이 셋이라 인스턴스별로 나뉜 것처럼 오해하기 쉽습니다. CON_ID 를 함께 조회해 컨테이너 때문이라는 것을 분명히 하십시오. 9장에서 GUID 디렉터리를 추적할 때 본 그 구조입니다. 테이블스페이스 자체는 TEMP 하나이며 이것이 리두·UNDO 와 결정적으로 다른 점입니다. 인스턴스가 몇이든 임시 테이블스페이스 개수는 변하지 않는다는 것을 분명히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자원의 차이를 한 화면에서 비교하는 슬라이드입니다. 임시 공간은 정렬이나 해시 조인에 쓰는 작업 공간이며 각 세션이 필요한 만큼 익스텐트를 할당받아 쓰고 끝나면 반납합니다. 할당 단위가 처음부터 나뉘어 있으므로 공유해도 경합이 크지 않습니다. 이 논리를 이해하면 왜 셋이 다르게 처리되는지가 명확해집니다. 세 자원을 나란히 놓고 각각의 쓰기 방식을 비교하며 설명하는 것이 효과적입니다.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확보량이라는 개념이 핵심입니다. 각 인스턴스가 TEMP 에서 자기 몫의 익스텐트를 미리 잡아 두고 그 안에서 세션에 나눠 줍니다. 인스턴스 1 쪽이 더 많은 것은 그동안 더 많은 정렬 작업을 했기 때문입니다. 확보한 익스텐트는 세션이 끝나도 바로 반납되지 않고 인스턴스가 계속 들고 있습니다. 행이 인스턴스마다 둘씩인 것은 컨테이너 때문이며 앞 슬라이드와 같은 이유입니다. 이 구조 때문에 다음 슬라이드의 진단 함정이 생깁니다.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바로 쓸 수 있는 진단 요령입니다. 전체 크기만 보고 "공간이 충분한데 왜" 하고 헤매는 경우가 실제로 있습니다. 이 랩의 TEMP 는 36MB 이고 자동 확장이 켜져 있어 최대 32GB 까지 늘어납니다. 자동 확장이 꺼져 있거나 상한에 도달했다면 첫 번째 항목이 원인이고, 그렇지 않다면 두 번째를 의심해야 합니다. 두 조회를 한 세트로 실행하는 습관을 들이면 진단이 빨라집니다.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양방향을 모두 실습하는 것이 중요합니다. 한 방향만 해 보면 우연이라고 생각할 수 있습니다. 이유는 단순합니다. 테이블스페이스를 만들면 그 정보가 공유 저장소의 딕셔너리와 컨트롤파일에 기록되고 다른 인스턴스는 그것을 읽습니다. 10장에서 파일이 공유 스토리지에 없어 rac2 가 ORA-01157 을 냈던 것과 짝을 이룹니다. 그때는 딕셔너리에 이름은 있는데 파일이 없었고, 여기서는 이름과 파일이 모두 공유됩니다.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실습이 RAC 의 본질을 보여 줍니다. 데이터는 하나이고 인스턴스는 둘입니다. 앞에서 리두와 UNDO 를 나눈다고 배웠으므로 데이터도 나뉘는 것 아닌가 하는 오해가 생길 수 있습니다. 나뉜 것은 각 인스턴스가 변경을 기록하는 방식이지 데이터 자체가 아니라는 점을 분명히 하십시오. 실습에서 양 노드가 각각 1000건씩 넣고 어느 쪽에서 조회해도 2000건이 나오는 것을 직접 보게 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캐시 퓨전을 깊이 다루지는 않되 이 장의 맥락에서 위치를 잡아 주십시오. 데이터파일 공유가 가능한 이유가 캐시 퓨전이며, 이것은 메모리와 네트워크의 이야기입니다. 저장 계층에서 할 일은 없습니다. 반대로 리두와 UNDO 는 캐시 퓨전으로 해결할 수 없는 종류의 경합이라 저장 계층에서 나눠 두어야 합니다. 이 대비가 이 장의 결론이며, 20장에서 gc 대기 이벤트를 다룰 때 다시 이어집니다.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표가 이 장의 요약입니다. 다섯 줄을 외우게 하기보다 기준 하나를 기억하게 하십시오. 동시에 쓸 수 있는가입니다. 순차 쓰기이거나 배타적 배정이 필요하면 나눕니다. 이 기준을 알면 새로운 자원을 만났을 때도 스스로 판단할 수 있습니다. 순차 쓰기이거나 배타적 배정이 필요하면 나누고, 그렇지 않으면 공유합니다. 다섯 자원 모두 이 한 문장으로 설명됩니다.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구분이 이 장에서 가장 미묘한 지점입니다. 구조 정보는 언제나 공유되므로 어느 노드에서 만들든 즉시 보입니다. 그러나 그것을 쓸 수 있는지는 다른 문제입니다. 이 둘을 혼동하면 ORA-30013 을 만나고 왜 안 되는지 이해하지 못합니다. 보이는 것과 쓸 수 있는 것은 다르다는 문장으로 정리해 주십시오. 이 장에서 가장 미묘하면서도 가장 중요한 구분입니다.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수치로 부하 편중을 확인하는 방법입니다. 이 랩은 실습을 대부분 rac1 에서 진행했으므로 예상되는 결과이지만, 운영 환경이라면 접속 분산이 기울어 있다는 신호입니다. redo log space requests 가 0 인 것도 확인해 둘 값입니다. 리두 버퍼가 가득 차 스위치를 기다린 횟수이며 0 이면 리두 크기가 충분하다는 뜻입니다. 이 값이 계속 올라간다면 그룹을 늘리거나 크기를 키워야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내용이 노드 추가 절차와 직결된다는 것을 보여 주는 슬라이드입니다. 나누는 자원 둘에 대해서만 준비 작업이 있고 공유하는 자원은 손댈 것이 없습니다. 2번을 빠뜨리는 실수가 흔합니다. 리두 그룹은 만들었는데 스레드를 활성화하지 않아 새 인스턴스가 기동되지 않고, 원인을 리두가 아닌 다른 곳에서 찾게 됩니다. 노드 추가 절차서에 이 세 줄을 순서대로 적어 두라고 권하십시오.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항목 중 둘이 RAC 특유의 것입니다. UNDO 크기 편중은 부하 분산을 점검할 근거가 되고, 임시 공간 확보량 불균형은 전체 여유가 충분한데도 오류가 나는 원인이 됩니다. 나머지 셋은 단일 인스턴스에도 있는 항목이지만 RAC 에서는 스레드나 노드 축이 하나 더 붙습니다. 이 다섯 줄을 점검 스크립트로 만들어 두라고 권하십시오. 12장에서 만든 파라미터 점검과 합치면 일상 점검의 뼈대가 갖춰집니다.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lgn="l">
              <a:spcAft>
                <a:spcPts val="600"/>
              </a:spcAft>
            </a:pPr>
            <a:r>
              <a:rPr sz="3400" b="1" dirty="0">
                <a:solidFill>
                  <a:srgbClr val="C0392B"/>
                </a:solidFill>
                <a:latin typeface="맑은 고딕"/>
              </a:rPr>
              <a:t>RAC</a:t>
            </a:r>
            <a:r>
              <a:rPr lang="en-US" sz="3400" b="1" dirty="0">
                <a:solidFill>
                  <a:srgbClr val="C0392B"/>
                </a:solidFill>
                <a:latin typeface="맑은 고딕"/>
              </a:rPr>
              <a:t> </a:t>
            </a:r>
            <a:r>
              <a:rPr lang="ko-KR" altLang="en-US" sz="3400" b="1" dirty="0">
                <a:solidFill>
                  <a:srgbClr val="C0392B"/>
                </a:solidFill>
                <a:latin typeface="맑은 고딕"/>
              </a:rPr>
              <a:t>스토리지 관리</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스토리지 관리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무엇을 공유하고 무엇을 나누는가. 기준은 동시에 쓸 수 있는가다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리두·UNDO·임시·데이터파일의 공유 여부와 그 기준을 안다</a:t>
            </a:r>
          </a:p>
          <a:p>
            <a:pPr algn="l">
              <a:spcAft>
                <a:spcPts val="1000"/>
              </a:spcAft>
            </a:pPr>
            <a:r>
              <a:rPr sz="1600" b="0">
                <a:solidFill>
                  <a:srgbClr val="222222"/>
                </a:solidFill>
                <a:latin typeface="맑은 고딕"/>
              </a:rPr>
              <a:t>•  리두 스레드와 인스턴스의 대응을 V$THREAD 로 확인한다</a:t>
            </a:r>
          </a:p>
          <a:p>
            <a:pPr algn="l">
              <a:spcAft>
                <a:spcPts val="1000"/>
              </a:spcAft>
            </a:pPr>
            <a:r>
              <a:rPr sz="1600" b="0">
                <a:solidFill>
                  <a:srgbClr val="222222"/>
                </a:solidFill>
                <a:latin typeface="맑은 고딕"/>
              </a:rPr>
              <a:t>•  리두 그룹을 추가하고 양 노드 반영을 확인한다</a:t>
            </a:r>
          </a:p>
          <a:p>
            <a:pPr algn="l">
              <a:spcAft>
                <a:spcPts val="1000"/>
              </a:spcAft>
            </a:pPr>
            <a:r>
              <a:rPr sz="1600" b="0">
                <a:solidFill>
                  <a:srgbClr val="222222"/>
                </a:solidFill>
                <a:latin typeface="맑은 고딕"/>
              </a:rPr>
              <a:t>•  ORA-30013·ORA-30012·ORA-01623 이 각각 무엇을 요구하는지 안다</a:t>
            </a:r>
          </a:p>
          <a:p>
            <a:pPr algn="l">
              <a:spcAft>
                <a:spcPts val="1000"/>
              </a:spcAft>
            </a:pPr>
            <a:r>
              <a:rPr sz="1600" b="0">
                <a:solidFill>
                  <a:srgbClr val="222222"/>
                </a:solidFill>
                <a:latin typeface="맑은 고딕"/>
              </a:rPr>
              <a:t>•  임시 공간이 공유되면서도 노드별로 확보되는 구조를 설명한다</a:t>
            </a:r>
          </a:p>
          <a:p>
            <a:pPr algn="l">
              <a:spcAft>
                <a:spcPts val="1000"/>
              </a:spcAft>
            </a:pPr>
            <a:r>
              <a:rPr sz="1600" b="0">
                <a:solidFill>
                  <a:srgbClr val="222222"/>
                </a:solidFill>
                <a:latin typeface="맑은 고딕"/>
              </a:rPr>
              <a:t>•  노드 추가 시 스토리지 쪽에서 준비할 셋을 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13.1 리두로그 — 인스턴스마다 따로</a:t>
            </a:r>
          </a:p>
          <a:p>
            <a:pPr algn="l">
              <a:spcAft>
                <a:spcPts val="1000"/>
              </a:spcAft>
            </a:pPr>
            <a:r>
              <a:rPr sz="1600" b="0">
                <a:solidFill>
                  <a:srgbClr val="222222"/>
                </a:solidFill>
                <a:latin typeface="맑은 고딕"/>
              </a:rPr>
              <a:t>•  13.2 UNDO — 인스턴스마다 따로</a:t>
            </a:r>
          </a:p>
          <a:p>
            <a:pPr algn="l">
              <a:spcAft>
                <a:spcPts val="1000"/>
              </a:spcAft>
            </a:pPr>
            <a:r>
              <a:rPr sz="1600" b="0">
                <a:solidFill>
                  <a:srgbClr val="222222"/>
                </a:solidFill>
                <a:latin typeface="맑은 고딕"/>
              </a:rPr>
              <a:t>•  13.3 임시 테이블스페이스 — 공유하되 따로 쓴다</a:t>
            </a:r>
          </a:p>
          <a:p>
            <a:pPr algn="l">
              <a:spcAft>
                <a:spcPts val="1000"/>
              </a:spcAft>
            </a:pPr>
            <a:r>
              <a:rPr sz="1600" b="0">
                <a:solidFill>
                  <a:srgbClr val="222222"/>
                </a:solidFill>
                <a:latin typeface="맑은 고딕"/>
              </a:rPr>
              <a:t>•  13.4 데이터파일 — 완전히 공유한다</a:t>
            </a:r>
          </a:p>
          <a:p>
            <a:pPr algn="l">
              <a:spcAft>
                <a:spcPts val="1000"/>
              </a:spcAft>
            </a:pPr>
            <a:r>
              <a:rPr sz="1600" b="0">
                <a:solidFill>
                  <a:srgbClr val="222222"/>
                </a:solidFill>
                <a:latin typeface="맑은 고딕"/>
              </a:rPr>
              <a:t>•  13.5 세 자원의 경계를 한 번에 보기</a:t>
            </a:r>
          </a:p>
          <a:p>
            <a:pPr algn="l">
              <a:spcAft>
                <a:spcPts val="1000"/>
              </a:spcAft>
            </a:pPr>
            <a:r>
              <a:rPr sz="1600" b="0">
                <a:solidFill>
                  <a:srgbClr val="222222"/>
                </a:solidFill>
                <a:latin typeface="맑은 고딕"/>
              </a:rPr>
              <a:t>•  13.6 정리와 운영 지침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장이 다루는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 위의 이야기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6~10장 — ASM. 디스크그룹·파일·공간의 저장 계층</a:t>
            </a:r>
          </a:p>
          <a:p>
            <a:pPr algn="l">
              <a:spcAft>
                <a:spcPts val="1000"/>
              </a:spcAft>
            </a:pPr>
            <a:r>
              <a:rPr sz="1700" b="0">
                <a:solidFill>
                  <a:srgbClr val="222222"/>
                </a:solidFill>
                <a:latin typeface="맑은 고딕"/>
              </a:rPr>
              <a:t>•  13장 — 그 위. 리두로그·UNDO·임시·데이터파일</a:t>
            </a:r>
          </a:p>
          <a:p>
            <a:pPr algn="l">
              <a:spcAft>
                <a:spcPts val="1000"/>
              </a:spcAft>
            </a:pPr>
            <a:r>
              <a:rPr sz="1700" b="0">
                <a:solidFill>
                  <a:srgbClr val="222222"/>
                </a:solidFill>
                <a:latin typeface="맑은 고딕"/>
              </a:rPr>
              <a:t>•  단일 인스턴스에도 있는 것들이지만 RAC 에서 둘이 달라진다</a:t>
            </a:r>
          </a:p>
          <a:p>
            <a:pPr algn="l">
              <a:spcAft>
                <a:spcPts val="1000"/>
              </a:spcAft>
            </a:pPr>
            <a:r>
              <a:rPr sz="1700" b="0">
                <a:solidFill>
                  <a:srgbClr val="222222"/>
                </a:solidFill>
                <a:latin typeface="맑은 고딕"/>
              </a:rPr>
              <a:t>•  리두와 UNDO 는 나누고, 임시와 데이터파일은 공유한다</a:t>
            </a:r>
          </a:p>
          <a:p>
            <a:pPr algn="l">
              <a:spcAft>
                <a:spcPts val="1000"/>
              </a:spcAft>
            </a:pPr>
            <a:r>
              <a:rPr sz="1700" b="0">
                <a:solidFill>
                  <a:srgbClr val="222222"/>
                </a:solidFill>
                <a:latin typeface="맑은 고딕"/>
              </a:rPr>
              <a:t>•  경계를 넘으면 ORA-30013·ORA-30012·ORA-01623 이 나온다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리두로그 — 인스턴스마다 따로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스레드가 무엇인가</a:t>
            </a:r>
          </a:p>
          <a:p>
            <a:pPr algn="l">
              <a:spcAft>
                <a:spcPts val="800"/>
              </a:spcAft>
            </a:pPr>
            <a:r>
              <a:rPr sz="1600" b="0">
                <a:solidFill>
                  <a:srgbClr val="FFFFFF"/>
                </a:solidFill>
                <a:latin typeface="맑은 고딕"/>
              </a:rPr>
              <a:t>•  그룹 추가와 삭제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SEQUENCE# 를 보라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 그룹이 스레드 1·2 로 나뉜다 (각 두 그룹씩)</a:t>
            </a:r>
          </a:p>
          <a:p>
            <a:pPr algn="l">
              <a:spcAft>
                <a:spcPts val="1000"/>
              </a:spcAft>
            </a:pPr>
            <a:r>
              <a:rPr sz="1700" b="0">
                <a:solidFill>
                  <a:srgbClr val="222222"/>
                </a:solidFill>
                <a:latin typeface="맑은 고딕"/>
              </a:rPr>
              <a:t>•  SEQUENCE# — 스레드 1 은 15·16, 스레드 2 는 12·13</a:t>
            </a:r>
          </a:p>
          <a:p>
            <a:pPr algn="l">
              <a:spcAft>
                <a:spcPts val="1000"/>
              </a:spcAft>
            </a:pPr>
            <a:r>
              <a:rPr sz="1700" b="0">
                <a:solidFill>
                  <a:srgbClr val="222222"/>
                </a:solidFill>
                <a:latin typeface="맑은 고딕"/>
              </a:rPr>
              <a:t>•  스레드마다 독립적으로 번호가 올라간다</a:t>
            </a:r>
          </a:p>
          <a:p>
            <a:pPr algn="l">
              <a:spcAft>
                <a:spcPts val="1000"/>
              </a:spcAft>
            </a:pPr>
            <a:r>
              <a:rPr sz="1700" b="0">
                <a:solidFill>
                  <a:srgbClr val="222222"/>
                </a:solidFill>
                <a:latin typeface="맑은 고딕"/>
              </a:rPr>
              <a:t>•  STATUS 도 스레드마다 CURRENT 가 하나씩</a:t>
            </a:r>
          </a:p>
          <a:p>
            <a:pPr algn="l">
              <a:spcAft>
                <a:spcPts val="1000"/>
              </a:spcAft>
            </a:pPr>
            <a:r>
              <a:rPr sz="1700" b="0">
                <a:solidFill>
                  <a:srgbClr val="222222"/>
                </a:solidFill>
                <a:latin typeface="맑은 고딕"/>
              </a:rPr>
              <a:t>•  각 인스턴스가 자기 스레드 안에서 독립적으로 스위치한다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V$THREAD 가 대응을 알려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스레드와 인스턴스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THREAD# 1 → racdb1 / THREAD# 2 → racdb2</a:t>
            </a:r>
          </a:p>
          <a:p>
            <a:pPr algn="l">
              <a:spcAft>
                <a:spcPts val="1000"/>
              </a:spcAft>
            </a:pPr>
            <a:r>
              <a:rPr sz="1700" b="0">
                <a:solidFill>
                  <a:srgbClr val="222222"/>
                </a:solidFill>
                <a:latin typeface="맑은 고딕"/>
              </a:rPr>
              <a:t>•  ENABLED = PUBLIC — 어느 인스턴스든 쓸 수 있다</a:t>
            </a:r>
          </a:p>
          <a:p>
            <a:pPr algn="l">
              <a:spcAft>
                <a:spcPts val="1000"/>
              </a:spcAft>
            </a:pPr>
            <a:r>
              <a:rPr sz="1700" b="0">
                <a:solidFill>
                  <a:srgbClr val="222222"/>
                </a:solidFill>
                <a:latin typeface="맑은 고딕"/>
              </a:rPr>
              <a:t>•  STATUS = OPEN — 지금 어떤 인스턴스가 쓰고 있다</a:t>
            </a:r>
          </a:p>
          <a:p>
            <a:pPr algn="l">
              <a:spcAft>
                <a:spcPts val="1000"/>
              </a:spcAft>
            </a:pPr>
            <a:r>
              <a:rPr sz="1700" b="0">
                <a:solidFill>
                  <a:srgbClr val="222222"/>
                </a:solidFill>
                <a:latin typeface="맑은 고딕"/>
              </a:rPr>
              <a:t>•  인스턴스를 내리면 CLOSED 가 된다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리두를 나누는가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순차 쓰기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리두로그는 순차 쓰기 — 로그 라이터가 파일 끝에 이어 붙인다</a:t>
            </a:r>
          </a:p>
          <a:p>
            <a:pPr algn="l">
              <a:spcAft>
                <a:spcPts val="1000"/>
              </a:spcAft>
            </a:pPr>
            <a:r>
              <a:rPr sz="1700" b="0">
                <a:solidFill>
                  <a:srgbClr val="222222"/>
                </a:solidFill>
                <a:latin typeface="맑은 고딕"/>
              </a:rPr>
              <a:t>•  두 인스턴스가 같은 파일에 붙이면 순서를 보장할 수 없다</a:t>
            </a:r>
          </a:p>
          <a:p>
            <a:pPr algn="l">
              <a:spcAft>
                <a:spcPts val="1000"/>
              </a:spcAft>
            </a:pPr>
            <a:r>
              <a:rPr sz="1700" b="0">
                <a:solidFill>
                  <a:srgbClr val="222222"/>
                </a:solidFill>
                <a:latin typeface="맑은 고딕"/>
              </a:rPr>
              <a:t>•  잠금으로 맞출 수는 있지만 그러면 서로 기다린다</a:t>
            </a:r>
          </a:p>
          <a:p>
            <a:pPr algn="l">
              <a:spcAft>
                <a:spcPts val="1000"/>
              </a:spcAft>
            </a:pPr>
            <a:r>
              <a:rPr sz="1700" b="0">
                <a:solidFill>
                  <a:srgbClr val="222222"/>
                </a:solidFill>
                <a:latin typeface="맑은 고딕"/>
              </a:rPr>
              <a:t>•  그래서 아예 나눈다 — 경합이 없다</a:t>
            </a:r>
          </a:p>
          <a:p>
            <a:pPr algn="l">
              <a:spcAft>
                <a:spcPts val="1000"/>
              </a:spcAft>
            </a:pPr>
            <a:r>
              <a:rPr sz="1700" b="0">
                <a:solidFill>
                  <a:srgbClr val="222222"/>
                </a:solidFill>
                <a:latin typeface="맑은 고딕"/>
              </a:rPr>
              <a:t>•  복구할 때는 모든 스레드를 SCN 순서로 병합한다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스레드와 멤버는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혼동하기 쉽다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스레드 — 누가 쓰는가 (RAC 의 개념)</a:t>
            </a:r>
          </a:p>
          <a:p>
            <a:pPr algn="l">
              <a:spcAft>
                <a:spcPts val="1000"/>
              </a:spcAft>
            </a:pPr>
            <a:r>
              <a:rPr sz="1700" b="0">
                <a:solidFill>
                  <a:srgbClr val="222222"/>
                </a:solidFill>
                <a:latin typeface="맑은 고딕"/>
              </a:rPr>
              <a:t>•  멤버 — 몇 벌 두는가 (단일 인스턴스에도 있다)</a:t>
            </a:r>
          </a:p>
          <a:p>
            <a:pPr algn="l">
              <a:spcAft>
                <a:spcPts val="1000"/>
              </a:spcAft>
            </a:pPr>
            <a:r>
              <a:rPr sz="1700" b="0">
                <a:solidFill>
                  <a:srgbClr val="222222"/>
                </a:solidFill>
                <a:latin typeface="맑은 고딕"/>
              </a:rPr>
              <a:t>•  이 랩은 4 그룹 × 2 멤버 = 8 행</a:t>
            </a:r>
          </a:p>
          <a:p>
            <a:pPr algn="l">
              <a:spcAft>
                <a:spcPts val="1000"/>
              </a:spcAft>
            </a:pPr>
            <a:r>
              <a:rPr sz="1700" b="0">
                <a:solidFill>
                  <a:srgbClr val="222222"/>
                </a:solidFill>
                <a:latin typeface="맑은 고딕"/>
              </a:rPr>
              <a:t>•  멤버는 +DATA 와 +FRA 에 하나씩 (다중화)</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그룹 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3.2초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database add logfile thread 1 group 5 ('+DATA','+FRA') size 50M</a:t>
            </a:r>
          </a:p>
          <a:p>
            <a:pPr algn="l">
              <a:spcAft>
                <a:spcPts val="1000"/>
              </a:spcAft>
            </a:pPr>
            <a:r>
              <a:rPr sz="1700" b="0">
                <a:solidFill>
                  <a:srgbClr val="222222"/>
                </a:solidFill>
                <a:latin typeface="맑은 고딕"/>
              </a:rPr>
              <a:t>•  thread 1 을 빠뜨리면 실행한 인스턴스의 스레드에 붙는다</a:t>
            </a:r>
          </a:p>
          <a:p>
            <a:pPr algn="l">
              <a:spcAft>
                <a:spcPts val="1000"/>
              </a:spcAft>
            </a:pPr>
            <a:r>
              <a:rPr sz="1700" b="0">
                <a:solidFill>
                  <a:srgbClr val="222222"/>
                </a:solidFill>
                <a:latin typeface="맑은 고딕"/>
              </a:rPr>
              <a:t>•  멤버 이름은 ASM 이 OMF 규칙으로 짓는다</a:t>
            </a:r>
          </a:p>
          <a:p>
            <a:pPr algn="l">
              <a:spcAft>
                <a:spcPts val="1000"/>
              </a:spcAft>
            </a:pPr>
            <a:r>
              <a:rPr sz="1700" b="0">
                <a:solidFill>
                  <a:srgbClr val="222222"/>
                </a:solidFill>
                <a:latin typeface="맑은 고딕"/>
              </a:rPr>
              <a:t>•  STATUS = UNUSED — 아직 한 번도 쓰이지 않았다</a:t>
            </a:r>
          </a:p>
          <a:p>
            <a:pPr algn="l">
              <a:spcAft>
                <a:spcPts val="1000"/>
              </a:spcAft>
            </a:pPr>
            <a:r>
              <a:rPr sz="1700" b="0">
                <a:solidFill>
                  <a:srgbClr val="222222"/>
                </a:solidFill>
                <a:latin typeface="맑은 고딕"/>
              </a:rPr>
              <a:t>•  rac2 에서도 즉시 보인다 (컨트롤파일 공유)</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 — ORA-01623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다운 메시지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database drop logfile group 2 → ORA-01623</a:t>
            </a:r>
          </a:p>
          <a:p>
            <a:pPr algn="l">
              <a:spcAft>
                <a:spcPts val="1000"/>
              </a:spcAft>
            </a:pPr>
            <a:r>
              <a:rPr sz="1700" b="0">
                <a:solidFill>
                  <a:srgbClr val="222222"/>
                </a:solidFill>
                <a:latin typeface="맑은 고딕"/>
              </a:rPr>
              <a:t>•  "log 2 is current log for instance racdb1 (thread 1)"</a:t>
            </a:r>
          </a:p>
          <a:p>
            <a:pPr algn="l">
              <a:spcAft>
                <a:spcPts val="1000"/>
              </a:spcAft>
            </a:pPr>
            <a:r>
              <a:rPr sz="1700" b="0">
                <a:solidFill>
                  <a:srgbClr val="222222"/>
                </a:solidFill>
                <a:latin typeface="맑은 고딕"/>
              </a:rPr>
              <a:t>•  인스턴스 이름과 스레드 번호를 함께 알려 준다</a:t>
            </a:r>
          </a:p>
          <a:p>
            <a:pPr algn="l">
              <a:spcAft>
                <a:spcPts val="1000"/>
              </a:spcAft>
            </a:pPr>
            <a:r>
              <a:rPr sz="1700" b="0">
                <a:solidFill>
                  <a:srgbClr val="222222"/>
                </a:solidFill>
                <a:latin typeface="맑은 고딕"/>
              </a:rPr>
              <a:t>•  단일 인스턴스라면 그냥 current log 라고만 한다</a:t>
            </a:r>
          </a:p>
          <a:p>
            <a:pPr algn="l">
              <a:spcAft>
                <a:spcPts val="1000"/>
              </a:spcAft>
            </a:pPr>
            <a:r>
              <a:rPr sz="1700" b="0">
                <a:solidFill>
                  <a:srgbClr val="222222"/>
                </a:solidFill>
                <a:latin typeface="맑은 고딕"/>
              </a:rPr>
              <a:t>•  ORA-00312 가 어느 파일들인지 알려 준다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중인 그룹을 지워야 할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크기의 그룹을 먼저 추가한다</a:t>
            </a:r>
          </a:p>
          <a:p>
            <a:pPr algn="l">
              <a:spcAft>
                <a:spcPts val="1000"/>
              </a:spcAft>
            </a:pPr>
            <a:r>
              <a:rPr sz="1700" b="0">
                <a:solidFill>
                  <a:srgbClr val="222222"/>
                </a:solidFill>
                <a:latin typeface="맑은 고딕"/>
              </a:rPr>
              <a:t>•  해당 스레드의 인스턴스에서 switch logfile 반복</a:t>
            </a:r>
          </a:p>
          <a:p>
            <a:pPr algn="l">
              <a:spcAft>
                <a:spcPts val="1000"/>
              </a:spcAft>
            </a:pPr>
            <a:r>
              <a:rPr sz="1700" b="0">
                <a:solidFill>
                  <a:srgbClr val="222222"/>
                </a:solidFill>
                <a:latin typeface="맑은 고딕"/>
              </a:rPr>
              <a:t>•  필요하면 checkpoint 로 ACTIVE → INACTIVE</a:t>
            </a:r>
          </a:p>
          <a:p>
            <a:pPr algn="l">
              <a:spcAft>
                <a:spcPts val="1000"/>
              </a:spcAft>
            </a:pPr>
            <a:r>
              <a:rPr sz="1700" b="0">
                <a:solidFill>
                  <a:srgbClr val="222222"/>
                </a:solidFill>
                <a:latin typeface="맑은 고딕"/>
              </a:rPr>
              <a:t>•  INACTIVE 를 확인하고 지운다</a:t>
            </a:r>
          </a:p>
          <a:p>
            <a:pPr algn="l">
              <a:spcAft>
                <a:spcPts val="1000"/>
              </a:spcAft>
            </a:pPr>
            <a:r>
              <a:rPr sz="1700" b="0">
                <a:solidFill>
                  <a:srgbClr val="222222"/>
                </a:solidFill>
                <a:latin typeface="맑은 고딕"/>
              </a:rPr>
              <a:t>•  RAC 추가 조건 — 스레드마다 최소 두 그룹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UNDO — 인스턴스마다 따로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구성과 롤백 세그먼트</a:t>
            </a:r>
          </a:p>
          <a:p>
            <a:pPr algn="l">
              <a:spcAft>
                <a:spcPts val="800"/>
              </a:spcAft>
            </a:pPr>
            <a:r>
              <a:rPr sz="1600" b="0">
                <a:solidFill>
                  <a:srgbClr val="FFFFFF"/>
                </a:solidFill>
                <a:latin typeface="맑은 고딕"/>
              </a:rPr>
              <a:t>•  두 개의 오류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UNDO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크기가 다를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UNDOTBS1 → racdb1 / UNDOTBS2 → racdb2</a:t>
            </a:r>
          </a:p>
          <a:p>
            <a:pPr algn="l">
              <a:spcAft>
                <a:spcPts val="1000"/>
              </a:spcAft>
            </a:pPr>
            <a:r>
              <a:rPr sz="1700" b="0">
                <a:solidFill>
                  <a:srgbClr val="222222"/>
                </a:solidFill>
                <a:latin typeface="맑은 고딕"/>
              </a:rPr>
              <a:t>•  크기는 350MB 와 25MB — 다르다</a:t>
            </a:r>
          </a:p>
          <a:p>
            <a:pPr algn="l">
              <a:spcAft>
                <a:spcPts val="1000"/>
              </a:spcAft>
            </a:pPr>
            <a:r>
              <a:rPr sz="1700" b="0">
                <a:solidFill>
                  <a:srgbClr val="222222"/>
                </a:solidFill>
                <a:latin typeface="맑은 고딕"/>
              </a:rPr>
              <a:t>•  UNDOTBS1 은 dbca 가 만들어 그동안 자동 확장</a:t>
            </a:r>
          </a:p>
          <a:p>
            <a:pPr algn="l">
              <a:spcAft>
                <a:spcPts val="1000"/>
              </a:spcAft>
            </a:pPr>
            <a:r>
              <a:rPr sz="1700" b="0">
                <a:solidFill>
                  <a:srgbClr val="222222"/>
                </a:solidFill>
                <a:latin typeface="맑은 고딕"/>
              </a:rPr>
              <a:t>•  UNDOTBS2 는 두 번째 인스턴스 추가 시 만들어져 거의 안 쓰임</a:t>
            </a:r>
          </a:p>
          <a:p>
            <a:pPr algn="l">
              <a:spcAft>
                <a:spcPts val="1000"/>
              </a:spcAft>
            </a:pPr>
            <a:r>
              <a:rPr sz="1700" b="0">
                <a:solidFill>
                  <a:srgbClr val="222222"/>
                </a:solidFill>
                <a:latin typeface="맑은 고딕"/>
              </a:rPr>
              <a:t>•  한쪽만 계속 커진다면 부하가 몰려 있다는 신호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롤백 세그먼트는 10개씩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경합을 줄이려고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UNDOTBS1 에 10개, UNDOTBS2 에 10개</a:t>
            </a:r>
          </a:p>
          <a:p>
            <a:pPr algn="l">
              <a:spcAft>
                <a:spcPts val="1000"/>
              </a:spcAft>
            </a:pPr>
            <a:r>
              <a:rPr sz="1700" b="0">
                <a:solidFill>
                  <a:srgbClr val="222222"/>
                </a:solidFill>
                <a:latin typeface="맑은 고딕"/>
              </a:rPr>
              <a:t>•  인스턴스는 자기 UNDO 의 세그먼트만 쓴다</a:t>
            </a:r>
          </a:p>
          <a:p>
            <a:pPr algn="l">
              <a:spcAft>
                <a:spcPts val="1000"/>
              </a:spcAft>
            </a:pPr>
            <a:r>
              <a:rPr sz="1700" b="0">
                <a:solidFill>
                  <a:srgbClr val="222222"/>
                </a:solidFill>
                <a:latin typeface="맑은 고딕"/>
              </a:rPr>
              <a:t>•  트랜잭션이 시작되면 그중 하나를 배정받는다</a:t>
            </a:r>
          </a:p>
          <a:p>
            <a:pPr algn="l">
              <a:spcAft>
                <a:spcPts val="1000"/>
              </a:spcAft>
            </a:pPr>
            <a:r>
              <a:rPr sz="1700" b="0">
                <a:solidFill>
                  <a:srgbClr val="222222"/>
                </a:solidFill>
                <a:latin typeface="맑은 고딕"/>
              </a:rPr>
              <a:t>•  여러 개를 두는 이유 — 동시 트랜잭션 간 경합 감소</a:t>
            </a:r>
          </a:p>
          <a:p>
            <a:pPr algn="l">
              <a:spcAft>
                <a:spcPts val="1000"/>
              </a:spcAft>
            </a:pPr>
            <a:r>
              <a:rPr sz="1700" b="0">
                <a:solidFill>
                  <a:srgbClr val="222222"/>
                </a:solidFill>
                <a:latin typeface="맑은 고딕"/>
              </a:rPr>
              <a:t>•  같은 UNDO 를 쓰면 이 세그먼트를 두고 다툰다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보존 설정은 공통이다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나뉘는 것은 대상뿐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undo_management — 양 노드 AUTO</a:t>
            </a:r>
          </a:p>
          <a:p>
            <a:pPr algn="l">
              <a:spcAft>
                <a:spcPts val="1000"/>
              </a:spcAft>
            </a:pPr>
            <a:r>
              <a:rPr sz="1700" b="0">
                <a:solidFill>
                  <a:srgbClr val="222222"/>
                </a:solidFill>
                <a:latin typeface="맑은 고딕"/>
              </a:rPr>
              <a:t>•  undo_retention — 양 노드 900</a:t>
            </a:r>
          </a:p>
          <a:p>
            <a:pPr algn="l">
              <a:spcAft>
                <a:spcPts val="1000"/>
              </a:spcAft>
            </a:pPr>
            <a:r>
              <a:rPr sz="1700" b="0">
                <a:solidFill>
                  <a:srgbClr val="222222"/>
                </a:solidFill>
                <a:latin typeface="맑은 고딕"/>
              </a:rPr>
              <a:t>•  나뉘는 것은 undo_tablespace 하나</a:t>
            </a:r>
          </a:p>
          <a:p>
            <a:pPr algn="l">
              <a:spcAft>
                <a:spcPts val="1000"/>
              </a:spcAft>
            </a:pPr>
            <a:r>
              <a:rPr sz="1700" b="0">
                <a:solidFill>
                  <a:srgbClr val="222222"/>
                </a:solidFill>
                <a:latin typeface="맑은 고딕"/>
              </a:rPr>
              <a:t>•  다르게 잡으면 같은 쿼리가 한 노드에서만 ORA-01555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UNDO 통계도 인스턴스별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 로 봐야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GV$UNDOSTAT — 10분 단위 기록, INST_ID 별로 쌓인다</a:t>
            </a:r>
          </a:p>
          <a:p>
            <a:pPr algn="l">
              <a:spcAft>
                <a:spcPts val="1000"/>
              </a:spcAft>
            </a:pPr>
            <a:r>
              <a:rPr sz="1700" b="0">
                <a:solidFill>
                  <a:srgbClr val="222222"/>
                </a:solidFill>
                <a:latin typeface="맑은 고딕"/>
              </a:rPr>
              <a:t>•  UNDOBLKS 대부분 1, 한 구간만 310 (대량 변경 흔적)</a:t>
            </a:r>
          </a:p>
          <a:p>
            <a:pPr algn="l">
              <a:spcAft>
                <a:spcPts val="1000"/>
              </a:spcAft>
            </a:pPr>
            <a:r>
              <a:rPr sz="1700" b="0">
                <a:solidFill>
                  <a:srgbClr val="222222"/>
                </a:solidFill>
                <a:latin typeface="맑은 고딕"/>
              </a:rPr>
              <a:t>•  MAXQUERYLEN 1561 — undo_retention 900 을 넘은 구간</a:t>
            </a:r>
          </a:p>
          <a:p>
            <a:pPr algn="l">
              <a:spcAft>
                <a:spcPts val="1000"/>
              </a:spcAft>
            </a:pPr>
            <a:r>
              <a:rPr sz="1700" b="0">
                <a:solidFill>
                  <a:srgbClr val="222222"/>
                </a:solidFill>
                <a:latin typeface="맑은 고딕"/>
              </a:rPr>
              <a:t>•  그 구간이 ORA-01555 위험 구간이었다</a:t>
            </a:r>
          </a:p>
          <a:p>
            <a:pPr algn="l">
              <a:spcAft>
                <a:spcPts val="1000"/>
              </a:spcAft>
            </a:pPr>
            <a:r>
              <a:rPr sz="1700" b="0">
                <a:solidFill>
                  <a:srgbClr val="222222"/>
                </a:solidFill>
                <a:latin typeface="맑은 고딕"/>
              </a:rPr>
              <a:t>•  한 인스턴스만 보면 절반만 보는 것이다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개의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ORA-30013 과 ORA-30012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다른 인스턴스의 UNDO 지정 → ORA-30013 (currently in use)</a:t>
            </a:r>
          </a:p>
          <a:p>
            <a:pPr algn="l">
              <a:spcAft>
                <a:spcPts val="1000"/>
              </a:spcAft>
            </a:pPr>
            <a:r>
              <a:rPr sz="1700" b="0">
                <a:solidFill>
                  <a:srgbClr val="222222"/>
                </a:solidFill>
                <a:latin typeface="맑은 고딕"/>
              </a:rPr>
              <a:t>•  없는 UNDO 지정 → ORA-30012 (does not exist)</a:t>
            </a:r>
          </a:p>
          <a:p>
            <a:pPr algn="l">
              <a:spcAft>
                <a:spcPts val="1000"/>
              </a:spcAft>
            </a:pPr>
            <a:r>
              <a:rPr sz="1700" b="0">
                <a:solidFill>
                  <a:srgbClr val="222222"/>
                </a:solidFill>
                <a:latin typeface="맑은 고딕"/>
              </a:rPr>
              <a:t>•  둘 다 앞에 ORA-02097 이 함께 나온다 — 마지막 줄을 읽어라</a:t>
            </a:r>
          </a:p>
          <a:p>
            <a:pPr algn="l">
              <a:spcAft>
                <a:spcPts val="1000"/>
              </a:spcAft>
            </a:pPr>
            <a:r>
              <a:rPr sz="1700" b="0">
                <a:solidFill>
                  <a:srgbClr val="222222"/>
                </a:solidFill>
                <a:latin typeface="맑은 고딕"/>
              </a:rPr>
              <a:t>•  노드 추가 시 순서대로 만나기 쉽다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12장과 대비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여기서는 막아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12장 — cluster_database 를 한쪽만 바꾸는 것이 통과했다</a:t>
            </a:r>
          </a:p>
          <a:p>
            <a:pPr algn="l">
              <a:spcAft>
                <a:spcPts val="1000"/>
              </a:spcAft>
            </a:pPr>
            <a:r>
              <a:rPr sz="1700" b="0">
                <a:solidFill>
                  <a:srgbClr val="222222"/>
                </a:solidFill>
                <a:latin typeface="맑은 고딕"/>
              </a:rPr>
              <a:t>•  13장 — 다른 인스턴스의 UNDO 지정은 ORA-30013 으로 막힌다</a:t>
            </a:r>
          </a:p>
          <a:p>
            <a:pPr algn="l">
              <a:spcAft>
                <a:spcPts val="1000"/>
              </a:spcAft>
            </a:pPr>
            <a:r>
              <a:rPr sz="1700" b="0">
                <a:solidFill>
                  <a:srgbClr val="222222"/>
                </a:solidFill>
                <a:latin typeface="맑은 고딕"/>
              </a:rPr>
              <a:t>•  차이는 검증 가능성</a:t>
            </a:r>
          </a:p>
          <a:p>
            <a:pPr algn="l">
              <a:spcAft>
                <a:spcPts val="1000"/>
              </a:spcAft>
            </a:pPr>
            <a:r>
              <a:rPr sz="1700" b="0">
                <a:solidFill>
                  <a:srgbClr val="222222"/>
                </a:solidFill>
                <a:latin typeface="맑은 고딕"/>
              </a:rPr>
              <a:t>•  UNDO 가 지금 물려 있는지는 실행 시점에 확인할 수 있다</a:t>
            </a:r>
          </a:p>
          <a:p>
            <a:pPr algn="l">
              <a:spcAft>
                <a:spcPts val="1000"/>
              </a:spcAft>
            </a:pPr>
            <a:r>
              <a:rPr sz="1700" b="0">
                <a:solidFill>
                  <a:srgbClr val="222222"/>
                </a:solidFill>
                <a:latin typeface="맑은 고딕"/>
              </a:rPr>
              <a:t>•  cluster_database=FALSE 가 지금 틀린지는 도구가 모른다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임시 테이블스페이스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공유하되 따로 쓴다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TEMP 는 하나뿐이다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나누지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dba_tablespaces 에서 TEMPORARY 는 TEMP 하나</a:t>
            </a:r>
          </a:p>
          <a:p>
            <a:pPr algn="l">
              <a:spcAft>
                <a:spcPts val="1000"/>
              </a:spcAft>
            </a:pPr>
            <a:r>
              <a:rPr sz="1700" b="0">
                <a:solidFill>
                  <a:srgbClr val="222222"/>
                </a:solidFill>
                <a:latin typeface="맑은 고딕"/>
              </a:rPr>
              <a:t>•  템프파일이 셋인 것은 인스턴스가 아니라 컨테이너 때문</a:t>
            </a:r>
          </a:p>
          <a:p>
            <a:pPr algn="l">
              <a:spcAft>
                <a:spcPts val="1000"/>
              </a:spcAft>
            </a:pPr>
            <a:r>
              <a:rPr sz="1700" b="0">
                <a:solidFill>
                  <a:srgbClr val="222222"/>
                </a:solidFill>
                <a:latin typeface="맑은 고딕"/>
              </a:rPr>
              <a:t>•  CON_ID 1·2·3 = CDB$ROOT, PDB$SEED, RACPDB1</a:t>
            </a:r>
          </a:p>
          <a:p>
            <a:pPr algn="l">
              <a:spcAft>
                <a:spcPts val="1000"/>
              </a:spcAft>
            </a:pPr>
            <a:r>
              <a:rPr sz="1700" b="0">
                <a:solidFill>
                  <a:srgbClr val="222222"/>
                </a:solidFill>
                <a:latin typeface="맑은 고딕"/>
              </a:rPr>
              <a:t>•  리두·UNDO 와 달리 인스턴스별로 나뉘어 있지 않다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나누지 않는가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할당 단위가 이미 나뉜다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 — 순차 쓰기라 공유 불가</a:t>
            </a:r>
          </a:p>
          <a:p>
            <a:pPr algn="l">
              <a:spcAft>
                <a:spcPts val="1000"/>
              </a:spcAft>
            </a:pPr>
            <a:r>
              <a:rPr sz="1700" b="0">
                <a:solidFill>
                  <a:srgbClr val="222222"/>
                </a:solidFill>
                <a:latin typeface="맑은 고딕"/>
              </a:rPr>
              <a:t>•  UNDO — 트랜잭션마다 세그먼트 배정, 공유 시 경합</a:t>
            </a:r>
          </a:p>
          <a:p>
            <a:pPr algn="l">
              <a:spcAft>
                <a:spcPts val="1000"/>
              </a:spcAft>
            </a:pPr>
            <a:r>
              <a:rPr sz="1700" b="0">
                <a:solidFill>
                  <a:srgbClr val="222222"/>
                </a:solidFill>
                <a:latin typeface="맑은 고딕"/>
              </a:rPr>
              <a:t>•  임시 — 세션이 필요한 만큼 익스텐트를 할당받고 반납</a:t>
            </a:r>
          </a:p>
          <a:p>
            <a:pPr algn="l">
              <a:spcAft>
                <a:spcPts val="1000"/>
              </a:spcAft>
            </a:pPr>
            <a:r>
              <a:rPr sz="1700" b="0">
                <a:solidFill>
                  <a:srgbClr val="222222"/>
                </a:solidFill>
                <a:latin typeface="맑은 고딕"/>
              </a:rPr>
              <a:t>•  할당 단위가 처음부터 나뉘어 있어 공유해도 경합이 작다</a:t>
            </a:r>
          </a:p>
          <a:p>
            <a:pPr algn="l">
              <a:spcAft>
                <a:spcPts val="1000"/>
              </a:spcAft>
            </a:pPr>
            <a:r>
              <a:rPr sz="1700" b="0">
                <a:solidFill>
                  <a:srgbClr val="222222"/>
                </a:solidFill>
                <a:latin typeface="맑은 고딕"/>
              </a:rPr>
              <a:t>•  그래서 하나를 공유하되 인스턴스별로 익스텐트를 나눠 갖는다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사용량은 노드별로 잡힌다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GV$SORT_SEGMENT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테이블스페이스는 하나인데 인스턴스별로 행을 갖는다</a:t>
            </a:r>
          </a:p>
          <a:p>
            <a:pPr algn="l">
              <a:spcAft>
                <a:spcPts val="1000"/>
              </a:spcAft>
            </a:pPr>
            <a:r>
              <a:rPr sz="1700" b="0">
                <a:solidFill>
                  <a:srgbClr val="222222"/>
                </a:solidFill>
                <a:latin typeface="맑은 고딕"/>
              </a:rPr>
              <a:t>•  인스턴스 1 — 2688 + 512 블록 확보</a:t>
            </a:r>
          </a:p>
          <a:p>
            <a:pPr algn="l">
              <a:spcAft>
                <a:spcPts val="1000"/>
              </a:spcAft>
            </a:pPr>
            <a:r>
              <a:rPr sz="1700" b="0">
                <a:solidFill>
                  <a:srgbClr val="222222"/>
                </a:solidFill>
                <a:latin typeface="맑은 고딕"/>
              </a:rPr>
              <a:t>•  인스턴스 2 — 1280 + 384 블록 확보</a:t>
            </a:r>
          </a:p>
          <a:p>
            <a:pPr algn="l">
              <a:spcAft>
                <a:spcPts val="1000"/>
              </a:spcAft>
            </a:pPr>
            <a:r>
              <a:rPr sz="1700" b="0">
                <a:solidFill>
                  <a:srgbClr val="222222"/>
                </a:solidFill>
                <a:latin typeface="맑은 고딕"/>
              </a:rPr>
              <a:t>•  각 인스턴스가 자기 몫을 미리 확보해 세션에 나눠 준다</a:t>
            </a:r>
          </a:p>
          <a:p>
            <a:pPr algn="l">
              <a:spcAft>
                <a:spcPts val="1000"/>
              </a:spcAft>
            </a:pPr>
            <a:r>
              <a:rPr sz="1700" b="0">
                <a:solidFill>
                  <a:srgbClr val="222222"/>
                </a:solidFill>
                <a:latin typeface="맑은 고딕"/>
              </a:rPr>
              <a:t>•  행이 둘씩인 것은 컨테이너 때문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임시 공간 부족을 진단할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둘을 봐야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ORA-01652 를 만나면 두 가지 확인</a:t>
            </a:r>
          </a:p>
          <a:p>
            <a:pPr algn="l">
              <a:spcAft>
                <a:spcPts val="1000"/>
              </a:spcAft>
            </a:pPr>
            <a:r>
              <a:rPr sz="1700" b="0">
                <a:solidFill>
                  <a:srgbClr val="222222"/>
                </a:solidFill>
                <a:latin typeface="맑은 고딕"/>
              </a:rPr>
              <a:t>•  하나 — 테이블스페이스 전체 여유 (V$TEMPFILE, 자동 확장)</a:t>
            </a:r>
          </a:p>
          <a:p>
            <a:pPr algn="l">
              <a:spcAft>
                <a:spcPts val="1000"/>
              </a:spcAft>
            </a:pPr>
            <a:r>
              <a:rPr sz="1700" b="0">
                <a:solidFill>
                  <a:srgbClr val="222222"/>
                </a:solidFill>
                <a:latin typeface="맑은 고딕"/>
              </a:rPr>
              <a:t>•  둘 — 인스턴스별 확보량 (GV$SORT_SEGMENT)</a:t>
            </a:r>
          </a:p>
          <a:p>
            <a:pPr algn="l">
              <a:spcAft>
                <a:spcPts val="1000"/>
              </a:spcAft>
            </a:pPr>
            <a:r>
              <a:rPr sz="1700" b="0">
                <a:solidFill>
                  <a:srgbClr val="222222"/>
                </a:solidFill>
                <a:latin typeface="맑은 고딕"/>
              </a:rPr>
              <a:t>•  전체가 충분해도 한 인스턴스가 대부분 확보했으면 부족할 수 있다</a:t>
            </a:r>
          </a:p>
          <a:p>
            <a:pPr algn="l">
              <a:spcAft>
                <a:spcPts val="1000"/>
              </a:spcAft>
            </a:pPr>
            <a:r>
              <a:rPr sz="1700" b="0">
                <a:solidFill>
                  <a:srgbClr val="222222"/>
                </a:solidFill>
                <a:latin typeface="맑은 고딕"/>
              </a:rPr>
              <a:t>•  후자는 단일 인스턴스에 없는 상황이라 놓치기 쉽다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데이터파일 — 완전히 공유한다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양방향 즉시 반영</a:t>
            </a:r>
          </a:p>
          <a:p>
            <a:pPr algn="l">
              <a:spcAft>
                <a:spcPts val="800"/>
              </a:spcAft>
            </a:pPr>
            <a:r>
              <a:rPr sz="1600" b="0">
                <a:solidFill>
                  <a:srgbClr val="FFFFFF"/>
                </a:solidFill>
                <a:latin typeface="맑은 고딕"/>
              </a:rPr>
              <a:t>•  동시 쓰기</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노드에서 만들든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즉시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에서 테이블스페이스 생성 (2.2초)</a:t>
            </a:r>
          </a:p>
          <a:p>
            <a:pPr algn="l">
              <a:spcAft>
                <a:spcPts val="1000"/>
              </a:spcAft>
            </a:pPr>
            <a:r>
              <a:rPr sz="1700" b="0">
                <a:solidFill>
                  <a:srgbClr val="222222"/>
                </a:solidFill>
                <a:latin typeface="맑은 고딕"/>
              </a:rPr>
              <a:t>•  rac1 에서 즉시 조회된다 — 동기화 작업 없음</a:t>
            </a:r>
          </a:p>
          <a:p>
            <a:pPr algn="l">
              <a:spcAft>
                <a:spcPts val="1000"/>
              </a:spcAft>
            </a:pPr>
            <a:r>
              <a:rPr sz="1700" b="0">
                <a:solidFill>
                  <a:srgbClr val="222222"/>
                </a:solidFill>
                <a:latin typeface="맑은 고딕"/>
              </a:rPr>
              <a:t>•  반대 방향도 같다 — rac1 에서 데이터파일 추가 → rac2 에서 보임</a:t>
            </a:r>
          </a:p>
          <a:p>
            <a:pPr algn="l">
              <a:spcAft>
                <a:spcPts val="1000"/>
              </a:spcAft>
            </a:pPr>
            <a:r>
              <a:rPr sz="1700" b="0">
                <a:solidFill>
                  <a:srgbClr val="222222"/>
                </a:solidFill>
                <a:latin typeface="맑은 고딕"/>
              </a:rPr>
              <a:t>•  이유 — 컨트롤파일과 데이터 딕셔너리를 공유</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양 노드에서 동시에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데이터는 하나다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에서 1000건, rac2 에서 1000건 입력</a:t>
            </a:r>
          </a:p>
          <a:p>
            <a:pPr algn="l">
              <a:spcAft>
                <a:spcPts val="1000"/>
              </a:spcAft>
            </a:pPr>
            <a:r>
              <a:rPr sz="1700" b="0">
                <a:solidFill>
                  <a:srgbClr val="222222"/>
                </a:solidFill>
                <a:latin typeface="맑은 고딕"/>
              </a:rPr>
              <a:t>•  양쪽에서 조회하면 2000건이 모두 보인다</a:t>
            </a:r>
          </a:p>
          <a:p>
            <a:pPr algn="l">
              <a:spcAft>
                <a:spcPts val="1000"/>
              </a:spcAft>
            </a:pPr>
            <a:r>
              <a:rPr sz="1700" b="0">
                <a:solidFill>
                  <a:srgbClr val="222222"/>
                </a:solidFill>
                <a:latin typeface="맑은 고딕"/>
              </a:rPr>
              <a:t>•  리두와 UNDO 가 나뉘어 있어도 데이터는 나뉘지 않는다</a:t>
            </a:r>
          </a:p>
          <a:p>
            <a:pPr algn="l">
              <a:spcAft>
                <a:spcPts val="1000"/>
              </a:spcAft>
            </a:pPr>
            <a:r>
              <a:rPr sz="1700" b="0">
                <a:solidFill>
                  <a:srgbClr val="222222"/>
                </a:solidFill>
                <a:latin typeface="맑은 고딕"/>
              </a:rPr>
              <a:t>•  나뉜 것은 변경을 기록하는 방식이지 데이터 자체가 아니다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캐시 퓨전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저장 계층에서는 할 일이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인스턴스가 같은 블록을 필요로 하면</a:t>
            </a:r>
          </a:p>
          <a:p>
            <a:pPr algn="l">
              <a:spcAft>
                <a:spcPts val="1000"/>
              </a:spcAft>
            </a:pPr>
            <a:r>
              <a:rPr sz="1700" b="0">
                <a:solidFill>
                  <a:srgbClr val="222222"/>
                </a:solidFill>
                <a:latin typeface="맑은 고딕"/>
              </a:rPr>
              <a:t>•  디스크를 거치지 않고 인터커넥트로 직접 넘겨 준다</a:t>
            </a:r>
          </a:p>
          <a:p>
            <a:pPr algn="l">
              <a:spcAft>
                <a:spcPts val="1000"/>
              </a:spcAft>
            </a:pPr>
            <a:r>
              <a:rPr sz="1700" b="0">
                <a:solidFill>
                  <a:srgbClr val="222222"/>
                </a:solidFill>
                <a:latin typeface="맑은 고딕"/>
              </a:rPr>
              <a:t>•  그래서 인터커넥트 성능이 RAC 전체 성능을 좌우한다</a:t>
            </a:r>
          </a:p>
          <a:p>
            <a:pPr algn="l">
              <a:spcAft>
                <a:spcPts val="1000"/>
              </a:spcAft>
            </a:pPr>
            <a:r>
              <a:rPr sz="1700" b="0">
                <a:solidFill>
                  <a:srgbClr val="222222"/>
                </a:solidFill>
                <a:latin typeface="맑은 고딕"/>
              </a:rPr>
              <a:t>•  5장의 HAIP, 20장의 gc 대기 이벤트가 여기서 이어진다</a:t>
            </a:r>
          </a:p>
          <a:p>
            <a:pPr algn="l">
              <a:spcAft>
                <a:spcPts val="1000"/>
              </a:spcAft>
            </a:pPr>
            <a:r>
              <a:rPr sz="1700" b="0">
                <a:solidFill>
                  <a:srgbClr val="222222"/>
                </a:solidFill>
                <a:latin typeface="맑은 고딕"/>
              </a:rPr>
              <a:t>•  저장 계층은 그저 공유되어 있으면 된다</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경계와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네 자원 비교</a:t>
            </a:r>
          </a:p>
          <a:p>
            <a:pPr algn="l">
              <a:spcAft>
                <a:spcPts val="800"/>
              </a:spcAft>
            </a:pPr>
            <a:r>
              <a:rPr sz="1600" b="0">
                <a:solidFill>
                  <a:srgbClr val="FFFFFF"/>
                </a:solidFill>
                <a:latin typeface="맑은 고딕"/>
              </a:rPr>
              <a:t>•  노드 추가 시 할 일</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공유와 분리의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동시에 쓸 수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데이터파일 — 공유. 데이터는 하나여야 한다</a:t>
            </a:r>
          </a:p>
          <a:p>
            <a:pPr algn="l">
              <a:spcAft>
                <a:spcPts val="1000"/>
              </a:spcAft>
            </a:pPr>
            <a:r>
              <a:rPr sz="1700" b="0">
                <a:solidFill>
                  <a:srgbClr val="222222"/>
                </a:solidFill>
                <a:latin typeface="맑은 고딕"/>
              </a:rPr>
              <a:t>•  컨트롤파일 — 공유. 구조 정보가 하나여야 한다</a:t>
            </a:r>
          </a:p>
          <a:p>
            <a:pPr algn="l">
              <a:spcAft>
                <a:spcPts val="1000"/>
              </a:spcAft>
            </a:pPr>
            <a:r>
              <a:rPr sz="1700" b="0">
                <a:solidFill>
                  <a:srgbClr val="222222"/>
                </a:solidFill>
                <a:latin typeface="맑은 고딕"/>
              </a:rPr>
              <a:t>•  임시 — 공유하되 익스텐트를 나눔. 할당 단위가 이미 나뉜다</a:t>
            </a:r>
          </a:p>
          <a:p>
            <a:pPr algn="l">
              <a:spcAft>
                <a:spcPts val="1000"/>
              </a:spcAft>
            </a:pPr>
            <a:r>
              <a:rPr sz="1700" b="0">
                <a:solidFill>
                  <a:srgbClr val="222222"/>
                </a:solidFill>
                <a:latin typeface="맑은 고딕"/>
              </a:rPr>
              <a:t>•  UNDO — 분리. 롤백 세그먼트 경합을 피한다</a:t>
            </a:r>
          </a:p>
          <a:p>
            <a:pPr algn="l">
              <a:spcAft>
                <a:spcPts val="1000"/>
              </a:spcAft>
            </a:pPr>
            <a:r>
              <a:rPr sz="1700" b="0">
                <a:solidFill>
                  <a:srgbClr val="222222"/>
                </a:solidFill>
                <a:latin typeface="맑은 고딕"/>
              </a:rPr>
              <a:t>•  리두로그 — 분리. 순차 쓰기라 같은 파일에 못 쓴다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구조는 공유, 사용은 분리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놓치기 쉬운 구분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 그룹 추가 → 양 노드에서 즉시 보인다</a:t>
            </a:r>
          </a:p>
          <a:p>
            <a:pPr algn="l">
              <a:spcAft>
                <a:spcPts val="1000"/>
              </a:spcAft>
            </a:pPr>
            <a:r>
              <a:rPr sz="1700" b="0">
                <a:solidFill>
                  <a:srgbClr val="222222"/>
                </a:solidFill>
                <a:latin typeface="맑은 고딕"/>
              </a:rPr>
              <a:t>•  그러나 쓰는 것은 그 스레드의 인스턴스뿐</a:t>
            </a:r>
          </a:p>
          <a:p>
            <a:pPr algn="l">
              <a:spcAft>
                <a:spcPts val="1000"/>
              </a:spcAft>
            </a:pPr>
            <a:r>
              <a:rPr sz="1700" b="0">
                <a:solidFill>
                  <a:srgbClr val="222222"/>
                </a:solidFill>
                <a:latin typeface="맑은 고딕"/>
              </a:rPr>
              <a:t>•  UNDO 테이블스페이스도 마찬가지</a:t>
            </a:r>
          </a:p>
          <a:p>
            <a:pPr algn="l">
              <a:spcAft>
                <a:spcPts val="1000"/>
              </a:spcAft>
            </a:pPr>
            <a:r>
              <a:rPr sz="1700" b="0">
                <a:solidFill>
                  <a:srgbClr val="222222"/>
                </a:solidFill>
                <a:latin typeface="맑은 고딕"/>
              </a:rPr>
              <a:t>•  "양쪽에서 보이니 양쪽에서 쓸 수 있겠지" → ORA-30013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부하 편중을 수치로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 통계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v$log_history — 스레드 1 은 15회, 스레드 2 는 12회 스위치</a:t>
            </a:r>
          </a:p>
          <a:p>
            <a:pPr algn="l">
              <a:spcAft>
                <a:spcPts val="1000"/>
              </a:spcAft>
            </a:pPr>
            <a:r>
              <a:rPr sz="1700" b="0">
                <a:solidFill>
                  <a:srgbClr val="222222"/>
                </a:solidFill>
                <a:latin typeface="맑은 고딕"/>
              </a:rPr>
              <a:t>•  redo size — rac1 16.8MB / rac2 9.4MB (1.8배)</a:t>
            </a:r>
          </a:p>
          <a:p>
            <a:pPr algn="l">
              <a:spcAft>
                <a:spcPts val="1000"/>
              </a:spcAft>
            </a:pPr>
            <a:r>
              <a:rPr sz="1700" b="0">
                <a:solidFill>
                  <a:srgbClr val="222222"/>
                </a:solidFill>
                <a:latin typeface="맑은 고딕"/>
              </a:rPr>
              <a:t>•  redo writes — 2556 / 1457</a:t>
            </a:r>
          </a:p>
          <a:p>
            <a:pPr algn="l">
              <a:spcAft>
                <a:spcPts val="1000"/>
              </a:spcAft>
            </a:pPr>
            <a:r>
              <a:rPr sz="1700" b="0">
                <a:solidFill>
                  <a:srgbClr val="222222"/>
                </a:solidFill>
                <a:latin typeface="맑은 고딕"/>
              </a:rPr>
              <a:t>•  redo log space requests 0 — 리두 크기는 충분하다</a:t>
            </a:r>
          </a:p>
          <a:p>
            <a:pPr algn="l">
              <a:spcAft>
                <a:spcPts val="1000"/>
              </a:spcAft>
            </a:pPr>
            <a:r>
              <a:rPr sz="1700" b="0">
                <a:solidFill>
                  <a:srgbClr val="222222"/>
                </a:solidFill>
                <a:latin typeface="맑은 고딕"/>
              </a:rPr>
              <a:t>•  편중이 확인되면 조치는 15장의 서비스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노드를 추가할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스토리지 쪽 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새 스레드용 리두 그룹 (최소 두 개)</a:t>
            </a:r>
          </a:p>
          <a:p>
            <a:pPr algn="l">
              <a:spcAft>
                <a:spcPts val="1000"/>
              </a:spcAft>
            </a:pPr>
            <a:r>
              <a:rPr sz="1700" b="0">
                <a:solidFill>
                  <a:srgbClr val="222222"/>
                </a:solidFill>
                <a:latin typeface="맑은 고딕"/>
              </a:rPr>
              <a:t>•  2 그 스레드를 활성화 — alter database enable public thread 3</a:t>
            </a:r>
          </a:p>
          <a:p>
            <a:pPr algn="l">
              <a:spcAft>
                <a:spcPts val="1000"/>
              </a:spcAft>
            </a:pPr>
            <a:r>
              <a:rPr sz="1700" b="0">
                <a:solidFill>
                  <a:srgbClr val="222222"/>
                </a:solidFill>
                <a:latin typeface="맑은 고딕"/>
              </a:rPr>
              <a:t>•  3 새 UNDO 테이블스페이스 생성 + SPFILE 에 지정</a:t>
            </a:r>
          </a:p>
          <a:p>
            <a:pPr algn="l">
              <a:spcAft>
                <a:spcPts val="1000"/>
              </a:spcAft>
            </a:pPr>
            <a:r>
              <a:rPr sz="1700" b="0">
                <a:solidFill>
                  <a:srgbClr val="222222"/>
                </a:solidFill>
                <a:latin typeface="맑은 고딕"/>
              </a:rPr>
              <a:t>•  임시 테이블스페이스와 데이터파일은 손댈 것이 없다 (공유)</a:t>
            </a:r>
          </a:p>
          <a:p>
            <a:pPr algn="l">
              <a:spcAft>
                <a:spcPts val="1000"/>
              </a:spcAft>
            </a:pPr>
            <a:r>
              <a:rPr sz="1700" b="0">
                <a:solidFill>
                  <a:srgbClr val="222222"/>
                </a:solidFill>
                <a:latin typeface="맑은 고딕"/>
              </a:rPr>
              <a:t>•  2 를 빠뜨리면 새 인스턴스가 기동되지 않는다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스토리지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특유의 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 스레드별 CURRENT 가 하나씩인가</a:t>
            </a:r>
          </a:p>
          <a:p>
            <a:pPr algn="l">
              <a:spcAft>
                <a:spcPts val="1000"/>
              </a:spcAft>
            </a:pPr>
            <a:r>
              <a:rPr sz="1700" b="0">
                <a:solidFill>
                  <a:srgbClr val="222222"/>
                </a:solidFill>
                <a:latin typeface="맑은 고딕"/>
              </a:rPr>
              <a:t>•  매일 — UNDO 크기가 한쪽만 커지지 않는가  ← RAC 특유</a:t>
            </a:r>
          </a:p>
          <a:p>
            <a:pPr algn="l">
              <a:spcAft>
                <a:spcPts val="1000"/>
              </a:spcAft>
            </a:pPr>
            <a:r>
              <a:rPr sz="1700" b="0">
                <a:solidFill>
                  <a:srgbClr val="222222"/>
                </a:solidFill>
                <a:latin typeface="맑은 고딕"/>
              </a:rPr>
              <a:t>•  주간 — 스레드마다 그룹이 둘 이상인가</a:t>
            </a:r>
          </a:p>
          <a:p>
            <a:pPr algn="l">
              <a:spcAft>
                <a:spcPts val="1000"/>
              </a:spcAft>
            </a:pPr>
            <a:r>
              <a:rPr sz="1700" b="0">
                <a:solidFill>
                  <a:srgbClr val="222222"/>
                </a:solidFill>
                <a:latin typeface="맑은 고딕"/>
              </a:rPr>
              <a:t>•  주간 — 인스턴스별 임시 공간 확보량 균형  ← RAC 특유</a:t>
            </a:r>
          </a:p>
          <a:p>
            <a:pPr algn="l">
              <a:spcAft>
                <a:spcPts val="1000"/>
              </a:spcAft>
            </a:pPr>
            <a:r>
              <a:rPr sz="1700" b="0">
                <a:solidFill>
                  <a:srgbClr val="222222"/>
                </a:solidFill>
                <a:latin typeface="맑은 고딕"/>
              </a:rPr>
              <a:t>•  변경 후 — 양 노드에서 같게 보이는가</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핵심 정리</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기준은 하나 — 동시에 쓸 수 있는가</a:t>
            </a:r>
          </a:p>
          <a:p>
            <a:pPr algn="l">
              <a:spcAft>
                <a:spcPts val="1000"/>
              </a:spcAft>
            </a:pPr>
            <a:r>
              <a:rPr sz="1600" b="0">
                <a:solidFill>
                  <a:srgbClr val="222222"/>
                </a:solidFill>
                <a:latin typeface="맑은 고딕"/>
              </a:rPr>
              <a:t>•  리두·UNDO 는 분리, 임시·데이터파일은 공유</a:t>
            </a:r>
          </a:p>
          <a:p>
            <a:pPr algn="l">
              <a:spcAft>
                <a:spcPts val="1000"/>
              </a:spcAft>
            </a:pPr>
            <a:r>
              <a:rPr sz="1600" b="0">
                <a:solidFill>
                  <a:srgbClr val="222222"/>
                </a:solidFill>
                <a:latin typeface="맑은 고딕"/>
              </a:rPr>
              <a:t>•  스레드는 누가 쓰는가, 멤버는 몇 벌 두는가</a:t>
            </a:r>
          </a:p>
          <a:p>
            <a:pPr algn="l">
              <a:spcAft>
                <a:spcPts val="1000"/>
              </a:spcAft>
            </a:pPr>
            <a:r>
              <a:rPr sz="1600" b="0">
                <a:solidFill>
                  <a:srgbClr val="222222"/>
                </a:solidFill>
                <a:latin typeface="맑은 고딕"/>
              </a:rPr>
              <a:t>•  SEQUENCE# 가 스레드마다 다른 것은 부하 차이의 흔적</a:t>
            </a:r>
          </a:p>
          <a:p>
            <a:pPr algn="l">
              <a:spcAft>
                <a:spcPts val="1000"/>
              </a:spcAft>
            </a:pPr>
            <a:r>
              <a:rPr sz="1600" b="0">
                <a:solidFill>
                  <a:srgbClr val="222222"/>
                </a:solidFill>
                <a:latin typeface="맑은 고딕"/>
              </a:rPr>
              <a:t>•  ORA-01623 은 인스턴스 이름과 스레드 번호를 알려 준다</a:t>
            </a:r>
          </a:p>
          <a:p>
            <a:pPr algn="l">
              <a:spcAft>
                <a:spcPts val="1000"/>
              </a:spcAft>
            </a:pPr>
            <a:r>
              <a:rPr sz="1600" b="0">
                <a:solidFill>
                  <a:srgbClr val="222222"/>
                </a:solidFill>
                <a:latin typeface="맑은 고딕"/>
              </a:rPr>
              <a:t>•  ORA-30013 은 사용 중, ORA-30012 는 없음 — 앞의 ORA-02097 은 무시</a:t>
            </a:r>
          </a:p>
          <a:p>
            <a:pPr algn="l">
              <a:spcAft>
                <a:spcPts val="1000"/>
              </a:spcAft>
            </a:pPr>
            <a:r>
              <a:rPr sz="1600" b="0">
                <a:solidFill>
                  <a:srgbClr val="222222"/>
                </a:solidFill>
                <a:latin typeface="맑은 고딕"/>
              </a:rPr>
              <a:t>•  임시는 공유하되 인스턴스별로 익스텐트를 확보한다</a:t>
            </a:r>
          </a:p>
          <a:p>
            <a:pPr algn="l">
              <a:spcAft>
                <a:spcPts val="1000"/>
              </a:spcAft>
            </a:pPr>
            <a:r>
              <a:rPr sz="1600" b="0">
                <a:solidFill>
                  <a:srgbClr val="222222"/>
                </a:solidFill>
                <a:latin typeface="맑은 고딕"/>
              </a:rPr>
              <a:t>•  임시 공간 부족은 전체 여유와 인스턴스별 확보량 둘을 본다</a:t>
            </a:r>
          </a:p>
          <a:p>
            <a:pPr algn="l">
              <a:spcAft>
                <a:spcPts val="1000"/>
              </a:spcAft>
            </a:pPr>
            <a:r>
              <a:rPr sz="1600" b="0">
                <a:solidFill>
                  <a:srgbClr val="222222"/>
                </a:solidFill>
                <a:latin typeface="맑은 고딕"/>
              </a:rPr>
              <a:t>•  구조는 공유, 사용은 분리 — 보이는 것과 쓸 수 있는 것은 다르다</a:t>
            </a:r>
          </a:p>
          <a:p>
            <a:pPr algn="l">
              <a:spcAft>
                <a:spcPts val="1000"/>
              </a:spcAft>
            </a:pPr>
            <a:r>
              <a:rPr sz="1600" b="0">
                <a:solidFill>
                  <a:srgbClr val="222222"/>
                </a:solidFill>
                <a:latin typeface="맑은 고딕"/>
              </a:rPr>
              <a:t>•  노드 추가 시 준비할 것은 리두 그룹·스레드 활성화·UNDO 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3188</Words>
  <Application>Microsoft Office PowerPoint</Application>
  <PresentationFormat>와이드스크린</PresentationFormat>
  <Paragraphs>248</Paragraphs>
  <Slides>35</Slides>
  <Notes>26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2026-10-29T10:16:19Z</dcterms:modified>
  <cp:category/>
</cp:coreProperties>
</file>
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AA959-BAF7-44CE-BAB2-10B22343235A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06A45-76E5-4FA2-B4A6-20F9C5EAD1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596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첫 슬라이드에서 정의를 정확히 세우는 것이 중요합니다. 수강생 대부분은 RAC 를 서버 여러 대로 부하를 나누는 것 정도로 알고 옵니다. 그 이해로는 이후 내용이 붙지 않습니다. 강조할 지점은 마지막 두 줄입니다. 단일 인스턴스에서는 버퍼 캐시의 최신본이 언제나 내 메모리에 있다는 전제가 성립하지만 RAC 에서는 그렇지 않고, 그 결과로 블록 소유 정보를 관리할 장치와 블록을 옮길 통로가 필요해집니다. 이 인과를 먼저 세워 두면 뒤에 나오는 GRD, LMS, 인터커넥트가 각각 왜 존재하는지 자연스럽게 설명됩니다.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수직 확장을 폄하할 필요는 없습니다. 실제로 상당수 시스템은 수직 확장으로 충분하고, RAC 를 도입하지 않는 편이 총비용과 운영 난이도 면에서 유리합니다. 강의에서는 언제 수직 확장으로 부족해지는가를 함께 말해 주는 것이 좋습니다. 두 가지입니다. 하나는 성능 요구가 단일 서버 상한을 넘을 때이고, 다른 하나는 서버 한 대의 정지도 허용되지 않을 때입니다. 후자가 실무에서 RAC 도입의 더 흔한 이유라는 점을 짚어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샤딩과의 대비가 이 슬라이드의 핵심입니다. 샤딩은 데이터를 쪼개므로 노드 간 통신이 거의 없어 확장성이 좋지만, 애플리케이션이 어느 샤드로 갈지 알아야 하고 샤드를 넘는 조인이 어렵습니다. RAC 는 반대입니다. 애플리케이션은 아무것도 몰라도 되지만 노드 간 통신 비용을 데이터베이스가 떠안습니다. 마지막 두 줄을 반드시 짚어 주십시오. RAC 를 넣으면 무조건 빨라진다는 오해가 현장에서 가장 비싼 오해입니다.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정직하게 말하는 것이 중요합니다. 인스턴스 복구가 자동으로 일어나고 데이터베이스가 계속 열려 있는 것은 사실이지만, 죽은 노드에 붙어 있던 세션은 예외 없이 끊깁니다. 진행 중이던 트랜잭션은 롤백됩니다. RAC 는 무중단이라는 말을 그대로 전달하면 나중에 개발팀과 충돌이 생깁니다. 교재 1.9.3 절의 사례를 여기서 미리 언급해 두면 수강생이 실습 6에서 그 의미를 체감합니다.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롤링 작업은 RAC 도입 근거로 자주 제시되지만 실제로 롤링이 되는 범위는 생각보다 좁습니다. GI 패치 중 RAC Rolling 이 지원되는 RU 는 롤링이 되고, 데이터베이스 딕셔너리를 건드리는 업그레이드는 되지 않습니다. 강의에서는 패치 문서의 rolling 지원 여부를 반드시 확인한다는 실무 습관을 강조해 주십시오. 임의로 롤링을 시도했다가 노드 간 버전이 어긋난 상태로 남는 사고가 실제로 발생합니다.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강의 내내 반복해 상기시킬 가치가 있습니다. RAC 를 도입한 뒤 백업 정책을 느슨하게 하거나 Data Guard 계획을 미루는 조직이 실제로 있습니다. 세 가지가 막는 위험이 서로 다르다는 점을 명확히 해 주십시오. RAC 는 서버 한 대의 장애를, Data Guard 는 사이트 장애를, 백업은 논리적 오류와 데이터 손상을 막습니다. 셋 중 하나가 없으면 그 위험은 열려 있는 상태로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환경의 racdb 는 관리자 관리형입니다. 이 교재에서 정책 관리형은 12장에서 개념만 다루고 실습하지 않습니다. 대규모 클러스터에서 의미가 있는 방식인데 2노드에서는 이점이 드러나지 않기 때문입니다. 수강생이 현장에서 마주칠 확률도 관리자 관리형이 압도적으로 높습니다. 사양 통일에 관한 세 번째 줄은 실무 조언으로 강조할 만합니다. 노드 교체 시 신형 서버를 넣어 사양이 섞이는 일이 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줄이 이 슬라이드의 핵심 메시지입니다. 교재 1.2.2 절의 금융 고객사 사례를 여기서 풀어 주십시오. 인터커넥트 스위치에 백업 VLAN 을 얹었더니 야간 배치 시간에만 노드가 축출된 사례입니다. 평균 대역폭 사용률이 낮아도 순간 지연이 튀면 하트비트가 늦어지고 클러스터는 노드를 죽입니다. 네트워크 담당자와 협의할 때 이 논리를 쓸 수 있도록 정확히 전달해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번째 조건이 초보자에게 가장 낯선 부분입니다. 리눅스에서 SCSI 디바이스 이름은 인식 순서에 따라 붙으므로 같은 디스크가 rac1 에서는 sdb, rac2 에서는 sdd 가 될 수 있습니다. 이 상태로 ASM 을 구성하면 디스크그룹이 노드마다 다른 디스크를 가리키게 되어 즉시 문제가 생깁니다. 그래서 WWN 기반 udev 규칙이나 ASM Filter Driver 로 이름을 고정합니다. 3장 실습에서 직접 규칙을 작성합니다.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표를 수강생이 외우다시피 해 두면 이후 모든 장에서 방향을 잃지 않습니다. 장애가 발생했을 때 어느 계층의 문제인가를 먼저 판단하고, 그에 맞는 계정으로 그에 맞는 로그를 봐야 하기 때문입니다. 예를 들어 데이터베이스가 안 열린다는 신고가 들어왔을 때, ASM 디스크그룹이 마운트되지 않았을 수도 있고 Clusterware 가 내려가 있을 수도 있습니다. 계층 순서대로 아래에서 위로 확인하는 습관을 들이게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스플릿 브레인을 짧게 설명하고 넘어가십시오. 네트워크가 끊겨 두 노드가 서로 상대가 죽었다고 판단하면, 통제가 없을 경우 양쪽이 같은 데이터 파일을 각자 갱신해 데이터가 깨집니다. Clusterware 는 보팅 파일과 하트비트로 다수파를 판정하고 소수파 노드를 강제로 재부팅합니다. 자세한 메커니즘은 2장과 5장에서 다루므로 여기서는 그런 통제 장치가 필요하다는 인식만 심어 주면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원칙을 어겨서 생기는 사고가 현장에 많습니다. 예를 들어 데이터베이스 자원을 crsctl stop resource 로 내리면 Oracle 이 정의한 정지 순서와 서비스 재배치가 건너뛰어져, 서비스가 다른 노드로 옮겨 가지 않은 채 끊기는 일이 생깁니다. 14장에서 두 명령의 경계를 표로 정리하지만, 지금부터 습관을 들이도록 반복해 말해 주십시오. 조회는 crsctl status 로, 기동과 정지는 srvctl 로 하는 것이 안전한 기본값입니다.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번째 줄이 이 슬라이드에서 가장 자주 오해되는 부분입니다. 수강생들은 인스턴스마다 UNDO 가 따로라는 말을 듣고 다른 인스턴스의 UNDO 에 접근할 수 없다고 생각하곤 합니다. 그렇다면 racdb1 이 죽었을 때 racdb2 가 어떻게 복구하겠느냐고 되물어 보십시오. 파일은 모두 공유 스토리지에 있고 누구나 읽을 수 있으며, 다만 평상시에는 자기 것만 쓰도록 배정되어 있을 뿐이라는 점을 분명히 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줄을 실무 팁으로 강조하십시오. 장애 대응 중 GV$ 조회가 응답하지 않고 멈춰 있다면, 그것은 조회가 잘못된 것이 아니라 응답하지 않는 인스턴스가 있다는 신호입니다. 이럴 때는 V$ 로 내려가 접속한 인스턴스만 확인하고, 다른 노드에는 별도로 접속해 상태를 봅니다. GV$ 조회는 V$ 보다 비용이 크다는 점도 함께 언급해, 모니터링 스크립트를 짧은 주기로 돌릴 때 주의하도록 안내해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값이 다를 수 있는 상황을 예로 들어 주면 구분이 명확해집니다. 인스턴스 번호를 1 과 2 가 아니라 1 과 3 으로 부여한 클러스터에서는 GV$ 의 INST_ID 도 1 과 3 이 됩니다. 즉 INST_ID 는 INSTANCE_NUMBER 를 따라갑니다. 실무에서 이 차이가 문제가 되는 지점은 18장의 노드 삭제와 추가입니다. 인스턴스를 지웠다가 다시 만들 때 번호를 재사용하지 않으면 리두 스레드와 UNDO 테이블스페이스가 새로 필요해집니다.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 번째 줄을 짚어 주십시오. 인스턴스 1에 접속했는데 스레드 2의 리두 그룹이 보이는 이유는 리두 로그가 공유 스토리지에 있고 컨트롤 파일에 전체 구성이 기록되어 있기 때문입니다. 여기서 다시 한 번 공유 스토리지의 의미가 확인됩니다. 실습 6에서 인스턴스 2를 정지하면 V$THREAD 의 STATUS 가 CLOSED 로 바뀌는 것을 직접 보게 되므로, 이 슬라이드에서 미리 예고해 두면 실습의 관찰 포인트가 분명해집니다.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UNDO 를 나누는 이유를 성능으로 설명하는 것이 핵심입니다. 기능적으로는 공유해도 동작할 수 있지만, UNDO 세그먼트 헤더 블록은 트랜잭션마다 갱신되는 초고빈도 블록이라 이것이 노드 사이를 오가면 성능이 무너집니다. 마지막 줄도 함께 짚어 주십시오. 노드 2에서 시작된 조회가 노드 1의 트랜잭션이 남긴 변경을 되돌려야 할 때, 노드 1의 UNDO 블록을 Cache Fusion 으로 가져옵니다.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OPS 를 언급하는 이유는 역사 지식 때문이 아니라 Cache Fusion 의 가치를 이해시키기 위해서입니다. 디스크 왕복이 얼마나 비싼지 감각을 주십시오. 인터커넥트 전송은 마이크로초 단위이고 디스크 왕복은 밀리초 단위였습니다. 세 자릿수 차이입니다. Cache Fusion 이 RAC 를 실용적인 기술로 만든 결정적 변화였다는 맥락을 주면 이후 GRD 와 LMS 설명이 목적을 갖게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GRD 가 분산되어 있다는 점이 중요합니다. 한 노드가 모든 블록의 소유 정보를 관리한다면 그 노드가 병목이 되고 단일 장애점이 됩니다. 해시로 마스터를 분산해 이를 피합니다. LMON 의 역할도 짚어 주십시오. 노드가 추가되거나 빠지면 마스터 배정이 달라져야 하므로 GRD 를 재구성하는데, 이것이 리마스터링이며 그동안 순간적으로 처리가 멈춥니다. 20장에서 다시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환경이 2노드이므로 3-way 대기 이벤트는 관찰되지 않습니다. 이 점을 미리 알려 주면 수강생이 조회 결과를 보고 혼란스러워하지 않습니다. 노드가 셋 이상인 현장 클러스터에서는 3-way 비율이 성능 지표가 됩니다. 3-way 가 많다는 것은 요청과 마스터와 소유가 각각 다른 노드에 흩어져 있다는 뜻이고, 이 경우 동적 리마스터링이 자주 일어나는지 함께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슬라이드가 16장 서비스 설계의 근거가 됩니다. 왜 업무별로 서비스를 나눠 특정 노드에 배치하는가 — 같은 데이터를 건드리는 갱신 작업이 여러 노드에 흩어지지 않게 하기 위해서입니다. 반대로 읽기 위주 업무는 어느 노드에 붙어도 상관없습니다. 이 원리를 지금 심어 두면 16장에서 서비스 설계 원칙을 설명할 때 왜 그렇게 나누는가를 다시 설명하지 않아도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3의 결과입니다. 강의 중 이 숫자를 칠판에 적고 대응 관계를 그려 주면 효과가 큽니다. 한쪽의 received 증가분과 다른 쪽의 served 증가분이 정확히 같다는 사실이 Cache Fusion 을 추상적 개념에서 측정 가능한 현상으로 바꿔 줍니다. 마지막 줄도 반드시 강조하십시오. 누적값을 절대값으로 읽고 gc 통계가 크니 문제라고 판단하는 실수가 초보 단계에서 매우 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GV$BH 는 버퍼 캐시의 모든 블록을 담고 있어 조회 비용이 큽니다. 실습에서는 특정 테이블로 한정해 조회하도록 구성했습니다. 운영 환경에서 조건 없이 조회하지 않도록 주의를 주십시오. 상태값 세 가지만 확실히 익히면 충분합니다. 갱신하려면 xcur 를 얻어야 하고 클러스터에 하나뿐이므로, 여러 노드가 같은 블록을 갱신하려 다투면 xcur 가 오가면서 gc current block busy 대기가 쌓입니다.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결과에서 gc current block busy 는 대기 횟수가 gc cr grant 2-way 보다 적은데 총 대기 시간은 훨씬 길었습니다. 이 대비를 보여 주면 횟수가 아니라 시간을 봐야 한다는 원칙이 자연스럽게 전달됩니다. 20장에서 AWR 의 Top Timed Events 를 읽을 때 이 감각이 그대로 쓰입니다. 이름 규칙만 익혀 두면 처음 보는 gc 이벤트도 뜻을 추측할 수 있다는 점을 강조해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VIP 의 필요성을 세우기 위한 준비입니다. 수강생에게 질문을 던져 보십시오 — 서버가 꺼졌는데 왜 즉시 오류가 나지 않는가. 답은 TCP 의 동작 방식에 있습니다. 상대가 RST 를 돌려주면 즉시 실패하지만, 서버가 물리적으로 꺼져 있으면 아무 응답도 오지 않고 클라이언트는 재전송을 반복하다 타임아웃까지 갑니다. 이 공백이 VIP 가 해결하려는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줄이 이 슬라이드의 전부라고 해도 됩니다. VIP 가 옮겨 가면 서비스도 옮겨 간다고 오해하는 수강생이 매우 많습니다. 옮겨 간 VIP 에는 그 노드의 데이터베이스 인스턴스가 없으므로 서비스할 수 없습니다. 하는 일은 접속 시도에 즉시 실패를 돌려주어 클라이언트가 다음 주소로 넘어가게 만드는 것뿐입니다. 이 오해를 여기서 확실히 깨 두지 않으면 15장 서비스 페일오버에서 다시 혼란이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환경이 SCAN IP 를 하나만 쓰는 이유를 설명해 주십시오. DNS 라운드로빈으로 세 개를 돌리려면 별도 DNS 서버가 필요한데, 학습 목적에서는 SCAN 의 재지시 동작을 확인하는 것이 목적이므로 하나로 충분합니다. 다만 운영 환경 설계 시에는 반드시 세 개를 권장한다는 점을 함께 말해 주십시오. SCAN IP 가 하나면 그 리스너가 있는 노드가 죽었을 때 잠시 접속 공백이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재지시가 일어난다는 사실을 모르면 방화벽 설계에서 사고가 납니다. 클라이언트에서 SCAN IP 로 가는 1521 포트만 열어 두면 접속이 되지 않습니다. 재지시된 VIP 주소로도 갈 수 있어야 합니다. 현장에서 SCAN 으로 접속이 안 된다는 문의의 상당수가 이 방화벽 문제입니다. 실습 6에서 SCAN 으로 여섯 번 접속하면 racdb1 과 racdb2 가 번갈아 나오는 것을 확인하게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169.254 대역을 보고 링크 로컬 주소가 왜 있느냐고 당황하는 경우가 많습니다. HAIP 는 11.2 부터 도입된 기능이며 인터커넥트 인터페이스가 하나여도 항상 올라옵니다. 확인 방법도 알려 주십시오. ip addr 로 보면 인터커넥트 인터페이스에 169.254 주소가 별칭으로 붙어 있고, crsctl status resource 로 haip 자원 상태를 볼 수 있습니다. 2장에서 다시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표는 20개 장 전체에서 참조됩니다. 수강생에게 별도로 출력해 손이 닿는 곳에 두라고 안내하십시오. 특히 디스크그룹 구성을 눈여겨보게 하십시오. CRS 만 Normal 이중화이고 나머지는 External 인데, 이는 보팅 파일을 3개 확보하기 위해서입니다. 5장에서 보팅 파일 개수와 디스크그룹 이중화의 관계를 다룰 때 이 구성이 근거가 됩니다. 홈 경로가 19.3.0 인 점도 확인시켜 주십시오. 설치 미디어 버전이 그대로 경로에 들어가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SE2 의 RAC 지원 제거는 19c 로 올라오는 고객에게 실제 영향을 주는 변경입니다. 11g 나 12c SE 에서 RAC 를 쓰던 사이트는 19c 로 갈 때 EE 와 RAC 옵션으로 가거나 단일 인스턴스로 내려와야 합니다. 이 이야기를 해 두면 수강생이 자기 사이트의 상황을 점검하게 됩니다. RAC One Node 도 별개 옵션이라는 점을 함께 말해 주십시오. 19장에서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줄이 실습 5의 핵심 관찰 포인트입니다. CDB 루트에 접속해 DBA_FEATURE_USAGE_STATISTICS 를 조회하면 한 행도 나오지 않습니다. 샘플링이 PDB 단위로 이루어지기 때문입니다. 이것을 모르면 사용 이력이 없다고 잘못 보고하게 됩니다. 감사 대응 자료를 만들 때 치명적인 실수가 될 수 있으므로 반드시 짚어 주십시오. CON_ID 와 함께 CDB_ 뷰를 조회하는 것이 정답입니다.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구분이 실무에서 매우 자주 쓰입니다. 새벽에 호출을 받고 crsctl status resource -t 를 봤을 때, Target 이 ONLINE 인데 State 가 OFFLINE 이면 뭔가 죽었고 Clusterware 가 되살리려 애쓰는 중이라는 뜻입니다. 반면 둘 다 OFFLINE 이면 누군가 의도적으로 내린 것입니다. 후자라면 작업 이력을 먼저 확인해야 하고, 전자라면 로그를 봐야 합니다. 대응 방향이 완전히 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번째 줄을 짚어 주십시오. 인스턴스를 정지한 것이지 노드를 정지한 것이 아니므로 Clusterware 는 양쪽에서 계속 돌아갑니다. olsnodes 가 두 노드를 모두 Active 로 보여 주는 것이 그 증거입니다. 실습 6에서 이것을 확인합니다. 수강생이 인스턴스 정지와 노드 정지와 Clusterware 정지를 구분하지 못하면 이후 장의 실습에서 계속 혼란을 겪으므로, 세 가지를 여기서 분명히 갈라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C0392B"/>
                </a:solidFill>
                <a:latin typeface="맑은 고딕"/>
              </a:rPr>
              <a:t>RAC </a:t>
            </a:r>
            <a:r>
              <a:rPr sz="3400" b="1" dirty="0" err="1">
                <a:solidFill>
                  <a:srgbClr val="C0392B"/>
                </a:solidFill>
                <a:latin typeface="맑은 고딕"/>
              </a:rPr>
              <a:t>개요</a:t>
            </a:r>
            <a:endParaRPr sz="3400" b="1" dirty="0">
              <a:solidFill>
                <a:srgbClr val="C0392B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여러 인스턴스가 하나의 데이터베이스를 여는 구조와 그 결과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RAC 가 해결하는 두 가지 문제 — 확장성과 가용성 — 를 구분해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클러스터의 물리 구성 요소와 소프트웨어 세 계층을 그림으로 그린다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무엇이 공유되고 무엇이 인스턴스마다 따로인지 표로 정리한다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GV$ 와 V$ 의 차이를 조회로 확인하고 진단에 적용한다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Cache Fusion 의 동작을 설명하고 gc 통계로 실측한다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VIP 와 SCAN 이 각각 무엇을 해결하는지 말한다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RAC 라이선스 경계를 조회로 확인한다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1.1 확장성과 가용성 — RAC 가 해결하려는 두 가지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1.2 클러스터를 이루는 구성 요소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1.3 소프트웨어 스택 — 세 개의 층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1.4 하나의 데이터베이스, 여러 인스턴스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1.5 Cache Fusion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1.6 네트워크 구성 — 공용·사설·VIP·SCAN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1.7 실습 랩 구성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1.8 라이선스와 옵션 경계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1.9 노드가 하나 빠지면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확장성과 가용성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수직 확장의 한계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수평 확장으로서의 RAC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계획되지 않은 정지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계획된 정지와 롤링 작업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RAC 가 막지 못하는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RAC 를 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정의에서 모든 난점이 나온다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여러 대의 서버가 하나의 데이터베이스를 동시에 열어 함께 서비스한다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하나의 데이터베이스 — 데이터 파일·컨트롤 파일·SPFILE 이 한 벌뿐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동시에 연다 — 서로 다른 메모리를 가진 여러 인스턴스가 그 한 벌을 갱신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단일 인스턴스의 전제가 무너진다: 최신 블록이 내 메모리에 없을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한 가지 사실에서 Cache Fusion, GRD, 인터커넥트가 모두 파생된다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수직 확장의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더 큰 서버 한 대로 가는 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scale-up: 소켓·메모리를 늘려 한 대의 능력을 키운다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장점 — 애플리케이션도 DB 구조도 그대로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한계 1 — 물리적 상한이 있고 상한 근처에서 가격이 급격히 오른다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한계 2 — 아무리 커도 한 대는 한 대, 멈추면 서비스도 멈춘다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수평 확장으로서의 RAC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샤딩과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사양 서버를 추가해 같은 데이터베이스를 열게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데이터를 쪼개지 않는다 — 어느 노드에서든 전체가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애플리케이션이 라우팅을 결정하지 않아도 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다만 선형 확장은 아니다 — 노드 간 블록·잠금 교환 비용이 함께 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데이터를 여러 노드가 심하게 갱신하면 오히려 느려질 수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가용성 — 계획되지 않은 정지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노드 하나가 죽었을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하드웨어 고장, OS 패닉, 인스턴스 이상 종료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살아 있는 인스턴스가 죽은 인스턴스의 리두 스레드를 읽어 복구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복구하는 동안에도 자기 트랜잭션은 계속 처리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죽은 노드의 세션은 끊긴다 — 재접속하면 남은 노드로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끊김까지 감추려면 Application Continuity 가 필요(16장)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가용성 — 계획된 정지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롤링 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노드를 하나씩 내렸다 올려 패치·점검 — 서비스는 계속된다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모든 작업이 롤링 가능한 것은 아니다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 구조를 바꾸는 작업은 대개 전체 정지 필요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무엇이 롤링 가능한지 판단하는 기준은 18장·20장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RAC 가 막지 못하는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경계를 분명히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스토리지 손상 — 모든 노드가 같은 디스크를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데이터센터 전체 정지 — 지역 재해는 Data Guard 영역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논리적 오류 — 잘못된 DELETE 는 모든 노드에 그대로 반영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사람의 실수 — 백업과 플래시백이 필요하다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· Data Guard · 백업은 서로를 대체하지 않는다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클러스터를 이루는 구성 요소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노드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인터커넥트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공유 스토리지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이름 고정의 필요성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노드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클러스터에 참여하는 서버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각자 CPU·메모리·OS·Oracle 소프트웨어 설치본을 가진다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OS, 같은 패치 수준, 같은 Oracle 버전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사양이 달라도 지원되지만 느린 노드가 전체를 끌어내린다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관리자 관리형: 어느 노드에 어느 인스턴스가 뜰지 관리자가 지정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정책 관리형: 서버 풀에 넣어 두면 Clusterware 가 배치 결정(12장)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인터커넥트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두 종류의 트래픽이 흐른다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하트비트 — 각 노드가 주기적으로 보내는 생존 신호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Cache Fusion — 블록과 잠금 정보, 양이 압도적으로 많다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반드시 전용: 공용망과 물리적으로 분리, 다른 트래픽 금지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느려지면 DB 전체가 느려지고, 끊기면 노드가 축출된다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대역폭이 남는 망이 아니라 지연이 튀면 안 되는 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공유 스토리지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모든 노드가 같은 디스크를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 파일·컨트롤 파일·리두·SPFILE·OCR·보팅 파일이 모두 여기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조건 1 — 모든 노드가 같은 LUN 을 동시에 읽고 쓸 수 있을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조건 2 — 노드마다 디바이스 이름이 달라도 같은 디스크로 식별될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/dev/sdb 가 노드마다 다른 디스크일 수 있다 — udev 로 이름 고정(3장)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위의 표준 파일 시스템이 ASM(6~10장)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소프트웨어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Oracle Clusterware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Grid Infrastructure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RAC 데이터베이스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계층별 명령 체계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세 개의 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무엇이 어디에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Clusterware — 멤버십·자원 관리 / Grid 홈 / grid 계정 / crsctl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— 공유 디스크를 디스크그룹으로 / Grid 홈 / grid / asmcmd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DB — 인스턴스·트랜잭션·Cache Fusion / DB 홈 / oracle / srvctl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Grid Infrastructure = Clusterware + ASM 을 함께 배포하는 설치 단위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GI 를 먼저 설치하고 그 위에 데이터베이스 홈을 설치한다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Clusterware 가 하는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없으면 RAC 가 성립하지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멤버십 — 어느 노드가 클러스터의 구성원인가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감시 — 각 노드가 살아 있는가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자원 관리 — 리스너·VIP·ASM·인스턴스·서비스의 기동·정지·재기동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스플릿 브레인 방지 — 서로 죽었다고 믿는 두 노드를 통제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프로세스 구조와 방지 원리는 2장에서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crsctl 과 srvctl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경계를 지키는 습관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crsctl — Clusterware 자체와 저수준 자원, 대부분 root 권한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— DB·인스턴스·리스너·서비스, grid 또는 oracle 계정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대상을 두 명령으로 볼 수 있는 경우가 많다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운영 중 기동·정지는 srvctl 이 원칙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crsctl 로 DB 자원을 직접 다루면 의존 관계를 건너뛴다(14장)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하나의 DB, 여러 인스턴스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공유되는 것과 개별인 것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GV$ 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스레드별 리두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인스턴스별 UNDO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공유 vs 개별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RAC 구조의 절반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공유 — 데이터 파일, 컨트롤 파일, SPFILE, 데이터 사전, 아카이브 로그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개별 — SGA/PGA, 백그라운드 프로세스, 리두 스레드, UNDO 테이블스페이스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개별은 평상시 각자 쓴다는 뜻이지 남의 것을 못 본다는 뜻이 아니다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리두와 UNDO 파일 자체는 공유 스토리지에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그래서 인스턴스 복구가 가능하다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GV$ 와 V$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RAC 진단의 출발점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 — 접속한 인스턴스의 정보만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 — 클러스터 전체, INST_ID 열이 추가된다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결과: GV$INSTANCE 2행, V$INSTANCE 1행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동작 방식 — 다른 인스턴스에 병렬 슬레이브를 띄워 결과를 모은다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상대가 응답하지 않으면 GV$ 조회가 멈춘다 — 그 자체가 진단 정보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INST_ID 와 INSTANCE_NUMBER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비슷해 보이지만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INST_ID — GV$ 결과 행이 어느 인스턴스에서 왔는지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INSTANCE_NUMBER — 그 인스턴스에 부여된 고유 번호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INSTANCE_NUMBER 가 리두 스레드와 UNDO 배정의 기준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대개 두 값이 같아 혼동하기 쉽다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삭제 후 재추가 시 번호가 바뀔 수 있다(18장)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스레드별 리두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실측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각 인스턴스는 자기 스레드에만 기록한다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DB: 스레드 1 은 그룹 1·2, 스레드 2 는 그룹 3·4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스레드가 각각 CURRENT 그룹을 하나씩 가진다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 1에서 조회해도 스레드 2의 구성이 모두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V$THREAD.STATUS 가 OPEN 또는 CLOSED 로 기동 여부를 알려 준다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인스턴스별 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왜 나누는가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DB: racdb1 은 UNDOTBS1, racdb2 는 UNDOTBS2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이유는 성능 — UNDO 세그먼트 헤더는 갱신이 매우 잦다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공유하면 Cache Fusion 트래픽이 폭증한다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각자 자기 것을 쓰면 평상시 서로 건드릴 일이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읽기 일관성 때문에 남의 UNDO 가 필요한 순간은 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Cache 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문제 설정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GRD 와 마스터 노드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2-way 와 3-way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current 와 CR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실측과 대기 이벤트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문제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OPS 의 디스크 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racdb1 이 갱신한 블록의 최신본은 racdb1 메모리에만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racdb2 가 디스크에서 읽으면 낡은 값을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OPS 시절에는 소유 노드가 디스크에 쓰고 요청 노드가 다시 읽었다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디스크 왕복이 OPS 확장성의 발목을 잡았다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Cache Fusion — 디스크를 거치지 않고 메모리에서 메모리로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GRD 와 마스터 노드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누가 가지고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GRD — 어느 노드가 어느 블록의 최신본을 가졌는지 담은 디렉터리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한 노드에 몰려 있지 않고 모든 노드에 나뉘어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블록 주소를 해시해 마스터 노드를 결정한다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LMS — 블록 전송, CR 블록 생성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LMD — 전역 잠금 처리 / LMON — 멤버십 변화 감지와 GRD 재구성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2-way 와 3-way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전송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요청 노드가 마스터에게 묻는다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마스터가 블록을 가지고 있으면 곧바로 전송 — 2-way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제3의 노드가 가지고 있으면 마스터가 전달 지시 — 3-way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2노드 클러스터에서는 3-way 가 발생하지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대기 이벤트 이름에 그대로 드러난다: gc current block 2-way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current 와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블록의 두 얼굴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current — 지금 이 순간의 최신 상태, 클러스터에 단 하나만 존재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 — 특정 SCN 시점의 읽기 일관성 이미지, 여러 개 존재 가능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갱신 세션은 current 를, 조회 세션은 CR 을 요구한다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여러 노드가 같은 블록을 번갈아 갱신하면 블록 핑퐁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조회 부하는 노드를 늘려도 잘 확장된다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Cache Fusion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숫자가 맞아떨어진다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1에서 1000행 갱신 후 커밋, 노드 2에서 전체 스캔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2 gc cr blocks received: 173 에서 237 로 64 증가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1 gc cr blocks served: 173 에서 237 로 64 증가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1은 받은 것이 없어 자기 received 는 그대로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통계는 기동 이후 누적값 — 두 시점의 차이를 봐야 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GV$BH 로 본 블록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누가 무엇을 쥐고 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xcur — 배타적 current, 갱신 권한을 가진 노드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scur — 공유 current, 읽기만 가능, 여러 노드가 동시 보유 가능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 — 읽기 일관성 이미지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결과: xcur 는 갱신한 노드 1에만, cr 은 조회한 노드 2에 가장 많이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상태 분포가 그 노드가 무엇을 했는지 말해 준다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gc 대기 이벤트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이름을 뜯어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gc 다음의 cr 또는 current — 블록 종류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다음의 grant 또는 block — 잠금만인가 블록까지인가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마지막의 2-way, 3-way, busy, congested — 경로와 상태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grant 는 대개 빠르다 / busy 는 상대가 놓아 주길 기다린 것으로 비싸다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congested 는 LMS 가 밀린 것 — LMS 수와 CPU 를 살핀다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네트워크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공용 IP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VIP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SCAN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인터커넥트와 HAIP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공용 IP 로 접속하면 안 되는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TCP 타임아웃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노드마다 하나씩, OS 가 관리, Clusterware 와 무관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SSH 등 관리 목적으로 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서버가 꺼지면 그 IP 로의 접속 시도는 응답이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OS TCP 타임아웃까지 수십 초에서 수 분을 대기한다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그동안 애플리케이션은 멈춰 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빠른 실패를 만드는 장치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노드마다 하나씩 추가로 부여, Clusterware 가 관리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실습: rac1-vip 172.16.225.111 / rac2-vip 172.16.225.112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노드가 죽으면 살아 있는 노드로 옮겨 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옮겨 간 VIP 는 서비스하지 않는다 — 즉시 오류를 돌려준다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VIP 는 서비스를 이어 주는 장치가 아니라 실패를 빨리 알리는 장치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단일 접속 이름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문제 — 클라이언트가 모든 노드의 VIP 를 알아야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노드를 추가하면 모든 클라이언트를 고쳐야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SCAN 은 클러스터 전체를 대표하는 이름 하나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권장 구성은 DNS 에 이름 하나에 IP 세 개, SCAN 리스너도 3개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환경은 dnsmasq 로 이름 하나에 IP 하나, SCAN 리스너 1개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SCAN 접속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재지시가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클라이언트가 SCAN 이름으로 접속하면 DNS 가 SCAN IP 하나를 반환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SCAN 리스너가 응답한다 — 하지만 DB 에 직접 연결해 주지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모든 인스턴스의 부하 정보를 알고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가장 여유 있는 인스턴스의 로컬 리스너 주소를 알려 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클라이언트가 그 주소로 다시 접속한다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인터커넥트와 HAIP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169.254 는 정상이다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oifcfg getif — Clusterware 가 아는 인터페이스 설정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GV$CLUSTER_INTERCONNECTS — DB 가 실제로 쓰는 주소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실습: oifcfg 는 172.16.119.0, DB 는 169.254.27.118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HAIP — GI 가 인터커넥트 위에 올리는 169.254.0.0/16 가상 주소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인터페이스가 여러 개면 부하 분산, 하나 죽으면 이전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1.7-1.8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랩 구성과 라이선스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실습 환경 기준표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옵션과 기본 기능의 경계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확인 조회 세 가지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실습 랩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이후 장의 기준표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rac1 172.16.225.101 / rac2 172.16.225.102, VIP 는 .111 과 .112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사설 172.16.119.101 과 102, SCAN rac-scan 172.16.225.120 포트 1521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Grid 홈 /u01/app/19.3.0/grid — grid 계정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 홈 /u01/app/oracle/product/19.3.0/dbhome_rac — oracle 계정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Normal 4GB 3개 / DATA External 20GB 3개 / FRA External 12GB 2개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라이선스 경계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무엇이 유료인가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Clusterware 자체 — Database 라이선스에 포함, 별도 비용 없음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단일 인스턴스를 Clusterware 로 감시하는 콜드 페일오버 — 포함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— Database 라이선스에 포함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— 여러 인스턴스가 하나의 DB 를 동시에, 별도 옵션이며 EE 전용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19c 부터 SE2 의 RAC 지원 제거 / RAC One Node 는 별개 옵션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확인 조회 세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각각 다른 질문에 답한다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V$OPTION — 소프트웨어에 링크되어 있는가, 라이선스 보유가 아니다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DBA_REGISTRY — 데이터 사전에 정상 설치되어 있는가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CDB_FEATURE_USAGE_STATISTICS — 실제로 사용한 이력이 있는가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주의 — Table Clustering 은 RAC 와 무관한 별개 기능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멀티테넌트에서는 DBA_ 가 아니라 CDB_ 를 봐야 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노드가 하나 빠지면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정지 전후의 차이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계속되는 것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끊기는 것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Target 과 State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Target 과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장애 대응의 첫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Target — 이 자원이 어떤 상태여야 하는가, 관리자의 지시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State — 지금 실제로 어떤 상태인가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stop 이면 Target 도 OFFLINE, 재기동하지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비정상 종료면 Target 은 ONLINE 인데 State 만 OFFLINE, 즉시 재기동 시도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값을 함께 읽어야 상황이 판별된다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계속되는 것과 끊기는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정직하게 말한다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계속 — DB 는 열려 있고 모든 데이터에 접근할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계속 — Clusterware 는 두 노드 모두 동작, olsnodes 는 둘 다 Active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계속 — SCAN 접속은 살아 있는 인스턴스로 고정 재지시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끊김 — 죽은 인스턴스의 세션은 끊기고 트랜잭션은 롤백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감추려면 TAF, FAN, Application Continuity 가 필요하다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RAC 는 여러 인스턴스가 하나의 DB 를 동시에 여는 구성, 확장성과 가용성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재해 복구와 논리 오류는 RAC 의 영역이 아니다 — Data Guard 와 백업이 필요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세 계층: Clusterware / ASM(=GI, grid 계정) / RAC DB(oracle 계정)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공유는 데이터·컨트롤·SPFILE·사전, 개별은 SGA·프로세스·리두스레드·UNDO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 는 접속 인스턴스만, GV$ 는 전체 — RAC 진단은 GV$ 로 시작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Cache Fusion 은 디스크가 아니라 인터커넥트로 블록을 옮긴다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current 는 하나, CR 은 여럿 — 블록 핑퐁의 원인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VIP 는 빠른 실패, SCAN 은 단일 이름과 재지시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RAC 는 EE 유료 옵션, Clusterware 와 ASM 자체는 포함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Q1. V$INSTANCE 가 1행이면 인스턴스가 하나뿐인가, 무엇을 조회해야 하는가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Q2. 인스턴스마다 따로 있어야 하는 것은 무엇인가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Q3. 이동한 VIP 로 접속하면 데이터베이스에 연결되는가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Q4. 노드2 received 가 64 늘고 노드1 served 가 64 늘었다, 무슨 일이 있었나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Q5. GV$CLUSTER_INTERCONNECTS 에 169.254 가 보인다, 설정 오류인가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Q6. Target 이 ONLINE 이고 State 가 OFFLINE 이면 어떤 상황인가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맑은 고딕"/>
              </a:rPr>
              <a:t>•  01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클러스터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전체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상태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파악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crsctl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status resource -t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읽는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법, </a:t>
            </a:r>
            <a:r>
              <a:rPr lang="en-US" altLang="ko-KR" sz="1600" b="0" dirty="0">
                <a:solidFill>
                  <a:srgbClr val="222222"/>
                </a:solidFill>
                <a:latin typeface="맑은 고딕"/>
              </a:rPr>
              <a:t>25</a:t>
            </a:r>
            <a:r>
              <a:rPr lang="ko-KR" altLang="en-US" sz="1600" b="0" dirty="0">
                <a:solidFill>
                  <a:srgbClr val="222222"/>
                </a:solidFill>
                <a:latin typeface="맑은 고딕"/>
              </a:rPr>
              <a:t>분</a:t>
            </a:r>
            <a:endParaRPr sz="1600" b="0" dirty="0">
              <a:solidFill>
                <a:srgbClr val="222222"/>
              </a:solidFill>
              <a:latin typeface="맑은 고딕"/>
            </a:endParaRP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맑은 고딕"/>
              </a:rPr>
              <a:t>•  02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하나의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DB 를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공유한다는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것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확인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— GV$ 와 V$,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공유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파일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lang="en-US" altLang="ko-KR" sz="1600" b="0" dirty="0">
                <a:solidFill>
                  <a:srgbClr val="222222"/>
                </a:solidFill>
                <a:latin typeface="맑은 고딕"/>
              </a:rPr>
              <a:t>20</a:t>
            </a:r>
            <a:r>
              <a:rPr lang="ko-KR" altLang="en-US" sz="1600" b="0" dirty="0">
                <a:solidFill>
                  <a:srgbClr val="222222"/>
                </a:solidFill>
                <a:latin typeface="맑은 고딕"/>
              </a:rPr>
              <a:t>분</a:t>
            </a:r>
            <a:endParaRPr sz="1600" b="0" dirty="0">
              <a:solidFill>
                <a:srgbClr val="222222"/>
              </a:solidFill>
              <a:latin typeface="맑은 고딕"/>
            </a:endParaRP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맑은 고딕"/>
              </a:rPr>
              <a:t>•  03 Cache Fusion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실측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gc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통계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델타와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GV$BH, 두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노드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사용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, 35분</a:t>
            </a: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맑은 고딕"/>
              </a:rPr>
              <a:t>•  04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단일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인스턴스와의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구조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차이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스레드·UNDO·컨트롤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파일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, 25분</a:t>
            </a: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맑은 고딕"/>
              </a:rPr>
              <a:t>•  05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라이선스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경계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확인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— V$OPTION, DBA_REGISTRY, CDB_FEATURE_USAGE, 20분</a:t>
            </a: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맑은 고딕"/>
              </a:rPr>
              <a:t>•  06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노드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하나를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정지했을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때 — SCAN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분포와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V$THREAD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변화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, 두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노드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, 35분</a:t>
            </a: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실습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6은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인스턴스를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정지한다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반드시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srvctl</a:t>
            </a:r>
            <a:r>
              <a:rPr sz="1600" b="0" dirty="0">
                <a:solidFill>
                  <a:srgbClr val="222222"/>
                </a:solidFill>
                <a:latin typeface="맑은 고딕"/>
              </a:rPr>
              <a:t> start instance 로 </a:t>
            </a:r>
            <a:r>
              <a:rPr sz="1600" b="0" dirty="0" err="1">
                <a:solidFill>
                  <a:srgbClr val="222222"/>
                </a:solidFill>
                <a:latin typeface="맑은 고딕"/>
              </a:rPr>
              <a:t>복귀</a:t>
            </a:r>
            <a:endParaRPr sz="1600" b="0" dirty="0">
              <a:solidFill>
                <a:srgbClr val="22222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4820</Words>
  <Application>Microsoft Office PowerPoint</Application>
  <PresentationFormat>와이드스크린</PresentationFormat>
  <Paragraphs>366</Paragraphs>
  <Slides>48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KEONTAE KIM</cp:lastModifiedBy>
  <cp:revision>2</cp:revision>
  <dcterms:created xsi:type="dcterms:W3CDTF">2013-01-27T09:14:16Z</dcterms:created>
  <dcterms:modified xsi:type="dcterms:W3CDTF">2026-10-29T10:12:18Z</dcterms:modified>
  <cp:category/>
</cp:coreProperties>
</file>
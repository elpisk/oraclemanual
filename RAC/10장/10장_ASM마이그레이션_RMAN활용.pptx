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위치를 먼저 정리해 주십시오. 앞선 장들은 ASM 안에서 일어나는 일이었고 이 장은 ASM 바깥에서 안으로 들어오는 과정입니다. 실무에서 이 작업이 필요해지는 대표적인 상황이 단일 인스턴스를 RAC 으로 전환할 때입니다. 공유 스토리지 위에 있지 않은 파일은 RAC 에서 쓸 수 없기 때문입니다. 명령은 두 줄뿐이지만 그 두 줄이 그냥 통하지 않는다는 것을 예고해 두면 뒤의 오류 재현이 자연스럽게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뷰를 UNION ALL 로 묶어 한 번에 보는 쿼리를 소개하십시오. 마이그레이션 계획을 세울 때 첫 번째로 실행하는 조회입니다. 이 랩은 dbca 가 만든 그대로라 전부 ASM 에 있어 옮길 대상이 없습니다. 그래서 실습에서는 rac1 의 로컬 파일 시스템에 데이터파일을 하나 만들어 옮길 대상을 인위적으로 만듭니다. 이것이 의도된 설정이라는 점을 미리 말해 두십시오.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단일 인스턴스와 다른 지점이 여기서 드러납니다. THREAD# 컬럼이 그것입니다. RAC 에서는 인스턴스마다 자기 리두 스레드를 갖고, 각 스레드가 독립적으로 로그 스위치를 합니다. 그래서 8 행이 나오는데 실제로는 4 개 그룹의 2 중화입니다. 이 구조는 12장 인스턴스 관리에서 다시 나오므로 여기서 개념을 잡아 두면 좋습니다. 노드를 추가하면 리두 스레드도 함께 추가해야 한다는 점을 예고해 두십시오.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용량 산정의 함정을 짚는 슬라이드입니다. "3.5GB 니까 4GB 만 있으면 되겠지" 로 계산하면 부족합니다. 복사 중에는 원본과 사본이 동시에 존재하고, Normal 중복도라면 사본이 다시 두 배의 원시 공간을 씁니다. 9장에서 배운 USABLE_FILE_MB 를 기준으로 잡아야 한다는 점을 연결하십시오. 실무 공식으로는 옮길 총량의 1.2 배 정도를 권합니다. 여유가 빠듯하면 테이블스페이스 단위로 나눠 옮기는 방법도 있지만 되돌리기가 어려워집니다.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확인이 이 장에서 가장 중요합니다. 아카이브 모드에 따라 절차가 완전히 달라집니다. ARCHIVELOG 에서는 복사 중에 변경이 일어나도 아카이브 로그로 복구할 수 있어 온라인 복사가 허용됩니다. NOARCHIVELOG 에서는 복사본이 어느 시점의 것인지 맞출 방법이 없어 금지됩니다. 다음 절의 첫 오류가 바로 이것 때문에 나온다는 것을 예고하십시오. 실무에서는 이 조회를 마이그레이션 계획서의 첫 줄에 적어 둡니다.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실습의 출발점입니다. 공유되지 않은 로컬 디스크에 데이터파일을 만드는 것이 핵심이며, 이것은 실무에서 절대 하면 안 되는 일을 의도적으로 재현하는 것입니다. rac1 에서만 보면 완벽하게 정상 동작합니다. 테이블을 만들고 2 만 건을 넣고 읽는 데 아무 문제가 없습니다. 이 "첫 노드에서는 정상" 이 다음 슬라이드의 함정으로 이어집니다. 수강생에게 rac2 에서는 어떻게 될지 먼저 예상해 보게 하면 학습 효과가 큽니다.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이 장의 핵심입니다. 세 가지를 순서대로 보여 주십시오. 먼저 조회가 ORA-01157 로 실패합니다. 그다음 딕셔너리를 보면 STATUS 가 ONLINE 이고 V$RECOVER_FILE 도 비어 있어 데이터베이스 관점에서는 아무 이상이 없습니다. 마지막으로 OS 에서 ls 해 보면 디렉터리조차 없습니다. 문제가 데이터베이스 계층이 아니라 OS 계층에 있다는 것을 이 순서로 확인시키십시오.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 사례로 확장하는 슬라이드입니다. 이 오류가 무서운 것은 첫 노드 테스트를 전부 통과한다는 점입니다. 전환 작업 검수에서 rac1 만 확인하고 완료 처리하면 며칠 뒤 rac2 로 접속한 사용자가 오류를 만납니다. 예방은 조회 한 줄이면 됩니다. 데이터파일 이름이 + 로 시작하지 않는 것이 하나라도 있으면 전환이 끝나지 않은 것입니다. 이 한 줄을 전환 점검표에 반드시 넣으라고 강조하십시오.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 절에서 확인한 NOARCHIVELOG 가 여기서 실제 오류로 나타납니다. 이 오류는 드물게도 메시지가 원인을 정확히 말해 주는 경우입니다. 9장의 ASMCMD-8102 와 대비하면 좋습니다. 선택지가 둘이라는 점을 짚으십시오. ARCHIVELOG 로 바꾸면 서비스 중단 없이 복사할 수 있지만 모드 변경 자체에 재기동이 필요합니다. 실습에서는 OFFLINE 을 택합니다.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복사가 성공하는 장면입니다. 출력 파일 이름을 짚어 주십시오. 사람이 이름을 지정하지 않았는데 ASM 이 OMF 규칙으로 만들었습니다. ts_mig.279.1243020779 에서 279 가 파일 번호이고 뒤가 인카네이션이라는 7장 내용을 상기시키십시오. 마지막의 컨트롤파일 자동 백업도 언급할 가치가 있습니다. RMAN 이 데이터베이스 구조를 바꾸는 작업 뒤에 자동으로 수행합니다.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AS COPY 와 SWITCH 의 역할 차이를 분명히 하는 슬라이드입니다. 복사는 실제로 바이트를 옮기므로 크기에 비례해 시간이 듭니다. SWITCH 는 컨트롤파일의 경로 기록만 바꾸므로 크기와 무관하게 수 초입니다. 이 구분을 이해하면 마이그레이션 계획에서 어디에 시간을 배정해야 하는지가 명확해집니다. 서비스 중단 시간을 계산할 때도 이 구분이 기준이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결론에 해당하는 장면입니다. rac2 에서 아무것도 하지 않았는데 정상 동작하게 되었습니다. 파일의 위치가 바뀐 것뿐입니다. RAC 에서 ASM 마이그레이션이 선택이 아니라 필수인 이유를 이 한 장면으로 설명할 수 있습니다. 실습에서는 반드시 마이그레이션 전후로 rac2 조회를 실행해 대비를 직접 보게 하십시오. 같은 조회문이 오류에서 정상으로 바뀌는 장면이 이 장에서 가장 인상적인 부분입니다.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실무에서 놓치기 쉬운 지점입니다. SWITCH 후에도 원본은 그대로 남아 디스크를 차지합니다. 이것은 버그가 아니라 되돌릴 수 있게 하려는 설계입니다. 문제는 검증이 끝난 뒤에도 지우지 않는 경우입니다. 몇 달이 지나면 그 파일이 무엇인지 아무도 확신하지 못해 지우지도 못하는 상태가 됩니다. 정리는 OS 명령이 아니라 RMAN 의 DELETE COPY 로 해야 저장소에서도 함께 사라진다는 점을 강조하십시오.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절차의 일관성을 보여 주는 슬라이드입니다. RMAN 입장에서 원본이 파일 시스템인지 ASM 인지는 중요하지 않습니다. 같은 명령으로 처리됩니다. 소요 시간이 7.0 초에서 4.3 초로 줄어든 것도 언급할 만합니다. 원본이 이미 ASM 에 있어 읽기 경로가 짧아졌기 때문입니다. 이 일관성 덕분에 마이그레이션 스크립트를 대상과 무관하게 재사용할 수 있습니다. 디스크그룹 이름만 인자로 받게 만들어 두면 어떤 방향에도 쓸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오류의 요구 조건을 표로 대비시켜 주십시오. 헷갈리기 쉬운 지점입니다. BACKUP AS COPY 의 OFFLINE 요구는 NOARCHIVELOG 일 때만 발생하지만, SWITCH 의 OFFLINE 요구는 아카이브 모드와 무관하게 항상 있습니다. 이유는 SWITCH 가 그 파일에 대한 데이터베이스의 인식을 통째로 바꾸는 작업이기 때문입니다. 누군가 쓰고 있는 파일의 정체를 바꿀 수는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슬라이드의 규칙이 실무에서 갖는 의미를 설명하는 슬라이드입니다. ARCHIVELOG 모드의 진짜 이점이 여기서 드러납니다. 복사를 온라인으로 끝내 놓고 SWITCH 순간에만 잠깐 내리면 되므로, 수 TB 를 옮겨도 서비스 중단은 수 초입니다. 판단 기준은 단순합니다. 복사 예상 시간이 허용 가능한 중단 시간보다 길면 ARCHIVELOG 로 바꾸고, 짧으면 굳이 바꾸지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SCN 두 값을 나란히 보여 주는 것이 핵심입니다. 사본은 3,993,926 시점의 것인데 데이터베이스는 3,994,002 까지 나아갔습니다. 그 사이의 변경이 사본에 반영되어 있지 않으므로 그대로 열면 데이터가 어긋납니다. 원인은 앞 단계의 실수입니다. 사본을 만든 뒤 SWITCH 전에 테이블스페이스를 ONLINE 으로 올렸고 그동안 데이터베이스가 앞으로 나아갔습니다.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복구 자체는 간단합니다. RECOVER DATAFILE 로 벌어진 76 만큼의 리두를 적용하면 됩니다. 2 초에 끝났고 데이터는 온전했습니다. 그런데 여기서 반드시 짚어야 할 질문이 있습니다. 아카이브 로그가 없는 NOARCHIVELOG 인데 미디어 복구가 어떻게 성공했는가입니다. 수강생에게 이 질문을 먼저 던지고 잠시 생각할 시간을 준 뒤 다음 슬라이드에서 답하십시오.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이 절에서 가장 중요합니다. 복구가 성공한 것은 운이 좋았기 때문입니다. 필요한 리두가 아직 온라인 로그에 남아 있었을 뿐입니다. 로그 스위치가 여러 번 일어나 그 리두가 밀려났다면 그 데이터파일은 영구히 되살릴 수 없습니다. NOARCHIVELOG 에서 마이그레이션이 위험한 진짜 이유는 실패했을 때 되돌릴 수 있느냐가 시간에 달려 있다는 점입니다. 예방은 간단합니다. 복사부터 SWITCH 까지 OFFLINE 을 유지하면 SCN 이 벌어지지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데이터파일과 컨트롤파일의 차이가 어디서 오는지 파라미터 속성으로 설명하는 슬라이드입니다. V$PARAMETER 의 ISSYS_MODIFIABLE 컬럼을 네 개 파라미터에 대해 비교해 보여 주십시오. control_files 만 FALSE 이고 나머지는 IMMEDIATE 입니다. FALSE 는 SPFILE 에 값을 써 두고 재기동해야만 반영된다는 뜻입니다. 이 속성 하나가 컨트롤파일 이동 절차 전체를 규정합니다.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절차를 순서대로 설명하되 마지막 항목을 강조하십시오. RAC 에서는 두 인스턴스가 같은 컨트롤파일을 봐야 하므로 한 노드씩 순차로 처리할 수 없습니다. 롤링 방식이 불가능한 몇 안 되는 작업 중 하나입니다. 대안으로 옮기기보다 늘리는 방식을 권합니다. 새 위치에 사본을 추가하고 운영이 안정된 뒤 옛 것을 빼면 중간에 사본이 하나도 없는 순간이 생기지 않습니다. 이 랩의 컨트롤파일도 이미 +DATA 와 +FRA 에 두 벌로 다중화되어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이중 기록이 RAC 특유의 구조라는 점을 분명히 하십시오. 단일 인스턴스에서는 SPFILE 위치가 한 곳에만 있습니다. RAC 에서는 인스턴스를 띄우는 주체가 사람이 아니라 CRS 이므로, CRS 가 알고 있는 값이 따로 존재합니다. 두 값이 어긋나면 문제가 생기는데 그것이 다음 슬라이드의 내용입니다. 지금은 두 값이 같으므로 문제가 드러나지 않지만, SPFILE 을 옮기는 순간 갈라질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흔한 실패가 3 단계 누락입니다. 새 SPFILE 을 만들고 재기동했는데 파라미터 변경이 반영되지 않는 현상으로 나타납니다. 원인은 CRS 가 여전히 옛 경로를 들고 있기 때문입니다. 반대 실수도 있습니다. srvctl modify 는 했는데 그 경로에 파일이 없으면 인스턴스가 아예 기동되지 않습니다. 순서를 지키고, 재기동 전에 srvctl config 로 값을 눈으로 확인하는 습관을 권하십시오.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역방향도 명령이 같다는 점을 보여 주는 슬라이드입니다. 이번에는 세 명령을 한 번에 실행했고 OFFLINE 을 계속 유지했으므로 복구가 0 초로 끝났습니다. 10.3 절의 ORA-01113 과 대비하면 순서를 지키는 것의 효과가 분명해집니다. 한 가지 달라지는 것은 파일 이름을 사람이 지정해야 한다는 점입니다. 대상이 파일 시스템이므로 OMF 가 작동하지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마무리에 해당하는 대비입니다. 처음 로컬 파일에서 시작해 ASM 으로 갔다가 다시 로컬로 돌아오면서 오류도 정확히 되돌아왔습니다. 같은 데이터, 같은 테이블, 같은 조회인데 파일이 어디 있느냐에 따라 두 번째 노드의 결과가 갈립니다. 다음 슬라이드의 표로 이 관계를 정리해 주십시오. 처음 로컬 파일에서 시작해 ASM 을 거쳐 다시 로컬로 돌아오면서 오류도 정확히 되돌아왔다는 점이 이 실습 설계의 의도입니다.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가지 상태를 표로 정리한 슬라이드입니다. 여기서 읽어 낼 결론은 하나입니다. +DATA 냐 +FRA 냐는 RAC 관점에서 아무 차이를 만들지 않고, 공유 스토리지냐 아니냐만이 결과를 가릅니다. 따라서 RAC 에서 ASM 에서 파일 시스템으로 되돌리기는 절차상 가능하지만 실질적으로는 선택지가 아닙니다. 그렇게 하는 순간 클러스터가 클러스터가 아니게 됩니다. 한 노드에서만 동작하는 데이터베이스는 RAC 의 정의를 만족하지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예외를 정확히 짚어 주십시오. 공유 파일 시스템이라면 되돌려도 RAC 이 유지됩니다. 다만 현실적으로 그런 선택을 할 이유가 거의 없습니다. 역방향 마이그레이션이 실제로 필요해지는 경우는 RAC 을 해체해 단일 인스턴스로 돌아갈 때입니다. 그때는 클러스터를 없애는 것이 목적이므로 이 제약 자체가 문제가 되지 않습니다. 오히려 로컬 디스크로 옮기는 것이 작업의 목표가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 단계에서 왜 여러 명령이 필요한지 설명하십시오. DROP TABLESPACE 로 지워지는 것은 현재 사용 중이던 파일 하나뿐입니다. 나머지 사본들은 RMAN 저장소에만 남아 있어 DELETE COPY 로 따로 지워야 합니다. 자동 백업 조각도 마찬가지입니다. 마지막 검증 조회가 10.2 절에서 권한 점검 항목으로 제시한 바로 그 한 줄이라는 점을 연결해 주면 마무리가 깔끔합니다.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 전체를 실행 순서로 압축한 슬라이드입니다. 8 번을 특히 강조하십시오. 첫 노드에서 정상이면 끝난 줄 알기 쉽지만 RAC 에서 확인해야 할 것은 두 번째 노드입니다. 9 번도 자주 빠집니다. SWITCH 는 원본을 지우지 않으므로 정리를 별도로 해야 합니다. 이 아홉 줄을 그대로 작업 지시서에 옮겨 쓸 수 있게 만들어 두라고 권하십시오. 각 단계마다 확인 조회를 붙여 두면 야간 작업에서도 실수가 줄어듭니다.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오류를 외우게 하지 말고 "무엇을 요구하는가" 로 정리하십시오. 앞의 셋은 순서만 지키면 만나지 않습니다. OFFLINE 을 걸고 복사하고 SWITCH 하고 ONLINE 하면 됩니다. ORA-01157 은 순서와 무관한 구조의 문제라 위치를 바꾸는 것 외에 해결책이 없습니다. ORA-02095 는 오류라기보다 설계입니다. 컨트롤파일 위치가 인스턴스 동작 중에 바뀌면 안 되기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실무 지침입니다. SWITCH 가 되돌릴 수 있는 작업이라는 점은 안심할 근거가 되지만, NOARCHIVELOG 에서는 그 안전망이 시간에 따라 사라진다는 단서가 붙습니다. 며칠 뒤에 되돌릴 수 있다고 가정하면 안 됩니다. 검증은 마이그레이션 직후에 몰아서 하고, 되돌릴 가능성이 사라지는 시점을 미리 정해 두라고 권하십시오. 그 시점을 넘기면 정리를 진행해도 좋다는 신호로 삼으면 판단이 명확해집니다.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19c Real Application Clusters</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ASM 마이그레이션</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RMAN 활용</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두 줄이면 끝날 일에 세 개의 오류가 가로막는다. 각각 무엇을 요구하는가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마이그레이션 전에 무엇을 점검해야 하는지 안다</a:t>
            </a:r>
          </a:p>
          <a:p>
            <a:pPr algn="l">
              <a:spcAft>
                <a:spcPts val="1000"/>
              </a:spcAft>
            </a:pPr>
            <a:r>
              <a:rPr sz="1600" b="0">
                <a:solidFill>
                  <a:srgbClr val="222222"/>
                </a:solidFill>
                <a:latin typeface="맑은 고딕"/>
              </a:rPr>
              <a:t>•  BACKUP AS COPY 와 SWITCH 의 역할을 구분한다</a:t>
            </a:r>
          </a:p>
          <a:p>
            <a:pPr algn="l">
              <a:spcAft>
                <a:spcPts val="1000"/>
              </a:spcAft>
            </a:pPr>
            <a:r>
              <a:rPr sz="1600" b="0">
                <a:solidFill>
                  <a:srgbClr val="222222"/>
                </a:solidFill>
                <a:latin typeface="맑은 고딕"/>
              </a:rPr>
              <a:t>•  ORA-19602·RMAN-06572·ORA-01113 이 각각 요구하는 것을 안다</a:t>
            </a:r>
          </a:p>
          <a:p>
            <a:pPr algn="l">
              <a:spcAft>
                <a:spcPts val="1000"/>
              </a:spcAft>
            </a:pPr>
            <a:r>
              <a:rPr sz="1600" b="0">
                <a:solidFill>
                  <a:srgbClr val="222222"/>
                </a:solidFill>
                <a:latin typeface="맑은 고딕"/>
              </a:rPr>
              <a:t>•  RAC 에서 공유되지 않은 파일이 왜 문제인지 설명한다</a:t>
            </a:r>
          </a:p>
          <a:p>
            <a:pPr algn="l">
              <a:spcAft>
                <a:spcPts val="1000"/>
              </a:spcAft>
            </a:pPr>
            <a:r>
              <a:rPr sz="1600" b="0">
                <a:solidFill>
                  <a:srgbClr val="222222"/>
                </a:solidFill>
                <a:latin typeface="맑은 고딕"/>
              </a:rPr>
              <a:t>•  컨트롤파일과 SPFILE 의 절차가 다른 이유를 안다</a:t>
            </a:r>
          </a:p>
          <a:p>
            <a:pPr algn="l">
              <a:spcAft>
                <a:spcPts val="1000"/>
              </a:spcAft>
            </a:pPr>
            <a:r>
              <a:rPr sz="1600" b="0">
                <a:solidFill>
                  <a:srgbClr val="222222"/>
                </a:solidFill>
                <a:latin typeface="맑은 고딕"/>
              </a:rPr>
              <a:t>•  역방향 마이그레이션의 제약을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10.1 마이그레이션 전에 무엇을 봐야 하는가</a:t>
            </a:r>
          </a:p>
          <a:p>
            <a:pPr algn="l">
              <a:spcAft>
                <a:spcPts val="1000"/>
              </a:spcAft>
            </a:pPr>
            <a:r>
              <a:rPr sz="1600" b="0">
                <a:solidFill>
                  <a:srgbClr val="222222"/>
                </a:solidFill>
                <a:latin typeface="맑은 고딕"/>
              </a:rPr>
              <a:t>•  10.2 데이터파일 하나를 ASM 으로 옮기기</a:t>
            </a:r>
          </a:p>
          <a:p>
            <a:pPr algn="l">
              <a:spcAft>
                <a:spcPts val="1000"/>
              </a:spcAft>
            </a:pPr>
            <a:r>
              <a:rPr sz="1600" b="0">
                <a:solidFill>
                  <a:srgbClr val="222222"/>
                </a:solidFill>
                <a:latin typeface="맑은 고딕"/>
              </a:rPr>
              <a:t>•  10.3 디스크그룹 간 이동과 두 번째·세 번째 오류</a:t>
            </a:r>
          </a:p>
          <a:p>
            <a:pPr algn="l">
              <a:spcAft>
                <a:spcPts val="1000"/>
              </a:spcAft>
            </a:pPr>
            <a:r>
              <a:rPr sz="1600" b="0">
                <a:solidFill>
                  <a:srgbClr val="222222"/>
                </a:solidFill>
                <a:latin typeface="맑은 고딕"/>
              </a:rPr>
              <a:t>•  10.4 SPFILE 과 컨트롤파일 — 절차가 다른 이유</a:t>
            </a:r>
          </a:p>
          <a:p>
            <a:pPr algn="l">
              <a:spcAft>
                <a:spcPts val="1000"/>
              </a:spcAft>
            </a:pPr>
            <a:r>
              <a:rPr sz="1600" b="0">
                <a:solidFill>
                  <a:srgbClr val="222222"/>
                </a:solidFill>
                <a:latin typeface="맑은 고딕"/>
              </a:rPr>
              <a:t>•  10.5 되돌리기 — ASM 에서 파일 시스템으로</a:t>
            </a:r>
          </a:p>
          <a:p>
            <a:pPr algn="l">
              <a:spcAft>
                <a:spcPts val="1000"/>
              </a:spcAft>
            </a:pPr>
            <a:r>
              <a:rPr sz="1600" b="0">
                <a:solidFill>
                  <a:srgbClr val="222222"/>
                </a:solidFill>
                <a:latin typeface="맑은 고딕"/>
              </a:rPr>
              <a:t>•  10.6 운영 지침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9장까지와 무엇이 다른가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파일이 어떻게 거기 갔는지를 묻는다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6~9장 — 이미 ASM 안에 있는 것들을 다뤘다</a:t>
            </a:r>
          </a:p>
          <a:p>
            <a:pPr algn="l">
              <a:spcAft>
                <a:spcPts val="1000"/>
              </a:spcAft>
            </a:pPr>
            <a:r>
              <a:rPr sz="1700" b="0">
                <a:solidFill>
                  <a:srgbClr val="222222"/>
                </a:solidFill>
                <a:latin typeface="맑은 고딕"/>
              </a:rPr>
              <a:t>•  dbca 가 처음부터 +DATA 에 만들어 주었다</a:t>
            </a:r>
          </a:p>
          <a:p>
            <a:pPr algn="l">
              <a:spcAft>
                <a:spcPts val="1000"/>
              </a:spcAft>
            </a:pPr>
            <a:r>
              <a:rPr sz="1700" b="0">
                <a:solidFill>
                  <a:srgbClr val="222222"/>
                </a:solidFill>
                <a:latin typeface="맑은 고딕"/>
              </a:rPr>
              <a:t>•  실무는 다르다 — 파일 시스템에서 ASM 으로 옮기는 일이 흔하다</a:t>
            </a:r>
          </a:p>
          <a:p>
            <a:pPr algn="l">
              <a:spcAft>
                <a:spcPts val="1000"/>
              </a:spcAft>
            </a:pPr>
            <a:r>
              <a:rPr sz="1700" b="0">
                <a:solidFill>
                  <a:srgbClr val="222222"/>
                </a:solidFill>
                <a:latin typeface="맑은 고딕"/>
              </a:rPr>
              <a:t>•  단일 인스턴스를 RAC 으로 전환할 때 반드시 거치는 관문</a:t>
            </a:r>
          </a:p>
          <a:p>
            <a:pPr algn="l">
              <a:spcAft>
                <a:spcPts val="1000"/>
              </a:spcAft>
            </a:pPr>
            <a:r>
              <a:rPr sz="1700" b="0">
                <a:solidFill>
                  <a:srgbClr val="222222"/>
                </a:solidFill>
                <a:latin typeface="맑은 고딕"/>
              </a:rPr>
              <a:t>•  도구는 RMAN, 핵심은 BACKUP AS COPY 와 SWITCH 두 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10.1</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마이그레이션 전에 무엇을 봐야 하는가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파일 위치 지도</a:t>
            </a:r>
          </a:p>
          <a:p>
            <a:pPr algn="l">
              <a:spcAft>
                <a:spcPts val="800"/>
              </a:spcAft>
            </a:pPr>
            <a:r>
              <a:rPr sz="1600" b="0">
                <a:solidFill>
                  <a:srgbClr val="FFFFFF"/>
                </a:solidFill>
                <a:latin typeface="맑은 고딕"/>
              </a:rPr>
              <a:t>•  필요 공간 계산</a:t>
            </a:r>
          </a:p>
          <a:p>
            <a:pPr algn="l">
              <a:spcAft>
                <a:spcPts val="800"/>
              </a:spcAft>
            </a:pPr>
            <a:r>
              <a:rPr sz="1600" b="0">
                <a:solidFill>
                  <a:srgbClr val="FFFFFF"/>
                </a:solidFill>
                <a:latin typeface="맑은 고딕"/>
              </a:rPr>
              <a:t>•  아카이브 모드</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현재 파일 위치 지도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한 번에 모아 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v$datafile / v$tempfile / v$controlfile 을 UNION ALL</a:t>
            </a:r>
          </a:p>
          <a:p>
            <a:pPr algn="l">
              <a:spcAft>
                <a:spcPts val="1000"/>
              </a:spcAft>
            </a:pPr>
            <a:r>
              <a:rPr sz="1700" b="0">
                <a:solidFill>
                  <a:srgbClr val="222222"/>
                </a:solidFill>
                <a:latin typeface="맑은 고딕"/>
              </a:rPr>
              <a:t>•  이 랩은 이미 전부 ASM — 옮길 것이 없다</a:t>
            </a:r>
          </a:p>
          <a:p>
            <a:pPr algn="l">
              <a:spcAft>
                <a:spcPts val="1000"/>
              </a:spcAft>
            </a:pPr>
            <a:r>
              <a:rPr sz="1700" b="0">
                <a:solidFill>
                  <a:srgbClr val="222222"/>
                </a:solidFill>
                <a:latin typeface="맑은 고딕"/>
              </a:rPr>
              <a:t>•  그래서 파일 시스템에 하나 만들어 놓고 옮긴다</a:t>
            </a:r>
          </a:p>
          <a:p>
            <a:pPr algn="l">
              <a:spcAft>
                <a:spcPts val="1000"/>
              </a:spcAft>
            </a:pPr>
            <a:r>
              <a:rPr sz="1700" b="0">
                <a:solidFill>
                  <a:srgbClr val="222222"/>
                </a:solidFill>
                <a:latin typeface="맑은 고딕"/>
              </a:rPr>
              <a:t>•  실제 마이그레이션 현장의 상태를 인위적으로 만드는 것</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리두로그와 THREAD#</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RAC 의 특징이 보인다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그룹 1·2 — THREAD# 1, racdb1 이 쓴다</a:t>
            </a:r>
          </a:p>
          <a:p>
            <a:pPr algn="l">
              <a:spcAft>
                <a:spcPts val="1000"/>
              </a:spcAft>
            </a:pPr>
            <a:r>
              <a:rPr sz="1700" b="0">
                <a:solidFill>
                  <a:srgbClr val="222222"/>
                </a:solidFill>
                <a:latin typeface="맑은 고딕"/>
              </a:rPr>
              <a:t>•  그룹 3·4 — THREAD# 2, racdb2 가 쓴다</a:t>
            </a:r>
          </a:p>
          <a:p>
            <a:pPr algn="l">
              <a:spcAft>
                <a:spcPts val="1000"/>
              </a:spcAft>
            </a:pPr>
            <a:r>
              <a:rPr sz="1700" b="0">
                <a:solidFill>
                  <a:srgbClr val="222222"/>
                </a:solidFill>
                <a:latin typeface="맑은 고딕"/>
              </a:rPr>
              <a:t>•  각 인스턴스가 자기 리두 스레드를 갖는다</a:t>
            </a:r>
          </a:p>
          <a:p>
            <a:pPr algn="l">
              <a:spcAft>
                <a:spcPts val="1000"/>
              </a:spcAft>
            </a:pPr>
            <a:r>
              <a:rPr sz="1700" b="0">
                <a:solidFill>
                  <a:srgbClr val="222222"/>
                </a:solidFill>
                <a:latin typeface="맑은 고딕"/>
              </a:rPr>
              <a:t>•  멤버는 +DATA 와 +FRA 에 하나씩 (다중화)</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필요 공간은 총량이 아니다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사본이 동시에 존재한다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데이터파일 3455MB + 템프 108MB + 리두 800MB</a:t>
            </a:r>
          </a:p>
          <a:p>
            <a:pPr algn="l">
              <a:spcAft>
                <a:spcPts val="1000"/>
              </a:spcAft>
            </a:pPr>
            <a:r>
              <a:rPr sz="1700" b="0">
                <a:solidFill>
                  <a:srgbClr val="222222"/>
                </a:solidFill>
                <a:latin typeface="맑은 고딕"/>
              </a:rPr>
              <a:t>•  그러나 필요한 여유는 이 값이 아니다</a:t>
            </a:r>
          </a:p>
          <a:p>
            <a:pPr algn="l">
              <a:spcAft>
                <a:spcPts val="1000"/>
              </a:spcAft>
            </a:pPr>
            <a:r>
              <a:rPr sz="1700" b="0">
                <a:solidFill>
                  <a:srgbClr val="222222"/>
                </a:solidFill>
                <a:latin typeface="맑은 고딕"/>
              </a:rPr>
              <a:t>•  BACKUP AS COPY 는 원본을 두고 사본을 만든다</a:t>
            </a:r>
          </a:p>
          <a:p>
            <a:pPr algn="l">
              <a:spcAft>
                <a:spcPts val="1000"/>
              </a:spcAft>
            </a:pPr>
            <a:r>
              <a:rPr sz="1700" b="0">
                <a:solidFill>
                  <a:srgbClr val="222222"/>
                </a:solidFill>
                <a:latin typeface="맑은 고딕"/>
              </a:rPr>
              <a:t>•  옮기는 동안 두 벌이 동시에 존재</a:t>
            </a:r>
          </a:p>
          <a:p>
            <a:pPr algn="l">
              <a:spcAft>
                <a:spcPts val="1000"/>
              </a:spcAft>
            </a:pPr>
            <a:r>
              <a:rPr sz="1700" b="0">
                <a:solidFill>
                  <a:srgbClr val="222222"/>
                </a:solidFill>
                <a:latin typeface="맑은 고딕"/>
              </a:rPr>
              <a:t>•  Normal 중복도면 다시 두 배 — 9장 USABLE_FILE_MB 기준</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아카이브 모드 — 절차를 가르는 갈림길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 랩은 NOARCHIVELOG</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select log_mode from v$database → NOARCHIVELOG</a:t>
            </a:r>
          </a:p>
          <a:p>
            <a:pPr algn="l">
              <a:spcAft>
                <a:spcPts val="1000"/>
              </a:spcAft>
            </a:pPr>
            <a:r>
              <a:rPr sz="1700" b="0">
                <a:solidFill>
                  <a:srgbClr val="222222"/>
                </a:solidFill>
                <a:latin typeface="맑은 고딕"/>
              </a:rPr>
              <a:t>•  ARCHIVELOG 면 온라인 상태로 복사 가능 (중단 없음)</a:t>
            </a:r>
          </a:p>
          <a:p>
            <a:pPr algn="l">
              <a:spcAft>
                <a:spcPts val="1000"/>
              </a:spcAft>
            </a:pPr>
            <a:r>
              <a:rPr sz="1700" b="0">
                <a:solidFill>
                  <a:srgbClr val="222222"/>
                </a:solidFill>
                <a:latin typeface="맑은 고딕"/>
              </a:rPr>
              <a:t>•  NOARCHIVELOG 면 대상을 OFFLINE 으로 내려야 한다</a:t>
            </a:r>
          </a:p>
          <a:p>
            <a:pPr algn="l">
              <a:spcAft>
                <a:spcPts val="1000"/>
              </a:spcAft>
            </a:pPr>
            <a:r>
              <a:rPr sz="1700" b="0">
                <a:solidFill>
                  <a:srgbClr val="222222"/>
                </a:solidFill>
                <a:latin typeface="맑은 고딕"/>
              </a:rPr>
              <a:t>•  이 한 줄이 마이그레이션 절차 전체를 바꾼다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10.2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데이터파일 하나를 ASM 으로 옮기기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옮길 대상 만들기</a:t>
            </a:r>
          </a:p>
          <a:p>
            <a:pPr algn="l">
              <a:spcAft>
                <a:spcPts val="800"/>
              </a:spcAft>
            </a:pPr>
            <a:r>
              <a:rPr sz="1600" b="0">
                <a:solidFill>
                  <a:srgbClr val="FFFFFF"/>
                </a:solidFill>
                <a:latin typeface="맑은 고딕"/>
              </a:rPr>
              <a:t>•  rac2 에서는 어떻게 보이는가</a:t>
            </a:r>
          </a:p>
          <a:p>
            <a:pPr algn="l">
              <a:spcAft>
                <a:spcPts val="800"/>
              </a:spcAft>
            </a:pPr>
            <a:r>
              <a:rPr sz="1600" b="0">
                <a:solidFill>
                  <a:srgbClr val="FFFFFF"/>
                </a:solidFill>
                <a:latin typeface="맑은 고딕"/>
              </a:rPr>
              <a:t>•  세 명령과 첫 오류</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옮길 대상 만들기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rac1 로컬 파일 시스템에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/u01/app/oracle/oradata 에 100MB 데이터파일</a:t>
            </a:r>
          </a:p>
          <a:p>
            <a:pPr algn="l">
              <a:spcAft>
                <a:spcPts val="1000"/>
              </a:spcAft>
            </a:pPr>
            <a:r>
              <a:rPr sz="1700" b="0">
                <a:solidFill>
                  <a:srgbClr val="222222"/>
                </a:solidFill>
                <a:latin typeface="맑은 고딕"/>
              </a:rPr>
              <a:t>•  파일 번호 23 을 받았다</a:t>
            </a:r>
          </a:p>
          <a:p>
            <a:pPr algn="l">
              <a:spcAft>
                <a:spcPts val="1000"/>
              </a:spcAft>
            </a:pPr>
            <a:r>
              <a:rPr sz="1700" b="0">
                <a:solidFill>
                  <a:srgbClr val="222222"/>
                </a:solidFill>
                <a:latin typeface="맑은 고딕"/>
              </a:rPr>
              <a:t>•  2 만 건 insert — rac1 에서는 아무 문제 없다</a:t>
            </a:r>
          </a:p>
          <a:p>
            <a:pPr algn="l">
              <a:spcAft>
                <a:spcPts val="1000"/>
              </a:spcAft>
            </a:pPr>
            <a:r>
              <a:rPr sz="1700" b="0">
                <a:solidFill>
                  <a:srgbClr val="222222"/>
                </a:solidFill>
                <a:latin typeface="맑은 고딕"/>
              </a:rPr>
              <a:t>•  테이블스페이스 생성 4.1초</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rac2 에서는 ORA-01157</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그런데 딕셔너리는 정상이라 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rac2 조회 → ORA-01157 / ORA-01110</a:t>
            </a:r>
          </a:p>
          <a:p>
            <a:pPr algn="l">
              <a:spcAft>
                <a:spcPts val="1000"/>
              </a:spcAft>
            </a:pPr>
            <a:r>
              <a:rPr sz="1700" b="0">
                <a:solidFill>
                  <a:srgbClr val="222222"/>
                </a:solidFill>
                <a:latin typeface="맑은 고딕"/>
              </a:rPr>
              <a:t>•  그러나 v$datafile 의 STATUS 는 ONLINE</a:t>
            </a:r>
          </a:p>
          <a:p>
            <a:pPr algn="l">
              <a:spcAft>
                <a:spcPts val="1000"/>
              </a:spcAft>
            </a:pPr>
            <a:r>
              <a:rPr sz="1700" b="0">
                <a:solidFill>
                  <a:srgbClr val="222222"/>
                </a:solidFill>
                <a:latin typeface="맑은 고딕"/>
              </a:rPr>
              <a:t>•  v$recover_file 은 no rows selected</a:t>
            </a:r>
          </a:p>
          <a:p>
            <a:pPr algn="l">
              <a:spcAft>
                <a:spcPts val="1000"/>
              </a:spcAft>
            </a:pPr>
            <a:r>
              <a:rPr sz="1700" b="0">
                <a:solidFill>
                  <a:srgbClr val="222222"/>
                </a:solidFill>
                <a:latin typeface="맑은 고딕"/>
              </a:rPr>
              <a:t>•  ls 해 보면 디렉터리 자체가 없다</a:t>
            </a:r>
          </a:p>
          <a:p>
            <a:pPr algn="l">
              <a:spcAft>
                <a:spcPts val="1000"/>
              </a:spcAft>
            </a:pPr>
            <a:r>
              <a:rPr sz="1700" b="0">
                <a:solidFill>
                  <a:srgbClr val="222222"/>
                </a:solidFill>
                <a:latin typeface="맑은 고딕"/>
              </a:rPr>
              <a:t>•  데이터베이스 계층은 정상, OS 계층이 문제</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실무에서 이 오류가 나타나는 방식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가장 흔한 전환 실패</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단일 인스턴스 → RAC 전환의 대표적 실패 유형</a:t>
            </a:r>
          </a:p>
          <a:p>
            <a:pPr algn="l">
              <a:spcAft>
                <a:spcPts val="1000"/>
              </a:spcAft>
            </a:pPr>
            <a:r>
              <a:rPr sz="1700" b="0">
                <a:solidFill>
                  <a:srgbClr val="222222"/>
                </a:solidFill>
                <a:latin typeface="맑은 고딕"/>
              </a:rPr>
              <a:t>•  대부분 옮겼는데 나중에 추가한 테이블스페이스 하나가 남는다</a:t>
            </a:r>
          </a:p>
          <a:p>
            <a:pPr algn="l">
              <a:spcAft>
                <a:spcPts val="1000"/>
              </a:spcAft>
            </a:pPr>
            <a:r>
              <a:rPr sz="1700" b="0">
                <a:solidFill>
                  <a:srgbClr val="222222"/>
                </a:solidFill>
                <a:latin typeface="맑은 고딕"/>
              </a:rPr>
              <a:t>•  첫 노드 테스트는 전부 통과</a:t>
            </a:r>
          </a:p>
          <a:p>
            <a:pPr algn="l">
              <a:spcAft>
                <a:spcPts val="1000"/>
              </a:spcAft>
            </a:pPr>
            <a:r>
              <a:rPr sz="1700" b="0">
                <a:solidFill>
                  <a:srgbClr val="222222"/>
                </a:solidFill>
                <a:latin typeface="맑은 고딕"/>
              </a:rPr>
              <a:t>•  두 번째 노드에서 특정 스키마 조회 때만 터진다</a:t>
            </a:r>
          </a:p>
          <a:p>
            <a:pPr algn="l">
              <a:spcAft>
                <a:spcPts val="1000"/>
              </a:spcAft>
            </a:pPr>
            <a:r>
              <a:rPr sz="1700" b="0">
                <a:solidFill>
                  <a:srgbClr val="222222"/>
                </a:solidFill>
                <a:latin typeface="맑은 고딕"/>
              </a:rPr>
              <a:t>•  점검 한 줄 — where name not like '+%' 가 0 행인가</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첫 번째 오류 — ORA-19602</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NOARCHIVELOG</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RMAN&gt; backup as copy datafile 23 format '+DATA';</a:t>
            </a:r>
          </a:p>
          <a:p>
            <a:pPr algn="l">
              <a:spcAft>
                <a:spcPts val="1000"/>
              </a:spcAft>
            </a:pPr>
            <a:r>
              <a:rPr sz="1700" b="0">
                <a:solidFill>
                  <a:srgbClr val="222222"/>
                </a:solidFill>
                <a:latin typeface="맑은 고딕"/>
              </a:rPr>
              <a:t>•  ORA-19602: cannot backup or copy active file in NOARCHIVELOG mode</a:t>
            </a:r>
          </a:p>
          <a:p>
            <a:pPr algn="l">
              <a:spcAft>
                <a:spcPts val="1000"/>
              </a:spcAft>
            </a:pPr>
            <a:r>
              <a:rPr sz="1700" b="0">
                <a:solidFill>
                  <a:srgbClr val="222222"/>
                </a:solidFill>
                <a:latin typeface="맑은 고딕"/>
              </a:rPr>
              <a:t>•  메시지가 원인을 정확히 말해 준다</a:t>
            </a:r>
          </a:p>
          <a:p>
            <a:pPr algn="l">
              <a:spcAft>
                <a:spcPts val="1000"/>
              </a:spcAft>
            </a:pPr>
            <a:r>
              <a:rPr sz="1700" b="0">
                <a:solidFill>
                  <a:srgbClr val="222222"/>
                </a:solidFill>
                <a:latin typeface="맑은 고딕"/>
              </a:rPr>
              <a:t>•  선택지 둘 — ARCHIVELOG 로 전환하거나 OFFLINE 으로 내리거나</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OFFLINE 후 복사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7초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alter tablespace ts_mig offline → 1.2초</a:t>
            </a:r>
          </a:p>
          <a:p>
            <a:pPr algn="l">
              <a:spcAft>
                <a:spcPts val="1000"/>
              </a:spcAft>
            </a:pPr>
            <a:r>
              <a:rPr sz="1700" b="0">
                <a:solidFill>
                  <a:srgbClr val="222222"/>
                </a:solidFill>
                <a:latin typeface="맑은 고딕"/>
              </a:rPr>
              <a:t>•  backup as copy → 7.0초 (100MB)</a:t>
            </a:r>
          </a:p>
          <a:p>
            <a:pPr algn="l">
              <a:spcAft>
                <a:spcPts val="1000"/>
              </a:spcAft>
            </a:pPr>
            <a:r>
              <a:rPr sz="1700" b="0">
                <a:solidFill>
                  <a:srgbClr val="222222"/>
                </a:solidFill>
                <a:latin typeface="맑은 고딕"/>
              </a:rPr>
              <a:t>•  output: +DATA/RACDB/DATAFILE/ts_mig.279.1243020779</a:t>
            </a:r>
          </a:p>
          <a:p>
            <a:pPr algn="l">
              <a:spcAft>
                <a:spcPts val="1000"/>
              </a:spcAft>
            </a:pPr>
            <a:r>
              <a:rPr sz="1700" b="0">
                <a:solidFill>
                  <a:srgbClr val="222222"/>
                </a:solidFill>
                <a:latin typeface="맑은 고딕"/>
              </a:rPr>
              <a:t>•  ASM 이 OMF 규칙으로 알아서 이름을 지었다</a:t>
            </a:r>
          </a:p>
          <a:p>
            <a:pPr algn="l">
              <a:spcAft>
                <a:spcPts val="1000"/>
              </a:spcAft>
            </a:pPr>
            <a:r>
              <a:rPr sz="1700" b="0">
                <a:solidFill>
                  <a:srgbClr val="222222"/>
                </a:solidFill>
                <a:latin typeface="맑은 고딕"/>
              </a:rPr>
              <a:t>•  컨트롤파일 자동 백업이 함께 일어난다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SWITCH — 2.3초</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경로만 바꾸기 때문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RMAN&gt; switch datafile 23 to copy;</a:t>
            </a:r>
          </a:p>
          <a:p>
            <a:pPr algn="l">
              <a:spcAft>
                <a:spcPts val="1000"/>
              </a:spcAft>
            </a:pPr>
            <a:r>
              <a:rPr sz="1700" b="0">
                <a:solidFill>
                  <a:srgbClr val="222222"/>
                </a:solidFill>
                <a:latin typeface="맑은 고딕"/>
              </a:rPr>
              <a:t>•  datafile 23 switched to datafile copy "+DATA/…"</a:t>
            </a:r>
          </a:p>
          <a:p>
            <a:pPr algn="l">
              <a:spcAft>
                <a:spcPts val="1000"/>
              </a:spcAft>
            </a:pPr>
            <a:r>
              <a:rPr sz="1700" b="0">
                <a:solidFill>
                  <a:srgbClr val="222222"/>
                </a:solidFill>
                <a:latin typeface="맑은 고딕"/>
              </a:rPr>
              <a:t>•  2.3초 — 파일을 옮기는 것이 아니다</a:t>
            </a:r>
          </a:p>
          <a:p>
            <a:pPr algn="l">
              <a:spcAft>
                <a:spcPts val="1000"/>
              </a:spcAft>
            </a:pPr>
            <a:r>
              <a:rPr sz="1700" b="0">
                <a:solidFill>
                  <a:srgbClr val="222222"/>
                </a:solidFill>
                <a:latin typeface="맑은 고딕"/>
              </a:rPr>
              <a:t>•  컨트롤파일에 적힌 경로를 바꿀 뿐</a:t>
            </a:r>
          </a:p>
          <a:p>
            <a:pPr algn="l">
              <a:spcAft>
                <a:spcPts val="1000"/>
              </a:spcAft>
            </a:pPr>
            <a:r>
              <a:rPr sz="1700" b="0">
                <a:solidFill>
                  <a:srgbClr val="222222"/>
                </a:solidFill>
                <a:latin typeface="맑은 고딕"/>
              </a:rPr>
              <a:t>•  100MB 든 1TB 든 SWITCH 자체는 같은 시간</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마이그레이션의 효과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rac2 에서 읽힌다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rac2 에서 같은 조회 → 20000 rows</a:t>
            </a:r>
          </a:p>
          <a:p>
            <a:pPr algn="l">
              <a:spcAft>
                <a:spcPts val="1000"/>
              </a:spcAft>
            </a:pPr>
            <a:r>
              <a:rPr sz="1700" b="0">
                <a:solidFill>
                  <a:srgbClr val="222222"/>
                </a:solidFill>
                <a:latin typeface="맑은 고딕"/>
              </a:rPr>
              <a:t>•  조금 전 ORA-01157 을 내던 바로 그 조회다</a:t>
            </a:r>
          </a:p>
          <a:p>
            <a:pPr algn="l">
              <a:spcAft>
                <a:spcPts val="1000"/>
              </a:spcAft>
            </a:pPr>
            <a:r>
              <a:rPr sz="1700" b="0">
                <a:solidFill>
                  <a:srgbClr val="222222"/>
                </a:solidFill>
                <a:latin typeface="맑은 고딕"/>
              </a:rPr>
              <a:t>•  rac2 에서는 아무 작업도 하지 않았다</a:t>
            </a:r>
          </a:p>
          <a:p>
            <a:pPr algn="l">
              <a:spcAft>
                <a:spcPts val="1000"/>
              </a:spcAft>
            </a:pPr>
            <a:r>
              <a:rPr sz="1700" b="0">
                <a:solidFill>
                  <a:srgbClr val="222222"/>
                </a:solidFill>
                <a:latin typeface="맑은 고딕"/>
              </a:rPr>
              <a:t>•  파일이 공유 스토리지로 갔다는 사실만으로 해결</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옛 파일은 지워지지 않는다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의도된 설계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SWITCH 는 컨트롤파일의 경로만 바꾼다</a:t>
            </a:r>
          </a:p>
          <a:p>
            <a:pPr algn="l">
              <a:spcAft>
                <a:spcPts val="1000"/>
              </a:spcAft>
            </a:pPr>
            <a:r>
              <a:rPr sz="1700" b="0">
                <a:solidFill>
                  <a:srgbClr val="222222"/>
                </a:solidFill>
                <a:latin typeface="맑은 고딕"/>
              </a:rPr>
              <a:t>•  ts_mig01.dbf 가 104,865,792 바이트로 그대로 남는다</a:t>
            </a:r>
          </a:p>
          <a:p>
            <a:pPr algn="l">
              <a:spcAft>
                <a:spcPts val="1000"/>
              </a:spcAft>
            </a:pPr>
            <a:r>
              <a:rPr sz="1700" b="0">
                <a:solidFill>
                  <a:srgbClr val="222222"/>
                </a:solidFill>
                <a:latin typeface="맑은 고딕"/>
              </a:rPr>
              <a:t>•  남기는 것은 의도 — 문제가 생기면 되돌릴 수 있어야</a:t>
            </a:r>
          </a:p>
          <a:p>
            <a:pPr algn="l">
              <a:spcAft>
                <a:spcPts val="1000"/>
              </a:spcAft>
            </a:pPr>
            <a:r>
              <a:rPr sz="1700" b="0">
                <a:solidFill>
                  <a:srgbClr val="222222"/>
                </a:solidFill>
                <a:latin typeface="맑은 고딕"/>
              </a:rPr>
              <a:t>•  검증 후 반드시 정리, OS rm 이 아니라 RMAN DELETE COPY 로</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10.3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디스크그룹 간 이동과 두 번째·세 번째 오류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+DATA → +FRA</a:t>
            </a:r>
          </a:p>
          <a:p>
            <a:pPr algn="l">
              <a:spcAft>
                <a:spcPts val="800"/>
              </a:spcAft>
            </a:pPr>
            <a:r>
              <a:rPr sz="1600" b="0">
                <a:solidFill>
                  <a:srgbClr val="FFFFFF"/>
                </a:solidFill>
                <a:latin typeface="맑은 고딕"/>
              </a:rPr>
              <a:t>•  RMAN-06572</a:t>
            </a:r>
          </a:p>
          <a:p>
            <a:pPr algn="l">
              <a:spcAft>
                <a:spcPts val="800"/>
              </a:spcAft>
            </a:pPr>
            <a:r>
              <a:rPr sz="1600" b="0">
                <a:solidFill>
                  <a:srgbClr val="FFFFFF"/>
                </a:solidFill>
                <a:latin typeface="맑은 고딕"/>
              </a:rPr>
              <a:t>•  ORA-01113 과 복구</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+DATA 에서 +FRA 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절차는 완전히 같다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대상만 '+DATA' 대신 '+FRA'</a:t>
            </a:r>
          </a:p>
          <a:p>
            <a:pPr algn="l">
              <a:spcAft>
                <a:spcPts val="1000"/>
              </a:spcAft>
            </a:pPr>
            <a:r>
              <a:rPr sz="1700" b="0">
                <a:solidFill>
                  <a:srgbClr val="222222"/>
                </a:solidFill>
                <a:latin typeface="맑은 고딕"/>
              </a:rPr>
              <a:t>•  RMAN 은 원본이 어디 있는지 신경 쓰지 않는다</a:t>
            </a:r>
          </a:p>
          <a:p>
            <a:pPr algn="l">
              <a:spcAft>
                <a:spcPts val="1000"/>
              </a:spcAft>
            </a:pPr>
            <a:r>
              <a:rPr sz="1700" b="0">
                <a:solidFill>
                  <a:srgbClr val="222222"/>
                </a:solidFill>
                <a:latin typeface="맑은 고딕"/>
              </a:rPr>
              <a:t>•  4.3초 — 원본이 이미 ASM 이라 읽기가 빠르다</a:t>
            </a:r>
          </a:p>
          <a:p>
            <a:pPr algn="l">
              <a:spcAft>
                <a:spcPts val="1000"/>
              </a:spcAft>
            </a:pPr>
            <a:r>
              <a:rPr sz="1700" b="0">
                <a:solidFill>
                  <a:srgbClr val="222222"/>
                </a:solidFill>
                <a:latin typeface="맑은 고딕"/>
              </a:rPr>
              <a:t>•  ASM → ASM 도 파일시스템 → ASM 과 같은 명령</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번째 오류 — RMAN-06572</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SWITCH 는 항상 OFFLINE 을 요구</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ONLINE 인 채로 switch → RMAN-06572</a:t>
            </a:r>
          </a:p>
          <a:p>
            <a:pPr algn="l">
              <a:spcAft>
                <a:spcPts val="1000"/>
              </a:spcAft>
            </a:pPr>
            <a:r>
              <a:rPr sz="1700" b="0">
                <a:solidFill>
                  <a:srgbClr val="222222"/>
                </a:solidFill>
                <a:latin typeface="맑은 고딕"/>
              </a:rPr>
              <a:t>•  "database is open and datafile 23 is not offline"</a:t>
            </a:r>
          </a:p>
          <a:p>
            <a:pPr algn="l">
              <a:spcAft>
                <a:spcPts val="1000"/>
              </a:spcAft>
            </a:pPr>
            <a:r>
              <a:rPr sz="1700" b="0">
                <a:solidFill>
                  <a:srgbClr val="222222"/>
                </a:solidFill>
                <a:latin typeface="맑은 고딕"/>
              </a:rPr>
              <a:t>•  앞의 ORA-19602 와 요구 조건이 겹쳐 헷갈리기 쉽다</a:t>
            </a:r>
          </a:p>
          <a:p>
            <a:pPr algn="l">
              <a:spcAft>
                <a:spcPts val="1000"/>
              </a:spcAft>
            </a:pPr>
            <a:r>
              <a:rPr sz="1700" b="0">
                <a:solidFill>
                  <a:srgbClr val="222222"/>
                </a:solidFill>
                <a:latin typeface="맑은 고딕"/>
              </a:rPr>
              <a:t>•  복사 — NOARCHIVELOG 일 때만 OFFLINE 필요</a:t>
            </a:r>
          </a:p>
          <a:p>
            <a:pPr algn="l">
              <a:spcAft>
                <a:spcPts val="1000"/>
              </a:spcAft>
            </a:pPr>
            <a:r>
              <a:rPr sz="1700" b="0">
                <a:solidFill>
                  <a:srgbClr val="222222"/>
                </a:solidFill>
                <a:latin typeface="맑은 고딕"/>
              </a:rPr>
              <a:t>•  전환 — 항상 OFFLINE 필요, 모드와 무관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서비스 중단을 최소화하려면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ARCHIVELOG 의 이점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ARCHIVELOG — 복사는 온라인, SWITCH 순간에만 짧게 OFFLINE</a:t>
            </a:r>
          </a:p>
          <a:p>
            <a:pPr algn="l">
              <a:spcAft>
                <a:spcPts val="1000"/>
              </a:spcAft>
            </a:pPr>
            <a:r>
              <a:rPr sz="1700" b="0">
                <a:solidFill>
                  <a:srgbClr val="222222"/>
                </a:solidFill>
                <a:latin typeface="맑은 고딕"/>
              </a:rPr>
              <a:t>•  복사가 몇 시간이라도 중단은 몇 초</a:t>
            </a:r>
          </a:p>
          <a:p>
            <a:pPr algn="l">
              <a:spcAft>
                <a:spcPts val="1000"/>
              </a:spcAft>
            </a:pPr>
            <a:r>
              <a:rPr sz="1700" b="0">
                <a:solidFill>
                  <a:srgbClr val="222222"/>
                </a:solidFill>
                <a:latin typeface="맑은 고딕"/>
              </a:rPr>
              <a:t>•  NOARCHIVELOG — 복사부터 SWITCH 까지 계속 OFFLINE</a:t>
            </a:r>
          </a:p>
          <a:p>
            <a:pPr algn="l">
              <a:spcAft>
                <a:spcPts val="1000"/>
              </a:spcAft>
            </a:pPr>
            <a:r>
              <a:rPr sz="1700" b="0">
                <a:solidFill>
                  <a:srgbClr val="222222"/>
                </a:solidFill>
                <a:latin typeface="맑은 고딕"/>
              </a:rPr>
              <a:t>•  중단이 복사 시간만큼 길어진다</a:t>
            </a:r>
          </a:p>
          <a:p>
            <a:pPr algn="l">
              <a:spcAft>
                <a:spcPts val="1000"/>
              </a:spcAft>
            </a:pPr>
            <a:r>
              <a:rPr sz="1700" b="0">
                <a:solidFill>
                  <a:srgbClr val="222222"/>
                </a:solidFill>
                <a:latin typeface="맑은 고딕"/>
              </a:rPr>
              <a:t>•  대용량 마이그레이션 전에 모드를 바꾸는 이유</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세 번째 오류 — ORA-01113</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SCN 이 벌어졌다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OFFLINE 후 SWITCH 는 성공 (2.2초)</a:t>
            </a:r>
          </a:p>
          <a:p>
            <a:pPr algn="l">
              <a:spcAft>
                <a:spcPts val="1000"/>
              </a:spcAft>
            </a:pPr>
            <a:r>
              <a:rPr sz="1700" b="0">
                <a:solidFill>
                  <a:srgbClr val="222222"/>
                </a:solidFill>
                <a:latin typeface="맑은 고딕"/>
              </a:rPr>
              <a:t>•  그런데 ONLINE 이 안 된다 → ORA-01113 file needs media recovery</a:t>
            </a:r>
          </a:p>
          <a:p>
            <a:pPr algn="l">
              <a:spcAft>
                <a:spcPts val="1000"/>
              </a:spcAft>
            </a:pPr>
            <a:r>
              <a:rPr sz="1700" b="0">
                <a:solidFill>
                  <a:srgbClr val="222222"/>
                </a:solidFill>
                <a:latin typeface="맑은 고딕"/>
              </a:rPr>
              <a:t>•  사본 Ckp SCN 3,993,926 / 현재 SCN 3,994,002 — 76 차이</a:t>
            </a:r>
          </a:p>
          <a:p>
            <a:pPr algn="l">
              <a:spcAft>
                <a:spcPts val="1000"/>
              </a:spcAft>
            </a:pPr>
            <a:r>
              <a:rPr sz="1700" b="0">
                <a:solidFill>
                  <a:srgbClr val="222222"/>
                </a:solidFill>
                <a:latin typeface="맑은 고딕"/>
              </a:rPr>
              <a:t>•  원인 — 사본을 만든 뒤 SWITCH 전에 ONLINE 으로 올렸다</a:t>
            </a:r>
          </a:p>
          <a:p>
            <a:pPr algn="l">
              <a:spcAft>
                <a:spcPts val="1000"/>
              </a:spcAft>
            </a:pPr>
            <a:r>
              <a:rPr sz="1700" b="0">
                <a:solidFill>
                  <a:srgbClr val="222222"/>
                </a:solidFill>
                <a:latin typeface="맑은 고딕"/>
              </a:rPr>
              <a:t>•  조회도 안 된다 → ORA-00376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복구하고 다시 올리기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2초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RMAN&gt; recover datafile 23;</a:t>
            </a:r>
          </a:p>
          <a:p>
            <a:pPr algn="l">
              <a:spcAft>
                <a:spcPts val="1000"/>
              </a:spcAft>
            </a:pPr>
            <a:r>
              <a:rPr sz="1700" b="0">
                <a:solidFill>
                  <a:srgbClr val="222222"/>
                </a:solidFill>
                <a:latin typeface="맑은 고딕"/>
              </a:rPr>
              <a:t>•  media recovery complete, elapsed time: 00:00:02</a:t>
            </a:r>
          </a:p>
          <a:p>
            <a:pPr algn="l">
              <a:spcAft>
                <a:spcPts val="1000"/>
              </a:spcAft>
            </a:pPr>
            <a:r>
              <a:rPr sz="1700" b="0">
                <a:solidFill>
                  <a:srgbClr val="222222"/>
                </a:solidFill>
                <a:latin typeface="맑은 고딕"/>
              </a:rPr>
              <a:t>•  alter tablespace online → 성공, 데이터 20000 건 온전</a:t>
            </a:r>
          </a:p>
          <a:p>
            <a:pPr algn="l">
              <a:spcAft>
                <a:spcPts val="1000"/>
              </a:spcAft>
            </a:pPr>
            <a:r>
              <a:rPr sz="1700" b="0">
                <a:solidFill>
                  <a:srgbClr val="222222"/>
                </a:solidFill>
                <a:latin typeface="맑은 고딕"/>
              </a:rPr>
              <a:t>•  전체 4.1초</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NOARCHIVELOG 인데 복구가 된 이유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시간 제한이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필요한 리두가 아직 온라인 리두로그에 남아 있었다</a:t>
            </a:r>
          </a:p>
          <a:p>
            <a:pPr algn="l">
              <a:spcAft>
                <a:spcPts val="1000"/>
              </a:spcAft>
            </a:pPr>
            <a:r>
              <a:rPr sz="1700" b="0">
                <a:solidFill>
                  <a:srgbClr val="222222"/>
                </a:solidFill>
                <a:latin typeface="맑은 고딕"/>
              </a:rPr>
              <a:t>•  벌어진 SCN 이 76 뿐이라 덮어써지지 않았다</a:t>
            </a:r>
          </a:p>
          <a:p>
            <a:pPr algn="l">
              <a:spcAft>
                <a:spcPts val="1000"/>
              </a:spcAft>
            </a:pPr>
            <a:r>
              <a:rPr sz="1700" b="0">
                <a:solidFill>
                  <a:srgbClr val="222222"/>
                </a:solidFill>
                <a:latin typeface="맑은 고딕"/>
              </a:rPr>
              <a:t>•  로그 스위치가 여러 번 일어났다면 복구 불가</a:t>
            </a:r>
          </a:p>
          <a:p>
            <a:pPr algn="l">
              <a:spcAft>
                <a:spcPts val="1000"/>
              </a:spcAft>
            </a:pPr>
            <a:r>
              <a:rPr sz="1700" b="0">
                <a:solidFill>
                  <a:srgbClr val="222222"/>
                </a:solidFill>
                <a:latin typeface="맑은 고딕"/>
              </a:rPr>
              <a:t>•  그 데이터파일은 되살릴 수 없다</a:t>
            </a:r>
          </a:p>
          <a:p>
            <a:pPr algn="l">
              <a:spcAft>
                <a:spcPts val="1000"/>
              </a:spcAft>
            </a:pPr>
            <a:r>
              <a:rPr sz="1700" b="0">
                <a:solidFill>
                  <a:srgbClr val="222222"/>
                </a:solidFill>
                <a:latin typeface="맑은 고딕"/>
              </a:rPr>
              <a:t>•  NOARCHIVELOG 마이그레이션의 진짜 위험</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10.4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SPFILE 과 컨트롤파일</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왜 절차가 다른가</a:t>
            </a:r>
          </a:p>
          <a:p>
            <a:pPr algn="l">
              <a:spcAft>
                <a:spcPts val="800"/>
              </a:spcAft>
            </a:pPr>
            <a:r>
              <a:rPr sz="1600" b="0">
                <a:solidFill>
                  <a:srgbClr val="FFFFFF"/>
                </a:solidFill>
                <a:latin typeface="맑은 고딕"/>
              </a:rPr>
              <a:t>•  SPFILE 의 이중 기록</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컨트롤파일은 왜 다른가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ORA-02095</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alter system set control_files=… scope=memory → ORA-02095</a:t>
            </a:r>
          </a:p>
          <a:p>
            <a:pPr algn="l">
              <a:spcAft>
                <a:spcPts val="1000"/>
              </a:spcAft>
            </a:pPr>
            <a:r>
              <a:rPr sz="1700" b="0">
                <a:solidFill>
                  <a:srgbClr val="222222"/>
                </a:solidFill>
                <a:latin typeface="맑은 고딕"/>
              </a:rPr>
              <a:t>•  v$parameter 를 보면 ISSYS_MODIFIABLE = FALSE</a:t>
            </a:r>
          </a:p>
          <a:p>
            <a:pPr algn="l">
              <a:spcAft>
                <a:spcPts val="1000"/>
              </a:spcAft>
            </a:pPr>
            <a:r>
              <a:rPr sz="1700" b="0">
                <a:solidFill>
                  <a:srgbClr val="222222"/>
                </a:solidFill>
                <a:latin typeface="맑은 고딕"/>
              </a:rPr>
              <a:t>•  다른 셋(spfile, db_create_file_dest, …)은 IMMEDIATE</a:t>
            </a:r>
          </a:p>
          <a:p>
            <a:pPr algn="l">
              <a:spcAft>
                <a:spcPts val="1000"/>
              </a:spcAft>
            </a:pPr>
            <a:r>
              <a:rPr sz="1700" b="0">
                <a:solidFill>
                  <a:srgbClr val="222222"/>
                </a:solidFill>
                <a:latin typeface="맑은 고딕"/>
              </a:rPr>
              <a:t>•  FALSE = 인스턴스가 살아 있는 동안 어떤 방법으로도 못 바꾼다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컨트롤파일 이동 절차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재기동을 피할 수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 SPFILE 에 새 위치 기록 (scope=spfile)</a:t>
            </a:r>
          </a:p>
          <a:p>
            <a:pPr algn="l">
              <a:spcAft>
                <a:spcPts val="1000"/>
              </a:spcAft>
            </a:pPr>
            <a:r>
              <a:rPr sz="1700" b="0">
                <a:solidFill>
                  <a:srgbClr val="222222"/>
                </a:solidFill>
                <a:latin typeface="맑은 고딕"/>
              </a:rPr>
              <a:t>•  2. DB 를 내리고 MOUNT 까지만</a:t>
            </a:r>
          </a:p>
          <a:p>
            <a:pPr algn="l">
              <a:spcAft>
                <a:spcPts val="1000"/>
              </a:spcAft>
            </a:pPr>
            <a:r>
              <a:rPr sz="1700" b="0">
                <a:solidFill>
                  <a:srgbClr val="222222"/>
                </a:solidFill>
                <a:latin typeface="맑은 고딕"/>
              </a:rPr>
              <a:t>•  3. RMAN RESTORE CONTROLFILE 로 새 위치에 생성</a:t>
            </a:r>
          </a:p>
          <a:p>
            <a:pPr algn="l">
              <a:spcAft>
                <a:spcPts val="1000"/>
              </a:spcAft>
            </a:pPr>
            <a:r>
              <a:rPr sz="1700" b="0">
                <a:solidFill>
                  <a:srgbClr val="222222"/>
                </a:solidFill>
                <a:latin typeface="맑은 고딕"/>
              </a:rPr>
              <a:t>•  4. ALTER DATABASE OPEN</a:t>
            </a:r>
          </a:p>
          <a:p>
            <a:pPr algn="l">
              <a:spcAft>
                <a:spcPts val="1000"/>
              </a:spcAft>
            </a:pPr>
            <a:r>
              <a:rPr sz="1700" b="0">
                <a:solidFill>
                  <a:srgbClr val="222222"/>
                </a:solidFill>
                <a:latin typeface="맑은 고딕"/>
              </a:rPr>
              <a:t>•  RAC 에서는 데이터베이스 전체를 내려야 한다 (순차 불가)</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SPFILE 은 두 곳에 기록되어 있다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RAC 특유의 구조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show parameter spfile → 지금 돌고 있는 인스턴스가 읽은 파일</a:t>
            </a:r>
          </a:p>
          <a:p>
            <a:pPr algn="l">
              <a:spcAft>
                <a:spcPts val="1000"/>
              </a:spcAft>
            </a:pPr>
            <a:r>
              <a:rPr sz="1700" b="0">
                <a:solidFill>
                  <a:srgbClr val="222222"/>
                </a:solidFill>
                <a:latin typeface="맑은 고딕"/>
              </a:rPr>
              <a:t>•  srvctl config database -d racdb → CRS 가 다음에 쓸 값</a:t>
            </a:r>
          </a:p>
          <a:p>
            <a:pPr algn="l">
              <a:spcAft>
                <a:spcPts val="1000"/>
              </a:spcAft>
            </a:pPr>
            <a:r>
              <a:rPr sz="1700" b="0">
                <a:solidFill>
                  <a:srgbClr val="222222"/>
                </a:solidFill>
                <a:latin typeface="맑은 고딕"/>
              </a:rPr>
              <a:t>•  값은 같지만 출처가 다르다</a:t>
            </a:r>
          </a:p>
          <a:p>
            <a:pPr algn="l">
              <a:spcAft>
                <a:spcPts val="1000"/>
              </a:spcAft>
            </a:pPr>
            <a:r>
              <a:rPr sz="1700" b="0">
                <a:solidFill>
                  <a:srgbClr val="222222"/>
                </a:solidFill>
                <a:latin typeface="맑은 고딕"/>
              </a:rPr>
              <a:t>•  단일 인스턴스에는 없는 이중 기록</a:t>
            </a:r>
          </a:p>
          <a:p>
            <a:pPr algn="l">
              <a:spcAft>
                <a:spcPts val="1000"/>
              </a:spcAft>
            </a:pPr>
            <a:r>
              <a:rPr sz="1700" b="0">
                <a:solidFill>
                  <a:srgbClr val="222222"/>
                </a:solidFill>
                <a:latin typeface="맑은 고딕"/>
              </a:rPr>
              <a:t>•  인스턴스를 띄우는 주체가 CRS 이기 때문</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SPFILE 이동 절차와 흔한 실패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3단계를 빠뜨리면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 create pfile='/tmp/pf.ora' from spfile  (55줄 텍스트)</a:t>
            </a:r>
          </a:p>
          <a:p>
            <a:pPr algn="l">
              <a:spcAft>
                <a:spcPts val="1000"/>
              </a:spcAft>
            </a:pPr>
            <a:r>
              <a:rPr sz="1700" b="0">
                <a:solidFill>
                  <a:srgbClr val="222222"/>
                </a:solidFill>
                <a:latin typeface="맑은 고딕"/>
              </a:rPr>
              <a:t>•  2. create spfile='+FRA/…' from pfile='/tmp/pf.ora'</a:t>
            </a:r>
          </a:p>
          <a:p>
            <a:pPr algn="l">
              <a:spcAft>
                <a:spcPts val="1000"/>
              </a:spcAft>
            </a:pPr>
            <a:r>
              <a:rPr sz="1700" b="0">
                <a:solidFill>
                  <a:srgbClr val="222222"/>
                </a:solidFill>
                <a:latin typeface="맑은 고딕"/>
              </a:rPr>
              <a:t>•  3. srvctl modify database -d racdb -spfile '+FRA/…'</a:t>
            </a:r>
          </a:p>
          <a:p>
            <a:pPr algn="l">
              <a:spcAft>
                <a:spcPts val="1000"/>
              </a:spcAft>
            </a:pPr>
            <a:r>
              <a:rPr sz="1700" b="0">
                <a:solidFill>
                  <a:srgbClr val="222222"/>
                </a:solidFill>
                <a:latin typeface="맑은 고딕"/>
              </a:rPr>
              <a:t>•  4. 재기동</a:t>
            </a:r>
          </a:p>
          <a:p>
            <a:pPr algn="l">
              <a:spcAft>
                <a:spcPts val="1000"/>
              </a:spcAft>
            </a:pPr>
            <a:r>
              <a:rPr sz="1700" b="0">
                <a:solidFill>
                  <a:srgbClr val="222222"/>
                </a:solidFill>
                <a:latin typeface="맑은 고딕"/>
              </a:rPr>
              <a:t>•  3 을 빠뜨리면 CRS 가 옛 SPFILE 로 인스턴스를 띄운다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10.5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되돌리기와 그 제약</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절차는 대칭이다</a:t>
            </a:r>
          </a:p>
          <a:p>
            <a:pPr algn="l">
              <a:spcAft>
                <a:spcPts val="800"/>
              </a:spcAft>
            </a:pPr>
            <a:r>
              <a:rPr sz="1600" b="0">
                <a:solidFill>
                  <a:srgbClr val="FFFFFF"/>
                </a:solidFill>
                <a:latin typeface="맑은 고딕"/>
              </a:rPr>
              <a:t>•  제약은 대칭이 아니다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역방향 — 절차는 대칭</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5.4초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FORMAT 에 디스크그룹 대신 경로를 준다</a:t>
            </a:r>
          </a:p>
          <a:p>
            <a:pPr algn="l">
              <a:spcAft>
                <a:spcPts val="1000"/>
              </a:spcAft>
            </a:pPr>
            <a:r>
              <a:rPr sz="1700" b="0">
                <a:solidFill>
                  <a:srgbClr val="222222"/>
                </a:solidFill>
                <a:latin typeface="맑은 고딕"/>
              </a:rPr>
              <a:t>•  backup as copy + switch + recover 를 한 번에</a:t>
            </a:r>
          </a:p>
          <a:p>
            <a:pPr algn="l">
              <a:spcAft>
                <a:spcPts val="1000"/>
              </a:spcAft>
            </a:pPr>
            <a:r>
              <a:rPr sz="1700" b="0">
                <a:solidFill>
                  <a:srgbClr val="222222"/>
                </a:solidFill>
                <a:latin typeface="맑은 고딕"/>
              </a:rPr>
              <a:t>•  5.4초, 복구는 0초</a:t>
            </a:r>
          </a:p>
          <a:p>
            <a:pPr algn="l">
              <a:spcAft>
                <a:spcPts val="1000"/>
              </a:spcAft>
            </a:pPr>
            <a:r>
              <a:rPr sz="1700" b="0">
                <a:solidFill>
                  <a:srgbClr val="222222"/>
                </a:solidFill>
                <a:latin typeface="맑은 고딕"/>
              </a:rPr>
              <a:t>•  OFFLINE 을 유지했으므로 SCN 이 벌어지지 않았다</a:t>
            </a:r>
          </a:p>
          <a:p>
            <a:pPr algn="l">
              <a:spcAft>
                <a:spcPts val="1000"/>
              </a:spcAft>
            </a:pPr>
            <a:r>
              <a:rPr sz="1700" b="0">
                <a:solidFill>
                  <a:srgbClr val="222222"/>
                </a:solidFill>
                <a:latin typeface="맑은 고딕"/>
              </a:rPr>
              <a:t>•  ASM 쪽에서 보면 OMF 의 이점이 사라진다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그리고 제약이 다시 나타난다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같은 ORA-01157</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rac1 — 20000 rows 정상</a:t>
            </a:r>
          </a:p>
          <a:p>
            <a:pPr algn="l">
              <a:spcAft>
                <a:spcPts val="1000"/>
              </a:spcAft>
            </a:pPr>
            <a:r>
              <a:rPr sz="1700" b="0">
                <a:solidFill>
                  <a:srgbClr val="222222"/>
                </a:solidFill>
                <a:latin typeface="맑은 고딕"/>
              </a:rPr>
              <a:t>•  rac2 — ORA-01157, 파일 이름만 바뀌었다</a:t>
            </a:r>
          </a:p>
          <a:p>
            <a:pPr algn="l">
              <a:spcAft>
                <a:spcPts val="1000"/>
              </a:spcAft>
            </a:pPr>
            <a:r>
              <a:rPr sz="1700" b="0">
                <a:solidFill>
                  <a:srgbClr val="222222"/>
                </a:solidFill>
                <a:latin typeface="맑은 고딕"/>
              </a:rPr>
              <a:t>•  10.2.2 절과 똑같은 오류</a:t>
            </a:r>
          </a:p>
          <a:p>
            <a:pPr algn="l">
              <a:spcAft>
                <a:spcPts val="1000"/>
              </a:spcAft>
            </a:pPr>
            <a:r>
              <a:rPr sz="1700" b="0">
                <a:solidFill>
                  <a:srgbClr val="222222"/>
                </a:solidFill>
                <a:latin typeface="맑은 고딕"/>
              </a:rPr>
              <a:t>•  같은 데이터·같은 조회인데 위치가 결과를 가른다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위치에 따른 결과 정리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공유냐 아니냐가 전부다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로컬 파일시스템 — rac1 정상 / rac2 ORA-01157 → 불가</a:t>
            </a:r>
          </a:p>
          <a:p>
            <a:pPr algn="l">
              <a:spcAft>
                <a:spcPts val="1000"/>
              </a:spcAft>
            </a:pPr>
            <a:r>
              <a:rPr sz="1700" b="0">
                <a:solidFill>
                  <a:srgbClr val="222222"/>
                </a:solidFill>
                <a:latin typeface="맑은 고딕"/>
              </a:rPr>
              <a:t>•  +DATA (ASM) — 양쪽 정상 → 가능</a:t>
            </a:r>
          </a:p>
          <a:p>
            <a:pPr algn="l">
              <a:spcAft>
                <a:spcPts val="1000"/>
              </a:spcAft>
            </a:pPr>
            <a:r>
              <a:rPr sz="1700" b="0">
                <a:solidFill>
                  <a:srgbClr val="222222"/>
                </a:solidFill>
                <a:latin typeface="맑은 고딕"/>
              </a:rPr>
              <a:t>•  +FRA (ASM) — 양쪽 정상 → 가능</a:t>
            </a:r>
          </a:p>
          <a:p>
            <a:pPr algn="l">
              <a:spcAft>
                <a:spcPts val="1000"/>
              </a:spcAft>
            </a:pPr>
            <a:r>
              <a:rPr sz="1700" b="0">
                <a:solidFill>
                  <a:srgbClr val="222222"/>
                </a:solidFill>
                <a:latin typeface="맑은 고딕"/>
              </a:rPr>
              <a:t>•  로컬로 되돌림 — rac1 정상 / rac2 ORA-01157 → 불가</a:t>
            </a:r>
          </a:p>
          <a:p>
            <a:pPr algn="l">
              <a:spcAft>
                <a:spcPts val="1000"/>
              </a:spcAft>
            </a:pPr>
            <a:r>
              <a:rPr sz="1700" b="0">
                <a:solidFill>
                  <a:srgbClr val="222222"/>
                </a:solidFill>
                <a:latin typeface="맑은 고딕"/>
              </a:rPr>
              <a:t>•  디스크그룹이 무엇인지는 상관없다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되돌릴 수 있는 유일한 경우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공유 파일 시스템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NFS·ACFS 같은 공유 파일 시스템이면 ORA-01157 이 안 난다</a:t>
            </a:r>
          </a:p>
          <a:p>
            <a:pPr algn="l">
              <a:spcAft>
                <a:spcPts val="1000"/>
              </a:spcAft>
            </a:pPr>
            <a:r>
              <a:rPr sz="1700" b="0">
                <a:solidFill>
                  <a:srgbClr val="222222"/>
                </a:solidFill>
                <a:latin typeface="맑은 고딕"/>
              </a:rPr>
              <a:t>•  다만 그렇게 할 이유가 거의 없다</a:t>
            </a:r>
          </a:p>
          <a:p>
            <a:pPr algn="l">
              <a:spcAft>
                <a:spcPts val="1000"/>
              </a:spcAft>
            </a:pPr>
            <a:r>
              <a:rPr sz="1700" b="0">
                <a:solidFill>
                  <a:srgbClr val="222222"/>
                </a:solidFill>
                <a:latin typeface="맑은 고딕"/>
              </a:rPr>
              <a:t>•  ASM 을 안 쓸 거라면 처음부터 그렇게 구성했을 것</a:t>
            </a:r>
          </a:p>
          <a:p>
            <a:pPr algn="l">
              <a:spcAft>
                <a:spcPts val="1000"/>
              </a:spcAft>
            </a:pPr>
            <a:r>
              <a:rPr sz="1700" b="0">
                <a:solidFill>
                  <a:srgbClr val="222222"/>
                </a:solidFill>
                <a:latin typeface="맑은 고딕"/>
              </a:rPr>
              <a:t>•  실무에서 역방향이 필요한 경우 — RAC 을 단일로 되돌릴 때</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정리하고 되돌리기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사본은 셋이었다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drop tablespace including contents and datafiles</a:t>
            </a:r>
          </a:p>
          <a:p>
            <a:pPr algn="l">
              <a:spcAft>
                <a:spcPts val="1000"/>
              </a:spcAft>
            </a:pPr>
            <a:r>
              <a:rPr sz="1700" b="0">
                <a:solidFill>
                  <a:srgbClr val="222222"/>
                </a:solidFill>
                <a:latin typeface="맑은 고딕"/>
              </a:rPr>
              <a:t>•  RMAN&gt; delete noprompt copy → Deleted 3 objects</a:t>
            </a:r>
          </a:p>
          <a:p>
            <a:pPr algn="l">
              <a:spcAft>
                <a:spcPts val="1000"/>
              </a:spcAft>
            </a:pPr>
            <a:r>
              <a:rPr sz="1700" b="0">
                <a:solidFill>
                  <a:srgbClr val="222222"/>
                </a:solidFill>
                <a:latin typeface="맑은 고딕"/>
              </a:rPr>
              <a:t>•  이 장에서 만든 사본이 정확히 셋 (+DATA, +FRA, 파일시스템)</a:t>
            </a:r>
          </a:p>
          <a:p>
            <a:pPr algn="l">
              <a:spcAft>
                <a:spcPts val="1000"/>
              </a:spcAft>
            </a:pPr>
            <a:r>
              <a:rPr sz="1700" b="0">
                <a:solidFill>
                  <a:srgbClr val="222222"/>
                </a:solidFill>
                <a:latin typeface="맑은 고딕"/>
              </a:rPr>
              <a:t>•  자동 백업 조각 3 개도 삭제 (SWITCH 세 번)</a:t>
            </a:r>
          </a:p>
          <a:p>
            <a:pPr algn="l">
              <a:spcAft>
                <a:spcPts val="1000"/>
              </a:spcAft>
            </a:pPr>
            <a:r>
              <a:rPr sz="1700" b="0">
                <a:solidFill>
                  <a:srgbClr val="222222"/>
                </a:solidFill>
                <a:latin typeface="맑은 고딕"/>
              </a:rPr>
              <a:t>•  결과 — 데이터파일 13개, 전부 +DATA, FRA 여유 23,636MB</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10.6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운영 지침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계획 점검표</a:t>
            </a:r>
          </a:p>
          <a:p>
            <a:pPr algn="l">
              <a:spcAft>
                <a:spcPts val="800"/>
              </a:spcAft>
            </a:pPr>
            <a:r>
              <a:rPr sz="1600" b="0">
                <a:solidFill>
                  <a:srgbClr val="FFFFFF"/>
                </a:solidFill>
                <a:latin typeface="맑은 고딕"/>
              </a:rPr>
              <a:t>•  오류별 요구 조건</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마이그레이션 계획 점검표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아홉 단계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 + 로 시작하지 않는 데이터파일 목록  2 아카이브 모드</a:t>
            </a:r>
          </a:p>
          <a:p>
            <a:pPr algn="l">
              <a:spcAft>
                <a:spcPts val="1000"/>
              </a:spcAft>
            </a:pPr>
            <a:r>
              <a:rPr sz="1700" b="0">
                <a:solidFill>
                  <a:srgbClr val="222222"/>
                </a:solidFill>
                <a:latin typeface="맑은 고딕"/>
              </a:rPr>
              <a:t>•  3 대상 디스크그룹 USABLE_FILE_MB  4 테이블스페이스 OFFLINE</a:t>
            </a:r>
          </a:p>
          <a:p>
            <a:pPr algn="l">
              <a:spcAft>
                <a:spcPts val="1000"/>
              </a:spcAft>
            </a:pPr>
            <a:r>
              <a:rPr sz="1700" b="0">
                <a:solidFill>
                  <a:srgbClr val="222222"/>
                </a:solidFill>
                <a:latin typeface="맑은 고딕"/>
              </a:rPr>
              <a:t>•  5 BACKUP AS COPY (시간이 드는 유일한 단계)</a:t>
            </a:r>
          </a:p>
          <a:p>
            <a:pPr algn="l">
              <a:spcAft>
                <a:spcPts val="1000"/>
              </a:spcAft>
            </a:pPr>
            <a:r>
              <a:rPr sz="1700" b="0">
                <a:solidFill>
                  <a:srgbClr val="222222"/>
                </a:solidFill>
                <a:latin typeface="맑은 고딕"/>
              </a:rPr>
              <a:t>•  6 SWITCH TO COPY (수 초)  7 필요시 RECOVER</a:t>
            </a:r>
          </a:p>
          <a:p>
            <a:pPr algn="l">
              <a:spcAft>
                <a:spcPts val="1000"/>
              </a:spcAft>
            </a:pPr>
            <a:r>
              <a:rPr sz="1700" b="0">
                <a:solidFill>
                  <a:srgbClr val="222222"/>
                </a:solidFill>
                <a:latin typeface="맑은 고딕"/>
              </a:rPr>
              <a:t>•  8 ONLINE 후 **다른 노드에서** 조회  9 DELETE COPY 로 정리</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다섯 오류의 요구 조건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무엇을 요구하는가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ORA-19602 — NOARCHIVELOG 온라인 복사 → OFFLINE 으로</a:t>
            </a:r>
          </a:p>
          <a:p>
            <a:pPr algn="l">
              <a:spcAft>
                <a:spcPts val="1000"/>
              </a:spcAft>
            </a:pPr>
            <a:r>
              <a:rPr sz="1700" b="0">
                <a:solidFill>
                  <a:srgbClr val="222222"/>
                </a:solidFill>
                <a:latin typeface="맑은 고딕"/>
              </a:rPr>
              <a:t>•  RMAN-06572 — OPEN 인데 파일이 ONLINE → OFFLINE 으로</a:t>
            </a:r>
          </a:p>
          <a:p>
            <a:pPr algn="l">
              <a:spcAft>
                <a:spcPts val="1000"/>
              </a:spcAft>
            </a:pPr>
            <a:r>
              <a:rPr sz="1700" b="0">
                <a:solidFill>
                  <a:srgbClr val="222222"/>
                </a:solidFill>
                <a:latin typeface="맑은 고딕"/>
              </a:rPr>
              <a:t>•  ORA-01113 — 사본보다 DB 가 앞섰다 → RECOVER DATAFILE</a:t>
            </a:r>
          </a:p>
          <a:p>
            <a:pPr algn="l">
              <a:spcAft>
                <a:spcPts val="1000"/>
              </a:spcAft>
            </a:pPr>
            <a:r>
              <a:rPr sz="1700" b="0">
                <a:solidFill>
                  <a:srgbClr val="222222"/>
                </a:solidFill>
                <a:latin typeface="맑은 고딕"/>
              </a:rPr>
              <a:t>•  ORA-01157 — 공유 안 되는 경로 → 위치를 바꿔야만 해결</a:t>
            </a:r>
          </a:p>
          <a:p>
            <a:pPr algn="l">
              <a:spcAft>
                <a:spcPts val="1000"/>
              </a:spcAft>
            </a:pPr>
            <a:r>
              <a:rPr sz="1700" b="0">
                <a:solidFill>
                  <a:srgbClr val="222222"/>
                </a:solidFill>
                <a:latin typeface="맑은 고딕"/>
              </a:rPr>
              <a:t>•  ORA-02095 — control_files 동적 변경 → 재기동</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되돌릴 수 있는 상태를 유지하는 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시간 제한이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SWITCH 는 되돌릴 수 있다 — 원본이 남아 있는 한</a:t>
            </a:r>
          </a:p>
          <a:p>
            <a:pPr algn="l">
              <a:spcAft>
                <a:spcPts val="1000"/>
              </a:spcAft>
            </a:pPr>
            <a:r>
              <a:rPr sz="1700" b="0">
                <a:solidFill>
                  <a:srgbClr val="222222"/>
                </a:solidFill>
                <a:latin typeface="맑은 고딕"/>
              </a:rPr>
              <a:t>•  그래서 검증 전에는 원본을 지우지 않는다</a:t>
            </a:r>
          </a:p>
          <a:p>
            <a:pPr algn="l">
              <a:spcAft>
                <a:spcPts val="1000"/>
              </a:spcAft>
            </a:pPr>
            <a:r>
              <a:rPr sz="1700" b="0">
                <a:solidFill>
                  <a:srgbClr val="222222"/>
                </a:solidFill>
                <a:latin typeface="맑은 고딕"/>
              </a:rPr>
              <a:t>•  그러나 NOARCHIVELOG 에서는 이 안전망에 시간 제한이 있다</a:t>
            </a:r>
          </a:p>
          <a:p>
            <a:pPr algn="l">
              <a:spcAft>
                <a:spcPts val="1000"/>
              </a:spcAft>
            </a:pPr>
            <a:r>
              <a:rPr sz="1700" b="0">
                <a:solidFill>
                  <a:srgbClr val="222222"/>
                </a:solidFill>
                <a:latin typeface="맑은 고딕"/>
              </a:rPr>
              <a:t>•  되돌리는 SWITCH 후 필요한 리두가 밀려나면 복구 불가</a:t>
            </a:r>
          </a:p>
          <a:p>
            <a:pPr algn="l">
              <a:spcAft>
                <a:spcPts val="1000"/>
              </a:spcAft>
            </a:pPr>
            <a:r>
              <a:rPr sz="1700" b="0">
                <a:solidFill>
                  <a:srgbClr val="222222"/>
                </a:solidFill>
                <a:latin typeface="맑은 고딕"/>
              </a:rPr>
              <a:t>•  검증은 마이그레이션 직후에 몰아서 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핵심 정리</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점검 한 줄 — v$datafile 에 + 로 시작하지 않는 이름이 0 행인가</a:t>
            </a:r>
          </a:p>
          <a:p>
            <a:pPr algn="l">
              <a:spcAft>
                <a:spcPts val="1000"/>
              </a:spcAft>
            </a:pPr>
            <a:r>
              <a:rPr sz="1600" b="0">
                <a:solidFill>
                  <a:srgbClr val="222222"/>
                </a:solidFill>
                <a:latin typeface="맑은 고딕"/>
              </a:rPr>
              <a:t>•  BACKUP AS COPY 는 시간이 들고 SWITCH 는 수 초다</a:t>
            </a:r>
          </a:p>
          <a:p>
            <a:pPr algn="l">
              <a:spcAft>
                <a:spcPts val="1000"/>
              </a:spcAft>
            </a:pPr>
            <a:r>
              <a:rPr sz="1600" b="0">
                <a:solidFill>
                  <a:srgbClr val="222222"/>
                </a:solidFill>
                <a:latin typeface="맑은 고딕"/>
              </a:rPr>
              <a:t>•  ORA-19602 — NOARCHIVELOG 에서는 OFFLINE 후 복사</a:t>
            </a:r>
          </a:p>
          <a:p>
            <a:pPr algn="l">
              <a:spcAft>
                <a:spcPts val="1000"/>
              </a:spcAft>
            </a:pPr>
            <a:r>
              <a:rPr sz="1600" b="0">
                <a:solidFill>
                  <a:srgbClr val="222222"/>
                </a:solidFill>
                <a:latin typeface="맑은 고딕"/>
              </a:rPr>
              <a:t>•  RMAN-06572 — SWITCH 는 모드와 무관하게 항상 OFFLINE</a:t>
            </a:r>
          </a:p>
          <a:p>
            <a:pPr algn="l">
              <a:spcAft>
                <a:spcPts val="1000"/>
              </a:spcAft>
            </a:pPr>
            <a:r>
              <a:rPr sz="1600" b="0">
                <a:solidFill>
                  <a:srgbClr val="222222"/>
                </a:solidFill>
                <a:latin typeface="맑은 고딕"/>
              </a:rPr>
              <a:t>•  ORA-01113 — SCN 이 벌어지면 RECOVER DATAFILE (실측 76 차이)</a:t>
            </a:r>
          </a:p>
          <a:p>
            <a:pPr algn="l">
              <a:spcAft>
                <a:spcPts val="1000"/>
              </a:spcAft>
            </a:pPr>
            <a:r>
              <a:rPr sz="1600" b="0">
                <a:solidFill>
                  <a:srgbClr val="222222"/>
                </a:solidFill>
                <a:latin typeface="맑은 고딕"/>
              </a:rPr>
              <a:t>•  NOARCHIVELOG 복구 성공은 온라인 로그에 리두가 남아 있어서</a:t>
            </a:r>
          </a:p>
          <a:p>
            <a:pPr algn="l">
              <a:spcAft>
                <a:spcPts val="1000"/>
              </a:spcAft>
            </a:pPr>
            <a:r>
              <a:rPr sz="1600" b="0">
                <a:solidFill>
                  <a:srgbClr val="222222"/>
                </a:solidFill>
                <a:latin typeface="맑은 고딕"/>
              </a:rPr>
              <a:t>•  ORA-01157 — 공유 안 되는 파일, 딕셔너리는 ONLINE 이라 보인다</a:t>
            </a:r>
          </a:p>
          <a:p>
            <a:pPr algn="l">
              <a:spcAft>
                <a:spcPts val="1000"/>
              </a:spcAft>
            </a:pPr>
            <a:r>
              <a:rPr sz="1600" b="0">
                <a:solidFill>
                  <a:srgbClr val="222222"/>
                </a:solidFill>
                <a:latin typeface="맑은 고딕"/>
              </a:rPr>
              <a:t>•  ORA-02095 — control_files 는 ISSYS_MODIFIABLE=FALSE</a:t>
            </a:r>
          </a:p>
          <a:p>
            <a:pPr algn="l">
              <a:spcAft>
                <a:spcPts val="1000"/>
              </a:spcAft>
            </a:pPr>
            <a:r>
              <a:rPr sz="1600" b="0">
                <a:solidFill>
                  <a:srgbClr val="222222"/>
                </a:solidFill>
                <a:latin typeface="맑은 고딕"/>
              </a:rPr>
              <a:t>•  SPFILE 은 인스턴스와 CRS 두 곳에 기록 — srvctl modify 필수</a:t>
            </a:r>
          </a:p>
          <a:p>
            <a:pPr algn="l">
              <a:spcAft>
                <a:spcPts val="1000"/>
              </a:spcAft>
            </a:pPr>
            <a:r>
              <a:rPr sz="1600" b="0">
                <a:solidFill>
                  <a:srgbClr val="222222"/>
                </a:solidFill>
                <a:latin typeface="맑은 고딕"/>
              </a:rPr>
              <a:t>•  역방향은 절차상 가능하나 RAC 에서는 선택지가 아니다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
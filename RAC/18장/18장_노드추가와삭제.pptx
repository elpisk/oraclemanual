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notesMaster" Target="notesMasters/notesMaster1.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운영에서 노드를 빼는 이유는 대개 하드웨어 교체나 장애이고, 넣는 이유는 증설입니다. 어느 쪽이든 절차가 길고 중간에 끊기면 반쯤 구성된 노드가 남습니다. 이 장의 실습에서도 실제로 addnode.sh 가 복사 도중 끊긴 일이 있었고, 그 상황을 18.6 절의 오류 재현으로 그대로 씁니다. 시작 전에 스냅샷과 OCR 백업이 왜 둘 다 필요한지부터 짚고 들어가십시오. 되돌리지 못하면 랩을 다시 구축해야 합니다.</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 표가 이 장 전체의 지도입니다. 클러스터가 OCR 만 보고 돌기 때문에 인벤토리가 틀려도 평소에는 아무 증상이 없다는 점을 강조하십시오. 문제가 되는 것은 deinstall, addnode.sh, 패치 도구처럼 소프트웨어를 다루는 순간입니다. 이 도구들은 인벤토리의 노드 목록을 보고 어디서 지우고 어디로 복사할지를 정합니다. 실제로 이 장에서 가장 많이 손댄 것이 OCR 이 아니라 인벤토리였다는 것을 미리 알려 두면 뒤의 실습이 잘 읽힙니다.</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위에 올린 것부터 내린다는 원칙 하나로 삭제 순서를 기억하게 하십시오. 데이터베이스 인스턴스가 가장 위에 있고 그리드 홈이 가장 아래에 있습니다. 추가는 그 반대이되 단계 수가 다릅니다. 삭제에서는 Clusterware 해제와 OCR 항목 삭제가 별개의 명령이지만, 추가에서는 그리드 홈의 root.sh 하나가 두 일을 함께 합니다. 이 비대칭이 18.6 절에서 root.sh 를 함부로 치면 안 되는 이유와 연결됩니다.</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설치 가이드 10장에서 다룬 내용이 여기서 실제로 중요해집니다. VM 스냅샷은 각 노드의 로컬 디스크만 되돌리므로 공유 디스크에 있는 OCR 은 되돌리지 못합니다. 그래서 OCR 수동 백업이 따로 필요합니다. 스냅샷을 뜰 때 srvctl stop database 로 데이터베이스를 내리면 Target 이 OFFLINE 으로 기록된다는 점도 미리 알려 주십시오. 다시 켠 뒤 CRS 가 자동으로 올리지 않아 18.8 절에서 실제로 수동 기동이 필요했습니다.</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세 번째 열의 Unpinned 를 먼저 확인하는 습관을 들이게 하십시오. 11.2 이후 기본값이라 대부분 문제가 없지만, pin 된 노드는 삭제 전에 풀어야 합니다. 노드 번호도 적어 두게 하십시오. 지웠다 다시 넣었을 때 번호가 그대로인지가 18.5 절의 확인 항목입니다. rac2-vip 의 이름과 주소는 재추가 때 addnode.sh 인자로 그대로 들어가므로 지금 기록해야 합니다.</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자동 OCR 백업은 4 시간, 하루, 한 주 주기라 시점을 고를 수 없으므로 작업 직전에 수동 백업을 뜹니다. 기준선은 막연히 정상이라고 기억하는 대신 숫자로 남기게 하십시오. 이 숫자들이 18.4 절과 18.8 절의 비교표가 됩니다. 특히 OLR ID 를 적어 두게 하십시오. 마지막에 유일하게 다른 값으로 돌아오는 항목이 rac2 의 OLR ID 이고, 그 이유를 설명할 수 있어야 이 장을 이해한 것입니다.</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실습 01 에서 실제로 만난 이상 징후입니다. 클러스터가 정상적으로 돌고 있었기 때문에 이 순간까지 아무도 몰랐습니다. 원인은 설치 때 INS-13013 과 INS-32050 을 고치느라 인벤토리를 손댄 것으로 보이지만 로그로 확정하지는 못했다는 점도 솔직하게 전하십시오. CRS=TRUE 는 그리드 홈에만 붙인다는 것, -local 없이 rac1 에서 실행하면 rac2 의 인벤토리도 함께 고쳐진다는 것을 짚어 주십시오.</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 nodedel 을 치면 오류 메시지 대신 사용법이 통째로 나오는 것을 보여 주십시오. 지우는 쪽은 지울 수 있는가보다 다 지워졌는가가 중요하다는 설계로 이해하면 됩니다. PRVG-11368 은 SCAN 을 주소 하나로 구성한 이 랩의 설계에서 나오는 경고이며 노드 작업과 관계가 없습니다. 작업 뒤에도 같은 경고 하나만 나와야 정상이고, 새 경고가 생기면 그것이 확인할 대상입니다.</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dbca 는 열려 있는 racdb1 에 붙어서 데이터베이스 안의 구조를 지우므로 실행 노드는 살아남는 쪽입니다. 13장에서 노드를 추가할 때 스토리지 쪽 준비로 다룬 세 가지, 리두 그룹과 스레드와 UNDO 가 여기서 반대로 지워집니다. 자원 수가 줄지 않는 이유도 설명하십시오. ora.racdb.db 는 자원 하나에 인스턴스가 CARDINALITY_ID 로 붙는 구조입니다. rac2 의 진단 디렉터리는 장애 분석 기록이라 dbca 가 남깁니다.</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-local 이 이 단계의 핵심입니다. 지울 노드에서 -local 없이 목록을 줄이면 두 노드의 인벤토리가 함께 바뀌어 rac1 의 목록이 망가집니다. checkonly 는 아무것도 지우지 않고 응답 파일만 만드는 안전한 단계이므로, 그 출력에서 삭제 대상 노드가 rac2 하나인지 반드시 확인하게 하십시오. DB_UNIQUE_NAME_LIST 가 비어 있는 것은 인스턴스를 먼저 지웠기 때문이며, 순서를 바꾸면 deinstall 이 데이터베이스 구성까지 건드리려 합니다.</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-force 는 자원이 남아 있거나 다른 노드와 통신이 안 되어도 진행하라는 뜻입니다. -lastnode 는 마지막 노드를 해제할 때 OCR 과 보팅 디스크까지 지우는 옵션이므로 여기서 붙이면 안 된다는 점을 강하게 짚으십시오. 이 단계 직후 rac2 는 Inactive 로 바뀌지만 OCR 에는 아직 항목이 남아 있습니다. CRS-4047 은 구성만 해제되고 소프트웨어는 남은 상태를 뜻하는 메시지로 기억하게 하십시오.</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가장 짧지만 가장 결정적인 명령입니다. 이 시점부터 rac2 는 클러스터가 아는 노드가 아닙니다. 잘못된 노드 이름을 넣으면 살아 있는 노드를 OCR 에서 지우게 되므로, OCR 수동 백업이 필요한 이유가 바로 이 명령 때문이라고 연결해 주십시오. crsctl stat res -t 에서 ASM 의 세 칸이 그대로인 것을 오류로 오해하는 경우가 많습니다. Flex ASM 의 카디널리티가 3 이라 칸 수는 노드 수와 상관없습니다.</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Clusterware 를 이미 해제했으므로 deinstall 은 이 홈을 클러스터 홈이 아니라 Oracle Restart 홈으로 봅니다. 그 덕분에 지울 범위가 rac2 하나로 좁혀지며, ASM 이 검출되지 않았다는 메시지도 같은 이유입니다. 디스크그룹은 공유 디스크에 있고 rac1 이 계속 쓰고 있으므로 건드리지 않는 것이 맞습니다. grid 계정으로는 root 소유 파일을 지우지 못하므로 마지막 단계는 rootdeinstall.sh 로 root 에게 넘어갑니다.</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마지막 단계가 오류로 끝났지만 그리드 홈은 detach 됐고 내용물은 대부분 지워졌습니다. 오류 메시지만 보고 당황하지 말고 무엇이 남았는지를 확인하는 순서를 보여 주십시오. du 와 df 로 남은 양을 재고, 오라클 프로세스가 없는 것을 확인하면 남은 것을 직접 지워도 됩니다. 이 랩에서는 비교를 위해 일부러 남겼고, 그것이 18.6 절에서 INS-40111 경고로 다시 나타납니다.</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 원칙을 지키면 deinstall 은 어떤 경우에도 지울 노드 밖을 건드리지 않습니다. 이 장에서 인벤토리 목록을 손으로 고친 것이 모두 여덟 번입니다. 시작할 때 비어 있던 목록을 채운 것 두 번, 삭제 절차에서 줄인 것 네 번, 재추가 뒤 늘어나지 않은 것을 고친 것 두 번입니다. 매번 inventory.xml 을 열어 확인했고, 그 습관이 18.8 절의 이상 징후를 잡았다는 점까지 연결해 주십시오.</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OCR ID 가 그대로라는 것이 이 표의 요점입니다. 노드 삭제는 OCR 안의 항목을 지운 것이지 OCR 을 다시 만든 것이 아닙니다. 데이터베이스가 단일 인스턴스로 바뀐 것도 아닙니다. srvctl config database 의 Type 은 RAC 이고 인스턴스가 하나 등록되어 있을 뿐입니다. 19장의 RAC One Node 와 구분하기 위해서라도 이 차이를 분명히 해 두십시오. cluvfy 는 rac2 로컬 디스크의 잔재는 보지 않는다는 점도 짚으십시오.</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OS 수준에서 준비한 것은 모두 남기 때문에 다시 넣을 때 설치 가이드 3장과 4장을 반복하지 않아도 됩니다. 예외가 cvuqdisk 입니다. 설치 때 두 노드 모두에 넣었는데 삭제 뒤 rac2 에서 사라졌고, 그리드 홈 deinstall 이 함께 지운 것으로 보입니다. /etc/oracle 에 olr.loc 이나 ocr.loc 이 남아 있었다면 rac2 가 이미 구성된 노드로 보여 재추가가 꼬였을 것입니다. 이 랩에서는 deconfig 가 깨끗이 지웠습니다.</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실습 01 의 사전 점검은 rac2 가 이미 멤버라 실제 검사를 하지 않았지만, 이번에는 실제 검사를 했고 하나가 실패했습니다. cvuqdisk 가 없으면 Device Checks for ASM 이 통째로 실패하고, 설치 후에는 공유 디스크 검사가 아예 돌지 않습니다. 재점검에서 공유 디스크 여덟 개의 접근이 새로 확인된 것을 보여 주십시오. 사설망 이름으로 처음 SSH 를 붙을 때 호스트 키 질문이 나오므로 미리 한 번 붙어 두는 요령도 함께 알려 주십시오.</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두 인자의 의미를 정확히 구분하게 하십시오. CLUSTER_NEW_NODES 는 새 노드의 공용 호스트명이고, CLUSTER_NEW_VIRTUAL_HOSTNAMES 는 그 노드의 VIP 이름입니다. VIP 이름은 18.2 절에서 기록한 값이며 /etc/hosts 에 그대로 남아 있습니다. addnode.sh 가 성공했다고 해서 rac2 가 클러스터에 들어온 것이 아니라는 점이 중요합니다. 소프트웨어만 복사된 상태이고, 클러스터에 넣는 것은 다음 단계의 root.sh 입니다.</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처음 설치 때 rac1 의 root.sh 는 6 분, rac2 는 1.9 분이었습니다. rac1 은 OCR 과 보팅 디스크를 새로 만들어야 했기 때문입니다. 지금은 이미 있는 클러스터에 붙기만 하므로 처음 설치 때의 rac2 와 비슷한 시간이 걸렸습니다. 노드 번호가 다시 2 인 것도 확인시키십시오. 지웠던 번호 자리가 비어 있어 그대로 받았습니다. 그리드만 넣었으므로 데이터베이스 자원에는 아직 rac2 가 없습니다.</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화면에는 아무것도 남지 않았기 때문에 인벤토리 로그 디렉터리에서 흔적을 찾아야 했습니다. 가장 최근 로그 묶음의 out 파일과 actions 로그 꼬리를 보는 순서를 보여 주십시오. last 명령으로 노드의 재부팅 시각을 대조하면 무엇이 끊겼는지 확정됩니다. INS-40111 은 WARNING 이라 addnode.sh 를 멈추지 않으며, 18.3 절에서 남은 잔재가 여기서 다시 등장한다는 연결을 짚어 주십시오.</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root.sh 가 보이니 실행하면 될 것 같지만 필요한 바이너리가 없어 중간에 멈춥니다. 반쯤 구성된 노드는 처음 상태보다 정리하기가 더 어렵다는 점을 강조하십시오. 판단의 근거는 마지막 두 줄입니다. ohasd 가 등록되지 않았고 OCR 에도 rac2 가 없으므로, 남은 것은 파일뿐이고 클러스터 구성은 남지 않았습니다. 이 판단이 다음 슬라이드에서 그냥 다시 돌리기를 택한 근거입니다.</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INS-43055 의 문구를 그대로 읽어 주십시오. 오라클 홈 위치가 인벤토리에 등록되지 않았는데 비어 있지도 않으며, 비우지 않으면 새 소프트웨어로 덮어쓴다는 내용입니다. 로그에 Advice is CONTINUE 가 이어지고 실제로 덮어썼습니다. 이번에 통한 이유는 rac2 가 파일만 있고 구성은 없는 상태였기 때문이라는 점을 반복해서 강조하십시오. 구성까지 남아 있었다면 같은 방법이 통하지 않습니다.</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잔재의 종류는 많지만 구분하는 질문은 하나입니다. rac2 에 /etc/init.d/ohasd 가 있으면 구성이 남은 것이고, rac1 의 olsnodes 에 rac2 가 보이면 OCR 에 남은 것입니다. 둘 다 아니면 파일만 남은 것이므로 addnode.sh 를 다시 돌려 덮으면 됩니다. 하나라도 해당하면 삭제 절차의 Clusterware 해제와 OCR 삭제 단계를 먼저 다시 해야 합니다. 이 질문 하나로 판단하게 하는 것이 이 절의 목표입니다.</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VIP 는 그리드의 자원이고 이미 있으므로 DB 홈에는 VIP 인자가 없습니다. oracle 계정의 SSH 등가성이 필요하다는 점도 짚으십시오. 그리드 홈은 grid, DB 홈은 oracle 이 소유자입니다. 이번 출력에는 Copy Files to Remote Nodes successful 이 찍혔습니다. 18.6 절의 첫 시도에서는 이 줄을 보지 못하고 끊겼다는 점과 대비하면 정상 완료가 어떻게 보이는지 기억하기 쉽습니다.</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13장에서 노드를 추가할 때 스토리지 쪽에서 준비할 세 가지로 다룬 리두 그룹, 스레드 활성화, UNDO 가 여기서 dbca 에 의해 자동으로 만들어집니다. 리두 그룹이 스레드 1 과 같은 200MB 로 만들어졌다는 것도 확인시키십시오. dbca 보다 DB 홈 addnode.sh 가 먼저여야 한다는 순서도 강조하십시오. rac2 에 DB 홈이 없으면 dbca 가 인스턴스를 띄울 수 없으므로, dbca 전에 rac2 의 oracle 실행 파일과 인벤토리를 확인합니다.</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OCR 은 공유 디스크에 있는 클러스터 전체의 저장소라 한 번도 다시 만들지 않았습니다. OLR 은 노드마다 로컬 디스크에 있고, rac2 의 Clusterware 구성을 해제했다가 root.sh 가 새로 만들었습니다. 그래서 경로는 같고 ID 는 다릅니다. ID 가 바뀐 것이 오히려 정상이라는 점을 강조하십시오. 바뀌지 않았다면 옛 OLR 이 남아 있었다는 뜻입니다. 이후 장에서는 새 값을 기준선으로 씁니다.</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실습 07 의 핵심 장면입니다. addnode.sh 는 두 번이나 인벤토리를 저장했다고 보고했지만, 로그에는 바뀐 것이 없다고 판단해 저장을 건너뛴 기록이 남아 있었습니다. 왜 clean 으로 판단했는지는 로그로 더 좁히지 못했다는 점도 그대로 전하십시오. 지금 당장은 증상이 없지만 패치 도구가 rac1 만 패치해 두 노드의 버전이 갈리거나, 다음 삭제 때 deinstall 이 rac2 를 노드로 보지 못하는 위험이 있습니다.</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PDB 저장 상태가 racdb2 에도 있는지 꼭 확인하게 하십시오. 없으면 racdb2 가 다시 뜰 때 PDB 가 MOUNTED 로 남습니다. SCAN 분산이 4 대 2 로 기운 것은 순번이 아니라 인스턴스가 알려 온 부하를 보고 보내기 때문입니다. 재부팅 뒤 데이터베이스가 올라오지 않은 것은 고장이 아닙니다. 관리자가 내린 기록이 Target 에 남아 있어서이며, 두 칸이 모두 보이고 한 번에 함께 올라온 것이 rac2 복귀의 마지막 증거입니다.</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원본 문서의 클론 장을 이 장에 흡수한 이유가 여기 있습니다. 노드를 추가하는 방법이 하나 더 있을 뿐이고, 소프트웨어를 옮긴 뒤 클러스터에 넣는 과정은 같습니다. 이 랩에서 골드 이미지 방식은 실측하지 않았다는 점을 분명히 알려 주십시오. 2 노드에서 한 노드를 다시 넣는 상황에서는 addnode.sh 가 가장 단순합니다. 대규모 증설이나 표준 이미지 관리가 필요할 때 골드 이미지를 검토하면 됩니다.</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노드 하나를 빼고 넣는 작업에서 OCR 복원까지 갈 일은 거의 없습니다. 이 장의 실습에서도 OCR ID 는 처음부터 끝까지 같았습니다. 그래도 수동 백업을 뜨는 이유는 crsctl delete node 처럼 OCR 을 바꾸는 명령을 잘못된 노드에 쳤을 때 돌아갈 곳이 그것뿐이기 때문입니다. 5장에서 다룬 OCR 복원 절차와 연결해 주시고, 스냅샷만 믿으면 안 된다는 점을 마지막으로 다시 짚어 주십시오.</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 장에서 얻은 점검 항목을 정리한 슬라이드입니다. 가장 강조할 것은 olsnodes 와 inventory.xml 을 나란히 놓고 비교하는 습관입니다. 이 장에서 인벤토리 노드 목록이 클러스터와 어긋난 일이 시작할 때와 끝날 때 두 번 있었고, 두 번 모두 명령의 성공 메시지만으로는 알 수 없었습니다. 노드를 빼고 넣은 뒤에는 이 표를 그대로 체크리스트로 쓰도록 권하십시오.</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 장 끝에서 인스턴스가 하나만 남았던 상태가 RAC One Node 와 어떻게 다른지 물어보며 다음 장으로 넘어가십시오. 노드를 지운 상태는 인스턴스가 하나뿐인 RAC 데이터베이스였고, RAC One Node 는 두 노드를 그대로 두고 인스턴스 하나를 필요할 때 다른 노드로 옮기는 구성입니다. 19장은 데이터베이스 유형을 바꿨다가 되돌리므로, 이 장 끝에 뜬 스냅샷 rac-2node-ch18 이 돌아올 지점이라는 것도 알려 주십시오.</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3.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219456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5394960"/>
            <a:ext cx="12191695" cy="1463040"/>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457200"/>
            <a:ext cx="10698480" cy="548640"/>
          </a:xfrm>
          <a:prstGeom prst="rect">
            <a:avLst/>
          </a:prstGeom>
          <a:noFill/>
        </p:spPr>
        <p:txBody>
          <a:bodyPr wrap="square">
            <a:spAutoFit/>
          </a:bodyPr>
          <a:lstStyle/>
          <a:p>
            <a:pPr algn="l">
              <a:spcAft>
                <a:spcPts val="600"/>
              </a:spcAft>
            </a:pPr>
            <a:r>
              <a:rPr sz="1600" b="1">
                <a:solidFill>
                  <a:srgbClr val="FFFFFF"/>
                </a:solidFill>
                <a:latin typeface="맑은 고딕"/>
              </a:rPr>
              <a:t>Oracle 19c Real Application Clusters</a:t>
            </a:r>
          </a:p>
        </p:txBody>
      </p:sp>
      <p:sp>
        <p:nvSpPr>
          <p:cNvPr id="6" name="TextBox 5"/>
          <p:cNvSpPr txBox="1"/>
          <p:nvPr/>
        </p:nvSpPr>
        <p:spPr>
          <a:xfrm>
            <a:off x="731520" y="2377440"/>
            <a:ext cx="10698480" cy="1554480"/>
          </a:xfrm>
          <a:prstGeom prst="rect">
            <a:avLst/>
          </a:prstGeom>
          <a:noFill/>
        </p:spPr>
        <p:txBody>
          <a:bodyPr wrap="square">
            <a:spAutoFit/>
          </a:bodyPr>
          <a:lstStyle/>
          <a:p>
            <a:pPr algn="l">
              <a:spcAft>
                <a:spcPts val="600"/>
              </a:spcAft>
            </a:pPr>
            <a:r>
              <a:rPr sz="3400" b="1">
                <a:solidFill>
                  <a:srgbClr val="C0392B"/>
                </a:solidFill>
                <a:latin typeface="맑은 고딕"/>
              </a:rPr>
              <a:t>RAC</a:t>
            </a:r>
          </a:p>
        </p:txBody>
      </p:sp>
      <p:sp>
        <p:nvSpPr>
          <p:cNvPr id="7" name="TextBox 6"/>
          <p:cNvSpPr txBox="1"/>
          <p:nvPr/>
        </p:nvSpPr>
        <p:spPr>
          <a:xfrm>
            <a:off x="731520" y="4114800"/>
            <a:ext cx="10698480" cy="1097280"/>
          </a:xfrm>
          <a:prstGeom prst="rect">
            <a:avLst/>
          </a:prstGeom>
          <a:noFill/>
        </p:spPr>
        <p:txBody>
          <a:bodyPr wrap="square">
            <a:spAutoFit/>
          </a:bodyPr>
          <a:lstStyle/>
          <a:p>
            <a:pPr algn="l">
              <a:spcAft>
                <a:spcPts val="600"/>
              </a:spcAft>
            </a:pPr>
            <a:r>
              <a:rPr sz="1500" b="0">
                <a:solidFill>
                  <a:srgbClr val="5A6672"/>
                </a:solidFill>
                <a:latin typeface="맑은 고딕"/>
              </a:rPr>
              <a:t>노드 추가와 삭제</a:t>
            </a:r>
          </a:p>
        </p:txBody>
      </p:sp>
      <p:sp>
        <p:nvSpPr>
          <p:cNvPr id="8" name="TextBox 7"/>
          <p:cNvSpPr txBox="1"/>
          <p:nvPr/>
        </p:nvSpPr>
        <p:spPr>
          <a:xfrm>
            <a:off x="731520" y="5577840"/>
            <a:ext cx="10698480" cy="914400"/>
          </a:xfrm>
          <a:prstGeom prst="rect">
            <a:avLst/>
          </a:prstGeom>
          <a:noFill/>
        </p:spPr>
        <p:txBody>
          <a:bodyPr wrap="square">
            <a:spAutoFit/>
          </a:bodyPr>
          <a:lstStyle/>
          <a:p>
            <a:pPr algn="l">
              <a:spcAft>
                <a:spcPts val="600"/>
              </a:spcAft>
            </a:pPr>
            <a:r>
              <a:rPr sz="2000" b="1">
                <a:solidFill>
                  <a:srgbClr val="C0392B"/>
                </a:solidFill>
                <a:latin typeface="맑은 고딕"/>
              </a:rPr>
              <a:t>rac2 를 빼고, 지우고, 다시 넣는다. 그 사이 racdb1 은 멈추지 않는다</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학습 목표</a:t>
            </a:r>
          </a:p>
        </p:txBody>
      </p:sp>
      <p:sp>
        <p:nvSpPr>
          <p:cNvPr id="4" name="TextBox 3"/>
          <p:cNvSpPr txBox="1"/>
          <p:nvPr/>
        </p:nvSpPr>
        <p:spPr>
          <a:xfrm>
            <a:off x="640080" y="1371600"/>
            <a:ext cx="10881360" cy="5120640"/>
          </a:xfrm>
          <a:prstGeom prst="rect">
            <a:avLst/>
          </a:prstGeom>
          <a:noFill/>
        </p:spPr>
        <p:txBody>
          <a:bodyPr wrap="square">
            <a:spAutoFit/>
          </a:bodyPr>
          <a:lstStyle/>
          <a:p>
            <a:pPr algn="l">
              <a:spcAft>
                <a:spcPts val="1000"/>
              </a:spcAft>
            </a:pPr>
            <a:r>
              <a:rPr sz="1600" b="0">
                <a:solidFill>
                  <a:srgbClr val="222222"/>
                </a:solidFill>
                <a:latin typeface="맑은 고딕"/>
              </a:rPr>
              <a:t>•  노드가 기록되는 세 곳(OCR·인벤토리·DB 구성)을 구분한다</a:t>
            </a:r>
          </a:p>
          <a:p>
            <a:pPr algn="l">
              <a:spcAft>
                <a:spcPts val="1000"/>
              </a:spcAft>
            </a:pPr>
            <a:r>
              <a:rPr sz="1600" b="0">
                <a:solidFill>
                  <a:srgbClr val="222222"/>
                </a:solidFill>
                <a:latin typeface="맑은 고딕"/>
              </a:rPr>
              <a:t>•  추가·삭제 전 점검과 기준선 기록을 수행한다</a:t>
            </a:r>
          </a:p>
          <a:p>
            <a:pPr algn="l">
              <a:spcAft>
                <a:spcPts val="1000"/>
              </a:spcAft>
            </a:pPr>
            <a:r>
              <a:rPr sz="1600" b="0">
                <a:solidFill>
                  <a:srgbClr val="222222"/>
                </a:solidFill>
                <a:latin typeface="맑은 고딕"/>
              </a:rPr>
              <a:t>•  인스턴스 → DB 홈 → Clusterware → 그리드 홈 순서로 노드를 삭제한다</a:t>
            </a:r>
          </a:p>
          <a:p>
            <a:pPr algn="l">
              <a:spcAft>
                <a:spcPts val="1000"/>
              </a:spcAft>
            </a:pPr>
            <a:r>
              <a:rPr sz="1600" b="0">
                <a:solidFill>
                  <a:srgbClr val="222222"/>
                </a:solidFill>
                <a:latin typeface="맑은 고딕"/>
              </a:rPr>
              <a:t>•  addnode.sh 와 root.sh 로 노드를 다시 합류시킨다</a:t>
            </a:r>
          </a:p>
          <a:p>
            <a:pPr algn="l">
              <a:spcAft>
                <a:spcPts val="1000"/>
              </a:spcAft>
            </a:pPr>
            <a:r>
              <a:rPr sz="1600" b="0">
                <a:solidFill>
                  <a:srgbClr val="222222"/>
                </a:solidFill>
                <a:latin typeface="맑은 고딕"/>
              </a:rPr>
              <a:t>•  정리가 덜 된 잔재가 재추가에 주는 영향을 판단한다</a:t>
            </a:r>
          </a:p>
          <a:p>
            <a:pPr algn="l">
              <a:spcAft>
                <a:spcPts val="1000"/>
              </a:spcAft>
            </a:pPr>
            <a:r>
              <a:rPr sz="1600" b="0">
                <a:solidFill>
                  <a:srgbClr val="222222"/>
                </a:solidFill>
                <a:latin typeface="맑은 고딕"/>
              </a:rPr>
              <a:t>•  dbca -addInstance 로 인스턴스를 되살리고 원복을 검증한다</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Agenda</a:t>
            </a:r>
          </a:p>
        </p:txBody>
      </p:sp>
      <p:sp>
        <p:nvSpPr>
          <p:cNvPr id="4" name="TextBox 3"/>
          <p:cNvSpPr txBox="1"/>
          <p:nvPr/>
        </p:nvSpPr>
        <p:spPr>
          <a:xfrm>
            <a:off x="640080" y="1371600"/>
            <a:ext cx="10881360" cy="5120640"/>
          </a:xfrm>
          <a:prstGeom prst="rect">
            <a:avLst/>
          </a:prstGeom>
          <a:noFill/>
        </p:spPr>
        <p:txBody>
          <a:bodyPr wrap="square">
            <a:spAutoFit/>
          </a:bodyPr>
          <a:lstStyle/>
          <a:p>
            <a:pPr algn="l">
              <a:spcAft>
                <a:spcPts val="1000"/>
              </a:spcAft>
            </a:pPr>
            <a:r>
              <a:rPr sz="1600" b="0">
                <a:solidFill>
                  <a:srgbClr val="222222"/>
                </a:solidFill>
                <a:latin typeface="맑은 고딕"/>
              </a:rPr>
              <a:t>•  18.1 노드 관리 작업의 전체 그림</a:t>
            </a:r>
          </a:p>
          <a:p>
            <a:pPr algn="l">
              <a:spcAft>
                <a:spcPts val="1000"/>
              </a:spcAft>
            </a:pPr>
            <a:r>
              <a:rPr sz="1600" b="0">
                <a:solidFill>
                  <a:srgbClr val="222222"/>
                </a:solidFill>
                <a:latin typeface="맑은 고딕"/>
              </a:rPr>
              <a:t>•  18.2 추가·삭제 전 점검</a:t>
            </a:r>
          </a:p>
          <a:p>
            <a:pPr algn="l">
              <a:spcAft>
                <a:spcPts val="1000"/>
              </a:spcAft>
            </a:pPr>
            <a:r>
              <a:rPr sz="1600" b="0">
                <a:solidFill>
                  <a:srgbClr val="222222"/>
                </a:solidFill>
                <a:latin typeface="맑은 고딕"/>
              </a:rPr>
              <a:t>•  18.3 노드 삭제</a:t>
            </a:r>
          </a:p>
          <a:p>
            <a:pPr algn="l">
              <a:spcAft>
                <a:spcPts val="1000"/>
              </a:spcAft>
            </a:pPr>
            <a:r>
              <a:rPr sz="1600" b="0">
                <a:solidFill>
                  <a:srgbClr val="222222"/>
                </a:solidFill>
                <a:latin typeface="맑은 고딕"/>
              </a:rPr>
              <a:t>•  18.4 삭제 후 검증</a:t>
            </a:r>
          </a:p>
          <a:p>
            <a:pPr algn="l">
              <a:spcAft>
                <a:spcPts val="1000"/>
              </a:spcAft>
            </a:pPr>
            <a:r>
              <a:rPr sz="1600" b="0">
                <a:solidFill>
                  <a:srgbClr val="222222"/>
                </a:solidFill>
                <a:latin typeface="맑은 고딕"/>
              </a:rPr>
              <a:t>•  18.5 노드 재추가 — addnode.sh</a:t>
            </a:r>
          </a:p>
          <a:p>
            <a:pPr algn="l">
              <a:spcAft>
                <a:spcPts val="1000"/>
              </a:spcAft>
            </a:pPr>
            <a:r>
              <a:rPr sz="1600" b="0">
                <a:solidFill>
                  <a:srgbClr val="222222"/>
                </a:solidFill>
                <a:latin typeface="맑은 고딕"/>
              </a:rPr>
              <a:t>•  18.6 오류 재현 — 정리가 덜 된 상태에서 재추가</a:t>
            </a:r>
          </a:p>
          <a:p>
            <a:pPr algn="l">
              <a:spcAft>
                <a:spcPts val="1000"/>
              </a:spcAft>
            </a:pPr>
            <a:r>
              <a:rPr sz="1600" b="0">
                <a:solidFill>
                  <a:srgbClr val="222222"/>
                </a:solidFill>
                <a:latin typeface="맑은 고딕"/>
              </a:rPr>
              <a:t>•  18.7 DB 인스턴스 추가</a:t>
            </a:r>
          </a:p>
          <a:p>
            <a:pPr algn="l">
              <a:spcAft>
                <a:spcPts val="1000"/>
              </a:spcAft>
            </a:pPr>
            <a:r>
              <a:rPr sz="1600" b="0">
                <a:solidFill>
                  <a:srgbClr val="222222"/>
                </a:solidFill>
                <a:latin typeface="맑은 고딕"/>
              </a:rPr>
              <a:t>•  18.8 원복 검증</a:t>
            </a:r>
          </a:p>
          <a:p>
            <a:pPr algn="l">
              <a:spcAft>
                <a:spcPts val="1000"/>
              </a:spcAft>
            </a:pPr>
            <a:r>
              <a:rPr sz="1600" b="0">
                <a:solidFill>
                  <a:srgbClr val="222222"/>
                </a:solidFill>
                <a:latin typeface="맑은 고딕"/>
              </a:rPr>
              <a:t>•  18.9 다른 방법과 되돌리기</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이 장에서 하는 일</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두 노드라는 전제 자체를 바꾼다</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17장까지 — 노드 두 대가 그대로 있다는 전제</a:t>
            </a:r>
          </a:p>
          <a:p>
            <a:pPr algn="l">
              <a:spcAft>
                <a:spcPts val="1000"/>
              </a:spcAft>
            </a:pPr>
            <a:r>
              <a:rPr sz="1700" b="0">
                <a:solidFill>
                  <a:srgbClr val="222222"/>
                </a:solidFill>
                <a:latin typeface="맑은 고딕"/>
              </a:rPr>
              <a:t>•  18장 — rac2 를 클러스터에서 완전히 빼고 소프트웨어까지 지운다</a:t>
            </a:r>
          </a:p>
          <a:p>
            <a:pPr algn="l">
              <a:spcAft>
                <a:spcPts val="1000"/>
              </a:spcAft>
            </a:pPr>
            <a:r>
              <a:rPr sz="1700" b="0">
                <a:solidFill>
                  <a:srgbClr val="222222"/>
                </a:solidFill>
                <a:latin typeface="맑은 고딕"/>
              </a:rPr>
              <a:t>•  그리고 다시 넣는다</a:t>
            </a:r>
          </a:p>
          <a:p>
            <a:pPr algn="l">
              <a:spcAft>
                <a:spcPts val="1000"/>
              </a:spcAft>
            </a:pPr>
            <a:r>
              <a:rPr sz="1700" b="0">
                <a:solidFill>
                  <a:srgbClr val="222222"/>
                </a:solidFill>
                <a:latin typeface="맑은 고딕"/>
              </a:rPr>
              <a:t>•  그 사이 rac1 의 racdb1 은 한 번도 멈추지 않는다</a:t>
            </a:r>
          </a:p>
          <a:p>
            <a:pPr algn="l">
              <a:spcAft>
                <a:spcPts val="1000"/>
              </a:spcAft>
            </a:pPr>
            <a:r>
              <a:rPr sz="1700" b="0">
                <a:solidFill>
                  <a:srgbClr val="222222"/>
                </a:solidFill>
                <a:latin typeface="맑은 고딕"/>
              </a:rPr>
              <a:t>•  이 과정에서 가장 위험한 실습이다</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2011680"/>
            <a:ext cx="10515600" cy="1097280"/>
          </a:xfrm>
          <a:prstGeom prst="rect">
            <a:avLst/>
          </a:prstGeom>
          <a:noFill/>
        </p:spPr>
        <p:txBody>
          <a:bodyPr wrap="square">
            <a:spAutoFit/>
          </a:bodyPr>
          <a:lstStyle/>
          <a:p>
            <a:pPr algn="l">
              <a:spcAft>
                <a:spcPts val="600"/>
              </a:spcAft>
            </a:pPr>
            <a:r>
              <a:rPr sz="4000" b="1">
                <a:solidFill>
                  <a:srgbClr val="FFFFFF"/>
                </a:solidFill>
                <a:latin typeface="맑은 고딕"/>
              </a:rPr>
              <a:t>18.1</a:t>
            </a:r>
          </a:p>
        </p:txBody>
      </p:sp>
      <p:sp>
        <p:nvSpPr>
          <p:cNvPr id="4" name="TextBox 3"/>
          <p:cNvSpPr txBox="1"/>
          <p:nvPr/>
        </p:nvSpPr>
        <p:spPr>
          <a:xfrm>
            <a:off x="822960" y="3017520"/>
            <a:ext cx="10515600" cy="914400"/>
          </a:xfrm>
          <a:prstGeom prst="rect">
            <a:avLst/>
          </a:prstGeom>
          <a:noFill/>
        </p:spPr>
        <p:txBody>
          <a:bodyPr wrap="square">
            <a:spAutoFit/>
          </a:bodyPr>
          <a:lstStyle/>
          <a:p>
            <a:pPr algn="l">
              <a:spcAft>
                <a:spcPts val="600"/>
              </a:spcAft>
            </a:pPr>
            <a:r>
              <a:rPr sz="2800" b="1">
                <a:solidFill>
                  <a:srgbClr val="FFFFFF"/>
                </a:solidFill>
                <a:latin typeface="맑은 고딕"/>
              </a:rPr>
              <a:t>노드 관리 작업의 전체 그림</a:t>
            </a:r>
          </a:p>
        </p:txBody>
      </p:sp>
      <p:sp>
        <p:nvSpPr>
          <p:cNvPr id="5" name="Rectangle 4"/>
          <p:cNvSpPr/>
          <p:nvPr/>
        </p:nvSpPr>
        <p:spPr>
          <a:xfrm>
            <a:off x="822960" y="4114800"/>
            <a:ext cx="5486400" cy="5486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4297680"/>
            <a:ext cx="10058400" cy="2011680"/>
          </a:xfrm>
          <a:prstGeom prst="rect">
            <a:avLst/>
          </a:prstGeom>
          <a:noFill/>
        </p:spPr>
        <p:txBody>
          <a:bodyPr wrap="square">
            <a:spAutoFit/>
          </a:bodyPr>
          <a:lstStyle/>
          <a:p>
            <a:pPr algn="l">
              <a:spcAft>
                <a:spcPts val="800"/>
              </a:spcAft>
            </a:pPr>
            <a:r>
              <a:rPr sz="1600" b="0">
                <a:solidFill>
                  <a:srgbClr val="FFFFFF"/>
                </a:solidFill>
                <a:latin typeface="맑은 고딕"/>
              </a:rPr>
              <a:t>•  세 계층</a:t>
            </a:r>
          </a:p>
          <a:p>
            <a:pPr algn="l">
              <a:spcAft>
                <a:spcPts val="800"/>
              </a:spcAft>
            </a:pPr>
            <a:r>
              <a:rPr sz="1600" b="0">
                <a:solidFill>
                  <a:srgbClr val="FFFFFF"/>
                </a:solidFill>
                <a:latin typeface="맑은 고딕"/>
              </a:rPr>
              <a:t>•  삭제와 추가의 순서</a:t>
            </a:r>
          </a:p>
          <a:p>
            <a:pPr algn="l">
              <a:spcAft>
                <a:spcPts val="800"/>
              </a:spcAft>
            </a:pPr>
            <a:r>
              <a:rPr sz="1600" b="0">
                <a:solidFill>
                  <a:srgbClr val="FFFFFF"/>
                </a:solidFill>
                <a:latin typeface="맑은 고딕"/>
              </a:rPr>
              <a:t>•  스냅샷과 OCR 백업</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노드는 세 곳에 기록된다</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지울 때도 넣을 때도 세 곳을 맞춘다</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클러스터 구성 — OCR (+CRS) — rootcrs.sh, crsctl delete node, root.sh</a:t>
            </a:r>
          </a:p>
          <a:p>
            <a:pPr algn="l">
              <a:spcAft>
                <a:spcPts val="1000"/>
              </a:spcAft>
            </a:pPr>
            <a:r>
              <a:rPr sz="1700" b="0">
                <a:solidFill>
                  <a:srgbClr val="222222"/>
                </a:solidFill>
                <a:latin typeface="맑은 고딕"/>
              </a:rPr>
              <a:t>•  소프트웨어 등록 — 노드마다의 inventory.xml — updateNodeList, deinstall, addnode.sh</a:t>
            </a:r>
          </a:p>
          <a:p>
            <a:pPr algn="l">
              <a:spcAft>
                <a:spcPts val="1000"/>
              </a:spcAft>
            </a:pPr>
            <a:r>
              <a:rPr sz="1700" b="0">
                <a:solidFill>
                  <a:srgbClr val="222222"/>
                </a:solidFill>
                <a:latin typeface="맑은 고딕"/>
              </a:rPr>
              <a:t>•  데이터베이스 구성 — 컨트롤파일·SPFILE·DB 자원 — dbca</a:t>
            </a:r>
          </a:p>
          <a:p>
            <a:pPr algn="l">
              <a:spcAft>
                <a:spcPts val="1000"/>
              </a:spcAft>
            </a:pPr>
            <a:r>
              <a:rPr sz="1700" b="0">
                <a:solidFill>
                  <a:srgbClr val="222222"/>
                </a:solidFill>
                <a:latin typeface="맑은 고딕"/>
              </a:rPr>
              <a:t>•  클러스터는 OCR 만 보고 돈다</a:t>
            </a:r>
          </a:p>
          <a:p>
            <a:pPr algn="l">
              <a:spcAft>
                <a:spcPts val="1000"/>
              </a:spcAft>
            </a:pPr>
            <a:r>
              <a:rPr sz="1700" b="0">
                <a:solidFill>
                  <a:srgbClr val="222222"/>
                </a:solidFill>
                <a:latin typeface="맑은 고딕"/>
              </a:rPr>
              <a:t>•  인벤토리는 소프트웨어를 다룰 때만 드러난다</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삭제는 설치의 역순</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추가에는 3·4단계가 따로 없다</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삭제 1 dbca -deleteInstance → 2 DB 홈 deinstall</a:t>
            </a:r>
          </a:p>
          <a:p>
            <a:pPr algn="l">
              <a:spcAft>
                <a:spcPts val="1000"/>
              </a:spcAft>
            </a:pPr>
            <a:r>
              <a:rPr sz="1700" b="0">
                <a:solidFill>
                  <a:srgbClr val="222222"/>
                </a:solidFill>
                <a:latin typeface="맑은 고딕"/>
              </a:rPr>
              <a:t>•  삭제 3 rootcrs.sh -deconfig → 4 crsctl delete node → 5 그리드 홈 deinstall</a:t>
            </a:r>
          </a:p>
          <a:p>
            <a:pPr algn="l">
              <a:spcAft>
                <a:spcPts val="1000"/>
              </a:spcAft>
            </a:pPr>
            <a:r>
              <a:rPr sz="1700" b="0">
                <a:solidFill>
                  <a:srgbClr val="222222"/>
                </a:solidFill>
                <a:latin typeface="맑은 고딕"/>
              </a:rPr>
              <a:t>•  추가 1 그리드 addnode.sh → 2 root.sh</a:t>
            </a:r>
          </a:p>
          <a:p>
            <a:pPr algn="l">
              <a:spcAft>
                <a:spcPts val="1000"/>
              </a:spcAft>
            </a:pPr>
            <a:r>
              <a:rPr sz="1700" b="0">
                <a:solidFill>
                  <a:srgbClr val="222222"/>
                </a:solidFill>
                <a:latin typeface="맑은 고딕"/>
              </a:rPr>
              <a:t>•  추가 3 DB 홈 addnode.sh → 4 DB root.sh → 5 dbca -addInstance</a:t>
            </a:r>
          </a:p>
          <a:p>
            <a:pPr algn="l">
              <a:spcAft>
                <a:spcPts val="1000"/>
              </a:spcAft>
            </a:pPr>
            <a:r>
              <a:rPr sz="1700" b="0">
                <a:solidFill>
                  <a:srgbClr val="222222"/>
                </a:solidFill>
                <a:latin typeface="맑은 고딕"/>
              </a:rPr>
              <a:t>•  그리드 root.sh 가 OLR 생성·스택 기동·OCR 등록을 한 번에</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시작 전에 — 스냅샷과 OCR 백업</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공유 디스크는 스냅샷에 들어가지 않는다</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노드 삭제는 되돌릴 수 없다</a:t>
            </a:r>
          </a:p>
          <a:p>
            <a:pPr algn="l">
              <a:spcAft>
                <a:spcPts val="1000"/>
              </a:spcAft>
            </a:pPr>
            <a:r>
              <a:rPr sz="1700" b="0">
                <a:solidFill>
                  <a:srgbClr val="222222"/>
                </a:solidFill>
                <a:latin typeface="맑은 고딕"/>
              </a:rPr>
              <a:t>•  공유 디스크는 independent-persistent — 스냅샷 제외</a:t>
            </a:r>
          </a:p>
          <a:p>
            <a:pPr algn="l">
              <a:spcAft>
                <a:spcPts val="1000"/>
              </a:spcAft>
            </a:pPr>
            <a:r>
              <a:rPr sz="1700" b="0">
                <a:solidFill>
                  <a:srgbClr val="222222"/>
                </a:solidFill>
                <a:latin typeface="맑은 고딕"/>
              </a:rPr>
              <a:t>•  스냅샷으로 되돌려도 OCR 은 삭제된 상태 그대로</a:t>
            </a:r>
          </a:p>
          <a:p>
            <a:pPr algn="l">
              <a:spcAft>
                <a:spcPts val="1000"/>
              </a:spcAft>
            </a:pPr>
            <a:r>
              <a:rPr sz="1700" b="0">
                <a:solidFill>
                  <a:srgbClr val="222222"/>
                </a:solidFill>
                <a:latin typeface="맑은 고딕"/>
              </a:rPr>
              <a:t>•  스냅샷 + ocrconfig -manualbackup 을 합쳐야 되돌림 지점</a:t>
            </a:r>
          </a:p>
          <a:p>
            <a:pPr algn="l">
              <a:spcAft>
                <a:spcPts val="1000"/>
              </a:spcAft>
            </a:pPr>
            <a:r>
              <a:rPr sz="1700" b="0">
                <a:solidFill>
                  <a:srgbClr val="222222"/>
                </a:solidFill>
                <a:latin typeface="맑은 고딕"/>
              </a:rPr>
              <a:t>•  두 노드를 함께 정지하고 전원을 끈 뒤 뜬다</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2011680"/>
            <a:ext cx="10515600" cy="1097280"/>
          </a:xfrm>
          <a:prstGeom prst="rect">
            <a:avLst/>
          </a:prstGeom>
          <a:noFill/>
        </p:spPr>
        <p:txBody>
          <a:bodyPr wrap="square">
            <a:spAutoFit/>
          </a:bodyPr>
          <a:lstStyle/>
          <a:p>
            <a:pPr algn="l">
              <a:spcAft>
                <a:spcPts val="600"/>
              </a:spcAft>
            </a:pPr>
            <a:r>
              <a:rPr sz="4000" b="1">
                <a:solidFill>
                  <a:srgbClr val="FFFFFF"/>
                </a:solidFill>
                <a:latin typeface="맑은 고딕"/>
              </a:rPr>
              <a:t>18.2</a:t>
            </a:r>
          </a:p>
        </p:txBody>
      </p:sp>
      <p:sp>
        <p:nvSpPr>
          <p:cNvPr id="4" name="TextBox 3"/>
          <p:cNvSpPr txBox="1"/>
          <p:nvPr/>
        </p:nvSpPr>
        <p:spPr>
          <a:xfrm>
            <a:off x="822960" y="3017520"/>
            <a:ext cx="10515600" cy="914400"/>
          </a:xfrm>
          <a:prstGeom prst="rect">
            <a:avLst/>
          </a:prstGeom>
          <a:noFill/>
        </p:spPr>
        <p:txBody>
          <a:bodyPr wrap="square">
            <a:spAutoFit/>
          </a:bodyPr>
          <a:lstStyle/>
          <a:p>
            <a:pPr algn="l">
              <a:spcAft>
                <a:spcPts val="600"/>
              </a:spcAft>
            </a:pPr>
            <a:r>
              <a:rPr sz="2800" b="1">
                <a:solidFill>
                  <a:srgbClr val="FFFFFF"/>
                </a:solidFill>
                <a:latin typeface="맑은 고딕"/>
              </a:rPr>
              <a:t>추가·삭제 전 점검</a:t>
            </a:r>
          </a:p>
        </p:txBody>
      </p:sp>
      <p:sp>
        <p:nvSpPr>
          <p:cNvPr id="5" name="Rectangle 4"/>
          <p:cNvSpPr/>
          <p:nvPr/>
        </p:nvSpPr>
        <p:spPr>
          <a:xfrm>
            <a:off x="822960" y="4114800"/>
            <a:ext cx="5486400" cy="5486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4297680"/>
            <a:ext cx="10058400" cy="2011680"/>
          </a:xfrm>
          <a:prstGeom prst="rect">
            <a:avLst/>
          </a:prstGeom>
          <a:noFill/>
        </p:spPr>
        <p:txBody>
          <a:bodyPr wrap="square">
            <a:spAutoFit/>
          </a:bodyPr>
          <a:lstStyle/>
          <a:p>
            <a:pPr algn="l">
              <a:spcAft>
                <a:spcPts val="800"/>
              </a:spcAft>
            </a:pPr>
            <a:r>
              <a:rPr sz="1600" b="0">
                <a:solidFill>
                  <a:srgbClr val="FFFFFF"/>
                </a:solidFill>
                <a:latin typeface="맑은 고딕"/>
              </a:rPr>
              <a:t>•  노드 목록과 자원</a:t>
            </a:r>
          </a:p>
          <a:p>
            <a:pPr algn="l">
              <a:spcAft>
                <a:spcPts val="800"/>
              </a:spcAft>
            </a:pPr>
            <a:r>
              <a:rPr sz="1600" b="0">
                <a:solidFill>
                  <a:srgbClr val="FFFFFF"/>
                </a:solidFill>
                <a:latin typeface="맑은 고딕"/>
              </a:rPr>
              <a:t>•  기준선</a:t>
            </a:r>
          </a:p>
          <a:p>
            <a:pPr algn="l">
              <a:spcAft>
                <a:spcPts val="800"/>
              </a:spcAft>
            </a:pPr>
            <a:r>
              <a:rPr sz="1600" b="0">
                <a:solidFill>
                  <a:srgbClr val="FFFFFF"/>
                </a:solidFill>
                <a:latin typeface="맑은 고딕"/>
              </a:rPr>
              <a:t>•  인벤토리 이상 징후</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노드 목록과 함께 사라지는 자원</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pin 상태와 VIP 를 먼저 본다</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olsnodes -n -s -t → rac1 1 / rac2 2, Active, Unpinned</a:t>
            </a:r>
          </a:p>
          <a:p>
            <a:pPr algn="l">
              <a:spcAft>
                <a:spcPts val="1000"/>
              </a:spcAft>
            </a:pPr>
            <a:r>
              <a:rPr sz="1700" b="0">
                <a:solidFill>
                  <a:srgbClr val="222222"/>
                </a:solidFill>
                <a:latin typeface="맑은 고딕"/>
              </a:rPr>
              <a:t>•  pin 된 노드는 delete node 전에 crsctl unpin css</a:t>
            </a:r>
          </a:p>
          <a:p>
            <a:pPr algn="l">
              <a:spcAft>
                <a:spcPts val="1000"/>
              </a:spcAft>
            </a:pPr>
            <a:r>
              <a:rPr sz="1700" b="0">
                <a:solidFill>
                  <a:srgbClr val="222222"/>
                </a:solidFill>
                <a:latin typeface="맑은 고딕"/>
              </a:rPr>
              <a:t>•  srvctl config vip -node rac2 → rac2-vip 172.16.225.112</a:t>
            </a:r>
          </a:p>
          <a:p>
            <a:pPr algn="l">
              <a:spcAft>
                <a:spcPts val="1000"/>
              </a:spcAft>
            </a:pPr>
            <a:r>
              <a:rPr sz="1700" b="0">
                <a:solidFill>
                  <a:srgbClr val="222222"/>
                </a:solidFill>
                <a:latin typeface="맑은 고딕"/>
              </a:rPr>
              <a:t>•  LISTENER 는 정의 하나, 노드 목록에서 rac2 만 빠진다</a:t>
            </a:r>
          </a:p>
          <a:p>
            <a:pPr algn="l">
              <a:spcAft>
                <a:spcPts val="1000"/>
              </a:spcAft>
            </a:pPr>
            <a:r>
              <a:rPr sz="1700" b="0">
                <a:solidFill>
                  <a:srgbClr val="222222"/>
                </a:solidFill>
                <a:latin typeface="맑은 고딕"/>
              </a:rPr>
              <a:t>•  SCAN VIP 는 rac1 에 있다 → SCAN 접속은 유지</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기준선은 숫자로 남긴다</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나중에 무엇이 돌아왔는지의 근거</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ocrconfig -manualbackup — 작업 직전 시점</a:t>
            </a:r>
          </a:p>
          <a:p>
            <a:pPr algn="l">
              <a:spcAft>
                <a:spcPts val="1000"/>
              </a:spcAft>
            </a:pPr>
            <a:r>
              <a:rPr sz="1700" b="0">
                <a:solidFill>
                  <a:srgbClr val="222222"/>
                </a:solidFill>
                <a:latin typeface="맑은 고딕"/>
              </a:rPr>
              <a:t>•  CRS 자원 17 / -init 13</a:t>
            </a:r>
          </a:p>
          <a:p>
            <a:pPr algn="l">
              <a:spcAft>
                <a:spcPts val="1000"/>
              </a:spcAft>
            </a:pPr>
            <a:r>
              <a:rPr sz="1700" b="0">
                <a:solidFill>
                  <a:srgbClr val="222222"/>
                </a:solidFill>
                <a:latin typeface="맑은 고딕"/>
              </a:rPr>
              <a:t>•  OCR ID 665666554</a:t>
            </a:r>
          </a:p>
          <a:p>
            <a:pPr algn="l">
              <a:spcAft>
                <a:spcPts val="1000"/>
              </a:spcAft>
            </a:pPr>
            <a:r>
              <a:rPr sz="1700" b="0">
                <a:solidFill>
                  <a:srgbClr val="222222"/>
                </a:solidFill>
                <a:latin typeface="맑은 고딕"/>
              </a:rPr>
              <a:t>•  OLR ID rac1 1636561748 / rac2 877385927</a:t>
            </a:r>
          </a:p>
          <a:p>
            <a:pPr algn="l">
              <a:spcAft>
                <a:spcPts val="1000"/>
              </a:spcAft>
            </a:pPr>
            <a:r>
              <a:rPr sz="1700" b="0">
                <a:solidFill>
                  <a:srgbClr val="222222"/>
                </a:solidFill>
                <a:latin typeface="맑은 고딕"/>
              </a:rPr>
              <a:t>•  서비스 10행, 리두 그룹 4, UNDO 2</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인벤토리에 노드 목록이 없었다</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클러스터는 2노드인데 인벤토리는 모른다</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그리드 홈·dbhome_rac 에 NODE_LIST 없음, CRS="true" 없음</a:t>
            </a:r>
          </a:p>
          <a:p>
            <a:pPr algn="l">
              <a:spcAft>
                <a:spcPts val="1000"/>
              </a:spcAft>
            </a:pPr>
            <a:r>
              <a:rPr sz="1700" b="0">
                <a:solidFill>
                  <a:srgbClr val="222222"/>
                </a:solidFill>
                <a:latin typeface="맑은 고딕"/>
              </a:rPr>
              <a:t>•  설치 때 인벤토리 그룹 문제를 손댄 영향으로 추정</a:t>
            </a:r>
          </a:p>
          <a:p>
            <a:pPr algn="l">
              <a:spcAft>
                <a:spcPts val="1000"/>
              </a:spcAft>
            </a:pPr>
            <a:r>
              <a:rPr sz="1700" b="0">
                <a:solidFill>
                  <a:srgbClr val="222222"/>
                </a:solidFill>
                <a:latin typeface="맑은 고딕"/>
              </a:rPr>
              <a:t>•  이대로면 deinstall 이 클러스터 노드를 알지 못한다</a:t>
            </a:r>
          </a:p>
          <a:p>
            <a:pPr algn="l">
              <a:spcAft>
                <a:spcPts val="1000"/>
              </a:spcAft>
            </a:pPr>
            <a:r>
              <a:rPr sz="1700" b="0">
                <a:solidFill>
                  <a:srgbClr val="222222"/>
                </a:solidFill>
                <a:latin typeface="맑은 고딕"/>
              </a:rPr>
              <a:t>•  runInstaller -updateNodeList "CLUSTER_NODES={rac1,rac2}" CRS=TRUE</a:t>
            </a:r>
          </a:p>
          <a:p>
            <a:pPr algn="l">
              <a:spcAft>
                <a:spcPts val="1000"/>
              </a:spcAft>
            </a:pPr>
            <a:r>
              <a:rPr sz="1700" b="0">
                <a:solidFill>
                  <a:srgbClr val="222222"/>
                </a:solidFill>
                <a:latin typeface="맑은 고딕"/>
              </a:rPr>
              <a:t>•  홈 소유자로 실행 — grid 와 oracle</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cluvfy — 삭제 사전 점검은 없다</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사후 점검만 있다</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stage -pre nodeadd -n rac2 → already part of cluster, 14.3초</a:t>
            </a:r>
          </a:p>
          <a:p>
            <a:pPr algn="l">
              <a:spcAft>
                <a:spcPts val="1000"/>
              </a:spcAft>
            </a:pPr>
            <a:r>
              <a:rPr sz="1700" b="0">
                <a:solidFill>
                  <a:srgbClr val="222222"/>
                </a:solidFill>
                <a:latin typeface="맑은 고딕"/>
              </a:rPr>
              <a:t>•  stage -post crsinst → PRVG-11368 경고 하나, 82.5초</a:t>
            </a:r>
          </a:p>
          <a:p>
            <a:pPr algn="l">
              <a:spcAft>
                <a:spcPts val="1000"/>
              </a:spcAft>
            </a:pPr>
            <a:r>
              <a:rPr sz="1700" b="0">
                <a:solidFill>
                  <a:srgbClr val="222222"/>
                </a:solidFill>
                <a:latin typeface="맑은 고딕"/>
              </a:rPr>
              <a:t>•  stage -pre nodedel → 오류 대신 사용법 출력</a:t>
            </a:r>
          </a:p>
          <a:p>
            <a:pPr algn="l">
              <a:spcAft>
                <a:spcPts val="1000"/>
              </a:spcAft>
            </a:pPr>
            <a:r>
              <a:rPr sz="1700" b="0">
                <a:solidFill>
                  <a:srgbClr val="222222"/>
                </a:solidFill>
                <a:latin typeface="맑은 고딕"/>
              </a:rPr>
              <a:t>•  삭제는 -post nodedel 만 존재</a:t>
            </a:r>
          </a:p>
          <a:p>
            <a:pPr algn="l">
              <a:spcAft>
                <a:spcPts val="1000"/>
              </a:spcAft>
            </a:pPr>
            <a:r>
              <a:rPr sz="1700" b="0">
                <a:solidFill>
                  <a:srgbClr val="222222"/>
                </a:solidFill>
                <a:latin typeface="맑은 고딕"/>
              </a:rPr>
              <a:t>•  삭제 전 점검은 pin·자원·OCR 백업·인벤토리를 직접</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2011680"/>
            <a:ext cx="10515600" cy="1097280"/>
          </a:xfrm>
          <a:prstGeom prst="rect">
            <a:avLst/>
          </a:prstGeom>
          <a:noFill/>
        </p:spPr>
        <p:txBody>
          <a:bodyPr wrap="square">
            <a:spAutoFit/>
          </a:bodyPr>
          <a:lstStyle/>
          <a:p>
            <a:pPr algn="l">
              <a:spcAft>
                <a:spcPts val="600"/>
              </a:spcAft>
            </a:pPr>
            <a:r>
              <a:rPr sz="4000" b="1">
                <a:solidFill>
                  <a:srgbClr val="FFFFFF"/>
                </a:solidFill>
                <a:latin typeface="맑은 고딕"/>
              </a:rPr>
              <a:t>18.3</a:t>
            </a:r>
          </a:p>
        </p:txBody>
      </p:sp>
      <p:sp>
        <p:nvSpPr>
          <p:cNvPr id="4" name="TextBox 3"/>
          <p:cNvSpPr txBox="1"/>
          <p:nvPr/>
        </p:nvSpPr>
        <p:spPr>
          <a:xfrm>
            <a:off x="822960" y="3017520"/>
            <a:ext cx="10515600" cy="914400"/>
          </a:xfrm>
          <a:prstGeom prst="rect">
            <a:avLst/>
          </a:prstGeom>
          <a:noFill/>
        </p:spPr>
        <p:txBody>
          <a:bodyPr wrap="square">
            <a:spAutoFit/>
          </a:bodyPr>
          <a:lstStyle/>
          <a:p>
            <a:pPr algn="l">
              <a:spcAft>
                <a:spcPts val="600"/>
              </a:spcAft>
            </a:pPr>
            <a:r>
              <a:rPr sz="2800" b="1">
                <a:solidFill>
                  <a:srgbClr val="FFFFFF"/>
                </a:solidFill>
                <a:latin typeface="맑은 고딕"/>
              </a:rPr>
              <a:t>노드 삭제</a:t>
            </a:r>
          </a:p>
        </p:txBody>
      </p:sp>
      <p:sp>
        <p:nvSpPr>
          <p:cNvPr id="5" name="Rectangle 4"/>
          <p:cNvSpPr/>
          <p:nvPr/>
        </p:nvSpPr>
        <p:spPr>
          <a:xfrm>
            <a:off x="822960" y="4114800"/>
            <a:ext cx="5486400" cy="5486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4297680"/>
            <a:ext cx="10058400" cy="2011680"/>
          </a:xfrm>
          <a:prstGeom prst="rect">
            <a:avLst/>
          </a:prstGeom>
          <a:noFill/>
        </p:spPr>
        <p:txBody>
          <a:bodyPr wrap="square">
            <a:spAutoFit/>
          </a:bodyPr>
          <a:lstStyle/>
          <a:p>
            <a:pPr algn="l">
              <a:spcAft>
                <a:spcPts val="800"/>
              </a:spcAft>
            </a:pPr>
            <a:r>
              <a:rPr sz="1600" b="0">
                <a:solidFill>
                  <a:srgbClr val="FFFFFF"/>
                </a:solidFill>
                <a:latin typeface="맑은 고딕"/>
              </a:rPr>
              <a:t>•  인스턴스와 DB 홈</a:t>
            </a:r>
          </a:p>
          <a:p>
            <a:pPr algn="l">
              <a:spcAft>
                <a:spcPts val="800"/>
              </a:spcAft>
            </a:pPr>
            <a:r>
              <a:rPr sz="1600" b="0">
                <a:solidFill>
                  <a:srgbClr val="FFFFFF"/>
                </a:solidFill>
                <a:latin typeface="맑은 고딕"/>
              </a:rPr>
              <a:t>•  Clusterware 해제와 OCR 삭제</a:t>
            </a:r>
          </a:p>
          <a:p>
            <a:pPr algn="l">
              <a:spcAft>
                <a:spcPts val="800"/>
              </a:spcAft>
            </a:pPr>
            <a:r>
              <a:rPr sz="1600" b="0">
                <a:solidFill>
                  <a:srgbClr val="FFFFFF"/>
                </a:solidFill>
                <a:latin typeface="맑은 고딕"/>
              </a:rPr>
              <a:t>•  그리드 홈</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1단계 — dbca -deleteInstance</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살아남는 rac1 에서 실행</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dbca -silent -deleteInstance -instanceName racdb2 -nodeName rac2</a:t>
            </a:r>
          </a:p>
          <a:p>
            <a:pPr algn="l">
              <a:spcAft>
                <a:spcPts val="1000"/>
              </a:spcAft>
            </a:pPr>
            <a:r>
              <a:rPr sz="1700" b="0">
                <a:solidFill>
                  <a:srgbClr val="222222"/>
                </a:solidFill>
                <a:latin typeface="맑은 고딕"/>
              </a:rPr>
              <a:t>•  78.7초</a:t>
            </a:r>
          </a:p>
          <a:p>
            <a:pPr algn="l">
              <a:spcAft>
                <a:spcPts val="1000"/>
              </a:spcAft>
            </a:pPr>
            <a:r>
              <a:rPr sz="1700" b="0">
                <a:solidFill>
                  <a:srgbClr val="222222"/>
                </a:solidFill>
                <a:latin typeface="맑은 고딕"/>
              </a:rPr>
              <a:t>•  스레드 2, 리두 그룹 3·4, UNDOTBS2 삭제</a:t>
            </a:r>
          </a:p>
          <a:p>
            <a:pPr algn="l">
              <a:spcAft>
                <a:spcPts val="1000"/>
              </a:spcAft>
            </a:pPr>
            <a:r>
              <a:rPr sz="1700" b="0">
                <a:solidFill>
                  <a:srgbClr val="222222"/>
                </a:solidFill>
                <a:latin typeface="맑은 고딕"/>
              </a:rPr>
              <a:t>•  서비스 10 → 5</a:t>
            </a:r>
          </a:p>
          <a:p>
            <a:pPr algn="l">
              <a:spcAft>
                <a:spcPts val="1000"/>
              </a:spcAft>
            </a:pPr>
            <a:r>
              <a:rPr sz="1700" b="0">
                <a:solidFill>
                  <a:srgbClr val="222222"/>
                </a:solidFill>
                <a:latin typeface="맑은 고딕"/>
              </a:rPr>
              <a:t>•  CRS 자원 수는 17 그대로 (CARDINALITY_ID 2 → 1)</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2단계 — DB 홈 deinstall</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세 박자 — 줄이고, 지우고, 줄인다</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rac2: -updateNodeList "CLUSTER_NODES={rac2}" -local</a:t>
            </a:r>
          </a:p>
          <a:p>
            <a:pPr algn="l">
              <a:spcAft>
                <a:spcPts val="1000"/>
              </a:spcAft>
            </a:pPr>
            <a:r>
              <a:rPr sz="1700" b="0">
                <a:solidFill>
                  <a:srgbClr val="222222"/>
                </a:solidFill>
                <a:latin typeface="맑은 고딕"/>
              </a:rPr>
              <a:t>•  rac2: deinstall -local -checkonly → 응답 파일 (87.4초)</a:t>
            </a:r>
          </a:p>
          <a:p>
            <a:pPr algn="l">
              <a:spcAft>
                <a:spcPts val="1000"/>
              </a:spcAft>
            </a:pPr>
            <a:r>
              <a:rPr sz="1700" b="0">
                <a:solidFill>
                  <a:srgbClr val="222222"/>
                </a:solidFill>
                <a:latin typeface="맑은 고딕"/>
              </a:rPr>
              <a:t>•  rac2: deinstall -local -silent -paramfile → 7.0GB 삭제 (50.4초)</a:t>
            </a:r>
          </a:p>
          <a:p>
            <a:pPr algn="l">
              <a:spcAft>
                <a:spcPts val="1000"/>
              </a:spcAft>
            </a:pPr>
            <a:r>
              <a:rPr sz="1700" b="0">
                <a:solidFill>
                  <a:srgbClr val="222222"/>
                </a:solidFill>
                <a:latin typeface="맑은 고딕"/>
              </a:rPr>
              <a:t>•  rac1: -updateNodeList "CLUSTER_NODES={rac1}" (-local 없이)</a:t>
            </a:r>
          </a:p>
          <a:p>
            <a:pPr algn="l">
              <a:spcAft>
                <a:spcPts val="1000"/>
              </a:spcAft>
            </a:pPr>
            <a:r>
              <a:rPr sz="1700" b="0">
                <a:solidFill>
                  <a:srgbClr val="222222"/>
                </a:solidFill>
                <a:latin typeface="맑은 고딕"/>
              </a:rPr>
              <a:t>•  응답 파일 DB_UNIQUE_NAME_LIST 가 비어 있어야 한다</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3단계 — Clusterware 해제</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rac2 에서 root 로</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rootcrs.sh -deconfig -force — 172.0초 (TFA 제거 2분)</a:t>
            </a:r>
          </a:p>
          <a:p>
            <a:pPr algn="l">
              <a:spcAft>
                <a:spcPts val="1000"/>
              </a:spcAft>
            </a:pPr>
            <a:r>
              <a:rPr sz="1700" b="0">
                <a:solidFill>
                  <a:srgbClr val="222222"/>
                </a:solidFill>
                <a:latin typeface="맑은 고딕"/>
              </a:rPr>
              <a:t>•  -lastnode 는 붙이지 않는다 — 클러스터 전체 해체가 된다</a:t>
            </a:r>
          </a:p>
          <a:p>
            <a:pPr algn="l">
              <a:spcAft>
                <a:spcPts val="1000"/>
              </a:spcAft>
            </a:pPr>
            <a:r>
              <a:rPr sz="1700" b="0">
                <a:solidFill>
                  <a:srgbClr val="222222"/>
                </a:solidFill>
                <a:latin typeface="맑은 고딕"/>
              </a:rPr>
              <a:t>•  rac1 에서 보면 rac2 Inactive, 목록에는 남음</a:t>
            </a:r>
          </a:p>
          <a:p>
            <a:pPr algn="l">
              <a:spcAft>
                <a:spcPts val="1000"/>
              </a:spcAft>
            </a:pPr>
            <a:r>
              <a:rPr sz="1700" b="0">
                <a:solidFill>
                  <a:srgbClr val="222222"/>
                </a:solidFill>
                <a:latin typeface="맑은 고딕"/>
              </a:rPr>
              <a:t>•  rac2: crsctl check crs → CRS-4047</a:t>
            </a:r>
          </a:p>
          <a:p>
            <a:pPr algn="l">
              <a:spcAft>
                <a:spcPts val="1000"/>
              </a:spcAft>
            </a:pPr>
            <a:r>
              <a:rPr sz="1700" b="0">
                <a:solidFill>
                  <a:srgbClr val="222222"/>
                </a:solidFill>
                <a:latin typeface="맑은 고딕"/>
              </a:rPr>
              <a:t>•  CRS 자원 17 → 16 (rac2-vip 제거)</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4단계 — OCR 에서 노드 삭제</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rac1 에서 root 로</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crsctl delete node -n rac2 → CRS-4661, 1.2초</a:t>
            </a:r>
          </a:p>
          <a:p>
            <a:pPr algn="l">
              <a:spcAft>
                <a:spcPts val="1000"/>
              </a:spcAft>
            </a:pPr>
            <a:r>
              <a:rPr sz="1700" b="0">
                <a:solidFill>
                  <a:srgbClr val="222222"/>
                </a:solidFill>
                <a:latin typeface="맑은 고딕"/>
              </a:rPr>
              <a:t>•  olsnodes → rac1 하나</a:t>
            </a:r>
          </a:p>
          <a:p>
            <a:pPr algn="l">
              <a:spcAft>
                <a:spcPts val="1000"/>
              </a:spcAft>
            </a:pPr>
            <a:r>
              <a:rPr sz="1700" b="0">
                <a:solidFill>
                  <a:srgbClr val="222222"/>
                </a:solidFill>
                <a:latin typeface="맑은 고딕"/>
              </a:rPr>
              <a:t>•  ASM·디스크그룹 자원은 세 칸 그대로, rac2 칸만 OFFLINE</a:t>
            </a:r>
          </a:p>
          <a:p>
            <a:pPr algn="l">
              <a:spcAft>
                <a:spcPts val="1000"/>
              </a:spcAft>
            </a:pPr>
            <a:r>
              <a:rPr sz="1700" b="0">
                <a:solidFill>
                  <a:srgbClr val="222222"/>
                </a:solidFill>
                <a:latin typeface="맑은 고딕"/>
              </a:rPr>
              <a:t>•  Flex ASM 카디널리티 3 은 노드 수와 무관</a:t>
            </a:r>
          </a:p>
          <a:p>
            <a:pPr algn="l">
              <a:spcAft>
                <a:spcPts val="1000"/>
              </a:spcAft>
            </a:pPr>
            <a:r>
              <a:rPr sz="1700" b="0">
                <a:solidFill>
                  <a:srgbClr val="222222"/>
                </a:solidFill>
                <a:latin typeface="맑은 고딕"/>
              </a:rPr>
              <a:t>•  racdb1 은 계속 Open</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5단계 — 그리드 홈 deinstall</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이제 Standalone Server 로 보인다</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rac2: -updateNodeList "CLUSTER_NODES={rac2}" CRS=TRUE -local</a:t>
            </a:r>
          </a:p>
          <a:p>
            <a:pPr algn="l">
              <a:spcAft>
                <a:spcPts val="1000"/>
              </a:spcAft>
            </a:pPr>
            <a:r>
              <a:rPr sz="1700" b="0">
                <a:solidFill>
                  <a:srgbClr val="222222"/>
                </a:solidFill>
                <a:latin typeface="맑은 고딕"/>
              </a:rPr>
              <a:t>•  deinstall -checkonly → "Grid Infrastructure for a Standalone Server"</a:t>
            </a:r>
          </a:p>
          <a:p>
            <a:pPr algn="l">
              <a:spcAft>
                <a:spcPts val="1000"/>
              </a:spcAft>
            </a:pPr>
            <a:r>
              <a:rPr sz="1700" b="0">
                <a:solidFill>
                  <a:srgbClr val="222222"/>
                </a:solidFill>
                <a:latin typeface="맑은 고딕"/>
              </a:rPr>
              <a:t>•  응답 파일 HOME_TYPE=SIHA, CRS_HOME=false</a:t>
            </a:r>
          </a:p>
          <a:p>
            <a:pPr algn="l">
              <a:spcAft>
                <a:spcPts val="1000"/>
              </a:spcAft>
            </a:pPr>
            <a:r>
              <a:rPr sz="1700" b="0">
                <a:solidFill>
                  <a:srgbClr val="222222"/>
                </a:solidFill>
                <a:latin typeface="맑은 고딕"/>
              </a:rPr>
              <a:t>•  deinstall 7.4초 + rootdeinstall.sh 29.6초</a:t>
            </a:r>
          </a:p>
          <a:p>
            <a:pPr algn="l">
              <a:spcAft>
                <a:spcPts val="1000"/>
              </a:spcAft>
            </a:pPr>
            <a:r>
              <a:rPr sz="1700" b="0">
                <a:solidFill>
                  <a:srgbClr val="222222"/>
                </a:solidFill>
                <a:latin typeface="맑은 고딕"/>
              </a:rPr>
              <a:t>•  rac1: -updateNodeList "CLUSTER_NODES={rac1}" CRS=TRUE</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rootdeinstall.sh — completed with errors</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261MB 가 남았다</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Failed to delete ... /u01/app/grid/crsdata/rac2/crf/...</a:t>
            </a:r>
          </a:p>
          <a:p>
            <a:pPr algn="l">
              <a:spcAft>
                <a:spcPts val="1000"/>
              </a:spcAft>
            </a:pPr>
            <a:r>
              <a:rPr sz="1700" b="0">
                <a:solidFill>
                  <a:srgbClr val="222222"/>
                </a:solidFill>
                <a:latin typeface="맑은 고딕"/>
              </a:rPr>
              <a:t>•  crf = 클러스터 상태 모니터(CHM) 저장소</a:t>
            </a:r>
          </a:p>
          <a:p>
            <a:pPr algn="l">
              <a:spcAft>
                <a:spcPts val="1000"/>
              </a:spcAft>
            </a:pPr>
            <a:r>
              <a:rPr sz="1700" b="0">
                <a:solidFill>
                  <a:srgbClr val="222222"/>
                </a:solidFill>
                <a:latin typeface="맑은 고딕"/>
              </a:rPr>
              <a:t>•  디스크 9GB 회수, 그리드 홈은 빈 디렉터리</a:t>
            </a:r>
          </a:p>
          <a:p>
            <a:pPr algn="l">
              <a:spcAft>
                <a:spcPts val="1000"/>
              </a:spcAft>
            </a:pPr>
            <a:r>
              <a:rPr sz="1700" b="0">
                <a:solidFill>
                  <a:srgbClr val="222222"/>
                </a:solidFill>
                <a:latin typeface="맑은 고딕"/>
              </a:rPr>
              <a:t>•  /u01/app/grid 261MB 잔재</a:t>
            </a:r>
          </a:p>
          <a:p>
            <a:pPr algn="l">
              <a:spcAft>
                <a:spcPts val="1000"/>
              </a:spcAft>
            </a:pPr>
            <a:r>
              <a:rPr sz="1700" b="0">
                <a:solidFill>
                  <a:srgbClr val="222222"/>
                </a:solidFill>
                <a:latin typeface="맑은 고딕"/>
              </a:rPr>
              <a:t>•  재추가 때 INS-40111 경고로 돌아온다</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인벤토리 목록 축소의 원칙</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DB 홈과 그리드 홈 모두 같은 세 박자</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지울 노드 — -local 로 자기 자신만 남긴다</a:t>
            </a:r>
          </a:p>
          <a:p>
            <a:pPr algn="l">
              <a:spcAft>
                <a:spcPts val="1000"/>
              </a:spcAft>
            </a:pPr>
            <a:r>
              <a:rPr sz="1700" b="0">
                <a:solidFill>
                  <a:srgbClr val="222222"/>
                </a:solidFill>
                <a:latin typeface="맑은 고딕"/>
              </a:rPr>
              <a:t>•  deinstall -local</a:t>
            </a:r>
          </a:p>
          <a:p>
            <a:pPr algn="l">
              <a:spcAft>
                <a:spcPts val="1000"/>
              </a:spcAft>
            </a:pPr>
            <a:r>
              <a:rPr sz="1700" b="0">
                <a:solidFill>
                  <a:srgbClr val="222222"/>
                </a:solidFill>
                <a:latin typeface="맑은 고딕"/>
              </a:rPr>
              <a:t>•  남는 노드 — -local 없이 남은 노드만 선언</a:t>
            </a:r>
          </a:p>
          <a:p>
            <a:pPr algn="l">
              <a:spcAft>
                <a:spcPts val="1000"/>
              </a:spcAft>
            </a:pPr>
            <a:r>
              <a:rPr sz="1700" b="0">
                <a:solidFill>
                  <a:srgbClr val="222222"/>
                </a:solidFill>
                <a:latin typeface="맑은 고딕"/>
              </a:rPr>
              <a:t>•  각 단계 뒤 두 노드의 inventory.xml 을 직접 연다</a:t>
            </a:r>
          </a:p>
          <a:p>
            <a:pPr algn="l">
              <a:spcAft>
                <a:spcPts val="1000"/>
              </a:spcAft>
            </a:pPr>
            <a:r>
              <a:rPr sz="1700" b="0">
                <a:solidFill>
                  <a:srgbClr val="222222"/>
                </a:solidFill>
                <a:latin typeface="맑은 고딕"/>
              </a:rPr>
              <a:t>•  성공 메시지로는 어느 노드의 무엇이 바뀌었는지 모른다</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2011680"/>
            <a:ext cx="10515600" cy="1097280"/>
          </a:xfrm>
          <a:prstGeom prst="rect">
            <a:avLst/>
          </a:prstGeom>
          <a:noFill/>
        </p:spPr>
        <p:txBody>
          <a:bodyPr wrap="square">
            <a:spAutoFit/>
          </a:bodyPr>
          <a:lstStyle/>
          <a:p>
            <a:pPr algn="l">
              <a:spcAft>
                <a:spcPts val="600"/>
              </a:spcAft>
            </a:pPr>
            <a:r>
              <a:rPr sz="4000" b="1">
                <a:solidFill>
                  <a:srgbClr val="FFFFFF"/>
                </a:solidFill>
                <a:latin typeface="맑은 고딕"/>
              </a:rPr>
              <a:t>18.4</a:t>
            </a:r>
          </a:p>
        </p:txBody>
      </p:sp>
      <p:sp>
        <p:nvSpPr>
          <p:cNvPr id="4" name="TextBox 3"/>
          <p:cNvSpPr txBox="1"/>
          <p:nvPr/>
        </p:nvSpPr>
        <p:spPr>
          <a:xfrm>
            <a:off x="822960" y="3017520"/>
            <a:ext cx="10515600" cy="914400"/>
          </a:xfrm>
          <a:prstGeom prst="rect">
            <a:avLst/>
          </a:prstGeom>
          <a:noFill/>
        </p:spPr>
        <p:txBody>
          <a:bodyPr wrap="square">
            <a:spAutoFit/>
          </a:bodyPr>
          <a:lstStyle/>
          <a:p>
            <a:pPr algn="l">
              <a:spcAft>
                <a:spcPts val="600"/>
              </a:spcAft>
            </a:pPr>
            <a:r>
              <a:rPr sz="2800" b="1">
                <a:solidFill>
                  <a:srgbClr val="FFFFFF"/>
                </a:solidFill>
                <a:latin typeface="맑은 고딕"/>
              </a:rPr>
              <a:t>삭제 후 검증</a:t>
            </a:r>
          </a:p>
        </p:txBody>
      </p:sp>
      <p:sp>
        <p:nvSpPr>
          <p:cNvPr id="5" name="Rectangle 4"/>
          <p:cNvSpPr/>
          <p:nvPr/>
        </p:nvSpPr>
        <p:spPr>
          <a:xfrm>
            <a:off x="822960" y="4114800"/>
            <a:ext cx="5486400" cy="5486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4297680"/>
            <a:ext cx="10058400" cy="2011680"/>
          </a:xfrm>
          <a:prstGeom prst="rect">
            <a:avLst/>
          </a:prstGeom>
          <a:noFill/>
        </p:spPr>
        <p:txBody>
          <a:bodyPr wrap="square">
            <a:spAutoFit/>
          </a:bodyPr>
          <a:lstStyle/>
          <a:p>
            <a:pPr algn="l">
              <a:spcAft>
                <a:spcPts val="800"/>
              </a:spcAft>
            </a:pPr>
            <a:r>
              <a:rPr sz="1600" b="0">
                <a:solidFill>
                  <a:srgbClr val="FFFFFF"/>
                </a:solidFill>
                <a:latin typeface="맑은 고딕"/>
              </a:rPr>
              <a:t>•  cluvfy -post nodedel</a:t>
            </a:r>
          </a:p>
          <a:p>
            <a:pPr algn="l">
              <a:spcAft>
                <a:spcPts val="800"/>
              </a:spcAft>
            </a:pPr>
            <a:r>
              <a:rPr sz="1600" b="0">
                <a:solidFill>
                  <a:srgbClr val="FFFFFF"/>
                </a:solidFill>
                <a:latin typeface="맑은 고딕"/>
              </a:rPr>
              <a:t>•  기준선 비교</a:t>
            </a:r>
          </a:p>
          <a:p>
            <a:pPr algn="l">
              <a:spcAft>
                <a:spcPts val="800"/>
              </a:spcAft>
            </a:pPr>
            <a:r>
              <a:rPr sz="1600" b="0">
                <a:solidFill>
                  <a:srgbClr val="FFFFFF"/>
                </a:solidFill>
                <a:latin typeface="맑은 고딕"/>
              </a:rPr>
              <a:t>•  남은 것</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무엇이 바뀌고 무엇이 그대로인가</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OCR 은 새로 만든 것이 아니다</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cluvfy stage -post nodedel -n rac2 → PASSED, 33.7초</a:t>
            </a:r>
          </a:p>
          <a:p>
            <a:pPr algn="l">
              <a:spcAft>
                <a:spcPts val="1000"/>
              </a:spcAft>
            </a:pPr>
            <a:r>
              <a:rPr sz="1700" b="0">
                <a:solidFill>
                  <a:srgbClr val="222222"/>
                </a:solidFill>
                <a:latin typeface="맑은 고딕"/>
              </a:rPr>
              <a:t>•  노드 2 → 1, CRS 자원 17 → 16, -init 13 그대로</a:t>
            </a:r>
          </a:p>
          <a:p>
            <a:pPr algn="l">
              <a:spcAft>
                <a:spcPts val="1000"/>
              </a:spcAft>
            </a:pPr>
            <a:r>
              <a:rPr sz="1700" b="0">
                <a:solidFill>
                  <a:srgbClr val="222222"/>
                </a:solidFill>
                <a:latin typeface="맑은 고딕"/>
              </a:rPr>
              <a:t>•  보팅 디스크 3, OCR ID 665666554 그대로</a:t>
            </a:r>
          </a:p>
          <a:p>
            <a:pPr algn="l">
              <a:spcAft>
                <a:spcPts val="1000"/>
              </a:spcAft>
            </a:pPr>
            <a:r>
              <a:rPr sz="1700" b="0">
                <a:solidFill>
                  <a:srgbClr val="222222"/>
                </a:solidFill>
                <a:latin typeface="맑은 고딕"/>
              </a:rPr>
              <a:t>•  인스턴스 1, 리두 그룹 2, UNDO 1, 서비스 5</a:t>
            </a:r>
          </a:p>
          <a:p>
            <a:pPr algn="l">
              <a:spcAft>
                <a:spcPts val="1000"/>
              </a:spcAft>
            </a:pPr>
            <a:r>
              <a:rPr sz="1700" b="0">
                <a:solidFill>
                  <a:srgbClr val="222222"/>
                </a:solidFill>
                <a:latin typeface="맑은 고딕"/>
              </a:rPr>
              <a:t>•  Type 은 여전히 RAC — 인스턴스가 하나일 뿐</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rac2 에 남은 것</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deinstall 은 오라클이 설치한 것만 지운다</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/etc/oracle — lastgasp, maps 만 (olr.loc·ocr.loc 없음)</a:t>
            </a:r>
          </a:p>
          <a:p>
            <a:pPr algn="l">
              <a:spcAft>
                <a:spcPts val="1000"/>
              </a:spcAft>
            </a:pPr>
            <a:r>
              <a:rPr sz="1700" b="0">
                <a:solidFill>
                  <a:srgbClr val="222222"/>
                </a:solidFill>
                <a:latin typeface="맑은 고딕"/>
              </a:rPr>
              <a:t>•  그리드 홈 — 빈 디렉터리 / /u01/app/grid — 261MB</a:t>
            </a:r>
          </a:p>
          <a:p>
            <a:pPr algn="l">
              <a:spcAft>
                <a:spcPts val="1000"/>
              </a:spcAft>
            </a:pPr>
            <a:r>
              <a:rPr sz="1700" b="0">
                <a:solidFill>
                  <a:srgbClr val="222222"/>
                </a:solidFill>
                <a:latin typeface="맑은 고딕"/>
              </a:rPr>
              <a:t>•  OS 계정·커널 파라미터·SSH·udev — 그대로</a:t>
            </a:r>
          </a:p>
          <a:p>
            <a:pPr algn="l">
              <a:spcAft>
                <a:spcPts val="1000"/>
              </a:spcAft>
            </a:pPr>
            <a:r>
              <a:rPr sz="1700" b="0">
                <a:solidFill>
                  <a:srgbClr val="222222"/>
                </a:solidFill>
                <a:latin typeface="맑은 고딕"/>
              </a:rPr>
              <a:t>•  cvuqdisk RPM — 사라졌다</a:t>
            </a:r>
          </a:p>
          <a:p>
            <a:pPr algn="l">
              <a:spcAft>
                <a:spcPts val="1000"/>
              </a:spcAft>
            </a:pPr>
            <a:r>
              <a:rPr sz="1700" b="0">
                <a:solidFill>
                  <a:srgbClr val="222222"/>
                </a:solidFill>
                <a:latin typeface="맑은 고딕"/>
              </a:rPr>
              <a:t>•  재추가 때 OS 준비를 다시 할 필요는 없다</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2011680"/>
            <a:ext cx="10515600" cy="1097280"/>
          </a:xfrm>
          <a:prstGeom prst="rect">
            <a:avLst/>
          </a:prstGeom>
          <a:noFill/>
        </p:spPr>
        <p:txBody>
          <a:bodyPr wrap="square">
            <a:spAutoFit/>
          </a:bodyPr>
          <a:lstStyle/>
          <a:p>
            <a:pPr algn="l">
              <a:spcAft>
                <a:spcPts val="600"/>
              </a:spcAft>
            </a:pPr>
            <a:r>
              <a:rPr sz="4000" b="1">
                <a:solidFill>
                  <a:srgbClr val="FFFFFF"/>
                </a:solidFill>
                <a:latin typeface="맑은 고딕"/>
              </a:rPr>
              <a:t>18.5</a:t>
            </a:r>
          </a:p>
        </p:txBody>
      </p:sp>
      <p:sp>
        <p:nvSpPr>
          <p:cNvPr id="4" name="TextBox 3"/>
          <p:cNvSpPr txBox="1"/>
          <p:nvPr/>
        </p:nvSpPr>
        <p:spPr>
          <a:xfrm>
            <a:off x="822960" y="3017520"/>
            <a:ext cx="10515600" cy="914400"/>
          </a:xfrm>
          <a:prstGeom prst="rect">
            <a:avLst/>
          </a:prstGeom>
          <a:noFill/>
        </p:spPr>
        <p:txBody>
          <a:bodyPr wrap="square">
            <a:spAutoFit/>
          </a:bodyPr>
          <a:lstStyle/>
          <a:p>
            <a:pPr algn="l">
              <a:spcAft>
                <a:spcPts val="600"/>
              </a:spcAft>
            </a:pPr>
            <a:r>
              <a:rPr sz="2800" b="1">
                <a:solidFill>
                  <a:srgbClr val="FFFFFF"/>
                </a:solidFill>
                <a:latin typeface="맑은 고딕"/>
              </a:rPr>
              <a:t>노드 재추가 — addnode.sh</a:t>
            </a:r>
          </a:p>
        </p:txBody>
      </p:sp>
      <p:sp>
        <p:nvSpPr>
          <p:cNvPr id="5" name="Rectangle 4"/>
          <p:cNvSpPr/>
          <p:nvPr/>
        </p:nvSpPr>
        <p:spPr>
          <a:xfrm>
            <a:off x="822960" y="4114800"/>
            <a:ext cx="5486400" cy="5486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4297680"/>
            <a:ext cx="10058400" cy="2011680"/>
          </a:xfrm>
          <a:prstGeom prst="rect">
            <a:avLst/>
          </a:prstGeom>
          <a:noFill/>
        </p:spPr>
        <p:txBody>
          <a:bodyPr wrap="square">
            <a:spAutoFit/>
          </a:bodyPr>
          <a:lstStyle/>
          <a:p>
            <a:pPr algn="l">
              <a:spcAft>
                <a:spcPts val="800"/>
              </a:spcAft>
            </a:pPr>
            <a:r>
              <a:rPr sz="1600" b="0">
                <a:solidFill>
                  <a:srgbClr val="FFFFFF"/>
                </a:solidFill>
                <a:latin typeface="맑은 고딕"/>
              </a:rPr>
              <a:t>•  사전 점검</a:t>
            </a:r>
          </a:p>
          <a:p>
            <a:pPr algn="l">
              <a:spcAft>
                <a:spcPts val="800"/>
              </a:spcAft>
            </a:pPr>
            <a:r>
              <a:rPr sz="1600" b="0">
                <a:solidFill>
                  <a:srgbClr val="FFFFFF"/>
                </a:solidFill>
                <a:latin typeface="맑은 고딕"/>
              </a:rPr>
              <a:t>•  addnode.sh</a:t>
            </a:r>
          </a:p>
          <a:p>
            <a:pPr algn="l">
              <a:spcAft>
                <a:spcPts val="800"/>
              </a:spcAft>
            </a:pPr>
            <a:r>
              <a:rPr sz="1600" b="0">
                <a:solidFill>
                  <a:srgbClr val="FFFFFF"/>
                </a:solidFill>
                <a:latin typeface="맑은 고딕"/>
              </a:rPr>
              <a:t>•  root.sh</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사전 점검 — PRVG-11550</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cvuqdisk 가 없다</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grid 계정 rac1 → rac2, rac2-priv SSH 확인</a:t>
            </a:r>
          </a:p>
          <a:p>
            <a:pPr algn="l">
              <a:spcAft>
                <a:spcPts val="1000"/>
              </a:spcAft>
            </a:pPr>
            <a:r>
              <a:rPr sz="1700" b="0">
                <a:solidFill>
                  <a:srgbClr val="222222"/>
                </a:solidFill>
                <a:latin typeface="맑은 고딕"/>
              </a:rPr>
              <a:t>•  cluvfy stage -pre nodeadd -n rac2 → FAILED (PRVG-11550), 54.5초</a:t>
            </a:r>
          </a:p>
          <a:p>
            <a:pPr algn="l">
              <a:spcAft>
                <a:spcPts val="1000"/>
              </a:spcAft>
            </a:pPr>
            <a:r>
              <a:rPr sz="1700" b="0">
                <a:solidFill>
                  <a:srgbClr val="222222"/>
                </a:solidFill>
                <a:latin typeface="맑은 고딕"/>
              </a:rPr>
              <a:t>•  rac1 그리드 홈 cv/rpm/cvuqdisk-1.0.10-1.rpm 을 rac2 로</a:t>
            </a:r>
          </a:p>
          <a:p>
            <a:pPr algn="l">
              <a:spcAft>
                <a:spcPts val="1000"/>
              </a:spcAft>
            </a:pPr>
            <a:r>
              <a:rPr sz="1700" b="0">
                <a:solidFill>
                  <a:srgbClr val="222222"/>
                </a:solidFill>
                <a:latin typeface="맑은 고딕"/>
              </a:rPr>
              <a:t>•  CVUQDISK_GRP=oinstall rpm -iv</a:t>
            </a:r>
          </a:p>
          <a:p>
            <a:pPr algn="l">
              <a:spcAft>
                <a:spcPts val="1000"/>
              </a:spcAft>
            </a:pPr>
            <a:r>
              <a:rPr sz="1700" b="0">
                <a:solidFill>
                  <a:srgbClr val="222222"/>
                </a:solidFill>
                <a:latin typeface="맑은 고딕"/>
              </a:rPr>
              <a:t>•  재점검 PASSED, 공유 디스크 8개 접근까지 확인 (56.3초)</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addnode.sh — 그리드 홈</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rac1 에서 grid 로</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addnode.sh -silent "CLUSTER_NEW_NODES={rac2}"</a:t>
            </a:r>
          </a:p>
          <a:p>
            <a:pPr algn="l">
              <a:spcAft>
                <a:spcPts val="1000"/>
              </a:spcAft>
            </a:pPr>
            <a:r>
              <a:rPr sz="1700" b="0">
                <a:solidFill>
                  <a:srgbClr val="222222"/>
                </a:solidFill>
                <a:latin typeface="맑은 고딕"/>
              </a:rPr>
              <a:t>•  "CLUSTER_NEW_VIRTUAL_HOSTNAMES={rac2-vip}"</a:t>
            </a:r>
          </a:p>
          <a:p>
            <a:pPr algn="l">
              <a:spcAft>
                <a:spcPts val="1000"/>
              </a:spcAft>
            </a:pPr>
            <a:r>
              <a:rPr sz="1700" b="0">
                <a:solidFill>
                  <a:srgbClr val="222222"/>
                </a:solidFill>
                <a:latin typeface="맑은 고딕"/>
              </a:rPr>
              <a:t>•  471.2초 (7.9분) — 대부분 6.4GB 복사</a:t>
            </a:r>
          </a:p>
          <a:p>
            <a:pPr algn="l">
              <a:spcAft>
                <a:spcPts val="1000"/>
              </a:spcAft>
            </a:pPr>
            <a:r>
              <a:rPr sz="1700" b="0">
                <a:solidFill>
                  <a:srgbClr val="222222"/>
                </a:solidFill>
                <a:latin typeface="맑은 고딕"/>
              </a:rPr>
              <a:t>•  끝나면 root.sh 실행을 안내한다</a:t>
            </a:r>
          </a:p>
          <a:p>
            <a:pPr algn="l">
              <a:spcAft>
                <a:spcPts val="1000"/>
              </a:spcAft>
            </a:pPr>
            <a:r>
              <a:rPr sz="1700" b="0">
                <a:solidFill>
                  <a:srgbClr val="222222"/>
                </a:solidFill>
                <a:latin typeface="맑은 고딕"/>
              </a:rPr>
              <a:t>•  이 시점의 rac2 — 소프트웨어만 있고 멤버는 아니다</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root.sh — rac2 에서</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이미 있는 클러스터에 붙기만 한다</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136.9초 (2.3분), 화면에는 로그 위치 한 줄</a:t>
            </a:r>
          </a:p>
          <a:p>
            <a:pPr algn="l">
              <a:spcAft>
                <a:spcPts val="1000"/>
              </a:spcAft>
            </a:pPr>
            <a:r>
              <a:rPr sz="1700" b="0">
                <a:solidFill>
                  <a:srgbClr val="222222"/>
                </a:solidFill>
                <a:latin typeface="맑은 고딕"/>
              </a:rPr>
              <a:t>•  OLR 생성 → ohasd 등록 → 스택 기동 → CSS 합류</a:t>
            </a:r>
          </a:p>
          <a:p>
            <a:pPr algn="l">
              <a:spcAft>
                <a:spcPts val="1000"/>
              </a:spcAft>
            </a:pPr>
            <a:r>
              <a:rPr sz="1700" b="0">
                <a:solidFill>
                  <a:srgbClr val="222222"/>
                </a:solidFill>
                <a:latin typeface="맑은 고딕"/>
              </a:rPr>
              <a:t>•  OCR 에 rac2·rac2-vip 등록, +ASM 기동, 디스크그룹 마운트</a:t>
            </a:r>
          </a:p>
          <a:p>
            <a:pPr algn="l">
              <a:spcAft>
                <a:spcPts val="1000"/>
              </a:spcAft>
            </a:pPr>
            <a:r>
              <a:rPr sz="1700" b="0">
                <a:solidFill>
                  <a:srgbClr val="222222"/>
                </a:solidFill>
                <a:latin typeface="맑은 고딕"/>
              </a:rPr>
              <a:t>•  olsnodes → rac2 노드 번호 다시 2</a:t>
            </a:r>
          </a:p>
          <a:p>
            <a:pPr algn="l">
              <a:spcAft>
                <a:spcPts val="1000"/>
              </a:spcAft>
            </a:pPr>
            <a:r>
              <a:rPr sz="1700" b="0">
                <a:solidFill>
                  <a:srgbClr val="222222"/>
                </a:solidFill>
                <a:latin typeface="맑은 고딕"/>
              </a:rPr>
              <a:t>•  ora.racdb.db 는 아직 rac1 한 줄</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2011680"/>
            <a:ext cx="10515600" cy="1097280"/>
          </a:xfrm>
          <a:prstGeom prst="rect">
            <a:avLst/>
          </a:prstGeom>
          <a:noFill/>
        </p:spPr>
        <p:txBody>
          <a:bodyPr wrap="square">
            <a:spAutoFit/>
          </a:bodyPr>
          <a:lstStyle/>
          <a:p>
            <a:pPr algn="l">
              <a:spcAft>
                <a:spcPts val="600"/>
              </a:spcAft>
            </a:pPr>
            <a:r>
              <a:rPr sz="4000" b="1">
                <a:solidFill>
                  <a:srgbClr val="FFFFFF"/>
                </a:solidFill>
                <a:latin typeface="맑은 고딕"/>
              </a:rPr>
              <a:t>18.6</a:t>
            </a:r>
          </a:p>
        </p:txBody>
      </p:sp>
      <p:sp>
        <p:nvSpPr>
          <p:cNvPr id="4" name="TextBox 3"/>
          <p:cNvSpPr txBox="1"/>
          <p:nvPr/>
        </p:nvSpPr>
        <p:spPr>
          <a:xfrm>
            <a:off x="822960" y="3017520"/>
            <a:ext cx="10515600" cy="914400"/>
          </a:xfrm>
          <a:prstGeom prst="rect">
            <a:avLst/>
          </a:prstGeom>
          <a:noFill/>
        </p:spPr>
        <p:txBody>
          <a:bodyPr wrap="square">
            <a:spAutoFit/>
          </a:bodyPr>
          <a:lstStyle/>
          <a:p>
            <a:pPr algn="l">
              <a:spcAft>
                <a:spcPts val="600"/>
              </a:spcAft>
            </a:pPr>
            <a:r>
              <a:rPr sz="2800" b="1">
                <a:solidFill>
                  <a:srgbClr val="FFFFFF"/>
                </a:solidFill>
                <a:latin typeface="맑은 고딕"/>
              </a:rPr>
              <a:t>오류 재현 — 정리가 덜 된 상태에서 재추가</a:t>
            </a:r>
          </a:p>
        </p:txBody>
      </p:sp>
      <p:sp>
        <p:nvSpPr>
          <p:cNvPr id="5" name="Rectangle 4"/>
          <p:cNvSpPr/>
          <p:nvPr/>
        </p:nvSpPr>
        <p:spPr>
          <a:xfrm>
            <a:off x="822960" y="4114800"/>
            <a:ext cx="5486400" cy="5486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4297680"/>
            <a:ext cx="10058400" cy="2011680"/>
          </a:xfrm>
          <a:prstGeom prst="rect">
            <a:avLst/>
          </a:prstGeom>
          <a:noFill/>
        </p:spPr>
        <p:txBody>
          <a:bodyPr wrap="square">
            <a:spAutoFit/>
          </a:bodyPr>
          <a:lstStyle/>
          <a:p>
            <a:pPr algn="l">
              <a:spcAft>
                <a:spcPts val="800"/>
              </a:spcAft>
            </a:pPr>
            <a:r>
              <a:rPr sz="1600" b="0">
                <a:solidFill>
                  <a:srgbClr val="FFFFFF"/>
                </a:solidFill>
                <a:latin typeface="맑은 고딕"/>
              </a:rPr>
              <a:t>•  끊긴 addnode.sh</a:t>
            </a:r>
          </a:p>
          <a:p>
            <a:pPr algn="l">
              <a:spcAft>
                <a:spcPts val="800"/>
              </a:spcAft>
            </a:pPr>
            <a:r>
              <a:rPr sz="1600" b="0">
                <a:solidFill>
                  <a:srgbClr val="FFFFFF"/>
                </a:solidFill>
                <a:latin typeface="맑은 고딕"/>
              </a:rPr>
              <a:t>•  반쪽 홈</a:t>
            </a:r>
          </a:p>
          <a:p>
            <a:pPr algn="l">
              <a:spcAft>
                <a:spcPts val="800"/>
              </a:spcAft>
            </a:pPr>
            <a:r>
              <a:rPr sz="1600" b="0">
                <a:solidFill>
                  <a:srgbClr val="FFFFFF"/>
                </a:solidFill>
                <a:latin typeface="맑은 고딕"/>
              </a:rPr>
              <a:t>•  판단 기준</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첫 addnode.sh 는 20% 에서 끊겼다</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로그로 무슨 일이 있었는지 찾는다</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oraInstall*.out — INS-40111, Copy Files ... in progress</a:t>
            </a:r>
          </a:p>
          <a:p>
            <a:pPr algn="l">
              <a:spcAft>
                <a:spcPts val="1000"/>
              </a:spcAft>
            </a:pPr>
            <a:r>
              <a:rPr sz="1700" b="0">
                <a:solidFill>
                  <a:srgbClr val="222222"/>
                </a:solidFill>
                <a:latin typeface="맑은 고딕"/>
              </a:rPr>
              <a:t>•  addNodeActions*.log — 18:48 에 20% complete 가 마지막</a:t>
            </a:r>
          </a:p>
          <a:p>
            <a:pPr algn="l">
              <a:spcAft>
                <a:spcPts val="1000"/>
              </a:spcAft>
            </a:pPr>
            <a:r>
              <a:rPr sz="1700" b="0">
                <a:solidFill>
                  <a:srgbClr val="222222"/>
                </a:solidFill>
                <a:latin typeface="맑은 고딕"/>
              </a:rPr>
              <a:t>•  rac1 은 18:53 에 다시 부팅</a:t>
            </a:r>
          </a:p>
          <a:p>
            <a:pPr algn="l">
              <a:spcAft>
                <a:spcPts val="1000"/>
              </a:spcAft>
            </a:pPr>
            <a:r>
              <a:rPr sz="1700" b="0">
                <a:solidFill>
                  <a:srgbClr val="222222"/>
                </a:solidFill>
                <a:latin typeface="맑은 고딕"/>
              </a:rPr>
              <a:t>•  복사를 하던 노드가 도중에 내려갔다</a:t>
            </a:r>
          </a:p>
          <a:p>
            <a:pPr algn="l">
              <a:spcAft>
                <a:spcPts val="1000"/>
              </a:spcAft>
            </a:pPr>
            <a:r>
              <a:rPr sz="1700" b="0">
                <a:solidFill>
                  <a:srgbClr val="222222"/>
                </a:solidFill>
                <a:latin typeface="맑은 고딕"/>
              </a:rPr>
              <a:t>•  INS-40111 = 삭제 때 남긴 /u01/app/grid 261MB</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반쪽짜리 그리드 홈</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root.sh 는 있는데 crsctl 이 없다</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그리드 홈 3.1GB (정상 6.4GB)</a:t>
            </a:r>
          </a:p>
          <a:p>
            <a:pPr algn="l">
              <a:spcAft>
                <a:spcPts val="1000"/>
              </a:spcAft>
            </a:pPr>
            <a:r>
              <a:rPr sz="1700" b="0">
                <a:solidFill>
                  <a:srgbClr val="222222"/>
                </a:solidFill>
                <a:latin typeface="맑은 고딕"/>
              </a:rPr>
              <a:t>•  root.sh 있음, bin/crsctl 없음 — 위험한 조합</a:t>
            </a:r>
          </a:p>
          <a:p>
            <a:pPr algn="l">
              <a:spcAft>
                <a:spcPts val="1000"/>
              </a:spcAft>
            </a:pPr>
            <a:r>
              <a:rPr sz="1700" b="0">
                <a:solidFill>
                  <a:srgbClr val="222222"/>
                </a:solidFill>
                <a:latin typeface="맑은 고딕"/>
              </a:rPr>
              <a:t>•  /etc/oracle 에 olr.loc 등이 새로 생겼다</a:t>
            </a:r>
          </a:p>
          <a:p>
            <a:pPr algn="l">
              <a:spcAft>
                <a:spcPts val="1000"/>
              </a:spcAft>
            </a:pPr>
            <a:r>
              <a:rPr sz="1700" b="0">
                <a:solidFill>
                  <a:srgbClr val="222222"/>
                </a:solidFill>
                <a:latin typeface="맑은 고딕"/>
              </a:rPr>
              <a:t>•  /etc/init.d/ohasd 없음, rac1 의 olsnodes 에 rac2 없음</a:t>
            </a:r>
          </a:p>
          <a:p>
            <a:pPr algn="l">
              <a:spcAft>
                <a:spcPts val="1000"/>
              </a:spcAft>
            </a:pPr>
            <a:r>
              <a:rPr sz="1700" b="0">
                <a:solidFill>
                  <a:srgbClr val="222222"/>
                </a:solidFill>
                <a:latin typeface="맑은 고딕"/>
              </a:rPr>
              <a:t>•  파일은 있지만 구성 단계까지는 가지 않았다</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잔재 위에 다시 돌린다</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INS-43055 — Advice is CONTINUE</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두 번째 addnode.sh — 성공, 471.2초</a:t>
            </a:r>
          </a:p>
          <a:p>
            <a:pPr algn="l">
              <a:spcAft>
                <a:spcPts val="1000"/>
              </a:spcAft>
            </a:pPr>
            <a:r>
              <a:rPr sz="1700" b="0">
                <a:solidFill>
                  <a:srgbClr val="222222"/>
                </a:solidFill>
                <a:latin typeface="맑은 고딕"/>
              </a:rPr>
              <a:t>•  INS-40111 (Oracle Base 비어 있지 않음)</a:t>
            </a:r>
          </a:p>
          <a:p>
            <a:pPr algn="l">
              <a:spcAft>
                <a:spcPts val="1000"/>
              </a:spcAft>
            </a:pPr>
            <a:r>
              <a:rPr sz="1700" b="0">
                <a:solidFill>
                  <a:srgbClr val="222222"/>
                </a:solidFill>
                <a:latin typeface="맑은 고딕"/>
              </a:rPr>
              <a:t>•  INS-43055 (홈 자리가 미등록인데 비어 있지 않음 → 덮어씀)</a:t>
            </a:r>
          </a:p>
          <a:p>
            <a:pPr algn="l">
              <a:spcAft>
                <a:spcPts val="1000"/>
              </a:spcAft>
            </a:pPr>
            <a:r>
              <a:rPr sz="1700" b="0">
                <a:solidFill>
                  <a:srgbClr val="222222"/>
                </a:solidFill>
                <a:latin typeface="맑은 고딕"/>
              </a:rPr>
              <a:t>•  반쪽 홈 3.1GB → 6.4GB, crsctl 생김</a:t>
            </a:r>
          </a:p>
          <a:p>
            <a:pPr algn="l">
              <a:spcAft>
                <a:spcPts val="1000"/>
              </a:spcAft>
            </a:pPr>
            <a:r>
              <a:rPr sz="1700" b="0">
                <a:solidFill>
                  <a:srgbClr val="222222"/>
                </a:solidFill>
                <a:latin typeface="맑은 고딕"/>
              </a:rPr>
              <a:t>•  이어진 root.sh 도 정상</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판단 기준</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rac2 에 Clusterware 구성이 남아 있는가</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빈 홈 디렉터리 → 영향 없음</a:t>
            </a:r>
          </a:p>
          <a:p>
            <a:pPr algn="l">
              <a:spcAft>
                <a:spcPts val="1000"/>
              </a:spcAft>
            </a:pPr>
            <a:r>
              <a:rPr sz="1700" b="0">
                <a:solidFill>
                  <a:srgbClr val="222222"/>
                </a:solidFill>
                <a:latin typeface="맑은 고딕"/>
              </a:rPr>
              <a:t>•  ORACLE_BASE 잔재 → INS-40111 경고 / 반쪽 홈 → INS-43055 후 덮어씀</a:t>
            </a:r>
          </a:p>
          <a:p>
            <a:pPr algn="l">
              <a:spcAft>
                <a:spcPts val="1000"/>
              </a:spcAft>
            </a:pPr>
            <a:r>
              <a:rPr sz="1700" b="0">
                <a:solidFill>
                  <a:srgbClr val="222222"/>
                </a:solidFill>
                <a:latin typeface="맑은 고딕"/>
              </a:rPr>
              <a:t>•  cvuqdisk 없음 → PRVG-11550, RPM 재설치</a:t>
            </a:r>
          </a:p>
          <a:p>
            <a:pPr algn="l">
              <a:spcAft>
                <a:spcPts val="1000"/>
              </a:spcAft>
            </a:pPr>
            <a:r>
              <a:rPr sz="1700" b="0">
                <a:solidFill>
                  <a:srgbClr val="222222"/>
                </a:solidFill>
                <a:latin typeface="맑은 고딕"/>
              </a:rPr>
              <a:t>•  ohasd 등록·OLR 까지 → rootcrs.sh -deconfig -force 후 재시도</a:t>
            </a:r>
          </a:p>
          <a:p>
            <a:pPr algn="l">
              <a:spcAft>
                <a:spcPts val="1000"/>
              </a:spcAft>
            </a:pPr>
            <a:r>
              <a:rPr sz="1700" b="0">
                <a:solidFill>
                  <a:srgbClr val="222222"/>
                </a:solidFill>
                <a:latin typeface="맑은 고딕"/>
              </a:rPr>
              <a:t>•  OCR 에 노드 항목 → crsctl delete node 후 재시도</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2011680"/>
            <a:ext cx="10515600" cy="1097280"/>
          </a:xfrm>
          <a:prstGeom prst="rect">
            <a:avLst/>
          </a:prstGeom>
          <a:noFill/>
        </p:spPr>
        <p:txBody>
          <a:bodyPr wrap="square">
            <a:spAutoFit/>
          </a:bodyPr>
          <a:lstStyle/>
          <a:p>
            <a:pPr algn="l">
              <a:spcAft>
                <a:spcPts val="600"/>
              </a:spcAft>
            </a:pPr>
            <a:r>
              <a:rPr sz="4000" b="1">
                <a:solidFill>
                  <a:srgbClr val="FFFFFF"/>
                </a:solidFill>
                <a:latin typeface="맑은 고딕"/>
              </a:rPr>
              <a:t>18.7</a:t>
            </a:r>
          </a:p>
        </p:txBody>
      </p:sp>
      <p:sp>
        <p:nvSpPr>
          <p:cNvPr id="4" name="TextBox 3"/>
          <p:cNvSpPr txBox="1"/>
          <p:nvPr/>
        </p:nvSpPr>
        <p:spPr>
          <a:xfrm>
            <a:off x="822960" y="3017520"/>
            <a:ext cx="10515600" cy="914400"/>
          </a:xfrm>
          <a:prstGeom prst="rect">
            <a:avLst/>
          </a:prstGeom>
          <a:noFill/>
        </p:spPr>
        <p:txBody>
          <a:bodyPr wrap="square">
            <a:spAutoFit/>
          </a:bodyPr>
          <a:lstStyle/>
          <a:p>
            <a:pPr algn="l">
              <a:spcAft>
                <a:spcPts val="600"/>
              </a:spcAft>
            </a:pPr>
            <a:r>
              <a:rPr sz="2800" b="1">
                <a:solidFill>
                  <a:srgbClr val="FFFFFF"/>
                </a:solidFill>
                <a:latin typeface="맑은 고딕"/>
              </a:rPr>
              <a:t>DB 인스턴스 추가</a:t>
            </a:r>
          </a:p>
        </p:txBody>
      </p:sp>
      <p:sp>
        <p:nvSpPr>
          <p:cNvPr id="5" name="Rectangle 4"/>
          <p:cNvSpPr/>
          <p:nvPr/>
        </p:nvSpPr>
        <p:spPr>
          <a:xfrm>
            <a:off x="822960" y="4114800"/>
            <a:ext cx="5486400" cy="5486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4297680"/>
            <a:ext cx="10058400" cy="2011680"/>
          </a:xfrm>
          <a:prstGeom prst="rect">
            <a:avLst/>
          </a:prstGeom>
          <a:noFill/>
        </p:spPr>
        <p:txBody>
          <a:bodyPr wrap="square">
            <a:spAutoFit/>
          </a:bodyPr>
          <a:lstStyle/>
          <a:p>
            <a:pPr algn="l">
              <a:spcAft>
                <a:spcPts val="800"/>
              </a:spcAft>
            </a:pPr>
            <a:r>
              <a:rPr sz="1600" b="0">
                <a:solidFill>
                  <a:srgbClr val="FFFFFF"/>
                </a:solidFill>
                <a:latin typeface="맑은 고딕"/>
              </a:rPr>
              <a:t>•  DB 홈 확장</a:t>
            </a:r>
          </a:p>
          <a:p>
            <a:pPr algn="l">
              <a:spcAft>
                <a:spcPts val="800"/>
              </a:spcAft>
            </a:pPr>
            <a:r>
              <a:rPr sz="1600" b="0">
                <a:solidFill>
                  <a:srgbClr val="FFFFFF"/>
                </a:solidFill>
                <a:latin typeface="맑은 고딕"/>
              </a:rPr>
              <a:t>•  dbca -addInstance</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DB 홈 addnode.sh</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oracle 계정으로, VIP 인자 없이</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addnode.sh -silent "CLUSTER_NEW_NODES={rac2}"</a:t>
            </a:r>
          </a:p>
          <a:p>
            <a:pPr algn="l">
              <a:spcAft>
                <a:spcPts val="1000"/>
              </a:spcAft>
            </a:pPr>
            <a:r>
              <a:rPr sz="1700" b="0">
                <a:solidFill>
                  <a:srgbClr val="222222"/>
                </a:solidFill>
                <a:latin typeface="맑은 고딕"/>
              </a:rPr>
              <a:t>•  545.7초 (9.1분) — 7GB 로 그리드 홈보다 크다</a:t>
            </a:r>
          </a:p>
          <a:p>
            <a:pPr algn="l">
              <a:spcAft>
                <a:spcPts val="1000"/>
              </a:spcAft>
            </a:pPr>
            <a:r>
              <a:rPr sz="1700" b="0">
                <a:solidFill>
                  <a:srgbClr val="222222"/>
                </a:solidFill>
                <a:latin typeface="맑은 고딕"/>
              </a:rPr>
              <a:t>•  경고 없음 — rac2 쪽 자리가 비어 있었다</a:t>
            </a:r>
          </a:p>
          <a:p>
            <a:pPr algn="l">
              <a:spcAft>
                <a:spcPts val="1000"/>
              </a:spcAft>
            </a:pPr>
            <a:r>
              <a:rPr sz="1700" b="0">
                <a:solidFill>
                  <a:srgbClr val="222222"/>
                </a:solidFill>
                <a:latin typeface="맑은 고딕"/>
              </a:rPr>
              <a:t>•  rac2 에서 DB 홈 root.sh — 클러스터 구성은 건드리지 않는다</a:t>
            </a:r>
          </a:p>
          <a:p>
            <a:pPr algn="l">
              <a:spcAft>
                <a:spcPts val="1000"/>
              </a:spcAft>
            </a:pPr>
            <a:r>
              <a:rPr sz="1700" b="0">
                <a:solidFill>
                  <a:srgbClr val="222222"/>
                </a:solidFill>
                <a:latin typeface="맑은 고딕"/>
              </a:rPr>
              <a:t>•  홈마다 그 소유자로 addnode.sh 를 돌린다</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dbca -addInstance</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삭제 때 지운 것을 되살린다</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dbca -silent -addInstance -nodeName rac2 -instanceName racdb2</a:t>
            </a:r>
          </a:p>
          <a:p>
            <a:pPr algn="l">
              <a:spcAft>
                <a:spcPts val="1000"/>
              </a:spcAft>
            </a:pPr>
            <a:r>
              <a:rPr sz="1700" b="0">
                <a:solidFill>
                  <a:srgbClr val="222222"/>
                </a:solidFill>
                <a:latin typeface="맑은 고딕"/>
              </a:rPr>
              <a:t>•  109.9초 (1.8분), 실행은 rac1</a:t>
            </a:r>
          </a:p>
          <a:p>
            <a:pPr algn="l">
              <a:spcAft>
                <a:spcPts val="1000"/>
              </a:spcAft>
            </a:pPr>
            <a:r>
              <a:rPr sz="1700" b="0">
                <a:solidFill>
                  <a:srgbClr val="222222"/>
                </a:solidFill>
                <a:latin typeface="맑은 고딕"/>
              </a:rPr>
              <a:t>•  스레드 2 PUBLIC, 리두 그룹 3·4 (200MB), UNDOTBS2</a:t>
            </a:r>
          </a:p>
          <a:p>
            <a:pPr algn="l">
              <a:spcAft>
                <a:spcPts val="1000"/>
              </a:spcAft>
            </a:pPr>
            <a:r>
              <a:rPr sz="1700" b="0">
                <a:solidFill>
                  <a:srgbClr val="222222"/>
                </a:solidFill>
                <a:latin typeface="맑은 고딕"/>
              </a:rPr>
              <a:t>•  srvctl config → racdb1,racdb2 / rac1,rac2</a:t>
            </a:r>
          </a:p>
          <a:p>
            <a:pPr algn="l">
              <a:spcAft>
                <a:spcPts val="1000"/>
              </a:spcAft>
            </a:pPr>
            <a:r>
              <a:rPr sz="1700" b="0">
                <a:solidFill>
                  <a:srgbClr val="222222"/>
                </a:solidFill>
                <a:latin typeface="맑은 고딕"/>
              </a:rPr>
              <a:t>•  손으로 하면 — add logfile thread 2, enable thread, undo, sid=, srvctl add instance</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2011680"/>
            <a:ext cx="10515600" cy="1097280"/>
          </a:xfrm>
          <a:prstGeom prst="rect">
            <a:avLst/>
          </a:prstGeom>
          <a:noFill/>
        </p:spPr>
        <p:txBody>
          <a:bodyPr wrap="square">
            <a:spAutoFit/>
          </a:bodyPr>
          <a:lstStyle/>
          <a:p>
            <a:pPr algn="l">
              <a:spcAft>
                <a:spcPts val="600"/>
              </a:spcAft>
            </a:pPr>
            <a:r>
              <a:rPr sz="4000" b="1">
                <a:solidFill>
                  <a:srgbClr val="FFFFFF"/>
                </a:solidFill>
                <a:latin typeface="맑은 고딕"/>
              </a:rPr>
              <a:t>18.8</a:t>
            </a:r>
          </a:p>
        </p:txBody>
      </p:sp>
      <p:sp>
        <p:nvSpPr>
          <p:cNvPr id="4" name="TextBox 3"/>
          <p:cNvSpPr txBox="1"/>
          <p:nvPr/>
        </p:nvSpPr>
        <p:spPr>
          <a:xfrm>
            <a:off x="822960" y="3017520"/>
            <a:ext cx="10515600" cy="914400"/>
          </a:xfrm>
          <a:prstGeom prst="rect">
            <a:avLst/>
          </a:prstGeom>
          <a:noFill/>
        </p:spPr>
        <p:txBody>
          <a:bodyPr wrap="square">
            <a:spAutoFit/>
          </a:bodyPr>
          <a:lstStyle/>
          <a:p>
            <a:pPr algn="l">
              <a:spcAft>
                <a:spcPts val="600"/>
              </a:spcAft>
            </a:pPr>
            <a:r>
              <a:rPr sz="2800" b="1">
                <a:solidFill>
                  <a:srgbClr val="FFFFFF"/>
                </a:solidFill>
                <a:latin typeface="맑은 고딕"/>
              </a:rPr>
              <a:t>원복 검증</a:t>
            </a:r>
          </a:p>
        </p:txBody>
      </p:sp>
      <p:sp>
        <p:nvSpPr>
          <p:cNvPr id="5" name="Rectangle 4"/>
          <p:cNvSpPr/>
          <p:nvPr/>
        </p:nvSpPr>
        <p:spPr>
          <a:xfrm>
            <a:off x="822960" y="4114800"/>
            <a:ext cx="5486400" cy="5486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4297680"/>
            <a:ext cx="10058400" cy="2011680"/>
          </a:xfrm>
          <a:prstGeom prst="rect">
            <a:avLst/>
          </a:prstGeom>
          <a:noFill/>
        </p:spPr>
        <p:txBody>
          <a:bodyPr wrap="square">
            <a:spAutoFit/>
          </a:bodyPr>
          <a:lstStyle/>
          <a:p>
            <a:pPr algn="l">
              <a:spcAft>
                <a:spcPts val="800"/>
              </a:spcAft>
            </a:pPr>
            <a:r>
              <a:rPr sz="1600" b="0">
                <a:solidFill>
                  <a:srgbClr val="FFFFFF"/>
                </a:solidFill>
                <a:latin typeface="맑은 고딕"/>
              </a:rPr>
              <a:t>•  기준선 비교</a:t>
            </a:r>
          </a:p>
          <a:p>
            <a:pPr algn="l">
              <a:spcAft>
                <a:spcPts val="800"/>
              </a:spcAft>
            </a:pPr>
            <a:r>
              <a:rPr sz="1600" b="0">
                <a:solidFill>
                  <a:srgbClr val="FFFFFF"/>
                </a:solidFill>
                <a:latin typeface="맑은 고딕"/>
              </a:rPr>
              <a:t>•  인벤토리 이상 징후</a:t>
            </a:r>
          </a:p>
          <a:p>
            <a:pPr algn="l">
              <a:spcAft>
                <a:spcPts val="800"/>
              </a:spcAft>
            </a:pPr>
            <a:r>
              <a:rPr sz="1600" b="0">
                <a:solidFill>
                  <a:srgbClr val="FFFFFF"/>
                </a:solidFill>
                <a:latin typeface="맑은 고딕"/>
              </a:rPr>
              <a:t>•  재부팅 후</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기준선과 비교</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다른 값은 rac2 의 OLR ID 하나</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cluvfy stage -post nodeadd → PRVG-11368 하나, 29.8초</a:t>
            </a:r>
          </a:p>
          <a:p>
            <a:pPr algn="l">
              <a:spcAft>
                <a:spcPts val="1000"/>
              </a:spcAft>
            </a:pPr>
            <a:r>
              <a:rPr sz="1700" b="0">
                <a:solidFill>
                  <a:srgbClr val="222222"/>
                </a:solidFill>
                <a:latin typeface="맑은 고딕"/>
              </a:rPr>
              <a:t>•  노드 2 (번호 1, 2), CRS 자원 17 / -init 13</a:t>
            </a:r>
          </a:p>
          <a:p>
            <a:pPr algn="l">
              <a:spcAft>
                <a:spcPts val="1000"/>
              </a:spcAft>
            </a:pPr>
            <a:r>
              <a:rPr sz="1700" b="0">
                <a:solidFill>
                  <a:srgbClr val="222222"/>
                </a:solidFill>
                <a:latin typeface="맑은 고딕"/>
              </a:rPr>
              <a:t>•  OCR ID 665666554 — 처음부터 끝까지 같다</a:t>
            </a:r>
          </a:p>
          <a:p>
            <a:pPr algn="l">
              <a:spcAft>
                <a:spcPts val="1000"/>
              </a:spcAft>
            </a:pPr>
            <a:r>
              <a:rPr sz="1700" b="0">
                <a:solidFill>
                  <a:srgbClr val="222222"/>
                </a:solidFill>
                <a:latin typeface="맑은 고딕"/>
              </a:rPr>
              <a:t>•  OLR rac2 877385927 → 930016669</a:t>
            </a:r>
          </a:p>
          <a:p>
            <a:pPr algn="l">
              <a:spcAft>
                <a:spcPts val="1000"/>
              </a:spcAft>
            </a:pPr>
            <a:r>
              <a:rPr sz="1700" b="0">
                <a:solidFill>
                  <a:srgbClr val="222222"/>
                </a:solidFill>
                <a:latin typeface="맑은 고딕"/>
              </a:rPr>
              <a:t>•  서비스 10, 인스턴스 2, 리두 그룹 4, UNDO 2</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이상 징후 — 인벤토리는 여전히 rac1 하나</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성공 메시지를 믿으면 안 된다</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olsnodes → rac1, rac2 / inventory.xml → rac1 만</a:t>
            </a:r>
          </a:p>
          <a:p>
            <a:pPr algn="l">
              <a:spcAft>
                <a:spcPts val="1000"/>
              </a:spcAft>
            </a:pPr>
            <a:r>
              <a:rPr sz="1700" b="0">
                <a:solidFill>
                  <a:srgbClr val="222222"/>
                </a:solidFill>
                <a:latin typeface="맑은 고딕"/>
              </a:rPr>
              <a:t>•  addnode.sh 는 "Saving cluster inventory successful"</a:t>
            </a:r>
          </a:p>
          <a:p>
            <a:pPr algn="l">
              <a:spcAft>
                <a:spcPts val="1000"/>
              </a:spcAft>
            </a:pPr>
            <a:r>
              <a:rPr sz="1700" b="0">
                <a:solidFill>
                  <a:srgbClr val="222222"/>
                </a:solidFill>
                <a:latin typeface="맑은 고딕"/>
              </a:rPr>
              <a:t>•  로그 — 세 홈 모두 flags clean, 저장 건너뜀</a:t>
            </a:r>
          </a:p>
          <a:p>
            <a:pPr algn="l">
              <a:spcAft>
                <a:spcPts val="1000"/>
              </a:spcAft>
            </a:pPr>
            <a:r>
              <a:rPr sz="1700" b="0">
                <a:solidFill>
                  <a:srgbClr val="222222"/>
                </a:solidFill>
                <a:latin typeface="맑은 고딕"/>
              </a:rPr>
              <a:t>•  inventory.xml 수정 시각 10-16 18:37 에 멈춤</a:t>
            </a:r>
          </a:p>
          <a:p>
            <a:pPr algn="l">
              <a:spcAft>
                <a:spcPts val="1000"/>
              </a:spcAft>
            </a:pPr>
            <a:r>
              <a:rPr sz="1700" b="0">
                <a:solidFill>
                  <a:srgbClr val="222222"/>
                </a:solidFill>
                <a:latin typeface="맑은 고딕"/>
              </a:rPr>
              <a:t>•  updateNodeList "CLUSTER_NODES={rac1,rac2}" 로 정정</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데이터베이스 계층과 재부팅</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Target OFFLINE 은 관리자가 내린 기록</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RACPDB1 두 인스턴스 READ WRITE, saved state 두 개</a:t>
            </a:r>
          </a:p>
          <a:p>
            <a:pPr algn="l">
              <a:spcAft>
                <a:spcPts val="1000"/>
              </a:spcAft>
            </a:pPr>
            <a:r>
              <a:rPr sz="1700" b="0">
                <a:solidFill>
                  <a:srgbClr val="222222"/>
                </a:solidFill>
                <a:latin typeface="맑은 고딕"/>
              </a:rPr>
              <a:t>•  SCAN 6회 → racdb2 4, racdb1 2</a:t>
            </a:r>
          </a:p>
          <a:p>
            <a:pPr algn="l">
              <a:spcAft>
                <a:spcPts val="1000"/>
              </a:spcAft>
            </a:pPr>
            <a:r>
              <a:rPr sz="1700" b="0">
                <a:solidFill>
                  <a:srgbClr val="222222"/>
                </a:solidFill>
                <a:latin typeface="맑은 고딕"/>
              </a:rPr>
              <a:t>•  재부팅 후 ora.racdb.db 두 칸 모두 OFFLINE</a:t>
            </a:r>
          </a:p>
          <a:p>
            <a:pPr algn="l">
              <a:spcAft>
                <a:spcPts val="1000"/>
              </a:spcAft>
            </a:pPr>
            <a:r>
              <a:rPr sz="1700" b="0">
                <a:solidFill>
                  <a:srgbClr val="222222"/>
                </a:solidFill>
                <a:latin typeface="맑은 고딕"/>
              </a:rPr>
              <a:t>•  srvctl stop 으로 내린 자원은 CRS 가 다시 올리지 않는다</a:t>
            </a:r>
          </a:p>
          <a:p>
            <a:pPr algn="l">
              <a:spcAft>
                <a:spcPts val="1000"/>
              </a:spcAft>
            </a:pPr>
            <a:r>
              <a:rPr sz="1700" b="0">
                <a:solidFill>
                  <a:srgbClr val="222222"/>
                </a:solidFill>
                <a:latin typeface="맑은 고딕"/>
              </a:rPr>
              <a:t>•  srvctl start database → 두 인스턴스 10-28 17:32 동시 기동</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2011680"/>
            <a:ext cx="10515600" cy="1097280"/>
          </a:xfrm>
          <a:prstGeom prst="rect">
            <a:avLst/>
          </a:prstGeom>
          <a:noFill/>
        </p:spPr>
        <p:txBody>
          <a:bodyPr wrap="square">
            <a:spAutoFit/>
          </a:bodyPr>
          <a:lstStyle/>
          <a:p>
            <a:pPr algn="l">
              <a:spcAft>
                <a:spcPts val="600"/>
              </a:spcAft>
            </a:pPr>
            <a:r>
              <a:rPr sz="4000" b="1">
                <a:solidFill>
                  <a:srgbClr val="FFFFFF"/>
                </a:solidFill>
                <a:latin typeface="맑은 고딕"/>
              </a:rPr>
              <a:t>18.9</a:t>
            </a:r>
          </a:p>
        </p:txBody>
      </p:sp>
      <p:sp>
        <p:nvSpPr>
          <p:cNvPr id="4" name="TextBox 3"/>
          <p:cNvSpPr txBox="1"/>
          <p:nvPr/>
        </p:nvSpPr>
        <p:spPr>
          <a:xfrm>
            <a:off x="822960" y="3017520"/>
            <a:ext cx="10515600" cy="914400"/>
          </a:xfrm>
          <a:prstGeom prst="rect">
            <a:avLst/>
          </a:prstGeom>
          <a:noFill/>
        </p:spPr>
        <p:txBody>
          <a:bodyPr wrap="square">
            <a:spAutoFit/>
          </a:bodyPr>
          <a:lstStyle/>
          <a:p>
            <a:pPr algn="l">
              <a:spcAft>
                <a:spcPts val="600"/>
              </a:spcAft>
            </a:pPr>
            <a:r>
              <a:rPr sz="2800" b="1">
                <a:solidFill>
                  <a:srgbClr val="FFFFFF"/>
                </a:solidFill>
                <a:latin typeface="맑은 고딕"/>
              </a:rPr>
              <a:t>다른 방법과 되돌리기</a:t>
            </a:r>
          </a:p>
        </p:txBody>
      </p:sp>
      <p:sp>
        <p:nvSpPr>
          <p:cNvPr id="5" name="Rectangle 4"/>
          <p:cNvSpPr/>
          <p:nvPr/>
        </p:nvSpPr>
        <p:spPr>
          <a:xfrm>
            <a:off x="822960" y="4114800"/>
            <a:ext cx="5486400" cy="5486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4297680"/>
            <a:ext cx="10058400" cy="2011680"/>
          </a:xfrm>
          <a:prstGeom prst="rect">
            <a:avLst/>
          </a:prstGeom>
          <a:noFill/>
        </p:spPr>
        <p:txBody>
          <a:bodyPr wrap="square">
            <a:spAutoFit/>
          </a:bodyPr>
          <a:lstStyle/>
          <a:p>
            <a:pPr algn="l">
              <a:spcAft>
                <a:spcPts val="800"/>
              </a:spcAft>
            </a:pPr>
            <a:r>
              <a:rPr sz="1600" b="0">
                <a:solidFill>
                  <a:srgbClr val="FFFFFF"/>
                </a:solidFill>
                <a:latin typeface="맑은 고딕"/>
              </a:rPr>
              <a:t>•  클론</a:t>
            </a:r>
          </a:p>
          <a:p>
            <a:pPr algn="l">
              <a:spcAft>
                <a:spcPts val="800"/>
              </a:spcAft>
            </a:pPr>
            <a:r>
              <a:rPr sz="1600" b="0">
                <a:solidFill>
                  <a:srgbClr val="FFFFFF"/>
                </a:solidFill>
                <a:latin typeface="맑은 고딕"/>
              </a:rPr>
              <a:t>•  실패 시 되돌리기</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클론으로 노드를 넣는 방법</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이 랩에서는 실측하지 않았다</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addnode.sh — 원본 노드 홈을 ssh 로 복사</a:t>
            </a:r>
          </a:p>
          <a:p>
            <a:pPr algn="l">
              <a:spcAft>
                <a:spcPts val="1000"/>
              </a:spcAft>
            </a:pPr>
            <a:r>
              <a:rPr sz="1700" b="0">
                <a:solidFill>
                  <a:srgbClr val="222222"/>
                </a:solidFill>
                <a:latin typeface="맑은 고딕"/>
              </a:rPr>
              <a:t>•  여러 대를 한꺼번에, 또는 원본과 연결이 어려울 때 — 홈을 미리 묶는다</a:t>
            </a:r>
          </a:p>
          <a:p>
            <a:pPr algn="l">
              <a:spcAft>
                <a:spcPts val="1000"/>
              </a:spcAft>
            </a:pPr>
            <a:r>
              <a:rPr sz="1700" b="0">
                <a:solidFill>
                  <a:srgbClr val="222222"/>
                </a:solidFill>
                <a:latin typeface="맑은 고딕"/>
              </a:rPr>
              <a:t>•  19c — gridSetup.sh / runInstaller -createGoldImage</a:t>
            </a:r>
          </a:p>
          <a:p>
            <a:pPr algn="l">
              <a:spcAft>
                <a:spcPts val="1000"/>
              </a:spcAft>
            </a:pPr>
            <a:r>
              <a:rPr sz="1700" b="0">
                <a:solidFill>
                  <a:srgbClr val="222222"/>
                </a:solidFill>
                <a:latin typeface="맑은 고딕"/>
              </a:rPr>
              <a:t>•  예전 clone.pl 방식은 19c 에서 사용 중단 대상</a:t>
            </a:r>
          </a:p>
          <a:p>
            <a:pPr algn="l">
              <a:spcAft>
                <a:spcPts val="1000"/>
              </a:spcAft>
            </a:pPr>
            <a:r>
              <a:rPr sz="1700" b="0">
                <a:solidFill>
                  <a:srgbClr val="222222"/>
                </a:solidFill>
                <a:latin typeface="맑은 고딕"/>
              </a:rPr>
              <a:t>•  옮긴 뒤의 과정은 같다 — root.sh, dbca, 인벤토리 확인</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실패했을 때 되돌리기</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멈춘 지점마다 돌아갈 곳이 다르다</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복사 중 → 잔재 둔 채 addnode.sh 재실행</a:t>
            </a:r>
          </a:p>
          <a:p>
            <a:pPr algn="l">
              <a:spcAft>
                <a:spcPts val="1000"/>
              </a:spcAft>
            </a:pPr>
            <a:r>
              <a:rPr sz="1700" b="0">
                <a:solidFill>
                  <a:srgbClr val="222222"/>
                </a:solidFill>
                <a:latin typeface="맑은 고딕"/>
              </a:rPr>
              <a:t>•  root.sh 도중 → rootcrs.sh -deconfig -force, 필요하면 delete node</a:t>
            </a:r>
          </a:p>
          <a:p>
            <a:pPr algn="l">
              <a:spcAft>
                <a:spcPts val="1000"/>
              </a:spcAft>
            </a:pPr>
            <a:r>
              <a:rPr sz="1700" b="0">
                <a:solidFill>
                  <a:srgbClr val="222222"/>
                </a:solidFill>
                <a:latin typeface="맑은 고딕"/>
              </a:rPr>
              <a:t>•  dbca 도중 → dbca -deleteInstance 후 다시</a:t>
            </a:r>
          </a:p>
          <a:p>
            <a:pPr algn="l">
              <a:spcAft>
                <a:spcPts val="1000"/>
              </a:spcAft>
            </a:pPr>
            <a:r>
              <a:rPr sz="1700" b="0">
                <a:solidFill>
                  <a:srgbClr val="222222"/>
                </a:solidFill>
                <a:latin typeface="맑은 고딕"/>
              </a:rPr>
              <a:t>•  OCR 손상 → ocrconfig -restore (5장 절차)</a:t>
            </a:r>
          </a:p>
          <a:p>
            <a:pPr algn="l">
              <a:spcAft>
                <a:spcPts val="1000"/>
              </a:spcAft>
            </a:pPr>
            <a:r>
              <a:rPr sz="1700" b="0">
                <a:solidFill>
                  <a:srgbClr val="222222"/>
                </a:solidFill>
                <a:latin typeface="맑은 고딕"/>
              </a:rPr>
              <a:t>•  VM 스냅샷은 공유 디스크의 OCR 을 되돌리지 못한다</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이 장의 점검 항목</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olsnodes 와 inventory.xml 을 나란히</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작업 전 — 인벤토리 노드 목록, OCR 수동 백업</a:t>
            </a:r>
          </a:p>
          <a:p>
            <a:pPr algn="l">
              <a:spcAft>
                <a:spcPts val="1000"/>
              </a:spcAft>
            </a:pPr>
            <a:r>
              <a:rPr sz="1700" b="0">
                <a:solidFill>
                  <a:srgbClr val="222222"/>
                </a:solidFill>
                <a:latin typeface="맑은 고딕"/>
              </a:rPr>
              <a:t>•  삭제 후 — cluvfy -post nodedel, rac2 잔재와 cvuqdisk</a:t>
            </a:r>
          </a:p>
          <a:p>
            <a:pPr algn="l">
              <a:spcAft>
                <a:spcPts val="1000"/>
              </a:spcAft>
            </a:pPr>
            <a:r>
              <a:rPr sz="1700" b="0">
                <a:solidFill>
                  <a:srgbClr val="222222"/>
                </a:solidFill>
                <a:latin typeface="맑은 고딕"/>
              </a:rPr>
              <a:t>•  추가 전 — cluvfy -pre nodeadd</a:t>
            </a:r>
          </a:p>
          <a:p>
            <a:pPr algn="l">
              <a:spcAft>
                <a:spcPts val="1000"/>
              </a:spcAft>
            </a:pPr>
            <a:r>
              <a:rPr sz="1700" b="0">
                <a:solidFill>
                  <a:srgbClr val="222222"/>
                </a:solidFill>
                <a:latin typeface="맑은 고딕"/>
              </a:rPr>
              <a:t>•  추가 후 — 자원·OCR·OLR 기준선 대조</a:t>
            </a:r>
          </a:p>
          <a:p>
            <a:pPr algn="l">
              <a:spcAft>
                <a:spcPts val="1000"/>
              </a:spcAft>
            </a:pPr>
            <a:r>
              <a:rPr sz="1700" b="0">
                <a:solidFill>
                  <a:srgbClr val="222222"/>
                </a:solidFill>
                <a:latin typeface="맑은 고딕"/>
              </a:rPr>
              <a:t>•  추가 후 — inventory.xml NODE_LIST, PDB saved state</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다음 장으로</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RAC One Node</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18장 — 노드를 빼고 다시 넣었다</a:t>
            </a:r>
          </a:p>
          <a:p>
            <a:pPr algn="l">
              <a:spcAft>
                <a:spcPts val="1000"/>
              </a:spcAft>
            </a:pPr>
            <a:r>
              <a:rPr sz="1700" b="0">
                <a:solidFill>
                  <a:srgbClr val="222222"/>
                </a:solidFill>
                <a:latin typeface="맑은 고딕"/>
              </a:rPr>
              <a:t>•  19장 — 노드는 둘인데 인스턴스는 하나만 돈다</a:t>
            </a:r>
          </a:p>
          <a:p>
            <a:pPr algn="l">
              <a:spcAft>
                <a:spcPts val="1000"/>
              </a:spcAft>
            </a:pPr>
            <a:r>
              <a:rPr sz="1700" b="0">
                <a:solidFill>
                  <a:srgbClr val="222222"/>
                </a:solidFill>
                <a:latin typeface="맑은 고딕"/>
              </a:rPr>
              <a:t>•  srvctl convert database -dbtype RACONENODE</a:t>
            </a:r>
          </a:p>
          <a:p>
            <a:pPr algn="l">
              <a:spcAft>
                <a:spcPts val="1000"/>
              </a:spcAft>
            </a:pPr>
            <a:r>
              <a:rPr sz="1700" b="0">
                <a:solidFill>
                  <a:srgbClr val="222222"/>
                </a:solidFill>
                <a:latin typeface="맑은 고딕"/>
              </a:rPr>
              <a:t>•  온라인 재배치 srvctl relocate database</a:t>
            </a:r>
          </a:p>
          <a:p>
            <a:pPr algn="l">
              <a:spcAft>
                <a:spcPts val="1000"/>
              </a:spcAft>
            </a:pPr>
            <a:r>
              <a:rPr sz="1700" b="0">
                <a:solidFill>
                  <a:srgbClr val="222222"/>
                </a:solidFill>
                <a:latin typeface="맑은 고딕"/>
              </a:rPr>
              <a:t>•  끝에서 다시 RAC 로 되돌린다</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
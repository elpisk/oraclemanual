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대기 이벤트 분석의 첫 태도는 '이벤트는 증상이지 원인이 아니다'라는 것이다. db file sequential read가 상위라고 디스크만 의심하면 진단이 관찰에서 멈춘다. 던져야 할 질문은 그 읽기를 유발한 SQL이 무엇이고 실행 계획이 적절한가다. 그리고 상위 목록은 반드시 총 대기 시간으로 줄을 세운다. 횟수가 많아도 한 번이 짧으면 영향은 작기 때문이다. 실측에서 control file sequential read는 8만 6천 회지만 대기 시간은 1초로 미미했다.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대기 이벤트를 보는 뷰는 역할이 다르다. V$SESSION은 지금 이 순간 각 세션이 무엇을 기다리는지의 스냅사진이고, V$SYSTEM_EVENT는 기동 이후 누적이며, V$EVENT_NAME은 이벤트 이름과 클래스를 정의한 사전이다. 이 조회는 현재 순간의 것이라 매초 바뀐다. 몇 개 세션이 무엇을 기다리는지는 보여주지만 그동안의 누적 영향은 알려주지 않는다. 누적을 봐야 인스턴스가 그동안 어디에 시간을 썼는지가 드러난다.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V$EVENT_NAME으로 클래스별 이벤트 개수를 세면 오라클의 범주 지형이 보인다. Other가 1394개로 가장 많지만 이는 개수일 뿐 대기 시간이 아니다. 분류가 애매한 내부용 서랍이다. 우리가 실제로 주목하는 것은 User I/O, System I/O, Concurrency, Commit, Application 다섯 클래스다. Idle은 140개나 되지만 노는 시간이라 병목 분석에서 통째로 제외한다. 클래스가 곧 진단의 첫 언어다.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지표를 함께 읽어야 하는 이유를 실측으로 짚는다. control file sequential read는 총 8만 6천 회 발생했지만 총 대기 시간은 1초에 불과하다. 한 번에 짧게 끝나는 읽기가 대량으로 일어났을 뿐 부담은 미미하다. 반대로 SQL*Net vector data to client는 3974회로 횟수는 적지만 총 대기 시간이 358초로 가장 크다. 한 번의 전송이 그만큼 무거웠다. 횟수 기준으로 정렬했다면 control file이 맨 위에 올라 엉뚱한 곳을 팠을 것이다. 그래서 대기 이벤트는 언제나 총 대기 시간으로 줄을 세우고 평균으로 성격을 판별한다.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 file sequential read는 단일 블록 읽기다. 한 번에 블록 하나만 읽어 버퍼의 한 자리에 담는다. 인덱스를 타고 ROWID로 행을 찾을 때 발생한다. 이름의 sequential은 버퍼에 순차 배치한다는 뜻이지 디스크를 순차로 훑는다는 게 아니다. db file scattered read는 다중 블록 읽기로, 한 요청에 여러 블록을 읽어 버퍼 캐시의 흩어진 빈 자리에 담아 scattered다. 풀 테이블 스캔에서 발생한다. 정리하면 sequential은 인덱스, scattered는 풀스캔이다.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실측에서 db file sequential read가 1만 7천 회 52초로 scattered read 1675회 13초보다 훨씬 크다. 인덱스 기반 단일 블록 접근이 지배적이었다는 뜻이고, OLTP 성격에서는 정상일 수 있다. 반대로 scattered가 sequential을 압도한다면 대량 풀스캔이 성능을 지배한다는 신호이므로 인덱스 부재나 옵티마이저의 인덱스 외면을 SQL 단위로 파고든다. 어느 쪽이든 다음 수순은 V$SQL을 disk_reads 순으로 정렬해 그 읽기를 유발한 SQL을 지목하는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 file 계열을 만나면 순서는 늘 같다. 먼저 이벤트로 접근 경로의 성격을 판정하고, V$SQL을 disk_reads 순으로 정렬해 그 읽기를 일으킨 SQL을 지목한 다음, 그 SQL 하나의 실행 계획을 본다. 인덱스가 있어야 할 조건절에 풀스캔이 돈다면 인덱스 설계로, 이미 인덱스를 타는데 단일 블록 읽기가 과하면 조인 순서나 반복 조회 구조로 시선을 옮긴다. 결론이 SQL 한 문장을 고쳐 쓴다로 나면 SQL 튜닝 과정으로 인계한다.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buffer busy waits는 여러 프로세스가 버퍼 캐시의 같은 블록에 동시 접근하려다 부딪혀 기다리는 동시성 문제다. db file read가 디스크에서 블록을 못 가져와 기다리는 것이라면, buffer busy는 블록은 이미 메모리에 있거나 올라오는 중인데 다른 세션의 작업이 끝나길 기다리는 것이다. 그래서 처방은 디스크를 빠르게가 아니라 경합을 분산하는 쪽이다. 순차 증가 기본키를 역키 인덱스로, 핫 세그먼트를 해시 파티션으로 쪼개 여러 블록으로 흩어 놓는다.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경합이 어느 세그먼트에서 나는지는 V$SEGMENT_STATISTICS가 가장 직접적이다. 세그먼트별로 logical reads, physical reads 통계를 누적하므로 이 값이 큰 세그먼트가 부하와 경합의 진원지다. 실측에서 MEDICAL_CLAIMS와 CLAIM_DETAILS가 논리 읽기에서 압도적이다. 각각 약 2.25억, 1.23억이다. 이렇게 자주 접근되는 핫 세그먼트가 동시성이 높아지면 바로 buffer busy waits가 터지는 곳이다. physical reads 상위는 캐시에 다 담기지 못하는 세그먼트를 가리킨다.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특정 세션이 지금 buffer busy waits로 멈춰 있다면 그 세션이 어느 객체에서 막혔는지를 V$SESSION의 ROW_WAIT_OBJ#로 즉시 특정할 수 있다. 그 값으로 DBA_OBJECTS를 조회하면 정확한 세그먼트가 나온다. 여기서는 SQLT.REVIEW_LOG_WL 테이블이다. 대응 순서는 V$WAITSTAT로 블록 클래스를 확인하고, V$SEGMENT_STATISTICS로 상위 세그먼트를 지목하고, ROW_WAIT_OBJ#로 지금 막힌 객체를 확인한 뒤, 블록 클래스에 맞는 처방을 적용하는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buffer busy waits를 만나면 어느 블록 클래스에서 났는지를 V$WAITSTAT로 먼저 본다. data block은 테이블 인덱스 데이터 블록 경합으로 대상 세그먼트의 동시 DML을 분산해야 하고, segment header 경합이면 동시 INSERT가 세그먼트 헤더의 공간 관리 구조를 놓고 다투는 것이니 자동 세그먼트 공간 관리 ASSM 사용 여부를 확인하고, undo header나 undo block이 크면 읽기 일관성을 위한 언두 재구성 경합이므로 언두 테이블스페이스 구성을 본다. 클래스가 곧 대응의 갈림길이다. 클래스를 확인한 다음에 세그먼트를 지목하는 순서다.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file sync는 사용자 세션이 커밋 또는 롤백을 실행하면 그 트랜잭션의 리두 정보가 LGWR에 의해 리두 로그 파일에 기록되어야 하고, 서버 프로세스는 그 디스크 쓰기가 끝날 때까지 이 이벤트로 기다린다. 즉 내 커밋의 리두가 디스크에 안전하게 안착하기를 기다리는 시간이다. 커밋이 잦은 시스템에서 반드시 만나는 이벤트이며 Commit 클래스에 속한다. 이 이벤트의 진단은 커밋 빈도와 리두 디스크 속도 두 축으로 갈린다.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file sync는 63826회 53초, 그 짝인 log file parallel write는 64602회 52초였다. 이 둘을 나란히 보는 것이 진단의 열쇠다. log file sync는 커밋한 사용자 세션이 기다리는 시간이고, log file parallel write는 LGWR가 실제로 리두를 디스크에 쓰는 시간이다. 두 값이 거의 같다는 것은 커밋 세션이 기다린 시간의 대부분이 실제 디스크 쓰기 시간이었다는 뜻이다. 만약 sync는 큰데 parallel write가 작다면 디스크는 빠른데 세션이 기다린다는 것이므로 CPU 스케줄링이나 과도한 커밋 횟수를 의심한다.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file sync 진단은 평균 대기 시간으로 갈린다. 평균이 크면 리두 로그 디스크가 느린 것이니 디스크 경합을 확인하고 필요하면 더 빠른 디스크로 옮기거나 리두를 키운다. 평균은 작은데 횟수가 매우 많으면 애플리케이션이 너무 자주 커밋하는 것이고, 이 경우가 실무에서 훨씬 흔하다. 실측의 63826회는 부하 스크립트가 행마다 커밋하는 패턴을 만든 결과다. 올바른 처방은 커밋을 N건마다 모아서 하기이지 디스크를 바꾸는 게 아니다. log file sync가 상위라고 무조건 디스크를 의심하지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리두 계열에는 log file sync 말고도 함께 봐야 할 이벤트가 있다. 실측에서도 세션 하나가 log file switch completion을 대기하고 있었다. Configuration 클래스다. 현재 리두 로그 그룹이 가득 차 다음 그룹으로 전환되기를 기다리는 상황으로, 리두 로그 그룹이 너무 작거나 개수가 부족할 때 또는 체크포인트 아카이브가 전환을 못 따라올 때 발생한다. 처방은 리두 로그를 키우거나 그룹 수를 늘리는 것이다. log buffer space는 리두 버퍼가 가득 차 LGWR가 비워 주기를 기다리는 이벤트로 리두 생성 속도가 기록 속도를 앞지를 때 나타난다. 이웃 이벤트를 함께 보면 커밋 대기의 원인을 더 정확히 가른다.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latch와 mutex는 SGA 공유 메모리 구조를 아주 짧은 순간 보호하는 경량 잠금이다. 정상 상태에서는 마이크로초 단위로 잡았다 놓아 대기가 거의 없다. 전통적으로 latch로 보호했지만 라이브러리 캐시처럼 빈번히 접근되는 구조에서는 latch가 병목이 되어, 더 가볍고 세밀한 mutex를 도입했다. mutex는 커서 하나마다 둘 수 있어 경합 지점이 잘게 쪼개진다. 이벤트 이름의 S는 공유 모드, X는 배타 모드다. cursor pin S wait on X는 커서를 공유로 고정하려는데 다른 세션이 배타로 쥐고 있어 기다린다는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latch: shared pool이 13156회로 두드러진다. 공유 풀 래치 경합은 거의 언제나 하드 파싱과 짝을 이룬다. 리터럴 값을 그대로 박은 SQL을 반복 실행하면 매번 새 커서를 만들어야 하고 그때마다 공유 풀에서 메모리를 할당 해제하느라 shared pool 래치를 잡는다. 세션이 많아지면 경합이 폭발한다. cursor pin S wait on X와 library cache mutex X도 같은 뿌리, 커서를 파싱 무효화하는 동안의 mutex 경합이다. latch free는 특정 래치를 지목하지 않은 일반 획득 실패로, spin이 CPU를 태워 대기와 CPU를 함께 올린다.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공유 풀 라이브러리 캐시 래치 mutex 경합의 1차 용의자는 과도한 하드 파싱이다. 먼저 V$SQLAREA에서 parse_calls와 version_count가 큰 SQL을 찾는다. 근본 처방은 바인드 변수 사용으로 리터럴을 제거하는 것이다. 즉시 완화가 필요하면 CURSOR_SHARING을 검토하되 부작용을 이해하고 쓴다. V$SYSSTAT의 parse count hard를 초당으로 환산해 300을 넘는지 본다. 넘으면 확장성 문제다. latch mutex는 증상이므로 경합 수치가 아니라 왜 이렇게 파싱이 많은가를 SQL로 파고든다.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enqueue는 latch mutex와 달리 데이터베이스 자원에 대한 더 오래 지속되는 논리적 잠금이다. 가장 흔한 것이 TX 트랜잭션 잠금이고 enq TX row lock contention으로 나타난다. Application 클래스라는 사실이 성격을 말한다. 디스크나 메모리가 아니라 애플리케이션의 잠금 설계 문제다. 행 잠금은 읽기를 막지 않으므로 이 대기는 쓰기 대 쓰기에서만 생긴다. 3장에서 블로킹 세션 597이 596을 막은 관점으로 다뤘다면, 여기서는 같은 현상을 이 대기 이벤트가 어느 세그먼트 어느 SQL에서 발생했는가로 다시 본다.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실측에서 enq TX row lock contention은 105회 8초였다. 횟수는 적어도 Application 클래스에 뜬다는 것 자체가 세션들이 서로의 커밋을 기다리며 직렬화됐다는 신호다. 대기하는 596은 실제로 자원을 기다리며 시간을 쓰지만, 그를 막은 블로커 597은 status가 INACTIVE이고 SQL*Net message from client라는 Idle 이벤트를 대기 중이다. 즉 597은 트랜잭션을 열어 행을 잠근 채 커밋도 롤백도 않고 사용자 입력을 기다리며 놀고 있다. 전형적인 커밋을 잊은 트랜잭션이다. row_wait_obj로 세그먼트를, 597의 sql_id로 잠근 문장을 특정한다.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여러 사용자가 화면이 멈췄다고 신고하고 V$SESSION에 enq TX row lock contention 대기 세션이 여럿 쌓여 있는 상황이다. blocking_session을 타고 올라가니 최종 블로커 한 세션이 INACTIVE 상태로 SQL*Net message from client를 대기 중이다. 트랜잭션을 연 채 방치된 것이다. 조치는 블로커 세션의 사용자를 확인해 커밋 롤백을 유도하고, 방치 세션이면 정책에 따라 정리한다. 근본 처방은 애플리케이션이 트랜잭션을 짧게 유지하고 커밋을 미루지 않도록 고치는 것이다. 대기 세션이 아니라 대기 사슬 맨 끝을 봐야 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대기 이벤트를 처음 보는 사람이 거의 반드시 저지르는 실수가 SQL*Net message from client를 병목으로 지목하는 것이다. 이 이벤트는 V$SYSTEM_EVENT에서 총 대기 시간이 압도적으로 크게 나오기 때문에 맨 위를 보고 최대 병목으로 착각한다. 하지만 이것은 서버가 클라이언트의 다음 요청이 오기를 기다리는 시간, 즉 사용자 생각 시간이다. 데이터베이스가 놀고 있는 유휴 시간이라 Idle 클래스다. 아무리 커도 사용자가 천천히 조작한다는 뜻이지 DB가 느리다는 뜻이 아니다. from client와 to client는 완전히 다르다.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대기 이벤트를 조회할 때는 언제나 Idle 클래스를 제외하는 것을 기본 습관으로 삼는다. 현행 뷰는 대부분 wait_class 컬럼을 직접 제공하므로 방법 1이 간단하다. 방법 2는 V$EVENT_NAME으로 Idle 이벤트를 NOT IN 서브쿼리로 제외한다. 실측에서 SQL*Net message to client는 313388회로 횟수는 크지만 대기 시간은 1초로 작고, SQL*Net vector data to client는 358초로 커서 대량 데이터 전송이 실재했음을 보여준다. 이 필터 한 줄이 있고 없고가 헛다리를 짚느냐 진짜 병목을 보느냐를 가른다.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신입 담당자가 SQL*Net message from client가 전체 대기의 70퍼센트로 최대 병목이라는 진단서를 올리고 네트워크 담당에게 회선 점검을 요청하려는 상황을 생각해 보자. 해당 이벤트는 Idle 클래스다. 데이터베이스가 클라이언트의 다음 요청을 기다린 유휴 시간일 뿐 네트워크나 DB의 병목이 아니다. wait_class 부등호 Idle로 다시 집계하면 그제야 log file sync db file sequential read 같은 진짜 병목이 드러난다. 대기 목록의 맨 위가 Idle 이벤트라면 그것은 병목의 발견이 아니라 필터를 빠뜨렸다는 신호다.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nchor="t">
            <a:spAutoFit/>
          </a:bodyPr>
          <a:lstStyle/>
          <a:p>
            <a:pPr algn="l"/>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nchor="t">
            <a:spAutoFit/>
          </a:bodyPr>
          <a:lstStyle/>
          <a:p>
            <a:pPr algn="l">
              <a:spcAft>
                <a:spcPts val="600"/>
              </a:spcAft>
            </a:pPr>
            <a:r>
              <a:rPr sz="3400" b="1">
                <a:solidFill>
                  <a:srgbClr val="C0392B"/>
                </a:solidFill>
                <a:latin typeface="맑은 고딕"/>
              </a:rPr>
              <a:t>V$ 뷰를 이용한 인스턴스 튜닝 ②</a:t>
            </a:r>
          </a:p>
          <a:p>
            <a:pPr algn="l">
              <a:spcAft>
                <a:spcPts val="600"/>
              </a:spcAft>
            </a:pPr>
            <a:r>
              <a:rPr sz="2000" b="0">
                <a:solidFill>
                  <a:srgbClr val="5A6672"/>
                </a:solidFill>
                <a:latin typeface="맑은 고딕"/>
              </a:rPr>
              <a:t>대기 이벤트 분석 — 증상에서 원천으로</a:t>
            </a:r>
          </a:p>
        </p:txBody>
      </p:sp>
      <p:sp>
        <p:nvSpPr>
          <p:cNvPr id="7" name="TextBox 6"/>
          <p:cNvSpPr txBox="1"/>
          <p:nvPr/>
        </p:nvSpPr>
        <p:spPr>
          <a:xfrm>
            <a:off x="731520" y="4114800"/>
            <a:ext cx="10698480" cy="1097280"/>
          </a:xfrm>
          <a:prstGeom prst="rect">
            <a:avLst/>
          </a:prstGeom>
          <a:noFill/>
        </p:spPr>
        <p:txBody>
          <a:bodyPr wrap="square" anchor="t">
            <a:spAutoFit/>
          </a:bodyPr>
          <a:lstStyle/>
          <a:p>
            <a:pPr algn="l"/>
            <a:r>
              <a:rPr sz="1500" b="0">
                <a:solidFill>
                  <a:srgbClr val="5A6672"/>
                </a:solidFill>
                <a:latin typeface="맑은 고딕"/>
              </a:rPr>
              <a:t>대기 클래스 · db file 계열 · buffer busy · log file sync · latch/mutex · enq: TX · Idle 오판</a:t>
            </a:r>
          </a:p>
        </p:txBody>
      </p:sp>
      <p:sp>
        <p:nvSpPr>
          <p:cNvPr id="8" name="TextBox 7"/>
          <p:cNvSpPr txBox="1"/>
          <p:nvPr/>
        </p:nvSpPr>
        <p:spPr>
          <a:xfrm>
            <a:off x="731520" y="5577840"/>
            <a:ext cx="10698480" cy="914400"/>
          </a:xfrm>
          <a:prstGeom prst="rect">
            <a:avLst/>
          </a:prstGeom>
          <a:noFill/>
        </p:spPr>
        <p:txBody>
          <a:bodyPr wrap="square" anchor="t">
            <a:spAutoFit/>
          </a:bodyPr>
          <a:lstStyle/>
          <a:p>
            <a:pPr algn="l"/>
            <a:r>
              <a:rPr sz="2000" b="1">
                <a:solidFill>
                  <a:srgbClr val="C0392B"/>
                </a:solidFill>
                <a:latin typeface="맑은 고딕"/>
              </a:rPr>
              <a:t>제14장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V$EVENT_NAME의 wait_class로 대기 이벤트를 분류하고 세 뷰(현재·누적·사전)를 구분한다.</a:t>
            </a:r>
          </a:p>
          <a:p>
            <a:pPr algn="l">
              <a:spcAft>
                <a:spcPts val="600"/>
              </a:spcAft>
            </a:pPr>
            <a:r>
              <a:rPr sz="1600" b="0">
                <a:solidFill>
                  <a:srgbClr val="222222"/>
                </a:solidFill>
                <a:latin typeface="맑은 고딕"/>
              </a:rPr>
              <a:t>•  db file sequential(단일 블록)·scattered(다중 블록) read의 차이를 원리로 설명한다.</a:t>
            </a:r>
          </a:p>
          <a:p>
            <a:pPr algn="l">
              <a:spcAft>
                <a:spcPts val="600"/>
              </a:spcAft>
            </a:pPr>
            <a:r>
              <a:rPr sz="1600" b="0">
                <a:solidFill>
                  <a:srgbClr val="222222"/>
                </a:solidFill>
                <a:latin typeface="맑은 고딕"/>
              </a:rPr>
              <a:t>•  buffer busy waits의 원인 세그먼트를 V$SEGMENT_STATISTICS·ROW_WAIT_OBJ#로 지목한다.</a:t>
            </a:r>
          </a:p>
          <a:p>
            <a:pPr algn="l">
              <a:spcAft>
                <a:spcPts val="600"/>
              </a:spcAft>
            </a:pPr>
            <a:r>
              <a:rPr sz="1600" b="0">
                <a:solidFill>
                  <a:srgbClr val="222222"/>
                </a:solidFill>
                <a:latin typeface="맑은 고딕"/>
              </a:rPr>
              <a:t>•  log file sync를 커밋 빈도와 연결해 디스크 문제와 과도한 커밋을 구분한다.</a:t>
            </a:r>
          </a:p>
          <a:p>
            <a:pPr algn="l">
              <a:spcAft>
                <a:spcPts val="600"/>
              </a:spcAft>
            </a:pPr>
            <a:r>
              <a:rPr sz="1600" b="0">
                <a:solidFill>
                  <a:srgbClr val="222222"/>
                </a:solidFill>
                <a:latin typeface="맑은 고딕"/>
              </a:rPr>
              <a:t>•  latch: shared pool·library cache: mutex X 경합을 하드 파싱과 연결해 해석한다.</a:t>
            </a:r>
          </a:p>
          <a:p>
            <a:pPr algn="l">
              <a:spcAft>
                <a:spcPts val="600"/>
              </a:spcAft>
            </a:pPr>
            <a:r>
              <a:rPr sz="1600" b="0">
                <a:solidFill>
                  <a:srgbClr val="222222"/>
                </a:solidFill>
                <a:latin typeface="맑은 고딕"/>
              </a:rPr>
              <a:t>•  enq: TX - row lock contention을 재현하고 blocking_session으로 블로커를 역추적한다.</a:t>
            </a:r>
          </a:p>
          <a:p>
            <a:pPr algn="l">
              <a:spcAft>
                <a:spcPts val="600"/>
              </a:spcAft>
            </a:pPr>
            <a:r>
              <a:rPr sz="1600" b="0">
                <a:solidFill>
                  <a:srgbClr val="222222"/>
                </a:solidFill>
                <a:latin typeface="맑은 고딕"/>
              </a:rPr>
              <a:t>•  SQL*Net message from client 같은 Idle 이벤트를 병목으로 오판하지 않는다.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14.2  대기 이벤트 분류 체계 — V$EVENT_NAME과 대기 클래스</a:t>
            </a:r>
          </a:p>
          <a:p>
            <a:pPr algn="l">
              <a:spcAft>
                <a:spcPts val="600"/>
              </a:spcAft>
            </a:pPr>
            <a:r>
              <a:rPr sz="1600" b="0">
                <a:solidFill>
                  <a:srgbClr val="222222"/>
                </a:solidFill>
                <a:latin typeface="맑은 고딕"/>
              </a:rPr>
              <a:t>•  14.3  db file sequential read와 scattered read</a:t>
            </a:r>
          </a:p>
          <a:p>
            <a:pPr algn="l">
              <a:spcAft>
                <a:spcPts val="600"/>
              </a:spcAft>
            </a:pPr>
            <a:r>
              <a:rPr sz="1600" b="0">
                <a:solidFill>
                  <a:srgbClr val="222222"/>
                </a:solidFill>
                <a:latin typeface="맑은 고딕"/>
              </a:rPr>
              <a:t>•  14.4  buffer busy waits — 원인 세그먼트를 지목하라</a:t>
            </a:r>
          </a:p>
          <a:p>
            <a:pPr algn="l">
              <a:spcAft>
                <a:spcPts val="600"/>
              </a:spcAft>
            </a:pPr>
            <a:r>
              <a:rPr sz="1600" b="0">
                <a:solidFill>
                  <a:srgbClr val="222222"/>
                </a:solidFill>
                <a:latin typeface="맑은 고딕"/>
              </a:rPr>
              <a:t>•  14.5  log file sync — 커밋 빈도가 만드는 대기</a:t>
            </a:r>
          </a:p>
          <a:p>
            <a:pPr algn="l">
              <a:spcAft>
                <a:spcPts val="600"/>
              </a:spcAft>
            </a:pPr>
            <a:r>
              <a:rPr sz="1600" b="0">
                <a:solidFill>
                  <a:srgbClr val="222222"/>
                </a:solidFill>
                <a:latin typeface="맑은 고딕"/>
              </a:rPr>
              <a:t>•  14.6  latch와 mutex 경합 — 라이브러리 캐시의 자물쇠</a:t>
            </a:r>
          </a:p>
          <a:p>
            <a:pPr algn="l">
              <a:spcAft>
                <a:spcPts val="600"/>
              </a:spcAft>
            </a:pPr>
            <a:r>
              <a:rPr sz="1600" b="0">
                <a:solidFill>
                  <a:srgbClr val="222222"/>
                </a:solidFill>
                <a:latin typeface="맑은 고딕"/>
              </a:rPr>
              <a:t>•  14.7  enqueue 대기 — enq: TX - row lock contention</a:t>
            </a:r>
          </a:p>
          <a:p>
            <a:pPr algn="l">
              <a:spcAft>
                <a:spcPts val="600"/>
              </a:spcAft>
            </a:pPr>
            <a:r>
              <a:rPr sz="1600" b="0">
                <a:solidFill>
                  <a:srgbClr val="222222"/>
                </a:solidFill>
                <a:latin typeface="맑은 고딕"/>
              </a:rPr>
              <a:t>•  14.8  Idle 이벤트를 병목으로 오판하지 않기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14.2</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대기 이벤트 분류 체계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대기 이벤트는 증상이다</a:t>
            </a:r>
          </a:p>
          <a:p>
            <a:pPr algn="l">
              <a:spcAft>
                <a:spcPts val="600"/>
              </a:spcAft>
            </a:pPr>
            <a:r>
              <a:rPr sz="1600" b="0">
                <a:solidFill>
                  <a:srgbClr val="FFFFFF"/>
                </a:solidFill>
                <a:latin typeface="맑은 고딕"/>
              </a:rPr>
              <a:t>•  클래스로 큰 방향</a:t>
            </a:r>
          </a:p>
          <a:p>
            <a:pPr algn="l">
              <a:spcAft>
                <a:spcPts val="600"/>
              </a:spcAft>
            </a:pPr>
            <a:r>
              <a:rPr sz="1600" b="0">
                <a:solidFill>
                  <a:srgbClr val="FFFFFF"/>
                </a:solidFill>
                <a:latin typeface="맑은 고딕"/>
              </a:rPr>
              <a:t>•  현재·누적·사전 세 뷰</a:t>
            </a:r>
          </a:p>
          <a:p>
            <a:pPr algn="l">
              <a:spcAft>
                <a:spcPts val="600"/>
              </a:spcAft>
            </a:pPr>
            <a:r>
              <a:rPr sz="1600" b="0">
                <a:solidFill>
                  <a:srgbClr val="FFFFFF"/>
                </a:solidFill>
                <a:latin typeface="맑은 고딕"/>
              </a:rPr>
              <a:t>•  총 대기 시간으로 정렬</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대기 이벤트는 증상이다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이벤트에서 원천으로 한 계단 더</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이벤트 이름은 '어디를 파라'는 이정표일 뿐</a:t>
            </a:r>
          </a:p>
          <a:p>
            <a:pPr algn="l">
              <a:spcAft>
                <a:spcPts val="800"/>
              </a:spcAft>
            </a:pPr>
            <a:r>
              <a:rPr sz="1700" b="0">
                <a:solidFill>
                  <a:srgbClr val="222222"/>
                </a:solidFill>
                <a:latin typeface="맑은 고딕"/>
              </a:rPr>
              <a:t>•  db file read 상위 = '디스크가 느리다'가 아님</a:t>
            </a:r>
          </a:p>
          <a:p>
            <a:pPr algn="l">
              <a:spcAft>
                <a:spcPts val="800"/>
              </a:spcAft>
            </a:pPr>
            <a:r>
              <a:rPr sz="1700" b="0">
                <a:solidFill>
                  <a:srgbClr val="222222"/>
                </a:solidFill>
                <a:latin typeface="맑은 고딕"/>
              </a:rPr>
              <a:t>•  → '어느 SQL이 그 읽기를 유발하나'가 진짜 질문</a:t>
            </a:r>
          </a:p>
          <a:p>
            <a:pPr algn="l">
              <a:spcAft>
                <a:spcPts val="800"/>
              </a:spcAft>
            </a:pPr>
            <a:r>
              <a:rPr sz="1700" b="0">
                <a:solidFill>
                  <a:srgbClr val="222222"/>
                </a:solidFill>
                <a:latin typeface="맑은 고딕"/>
              </a:rPr>
              <a:t>•  정렬은 총 대기 시간(time_waited) 기준</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세 뷰 — 현재·누적·사전 (실측)</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지금 non-Idle 대기 스냅사진</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SUBSTR(event,1,34) event, wait_class,</a:t>
            </a:r>
          </a:p>
          <a:p>
            <a:pPr>
              <a:lnSpc>
                <a:spcPct val="100000"/>
              </a:lnSpc>
              <a:spcAft>
                <a:spcPts val="0"/>
              </a:spcAft>
            </a:pPr>
            <a:r>
              <a:rPr sz="1250">
                <a:solidFill>
                  <a:srgbClr val="F2F2F2"/>
                </a:solidFill>
                <a:latin typeface="Consolas"/>
              </a:rPr>
              <a:t>  2         COUNT(*) sessions</a:t>
            </a:r>
          </a:p>
          <a:p>
            <a:pPr>
              <a:lnSpc>
                <a:spcPct val="100000"/>
              </a:lnSpc>
              <a:spcAft>
                <a:spcPts val="0"/>
              </a:spcAft>
            </a:pPr>
            <a:r>
              <a:rPr sz="1250">
                <a:solidFill>
                  <a:srgbClr val="F2F2F2"/>
                </a:solidFill>
                <a:latin typeface="Consolas"/>
              </a:rPr>
              <a:t>  3       FROM v$session</a:t>
            </a:r>
          </a:p>
          <a:p>
            <a:pPr>
              <a:lnSpc>
                <a:spcPct val="100000"/>
              </a:lnSpc>
              <a:spcAft>
                <a:spcPts val="0"/>
              </a:spcAft>
            </a:pPr>
            <a:r>
              <a:rPr sz="1250">
                <a:solidFill>
                  <a:srgbClr val="F2F2F2"/>
                </a:solidFill>
                <a:latin typeface="Consolas"/>
              </a:rPr>
              <a:t>  4       WHERE wait_class &lt;&gt; 'Idle' AND wait_class IS NOT NULL</a:t>
            </a:r>
          </a:p>
          <a:p>
            <a:pPr>
              <a:lnSpc>
                <a:spcPct val="100000"/>
              </a:lnSpc>
              <a:spcAft>
                <a:spcPts val="0"/>
              </a:spcAft>
            </a:pPr>
            <a:r>
              <a:rPr sz="1250">
                <a:solidFill>
                  <a:srgbClr val="F2F2F2"/>
                </a:solidFill>
                <a:latin typeface="Consolas"/>
              </a:rPr>
              <a:t>  5       GROUP BY event, wait_class ORDER BY COUNT(*) DESC;</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EVENT                        WAIT_CLASS      SESSIONS</a:t>
            </a:r>
          </a:p>
          <a:p>
            <a:pPr>
              <a:lnSpc>
                <a:spcPct val="100000"/>
              </a:lnSpc>
              <a:spcAft>
                <a:spcPts val="0"/>
              </a:spcAft>
            </a:pPr>
            <a:r>
              <a:rPr sz="1250">
                <a:solidFill>
                  <a:srgbClr val="F2F2F2"/>
                </a:solidFill>
                <a:latin typeface="Consolas"/>
              </a:rPr>
              <a:t>---------------------------- --------------- --------</a:t>
            </a:r>
          </a:p>
          <a:p>
            <a:pPr>
              <a:lnSpc>
                <a:spcPct val="100000"/>
              </a:lnSpc>
              <a:spcAft>
                <a:spcPts val="0"/>
              </a:spcAft>
            </a:pPr>
            <a:r>
              <a:rPr sz="1250">
                <a:solidFill>
                  <a:srgbClr val="F2F2F2"/>
                </a:solidFill>
                <a:latin typeface="Consolas"/>
              </a:rPr>
              <a:t>log file single write        System I/O             1</a:t>
            </a:r>
          </a:p>
          <a:p>
            <a:pPr>
              <a:lnSpc>
                <a:spcPct val="100000"/>
              </a:lnSpc>
              <a:spcAft>
                <a:spcPts val="0"/>
              </a:spcAft>
            </a:pPr>
            <a:r>
              <a:rPr sz="1250">
                <a:solidFill>
                  <a:srgbClr val="F2F2F2"/>
                </a:solidFill>
                <a:latin typeface="Consolas"/>
              </a:rPr>
              <a:t>log file switch completion   Configuration          1</a:t>
            </a:r>
          </a:p>
          <a:p>
            <a:pPr>
              <a:lnSpc>
                <a:spcPct val="100000"/>
              </a:lnSpc>
              <a:spcAft>
                <a:spcPts val="0"/>
              </a:spcAft>
            </a:pPr>
            <a:r>
              <a:rPr sz="1250">
                <a:solidFill>
                  <a:srgbClr val="F2F2F2"/>
                </a:solidFill>
                <a:latin typeface="Consolas"/>
              </a:rPr>
              <a:t>buffer busy waits            Concurrency            1</a:t>
            </a:r>
          </a:p>
          <a:p>
            <a:pPr>
              <a:lnSpc>
                <a:spcPct val="100000"/>
              </a:lnSpc>
              <a:spcAft>
                <a:spcPts val="0"/>
              </a:spcAft>
            </a:pPr>
            <a:r>
              <a:rPr sz="1250">
                <a:solidFill>
                  <a:srgbClr val="F2F2F2"/>
                </a:solidFill>
                <a:latin typeface="Consolas"/>
              </a:rPr>
              <a:t>SQL*Net message to client    Network                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대기 클래스 지도</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주목 대상은 다섯 클래스</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User I/O — db file read → SQL·실행 계획</a:t>
            </a:r>
          </a:p>
          <a:p>
            <a:pPr algn="l">
              <a:spcAft>
                <a:spcPts val="800"/>
              </a:spcAft>
            </a:pPr>
            <a:r>
              <a:rPr sz="1700" b="0">
                <a:solidFill>
                  <a:srgbClr val="222222"/>
                </a:solidFill>
                <a:latin typeface="맑은 고딕"/>
              </a:rPr>
              <a:t>•  System I/O — log/control write → 백그라운드·디스크</a:t>
            </a:r>
          </a:p>
          <a:p>
            <a:pPr algn="l">
              <a:spcAft>
                <a:spcPts val="800"/>
              </a:spcAft>
            </a:pPr>
            <a:r>
              <a:rPr sz="1700" b="0">
                <a:solidFill>
                  <a:srgbClr val="222222"/>
                </a:solidFill>
                <a:latin typeface="맑은 고딕"/>
              </a:rPr>
              <a:t>•  Concurrency — buffer busy·latch·mutex → 경합·하드파싱</a:t>
            </a:r>
          </a:p>
          <a:p>
            <a:pPr algn="l">
              <a:spcAft>
                <a:spcPts val="800"/>
              </a:spcAft>
            </a:pPr>
            <a:r>
              <a:rPr sz="1700" b="0">
                <a:solidFill>
                  <a:srgbClr val="222222"/>
                </a:solidFill>
                <a:latin typeface="맑은 고딕"/>
              </a:rPr>
              <a:t>•  Commit — log file sync / Application — enq: TX</a:t>
            </a:r>
          </a:p>
          <a:p>
            <a:pPr algn="l">
              <a:spcAft>
                <a:spcPts val="800"/>
              </a:spcAft>
            </a:pPr>
            <a:r>
              <a:rPr sz="1700" b="0">
                <a:solidFill>
                  <a:srgbClr val="222222"/>
                </a:solidFill>
                <a:latin typeface="맑은 고딕"/>
              </a:rPr>
              <a:t>•  Idle(SQL*Net from client) → 병목 아님, 제외</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세 지표를 함께 읽는다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횟수·총 시간·평균 시간</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total_waits(빈도) · time_waited(영향) · 평균(성격)</a:t>
            </a:r>
          </a:p>
          <a:p>
            <a:pPr algn="l">
              <a:spcAft>
                <a:spcPts val="800"/>
              </a:spcAft>
            </a:pPr>
            <a:r>
              <a:rPr sz="1700" b="0">
                <a:solidFill>
                  <a:srgbClr val="222222"/>
                </a:solidFill>
                <a:latin typeface="맑은 고딕"/>
              </a:rPr>
              <a:t>•  control file sequential read: 86,867회지만 1초 → 무시</a:t>
            </a:r>
          </a:p>
          <a:p>
            <a:pPr algn="l">
              <a:spcAft>
                <a:spcPts val="800"/>
              </a:spcAft>
            </a:pPr>
            <a:r>
              <a:rPr sz="1700" b="0">
                <a:solidFill>
                  <a:srgbClr val="222222"/>
                </a:solidFill>
                <a:latin typeface="맑은 고딕"/>
              </a:rPr>
              <a:t>•  SQL*Net vector data to client: 3,974회지만 358초 → 주목</a:t>
            </a:r>
          </a:p>
          <a:p>
            <a:pPr algn="l">
              <a:spcAft>
                <a:spcPts val="800"/>
              </a:spcAft>
            </a:pPr>
            <a:r>
              <a:rPr sz="1700" b="0">
                <a:solidFill>
                  <a:srgbClr val="222222"/>
                </a:solidFill>
                <a:latin typeface="맑은 고딕"/>
              </a:rPr>
              <a:t>•  '횟수'로 정렬하면 엉뚱한 곳을 판다 → 총 시간 정렬</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14.3</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db file 계열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sequential = 단일 블록</a:t>
            </a:r>
          </a:p>
          <a:p>
            <a:pPr algn="l">
              <a:spcAft>
                <a:spcPts val="600"/>
              </a:spcAft>
            </a:pPr>
            <a:r>
              <a:rPr sz="1600" b="0">
                <a:solidFill>
                  <a:srgbClr val="FFFFFF"/>
                </a:solidFill>
                <a:latin typeface="맑은 고딕"/>
              </a:rPr>
              <a:t>•  scattered = 다중 블록</a:t>
            </a:r>
          </a:p>
          <a:p>
            <a:pPr algn="l">
              <a:spcAft>
                <a:spcPts val="600"/>
              </a:spcAft>
            </a:pPr>
            <a:r>
              <a:rPr sz="1600" b="0">
                <a:solidFill>
                  <a:srgbClr val="FFFFFF"/>
                </a:solidFill>
                <a:latin typeface="맑은 고딕"/>
              </a:rPr>
              <a:t>•  이름이 직관과 반대</a:t>
            </a:r>
          </a:p>
          <a:p>
            <a:pPr algn="l">
              <a:spcAft>
                <a:spcPts val="600"/>
              </a:spcAft>
            </a:pPr>
            <a:r>
              <a:rPr sz="1600" b="0">
                <a:solidFill>
                  <a:srgbClr val="FFFFFF"/>
                </a:solidFill>
                <a:latin typeface="맑은 고딕"/>
              </a:rPr>
              <a:t>•  어느 쪽이 큰지로 접근 추론</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이름과 실제가 반대</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단일 블록 vs 다중 블록</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sequential read = 단일 블록 = 인덱스 접근</a:t>
            </a:r>
          </a:p>
          <a:p>
            <a:pPr algn="l">
              <a:spcAft>
                <a:spcPts val="800"/>
              </a:spcAft>
            </a:pPr>
            <a:r>
              <a:rPr sz="1700" b="0">
                <a:solidFill>
                  <a:srgbClr val="222222"/>
                </a:solidFill>
                <a:latin typeface="맑은 고딕"/>
              </a:rPr>
              <a:t>•    ('버퍼에 순차 배치'라는 뜻, 디스크 순차 아님)</a:t>
            </a:r>
          </a:p>
          <a:p>
            <a:pPr algn="l">
              <a:spcAft>
                <a:spcPts val="800"/>
              </a:spcAft>
            </a:pPr>
            <a:r>
              <a:rPr sz="1700" b="0">
                <a:solidFill>
                  <a:srgbClr val="222222"/>
                </a:solidFill>
                <a:latin typeface="맑은 고딕"/>
              </a:rPr>
              <a:t>•  scattered read = 다중 블록 = 풀 테이블 스캔</a:t>
            </a:r>
          </a:p>
          <a:p>
            <a:pPr algn="l">
              <a:spcAft>
                <a:spcPts val="800"/>
              </a:spcAft>
            </a:pPr>
            <a:r>
              <a:rPr sz="1700" b="0">
                <a:solidFill>
                  <a:srgbClr val="222222"/>
                </a:solidFill>
                <a:latin typeface="맑은 고딕"/>
              </a:rPr>
              <a:t>•    (여러 블록을 흩어진 빈 버퍼에 담아 scattered)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실측 — 어느 쪽이 큰가 (V$SYSTEM_EVENT)</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non-Idle, 총 대기 시간 기준</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SUBSTR(event,1,34) event, total_waits,</a:t>
            </a:r>
          </a:p>
          <a:p>
            <a:pPr>
              <a:lnSpc>
                <a:spcPct val="100000"/>
              </a:lnSpc>
              <a:spcAft>
                <a:spcPts val="0"/>
              </a:spcAft>
            </a:pPr>
            <a:r>
              <a:rPr sz="1250">
                <a:solidFill>
                  <a:srgbClr val="F2F2F2"/>
                </a:solidFill>
                <a:latin typeface="Consolas"/>
              </a:rPr>
              <a:t>  2         ROUND(time_waited/100) sec, wait_class</a:t>
            </a:r>
          </a:p>
          <a:p>
            <a:pPr>
              <a:lnSpc>
                <a:spcPct val="100000"/>
              </a:lnSpc>
              <a:spcAft>
                <a:spcPts val="0"/>
              </a:spcAft>
            </a:pPr>
            <a:r>
              <a:rPr sz="1250">
                <a:solidFill>
                  <a:srgbClr val="F2F2F2"/>
                </a:solidFill>
                <a:latin typeface="Consolas"/>
              </a:rPr>
              <a:t>  3       FROM v$system_event WHERE wait_class&lt;&gt;'Idle'</a:t>
            </a:r>
          </a:p>
          <a:p>
            <a:pPr>
              <a:lnSpc>
                <a:spcPct val="100000"/>
              </a:lnSpc>
              <a:spcAft>
                <a:spcPts val="0"/>
              </a:spcAft>
            </a:pPr>
            <a:r>
              <a:rPr sz="1250">
                <a:solidFill>
                  <a:srgbClr val="F2F2F2"/>
                </a:solidFill>
                <a:latin typeface="Consolas"/>
              </a:rPr>
              <a:t>  4       ORDER BY time_waited DESC;</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EVENT                        TOTAL_WAITS  SEC WAIT_CLASS</a:t>
            </a:r>
          </a:p>
          <a:p>
            <a:pPr>
              <a:lnSpc>
                <a:spcPct val="100000"/>
              </a:lnSpc>
              <a:spcAft>
                <a:spcPts val="0"/>
              </a:spcAft>
            </a:pPr>
            <a:r>
              <a:rPr sz="1250">
                <a:solidFill>
                  <a:srgbClr val="F2F2F2"/>
                </a:solidFill>
                <a:latin typeface="Consolas"/>
              </a:rPr>
              <a:t>---------------------------- ----------- ---- ----------</a:t>
            </a:r>
          </a:p>
          <a:p>
            <a:pPr>
              <a:lnSpc>
                <a:spcPct val="100000"/>
              </a:lnSpc>
              <a:spcAft>
                <a:spcPts val="0"/>
              </a:spcAft>
            </a:pPr>
            <a:r>
              <a:rPr sz="1250">
                <a:solidFill>
                  <a:srgbClr val="F2F2F2"/>
                </a:solidFill>
                <a:latin typeface="Consolas"/>
              </a:rPr>
              <a:t>log file sync                      63826   53 Commit</a:t>
            </a:r>
          </a:p>
          <a:p>
            <a:pPr>
              <a:lnSpc>
                <a:spcPct val="100000"/>
              </a:lnSpc>
              <a:spcAft>
                <a:spcPts val="0"/>
              </a:spcAft>
            </a:pPr>
            <a:r>
              <a:rPr sz="1250">
                <a:solidFill>
                  <a:srgbClr val="F2F2F2"/>
                </a:solidFill>
                <a:latin typeface="Consolas"/>
              </a:rPr>
              <a:t>log file parallel write            64602   52 System I/O</a:t>
            </a:r>
          </a:p>
          <a:p>
            <a:pPr>
              <a:lnSpc>
                <a:spcPct val="100000"/>
              </a:lnSpc>
              <a:spcAft>
                <a:spcPts val="0"/>
              </a:spcAft>
            </a:pPr>
            <a:r>
              <a:rPr sz="1250">
                <a:solidFill>
                  <a:srgbClr val="F2F2F2"/>
                </a:solidFill>
                <a:latin typeface="Consolas"/>
              </a:rPr>
              <a:t>db file sequential read            17097   52 User I/O</a:t>
            </a:r>
          </a:p>
          <a:p>
            <a:pPr>
              <a:lnSpc>
                <a:spcPct val="100000"/>
              </a:lnSpc>
              <a:spcAft>
                <a:spcPts val="0"/>
              </a:spcAft>
            </a:pPr>
            <a:r>
              <a:rPr sz="1250">
                <a:solidFill>
                  <a:srgbClr val="F2F2F2"/>
                </a:solidFill>
                <a:latin typeface="Consolas"/>
              </a:rPr>
              <a:t>db file scattered read              1675   13 User I/O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판독 — db file 계열을 만나면</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이벤트는 방향, SQL이 대상</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scattered 큼 → 풀스캔 과다 → SQL·인덱스 설계</a:t>
            </a:r>
          </a:p>
          <a:p>
            <a:pPr algn="l">
              <a:spcAft>
                <a:spcPts val="800"/>
              </a:spcAft>
            </a:pPr>
            <a:r>
              <a:rPr sz="1700" b="0">
                <a:solidFill>
                  <a:srgbClr val="222222"/>
                </a:solidFill>
                <a:latin typeface="맑은 고딕"/>
              </a:rPr>
              <a:t>•  sequential 큼 → 인덱스 접근 과다 → 조인·반복 조회</a:t>
            </a:r>
          </a:p>
          <a:p>
            <a:pPr algn="l">
              <a:spcAft>
                <a:spcPts val="800"/>
              </a:spcAft>
            </a:pPr>
            <a:r>
              <a:rPr sz="1700" b="0">
                <a:solidFill>
                  <a:srgbClr val="222222"/>
                </a:solidFill>
                <a:latin typeface="맑은 고딕"/>
              </a:rPr>
              <a:t>•  평균 대기 시간이 크면(수십 ms↑) I/O 서브시스템</a:t>
            </a:r>
          </a:p>
          <a:p>
            <a:pPr algn="l">
              <a:spcAft>
                <a:spcPts val="800"/>
              </a:spcAft>
            </a:pPr>
            <a:r>
              <a:rPr sz="1700" b="0">
                <a:solidFill>
                  <a:srgbClr val="222222"/>
                </a:solidFill>
                <a:latin typeface="맑은 고딕"/>
              </a:rPr>
              <a:t>•  대상 SQL = V$SQL을 disk_reads·buffer_gets 순 정렬</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14.4</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buffer busy waits</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같은 블록에 동시 접근</a:t>
            </a:r>
          </a:p>
          <a:p>
            <a:pPr algn="l">
              <a:spcAft>
                <a:spcPts val="600"/>
              </a:spcAft>
            </a:pPr>
            <a:r>
              <a:rPr sz="1600" b="0">
                <a:solidFill>
                  <a:srgbClr val="FFFFFF"/>
                </a:solidFill>
                <a:latin typeface="맑은 고딕"/>
              </a:rPr>
              <a:t>•  동시성 문제(≠ 디스크)</a:t>
            </a:r>
          </a:p>
          <a:p>
            <a:pPr algn="l">
              <a:spcAft>
                <a:spcPts val="600"/>
              </a:spcAft>
            </a:pPr>
            <a:r>
              <a:rPr sz="1600" b="0">
                <a:solidFill>
                  <a:srgbClr val="FFFFFF"/>
                </a:solidFill>
                <a:latin typeface="맑은 고딕"/>
              </a:rPr>
              <a:t>•  V$WAITSTAT로 블록 클래스</a:t>
            </a:r>
          </a:p>
          <a:p>
            <a:pPr algn="l">
              <a:spcAft>
                <a:spcPts val="600"/>
              </a:spcAft>
            </a:pPr>
            <a:r>
              <a:rPr sz="1600" b="0">
                <a:solidFill>
                  <a:srgbClr val="FFFFFF"/>
                </a:solidFill>
                <a:latin typeface="맑은 고딕"/>
              </a:rPr>
              <a:t>•  V$SEGMENT_STATISTICS로 세그먼트</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왜 같은 블록에 몰리나</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I/O 대기가 아니라 동시성 대기</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여러 세션이 같은 테이블에 동시 INSERT</a:t>
            </a:r>
          </a:p>
          <a:p>
            <a:pPr algn="l">
              <a:spcAft>
                <a:spcPts val="800"/>
              </a:spcAft>
            </a:pPr>
            <a:r>
              <a:rPr sz="1700" b="0">
                <a:solidFill>
                  <a:srgbClr val="222222"/>
                </a:solidFill>
                <a:latin typeface="맑은 고딕"/>
              </a:rPr>
              <a:t>•  인기 소형 코드 테이블 동시 읽기</a:t>
            </a:r>
          </a:p>
          <a:p>
            <a:pPr algn="l">
              <a:spcAft>
                <a:spcPts val="800"/>
              </a:spcAft>
            </a:pPr>
            <a:r>
              <a:rPr sz="1700" b="0">
                <a:solidFill>
                  <a:srgbClr val="222222"/>
                </a:solidFill>
                <a:latin typeface="맑은 고딕"/>
              </a:rPr>
              <a:t>•  ≠ 디스크 못 가져옴 / = 블록에 줄 섬</a:t>
            </a:r>
          </a:p>
          <a:p>
            <a:pPr algn="l">
              <a:spcAft>
                <a:spcPts val="800"/>
              </a:spcAft>
            </a:pPr>
            <a:r>
              <a:rPr sz="1700" b="0">
                <a:solidFill>
                  <a:srgbClr val="222222"/>
                </a:solidFill>
                <a:latin typeface="맑은 고딕"/>
              </a:rPr>
              <a:t>•  처방: 경합 분산(역키·해시 파티션·세그먼트 분산)</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원인 세그먼트 지목 (V$SEGMENT_STATISTICS)</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logical/physical reads 상위가 진원지</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object_name, statistic_name, value</a:t>
            </a:r>
          </a:p>
          <a:p>
            <a:pPr>
              <a:lnSpc>
                <a:spcPct val="100000"/>
              </a:lnSpc>
              <a:spcAft>
                <a:spcPts val="0"/>
              </a:spcAft>
            </a:pPr>
            <a:r>
              <a:rPr sz="1250">
                <a:solidFill>
                  <a:srgbClr val="F2F2F2"/>
                </a:solidFill>
                <a:latin typeface="Consolas"/>
              </a:rPr>
              <a:t>  2       FROM v$segment_statistics</a:t>
            </a:r>
          </a:p>
          <a:p>
            <a:pPr>
              <a:lnSpc>
                <a:spcPct val="100000"/>
              </a:lnSpc>
              <a:spcAft>
                <a:spcPts val="0"/>
              </a:spcAft>
            </a:pPr>
            <a:r>
              <a:rPr sz="1250">
                <a:solidFill>
                  <a:srgbClr val="F2F2F2"/>
                </a:solidFill>
                <a:latin typeface="Consolas"/>
              </a:rPr>
              <a:t>  3       WHERE owner='SQLT' AND value&gt;0</a:t>
            </a:r>
          </a:p>
          <a:p>
            <a:pPr>
              <a:lnSpc>
                <a:spcPct val="100000"/>
              </a:lnSpc>
              <a:spcAft>
                <a:spcPts val="0"/>
              </a:spcAft>
            </a:pPr>
            <a:r>
              <a:rPr sz="1250">
                <a:solidFill>
                  <a:srgbClr val="F2F2F2"/>
                </a:solidFill>
                <a:latin typeface="Consolas"/>
              </a:rPr>
              <a:t>  4         AND statistic_name IN ('logical reads',</a:t>
            </a:r>
          </a:p>
          <a:p>
            <a:pPr>
              <a:lnSpc>
                <a:spcPct val="100000"/>
              </a:lnSpc>
              <a:spcAft>
                <a:spcPts val="0"/>
              </a:spcAft>
            </a:pPr>
            <a:r>
              <a:rPr sz="1250">
                <a:solidFill>
                  <a:srgbClr val="F2F2F2"/>
                </a:solidFill>
                <a:latin typeface="Consolas"/>
              </a:rPr>
              <a:t>  5             'physical reads','buffer busy waits')</a:t>
            </a:r>
          </a:p>
          <a:p>
            <a:pPr>
              <a:lnSpc>
                <a:spcPct val="100000"/>
              </a:lnSpc>
              <a:spcAft>
                <a:spcPts val="0"/>
              </a:spcAft>
            </a:pPr>
            <a:r>
              <a:rPr sz="1250">
                <a:solidFill>
                  <a:srgbClr val="F2F2F2"/>
                </a:solidFill>
                <a:latin typeface="Consolas"/>
              </a:rPr>
              <a:t>  6       ORDER BY value DESC;</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OBJECT_NAME       STATISTIC_NAME      VALUE</a:t>
            </a:r>
          </a:p>
          <a:p>
            <a:pPr>
              <a:lnSpc>
                <a:spcPct val="100000"/>
              </a:lnSpc>
              <a:spcAft>
                <a:spcPts val="0"/>
              </a:spcAft>
            </a:pPr>
            <a:r>
              <a:rPr sz="1250">
                <a:solidFill>
                  <a:srgbClr val="F2F2F2"/>
                </a:solidFill>
                <a:latin typeface="Consolas"/>
              </a:rPr>
              <a:t>----------------- --------------- ----------</a:t>
            </a:r>
          </a:p>
          <a:p>
            <a:pPr>
              <a:lnSpc>
                <a:spcPct val="100000"/>
              </a:lnSpc>
              <a:spcAft>
                <a:spcPts val="0"/>
              </a:spcAft>
            </a:pPr>
            <a:r>
              <a:rPr sz="1250">
                <a:solidFill>
                  <a:srgbClr val="F2F2F2"/>
                </a:solidFill>
                <a:latin typeface="Consolas"/>
              </a:rPr>
              <a:t>MEDICAL_CLAIMS    logical reads   225305696</a:t>
            </a:r>
          </a:p>
          <a:p>
            <a:pPr>
              <a:lnSpc>
                <a:spcPct val="100000"/>
              </a:lnSpc>
              <a:spcAft>
                <a:spcPts val="0"/>
              </a:spcAft>
            </a:pPr>
            <a:r>
              <a:rPr sz="1250">
                <a:solidFill>
                  <a:srgbClr val="F2F2F2"/>
                </a:solidFill>
                <a:latin typeface="Consolas"/>
              </a:rPr>
              <a:t>CLAIM_DETAILS     logical reads   123172432</a:t>
            </a:r>
          </a:p>
          <a:p>
            <a:pPr>
              <a:lnSpc>
                <a:spcPct val="100000"/>
              </a:lnSpc>
              <a:spcAft>
                <a:spcPts val="0"/>
              </a:spcAft>
            </a:pPr>
            <a:r>
              <a:rPr sz="1250">
                <a:solidFill>
                  <a:srgbClr val="F2F2F2"/>
                </a:solidFill>
                <a:latin typeface="Consolas"/>
              </a:rPr>
              <a:t>CLAIM_DETAILS     physical reads      13226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지금 막힌 세션의 객체 (ROW_WAIT_OBJ#)</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V$SESSION → DBA_OBJECTS</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sid, row_wait_obj#</a:t>
            </a:r>
          </a:p>
          <a:p>
            <a:pPr>
              <a:lnSpc>
                <a:spcPct val="100000"/>
              </a:lnSpc>
              <a:spcAft>
                <a:spcPts val="0"/>
              </a:spcAft>
            </a:pPr>
            <a:r>
              <a:rPr sz="1250">
                <a:solidFill>
                  <a:srgbClr val="F2F2F2"/>
                </a:solidFill>
                <a:latin typeface="Consolas"/>
              </a:rPr>
              <a:t>  2       FROM v$session</a:t>
            </a:r>
          </a:p>
          <a:p>
            <a:pPr>
              <a:lnSpc>
                <a:spcPct val="100000"/>
              </a:lnSpc>
              <a:spcAft>
                <a:spcPts val="0"/>
              </a:spcAft>
            </a:pPr>
            <a:r>
              <a:rPr sz="1250">
                <a:solidFill>
                  <a:srgbClr val="F2F2F2"/>
                </a:solidFill>
                <a:latin typeface="Consolas"/>
              </a:rPr>
              <a:t>  3       WHERE event = 'buffer busy waits';</a:t>
            </a:r>
          </a:p>
          <a:p>
            <a:pPr>
              <a:lnSpc>
                <a:spcPct val="100000"/>
              </a:lnSpc>
              <a:spcAft>
                <a:spcPts val="0"/>
              </a:spcAft>
            </a:pPr>
            <a:r>
              <a:rPr sz="1250">
                <a:solidFill>
                  <a:srgbClr val="F2F2F2"/>
                </a:solidFill>
                <a:latin typeface="Consolas"/>
              </a:rPr>
              <a:t>       SID  ROW_WAIT_OBJ#</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       596          74213</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SYS@orcl&gt; SELECT owner, object_name, object_type</a:t>
            </a:r>
          </a:p>
          <a:p>
            <a:pPr>
              <a:lnSpc>
                <a:spcPct val="100000"/>
              </a:lnSpc>
              <a:spcAft>
                <a:spcPts val="0"/>
              </a:spcAft>
            </a:pPr>
            <a:r>
              <a:rPr sz="1250">
                <a:solidFill>
                  <a:srgbClr val="F2F2F2"/>
                </a:solidFill>
                <a:latin typeface="Consolas"/>
              </a:rPr>
              <a:t>  2       FROM dba_objects WHERE data_object_id = 74213;</a:t>
            </a:r>
          </a:p>
          <a:p>
            <a:pPr>
              <a:lnSpc>
                <a:spcPct val="100000"/>
              </a:lnSpc>
              <a:spcAft>
                <a:spcPts val="0"/>
              </a:spcAft>
            </a:pPr>
            <a:r>
              <a:rPr sz="1250">
                <a:solidFill>
                  <a:srgbClr val="F2F2F2"/>
                </a:solidFill>
                <a:latin typeface="Consolas"/>
              </a:rPr>
              <a:t>OWNER  OBJECT_NAME     OBJECT_TYPE</a:t>
            </a:r>
          </a:p>
          <a:p>
            <a:pPr>
              <a:lnSpc>
                <a:spcPct val="100000"/>
              </a:lnSpc>
              <a:spcAft>
                <a:spcPts val="0"/>
              </a:spcAft>
            </a:pPr>
            <a:r>
              <a:rPr sz="1250">
                <a:solidFill>
                  <a:srgbClr val="F2F2F2"/>
                </a:solidFill>
                <a:latin typeface="Consolas"/>
              </a:rPr>
              <a:t>------ --------------- -----------</a:t>
            </a:r>
          </a:p>
          <a:p>
            <a:pPr>
              <a:lnSpc>
                <a:spcPct val="100000"/>
              </a:lnSpc>
              <a:spcAft>
                <a:spcPts val="0"/>
              </a:spcAft>
            </a:pPr>
            <a:r>
              <a:rPr sz="1250">
                <a:solidFill>
                  <a:srgbClr val="F2F2F2"/>
                </a:solidFill>
                <a:latin typeface="Consolas"/>
              </a:rPr>
              <a:t>SQLT   REVIEW_LOG_WL   TABLE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블록 클래스가 대응을 가른다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V$WAITSTAT</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data block → 대상 세그먼트의 동시 DML 분산</a:t>
            </a:r>
          </a:p>
          <a:p>
            <a:pPr algn="l">
              <a:spcAft>
                <a:spcPts val="800"/>
              </a:spcAft>
            </a:pPr>
            <a:r>
              <a:rPr sz="1700" b="0">
                <a:solidFill>
                  <a:srgbClr val="222222"/>
                </a:solidFill>
                <a:latin typeface="맑은 고딕"/>
              </a:rPr>
              <a:t>•  segment header → freelist·ASSM 확인</a:t>
            </a:r>
          </a:p>
          <a:p>
            <a:pPr algn="l">
              <a:spcAft>
                <a:spcPts val="800"/>
              </a:spcAft>
            </a:pPr>
            <a:r>
              <a:rPr sz="1700" b="0">
                <a:solidFill>
                  <a:srgbClr val="222222"/>
                </a:solidFill>
                <a:latin typeface="맑은 고딕"/>
              </a:rPr>
              <a:t>•  undo header/block → 언두 구성 점검</a:t>
            </a:r>
          </a:p>
          <a:p>
            <a:pPr algn="l">
              <a:spcAft>
                <a:spcPts val="800"/>
              </a:spcAft>
            </a:pPr>
            <a:r>
              <a:rPr sz="1700" b="0">
                <a:solidFill>
                  <a:srgbClr val="222222"/>
                </a:solidFill>
                <a:latin typeface="맑은 고딕"/>
              </a:rPr>
              <a:t>•  먼저 '어느 클래스'인지부터 확인</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14.5</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log file sync</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커밋 시 리두 flush 대기</a:t>
            </a:r>
          </a:p>
          <a:p>
            <a:pPr algn="l">
              <a:spcAft>
                <a:spcPts val="600"/>
              </a:spcAft>
            </a:pPr>
            <a:r>
              <a:rPr sz="1600" b="0">
                <a:solidFill>
                  <a:srgbClr val="FFFFFF"/>
                </a:solidFill>
                <a:latin typeface="맑은 고딕"/>
              </a:rPr>
              <a:t>•  실측 63,826회</a:t>
            </a:r>
          </a:p>
          <a:p>
            <a:pPr algn="l">
              <a:spcAft>
                <a:spcPts val="600"/>
              </a:spcAft>
            </a:pPr>
            <a:r>
              <a:rPr sz="1600" b="0">
                <a:solidFill>
                  <a:srgbClr val="FFFFFF"/>
                </a:solidFill>
                <a:latin typeface="맑은 고딕"/>
              </a:rPr>
              <a:t>•  짝 이벤트 = parallel write</a:t>
            </a:r>
          </a:p>
          <a:p>
            <a:pPr algn="l">
              <a:spcAft>
                <a:spcPts val="600"/>
              </a:spcAft>
            </a:pPr>
            <a:r>
              <a:rPr sz="1600" b="0">
                <a:solidFill>
                  <a:srgbClr val="FFFFFF"/>
                </a:solidFill>
                <a:latin typeface="맑은 고딕"/>
              </a:rPr>
              <a:t>•  흔한 원인은 잦은 커밋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log file sync의 원리</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커밋의 리두가 디스크에 안착하기까지</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COMMIT/ROLLBACK → 리두를 LGWR가 로그 파일에 flush</a:t>
            </a:r>
          </a:p>
          <a:p>
            <a:pPr algn="l">
              <a:spcAft>
                <a:spcPts val="800"/>
              </a:spcAft>
            </a:pPr>
            <a:r>
              <a:rPr sz="1700" b="0">
                <a:solidFill>
                  <a:srgbClr val="222222"/>
                </a:solidFill>
                <a:latin typeface="맑은 고딕"/>
              </a:rPr>
              <a:t>•  서버 프로세스는 그 쓰기 완료까지 대기</a:t>
            </a:r>
          </a:p>
          <a:p>
            <a:pPr algn="l">
              <a:spcAft>
                <a:spcPts val="800"/>
              </a:spcAft>
            </a:pPr>
            <a:r>
              <a:rPr sz="1700" b="0">
                <a:solidFill>
                  <a:srgbClr val="222222"/>
                </a:solidFill>
                <a:latin typeface="맑은 고딕"/>
              </a:rPr>
              <a:t>•  = '내 커밋이 안전하게 기록되길 기다리는 시간'</a:t>
            </a:r>
          </a:p>
          <a:p>
            <a:pPr algn="l">
              <a:spcAft>
                <a:spcPts val="800"/>
              </a:spcAft>
            </a:pPr>
            <a:r>
              <a:rPr sz="1700" b="0">
                <a:solidFill>
                  <a:srgbClr val="222222"/>
                </a:solidFill>
                <a:latin typeface="맑은 고딕"/>
              </a:rPr>
              <a:t>•  Commit 클래스의 대표 이벤트</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실측 — 커밋 대기의 두 얼굴</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log file sync vs parallel write</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 log file sync         : 63826 회 / 53초 (Commit)</a:t>
            </a:r>
          </a:p>
          <a:p>
            <a:pPr>
              <a:lnSpc>
                <a:spcPct val="100000"/>
              </a:lnSpc>
              <a:spcAft>
                <a:spcPts val="0"/>
              </a:spcAft>
            </a:pPr>
            <a:r>
              <a:rPr sz="1250">
                <a:solidFill>
                  <a:srgbClr val="F2F2F2"/>
                </a:solidFill>
                <a:latin typeface="Consolas"/>
              </a:rPr>
              <a:t>-- log file parallel write: 64602 회 / 52초 (System I/O)</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SYS@orcl&gt; SELECT event, total_waits,</a:t>
            </a:r>
          </a:p>
          <a:p>
            <a:pPr>
              <a:lnSpc>
                <a:spcPct val="100000"/>
              </a:lnSpc>
              <a:spcAft>
                <a:spcPts val="0"/>
              </a:spcAft>
            </a:pPr>
            <a:r>
              <a:rPr sz="1250">
                <a:solidFill>
                  <a:srgbClr val="F2F2F2"/>
                </a:solidFill>
                <a:latin typeface="Consolas"/>
              </a:rPr>
              <a:t>  2         ROUND(time_waited/100) sec</a:t>
            </a:r>
          </a:p>
          <a:p>
            <a:pPr>
              <a:lnSpc>
                <a:spcPct val="100000"/>
              </a:lnSpc>
              <a:spcAft>
                <a:spcPts val="0"/>
              </a:spcAft>
            </a:pPr>
            <a:r>
              <a:rPr sz="1250">
                <a:solidFill>
                  <a:srgbClr val="F2F2F2"/>
                </a:solidFill>
                <a:latin typeface="Consolas"/>
              </a:rPr>
              <a:t>  3       FROM v$system_event</a:t>
            </a:r>
          </a:p>
          <a:p>
            <a:pPr>
              <a:lnSpc>
                <a:spcPct val="100000"/>
              </a:lnSpc>
              <a:spcAft>
                <a:spcPts val="0"/>
              </a:spcAft>
            </a:pPr>
            <a:r>
              <a:rPr sz="1250">
                <a:solidFill>
                  <a:srgbClr val="F2F2F2"/>
                </a:solidFill>
                <a:latin typeface="Consolas"/>
              </a:rPr>
              <a:t>  4       WHERE event LIKE 'log file s%'</a:t>
            </a:r>
          </a:p>
          <a:p>
            <a:pPr>
              <a:lnSpc>
                <a:spcPct val="100000"/>
              </a:lnSpc>
              <a:spcAft>
                <a:spcPts val="0"/>
              </a:spcAft>
            </a:pPr>
            <a:r>
              <a:rPr sz="1250">
                <a:solidFill>
                  <a:srgbClr val="F2F2F2"/>
                </a:solidFill>
                <a:latin typeface="Consolas"/>
              </a:rPr>
              <a:t>  5          OR event = 'log file parallel write';</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EVENT                     TOTAL_WAITS  SEC</a:t>
            </a:r>
          </a:p>
          <a:p>
            <a:pPr>
              <a:lnSpc>
                <a:spcPct val="100000"/>
              </a:lnSpc>
              <a:spcAft>
                <a:spcPts val="0"/>
              </a:spcAft>
            </a:pPr>
            <a:r>
              <a:rPr sz="1250">
                <a:solidFill>
                  <a:srgbClr val="F2F2F2"/>
                </a:solidFill>
                <a:latin typeface="Consolas"/>
              </a:rPr>
              <a:t>------------------------- ----------- ----</a:t>
            </a:r>
          </a:p>
          <a:p>
            <a:pPr>
              <a:lnSpc>
                <a:spcPct val="100000"/>
              </a:lnSpc>
              <a:spcAft>
                <a:spcPts val="0"/>
              </a:spcAft>
            </a:pPr>
            <a:r>
              <a:rPr sz="1250">
                <a:solidFill>
                  <a:srgbClr val="F2F2F2"/>
                </a:solidFill>
                <a:latin typeface="Consolas"/>
              </a:rPr>
              <a:t>log file sync                   63826   53</a:t>
            </a:r>
          </a:p>
          <a:p>
            <a:pPr>
              <a:lnSpc>
                <a:spcPct val="100000"/>
              </a:lnSpc>
              <a:spcAft>
                <a:spcPts val="0"/>
              </a:spcAft>
            </a:pPr>
            <a:r>
              <a:rPr sz="1250">
                <a:solidFill>
                  <a:srgbClr val="F2F2F2"/>
                </a:solidFill>
                <a:latin typeface="Consolas"/>
              </a:rPr>
              <a:t>log file parallel write         64602   52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평균 대기 시간으로 원인을 가른다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디스크냐, 과도한 커밋이냐</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평균 대기 큼 → 리두 로그 디스크가 느림</a:t>
            </a:r>
          </a:p>
          <a:p>
            <a:pPr algn="l">
              <a:spcAft>
                <a:spcPts val="800"/>
              </a:spcAft>
            </a:pPr>
            <a:r>
              <a:rPr sz="1700" b="0">
                <a:solidFill>
                  <a:srgbClr val="222222"/>
                </a:solidFill>
                <a:latin typeface="맑은 고딕"/>
              </a:rPr>
              <a:t>•  평균 대기 작은데 횟수 폭발 → 너무 잦은 커밋</a:t>
            </a:r>
          </a:p>
          <a:p>
            <a:pPr algn="l">
              <a:spcAft>
                <a:spcPts val="800"/>
              </a:spcAft>
            </a:pPr>
            <a:r>
              <a:rPr sz="1700" b="0">
                <a:solidFill>
                  <a:srgbClr val="222222"/>
                </a:solidFill>
                <a:latin typeface="맑은 고딕"/>
              </a:rPr>
              <a:t>•  실측 63,826회 = row-by-row commit의 흔적</a:t>
            </a:r>
          </a:p>
          <a:p>
            <a:pPr algn="l">
              <a:spcAft>
                <a:spcPts val="800"/>
              </a:spcAft>
            </a:pPr>
            <a:r>
              <a:rPr sz="1700" b="0">
                <a:solidFill>
                  <a:srgbClr val="222222"/>
                </a:solidFill>
                <a:latin typeface="맑은 고딕"/>
              </a:rPr>
              <a:t>•  처방: 루프 안 COMMIT 제거 → N건마다 배치 커밋</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이웃 이벤트도 함께 본다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리두 계열의 다른 대기</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log file switch completion — 로그 그룹 전환 대기(Config)</a:t>
            </a:r>
          </a:p>
          <a:p>
            <a:pPr algn="l">
              <a:spcAft>
                <a:spcPts val="800"/>
              </a:spcAft>
            </a:pPr>
            <a:r>
              <a:rPr sz="1700" b="0">
                <a:solidFill>
                  <a:srgbClr val="222222"/>
                </a:solidFill>
                <a:latin typeface="맑은 고딕"/>
              </a:rPr>
              <a:t>•    → 리두 로그가 작거나 개수 부족 / 체크포인트 지연</a:t>
            </a:r>
          </a:p>
          <a:p>
            <a:pPr algn="l">
              <a:spcAft>
                <a:spcPts val="800"/>
              </a:spcAft>
            </a:pPr>
            <a:r>
              <a:rPr sz="1700" b="0">
                <a:solidFill>
                  <a:srgbClr val="222222"/>
                </a:solidFill>
                <a:latin typeface="맑은 고딕"/>
              </a:rPr>
              <a:t>•  log buffer space — 리두 버퍼가 가득 참</a:t>
            </a:r>
          </a:p>
          <a:p>
            <a:pPr algn="l">
              <a:spcAft>
                <a:spcPts val="800"/>
              </a:spcAft>
            </a:pPr>
            <a:r>
              <a:rPr sz="1700" b="0">
                <a:solidFill>
                  <a:srgbClr val="222222"/>
                </a:solidFill>
                <a:latin typeface="맑은 고딕"/>
              </a:rPr>
              <a:t>•    → 리두 생성 속도가 기록 속도를 앞지름</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14.6</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latch와 mutex</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공유 메모리 구조 경량 잠금</a:t>
            </a:r>
          </a:p>
          <a:p>
            <a:pPr algn="l">
              <a:spcAft>
                <a:spcPts val="600"/>
              </a:spcAft>
            </a:pPr>
            <a:r>
              <a:rPr sz="1600" b="0">
                <a:solidFill>
                  <a:srgbClr val="FFFFFF"/>
                </a:solidFill>
                <a:latin typeface="맑은 고딕"/>
              </a:rPr>
              <a:t>•  경합의 배후 = 하드 파싱</a:t>
            </a:r>
          </a:p>
          <a:p>
            <a:pPr algn="l">
              <a:spcAft>
                <a:spcPts val="600"/>
              </a:spcAft>
            </a:pPr>
            <a:r>
              <a:rPr sz="1600" b="0">
                <a:solidFill>
                  <a:srgbClr val="FFFFFF"/>
                </a:solidFill>
                <a:latin typeface="맑은 고딕"/>
              </a:rPr>
              <a:t>•  S/X 모드</a:t>
            </a:r>
          </a:p>
          <a:p>
            <a:pPr algn="l">
              <a:spcAft>
                <a:spcPts val="600"/>
              </a:spcAft>
            </a:pPr>
            <a:r>
              <a:rPr sz="1600" b="0">
                <a:solidFill>
                  <a:srgbClr val="FFFFFF"/>
                </a:solidFill>
                <a:latin typeface="맑은 고딕"/>
              </a:rPr>
              <a:t>•  처방은 바인드 변수</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latch와 mutex의 차이</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라이브러리 캐시를 지키는 자물쇠</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latch: 공유 구조 보호, 마이크로초 단위</a:t>
            </a:r>
          </a:p>
          <a:p>
            <a:pPr algn="l">
              <a:spcAft>
                <a:spcPts val="800"/>
              </a:spcAft>
            </a:pPr>
            <a:r>
              <a:rPr sz="1700" b="0">
                <a:solidFill>
                  <a:srgbClr val="222222"/>
                </a:solidFill>
                <a:latin typeface="맑은 고딕"/>
              </a:rPr>
              <a:t>•  mutex: 더 가볍고 세밀(커서마다 하나) → 경합 분산</a:t>
            </a:r>
          </a:p>
          <a:p>
            <a:pPr algn="l">
              <a:spcAft>
                <a:spcPts val="800"/>
              </a:spcAft>
            </a:pPr>
            <a:r>
              <a:rPr sz="1700" b="0">
                <a:solidFill>
                  <a:srgbClr val="222222"/>
                </a:solidFill>
                <a:latin typeface="맑은 고딕"/>
              </a:rPr>
              <a:t>•  요즘 라이브러리 캐시 경합 = mutex 이벤트로 표출</a:t>
            </a:r>
          </a:p>
          <a:p>
            <a:pPr algn="l">
              <a:spcAft>
                <a:spcPts val="800"/>
              </a:spcAft>
            </a:pPr>
            <a:r>
              <a:rPr sz="1700" b="0">
                <a:solidFill>
                  <a:srgbClr val="222222"/>
                </a:solidFill>
                <a:latin typeface="맑은 고딕"/>
              </a:rPr>
              <a:t>•  S=공유, X=배타 (cursor: pin S wait on X)</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실측 — 경합의 배후는 하드 파싱</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latch: shared pool 13,156회</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EVENT                       WAITS  SEC  CLASS</a:t>
            </a:r>
          </a:p>
          <a:p>
            <a:pPr>
              <a:lnSpc>
                <a:spcPct val="100000"/>
              </a:lnSpc>
              <a:spcAft>
                <a:spcPts val="0"/>
              </a:spcAft>
            </a:pPr>
            <a:r>
              <a:rPr sz="1250">
                <a:solidFill>
                  <a:srgbClr val="F2F2F2"/>
                </a:solidFill>
                <a:latin typeface="Consolas"/>
              </a:rPr>
              <a:t>--------------------------- ------ ---- -----------</a:t>
            </a:r>
          </a:p>
          <a:p>
            <a:pPr>
              <a:lnSpc>
                <a:spcPct val="100000"/>
              </a:lnSpc>
              <a:spcAft>
                <a:spcPts val="0"/>
              </a:spcAft>
            </a:pPr>
            <a:r>
              <a:rPr sz="1250">
                <a:solidFill>
                  <a:srgbClr val="F2F2F2"/>
                </a:solidFill>
                <a:latin typeface="Consolas"/>
              </a:rPr>
              <a:t>latch free                   17174    4  Other</a:t>
            </a:r>
          </a:p>
          <a:p>
            <a:pPr>
              <a:lnSpc>
                <a:spcPct val="100000"/>
              </a:lnSpc>
              <a:spcAft>
                <a:spcPts val="0"/>
              </a:spcAft>
            </a:pPr>
            <a:r>
              <a:rPr sz="1250">
                <a:solidFill>
                  <a:srgbClr val="F2F2F2"/>
                </a:solidFill>
                <a:latin typeface="Consolas"/>
              </a:rPr>
              <a:t>latch: shared pool           13156    1  Concurrency</a:t>
            </a:r>
          </a:p>
          <a:p>
            <a:pPr>
              <a:lnSpc>
                <a:spcPct val="100000"/>
              </a:lnSpc>
              <a:spcAft>
                <a:spcPts val="0"/>
              </a:spcAft>
            </a:pPr>
            <a:r>
              <a:rPr sz="1250">
                <a:solidFill>
                  <a:srgbClr val="F2F2F2"/>
                </a:solidFill>
                <a:latin typeface="Consolas"/>
              </a:rPr>
              <a:t>cursor: pin S wait on X       1077    2  Concurrency</a:t>
            </a:r>
          </a:p>
          <a:p>
            <a:pPr>
              <a:lnSpc>
                <a:spcPct val="100000"/>
              </a:lnSpc>
              <a:spcAft>
                <a:spcPts val="0"/>
              </a:spcAft>
            </a:pPr>
            <a:r>
              <a:rPr sz="1250">
                <a:solidFill>
                  <a:srgbClr val="F2F2F2"/>
                </a:solidFill>
                <a:latin typeface="Consolas"/>
              </a:rPr>
              <a:t>library cache: mutex X         387    1  Concurrency</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 공유 풀 래치 경합 ↔ 하드 파싱(리터럴 SQL 반복)</a:t>
            </a:r>
          </a:p>
          <a:p>
            <a:pPr>
              <a:lnSpc>
                <a:spcPct val="100000"/>
              </a:lnSpc>
              <a:spcAft>
                <a:spcPts val="0"/>
              </a:spcAft>
            </a:pPr>
            <a:r>
              <a:rPr sz="1250">
                <a:solidFill>
                  <a:srgbClr val="F2F2F2"/>
                </a:solidFill>
                <a:latin typeface="Consolas"/>
              </a:rPr>
              <a:t>-- 근본 처방: 바인드 변수 사용</a:t>
            </a:r>
          </a:p>
          <a:p>
            <a:pPr>
              <a:lnSpc>
                <a:spcPct val="100000"/>
              </a:lnSpc>
              <a:spcAft>
                <a:spcPts val="0"/>
              </a:spcAft>
            </a:pPr>
            <a:r>
              <a:rPr sz="1250">
                <a:solidFill>
                  <a:srgbClr val="F2F2F2"/>
                </a:solidFill>
                <a:latin typeface="Consolas"/>
              </a:rPr>
              <a:t>SYS@orcl&gt; SELECT sql_text, parse_calls, version_count</a:t>
            </a:r>
          </a:p>
          <a:p>
            <a:pPr>
              <a:lnSpc>
                <a:spcPct val="100000"/>
              </a:lnSpc>
              <a:spcAft>
                <a:spcPts val="0"/>
              </a:spcAft>
            </a:pPr>
            <a:r>
              <a:rPr sz="1250">
                <a:solidFill>
                  <a:srgbClr val="F2F2F2"/>
                </a:solidFill>
                <a:latin typeface="Consolas"/>
              </a:rPr>
              <a:t>  2       FROM v$sqlarea ORDER BY parse_calls DESC;</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근본 처방</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증상이 아니라 파싱을 고친다</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1차 용의자 = 과도한 하드 파싱</a:t>
            </a:r>
          </a:p>
          <a:p>
            <a:pPr algn="l">
              <a:spcAft>
                <a:spcPts val="800"/>
              </a:spcAft>
            </a:pPr>
            <a:r>
              <a:rPr sz="1700" b="0">
                <a:solidFill>
                  <a:srgbClr val="222222"/>
                </a:solidFill>
                <a:latin typeface="맑은 고딕"/>
              </a:rPr>
              <a:t>•  V$SQLAREA에서 parse_calls·version_count 큰 SQL</a:t>
            </a:r>
          </a:p>
          <a:p>
            <a:pPr algn="l">
              <a:spcAft>
                <a:spcPts val="800"/>
              </a:spcAft>
            </a:pPr>
            <a:r>
              <a:rPr sz="1700" b="0">
                <a:solidFill>
                  <a:srgbClr val="222222"/>
                </a:solidFill>
                <a:latin typeface="맑은 고딕"/>
              </a:rPr>
              <a:t>•  근본 처방 = 바인드 변수(리터럴 제거)</a:t>
            </a:r>
          </a:p>
          <a:p>
            <a:pPr algn="l">
              <a:spcAft>
                <a:spcPts val="800"/>
              </a:spcAft>
            </a:pPr>
            <a:r>
              <a:rPr sz="1700" b="0">
                <a:solidFill>
                  <a:srgbClr val="222222"/>
                </a:solidFill>
                <a:latin typeface="맑은 고딕"/>
              </a:rPr>
              <a:t>•  parse count(hard) 300/초 넘으면 확장성 문제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14.7</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enq: TX - row lock contention</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트랜잭션 잠금(Application)</a:t>
            </a:r>
          </a:p>
          <a:p>
            <a:pPr algn="l">
              <a:spcAft>
                <a:spcPts val="600"/>
              </a:spcAft>
            </a:pPr>
            <a:r>
              <a:rPr sz="1600" b="0">
                <a:solidFill>
                  <a:srgbClr val="FFFFFF"/>
                </a:solidFill>
                <a:latin typeface="맑은 고딕"/>
              </a:rPr>
              <a:t>•  쓰기 대 쓰기에서만</a:t>
            </a:r>
          </a:p>
          <a:p>
            <a:pPr algn="l">
              <a:spcAft>
                <a:spcPts val="600"/>
              </a:spcAft>
            </a:pPr>
            <a:r>
              <a:rPr sz="1600" b="0">
                <a:solidFill>
                  <a:srgbClr val="FFFFFF"/>
                </a:solidFill>
                <a:latin typeface="맑은 고딕"/>
              </a:rPr>
              <a:t>•  blocking_session 역추적</a:t>
            </a:r>
          </a:p>
          <a:p>
            <a:pPr algn="l">
              <a:spcAft>
                <a:spcPts val="600"/>
              </a:spcAft>
            </a:pPr>
            <a:r>
              <a:rPr sz="1600" b="0">
                <a:solidFill>
                  <a:srgbClr val="FFFFFF"/>
                </a:solidFill>
                <a:latin typeface="맑은 고딕"/>
              </a:rPr>
              <a:t>•  블로커는 대개 놀고 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발생 원리와 3장과의 관계</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같은 경합, 대기 이벤트의 축</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행 잠금은 읽기를 막지 않음 → '쓰기 대 쓰기'</a:t>
            </a:r>
          </a:p>
          <a:p>
            <a:pPr algn="l">
              <a:spcAft>
                <a:spcPts val="800"/>
              </a:spcAft>
            </a:pPr>
            <a:r>
              <a:rPr sz="1700" b="0">
                <a:solidFill>
                  <a:srgbClr val="222222"/>
                </a:solidFill>
                <a:latin typeface="맑은 고딕"/>
              </a:rPr>
              <a:t>•  앞 세션 커밋 전까지 뒤 세션이 그 행을 못 잡음</a:t>
            </a:r>
          </a:p>
          <a:p>
            <a:pPr algn="l">
              <a:spcAft>
                <a:spcPts val="800"/>
              </a:spcAft>
            </a:pPr>
            <a:r>
              <a:rPr sz="1700" b="0">
                <a:solidFill>
                  <a:srgbClr val="222222"/>
                </a:solidFill>
                <a:latin typeface="맑은 고딕"/>
              </a:rPr>
              <a:t>•  3장: '누가 누구를 막았나'(블로킹 597↔596)</a:t>
            </a:r>
          </a:p>
          <a:p>
            <a:pPr algn="l">
              <a:spcAft>
                <a:spcPts val="800"/>
              </a:spcAft>
            </a:pPr>
            <a:r>
              <a:rPr sz="1700" b="0">
                <a:solidFill>
                  <a:srgbClr val="222222"/>
                </a:solidFill>
                <a:latin typeface="맑은 고딕"/>
              </a:rPr>
              <a:t>•  14장: '이 대기가 어느 세그먼트·SQL에서'</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블로커 역추적 (실측)</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대기 세션 → 최종 블로커</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s.sid, s.event, s.blocking_session blocker,</a:t>
            </a:r>
          </a:p>
          <a:p>
            <a:pPr>
              <a:lnSpc>
                <a:spcPct val="100000"/>
              </a:lnSpc>
              <a:spcAft>
                <a:spcPts val="0"/>
              </a:spcAft>
            </a:pPr>
            <a:r>
              <a:rPr sz="1250">
                <a:solidFill>
                  <a:srgbClr val="F2F2F2"/>
                </a:solidFill>
                <a:latin typeface="Consolas"/>
              </a:rPr>
              <a:t>  2         s.row_wait_obj# obj#, s.seconds_in_wait wait_s</a:t>
            </a:r>
          </a:p>
          <a:p>
            <a:pPr>
              <a:lnSpc>
                <a:spcPct val="100000"/>
              </a:lnSpc>
              <a:spcAft>
                <a:spcPts val="0"/>
              </a:spcAft>
            </a:pPr>
            <a:r>
              <a:rPr sz="1250">
                <a:solidFill>
                  <a:srgbClr val="F2F2F2"/>
                </a:solidFill>
                <a:latin typeface="Consolas"/>
              </a:rPr>
              <a:t>  3       FROM v$session s</a:t>
            </a:r>
          </a:p>
          <a:p>
            <a:pPr>
              <a:lnSpc>
                <a:spcPct val="100000"/>
              </a:lnSpc>
              <a:spcAft>
                <a:spcPts val="0"/>
              </a:spcAft>
            </a:pPr>
            <a:r>
              <a:rPr sz="1250">
                <a:solidFill>
                  <a:srgbClr val="F2F2F2"/>
                </a:solidFill>
                <a:latin typeface="Consolas"/>
              </a:rPr>
              <a:t>  4       WHERE s.event='enq: TX - row lock contention';</a:t>
            </a:r>
          </a:p>
          <a:p>
            <a:pPr>
              <a:lnSpc>
                <a:spcPct val="100000"/>
              </a:lnSpc>
              <a:spcAft>
                <a:spcPts val="0"/>
              </a:spcAft>
            </a:pPr>
            <a:r>
              <a:rPr sz="1250">
                <a:solidFill>
                  <a:srgbClr val="F2F2F2"/>
                </a:solidFill>
                <a:latin typeface="Consolas"/>
              </a:rPr>
              <a:t>  SID  EVENT                          BLOCKER  OBJ#  WAIT_S</a:t>
            </a:r>
          </a:p>
          <a:p>
            <a:pPr>
              <a:lnSpc>
                <a:spcPct val="100000"/>
              </a:lnSpc>
              <a:spcAft>
                <a:spcPts val="0"/>
              </a:spcAft>
            </a:pPr>
            <a:r>
              <a:rPr sz="1250">
                <a:solidFill>
                  <a:srgbClr val="F2F2F2"/>
                </a:solidFill>
                <a:latin typeface="Consolas"/>
              </a:rPr>
              <a:t>  ---  ----------------------------- -------- ----- ------</a:t>
            </a:r>
          </a:p>
          <a:p>
            <a:pPr>
              <a:lnSpc>
                <a:spcPct val="100000"/>
              </a:lnSpc>
              <a:spcAft>
                <a:spcPts val="0"/>
              </a:spcAft>
            </a:pPr>
            <a:r>
              <a:rPr sz="1250">
                <a:solidFill>
                  <a:srgbClr val="F2F2F2"/>
                </a:solidFill>
                <a:latin typeface="Consolas"/>
              </a:rPr>
              <a:t>  596  enq: TX - row lock contention      597 74198     46</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SYS@orcl&gt; SELECT sid, status, event FROM v$session WHERE sid=597;</a:t>
            </a:r>
          </a:p>
          <a:p>
            <a:pPr>
              <a:lnSpc>
                <a:spcPct val="100000"/>
              </a:lnSpc>
              <a:spcAft>
                <a:spcPts val="0"/>
              </a:spcAft>
            </a:pPr>
            <a:r>
              <a:rPr sz="1250">
                <a:solidFill>
                  <a:srgbClr val="F2F2F2"/>
                </a:solidFill>
                <a:latin typeface="Consolas"/>
              </a:rPr>
              <a:t>  SID  STATUS   EVENT</a:t>
            </a:r>
          </a:p>
          <a:p>
            <a:pPr>
              <a:lnSpc>
                <a:spcPct val="100000"/>
              </a:lnSpc>
              <a:spcAft>
                <a:spcPts val="0"/>
              </a:spcAft>
            </a:pPr>
            <a:r>
              <a:rPr sz="1250">
                <a:solidFill>
                  <a:srgbClr val="F2F2F2"/>
                </a:solidFill>
                <a:latin typeface="Consolas"/>
              </a:rPr>
              <a:t>  ---  -------- ---------------------------</a:t>
            </a:r>
          </a:p>
          <a:p>
            <a:pPr>
              <a:lnSpc>
                <a:spcPct val="100000"/>
              </a:lnSpc>
              <a:spcAft>
                <a:spcPts val="0"/>
              </a:spcAft>
            </a:pPr>
            <a:r>
              <a:rPr sz="1250">
                <a:solidFill>
                  <a:srgbClr val="F2F2F2"/>
                </a:solidFill>
                <a:latin typeface="Consolas"/>
              </a:rPr>
              <a:t>  597  INACTIVE SQL*Net message from client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실무 시나리오 · 블로커가 놀고 있다</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대기 사슬의 맨 끝을 보라</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여러 세션이 enq: TX로 쌓임</a:t>
            </a:r>
          </a:p>
          <a:p>
            <a:pPr algn="l">
              <a:spcAft>
                <a:spcPts val="800"/>
              </a:spcAft>
            </a:pPr>
            <a:r>
              <a:rPr sz="1700" b="0">
                <a:solidFill>
                  <a:srgbClr val="222222"/>
                </a:solidFill>
                <a:latin typeface="맑은 고딕"/>
              </a:rPr>
              <a:t>•  blocking_session을 타고 올라가면 최종 블로커 1개</a:t>
            </a:r>
          </a:p>
          <a:p>
            <a:pPr algn="l">
              <a:spcAft>
                <a:spcPts val="800"/>
              </a:spcAft>
            </a:pPr>
            <a:r>
              <a:rPr sz="1700" b="0">
                <a:solidFill>
                  <a:srgbClr val="222222"/>
                </a:solidFill>
                <a:latin typeface="맑은 고딕"/>
              </a:rPr>
              <a:t>•  블로커는 INACTIVE·트랜잭션 방치 상태</a:t>
            </a:r>
          </a:p>
          <a:p>
            <a:pPr algn="l">
              <a:spcAft>
                <a:spcPts val="800"/>
              </a:spcAft>
            </a:pPr>
            <a:r>
              <a:rPr sz="1700" b="0">
                <a:solidFill>
                  <a:srgbClr val="222222"/>
                </a:solidFill>
                <a:latin typeface="맑은 고딕"/>
              </a:rPr>
              <a:t>•  조치: 커밋/롤백 유도, 짧은 트랜잭션 설계</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nchor="t">
            <a:spAutoFit/>
          </a:bodyPr>
          <a:lstStyle/>
          <a:p>
            <a:pPr algn="l"/>
            <a:r>
              <a:rPr sz="4000" b="1">
                <a:solidFill>
                  <a:srgbClr val="FFFFFF"/>
                </a:solidFill>
                <a:latin typeface="맑은 고딕"/>
              </a:rPr>
              <a:t>14.8</a:t>
            </a:r>
          </a:p>
        </p:txBody>
      </p:sp>
      <p:sp>
        <p:nvSpPr>
          <p:cNvPr id="4" name="TextBox 3"/>
          <p:cNvSpPr txBox="1"/>
          <p:nvPr/>
        </p:nvSpPr>
        <p:spPr>
          <a:xfrm>
            <a:off x="822960" y="3017520"/>
            <a:ext cx="10515600" cy="914400"/>
          </a:xfrm>
          <a:prstGeom prst="rect">
            <a:avLst/>
          </a:prstGeom>
          <a:noFill/>
        </p:spPr>
        <p:txBody>
          <a:bodyPr wrap="square" anchor="t">
            <a:spAutoFit/>
          </a:bodyPr>
          <a:lstStyle/>
          <a:p>
            <a:pPr algn="l"/>
            <a:r>
              <a:rPr sz="2800" b="1">
                <a:solidFill>
                  <a:srgbClr val="FFFFFF"/>
                </a:solidFill>
                <a:latin typeface="맑은 고딕"/>
              </a:rPr>
              <a:t>Idle 오판 — Common Error</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nchor="t">
            <a:spAutoFit/>
          </a:bodyPr>
          <a:lstStyle/>
          <a:p>
            <a:pPr algn="l">
              <a:spcAft>
                <a:spcPts val="600"/>
              </a:spcAft>
            </a:pPr>
            <a:r>
              <a:rPr sz="1600" b="0">
                <a:solidFill>
                  <a:srgbClr val="FFFFFF"/>
                </a:solidFill>
                <a:latin typeface="맑은 고딕"/>
              </a:rPr>
              <a:t>•  SQL*Net message from client</a:t>
            </a:r>
          </a:p>
          <a:p>
            <a:pPr algn="l">
              <a:spcAft>
                <a:spcPts val="600"/>
              </a:spcAft>
            </a:pPr>
            <a:r>
              <a:rPr sz="1600" b="0">
                <a:solidFill>
                  <a:srgbClr val="FFFFFF"/>
                </a:solidFill>
                <a:latin typeface="맑은 고딕"/>
              </a:rPr>
              <a:t>•  = DB가 노는 시간(Idle)</a:t>
            </a:r>
          </a:p>
          <a:p>
            <a:pPr algn="l">
              <a:spcAft>
                <a:spcPts val="600"/>
              </a:spcAft>
            </a:pPr>
            <a:r>
              <a:rPr sz="1600" b="0">
                <a:solidFill>
                  <a:srgbClr val="FFFFFF"/>
                </a:solidFill>
                <a:latin typeface="맑은 고딕"/>
              </a:rPr>
              <a:t>•  from ≠ to client</a:t>
            </a:r>
          </a:p>
          <a:p>
            <a:pPr algn="l">
              <a:spcAft>
                <a:spcPts val="600"/>
              </a:spcAft>
            </a:pPr>
            <a:r>
              <a:rPr sz="1600" b="0">
                <a:solidFill>
                  <a:srgbClr val="FFFFFF"/>
                </a:solidFill>
                <a:latin typeface="맑은 고딕"/>
              </a:rPr>
              <a:t>•  wait_class&lt;&gt;'Idle'이 첫 규율</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SQL*Net message from client</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병목이 아니라 유휴 시간</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 서버가 클라이언트의 다음 요청을 기다림</a:t>
            </a:r>
          </a:p>
          <a:p>
            <a:pPr algn="l">
              <a:spcAft>
                <a:spcPts val="800"/>
              </a:spcAft>
            </a:pPr>
            <a:r>
              <a:rPr sz="1700" b="0">
                <a:solidFill>
                  <a:srgbClr val="222222"/>
                </a:solidFill>
                <a:latin typeface="맑은 고딕"/>
              </a:rPr>
              <a:t>•  = 사용자 생각 시간 → DB가 놀고 있음(Idle)</a:t>
            </a:r>
          </a:p>
          <a:p>
            <a:pPr algn="l">
              <a:spcAft>
                <a:spcPts val="800"/>
              </a:spcAft>
            </a:pPr>
            <a:r>
              <a:rPr sz="1700" b="0">
                <a:solidFill>
                  <a:srgbClr val="222222"/>
                </a:solidFill>
                <a:latin typeface="맑은 고딕"/>
              </a:rPr>
              <a:t>•  총 대기 시간이 커도 병목 아님</a:t>
            </a:r>
          </a:p>
          <a:p>
            <a:pPr algn="l">
              <a:spcAft>
                <a:spcPts val="800"/>
              </a:spcAft>
            </a:pPr>
            <a:r>
              <a:rPr sz="1700" b="0">
                <a:solidFill>
                  <a:srgbClr val="222222"/>
                </a:solidFill>
                <a:latin typeface="맑은 고딕"/>
              </a:rPr>
              <a:t>•  from client(Idle) ≠ to client(Network)</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Idle을 걸러내는 습관</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wait_class&lt;&gt;'Idle' 한 줄</a:t>
            </a:r>
          </a:p>
        </p:txBody>
      </p:sp>
      <p:sp>
        <p:nvSpPr>
          <p:cNvPr id="6" name="Rectangle 5"/>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 방법 1: wait_class로 직접 필터(권장)</a:t>
            </a:r>
          </a:p>
          <a:p>
            <a:pPr>
              <a:lnSpc>
                <a:spcPct val="100000"/>
              </a:lnSpc>
              <a:spcAft>
                <a:spcPts val="0"/>
              </a:spcAft>
            </a:pPr>
            <a:r>
              <a:rPr sz="1250">
                <a:solidFill>
                  <a:srgbClr val="F2F2F2"/>
                </a:solidFill>
                <a:latin typeface="Consolas"/>
              </a:rPr>
              <a:t>SYS@orcl&gt; SELECT event, total_waits, time_waited, wait_class</a:t>
            </a:r>
          </a:p>
          <a:p>
            <a:pPr>
              <a:lnSpc>
                <a:spcPct val="100000"/>
              </a:lnSpc>
              <a:spcAft>
                <a:spcPts val="0"/>
              </a:spcAft>
            </a:pPr>
            <a:r>
              <a:rPr sz="1250">
                <a:solidFill>
                  <a:srgbClr val="F2F2F2"/>
                </a:solidFill>
                <a:latin typeface="Consolas"/>
              </a:rPr>
              <a:t>  2       FROM v$system_event</a:t>
            </a:r>
          </a:p>
          <a:p>
            <a:pPr>
              <a:lnSpc>
                <a:spcPct val="100000"/>
              </a:lnSpc>
              <a:spcAft>
                <a:spcPts val="0"/>
              </a:spcAft>
            </a:pPr>
            <a:r>
              <a:rPr sz="1250">
                <a:solidFill>
                  <a:srgbClr val="F2F2F2"/>
                </a:solidFill>
                <a:latin typeface="Consolas"/>
              </a:rPr>
              <a:t>  3       WHERE wait_class &lt;&gt; 'Idle'</a:t>
            </a:r>
          </a:p>
          <a:p>
            <a:pPr>
              <a:lnSpc>
                <a:spcPct val="100000"/>
              </a:lnSpc>
              <a:spcAft>
                <a:spcPts val="0"/>
              </a:spcAft>
            </a:pPr>
            <a:r>
              <a:rPr sz="1250">
                <a:solidFill>
                  <a:srgbClr val="F2F2F2"/>
                </a:solidFill>
                <a:latin typeface="Consolas"/>
              </a:rPr>
              <a:t>  4       ORDER BY time_waited DESC FETCH FIRST 10 ROWS ONLY;</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SYS@orcl&gt; -- 방법 2: V$EVENT_NAME으로 Idle을 NOT IN 제외</a:t>
            </a:r>
          </a:p>
          <a:p>
            <a:pPr>
              <a:lnSpc>
                <a:spcPct val="100000"/>
              </a:lnSpc>
              <a:spcAft>
                <a:spcPts val="0"/>
              </a:spcAft>
            </a:pPr>
            <a:r>
              <a:rPr sz="1250">
                <a:solidFill>
                  <a:srgbClr val="F2F2F2"/>
                </a:solidFill>
                <a:latin typeface="Consolas"/>
              </a:rPr>
              <a:t>SYS@orcl&gt; SELECT e.event, e.time_waited FROM v$system_event e</a:t>
            </a:r>
          </a:p>
          <a:p>
            <a:pPr>
              <a:lnSpc>
                <a:spcPct val="100000"/>
              </a:lnSpc>
              <a:spcAft>
                <a:spcPts val="0"/>
              </a:spcAft>
            </a:pPr>
            <a:r>
              <a:rPr sz="1250">
                <a:solidFill>
                  <a:srgbClr val="F2F2F2"/>
                </a:solidFill>
                <a:latin typeface="Consolas"/>
              </a:rPr>
              <a:t>  2       WHERE e.event NOT IN (SELECT name FROM v$event_name</a:t>
            </a:r>
          </a:p>
          <a:p>
            <a:pPr>
              <a:lnSpc>
                <a:spcPct val="100000"/>
              </a:lnSpc>
              <a:spcAft>
                <a:spcPts val="0"/>
              </a:spcAft>
            </a:pPr>
            <a:r>
              <a:rPr sz="1250">
                <a:solidFill>
                  <a:srgbClr val="F2F2F2"/>
                </a:solidFill>
                <a:latin typeface="Consolas"/>
              </a:rPr>
              <a:t>  3                             WHERE wait_class='Idle')</a:t>
            </a:r>
          </a:p>
          <a:p>
            <a:pPr>
              <a:lnSpc>
                <a:spcPct val="100000"/>
              </a:lnSpc>
              <a:spcAft>
                <a:spcPts val="0"/>
              </a:spcAft>
            </a:pPr>
            <a:r>
              <a:rPr sz="1250">
                <a:solidFill>
                  <a:srgbClr val="F2F2F2"/>
                </a:solidFill>
                <a:latin typeface="Consolas"/>
              </a:rPr>
              <a:t>  4       ORDER BY e.time_waited DESC;</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 to client 313388회지만 1초 / vector data 358초 = 대량 전송</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교훈 · 맨 위가 Idle이면</a:t>
            </a:r>
          </a:p>
        </p:txBody>
      </p:sp>
      <p:sp>
        <p:nvSpPr>
          <p:cNvPr id="5" name="TextBox 4"/>
          <p:cNvSpPr txBox="1"/>
          <p:nvPr/>
        </p:nvSpPr>
        <p:spPr>
          <a:xfrm>
            <a:off x="640080" y="1078992"/>
            <a:ext cx="10881360" cy="457200"/>
          </a:xfrm>
          <a:prstGeom prst="rect">
            <a:avLst/>
          </a:prstGeom>
          <a:noFill/>
        </p:spPr>
        <p:txBody>
          <a:bodyPr wrap="square" anchor="t">
            <a:spAutoFit/>
          </a:bodyPr>
          <a:lstStyle/>
          <a:p>
            <a:pPr algn="l"/>
            <a:r>
              <a:rPr sz="1500" b="0">
                <a:solidFill>
                  <a:srgbClr val="5A6672"/>
                </a:solidFill>
                <a:latin typeface="맑은 고딕"/>
              </a:rPr>
              <a:t>필터를 빠뜨렸다는 신호</a:t>
            </a:r>
          </a:p>
        </p:txBody>
      </p:sp>
      <p:sp>
        <p:nvSpPr>
          <p:cNvPr id="6" name="TextBox 5"/>
          <p:cNvSpPr txBox="1"/>
          <p:nvPr/>
        </p:nvSpPr>
        <p:spPr>
          <a:xfrm>
            <a:off x="640080" y="1737360"/>
            <a:ext cx="10881360" cy="4754880"/>
          </a:xfrm>
          <a:prstGeom prst="rect">
            <a:avLst/>
          </a:prstGeom>
          <a:noFill/>
        </p:spPr>
        <p:txBody>
          <a:bodyPr wrap="square" anchor="t">
            <a:spAutoFit/>
          </a:bodyPr>
          <a:lstStyle/>
          <a:p>
            <a:pPr algn="l">
              <a:spcAft>
                <a:spcPts val="800"/>
              </a:spcAft>
            </a:pPr>
            <a:r>
              <a:rPr sz="1700" b="0">
                <a:solidFill>
                  <a:srgbClr val="222222"/>
                </a:solidFill>
                <a:latin typeface="맑은 고딕"/>
              </a:rPr>
              <a:t>•  'SQL*Net이 70% 최대 병목' 진단서 = 오판</a:t>
            </a:r>
          </a:p>
          <a:p>
            <a:pPr algn="l">
              <a:spcAft>
                <a:spcPts val="800"/>
              </a:spcAft>
            </a:pPr>
            <a:r>
              <a:rPr sz="1700" b="0">
                <a:solidFill>
                  <a:srgbClr val="222222"/>
                </a:solidFill>
                <a:latin typeface="맑은 고딕"/>
              </a:rPr>
              <a:t>•  네트워크·DB 병목이 아니라 유휴 시간</a:t>
            </a:r>
          </a:p>
          <a:p>
            <a:pPr algn="l">
              <a:spcAft>
                <a:spcPts val="800"/>
              </a:spcAft>
            </a:pPr>
            <a:r>
              <a:rPr sz="1700" b="0">
                <a:solidFill>
                  <a:srgbClr val="222222"/>
                </a:solidFill>
                <a:latin typeface="맑은 고딕"/>
              </a:rPr>
              <a:t>•  wait_class&lt;&gt;'Idle'로 재집계 → 진짜 병목 등장</a:t>
            </a:r>
          </a:p>
          <a:p>
            <a:pPr algn="l">
              <a:spcAft>
                <a:spcPts val="800"/>
              </a:spcAft>
            </a:pPr>
            <a:r>
              <a:rPr sz="1700" b="0">
                <a:solidFill>
                  <a:srgbClr val="222222"/>
                </a:solidFill>
                <a:latin typeface="맑은 고딕"/>
              </a:rPr>
              <a:t>•  대기 목록 맨 위 Idle = 발견이 아니라 누락 신호</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Q1. scattered read가 다중 블록(풀스캔)인 이유와 이름이 반대인 까닭은?</a:t>
            </a:r>
          </a:p>
          <a:p>
            <a:pPr algn="l">
              <a:spcAft>
                <a:spcPts val="600"/>
              </a:spcAft>
            </a:pPr>
            <a:r>
              <a:rPr sz="1600" b="0">
                <a:solidFill>
                  <a:srgbClr val="222222"/>
                </a:solidFill>
                <a:latin typeface="맑은 고딕"/>
              </a:rPr>
              <a:t>•  Q2. buffer busy로 멈춘 세션의 객체를 즉시 특정하는 V$SESSION 컬럼은?</a:t>
            </a:r>
          </a:p>
          <a:p>
            <a:pPr algn="l">
              <a:spcAft>
                <a:spcPts val="600"/>
              </a:spcAft>
            </a:pPr>
            <a:r>
              <a:rPr sz="1600" b="0">
                <a:solidFill>
                  <a:srgbClr val="222222"/>
                </a:solidFill>
                <a:latin typeface="맑은 고딕"/>
              </a:rPr>
              <a:t>•  Q3. log file sync 상위 — 디스크 교체 전 확인할 짝 이벤트와 평균 대기 시간은?</a:t>
            </a:r>
          </a:p>
          <a:p>
            <a:pPr algn="l">
              <a:spcAft>
                <a:spcPts val="600"/>
              </a:spcAft>
            </a:pPr>
            <a:r>
              <a:rPr sz="1600" b="0">
                <a:solidFill>
                  <a:srgbClr val="222222"/>
                </a:solidFill>
                <a:latin typeface="맑은 고딕"/>
              </a:rPr>
              <a:t>•  Q4. latch: shared pool 경합의 근본 원인과 처방은?</a:t>
            </a:r>
          </a:p>
          <a:p>
            <a:pPr algn="l">
              <a:spcAft>
                <a:spcPts val="600"/>
              </a:spcAft>
            </a:pPr>
            <a:r>
              <a:rPr sz="1600" b="0">
                <a:solidFill>
                  <a:srgbClr val="222222"/>
                </a:solidFill>
                <a:latin typeface="맑은 고딕"/>
              </a:rPr>
              <a:t>•  Q5. enq: TX 블로커가 INACTIVE·SQL*Net from client면 무엇을 뜻하나?</a:t>
            </a:r>
          </a:p>
          <a:p>
            <a:pPr algn="l">
              <a:spcAft>
                <a:spcPts val="600"/>
              </a:spcAft>
            </a:pPr>
            <a:r>
              <a:rPr sz="1600" b="0">
                <a:solidFill>
                  <a:srgbClr val="222222"/>
                </a:solidFill>
                <a:latin typeface="맑은 고딕"/>
              </a:rPr>
              <a:t>•  Q6. V$SYSTEM_EVENT 맨 위가 SQL*Net message from client — 무엇을 잘못했나?</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500" b="0">
                <a:solidFill>
                  <a:srgbClr val="222222"/>
                </a:solidFill>
                <a:latin typeface="맑은 고딕"/>
              </a:rPr>
              <a:t>•  대기 이벤트는 증상 — 클래스로 방향 잡고 원천(SQL·세그먼트·세션)으로 내려간다.</a:t>
            </a:r>
          </a:p>
          <a:p>
            <a:pPr algn="l">
              <a:spcAft>
                <a:spcPts val="600"/>
              </a:spcAft>
            </a:pPr>
            <a:r>
              <a:rPr sz="1500" b="0">
                <a:solidFill>
                  <a:srgbClr val="222222"/>
                </a:solidFill>
                <a:latin typeface="맑은 고딕"/>
              </a:rPr>
              <a:t>•  sequential=단일 블록=인덱스, scattered=다중 블록=풀스캔.</a:t>
            </a:r>
          </a:p>
          <a:p>
            <a:pPr algn="l">
              <a:spcAft>
                <a:spcPts val="600"/>
              </a:spcAft>
            </a:pPr>
            <a:r>
              <a:rPr sz="1500" b="0">
                <a:solidFill>
                  <a:srgbClr val="222222"/>
                </a:solidFill>
                <a:latin typeface="맑은 고딕"/>
              </a:rPr>
              <a:t>•  buffer busy = 동시성. V$SEGMENT_STATISTICS·ROW_WAIT_OBJ#로 세그먼트 지목.</a:t>
            </a:r>
          </a:p>
          <a:p>
            <a:pPr algn="l">
              <a:spcAft>
                <a:spcPts val="600"/>
              </a:spcAft>
            </a:pPr>
            <a:r>
              <a:rPr sz="1500" b="0">
                <a:solidFill>
                  <a:srgbClr val="222222"/>
                </a:solidFill>
                <a:latin typeface="맑은 고딕"/>
              </a:rPr>
              <a:t>•  log file sync = 커밋 대기. parallel write·평균 대기로 디스크 vs 잦은 커밋 판별.</a:t>
            </a:r>
          </a:p>
          <a:p>
            <a:pPr algn="l">
              <a:spcAft>
                <a:spcPts val="600"/>
              </a:spcAft>
            </a:pPr>
            <a:r>
              <a:rPr sz="1500" b="0">
                <a:solidFill>
                  <a:srgbClr val="222222"/>
                </a:solidFill>
                <a:latin typeface="맑은 고딕"/>
              </a:rPr>
              <a:t>•  latch/mutex 경합의 배후는 하드 파싱 — 처방은 바인드 변수.</a:t>
            </a:r>
          </a:p>
          <a:p>
            <a:pPr algn="l">
              <a:spcAft>
                <a:spcPts val="600"/>
              </a:spcAft>
            </a:pPr>
            <a:r>
              <a:rPr sz="1500" b="0">
                <a:solidFill>
                  <a:srgbClr val="222222"/>
                </a:solidFill>
                <a:latin typeface="맑은 고딕"/>
              </a:rPr>
              <a:t>•  enq: TX = 애플리케이션 잠금. blocking_session으로 최종 블로커 역추적.</a:t>
            </a:r>
          </a:p>
          <a:p>
            <a:pPr algn="l">
              <a:spcAft>
                <a:spcPts val="600"/>
              </a:spcAft>
            </a:pPr>
            <a:r>
              <a:rPr sz="1500" b="0">
                <a:solidFill>
                  <a:srgbClr val="222222"/>
                </a:solidFill>
                <a:latin typeface="맑은 고딕"/>
              </a:rPr>
              <a:t>•  SQL*Net message from client는 Idle — wait_class&lt;&gt;'Idle'이 첫 규율.</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nchor="t">
            <a:spAutoFit/>
          </a:bodyPr>
          <a:lstStyle/>
          <a:p>
            <a:pPr algn="l">
              <a:spcAft>
                <a:spcPts val="600"/>
              </a:spcAft>
            </a:pPr>
            <a:r>
              <a:rPr sz="1600" b="0">
                <a:solidFill>
                  <a:srgbClr val="222222"/>
                </a:solidFill>
                <a:latin typeface="맑은 고딕"/>
              </a:rPr>
              <a:t>•  실습 01 — 대기 이벤트 분류 체계 확인(V$EVENT_NAME, 클래스별)</a:t>
            </a:r>
          </a:p>
          <a:p>
            <a:pPr algn="l">
              <a:spcAft>
                <a:spcPts val="600"/>
              </a:spcAft>
            </a:pPr>
            <a:r>
              <a:rPr sz="1600" b="0">
                <a:solidFill>
                  <a:srgbClr val="222222"/>
                </a:solidFill>
                <a:latin typeface="맑은 고딕"/>
              </a:rPr>
              <a:t>•  실습 02 — WL_02_io.sql로 db file sequential/scattered read 유발·구분</a:t>
            </a:r>
          </a:p>
          <a:p>
            <a:pPr algn="l">
              <a:spcAft>
                <a:spcPts val="600"/>
              </a:spcAft>
            </a:pPr>
            <a:r>
              <a:rPr sz="1600" b="0">
                <a:solidFill>
                  <a:srgbClr val="222222"/>
                </a:solidFill>
                <a:latin typeface="맑은 고딕"/>
              </a:rPr>
              <a:t>•  실습 03 — buffer busy waits 재현과 원인 세그먼트 지목</a:t>
            </a:r>
          </a:p>
          <a:p>
            <a:pPr algn="l">
              <a:spcAft>
                <a:spcPts val="600"/>
              </a:spcAft>
            </a:pPr>
            <a:r>
              <a:rPr sz="1600" b="0">
                <a:solidFill>
                  <a:srgbClr val="222222"/>
                </a:solidFill>
                <a:latin typeface="맑은 고딕"/>
              </a:rPr>
              <a:t>•  실습 04 — WL_05_commit.sql로 log file sync 재현 — 커밋 빈도</a:t>
            </a:r>
          </a:p>
          <a:p>
            <a:pPr algn="l">
              <a:spcAft>
                <a:spcPts val="600"/>
              </a:spcAft>
            </a:pPr>
            <a:r>
              <a:rPr sz="1600" b="0">
                <a:solidFill>
                  <a:srgbClr val="222222"/>
                </a:solidFill>
                <a:latin typeface="맑은 고딕"/>
              </a:rPr>
              <a:t>•  실습 05 — latch/mutex 경합 관찰 — 라이브러리 캐시 경합</a:t>
            </a:r>
          </a:p>
          <a:p>
            <a:pPr algn="l">
              <a:spcAft>
                <a:spcPts val="600"/>
              </a:spcAft>
            </a:pPr>
            <a:r>
              <a:rPr sz="1600" b="0">
                <a:solidFill>
                  <a:srgbClr val="222222"/>
                </a:solidFill>
                <a:latin typeface="맑은 고딕"/>
              </a:rPr>
              <a:t>•  실습 06 — WL_04_lock.sql로 enq: TX 재현과 블로커 추적</a:t>
            </a:r>
          </a:p>
          <a:p>
            <a:pPr algn="l">
              <a:spcAft>
                <a:spcPts val="600"/>
              </a:spcAft>
            </a:pPr>
            <a:r>
              <a:rPr sz="1600" b="0">
                <a:solidFill>
                  <a:srgbClr val="222222"/>
                </a:solidFill>
                <a:latin typeface="맑은 고딕"/>
              </a:rPr>
              <a:t>•  실습 07 — Idle 이벤트를 병목으로 오판하는 사례 재현과 교정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
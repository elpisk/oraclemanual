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ADMIN 32장에서 개념은 다뤘다. 여기서는 폴링 대비 push의 이점(즉시성·저부하·표준화)을 확인하고, 이 인프라가 라이선스와 무관한 기본 기능이라는 점을 강조한다. MMON은 AWR 스냅샷을 뜨는 바로 그 프로세스이며, 스냅샷보다 짧은 주기로도 SGA의 메트릭을 계산해 임계값과 비교한다. EM이 없어도 딕셔너리 뷰만으로 완전한 알림 관리가 가능하다는 것이 이 장 실습의 전제다.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사전 정의 알림은 기본 임계값을 이미 갖고 있어 그대로 동작한다. 관리자가 할 일은 기본값을 환경에 맞게 조정하고 필요한 메트릭에 사용자 알림을 추가하는 것이다. 두 소비 경로의 원천 데이터가 같으므로 EM이 없는 환경도 스케줄러 잡으로 DBA_OUTSTANDING_ALERTS를 읽어 자체 통지 체계를 만들 수 있다. 이 자유도의 바탕은 알림 인프라가 라이선스 무관 기본 기능이라는 점이다.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구분이 대응의 출발점이다. Stateful 알림은 '지금 이 문제가 계속되고 있다'를 뜻하므로 원인을 제거하는 것이 목표이고, 원인이 사라지면 다음 감시 주기에 서버가 자동으로 해소한다. 조치 직후 즉시 사라지지 않는 것은 정상이다. Stateless 알림은 이미 지나간 사건이라 남길 상태가 없고, 왜 그 사건이 일어났는지 사후에 확인하는 것이 목표다.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MESSAGE_LEVEL은 심각도로 1이 Critical(위험), 5가 Warning(경고)이다. 위 결과의 1은 RTBS가 100% 찼다는 위험 알림이다. 100%까지 갔다는 것은 85%(경고)·97%(위험) 임계값을 지나는 동안 아무도 대응하지 못했다는 신호다. 경고 단계에서 잡았다면 위험까지 가지 않았을 것이며, 임계값을 두 단계로 나누는 이유가 여기에 있다. Stateful이므로 RTBS에 공간을 확보하면 다음 감시 주기에 자동 해소된다.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08-20의 'Operation on resumable session'은 재개 가능 모드로 실행되던 적재 작업이 공간 부족 등으로 일시중단됐다가 처리된 Stateless 사건이다. up/down 이력이 잦은 것은 성능 문제가 아니라 실습 환경에서 인스턴스를 자주 내렸다 올린 흔적이다. 이력을 읽을 때는 '성능 알림'과 '운영 이벤트'를 reason으로 걸러 구분해야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메트릭은 종류가 많다. V$SYSSTAT 같은 원시 통계는 인스턴스 기동 이후 누적 절대값이라 '지금 얼마나 바쁜가'를 직관적으로 못 보여 준다. 메트릭은 단위 시간·단위 작업당 값으로 가공돼 임계값과 곧바로 비교된다. 임계값을 걸 메트릭을 고를 때는 사용자 체감과 연결되는지를 기준으로 삼는다. 체감과 무관한 내부 지표에 임계값을 거는 것은 소음만 늘린다.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WARNING 85·CRITICAL 97 행이 데이터베이스 기본 임계값이다. &lt;SYSTEM-GENERATED THRESHOLD&gt; 행은 특정 테이블스페이스에 시스템이 자동 생성한 항목으로, CRITICAL 0이면 위험 임계값이 실질적으로 설정되지 않았다는 뜻이다. 사전 정의 알림은 데이터베이스 수준 기본값을 갖고, 특정 대상만 다르게 감시하려면 object_name으로 지정해 별도 임계값을 덮어쓴다. CONSECUTIVE 1은 한 번 초과해도 곧바로 알림이다.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개의 손잡이가 있다. 경고·위험 값(얼마로 잡을지, 12.4의 주제), 비교 연산자(사용률·응답시간은 GE), 관측 주기(분), 연속 관측 횟수, 적용 대상이다. 값을 NULL 두 개로 주면 기본값으로 초기화된다. GET_THRESHOLD로 현재 값을 얻을 수 있다. observation_period와 consecutive_occurrences는 순간 스파이크를 걸러 내는 완충 장치로, 임계값과 함께 설계한다.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임계값을 아무리 잘 잡아도 한 번 튀었다 사라지는 값은 늘 있다. 연속 관측 횟수를 2~3으로 두면 지속적인 악화만 걸러 낸다. 임계값을 무작정 낮추면 알림 피로가 오지만, 연속 횟수로 완충하면 임계값은 분포 기반으로 두면서도 노이즈를 줄일 수 있다. 세 손잡이를 따로 만지지 말고 함께 설계하는 것이 요령이다. 특히 관측 주기(observation_period)를 함께 조정하면 짧은 주기의 순간 스파이크에 과민 반응하지 않으면서도 지속적인 악화는 놓치지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많은 현장이 임계값을 감으로 정한다. '활성 세션 10개면 위험하겠지' 식이다. 그러나 평소 활성 세션이 8개인 시스템에 10개 경고를 걸면 거의 상시로 울리고, 평소 1개인 시스템에 10개 경고는 아무것도 감시하지 못한다. 임계값은 절대 숫자가 아니라 그 시스템의 정상 범위를 벗어난 지점이며, 그 평시는 DBA_HIST 이력에 이미 기록돼 있다. 임계값 설계는 통계 문제다.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한 시점만 보면 판단이 어렵다. AAS 4.28은 높은가? Executions 916.31은 정상인가? 알 수 없다. 이 값이 평범한지 이례적인지 판정하려면 비교 대상, 즉 평시 분포가 필요하다. CPU Time Ratio 96.8%는 DB Time 대부분이 CPU이고 대기가 3.2%뿐이라는 뜻인데, 이것이 건강한 CPU 바운드인지 포화 직전인지는 Host CPU 48.77%와 이력을 함께 봐야 판정된다. 현재값은 분포 위의 한 점일 뿐이다.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실제 숫자는 환경마다 다르므로 &lt;환경값&gt;으로 둔다. 요점은 절차다. 캡처 시점 현재값 4.28은 이 분포 위 어딘가에 찍히는 점이다. 4.28이 p50 근처면 지금은 평범한 부하이고, p95를 넘으면 이미 이례적으로 바쁜 순간이다. 같은 4.28이라도 분포에 따라 해석이 정반대가 된다. 라이선스가 없으면 V$SYSMETRIC_HISTORY를 자체 적재하거나 Statspack 메트릭으로 같은 분포를 만든다.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규칙은 특정 숫자가 아니라 절차이므로 어느 메트릭에나 적용된다. 예외는 물리적·계약적 한계가 분명한 지표다. 테이블스페이스 사용률의 85/97처럼 공간이 실제로 없어지는 지점이 분명하면 그 값을 그대로 쓴다. 분포 산정은 활성 세션·응답시간·CPU 비율 같은 부하성 메트릭에 특히 유효하다. 평균+2·표준편차(경고)·평균+3·표준편차(위험)로 백분위수를 보정할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백분위수만으로 부족할 때 평균과 표준편차를 함께 본다. DBA_HIST_SYSMETRIC_SUMMARY는 스냅샷마다 AVERAGE와 STANDARD_DEVIATION을 준다. 백분위수는 표본 수에 민감하고 평균±표준편차는 산포를 직접 반영하므로, 둘을 대조해 값의 신뢰도를 판단한다. 지표 성격도 반영한다. 이미 비율인 CPU Time Ratio는 지속성이 중요해 observation_period를 길게, 상한 없는 처리량 지표는 백분위수가 잘 맞는다.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흔한 실수는 지금 값을 그대로 임계값으로 삼는 것이다. 4.28이 평시 중앙값이라면 5 경고는 거의 상시로 울려 알림 피로만 남긴다. 옳은 접근은 이력에서 분포를 뽑아 p95·p99를 임계값으로 쓰는 것이다. Host CPU가 아직 절반 수준(48.77%)이므로 활성 세션이 코어 수를 넘기 시작하는 지점이 위험 후보가 된다. 현재값은 판정의 기준점일 뿐 임계값이 아니다.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임계값 산정은 일회성이 아니다. 잘 산정한 경고가 최근 부쩍 자주 울린다면 임계값이 낮은 게 아니라 시스템이 실제로 한계에 가까워지고 있다는 용량 계획의 경보일 수 있다. 이때는 임계값을 올릴 게 아니라 자원 증설·부하 분산을 검토한다. 표본 구간은 업무 성격에 맞게 나눈다. 배치 새벽과 사용자 낮을 섞으면 분포가 두 봉우리가 되어 백분위수가 왜곡되므로, WHERE 절에 시간대 필터를 걸어 구간을 분리한 뒤 각각 산정한다.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핵심은 위에서 아래로 좁혀 가는 것이다. '알림이 왔다'에서 곧바로 '이 SQL이 문제다'로 건너뛰지 않는다. 부하가 인스턴스 전반인지 특정 세션·서비스인지 먼저 가른 다음 활성 세션→대기→SQL로 내려간다. 대응하면서 조치 전 상태를 캡처해 근거를 남긴다. 그래야 조치 효과를 증명하고, 같은 알림이 반복될 때 근본 원인을 추적할 수 있다. 이 순서는 ch17의 응급 대응 절차와 ch26~ch27의 V$ 진단 경로를 알림 상황에 맞게 재구성한 것이다.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증상(느림)과 원인(잠금)을 혼동하지 않는 것이 이 실습의 요점이다. 신고받은 SQL의 실행계획부터 보면 원인이 안 나온다. SQL이 느린 게 아니라 잠금에 걸려 대기 중이기 때문이다. 절차대로 활성 세션의 대기 이벤트부터 보면 enq: TX - row lock contention이 잡히고, 블로커를 해소하면 그 SQL은 원래 속도로 끝난다. Stateful 알림이므로 경합이 풀리면 자동 해소된다.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상시 모니터링은 한 번의 대응이 아니라 기록의 축적으로 완성된다. 조치 전 상태를 캡처하지 않으면 조치가 효과 있었는지 증명할 수 없다. 알림이 울린 시각의 지표, 지목한 블로커와 SQL, 조치와 조치 후 값을 남기면 두 가지로 쓰인다. 같은 알림이 다시 울릴 때 지난번과 대조하고, 특정 알림이 반복되면 그 기록들이 근본 원인을 가리키는 증거가 된다. 근거를 남기지 않은 대응은 그때는 넘겨도 다음번에 같은 판단을 처음부터 다시 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모든 행의 SOFAR와 TOTALWORK가 같아 진행률 100%다. 즉 조회 시점에 RMAN 증분 백업이 이미 완료돼 잠시 남아 있는 것이다. LONGOPS 행은 작업이 끝나도 잠시 남으므로 PCT 100은 '진행 중'이 아니라 '방금 끝남'이다. 진행 중만 보려면 sofar&lt;totalwork로 거르고 TIME_REMAINING으로 완료 예정을 계산한다. 백업이 업무 시간에 몰려 돌면 db file 대기가 늘어 그 자체가 부하 원인이 되므로 유지관리 윈도우와의 충돌을 점검한다.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상시 모니터링에서 세션은 ACTIVE/INACTIVE/KILLED로 구분한다. 활성 세션 수가 갑자기 늘었다면 그것이 바빠서인지 기다려서인지를 event로 가른다. 라이선스가 없어도 이 조회를 짧은 주기로 반복하면 ASH를 흉내 낼 수 있다(ch15 대안 경로). 부하가 없으면 행이 없는 것이 정상이다. 장기 작업(정상적으로 오래 걸리는 배치)과 갑자기 몰린 대기(비정상 경합)를 함께 보아야 대응을 혼동하지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value는 인스턴스 기동 이후 누적이라 두 시점 델타로 봐야 의미가 있다(ch15·ch19 원칙). 서비스가 여럿이면 같은 구간의 서비스별 DB time 델타를 비교해 부하가 어느 업무에 몰렸는지 가른다. 실습 환경은 orcl 서비스 하나뿐이지만, 운영에서는 DBMS_SERVICE로 업무별 서비스를 분리 등록해 두어야 이 관찰이 의미를 갖는다. 서비스 설계가 곧 모니터링 설계다.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청구 조회와 배치 적재가 한 인스턴스에서 돌 때, 전체 DB Time만으로는 둘 중 무엇 때문인지 못 가린다. 서비스별로 나눠 보면 부하가 어느 업무에 몰렸는지 드러난다. V$SERVICE_STATS는 누적값이라 두 시점 델타로 봐야 한다. 진짜 힘은 12.4와 결합할 때다. 서비스별 평시 분포가 다르므로 각 서비스의 p95·p99를 따로 임계값으로 걸면, 인스턴스 전체 기준으로는 안 잡히는 특정 업무만의 미세한 악화를 포착한다.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가장 흔한 실패는 놓치는 게 두려워 임계값을 지나치게 낮게 잡는 것이다. 임계값이 평시 분포 안쪽에 있으면 알림은 상시로 울리고, 곧 소음이 된다. 알림 피로의 진짜 위험은 무뎌진 사람이 진짜 위험까지 무시하게 된다는 것이다. 반대로 너무 높으면 RTBS가 100%까지 간 것처럼 지각한다. 균형점을 감이 아니라 이력 분포에서 찾는 것이 이 장의 처음부터 끝까지의 원칙이다.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r>
              <a:rPr sz="1600" b="1">
                <a:solidFill>
                  <a:srgbClr val="FFFFFF"/>
                </a:solidFill>
                <a:latin typeface="맑은 고딕"/>
              </a:rPr>
              <a:t>Oracle Database 19c 성능 튜닝 실무 과정</a:t>
            </a:r>
          </a:p>
        </p:txBody>
      </p:sp>
      <p:sp>
        <p:nvSpPr>
          <p:cNvPr id="6" name="TextBox 5"/>
          <p:cNvSpPr txBox="1"/>
          <p:nvPr/>
        </p:nvSpPr>
        <p:spPr>
          <a:xfrm>
            <a:off x="731520" y="2377440"/>
            <a:ext cx="10698480" cy="1554480"/>
          </a:xfrm>
          <a:prstGeom prst="rect">
            <a:avLst/>
          </a:prstGeom>
          <a:noFill/>
        </p:spPr>
        <p:txBody>
          <a:bodyPr wrap="square">
            <a:spAutoFit/>
          </a:bodyPr>
          <a:lstStyle/>
          <a:p>
            <a:r>
              <a:rPr sz="3400" b="1">
                <a:solidFill>
                  <a:srgbClr val="C0392B"/>
                </a:solidFill>
                <a:latin typeface="맑은 고딕"/>
              </a:rPr>
              <a:t>경고·메트릭 기반 상시 모니터링</a:t>
            </a:r>
          </a:p>
          <a:p>
            <a:r>
              <a:rPr sz="2000" b="0">
                <a:solidFill>
                  <a:srgbClr val="5A6672"/>
                </a:solidFill>
                <a:latin typeface="맑은 고딕"/>
              </a:rPr>
              <a:t>Server-Generated Alerts &amp; Metrics — 얼마로 잡고, 울리면 무엇부터 보는가</a:t>
            </a:r>
          </a:p>
        </p:txBody>
      </p:sp>
      <p:sp>
        <p:nvSpPr>
          <p:cNvPr id="7" name="TextBox 6"/>
          <p:cNvSpPr txBox="1"/>
          <p:nvPr/>
        </p:nvSpPr>
        <p:spPr>
          <a:xfrm>
            <a:off x="731520" y="4114800"/>
            <a:ext cx="10698480" cy="1097280"/>
          </a:xfrm>
          <a:prstGeom prst="rect">
            <a:avLst/>
          </a:prstGeom>
          <a:noFill/>
        </p:spPr>
        <p:txBody>
          <a:bodyPr wrap="square">
            <a:spAutoFit/>
          </a:bodyPr>
          <a:lstStyle/>
          <a:p>
            <a:r>
              <a:rPr sz="1500" b="0">
                <a:solidFill>
                  <a:srgbClr val="5A6672"/>
                </a:solidFill>
                <a:latin typeface="맑은 고딕"/>
              </a:rPr>
              <a:t>서버 생성 알림 · 임계값 산정(이력 분포) · 알림 대응 절차 · 세션·서비스 모니터링   (ADMIN 32장 흡수·심화)</a:t>
            </a:r>
          </a:p>
        </p:txBody>
      </p:sp>
      <p:sp>
        <p:nvSpPr>
          <p:cNvPr id="8" name="TextBox 7"/>
          <p:cNvSpPr txBox="1"/>
          <p:nvPr/>
        </p:nvSpPr>
        <p:spPr>
          <a:xfrm>
            <a:off x="731520" y="5577840"/>
            <a:ext cx="10698480" cy="914400"/>
          </a:xfrm>
          <a:prstGeom prst="rect">
            <a:avLst/>
          </a:prstGeom>
          <a:noFill/>
        </p:spPr>
        <p:txBody>
          <a:bodyPr wrap="square">
            <a:spAutoFit/>
          </a:bodyPr>
          <a:lstStyle/>
          <a:p>
            <a:r>
              <a:rPr sz="2000" b="1">
                <a:solidFill>
                  <a:srgbClr val="C0392B"/>
                </a:solidFill>
                <a:latin typeface="맑은 고딕"/>
              </a:rPr>
              <a:t>제ch28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학습 목표 (Objectives)</a:t>
            </a:r>
          </a:p>
        </p:txBody>
      </p:sp>
      <p:sp>
        <p:nvSpPr>
          <p:cNvPr id="4" name="TextBox 3"/>
          <p:cNvSpPr txBox="1"/>
          <p:nvPr/>
        </p:nvSpPr>
        <p:spPr>
          <a:xfrm>
            <a:off x="640080" y="1371600"/>
            <a:ext cx="10881360" cy="5120640"/>
          </a:xfrm>
          <a:prstGeom prst="rect">
            <a:avLst/>
          </a:prstGeom>
          <a:noFill/>
        </p:spPr>
        <p:txBody>
          <a:bodyPr wrap="square">
            <a:spAutoFit/>
          </a:bodyPr>
          <a:lstStyle/>
          <a:p>
            <a:pPr>
              <a:spcAft>
                <a:spcPts val="600"/>
              </a:spcAft>
            </a:pPr>
            <a:r>
              <a:rPr sz="1600" b="0">
                <a:solidFill>
                  <a:srgbClr val="222222"/>
                </a:solidFill>
                <a:latin typeface="맑은 고딕"/>
              </a:rPr>
              <a:t>•  서버 생성 알림 구조(MMON·ALERT_QUE·딕셔너리 뷰)를 설명하고 Stateful/Stateless를 구분한다.</a:t>
            </a:r>
          </a:p>
          <a:p>
            <a:pPr>
              <a:spcAft>
                <a:spcPts val="600"/>
              </a:spcAft>
            </a:pPr>
            <a:r>
              <a:rPr sz="1600" b="0">
                <a:solidFill>
                  <a:srgbClr val="222222"/>
                </a:solidFill>
                <a:latin typeface="맑은 고딕"/>
              </a:rPr>
              <a:t>•  DBMS_SERVER_ALERT.SET_THRESHOLD로 임계값을 설정·조회·초기화한다.</a:t>
            </a:r>
          </a:p>
          <a:p>
            <a:pPr>
              <a:spcAft>
                <a:spcPts val="600"/>
              </a:spcAft>
            </a:pPr>
            <a:r>
              <a:rPr sz="1600" b="0">
                <a:solidFill>
                  <a:srgbClr val="222222"/>
                </a:solidFill>
                <a:latin typeface="맑은 고딕"/>
              </a:rPr>
              <a:t>•  DBA_HIST 이력 분포(p95·p99)에서 근거 있는 임계값을 산정한다. (이 장의 핵심)</a:t>
            </a:r>
          </a:p>
          <a:p>
            <a:pPr>
              <a:spcAft>
                <a:spcPts val="600"/>
              </a:spcAft>
            </a:pPr>
            <a:r>
              <a:rPr sz="1600" b="0">
                <a:solidFill>
                  <a:srgbClr val="222222"/>
                </a:solidFill>
                <a:latin typeface="맑은 고딕"/>
              </a:rPr>
              <a:t>•  알림이 울렸을 때 증상에서 원인으로 좁혀 가는 대응 절차를 수행한다.</a:t>
            </a:r>
          </a:p>
          <a:p>
            <a:pPr>
              <a:spcAft>
                <a:spcPts val="600"/>
              </a:spcAft>
            </a:pPr>
            <a:r>
              <a:rPr sz="1600" b="0">
                <a:solidFill>
                  <a:srgbClr val="222222"/>
                </a:solidFill>
                <a:latin typeface="맑은 고딕"/>
              </a:rPr>
              <a:t>•  V$SESSION_LONGOPS로 장기 작업을, V$SERVICE_STATS·V$SERVICEMETRIC로 업무별 성능을 관찰한다.</a:t>
            </a:r>
          </a:p>
          <a:p>
            <a:pPr>
              <a:spcAft>
                <a:spcPts val="600"/>
              </a:spcAft>
            </a:pPr>
            <a:r>
              <a:rPr sz="1600" b="0">
                <a:solidFill>
                  <a:srgbClr val="222222"/>
                </a:solidFill>
                <a:latin typeface="맑은 고딕"/>
              </a:rPr>
              <a:t>•  임계값을 낮게 잡을 때의 알림 피로(alert fatigue)를 이해하고 피한다.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이 장의 구성 (Agenda)</a:t>
            </a:r>
          </a:p>
        </p:txBody>
      </p:sp>
      <p:sp>
        <p:nvSpPr>
          <p:cNvPr id="4" name="TextBox 3"/>
          <p:cNvSpPr txBox="1"/>
          <p:nvPr/>
        </p:nvSpPr>
        <p:spPr>
          <a:xfrm>
            <a:off x="640080" y="1371600"/>
            <a:ext cx="10881360" cy="5120640"/>
          </a:xfrm>
          <a:prstGeom prst="rect">
            <a:avLst/>
          </a:prstGeom>
          <a:noFill/>
        </p:spPr>
        <p:txBody>
          <a:bodyPr wrap="square">
            <a:spAutoFit/>
          </a:bodyPr>
          <a:lstStyle/>
          <a:p>
            <a:pPr>
              <a:spcAft>
                <a:spcPts val="600"/>
              </a:spcAft>
            </a:pPr>
            <a:r>
              <a:rPr sz="1600" b="0">
                <a:solidFill>
                  <a:srgbClr val="222222"/>
                </a:solidFill>
                <a:latin typeface="맑은 고딕"/>
              </a:rPr>
              <a:t>•  12.2  서버 생성 알림의 구조 — 무엇이 언제 울리는가</a:t>
            </a:r>
          </a:p>
          <a:p>
            <a:pPr>
              <a:spcAft>
                <a:spcPts val="600"/>
              </a:spcAft>
            </a:pPr>
            <a:r>
              <a:rPr sz="1600" b="0">
                <a:solidFill>
                  <a:srgbClr val="222222"/>
                </a:solidFill>
                <a:latin typeface="맑은 고딕"/>
              </a:rPr>
              <a:t>•  12.3  메트릭 임계값 설정 — DBMS_SERVER_ALERT.SET_THRESHOLD</a:t>
            </a:r>
          </a:p>
          <a:p>
            <a:pPr>
              <a:spcAft>
                <a:spcPts val="600"/>
              </a:spcAft>
            </a:pPr>
            <a:r>
              <a:rPr sz="1600" b="0">
                <a:solidFill>
                  <a:srgbClr val="222222"/>
                </a:solidFill>
                <a:latin typeface="맑은 고딕"/>
              </a:rPr>
              <a:t>•  12.4  임계값을 얼마로 잡을 것인가 — 이력 분포 산정 (핵심 · 🔒)</a:t>
            </a:r>
          </a:p>
          <a:p>
            <a:pPr>
              <a:spcAft>
                <a:spcPts val="600"/>
              </a:spcAft>
            </a:pPr>
            <a:r>
              <a:rPr sz="1600" b="0">
                <a:solidFill>
                  <a:srgbClr val="222222"/>
                </a:solidFill>
                <a:latin typeface="맑은 고딕"/>
              </a:rPr>
              <a:t>•  12.5  알림 대응 절차 — 울렸을 때 무엇부터 보는가</a:t>
            </a:r>
          </a:p>
          <a:p>
            <a:pPr>
              <a:spcAft>
                <a:spcPts val="600"/>
              </a:spcAft>
            </a:pPr>
            <a:r>
              <a:rPr sz="1600" b="0">
                <a:solidFill>
                  <a:srgbClr val="222222"/>
                </a:solidFill>
                <a:latin typeface="맑은 고딕"/>
              </a:rPr>
              <a:t>•  12.6  세션 모니터링 — 활성 세션·장기 실행 작업</a:t>
            </a:r>
          </a:p>
          <a:p>
            <a:pPr>
              <a:spcAft>
                <a:spcPts val="600"/>
              </a:spcAft>
            </a:pPr>
            <a:r>
              <a:rPr sz="1600" b="0">
                <a:solidFill>
                  <a:srgbClr val="222222"/>
                </a:solidFill>
                <a:latin typeface="맑은 고딕"/>
              </a:rPr>
              <a:t>•  12.7  서비스 단위 모니터링 — 업무별로 나눠 본다</a:t>
            </a:r>
          </a:p>
          <a:p>
            <a:pPr>
              <a:spcAft>
                <a:spcPts val="600"/>
              </a:spcAft>
            </a:pPr>
            <a:r>
              <a:rPr sz="1600" b="0">
                <a:solidFill>
                  <a:srgbClr val="222222"/>
                </a:solidFill>
                <a:latin typeface="맑은 고딕"/>
              </a:rPr>
              <a:t>•  12.8  흔한 함정 — 임계값을 낮게 잡아 알림 피로</a:t>
            </a:r>
          </a:p>
          <a:p>
            <a:pPr>
              <a:spcAft>
                <a:spcPts val="600"/>
              </a:spcAft>
            </a:pPr>
            <a:r>
              <a:rPr sz="1600" b="0">
                <a:solidFill>
                  <a:srgbClr val="222222"/>
                </a:solidFill>
                <a:latin typeface="맑은 고딕"/>
              </a:rPr>
              <a:t>•  ※ ADMIN 32장이 '설정하는 법'이었다면, 이 장은 '얼마로 잡고 울리면 무엇부터 보는가'다.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12.2</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서버 생성 알림의 구조</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spcAft>
                <a:spcPts val="400"/>
              </a:spcAft>
            </a:pPr>
            <a:r>
              <a:rPr sz="1600" b="0">
                <a:solidFill>
                  <a:srgbClr val="FFFFFF"/>
                </a:solidFill>
                <a:latin typeface="맑은 고딕"/>
              </a:rPr>
              <a:t>•  폴링의 약점과 push 알림</a:t>
            </a:r>
          </a:p>
          <a:p>
            <a:pPr>
              <a:spcAft>
                <a:spcPts val="400"/>
              </a:spcAft>
            </a:pPr>
            <a:r>
              <a:rPr sz="1600" b="0">
                <a:solidFill>
                  <a:srgbClr val="FFFFFF"/>
                </a:solidFill>
                <a:latin typeface="맑은 고딕"/>
              </a:rPr>
              <a:t>•  MMON · ALERT_QUE</a:t>
            </a:r>
          </a:p>
          <a:p>
            <a:pPr>
              <a:spcAft>
                <a:spcPts val="400"/>
              </a:spcAft>
            </a:pPr>
            <a:r>
              <a:rPr sz="1600" b="0">
                <a:solidFill>
                  <a:srgbClr val="FFFFFF"/>
                </a:solidFill>
                <a:latin typeface="맑은 고딕"/>
              </a:rPr>
              <a:t>•  Stateful vs Stateless</a:t>
            </a:r>
          </a:p>
          <a:p>
            <a:pPr>
              <a:spcAft>
                <a:spcPts val="400"/>
              </a:spcAft>
            </a:pPr>
            <a:r>
              <a:rPr sz="1600" b="0">
                <a:solidFill>
                  <a:srgbClr val="FFFFFF"/>
                </a:solidFill>
                <a:latin typeface="맑은 고딕"/>
              </a:rPr>
              <a:t>•  미해소·이력 딕셔너리 뷰</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폴링에서 서버 생성 알림으로</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감시 로직을 커널 안으로</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전통적 감시 = DBA 스크립트로 주기적 폴링 → 사각지대·부하·유지 부담</a:t>
            </a:r>
          </a:p>
          <a:p>
            <a:pPr>
              <a:spcAft>
                <a:spcPts val="800"/>
              </a:spcAft>
            </a:pPr>
            <a:r>
              <a:rPr sz="1700" b="0">
                <a:solidFill>
                  <a:srgbClr val="222222"/>
                </a:solidFill>
                <a:latin typeface="맑은 고딕"/>
              </a:rPr>
              <a:t>•  서버 생성 알림 = 서버가 스스로 상태를 감시해 문제 시 알림 발생</a:t>
            </a:r>
          </a:p>
          <a:p>
            <a:pPr>
              <a:spcAft>
                <a:spcPts val="800"/>
              </a:spcAft>
            </a:pPr>
            <a:r>
              <a:rPr sz="1700" b="0">
                <a:solidFill>
                  <a:srgbClr val="222222"/>
                </a:solidFill>
                <a:latin typeface="맑은 고딕"/>
              </a:rPr>
              <a:t>•  감시 주체 = MMON. 임계값 초과 시 ALERT_QUE(Advanced Queuing)에 등록</a:t>
            </a:r>
          </a:p>
          <a:p>
            <a:pPr>
              <a:spcAft>
                <a:spcPts val="800"/>
              </a:spcAft>
            </a:pPr>
            <a:r>
              <a:rPr sz="1700" b="0">
                <a:solidFill>
                  <a:srgbClr val="222222"/>
                </a:solidFill>
                <a:latin typeface="맑은 고딕"/>
              </a:rPr>
              <a:t>•  폴링이 아니라 사건 발생 시점의 즉시 통지(push) 구조</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알림 소비 경로와 사전 정의 알림</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원천은 하나, 소비는 두 갈래</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소비 ① EM이 ALERT_QUE 구독 → 콘솔 표시·이메일·페이지 통지</a:t>
            </a:r>
          </a:p>
          <a:p>
            <a:pPr>
              <a:spcAft>
                <a:spcPts val="800"/>
              </a:spcAft>
            </a:pPr>
            <a:r>
              <a:rPr sz="1700" b="0">
                <a:solidFill>
                  <a:srgbClr val="222222"/>
                </a:solidFill>
                <a:latin typeface="맑은 고딕"/>
              </a:rPr>
              <a:t>•  소비 ② 딕셔너리 뷰 직접 조회 또는 DBMS_AQ로 큐 디큐</a:t>
            </a:r>
          </a:p>
          <a:p>
            <a:pPr>
              <a:spcAft>
                <a:spcPts val="800"/>
              </a:spcAft>
            </a:pPr>
            <a:r>
              <a:rPr sz="1700" b="0">
                <a:solidFill>
                  <a:srgbClr val="222222"/>
                </a:solidFill>
                <a:latin typeface="맑은 고딕"/>
              </a:rPr>
              <a:t>•  사전 정의 알림: Tablespace Space Usage(85/97), Snapshot Too Old 등</a:t>
            </a:r>
          </a:p>
          <a:p>
            <a:pPr>
              <a:spcAft>
                <a:spcPts val="800"/>
              </a:spcAft>
            </a:pPr>
            <a:r>
              <a:rPr sz="1700" b="0">
                <a:solidFill>
                  <a:srgbClr val="222222"/>
                </a:solidFill>
                <a:latin typeface="맑은 고딕"/>
              </a:rPr>
              <a:t>•  사용자 알림: 임계값을 지정해야 활성화(응답시간·활성 세션 등)</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Stateful vs Stateless 알림</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대응 목표가 다르다</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Stateful = 조건이 지속되는 '동안' 유지되는 상태(예: 테이블스페이스 사용률)</a:t>
            </a:r>
          </a:p>
          <a:p>
            <a:pPr>
              <a:spcAft>
                <a:spcPts val="800"/>
              </a:spcAft>
            </a:pPr>
            <a:r>
              <a:rPr sz="1700" b="0">
                <a:solidFill>
                  <a:srgbClr val="222222"/>
                </a:solidFill>
                <a:latin typeface="맑은 고딕"/>
              </a:rPr>
              <a:t>•    → DBA_OUTSTANDING_ALERTS에 남아 있다가 조건 해소 시 자동 clear</a:t>
            </a:r>
          </a:p>
          <a:p>
            <a:pPr>
              <a:spcAft>
                <a:spcPts val="800"/>
              </a:spcAft>
            </a:pPr>
            <a:r>
              <a:rPr sz="1700" b="0">
                <a:solidFill>
                  <a:srgbClr val="222222"/>
                </a:solidFill>
                <a:latin typeface="맑은 고딕"/>
              </a:rPr>
              <a:t>•  Stateless = 특정 시점의 사건(예: Snapshot Too Old·인스턴스 up/down)</a:t>
            </a:r>
          </a:p>
          <a:p>
            <a:pPr>
              <a:spcAft>
                <a:spcPts val="800"/>
              </a:spcAft>
            </a:pPr>
            <a:r>
              <a:rPr sz="1700" b="0">
                <a:solidFill>
                  <a:srgbClr val="222222"/>
                </a:solidFill>
                <a:latin typeface="맑은 고딕"/>
              </a:rPr>
              <a:t>•    → 해소 개념 없이 곧바로 DBA_ALERT_HISTORY로 기록</a:t>
            </a:r>
          </a:p>
          <a:p>
            <a:pPr>
              <a:spcAft>
                <a:spcPts val="800"/>
              </a:spcAft>
            </a:pPr>
            <a:r>
              <a:rPr sz="1700" b="0">
                <a:solidFill>
                  <a:srgbClr val="222222"/>
                </a:solidFill>
                <a:latin typeface="맑은 고딕"/>
              </a:rPr>
              <a:t>•  대응: Stateful=원인 제거 / Stateless=사후 원인 확인</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미해소 알림 조회 (Stateful)</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DBA_OUTSTANDING_ALERTS — 실측</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tIns="101600"/>
          <a:lstStyle/>
          <a:p>
            <a:pPr algn="ctr">
              <a:lnSpc>
                <a:spcPct val="100000"/>
              </a:lnSpc>
              <a:spcAft>
                <a:spcPts val="0"/>
              </a:spcAft>
            </a:pPr>
            <a:r>
              <a:rPr sz="1250" b="0">
                <a:solidFill>
                  <a:srgbClr val="F2F2F2"/>
                </a:solidFill>
                <a:latin typeface="Consolas"/>
              </a:rPr>
              <a:t>SYS@orcl&gt; SELECT reason, message_level,</a:t>
            </a:r>
          </a:p>
          <a:p>
            <a:pPr>
              <a:lnSpc>
                <a:spcPct val="100000"/>
              </a:lnSpc>
              <a:spcAft>
                <a:spcPts val="0"/>
              </a:spcAft>
            </a:pPr>
            <a:r>
              <a:rPr sz="1250" b="0">
                <a:solidFill>
                  <a:srgbClr val="F2F2F2"/>
                </a:solidFill>
                <a:latin typeface="Consolas"/>
              </a:rPr>
              <a:t>  2         TO_CHAR(creation_time,'MM-DD HH24:MI') created</a:t>
            </a:r>
          </a:p>
          <a:p>
            <a:pPr>
              <a:lnSpc>
                <a:spcPct val="100000"/>
              </a:lnSpc>
              <a:spcAft>
                <a:spcPts val="0"/>
              </a:spcAft>
            </a:pPr>
            <a:r>
              <a:rPr sz="1250" b="0">
                <a:solidFill>
                  <a:srgbClr val="F2F2F2"/>
                </a:solidFill>
                <a:latin typeface="Consolas"/>
              </a:rPr>
              <a:t>  3       FROM  dba_outstanding_alerts WHERE rownum&lt;=10;</a:t>
            </a:r>
          </a:p>
          <a:p>
            <a:pPr>
              <a:lnSpc>
                <a:spcPct val="100000"/>
              </a:lnSpc>
              <a:spcAft>
                <a:spcPts val="0"/>
              </a:spcAft>
            </a:pPr>
            <a:r>
              <a:rPr sz="1250" b="0">
                <a:solidFill>
                  <a:srgbClr val="F2F2F2"/>
                </a:solidFill>
                <a:latin typeface="Consolas"/>
              </a:rPr>
              <a:t> </a:t>
            </a:r>
          </a:p>
          <a:p>
            <a:pPr>
              <a:lnSpc>
                <a:spcPct val="100000"/>
              </a:lnSpc>
              <a:spcAft>
                <a:spcPts val="0"/>
              </a:spcAft>
            </a:pPr>
            <a:r>
              <a:rPr sz="1250" b="0">
                <a:solidFill>
                  <a:srgbClr val="F2F2F2"/>
                </a:solidFill>
                <a:latin typeface="Consolas"/>
              </a:rPr>
              <a:t>REASON                                MESSAGE_LEVEL CREATED</a:t>
            </a:r>
          </a:p>
          <a:p>
            <a:pPr>
              <a:lnSpc>
                <a:spcPct val="100000"/>
              </a:lnSpc>
              <a:spcAft>
                <a:spcPts val="0"/>
              </a:spcAft>
            </a:pPr>
            <a:r>
              <a:rPr sz="1250" b="0">
                <a:solidFill>
                  <a:srgbClr val="F2F2F2"/>
                </a:solidFill>
                <a:latin typeface="Consolas"/>
              </a:rPr>
              <a:t>------------------------------------- ------------- -----------</a:t>
            </a:r>
          </a:p>
          <a:p>
            <a:pPr>
              <a:lnSpc>
                <a:spcPct val="100000"/>
              </a:lnSpc>
              <a:spcAft>
                <a:spcPts val="0"/>
              </a:spcAft>
            </a:pPr>
            <a:r>
              <a:rPr sz="1250" b="0">
                <a:solidFill>
                  <a:srgbClr val="F2F2F2"/>
                </a:solidFill>
                <a:latin typeface="Consolas"/>
              </a:rPr>
              <a:t>Tablespace [RTBS] is [100 percent] full           1 08-10 10:20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알림 이력 조회 (Stateless)</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DBA_ALERT_HISTORY — 실측</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tIns="101600"/>
          <a:lstStyle/>
          <a:p>
            <a:pPr algn="ctr">
              <a:lnSpc>
                <a:spcPct val="100000"/>
              </a:lnSpc>
              <a:spcAft>
                <a:spcPts val="0"/>
              </a:spcAft>
            </a:pPr>
            <a:r>
              <a:rPr sz="1250" b="0">
                <a:solidFill>
                  <a:srgbClr val="F2F2F2"/>
                </a:solidFill>
                <a:latin typeface="Consolas"/>
              </a:rPr>
              <a:t>SYS@orcl&gt; SELECT SUBSTR(reason,1,44) reason,</a:t>
            </a:r>
          </a:p>
          <a:p>
            <a:pPr>
              <a:lnSpc>
                <a:spcPct val="100000"/>
              </a:lnSpc>
              <a:spcAft>
                <a:spcPts val="0"/>
              </a:spcAft>
            </a:pPr>
            <a:r>
              <a:rPr sz="1250" b="0">
                <a:solidFill>
                  <a:srgbClr val="F2F2F2"/>
                </a:solidFill>
                <a:latin typeface="Consolas"/>
              </a:rPr>
              <a:t>  2         TO_CHAR(creation_time,'MM-DD HH24:MI') created</a:t>
            </a:r>
          </a:p>
          <a:p>
            <a:pPr>
              <a:lnSpc>
                <a:spcPct val="100000"/>
              </a:lnSpc>
              <a:spcAft>
                <a:spcPts val="0"/>
              </a:spcAft>
            </a:pPr>
            <a:r>
              <a:rPr sz="1250" b="0">
                <a:solidFill>
                  <a:srgbClr val="F2F2F2"/>
                </a:solidFill>
                <a:latin typeface="Consolas"/>
              </a:rPr>
              <a:t>  3       FROM (SELECT reason,creation_time FROM dba_alert_history</a:t>
            </a:r>
          </a:p>
          <a:p>
            <a:pPr>
              <a:lnSpc>
                <a:spcPct val="100000"/>
              </a:lnSpc>
              <a:spcAft>
                <a:spcPts val="0"/>
              </a:spcAft>
            </a:pPr>
            <a:r>
              <a:rPr sz="1250" b="0">
                <a:solidFill>
                  <a:srgbClr val="F2F2F2"/>
                </a:solidFill>
                <a:latin typeface="Consolas"/>
              </a:rPr>
              <a:t>  4             ORDER BY creation_time DESC) WHERE rownum&lt;=10;</a:t>
            </a:r>
          </a:p>
          <a:p>
            <a:pPr>
              <a:lnSpc>
                <a:spcPct val="100000"/>
              </a:lnSpc>
              <a:spcAft>
                <a:spcPts val="0"/>
              </a:spcAft>
            </a:pPr>
            <a:r>
              <a:rPr sz="1250" b="0">
                <a:solidFill>
                  <a:srgbClr val="F2F2F2"/>
                </a:solidFill>
                <a:latin typeface="Consolas"/>
              </a:rPr>
              <a:t> </a:t>
            </a:r>
          </a:p>
          <a:p>
            <a:pPr>
              <a:lnSpc>
                <a:spcPct val="100000"/>
              </a:lnSpc>
              <a:spcAft>
                <a:spcPts val="0"/>
              </a:spcAft>
            </a:pPr>
            <a:r>
              <a:rPr sz="1250" b="0">
                <a:solidFill>
                  <a:srgbClr val="F2F2F2"/>
                </a:solidFill>
                <a:latin typeface="Consolas"/>
              </a:rPr>
              <a:t>REASON                                       CREATED</a:t>
            </a:r>
          </a:p>
          <a:p>
            <a:pPr>
              <a:lnSpc>
                <a:spcPct val="100000"/>
              </a:lnSpc>
              <a:spcAft>
                <a:spcPts val="0"/>
              </a:spcAft>
            </a:pPr>
            <a:r>
              <a:rPr sz="1250" b="0">
                <a:solidFill>
                  <a:srgbClr val="F2F2F2"/>
                </a:solidFill>
                <a:latin typeface="Consolas"/>
              </a:rPr>
              <a:t>-------------------------------------------- -----------</a:t>
            </a:r>
          </a:p>
          <a:p>
            <a:pPr>
              <a:lnSpc>
                <a:spcPct val="100000"/>
              </a:lnSpc>
              <a:spcAft>
                <a:spcPts val="0"/>
              </a:spcAft>
            </a:pPr>
            <a:r>
              <a:rPr sz="1250" b="0">
                <a:solidFill>
                  <a:srgbClr val="F2F2F2"/>
                </a:solidFill>
                <a:latin typeface="Consolas"/>
              </a:rPr>
              <a:t>Instance orcl.orcl. down on node oel7v9.loca 08-24 14:56</a:t>
            </a:r>
          </a:p>
          <a:p>
            <a:pPr>
              <a:lnSpc>
                <a:spcPct val="100000"/>
              </a:lnSpc>
              <a:spcAft>
                <a:spcPts val="0"/>
              </a:spcAft>
            </a:pPr>
            <a:r>
              <a:rPr sz="1250" b="0">
                <a:solidFill>
                  <a:srgbClr val="F2F2F2"/>
                </a:solidFill>
                <a:latin typeface="Consolas"/>
              </a:rPr>
              <a:t>Instance orcl.orcl. up on node oel7v9.localdb 08-24 14:56</a:t>
            </a:r>
          </a:p>
          <a:p>
            <a:pPr>
              <a:lnSpc>
                <a:spcPct val="100000"/>
              </a:lnSpc>
              <a:spcAft>
                <a:spcPts val="0"/>
              </a:spcAft>
            </a:pPr>
            <a:r>
              <a:rPr sz="1250" b="0">
                <a:solidFill>
                  <a:srgbClr val="F2F2F2"/>
                </a:solidFill>
                <a:latin typeface="Consolas"/>
              </a:rPr>
              <a:t>Operation on resumable session big_load_job  08-20 13:08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12.3</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메트릭 임계값 설정</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spcAft>
                <a:spcPts val="400"/>
              </a:spcAft>
            </a:pPr>
            <a:r>
              <a:rPr sz="1600" b="0">
                <a:solidFill>
                  <a:srgbClr val="FFFFFF"/>
                </a:solidFill>
                <a:latin typeface="맑은 고딕"/>
              </a:rPr>
              <a:t>•  메트릭 = 표준화된 성능 지표</a:t>
            </a:r>
          </a:p>
          <a:p>
            <a:pPr>
              <a:spcAft>
                <a:spcPts val="400"/>
              </a:spcAft>
            </a:pPr>
            <a:r>
              <a:rPr sz="1600" b="0">
                <a:solidFill>
                  <a:srgbClr val="FFFFFF"/>
                </a:solidFill>
                <a:latin typeface="맑은 고딕"/>
              </a:rPr>
              <a:t>•  DBA_THRESHOLDS 조회</a:t>
            </a:r>
          </a:p>
          <a:p>
            <a:pPr>
              <a:spcAft>
                <a:spcPts val="400"/>
              </a:spcAft>
            </a:pPr>
            <a:r>
              <a:rPr sz="1600" b="0">
                <a:solidFill>
                  <a:srgbClr val="FFFFFF"/>
                </a:solidFill>
                <a:latin typeface="맑은 고딕"/>
              </a:rPr>
              <a:t>•  SET_THRESHOLD 인자</a:t>
            </a:r>
          </a:p>
          <a:p>
            <a:pPr>
              <a:spcAft>
                <a:spcPts val="400"/>
              </a:spcAft>
            </a:pPr>
            <a:r>
              <a:rPr sz="1600" b="0">
                <a:solidFill>
                  <a:srgbClr val="FFFFFF"/>
                </a:solidFill>
                <a:latin typeface="맑은 고딕"/>
              </a:rPr>
              <a:t>•  연속 관측으로 스파이크 흡수</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메트릭이란 무엇이며 무엇을 감시하나</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표준화된 성능 지표</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메트릭 = 누적 절대값을 '초당·호출당·%'로 표준화한 지표</a:t>
            </a:r>
          </a:p>
          <a:p>
            <a:pPr>
              <a:spcAft>
                <a:spcPts val="800"/>
              </a:spcAft>
            </a:pPr>
            <a:r>
              <a:rPr sz="1700" b="0">
                <a:solidFill>
                  <a:srgbClr val="222222"/>
                </a:solidFill>
                <a:latin typeface="맑은 고딕"/>
              </a:rPr>
              <a:t>•  MMON이 15초·60초 간격으로 계산 → V$SYSMETRIC 등에 노출</a:t>
            </a:r>
          </a:p>
          <a:p>
            <a:pPr>
              <a:spcAft>
                <a:spcPts val="800"/>
              </a:spcAft>
            </a:pPr>
            <a:r>
              <a:rPr sz="1700" b="0">
                <a:solidFill>
                  <a:srgbClr val="222222"/>
                </a:solidFill>
                <a:latin typeface="맑은 고딕"/>
              </a:rPr>
              <a:t>•  수준: 시스템 / 세션 / 서비스 / 특정 대상(파일·이벤트)</a:t>
            </a:r>
          </a:p>
          <a:p>
            <a:pPr>
              <a:spcAft>
                <a:spcPts val="800"/>
              </a:spcAft>
            </a:pPr>
            <a:r>
              <a:rPr sz="1700" b="0">
                <a:solidFill>
                  <a:srgbClr val="222222"/>
                </a:solidFill>
                <a:latin typeface="맑은 고딕"/>
              </a:rPr>
              <a:t>•  감시 대상 선정 기준: '나빠지면 사용자가 실제로 아파하는가'</a:t>
            </a:r>
          </a:p>
          <a:p>
            <a:pPr>
              <a:spcAft>
                <a:spcPts val="800"/>
              </a:spcAft>
            </a:pPr>
            <a:r>
              <a:rPr sz="1700" b="0">
                <a:solidFill>
                  <a:srgbClr val="222222"/>
                </a:solidFill>
                <a:latin typeface="맑은 고딕"/>
              </a:rPr>
              <a:t>•  메트릭 목록·단위는 V$METRICNAME으로 확인</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현재 임계값 조회</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DBA_THRESHOLDS — 실측</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tIns="101600"/>
          <a:lstStyle/>
          <a:p>
            <a:pPr algn="ctr">
              <a:lnSpc>
                <a:spcPct val="100000"/>
              </a:lnSpc>
              <a:spcAft>
                <a:spcPts val="0"/>
              </a:spcAft>
            </a:pPr>
            <a:r>
              <a:rPr sz="1250" b="0">
                <a:solidFill>
                  <a:srgbClr val="F2F2F2"/>
                </a:solidFill>
                <a:latin typeface="Consolas"/>
              </a:rPr>
              <a:t>SYS@orcl&gt; SELECT metrics_name, warning_value,</a:t>
            </a:r>
          </a:p>
          <a:p>
            <a:pPr>
              <a:lnSpc>
                <a:spcPct val="100000"/>
              </a:lnSpc>
              <a:spcAft>
                <a:spcPts val="0"/>
              </a:spcAft>
            </a:pPr>
            <a:r>
              <a:rPr sz="1250" b="0">
                <a:solidFill>
                  <a:srgbClr val="F2F2F2"/>
                </a:solidFill>
                <a:latin typeface="Consolas"/>
              </a:rPr>
              <a:t>  2         critical_value, consecutive_occurrences</a:t>
            </a:r>
          </a:p>
          <a:p>
            <a:pPr>
              <a:lnSpc>
                <a:spcPct val="100000"/>
              </a:lnSpc>
              <a:spcAft>
                <a:spcPts val="0"/>
              </a:spcAft>
            </a:pPr>
            <a:r>
              <a:rPr sz="1250" b="0">
                <a:solidFill>
                  <a:srgbClr val="F2F2F2"/>
                </a:solidFill>
                <a:latin typeface="Consolas"/>
              </a:rPr>
              <a:t>  3       FROM dba_thresholds WHERE rownum&lt;=15</a:t>
            </a:r>
          </a:p>
          <a:p>
            <a:pPr>
              <a:lnSpc>
                <a:spcPct val="100000"/>
              </a:lnSpc>
              <a:spcAft>
                <a:spcPts val="0"/>
              </a:spcAft>
            </a:pPr>
            <a:r>
              <a:rPr sz="1250" b="0">
                <a:solidFill>
                  <a:srgbClr val="F2F2F2"/>
                </a:solidFill>
                <a:latin typeface="Consolas"/>
              </a:rPr>
              <a:t>  4       ORDER BY metrics_name;</a:t>
            </a:r>
          </a:p>
          <a:p>
            <a:pPr>
              <a:lnSpc>
                <a:spcPct val="100000"/>
              </a:lnSpc>
              <a:spcAft>
                <a:spcPts val="0"/>
              </a:spcAft>
            </a:pPr>
            <a:r>
              <a:rPr sz="1250" b="0">
                <a:solidFill>
                  <a:srgbClr val="F2F2F2"/>
                </a:solidFill>
                <a:latin typeface="Consolas"/>
              </a:rPr>
              <a:t> </a:t>
            </a:r>
          </a:p>
          <a:p>
            <a:pPr>
              <a:lnSpc>
                <a:spcPct val="100000"/>
              </a:lnSpc>
              <a:spcAft>
                <a:spcPts val="0"/>
              </a:spcAft>
            </a:pPr>
            <a:r>
              <a:rPr sz="1250" b="0">
                <a:solidFill>
                  <a:srgbClr val="F2F2F2"/>
                </a:solidFill>
                <a:latin typeface="Consolas"/>
              </a:rPr>
              <a:t>METRICS_NAME            WARNING CRITICAL CONSEC</a:t>
            </a:r>
          </a:p>
          <a:p>
            <a:pPr>
              <a:lnSpc>
                <a:spcPct val="100000"/>
              </a:lnSpc>
              <a:spcAft>
                <a:spcPts val="0"/>
              </a:spcAft>
            </a:pPr>
            <a:r>
              <a:rPr sz="1250" b="0">
                <a:solidFill>
                  <a:srgbClr val="F2F2F2"/>
                </a:solidFill>
                <a:latin typeface="Consolas"/>
              </a:rPr>
              <a:t>----------------------- ------- -------- ------</a:t>
            </a:r>
          </a:p>
          <a:p>
            <a:pPr>
              <a:lnSpc>
                <a:spcPct val="100000"/>
              </a:lnSpc>
              <a:spcAft>
                <a:spcPts val="0"/>
              </a:spcAft>
            </a:pPr>
            <a:r>
              <a:rPr sz="1250" b="0">
                <a:solidFill>
                  <a:srgbClr val="F2F2F2"/>
                </a:solidFill>
                <a:latin typeface="Consolas"/>
              </a:rPr>
              <a:t>Tablespace Space Usage  &lt;SYS-GEN&gt;      0</a:t>
            </a:r>
          </a:p>
          <a:p>
            <a:pPr>
              <a:lnSpc>
                <a:spcPct val="100000"/>
              </a:lnSpc>
              <a:spcAft>
                <a:spcPts val="0"/>
              </a:spcAft>
            </a:pPr>
            <a:r>
              <a:rPr sz="1250" b="0">
                <a:solidFill>
                  <a:srgbClr val="F2F2F2"/>
                </a:solidFill>
                <a:latin typeface="Consolas"/>
              </a:rPr>
              <a:t>Tablespace Space Usage  85            97       1</a:t>
            </a:r>
          </a:p>
          <a:p>
            <a:pPr>
              <a:lnSpc>
                <a:spcPct val="100000"/>
              </a:lnSpc>
              <a:spcAft>
                <a:spcPts val="0"/>
              </a:spcAft>
            </a:pPr>
            <a:r>
              <a:rPr sz="1250" b="0">
                <a:solidFill>
                  <a:srgbClr val="F2F2F2"/>
                </a:solidFill>
                <a:latin typeface="Consolas"/>
              </a:rPr>
              <a:t>Tablespace Space Usage  &lt;SYS-GEN&gt;      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임계값 설정 — SET_THRESHOLD</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값은 12.4에서 이력으로 산정</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tIns="101600"/>
          <a:lstStyle/>
          <a:p>
            <a:pPr algn="ctr">
              <a:lnSpc>
                <a:spcPct val="100000"/>
              </a:lnSpc>
              <a:spcAft>
                <a:spcPts val="0"/>
              </a:spcAft>
            </a:pPr>
            <a:r>
              <a:rPr sz="1250" b="0">
                <a:solidFill>
                  <a:srgbClr val="F2F2F2"/>
                </a:solidFill>
                <a:latin typeface="Consolas"/>
              </a:rPr>
              <a:t>SYS@orcl&gt; BEGIN</a:t>
            </a:r>
          </a:p>
          <a:p>
            <a:pPr>
              <a:lnSpc>
                <a:spcPct val="100000"/>
              </a:lnSpc>
              <a:spcAft>
                <a:spcPts val="0"/>
              </a:spcAft>
            </a:pPr>
            <a:r>
              <a:rPr sz="1250" b="0">
                <a:solidFill>
                  <a:srgbClr val="F2F2F2"/>
                </a:solidFill>
                <a:latin typeface="Consolas"/>
              </a:rPr>
              <a:t>  2    DBMS_SERVER_ALERT.SET_THRESHOLD(</a:t>
            </a:r>
          </a:p>
          <a:p>
            <a:pPr>
              <a:lnSpc>
                <a:spcPct val="100000"/>
              </a:lnSpc>
              <a:spcAft>
                <a:spcPts val="0"/>
              </a:spcAft>
            </a:pPr>
            <a:r>
              <a:rPr sz="1250" b="0">
                <a:solidFill>
                  <a:srgbClr val="F2F2F2"/>
                </a:solidFill>
                <a:latin typeface="Consolas"/>
              </a:rPr>
              <a:t>  3      metrics_id       =&gt; DBMS_SERVER_ALERT.CPU_TIME_PER_CALL,</a:t>
            </a:r>
          </a:p>
          <a:p>
            <a:pPr>
              <a:lnSpc>
                <a:spcPct val="100000"/>
              </a:lnSpc>
              <a:spcAft>
                <a:spcPts val="0"/>
              </a:spcAft>
            </a:pPr>
            <a:r>
              <a:rPr sz="1250" b="0">
                <a:solidFill>
                  <a:srgbClr val="F2F2F2"/>
                </a:solidFill>
                <a:latin typeface="Consolas"/>
              </a:rPr>
              <a:t>  4      warning_operator =&gt; DBMS_SERVER_ALERT.OPERATOR_GE,</a:t>
            </a:r>
          </a:p>
          <a:p>
            <a:pPr>
              <a:lnSpc>
                <a:spcPct val="100000"/>
              </a:lnSpc>
              <a:spcAft>
                <a:spcPts val="0"/>
              </a:spcAft>
            </a:pPr>
            <a:r>
              <a:rPr sz="1250" b="0">
                <a:solidFill>
                  <a:srgbClr val="F2F2F2"/>
                </a:solidFill>
                <a:latin typeface="Consolas"/>
              </a:rPr>
              <a:t>  5      warning_value    =&gt; '&lt;이력 산정 경고값&gt;',</a:t>
            </a:r>
          </a:p>
          <a:p>
            <a:pPr>
              <a:lnSpc>
                <a:spcPct val="100000"/>
              </a:lnSpc>
              <a:spcAft>
                <a:spcPts val="0"/>
              </a:spcAft>
            </a:pPr>
            <a:r>
              <a:rPr sz="1250" b="0">
                <a:solidFill>
                  <a:srgbClr val="F2F2F2"/>
                </a:solidFill>
                <a:latin typeface="Consolas"/>
              </a:rPr>
              <a:t>  6      critical_value   =&gt; '&lt;이력 산정 위험값&gt;',</a:t>
            </a:r>
          </a:p>
          <a:p>
            <a:pPr>
              <a:lnSpc>
                <a:spcPct val="100000"/>
              </a:lnSpc>
              <a:spcAft>
                <a:spcPts val="0"/>
              </a:spcAft>
            </a:pPr>
            <a:r>
              <a:rPr sz="1250" b="0">
                <a:solidFill>
                  <a:srgbClr val="F2F2F2"/>
                </a:solidFill>
                <a:latin typeface="Consolas"/>
              </a:rPr>
              <a:t>  7      observation_period=&gt; 1, consecutive_occurrences=&gt; 3,</a:t>
            </a:r>
          </a:p>
          <a:p>
            <a:pPr>
              <a:lnSpc>
                <a:spcPct val="100000"/>
              </a:lnSpc>
              <a:spcAft>
                <a:spcPts val="0"/>
              </a:spcAft>
            </a:pPr>
            <a:r>
              <a:rPr sz="1250" b="0">
                <a:solidFill>
                  <a:srgbClr val="F2F2F2"/>
                </a:solidFill>
                <a:latin typeface="Consolas"/>
              </a:rPr>
              <a:t>  8      instance_name    =&gt; 'orcl',</a:t>
            </a:r>
          </a:p>
          <a:p>
            <a:pPr>
              <a:lnSpc>
                <a:spcPct val="100000"/>
              </a:lnSpc>
              <a:spcAft>
                <a:spcPts val="0"/>
              </a:spcAft>
            </a:pPr>
            <a:r>
              <a:rPr sz="1250" b="0">
                <a:solidFill>
                  <a:srgbClr val="F2F2F2"/>
                </a:solidFill>
                <a:latin typeface="Consolas"/>
              </a:rPr>
              <a:t>  9      object_type =&gt; DBMS_SERVER_ALERT.OBJECT_TYPE_SERVICE,</a:t>
            </a:r>
          </a:p>
          <a:p>
            <a:pPr>
              <a:lnSpc>
                <a:spcPct val="100000"/>
              </a:lnSpc>
              <a:spcAft>
                <a:spcPts val="0"/>
              </a:spcAft>
            </a:pPr>
            <a:r>
              <a:rPr sz="1250" b="0">
                <a:solidFill>
                  <a:srgbClr val="F2F2F2"/>
                </a:solidFill>
                <a:latin typeface="Consolas"/>
              </a:rPr>
              <a:t> 10      object_name =&gt; 'orcl'); END;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연속 관측으로 알림 피로를 막는다</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임계값·주기·연속횟수는 한 세트</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임계값을 잘 잡아도 순간 스파이크는 늘 발생한다</a:t>
            </a:r>
          </a:p>
          <a:p>
            <a:pPr>
              <a:spcAft>
                <a:spcPts val="800"/>
              </a:spcAft>
            </a:pPr>
            <a:r>
              <a:rPr sz="1700" b="0">
                <a:solidFill>
                  <a:srgbClr val="222222"/>
                </a:solidFill>
                <a:latin typeface="맑은 고딕"/>
              </a:rPr>
              <a:t>•  consecutive_occurrences=2~3 → 연속 관측될 때만 알림</a:t>
            </a:r>
          </a:p>
          <a:p>
            <a:pPr>
              <a:spcAft>
                <a:spcPts val="800"/>
              </a:spcAft>
            </a:pPr>
            <a:r>
              <a:rPr sz="1700" b="0">
                <a:solidFill>
                  <a:srgbClr val="222222"/>
                </a:solidFill>
                <a:latin typeface="맑은 고딕"/>
              </a:rPr>
              <a:t>•  임계값을 낮추는 것보다 연속 횟수를 늘리는 편이 스파이크에 강함</a:t>
            </a:r>
          </a:p>
          <a:p>
            <a:pPr>
              <a:spcAft>
                <a:spcPts val="800"/>
              </a:spcAft>
            </a:pPr>
            <a:r>
              <a:rPr sz="1700" b="0">
                <a:solidFill>
                  <a:srgbClr val="222222"/>
                </a:solidFill>
                <a:latin typeface="맑은 고딕"/>
              </a:rPr>
              <a:t>•  임계값 · 관측 주기 · 연속 횟수 = 함께 돌리는 세 손잡이</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12.4</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임계값을 얼마로 잡을 것인가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spcAft>
                <a:spcPts val="400"/>
              </a:spcAft>
            </a:pPr>
            <a:r>
              <a:rPr sz="1600" b="0">
                <a:solidFill>
                  <a:srgbClr val="FFFFFF"/>
                </a:solidFill>
                <a:latin typeface="맑은 고딕"/>
              </a:rPr>
              <a:t>•  이 장의 핵심 · ADMIN 미수록</a:t>
            </a:r>
          </a:p>
          <a:p>
            <a:pPr>
              <a:spcAft>
                <a:spcPts val="400"/>
              </a:spcAft>
            </a:pPr>
            <a:r>
              <a:rPr sz="1600" b="0">
                <a:solidFill>
                  <a:srgbClr val="FFFFFF"/>
                </a:solidFill>
                <a:latin typeface="맑은 고딕"/>
              </a:rPr>
              <a:t>•  감이 아니라 이력 분포에서</a:t>
            </a:r>
          </a:p>
          <a:p>
            <a:pPr>
              <a:spcAft>
                <a:spcPts val="400"/>
              </a:spcAft>
            </a:pPr>
            <a:r>
              <a:rPr sz="1600" b="0">
                <a:solidFill>
                  <a:srgbClr val="FFFFFF"/>
                </a:solidFill>
                <a:latin typeface="맑은 고딕"/>
              </a:rPr>
              <a:t>•  p95=경고 / p99~peak=위험</a:t>
            </a:r>
          </a:p>
          <a:p>
            <a:pPr>
              <a:spcAft>
                <a:spcPts val="400"/>
              </a:spcAft>
            </a:pPr>
            <a:r>
              <a:rPr sz="1600" b="0">
                <a:solidFill>
                  <a:srgbClr val="FFFFFF"/>
                </a:solidFill>
                <a:latin typeface="맑은 고딕"/>
              </a:rPr>
              <a:t>•  🔒 DBA_HIST 필요(대안 있음)</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임계값에 정답 숫자는 이식되지 않는다</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그 시스템의 평시에서 나온다</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'CPU 80% 경고' 같은 값은 그 값을 만든 시스템의 평시일 뿐</a:t>
            </a:r>
          </a:p>
          <a:p>
            <a:pPr>
              <a:spcAft>
                <a:spcPts val="800"/>
              </a:spcAft>
            </a:pPr>
            <a:r>
              <a:rPr sz="1700" b="0">
                <a:solidFill>
                  <a:srgbClr val="222222"/>
                </a:solidFill>
                <a:latin typeface="맑은 고딕"/>
              </a:rPr>
              <a:t>•  시스템마다 평시 부하가 다름 → 남의 옷을 입으면 크거나 작다</a:t>
            </a:r>
          </a:p>
          <a:p>
            <a:pPr>
              <a:spcAft>
                <a:spcPts val="800"/>
              </a:spcAft>
            </a:pPr>
            <a:r>
              <a:rPr sz="1700" b="0">
                <a:solidFill>
                  <a:srgbClr val="222222"/>
                </a:solidFill>
                <a:latin typeface="맑은 고딕"/>
              </a:rPr>
              <a:t>•  옳은 임계값 = 그 시스템의 '정상 범위를 벗어난 지점'</a:t>
            </a:r>
          </a:p>
          <a:p>
            <a:pPr>
              <a:spcAft>
                <a:spcPts val="800"/>
              </a:spcAft>
            </a:pPr>
            <a:r>
              <a:rPr sz="1700" b="0">
                <a:solidFill>
                  <a:srgbClr val="222222"/>
                </a:solidFill>
                <a:latin typeface="맑은 고딕"/>
              </a:rPr>
              <a:t>•  설계 1단계 = 값 정하기가 아니라 '내 평시 측정하기'</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현재값만으로는 못 정한다</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V$SYSMETRIC 현재값 — 실측</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tIns="101600"/>
          <a:lstStyle/>
          <a:p>
            <a:pPr algn="ctr">
              <a:lnSpc>
                <a:spcPct val="100000"/>
              </a:lnSpc>
              <a:spcAft>
                <a:spcPts val="0"/>
              </a:spcAft>
            </a:pPr>
            <a:r>
              <a:rPr sz="1250" b="0">
                <a:solidFill>
                  <a:srgbClr val="F2F2F2"/>
                </a:solidFill>
                <a:latin typeface="Consolas"/>
              </a:rPr>
              <a:t>SYS@orcl&gt; SELECT metric_name, ROUND(value,2) value, metric_unit</a:t>
            </a:r>
          </a:p>
          <a:p>
            <a:pPr>
              <a:lnSpc>
                <a:spcPct val="100000"/>
              </a:lnSpc>
              <a:spcAft>
                <a:spcPts val="0"/>
              </a:spcAft>
            </a:pPr>
            <a:r>
              <a:rPr sz="1250" b="0">
                <a:solidFill>
                  <a:srgbClr val="F2F2F2"/>
                </a:solidFill>
                <a:latin typeface="Consolas"/>
              </a:rPr>
              <a:t>  2  FROM v$sysmetric WHERE intsize_csec BETWEEN 5900 AND 6100</a:t>
            </a:r>
          </a:p>
          <a:p>
            <a:pPr>
              <a:lnSpc>
                <a:spcPct val="100000"/>
              </a:lnSpc>
              <a:spcAft>
                <a:spcPts val="0"/>
              </a:spcAft>
            </a:pPr>
            <a:r>
              <a:rPr sz="1250" b="0">
                <a:solidFill>
                  <a:srgbClr val="F2F2F2"/>
                </a:solidFill>
                <a:latin typeface="Consolas"/>
              </a:rPr>
              <a:t>  3    AND metric_name IN (...);</a:t>
            </a:r>
          </a:p>
          <a:p>
            <a:pPr>
              <a:lnSpc>
                <a:spcPct val="100000"/>
              </a:lnSpc>
              <a:spcAft>
                <a:spcPts val="0"/>
              </a:spcAft>
            </a:pPr>
            <a:r>
              <a:rPr sz="1250" b="0">
                <a:solidFill>
                  <a:srgbClr val="F2F2F2"/>
                </a:solidFill>
                <a:latin typeface="Consolas"/>
              </a:rPr>
              <a:t> </a:t>
            </a:r>
          </a:p>
          <a:p>
            <a:pPr>
              <a:lnSpc>
                <a:spcPct val="100000"/>
              </a:lnSpc>
              <a:spcAft>
                <a:spcPts val="0"/>
              </a:spcAft>
            </a:pPr>
            <a:r>
              <a:rPr sz="1250" b="0">
                <a:solidFill>
                  <a:srgbClr val="F2F2F2"/>
                </a:solidFill>
                <a:latin typeface="Consolas"/>
              </a:rPr>
              <a:t>METRIC_NAME                VALUE   METRIC_UNIT</a:t>
            </a:r>
          </a:p>
          <a:p>
            <a:pPr>
              <a:lnSpc>
                <a:spcPct val="100000"/>
              </a:lnSpc>
              <a:spcAft>
                <a:spcPts val="0"/>
              </a:spcAft>
            </a:pPr>
            <a:r>
              <a:rPr sz="1250" b="0">
                <a:solidFill>
                  <a:srgbClr val="F2F2F2"/>
                </a:solidFill>
                <a:latin typeface="Consolas"/>
              </a:rPr>
              <a:t>-------------------------- ------- --------------------</a:t>
            </a:r>
          </a:p>
          <a:p>
            <a:pPr>
              <a:lnSpc>
                <a:spcPct val="100000"/>
              </a:lnSpc>
              <a:spcAft>
                <a:spcPts val="0"/>
              </a:spcAft>
            </a:pPr>
            <a:r>
              <a:rPr sz="1250" b="0">
                <a:solidFill>
                  <a:srgbClr val="F2F2F2"/>
                </a:solidFill>
                <a:latin typeface="Consolas"/>
              </a:rPr>
              <a:t>Average Active Sessions    4.28    Active Sessions</a:t>
            </a:r>
          </a:p>
          <a:p>
            <a:pPr>
              <a:lnSpc>
                <a:spcPct val="100000"/>
              </a:lnSpc>
              <a:spcAft>
                <a:spcPts val="0"/>
              </a:spcAft>
            </a:pPr>
            <a:r>
              <a:rPr sz="1250" b="0">
                <a:solidFill>
                  <a:srgbClr val="F2F2F2"/>
                </a:solidFill>
                <a:latin typeface="Consolas"/>
              </a:rPr>
              <a:t>Database CPU Time Ratio    96.8    % Cpu/DB_Time</a:t>
            </a:r>
          </a:p>
          <a:p>
            <a:pPr>
              <a:lnSpc>
                <a:spcPct val="100000"/>
              </a:lnSpc>
              <a:spcAft>
                <a:spcPts val="0"/>
              </a:spcAft>
            </a:pPr>
            <a:r>
              <a:rPr sz="1250" b="0">
                <a:solidFill>
                  <a:srgbClr val="F2F2F2"/>
                </a:solidFill>
                <a:latin typeface="Consolas"/>
              </a:rPr>
              <a:t>Database Wait Time Ratio   3.2     % Wait/DB_Time</a:t>
            </a:r>
          </a:p>
          <a:p>
            <a:pPr>
              <a:lnSpc>
                <a:spcPct val="100000"/>
              </a:lnSpc>
              <a:spcAft>
                <a:spcPts val="0"/>
              </a:spcAft>
            </a:pPr>
            <a:r>
              <a:rPr sz="1250" b="0">
                <a:solidFill>
                  <a:srgbClr val="F2F2F2"/>
                </a:solidFill>
                <a:latin typeface="Consolas"/>
              </a:rPr>
              <a:t>Executions Per Sec         916.31  Executes Per Second</a:t>
            </a:r>
          </a:p>
          <a:p>
            <a:pPr>
              <a:lnSpc>
                <a:spcPct val="100000"/>
              </a:lnSpc>
              <a:spcAft>
                <a:spcPts val="0"/>
              </a:spcAft>
            </a:pPr>
            <a:r>
              <a:rPr sz="1250" b="0">
                <a:solidFill>
                  <a:srgbClr val="F2F2F2"/>
                </a:solidFill>
                <a:latin typeface="Consolas"/>
              </a:rPr>
              <a:t>Host CPU Utilization (%)   48.77   % Busy/(Idle+Busy)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이력 분포를 뽑는다</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DBA_HIST_SYSMETRIC_SUMMARY  🔒</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tIns="101600"/>
          <a:lstStyle/>
          <a:p>
            <a:pPr algn="ctr">
              <a:lnSpc>
                <a:spcPct val="100000"/>
              </a:lnSpc>
              <a:spcAft>
                <a:spcPts val="0"/>
              </a:spcAft>
            </a:pPr>
            <a:r>
              <a:rPr sz="1250" b="0">
                <a:solidFill>
                  <a:srgbClr val="F2F2F2"/>
                </a:solidFill>
                <a:latin typeface="Consolas"/>
              </a:rPr>
              <a:t>SYS@orcl&gt; SELECT metric_name,</a:t>
            </a:r>
          </a:p>
          <a:p>
            <a:pPr>
              <a:lnSpc>
                <a:spcPct val="100000"/>
              </a:lnSpc>
              <a:spcAft>
                <a:spcPts val="0"/>
              </a:spcAft>
            </a:pPr>
            <a:r>
              <a:rPr sz="1250" b="0">
                <a:solidFill>
                  <a:srgbClr val="F2F2F2"/>
                </a:solidFill>
                <a:latin typeface="Consolas"/>
              </a:rPr>
              <a:t>  2    ROUND(PERCENTILE_CONT(0.50) WITHIN GROUP</a:t>
            </a:r>
          </a:p>
          <a:p>
            <a:pPr>
              <a:lnSpc>
                <a:spcPct val="100000"/>
              </a:lnSpc>
              <a:spcAft>
                <a:spcPts val="0"/>
              </a:spcAft>
            </a:pPr>
            <a:r>
              <a:rPr sz="1250" b="0">
                <a:solidFill>
                  <a:srgbClr val="F2F2F2"/>
                </a:solidFill>
                <a:latin typeface="Consolas"/>
              </a:rPr>
              <a:t>  3      (ORDER BY average),2) p50,</a:t>
            </a:r>
          </a:p>
          <a:p>
            <a:pPr>
              <a:lnSpc>
                <a:spcPct val="100000"/>
              </a:lnSpc>
              <a:spcAft>
                <a:spcPts val="0"/>
              </a:spcAft>
            </a:pPr>
            <a:r>
              <a:rPr sz="1250" b="0">
                <a:solidFill>
                  <a:srgbClr val="F2F2F2"/>
                </a:solidFill>
                <a:latin typeface="Consolas"/>
              </a:rPr>
              <a:t>  4    ROUND(PERCENTILE_CONT(0.95) WITHIN GROUP</a:t>
            </a:r>
          </a:p>
          <a:p>
            <a:pPr>
              <a:lnSpc>
                <a:spcPct val="100000"/>
              </a:lnSpc>
              <a:spcAft>
                <a:spcPts val="0"/>
              </a:spcAft>
            </a:pPr>
            <a:r>
              <a:rPr sz="1250" b="0">
                <a:solidFill>
                  <a:srgbClr val="F2F2F2"/>
                </a:solidFill>
                <a:latin typeface="Consolas"/>
              </a:rPr>
              <a:t>  5      (ORDER BY average),2) p95,</a:t>
            </a:r>
          </a:p>
          <a:p>
            <a:pPr>
              <a:lnSpc>
                <a:spcPct val="100000"/>
              </a:lnSpc>
              <a:spcAft>
                <a:spcPts val="0"/>
              </a:spcAft>
            </a:pPr>
            <a:r>
              <a:rPr sz="1250" b="0">
                <a:solidFill>
                  <a:srgbClr val="F2F2F2"/>
                </a:solidFill>
                <a:latin typeface="Consolas"/>
              </a:rPr>
              <a:t>  6    ROUND(PERCENTILE_CONT(0.99) WITHIN GROUP</a:t>
            </a:r>
          </a:p>
          <a:p>
            <a:pPr>
              <a:lnSpc>
                <a:spcPct val="100000"/>
              </a:lnSpc>
              <a:spcAft>
                <a:spcPts val="0"/>
              </a:spcAft>
            </a:pPr>
            <a:r>
              <a:rPr sz="1250" b="0">
                <a:solidFill>
                  <a:srgbClr val="F2F2F2"/>
                </a:solidFill>
                <a:latin typeface="Consolas"/>
              </a:rPr>
              <a:t>  7      (ORDER BY average),2) p99, ROUND(MAX(maxval),2) peak</a:t>
            </a:r>
          </a:p>
          <a:p>
            <a:pPr>
              <a:lnSpc>
                <a:spcPct val="100000"/>
              </a:lnSpc>
              <a:spcAft>
                <a:spcPts val="0"/>
              </a:spcAft>
            </a:pPr>
            <a:r>
              <a:rPr sz="1250" b="0">
                <a:solidFill>
                  <a:srgbClr val="F2F2F2"/>
                </a:solidFill>
                <a:latin typeface="Consolas"/>
              </a:rPr>
              <a:t>  8  FROM dba_hist_sysmetric_summary</a:t>
            </a:r>
          </a:p>
          <a:p>
            <a:pPr>
              <a:lnSpc>
                <a:spcPct val="100000"/>
              </a:lnSpc>
              <a:spcAft>
                <a:spcPts val="0"/>
              </a:spcAft>
            </a:pPr>
            <a:r>
              <a:rPr sz="1250" b="0">
                <a:solidFill>
                  <a:srgbClr val="F2F2F2"/>
                </a:solidFill>
                <a:latin typeface="Consolas"/>
              </a:rPr>
              <a:t>  9  WHERE metric_name='Average Active Sessions'</a:t>
            </a:r>
          </a:p>
          <a:p>
            <a:pPr>
              <a:lnSpc>
                <a:spcPct val="100000"/>
              </a:lnSpc>
              <a:spcAft>
                <a:spcPts val="0"/>
              </a:spcAft>
            </a:pPr>
            <a:r>
              <a:rPr sz="1250" b="0">
                <a:solidFill>
                  <a:srgbClr val="F2F2F2"/>
                </a:solidFill>
                <a:latin typeface="Consolas"/>
              </a:rPr>
              <a:t> 10  GROUP BY metric_name;</a:t>
            </a:r>
          </a:p>
          <a:p>
            <a:pPr>
              <a:lnSpc>
                <a:spcPct val="100000"/>
              </a:lnSpc>
              <a:spcAft>
                <a:spcPts val="0"/>
              </a:spcAft>
            </a:pPr>
            <a:r>
              <a:rPr sz="1250" b="0">
                <a:solidFill>
                  <a:srgbClr val="F2F2F2"/>
                </a:solidFill>
                <a:latin typeface="Consolas"/>
              </a:rPr>
              <a:t> </a:t>
            </a:r>
          </a:p>
          <a:p>
            <a:pPr>
              <a:lnSpc>
                <a:spcPct val="100000"/>
              </a:lnSpc>
              <a:spcAft>
                <a:spcPts val="0"/>
              </a:spcAft>
            </a:pPr>
            <a:r>
              <a:rPr sz="1250" b="0">
                <a:solidFill>
                  <a:srgbClr val="F2F2F2"/>
                </a:solidFill>
                <a:latin typeface="Consolas"/>
              </a:rPr>
              <a:t>P50    P95    P99    PEAK</a:t>
            </a:r>
          </a:p>
          <a:p>
            <a:pPr>
              <a:lnSpc>
                <a:spcPct val="100000"/>
              </a:lnSpc>
              <a:spcAft>
                <a:spcPts val="0"/>
              </a:spcAft>
            </a:pPr>
            <a:r>
              <a:rPr sz="1250" b="0">
                <a:solidFill>
                  <a:srgbClr val="F2F2F2"/>
                </a:solidFill>
                <a:latin typeface="Consolas"/>
              </a:rPr>
              <a:t>&lt;환경값&gt; &lt;환경값&gt; &lt;환경값&gt; &lt;환경값&gt;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분포에서 경고·위험을 도출하는 규칙</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숫자가 아니라 절차</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경고(Warning) = 평시 상위 5% 지점(p95) → 드물게만 넘는 선</a:t>
            </a:r>
          </a:p>
          <a:p>
            <a:pPr>
              <a:spcAft>
                <a:spcPts val="800"/>
              </a:spcAft>
            </a:pPr>
            <a:r>
              <a:rPr sz="1700" b="0">
                <a:solidFill>
                  <a:srgbClr val="222222"/>
                </a:solidFill>
                <a:latin typeface="맑은 고딕"/>
              </a:rPr>
              <a:t>•  위험(Critical) = p99와 관측 최댓값(peak) 사이 → 거의 안 닿는 선</a:t>
            </a:r>
          </a:p>
          <a:p>
            <a:pPr>
              <a:spcAft>
                <a:spcPts val="800"/>
              </a:spcAft>
            </a:pPr>
            <a:r>
              <a:rPr sz="1700" b="0">
                <a:solidFill>
                  <a:srgbClr val="222222"/>
                </a:solidFill>
                <a:latin typeface="맑은 고딕"/>
              </a:rPr>
              <a:t>•  경고~위험 사이에 대응할 물리적 시간 간격을 확보</a:t>
            </a:r>
          </a:p>
          <a:p>
            <a:pPr>
              <a:spcAft>
                <a:spcPts val="800"/>
              </a:spcAft>
            </a:pPr>
            <a:r>
              <a:rPr sz="1700" b="0">
                <a:solidFill>
                  <a:srgbClr val="222222"/>
                </a:solidFill>
                <a:latin typeface="맑은 고딕"/>
              </a:rPr>
              <a:t>•  consecutive_occurrences 2~3으로 p95 스침 흡수</a:t>
            </a:r>
          </a:p>
          <a:p>
            <a:pPr>
              <a:spcAft>
                <a:spcPts val="800"/>
              </a:spcAft>
            </a:pPr>
            <a:r>
              <a:rPr sz="1700" b="0">
                <a:solidFill>
                  <a:srgbClr val="222222"/>
                </a:solidFill>
                <a:latin typeface="맑은 고딕"/>
              </a:rPr>
              <a:t>•  분기마다 이력 재산정 — 평시 자체가 이동한다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평균±표준편차로 보정하기</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지표 성격에 맞춰 손잡이 조합</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정규에 가까우면 평균+2σ≈상위 2~3%(경고), 평균+3σ(위험)</a:t>
            </a:r>
          </a:p>
          <a:p>
            <a:pPr>
              <a:spcAft>
                <a:spcPts val="800"/>
              </a:spcAft>
            </a:pPr>
            <a:r>
              <a:rPr sz="1700" b="0">
                <a:solidFill>
                  <a:srgbClr val="222222"/>
                </a:solidFill>
                <a:latin typeface="맑은 고딕"/>
              </a:rPr>
              <a:t>•  백분위수와 두 방법이 일치하면 확신↑, 어긋나면 치우친 분포</a:t>
            </a:r>
          </a:p>
          <a:p>
            <a:pPr>
              <a:spcAft>
                <a:spcPts val="800"/>
              </a:spcAft>
            </a:pPr>
            <a:r>
              <a:rPr sz="1700" b="0">
                <a:solidFill>
                  <a:srgbClr val="222222"/>
                </a:solidFill>
                <a:latin typeface="맑은 고딕"/>
              </a:rPr>
              <a:t>•  CPU Time Ratio(96.8%): 상한 100% → 값보다 '지속성'을 본다</a:t>
            </a:r>
          </a:p>
          <a:p>
            <a:pPr>
              <a:spcAft>
                <a:spcPts val="800"/>
              </a:spcAft>
            </a:pPr>
            <a:r>
              <a:rPr sz="1700" b="0">
                <a:solidFill>
                  <a:srgbClr val="222222"/>
                </a:solidFill>
                <a:latin typeface="맑은 고딕"/>
              </a:rPr>
              <a:t>•  Executions Per Sec(916.31): 상한 없음 → 백분위수 방식이 적합</a:t>
            </a:r>
          </a:p>
          <a:p>
            <a:pPr>
              <a:spcAft>
                <a:spcPts val="800"/>
              </a:spcAft>
            </a:pPr>
            <a:r>
              <a:rPr sz="1700" b="0">
                <a:solidFill>
                  <a:srgbClr val="222222"/>
                </a:solidFill>
                <a:latin typeface="맑은 고딕"/>
              </a:rPr>
              <a:t>•  표본 구간을 업무 시간대로 분리(낮 vs 배치 새벽)</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실무 시나리오 — 4.28로 임계값 정하기</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현재값은 분포 위의 한 점</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상황: AAS 4.28, Host CPU 48.77%. 활성 세션 경고를 걸어야 한다</a:t>
            </a:r>
          </a:p>
          <a:p>
            <a:pPr>
              <a:spcAft>
                <a:spcPts val="800"/>
              </a:spcAft>
            </a:pPr>
            <a:r>
              <a:rPr sz="1700" b="0">
                <a:solidFill>
                  <a:srgbClr val="222222"/>
                </a:solidFill>
                <a:latin typeface="맑은 고딕"/>
              </a:rPr>
              <a:t>•  ✗ '4.28이 지금 값이니 5쯤에 경고' → 평시 중앙값이면 상시 알림</a:t>
            </a:r>
          </a:p>
          <a:p>
            <a:pPr>
              <a:spcAft>
                <a:spcPts val="800"/>
              </a:spcAft>
            </a:pPr>
            <a:r>
              <a:rPr sz="1700" b="0">
                <a:solidFill>
                  <a:srgbClr val="222222"/>
                </a:solidFill>
                <a:latin typeface="맑은 고딕"/>
              </a:rPr>
              <a:t>•  ○ 이력에서 p95·p99를 뽑아 경고=p95, 위험=p99~peak</a:t>
            </a:r>
          </a:p>
          <a:p>
            <a:pPr>
              <a:spcAft>
                <a:spcPts val="800"/>
              </a:spcAft>
            </a:pPr>
            <a:r>
              <a:rPr sz="1700" b="0">
                <a:solidFill>
                  <a:srgbClr val="222222"/>
                </a:solidFill>
                <a:latin typeface="맑은 고딕"/>
              </a:rPr>
              <a:t>•  Host CPU가 코어 대비 절반 → 세션이 코어 수 넘는 지점이 위험 후보</a:t>
            </a:r>
          </a:p>
          <a:p>
            <a:pPr>
              <a:spcAft>
                <a:spcPts val="800"/>
              </a:spcAft>
            </a:pPr>
            <a:r>
              <a:rPr sz="1700" b="0">
                <a:solidFill>
                  <a:srgbClr val="222222"/>
                </a:solidFill>
                <a:latin typeface="맑은 고딕"/>
              </a:rPr>
              <a:t>•  현재값 4.28은 임계값이 아니라 분포 위 좌표로만 쓴다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임계값은 한 번 정하고 끝이 아니다</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평시가 이동한다</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사용자·데이터·업무가 늘면 평시 자체가 위로 이동</a:t>
            </a:r>
          </a:p>
          <a:p>
            <a:pPr>
              <a:spcAft>
                <a:spcPts val="800"/>
              </a:spcAft>
            </a:pPr>
            <a:r>
              <a:rPr sz="1700" b="0">
                <a:solidFill>
                  <a:srgbClr val="222222"/>
                </a:solidFill>
                <a:latin typeface="맑은 고딕"/>
              </a:rPr>
              <a:t>•  3개월 전 p95가 오늘은 평시 중앙값일 수 있다 → 다시 알림 피로</a:t>
            </a:r>
          </a:p>
          <a:p>
            <a:pPr>
              <a:spcAft>
                <a:spcPts val="800"/>
              </a:spcAft>
            </a:pPr>
            <a:r>
              <a:rPr sz="1700" b="0">
                <a:solidFill>
                  <a:srgbClr val="222222"/>
                </a:solidFill>
                <a:latin typeface="맑은 고딕"/>
              </a:rPr>
              <a:t>•  분기마다·큰 배포 뒤에 이력 재산정, 근거와 함께 기록</a:t>
            </a:r>
          </a:p>
          <a:p>
            <a:pPr>
              <a:spcAft>
                <a:spcPts val="800"/>
              </a:spcAft>
            </a:pPr>
            <a:r>
              <a:rPr sz="1700" b="0">
                <a:solidFill>
                  <a:srgbClr val="222222"/>
                </a:solidFill>
                <a:latin typeface="맑은 고딕"/>
              </a:rPr>
              <a:t>•  발생 빈도가 는다 = 임계값이 낮아서가 아니라 한계 접근 신호</a:t>
            </a:r>
          </a:p>
          <a:p>
            <a:pPr>
              <a:spcAft>
                <a:spcPts val="800"/>
              </a:spcAft>
            </a:pPr>
            <a:r>
              <a:rPr sz="1700" b="0">
                <a:solidFill>
                  <a:srgbClr val="222222"/>
                </a:solidFill>
                <a:latin typeface="맑은 고딕"/>
              </a:rPr>
              <a:t>•  임계값 발생 추이 = 용량 계획의 입력</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12.5</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알림 대응 절차</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spcAft>
                <a:spcPts val="400"/>
              </a:spcAft>
            </a:pPr>
            <a:r>
              <a:rPr sz="1600" b="0">
                <a:solidFill>
                  <a:srgbClr val="FFFFFF"/>
                </a:solidFill>
                <a:latin typeface="맑은 고딕"/>
              </a:rPr>
              <a:t>•  울리면 무엇부터 보는가</a:t>
            </a:r>
          </a:p>
          <a:p>
            <a:pPr>
              <a:spcAft>
                <a:spcPts val="400"/>
              </a:spcAft>
            </a:pPr>
            <a:r>
              <a:rPr sz="1600" b="0">
                <a:solidFill>
                  <a:srgbClr val="FFFFFF"/>
                </a:solidFill>
                <a:latin typeface="맑은 고딕"/>
              </a:rPr>
              <a:t>•  증상 → 원인으로 좁히기</a:t>
            </a:r>
          </a:p>
          <a:p>
            <a:pPr>
              <a:spcAft>
                <a:spcPts val="400"/>
              </a:spcAft>
            </a:pPr>
            <a:r>
              <a:rPr sz="1600" b="0">
                <a:solidFill>
                  <a:srgbClr val="FFFFFF"/>
                </a:solidFill>
                <a:latin typeface="맑은 고딕"/>
              </a:rPr>
              <a:t>•  위→아래 순서 준수</a:t>
            </a:r>
          </a:p>
          <a:p>
            <a:pPr>
              <a:spcAft>
                <a:spcPts val="400"/>
              </a:spcAft>
            </a:pPr>
            <a:r>
              <a:rPr sz="1600" b="0">
                <a:solidFill>
                  <a:srgbClr val="FFFFFF"/>
                </a:solidFill>
                <a:latin typeface="맑은 고딕"/>
              </a:rPr>
              <a:t>•  근거를 남긴다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대응 절차 — 위에서 아래로</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알림은 증상, 원인은 V$로 판다</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1) 알림 유형·심각도 — OUTSTANDING/HISTORY</a:t>
            </a:r>
          </a:p>
          <a:p>
            <a:pPr>
              <a:spcAft>
                <a:spcPts val="800"/>
              </a:spcAft>
            </a:pPr>
            <a:r>
              <a:rPr sz="1700" b="0">
                <a:solidFill>
                  <a:srgbClr val="222222"/>
                </a:solidFill>
                <a:latin typeface="맑은 고딕"/>
              </a:rPr>
              <a:t>•  2) 전체 부하 — V$SYSMETRIC(AAS·CPU·Wait Ratio)</a:t>
            </a:r>
          </a:p>
          <a:p>
            <a:pPr>
              <a:spcAft>
                <a:spcPts val="800"/>
              </a:spcAft>
            </a:pPr>
            <a:r>
              <a:rPr sz="1700" b="0">
                <a:solidFill>
                  <a:srgbClr val="222222"/>
                </a:solidFill>
                <a:latin typeface="맑은 고딕"/>
              </a:rPr>
              <a:t>•  3) 활성 세션 지목 — V$SESSION(ACTIVE)</a:t>
            </a:r>
          </a:p>
          <a:p>
            <a:pPr>
              <a:spcAft>
                <a:spcPts val="800"/>
              </a:spcAft>
            </a:pPr>
            <a:r>
              <a:rPr sz="1700" b="0">
                <a:solidFill>
                  <a:srgbClr val="222222"/>
                </a:solidFill>
                <a:latin typeface="맑은 고딕"/>
              </a:rPr>
              <a:t>•  4) 대기·블로커 — BLOCKING_SESSION, V$SESSION_WAIT</a:t>
            </a:r>
          </a:p>
          <a:p>
            <a:pPr>
              <a:spcAft>
                <a:spcPts val="800"/>
              </a:spcAft>
            </a:pPr>
            <a:r>
              <a:rPr sz="1700" b="0">
                <a:solidFill>
                  <a:srgbClr val="222222"/>
                </a:solidFill>
                <a:latin typeface="맑은 고딕"/>
              </a:rPr>
              <a:t>•  5) 원인 SQL·세그먼트 — V$SQL, V$SEGMENT_STATISTICS</a:t>
            </a:r>
          </a:p>
          <a:p>
            <a:pPr>
              <a:spcAft>
                <a:spcPts val="800"/>
              </a:spcAft>
            </a:pPr>
            <a:r>
              <a:rPr sz="1700" b="0">
                <a:solidFill>
                  <a:srgbClr val="222222"/>
                </a:solidFill>
                <a:latin typeface="맑은 고딕"/>
              </a:rPr>
              <a:t>•  6) 조치 후 재확인 — 1~2단계 재측정</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WL_04_lock 대응 실습 흐름</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잠금 경합 유발 → 알림 → 대응</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WL_04_lock: 한 세션이 행을 잡고 커밋 안 함 → 다른 세션들 대기</a:t>
            </a:r>
          </a:p>
          <a:p>
            <a:pPr>
              <a:spcAft>
                <a:spcPts val="800"/>
              </a:spcAft>
            </a:pPr>
            <a:r>
              <a:rPr sz="1700" b="0">
                <a:solidFill>
                  <a:srgbClr val="222222"/>
                </a:solidFill>
                <a:latin typeface="맑은 고딕"/>
              </a:rPr>
              <a:t>•  활성 세션↑, 서비스 응답시간 메트릭↑ → 알림 발생(Stateful)</a:t>
            </a:r>
          </a:p>
          <a:p>
            <a:pPr>
              <a:spcAft>
                <a:spcPts val="800"/>
              </a:spcAft>
            </a:pPr>
            <a:r>
              <a:rPr sz="1700" b="0">
                <a:solidFill>
                  <a:srgbClr val="222222"/>
                </a:solidFill>
                <a:latin typeface="맑은 고딕"/>
              </a:rPr>
              <a:t>•  2)Wait Ratio↑ 3)enq: TX-row lock contention에 세션 몰림</a:t>
            </a:r>
          </a:p>
          <a:p>
            <a:pPr>
              <a:spcAft>
                <a:spcPts val="800"/>
              </a:spcAft>
            </a:pPr>
            <a:r>
              <a:rPr sz="1700" b="0">
                <a:solidFill>
                  <a:srgbClr val="222222"/>
                </a:solidFill>
                <a:latin typeface="맑은 고딕"/>
              </a:rPr>
              <a:t>•  4) BLOCKING_SESSION으로 블로커 지목 → 커밋 유도/응급 종료</a:t>
            </a:r>
          </a:p>
          <a:p>
            <a:pPr>
              <a:spcAft>
                <a:spcPts val="800"/>
              </a:spcAft>
            </a:pPr>
            <a:r>
              <a:rPr sz="1700" b="0">
                <a:solidFill>
                  <a:srgbClr val="222222"/>
                </a:solidFill>
                <a:latin typeface="맑은 고딕"/>
              </a:rPr>
              <a:t>•  6) 대기 세션 해소·알림 자동 clear·Wait Ratio 정상 재확인</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대응하며 근거를 남긴다</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ch17의 원칙을 알림 상황에</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조치 전 상태 캡처 없으면 조치 효과를 증명 못 함</a:t>
            </a:r>
          </a:p>
          <a:p>
            <a:pPr>
              <a:spcAft>
                <a:spcPts val="800"/>
              </a:spcAft>
            </a:pPr>
            <a:r>
              <a:rPr sz="1700" b="0">
                <a:solidFill>
                  <a:srgbClr val="222222"/>
                </a:solidFill>
                <a:latin typeface="맑은 고딕"/>
              </a:rPr>
              <a:t>•  기록: 알림 시각 · V$SYSMETRIC 값 · 활성 세션·대기 · 블로커·SQL</a:t>
            </a:r>
          </a:p>
          <a:p>
            <a:pPr>
              <a:spcAft>
                <a:spcPts val="800"/>
              </a:spcAft>
            </a:pPr>
            <a:r>
              <a:rPr sz="1700" b="0">
                <a:solidFill>
                  <a:srgbClr val="222222"/>
                </a:solidFill>
                <a:latin typeface="맑은 고딕"/>
              </a:rPr>
              <a:t>•  그리고 조치 내용 + 조치 후 값을 순서대로</a:t>
            </a:r>
          </a:p>
          <a:p>
            <a:pPr>
              <a:spcAft>
                <a:spcPts val="800"/>
              </a:spcAft>
            </a:pPr>
            <a:r>
              <a:rPr sz="1700" b="0">
                <a:solidFill>
                  <a:srgbClr val="222222"/>
                </a:solidFill>
                <a:latin typeface="맑은 고딕"/>
              </a:rPr>
              <a:t>•  ① 같은 알림 재발 시 지난 원인과 대조해 빠른 판단</a:t>
            </a:r>
          </a:p>
          <a:p>
            <a:pPr>
              <a:spcAft>
                <a:spcPts val="800"/>
              </a:spcAft>
            </a:pPr>
            <a:r>
              <a:rPr sz="1700" b="0">
                <a:solidFill>
                  <a:srgbClr val="222222"/>
                </a:solidFill>
                <a:latin typeface="맑은 고딕"/>
              </a:rPr>
              <a:t>•  ② 반복되는 알림의 기록 = 근본 원인(recurring root cause) 증거</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12.6</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세션 모니터링</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spcAft>
                <a:spcPts val="400"/>
              </a:spcAft>
            </a:pPr>
            <a:r>
              <a:rPr sz="1600" b="0">
                <a:solidFill>
                  <a:srgbClr val="FFFFFF"/>
                </a:solidFill>
                <a:latin typeface="맑은 고딕"/>
              </a:rPr>
              <a:t>•  활성 세션 상시 관찰</a:t>
            </a:r>
          </a:p>
          <a:p>
            <a:pPr>
              <a:spcAft>
                <a:spcPts val="400"/>
              </a:spcAft>
            </a:pPr>
            <a:r>
              <a:rPr sz="1600" b="0">
                <a:solidFill>
                  <a:srgbClr val="FFFFFF"/>
                </a:solidFill>
                <a:latin typeface="맑은 고딕"/>
              </a:rPr>
              <a:t>•  장기 실행 작업 진척</a:t>
            </a:r>
          </a:p>
          <a:p>
            <a:pPr>
              <a:spcAft>
                <a:spcPts val="400"/>
              </a:spcAft>
            </a:pPr>
            <a:r>
              <a:rPr sz="1600" b="0">
                <a:solidFill>
                  <a:srgbClr val="FFFFFF"/>
                </a:solidFill>
                <a:latin typeface="맑은 고딕"/>
              </a:rPr>
              <a:t>•  V$SESSION_LONGOPS</a:t>
            </a:r>
          </a:p>
          <a:p>
            <a:pPr>
              <a:spcAft>
                <a:spcPts val="400"/>
              </a:spcAft>
            </a:pPr>
            <a:r>
              <a:rPr sz="1600" b="0">
                <a:solidFill>
                  <a:srgbClr val="FFFFFF"/>
                </a:solidFill>
                <a:latin typeface="맑은 고딕"/>
              </a:rPr>
              <a:t>•  work vs wait 구분</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장기 실행 작업</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V$SESSION_LONGOPS — 실측</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tIns="101600"/>
          <a:lstStyle/>
          <a:p>
            <a:pPr algn="ctr">
              <a:lnSpc>
                <a:spcPct val="100000"/>
              </a:lnSpc>
              <a:spcAft>
                <a:spcPts val="0"/>
              </a:spcAft>
            </a:pPr>
            <a:r>
              <a:rPr sz="1250" b="0">
                <a:solidFill>
                  <a:srgbClr val="F2F2F2"/>
                </a:solidFill>
                <a:latin typeface="Consolas"/>
              </a:rPr>
              <a:t>SYS@orcl&gt; SELECT SUBSTR(opname,1,30) opname, sofar,</a:t>
            </a:r>
          </a:p>
          <a:p>
            <a:pPr>
              <a:lnSpc>
                <a:spcPct val="100000"/>
              </a:lnSpc>
              <a:spcAft>
                <a:spcPts val="0"/>
              </a:spcAft>
            </a:pPr>
            <a:r>
              <a:rPr sz="1250" b="0">
                <a:solidFill>
                  <a:srgbClr val="F2F2F2"/>
                </a:solidFill>
                <a:latin typeface="Consolas"/>
              </a:rPr>
              <a:t>  2         totalwork, ROUND(sofar/GREATEST(totalwork,1)*100) pct</a:t>
            </a:r>
          </a:p>
          <a:p>
            <a:pPr>
              <a:lnSpc>
                <a:spcPct val="100000"/>
              </a:lnSpc>
              <a:spcAft>
                <a:spcPts val="0"/>
              </a:spcAft>
            </a:pPr>
            <a:r>
              <a:rPr sz="1250" b="0">
                <a:solidFill>
                  <a:srgbClr val="F2F2F2"/>
                </a:solidFill>
                <a:latin typeface="Consolas"/>
              </a:rPr>
              <a:t>  3       FROM v$session_longops WHERE rownum&lt;=6;</a:t>
            </a:r>
          </a:p>
          <a:p>
            <a:pPr>
              <a:lnSpc>
                <a:spcPct val="100000"/>
              </a:lnSpc>
              <a:spcAft>
                <a:spcPts val="0"/>
              </a:spcAft>
            </a:pPr>
            <a:r>
              <a:rPr sz="1250" b="0">
                <a:solidFill>
                  <a:srgbClr val="F2F2F2"/>
                </a:solidFill>
                <a:latin typeface="Consolas"/>
              </a:rPr>
              <a:t> </a:t>
            </a:r>
          </a:p>
          <a:p>
            <a:pPr>
              <a:lnSpc>
                <a:spcPct val="100000"/>
              </a:lnSpc>
              <a:spcAft>
                <a:spcPts val="0"/>
              </a:spcAft>
            </a:pPr>
            <a:r>
              <a:rPr sz="1250" b="0">
                <a:solidFill>
                  <a:srgbClr val="F2F2F2"/>
                </a:solidFill>
                <a:latin typeface="Consolas"/>
              </a:rPr>
              <a:t>OPNAME                          SOFAR  TOTALWORK PCT</a:t>
            </a:r>
          </a:p>
          <a:p>
            <a:pPr>
              <a:lnSpc>
                <a:spcPct val="100000"/>
              </a:lnSpc>
              <a:spcAft>
                <a:spcPts val="0"/>
              </a:spcAft>
            </a:pPr>
            <a:r>
              <a:rPr sz="1250" b="0">
                <a:solidFill>
                  <a:srgbClr val="F2F2F2"/>
                </a:solidFill>
                <a:latin typeface="Consolas"/>
              </a:rPr>
              <a:t>------------------------------ ------- --------- ---</a:t>
            </a:r>
          </a:p>
          <a:p>
            <a:pPr>
              <a:lnSpc>
                <a:spcPct val="100000"/>
              </a:lnSpc>
              <a:spcAft>
                <a:spcPts val="0"/>
              </a:spcAft>
            </a:pPr>
            <a:r>
              <a:rPr sz="1250" b="0">
                <a:solidFill>
                  <a:srgbClr val="F2F2F2"/>
                </a:solidFill>
                <a:latin typeface="Consolas"/>
              </a:rPr>
              <a:t>RMAN: incremental datafile bac  120320    120320 100</a:t>
            </a:r>
          </a:p>
          <a:p>
            <a:pPr>
              <a:lnSpc>
                <a:spcPct val="100000"/>
              </a:lnSpc>
              <a:spcAft>
                <a:spcPts val="0"/>
              </a:spcAft>
            </a:pPr>
            <a:r>
              <a:rPr sz="1250" b="0">
                <a:solidFill>
                  <a:srgbClr val="F2F2F2"/>
                </a:solidFill>
                <a:latin typeface="Consolas"/>
              </a:rPr>
              <a:t>RMAN: incremental datafile bac  104922    104922 100</a:t>
            </a:r>
          </a:p>
          <a:p>
            <a:pPr>
              <a:lnSpc>
                <a:spcPct val="100000"/>
              </a:lnSpc>
              <a:spcAft>
                <a:spcPts val="0"/>
              </a:spcAft>
            </a:pPr>
            <a:r>
              <a:rPr sz="1250" b="0">
                <a:solidFill>
                  <a:srgbClr val="F2F2F2"/>
                </a:solidFill>
                <a:latin typeface="Consolas"/>
              </a:rPr>
              <a:t>RMAN: incremental datafile bac  115200    115200 100</a:t>
            </a:r>
          </a:p>
          <a:p>
            <a:pPr>
              <a:lnSpc>
                <a:spcPct val="100000"/>
              </a:lnSpc>
              <a:spcAft>
                <a:spcPts val="0"/>
              </a:spcAft>
            </a:pPr>
            <a:r>
              <a:rPr sz="1250" b="0">
                <a:solidFill>
                  <a:srgbClr val="F2F2F2"/>
                </a:solidFill>
                <a:latin typeface="Consolas"/>
              </a:rPr>
              <a:t>RMAN: incremental datafile bac  264800    264800 100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활성 세션 — work인가 wait인가</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V$SESSION status='ACTIVE'</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활성 세션을 event로 묶어 보면 병목의 성격이 드러남</a:t>
            </a:r>
          </a:p>
          <a:p>
            <a:pPr>
              <a:spcAft>
                <a:spcPts val="800"/>
              </a:spcAft>
            </a:pPr>
            <a:r>
              <a:rPr sz="1700" b="0">
                <a:solidFill>
                  <a:srgbClr val="222222"/>
                </a:solidFill>
                <a:latin typeface="맑은 고딕"/>
              </a:rPr>
              <a:t>•  CPU를 쓰느라 활성(work) → 용량 문제에 가까움</a:t>
            </a:r>
          </a:p>
          <a:p>
            <a:pPr>
              <a:spcAft>
                <a:spcPts val="800"/>
              </a:spcAft>
            </a:pPr>
            <a:r>
              <a:rPr sz="1700" b="0">
                <a:solidFill>
                  <a:srgbClr val="222222"/>
                </a:solidFill>
                <a:latin typeface="맑은 고딕"/>
              </a:rPr>
              <a:t>•  무언가 기다려 활성(wait) → 경합 문제에 가까움</a:t>
            </a:r>
          </a:p>
          <a:p>
            <a:pPr>
              <a:spcAft>
                <a:spcPts val="800"/>
              </a:spcAft>
            </a:pPr>
            <a:r>
              <a:rPr sz="1700" b="0">
                <a:solidFill>
                  <a:srgbClr val="222222"/>
                </a:solidFill>
                <a:latin typeface="맑은 고딕"/>
              </a:rPr>
              <a:t>•  enq: TX 몰림 = 잠금 → 다음은 BLOCKING_SESSION 추적(ch27)</a:t>
            </a:r>
          </a:p>
          <a:p>
            <a:pPr>
              <a:spcAft>
                <a:spcPts val="800"/>
              </a:spcAft>
            </a:pPr>
            <a:r>
              <a:rPr sz="1700" b="0">
                <a:solidFill>
                  <a:srgbClr val="222222"/>
                </a:solidFill>
                <a:latin typeface="맑은 고딕"/>
              </a:rPr>
              <a:t>•  장기 작업(정상)과 갑자기 몰린 대기(비정상)를 함께 보아 구분</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12.7</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서비스 단위 모니터링</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spcAft>
                <a:spcPts val="400"/>
              </a:spcAft>
            </a:pPr>
            <a:r>
              <a:rPr sz="1600" b="0">
                <a:solidFill>
                  <a:srgbClr val="FFFFFF"/>
                </a:solidFill>
                <a:latin typeface="맑은 고딕"/>
              </a:rPr>
              <a:t>•  업무별로 나눠 본다</a:t>
            </a:r>
          </a:p>
          <a:p>
            <a:pPr>
              <a:spcAft>
                <a:spcPts val="400"/>
              </a:spcAft>
            </a:pPr>
            <a:r>
              <a:rPr sz="1600" b="0">
                <a:solidFill>
                  <a:srgbClr val="FFFFFF"/>
                </a:solidFill>
                <a:latin typeface="맑은 고딕"/>
              </a:rPr>
              <a:t>•  V$SERVICE_STATS(누적)</a:t>
            </a:r>
          </a:p>
          <a:p>
            <a:pPr>
              <a:spcAft>
                <a:spcPts val="400"/>
              </a:spcAft>
            </a:pPr>
            <a:r>
              <a:rPr sz="1600" b="0">
                <a:solidFill>
                  <a:srgbClr val="FFFFFF"/>
                </a:solidFill>
                <a:latin typeface="맑은 고딕"/>
              </a:rPr>
              <a:t>•  V$SERVICEMETRIC(최근)</a:t>
            </a:r>
          </a:p>
          <a:p>
            <a:pPr>
              <a:spcAft>
                <a:spcPts val="400"/>
              </a:spcAft>
            </a:pPr>
            <a:r>
              <a:rPr sz="1600" b="0">
                <a:solidFill>
                  <a:srgbClr val="FFFFFF"/>
                </a:solidFill>
                <a:latin typeface="맑은 고딕"/>
              </a:rPr>
              <a:t>•  서비스별 임계값</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서비스별 누적 통계</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V$SERVICE_STATS — 누적은 델타로</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tIns="101600"/>
          <a:lstStyle/>
          <a:p>
            <a:pPr algn="ctr">
              <a:lnSpc>
                <a:spcPct val="100000"/>
              </a:lnSpc>
              <a:spcAft>
                <a:spcPts val="0"/>
              </a:spcAft>
            </a:pPr>
            <a:r>
              <a:rPr sz="1250" b="0">
                <a:solidFill>
                  <a:srgbClr val="F2F2F2"/>
                </a:solidFill>
                <a:latin typeface="Consolas"/>
              </a:rPr>
              <a:t>SYS@orcl&gt; SELECT service_name, stat_name, value</a:t>
            </a:r>
          </a:p>
          <a:p>
            <a:pPr>
              <a:lnSpc>
                <a:spcPct val="100000"/>
              </a:lnSpc>
              <a:spcAft>
                <a:spcPts val="0"/>
              </a:spcAft>
            </a:pPr>
            <a:r>
              <a:rPr sz="1250" b="0">
                <a:solidFill>
                  <a:srgbClr val="F2F2F2"/>
                </a:solidFill>
                <a:latin typeface="Consolas"/>
              </a:rPr>
              <a:t>  2       FROM v$service_stats</a:t>
            </a:r>
          </a:p>
          <a:p>
            <a:pPr>
              <a:lnSpc>
                <a:spcPct val="100000"/>
              </a:lnSpc>
              <a:spcAft>
                <a:spcPts val="0"/>
              </a:spcAft>
            </a:pPr>
            <a:r>
              <a:rPr sz="1250" b="0">
                <a:solidFill>
                  <a:srgbClr val="F2F2F2"/>
                </a:solidFill>
                <a:latin typeface="Consolas"/>
              </a:rPr>
              <a:t>  3       WHERE stat_name IN ('DB time','DB CPU',</a:t>
            </a:r>
          </a:p>
          <a:p>
            <a:pPr>
              <a:lnSpc>
                <a:spcPct val="100000"/>
              </a:lnSpc>
              <a:spcAft>
                <a:spcPts val="0"/>
              </a:spcAft>
            </a:pPr>
            <a:r>
              <a:rPr sz="1250" b="0">
                <a:solidFill>
                  <a:srgbClr val="F2F2F2"/>
                </a:solidFill>
                <a:latin typeface="Consolas"/>
              </a:rPr>
              <a:t>  4         'user calls','physical reads')</a:t>
            </a:r>
          </a:p>
          <a:p>
            <a:pPr>
              <a:lnSpc>
                <a:spcPct val="100000"/>
              </a:lnSpc>
              <a:spcAft>
                <a:spcPts val="0"/>
              </a:spcAft>
            </a:pPr>
            <a:r>
              <a:rPr sz="1250" b="0">
                <a:solidFill>
                  <a:srgbClr val="F2F2F2"/>
                </a:solidFill>
                <a:latin typeface="Consolas"/>
              </a:rPr>
              <a:t>  5         AND service_name NOT LIKE 'SYS$%'</a:t>
            </a:r>
          </a:p>
          <a:p>
            <a:pPr>
              <a:lnSpc>
                <a:spcPct val="100000"/>
              </a:lnSpc>
              <a:spcAft>
                <a:spcPts val="0"/>
              </a:spcAft>
            </a:pPr>
            <a:r>
              <a:rPr sz="1250" b="0">
                <a:solidFill>
                  <a:srgbClr val="F2F2F2"/>
                </a:solidFill>
                <a:latin typeface="Consolas"/>
              </a:rPr>
              <a:t>  6       ORDER BY service_name, stat_name;</a:t>
            </a:r>
          </a:p>
          <a:p>
            <a:pPr>
              <a:lnSpc>
                <a:spcPct val="100000"/>
              </a:lnSpc>
              <a:spcAft>
                <a:spcPts val="0"/>
              </a:spcAft>
            </a:pPr>
            <a:r>
              <a:rPr sz="1250" b="0">
                <a:solidFill>
                  <a:srgbClr val="F2F2F2"/>
                </a:solidFill>
                <a:latin typeface="Consolas"/>
              </a:rPr>
              <a:t> </a:t>
            </a:r>
          </a:p>
          <a:p>
            <a:pPr>
              <a:lnSpc>
                <a:spcPct val="100000"/>
              </a:lnSpc>
              <a:spcAft>
                <a:spcPts val="0"/>
              </a:spcAft>
            </a:pPr>
            <a:r>
              <a:rPr sz="1250" b="0">
                <a:solidFill>
                  <a:srgbClr val="F2F2F2"/>
                </a:solidFill>
                <a:latin typeface="Consolas"/>
              </a:rPr>
              <a:t>SERVICE_NAME  STAT_NAME        VALUE</a:t>
            </a:r>
          </a:p>
          <a:p>
            <a:pPr>
              <a:lnSpc>
                <a:spcPct val="100000"/>
              </a:lnSpc>
              <a:spcAft>
                <a:spcPts val="0"/>
              </a:spcAft>
            </a:pPr>
            <a:r>
              <a:rPr sz="1250" b="0">
                <a:solidFill>
                  <a:srgbClr val="F2F2F2"/>
                </a:solidFill>
                <a:latin typeface="Consolas"/>
              </a:rPr>
              <a:t>------------- ---------------- --------</a:t>
            </a:r>
          </a:p>
          <a:p>
            <a:pPr>
              <a:lnSpc>
                <a:spcPct val="100000"/>
              </a:lnSpc>
              <a:spcAft>
                <a:spcPts val="0"/>
              </a:spcAft>
            </a:pPr>
            <a:r>
              <a:rPr sz="1250" b="0">
                <a:solidFill>
                  <a:srgbClr val="F2F2F2"/>
                </a:solidFill>
                <a:latin typeface="Consolas"/>
              </a:rPr>
              <a:t>orcl          DB CPU           &lt;환경값&gt;</a:t>
            </a:r>
          </a:p>
          <a:p>
            <a:pPr>
              <a:lnSpc>
                <a:spcPct val="100000"/>
              </a:lnSpc>
              <a:spcAft>
                <a:spcPts val="0"/>
              </a:spcAft>
            </a:pPr>
            <a:r>
              <a:rPr sz="1250" b="0">
                <a:solidFill>
                  <a:srgbClr val="F2F2F2"/>
                </a:solidFill>
                <a:latin typeface="Consolas"/>
              </a:rPr>
              <a:t>orcl          DB time          &lt;환경값&gt;</a:t>
            </a:r>
          </a:p>
          <a:p>
            <a:pPr>
              <a:lnSpc>
                <a:spcPct val="100000"/>
              </a:lnSpc>
              <a:spcAft>
                <a:spcPts val="0"/>
              </a:spcAft>
            </a:pPr>
            <a:r>
              <a:rPr sz="1250" b="0">
                <a:solidFill>
                  <a:srgbClr val="F2F2F2"/>
                </a:solidFill>
                <a:latin typeface="Consolas"/>
              </a:rPr>
              <a:t>orcl          physical reads   &lt;환경값&gt;</a:t>
            </a:r>
          </a:p>
          <a:p>
            <a:pPr>
              <a:lnSpc>
                <a:spcPct val="100000"/>
              </a:lnSpc>
              <a:spcAft>
                <a:spcPts val="0"/>
              </a:spcAft>
            </a:pPr>
            <a:r>
              <a:rPr sz="1250" b="0">
                <a:solidFill>
                  <a:srgbClr val="F2F2F2"/>
                </a:solidFill>
                <a:latin typeface="Consolas"/>
              </a:rPr>
              <a:t>orcl          user calls       &lt;환경값&gt;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서비스로 나눠 감시하라</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V$SERVICE_STATS / V$SERVICEMETRIC</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인스턴스 전체 지표로는 '어느 업무가' 문제인지 모른다</a:t>
            </a:r>
          </a:p>
          <a:p>
            <a:pPr>
              <a:spcAft>
                <a:spcPts val="800"/>
              </a:spcAft>
            </a:pPr>
            <a:r>
              <a:rPr sz="1700" b="0">
                <a:solidFill>
                  <a:srgbClr val="222222"/>
                </a:solidFill>
                <a:latin typeface="맑은 고딕"/>
              </a:rPr>
              <a:t>•  서비스 = 워크로드를 나누는 논리 단위, 통계를 서비스별 집계</a:t>
            </a:r>
          </a:p>
          <a:p>
            <a:pPr>
              <a:spcAft>
                <a:spcPts val="800"/>
              </a:spcAft>
            </a:pPr>
            <a:r>
              <a:rPr sz="1700" b="0">
                <a:solidFill>
                  <a:srgbClr val="222222"/>
                </a:solidFill>
                <a:latin typeface="맑은 고딕"/>
              </a:rPr>
              <a:t>•  V$SERVICE_STATS: 서비스별 DB time·CPU·읽기(누적 → 델타로)</a:t>
            </a:r>
          </a:p>
          <a:p>
            <a:pPr>
              <a:spcAft>
                <a:spcPts val="800"/>
              </a:spcAft>
            </a:pPr>
            <a:r>
              <a:rPr sz="1700" b="0">
                <a:solidFill>
                  <a:srgbClr val="222222"/>
                </a:solidFill>
                <a:latin typeface="맑은 고딕"/>
              </a:rPr>
              <a:t>•  V$SERVICEMETRIC: 서비스별 최근 구간 응답시간·CPU</a:t>
            </a:r>
          </a:p>
          <a:p>
            <a:pPr>
              <a:spcAft>
                <a:spcPts val="800"/>
              </a:spcAft>
            </a:pPr>
            <a:r>
              <a:rPr sz="1700" b="0">
                <a:solidFill>
                  <a:srgbClr val="222222"/>
                </a:solidFill>
                <a:latin typeface="맑은 고딕"/>
              </a:rPr>
              <a:t>•  SET_THRESHOLD object_type=SERVICE → 서비스별 임계값</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12.8</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흔한 함정 — 알림 피로</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spcAft>
                <a:spcPts val="400"/>
              </a:spcAft>
            </a:pPr>
            <a:r>
              <a:rPr sz="1600" b="0">
                <a:solidFill>
                  <a:srgbClr val="FFFFFF"/>
                </a:solidFill>
                <a:latin typeface="맑은 고딕"/>
              </a:rPr>
              <a:t>•  낮으면 소음, 높으면 지각</a:t>
            </a:r>
          </a:p>
          <a:p>
            <a:pPr>
              <a:spcAft>
                <a:spcPts val="400"/>
              </a:spcAft>
            </a:pPr>
            <a:r>
              <a:rPr sz="1600" b="0">
                <a:solidFill>
                  <a:srgbClr val="FFFFFF"/>
                </a:solidFill>
                <a:latin typeface="맑은 고딕"/>
              </a:rPr>
              <a:t>•  무뎌지면 진짜도 무시</a:t>
            </a:r>
          </a:p>
          <a:p>
            <a:pPr>
              <a:spcAft>
                <a:spcPts val="400"/>
              </a:spcAft>
            </a:pPr>
            <a:r>
              <a:rPr sz="1600" b="0">
                <a:solidFill>
                  <a:srgbClr val="FFFFFF"/>
                </a:solidFill>
                <a:latin typeface="맑은 고딕"/>
              </a:rPr>
              <a:t>•  해법 = 분포 기반 산정</a:t>
            </a:r>
          </a:p>
          <a:p>
            <a:pPr>
              <a:spcAft>
                <a:spcPts val="400"/>
              </a:spcAft>
            </a:pPr>
            <a:r>
              <a:rPr sz="1600" b="0">
                <a:solidFill>
                  <a:srgbClr val="FFFFFF"/>
                </a:solidFill>
                <a:latin typeface="맑은 고딕"/>
              </a:rPr>
              <a:t>•  울리면 반드시 조치할 것만</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임계값을 낮게 잡으면</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alert fatigue의 진짜 위험</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선의로 낮게 잡음 → 정상 운영 중에도 수시로 울림</a:t>
            </a:r>
          </a:p>
          <a:p>
            <a:pPr>
              <a:spcAft>
                <a:spcPts val="800"/>
              </a:spcAft>
            </a:pPr>
            <a:r>
              <a:rPr sz="1700" b="0">
                <a:solidFill>
                  <a:srgbClr val="222222"/>
                </a:solidFill>
                <a:latin typeface="맑은 고딕"/>
              </a:rPr>
              <a:t>•  며칠 뒤 '또 그 알림' → 아무도 열어 보지 않음</a:t>
            </a:r>
          </a:p>
          <a:p>
            <a:pPr>
              <a:spcAft>
                <a:spcPts val="800"/>
              </a:spcAft>
            </a:pPr>
            <a:r>
              <a:rPr sz="1700" b="0">
                <a:solidFill>
                  <a:srgbClr val="222222"/>
                </a:solidFill>
                <a:latin typeface="맑은 고딕"/>
              </a:rPr>
              <a:t>•  무뎌진 사람은 '진짜 위험 알림'까지 함께 무시 = 감시 무력화</a:t>
            </a:r>
          </a:p>
          <a:p>
            <a:pPr>
              <a:spcAft>
                <a:spcPts val="800"/>
              </a:spcAft>
            </a:pPr>
            <a:r>
              <a:rPr sz="1700" b="0">
                <a:solidFill>
                  <a:srgbClr val="222222"/>
                </a:solidFill>
                <a:latin typeface="맑은 고딕"/>
              </a:rPr>
              <a:t>•  반대로 너무 높으면 문제가 커진 뒤에야 울림(RTBS 100% 사례)</a:t>
            </a:r>
          </a:p>
          <a:p>
            <a:pPr>
              <a:spcAft>
                <a:spcPts val="800"/>
              </a:spcAft>
            </a:pPr>
            <a:r>
              <a:rPr sz="1700" b="0">
                <a:solidFill>
                  <a:srgbClr val="222222"/>
                </a:solidFill>
                <a:latin typeface="맑은 고딕"/>
              </a:rPr>
              <a:t>•  해법: 경고=p95 · 위험=거의 안 닿는 선 · 연속 관측으로 흡수</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퀴즈 (Quiz)</a:t>
            </a:r>
          </a:p>
        </p:txBody>
      </p:sp>
      <p:sp>
        <p:nvSpPr>
          <p:cNvPr id="4" name="TextBox 3"/>
          <p:cNvSpPr txBox="1"/>
          <p:nvPr/>
        </p:nvSpPr>
        <p:spPr>
          <a:xfrm>
            <a:off x="640080" y="1371600"/>
            <a:ext cx="10881360" cy="5120640"/>
          </a:xfrm>
          <a:prstGeom prst="rect">
            <a:avLst/>
          </a:prstGeom>
          <a:noFill/>
        </p:spPr>
        <p:txBody>
          <a:bodyPr wrap="square">
            <a:spAutoFit/>
          </a:bodyPr>
          <a:lstStyle/>
          <a:p>
            <a:pPr>
              <a:spcAft>
                <a:spcPts val="600"/>
              </a:spcAft>
            </a:pPr>
            <a:r>
              <a:rPr sz="1600" b="0">
                <a:solidFill>
                  <a:srgbClr val="222222"/>
                </a:solidFill>
                <a:latin typeface="맑은 고딕"/>
              </a:rPr>
              <a:t>•  Q1. Stateful과 Stateless 알림의 차이를 해소 방식·조회 뷰로 설명하라.</a:t>
            </a:r>
          </a:p>
          <a:p>
            <a:pPr>
              <a:spcAft>
                <a:spcPts val="600"/>
              </a:spcAft>
            </a:pPr>
            <a:r>
              <a:rPr sz="1600" b="0">
                <a:solidFill>
                  <a:srgbClr val="222222"/>
                </a:solidFill>
                <a:latin typeface="맑은 고딕"/>
              </a:rPr>
              <a:t>•  Q2. 임계값을 이력 분포에서 산정해야 하는 이유를 한 문장으로.</a:t>
            </a:r>
          </a:p>
          <a:p>
            <a:pPr>
              <a:spcAft>
                <a:spcPts val="600"/>
              </a:spcAft>
            </a:pPr>
            <a:r>
              <a:rPr sz="1600" b="0">
                <a:solidFill>
                  <a:srgbClr val="222222"/>
                </a:solidFill>
                <a:latin typeface="맑은 고딕"/>
              </a:rPr>
              <a:t>•  Q3. 경고 p95·위험 p99~peak 규칙에서 각 값의 의미는?</a:t>
            </a:r>
          </a:p>
          <a:p>
            <a:pPr>
              <a:spcAft>
                <a:spcPts val="600"/>
              </a:spcAft>
            </a:pPr>
            <a:r>
              <a:rPr sz="1600" b="0">
                <a:solidFill>
                  <a:srgbClr val="222222"/>
                </a:solidFill>
                <a:latin typeface="맑은 고딕"/>
              </a:rPr>
              <a:t>•  Q4. consecutive_occurrences를 늘리면 무엇이 좋아지는가?</a:t>
            </a:r>
          </a:p>
          <a:p>
            <a:pPr>
              <a:spcAft>
                <a:spcPts val="600"/>
              </a:spcAft>
            </a:pPr>
            <a:r>
              <a:rPr sz="1600" b="0">
                <a:solidFill>
                  <a:srgbClr val="222222"/>
                </a:solidFill>
                <a:latin typeface="맑은 고딕"/>
              </a:rPr>
              <a:t>•  Q5. 알림이 울렸을 때 활성 세션보다 먼저 볼 것은 무엇이며 왜인가?</a:t>
            </a:r>
          </a:p>
          <a:p>
            <a:pPr>
              <a:spcAft>
                <a:spcPts val="600"/>
              </a:spcAft>
            </a:pPr>
            <a:r>
              <a:rPr sz="1600" b="0">
                <a:solidFill>
                  <a:srgbClr val="222222"/>
                </a:solidFill>
                <a:latin typeface="맑은 고딕"/>
              </a:rPr>
              <a:t>•  Q6. 임계값을 낮게 잡을 때 알림 피로의 가장 큰 위험은?</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요약 (Summary)</a:t>
            </a:r>
          </a:p>
        </p:txBody>
      </p:sp>
      <p:sp>
        <p:nvSpPr>
          <p:cNvPr id="4" name="TextBox 3"/>
          <p:cNvSpPr txBox="1"/>
          <p:nvPr/>
        </p:nvSpPr>
        <p:spPr>
          <a:xfrm>
            <a:off x="640080" y="1371600"/>
            <a:ext cx="10881360" cy="5120640"/>
          </a:xfrm>
          <a:prstGeom prst="rect">
            <a:avLst/>
          </a:prstGeom>
          <a:noFill/>
        </p:spPr>
        <p:txBody>
          <a:bodyPr wrap="square">
            <a:spAutoFit/>
          </a:bodyPr>
          <a:lstStyle/>
          <a:p>
            <a:pPr>
              <a:spcAft>
                <a:spcPts val="600"/>
              </a:spcAft>
            </a:pPr>
            <a:r>
              <a:rPr sz="1600" b="0">
                <a:solidFill>
                  <a:srgbClr val="222222"/>
                </a:solidFill>
                <a:latin typeface="맑은 고딕"/>
              </a:rPr>
              <a:t>•  서버 생성 알림 = MMON이 감시→ALERT_QUE 등록하는 push. EM 없이 딕셔너리 뷰로 관리.</a:t>
            </a:r>
          </a:p>
          <a:p>
            <a:pPr>
              <a:spcAft>
                <a:spcPts val="600"/>
              </a:spcAft>
            </a:pPr>
            <a:r>
              <a:rPr sz="1600" b="0">
                <a:solidFill>
                  <a:srgbClr val="222222"/>
                </a:solidFill>
                <a:latin typeface="맑은 고딕"/>
              </a:rPr>
              <a:t>•  Stateful(지속·자동 해소) / Stateless(사건·이력 직행) — 대응 목표가 다르다.</a:t>
            </a:r>
          </a:p>
          <a:p>
            <a:pPr>
              <a:spcAft>
                <a:spcPts val="600"/>
              </a:spcAft>
            </a:pPr>
            <a:r>
              <a:rPr sz="1600" b="0">
                <a:solidFill>
                  <a:srgbClr val="222222"/>
                </a:solidFill>
                <a:latin typeface="맑은 고딕"/>
              </a:rPr>
              <a:t>•  설정은 SET_THRESHOLD, 확인은 DBA_THRESHOLDS. 값·연산자·주기·연속·대상.</a:t>
            </a:r>
          </a:p>
          <a:p>
            <a:pPr>
              <a:spcAft>
                <a:spcPts val="600"/>
              </a:spcAft>
            </a:pPr>
            <a:r>
              <a:rPr sz="1600" b="0">
                <a:solidFill>
                  <a:srgbClr val="222222"/>
                </a:solidFill>
                <a:latin typeface="맑은 고딕"/>
              </a:rPr>
              <a:t>•  임계값은 감이 아니라 DBA_HIST 분포에서: 경고=p95, 위험=p99~peak, 연속으로 흡수(핵심).</a:t>
            </a:r>
          </a:p>
          <a:p>
            <a:pPr>
              <a:spcAft>
                <a:spcPts val="600"/>
              </a:spcAft>
            </a:pPr>
            <a:r>
              <a:rPr sz="1600" b="0">
                <a:solidFill>
                  <a:srgbClr val="222222"/>
                </a:solidFill>
                <a:latin typeface="맑은 고딕"/>
              </a:rPr>
              <a:t>•  울리면 유형→전체부하→활성세션→대기·블로커→SQL·세그먼트→재확인 순으로.</a:t>
            </a:r>
          </a:p>
          <a:p>
            <a:pPr>
              <a:spcAft>
                <a:spcPts val="600"/>
              </a:spcAft>
            </a:pPr>
            <a:r>
              <a:rPr sz="1600" b="0">
                <a:solidFill>
                  <a:srgbClr val="222222"/>
                </a:solidFill>
                <a:latin typeface="맑은 고딕"/>
              </a:rPr>
              <a:t>•  세션=LONGOPS·활성 관찰, 업무=V$SERVICE_STATS·V$SERVICEMETRIC로 분리.</a:t>
            </a:r>
          </a:p>
          <a:p>
            <a:pPr>
              <a:spcAft>
                <a:spcPts val="600"/>
              </a:spcAft>
            </a:pPr>
            <a:r>
              <a:rPr sz="1600" b="0">
                <a:solidFill>
                  <a:srgbClr val="222222"/>
                </a:solidFill>
                <a:latin typeface="맑은 고딕"/>
              </a:rPr>
              <a:t>•  낮으면 알림 피로, 높으면 지각. 울리면 반드시 조치할 알림만 남긴다.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실습 개요 (Practice Overview)</a:t>
            </a:r>
          </a:p>
        </p:txBody>
      </p:sp>
      <p:sp>
        <p:nvSpPr>
          <p:cNvPr id="4" name="TextBox 3"/>
          <p:cNvSpPr txBox="1"/>
          <p:nvPr/>
        </p:nvSpPr>
        <p:spPr>
          <a:xfrm>
            <a:off x="640080" y="1371600"/>
            <a:ext cx="10881360" cy="5120640"/>
          </a:xfrm>
          <a:prstGeom prst="rect">
            <a:avLst/>
          </a:prstGeom>
          <a:noFill/>
        </p:spPr>
        <p:txBody>
          <a:bodyPr wrap="square">
            <a:spAutoFit/>
          </a:bodyPr>
          <a:lstStyle/>
          <a:p>
            <a:pPr>
              <a:spcAft>
                <a:spcPts val="600"/>
              </a:spcAft>
            </a:pPr>
            <a:r>
              <a:rPr sz="1600" b="0">
                <a:solidFill>
                  <a:srgbClr val="222222"/>
                </a:solidFill>
                <a:latin typeface="맑은 고딕"/>
              </a:rPr>
              <a:t>•  실습 01 — 서버 생성 알림 구조 확인(Stateful/Stateless, OUTSTANDING/HISTORY)</a:t>
            </a:r>
          </a:p>
          <a:p>
            <a:pPr>
              <a:spcAft>
                <a:spcPts val="600"/>
              </a:spcAft>
            </a:pPr>
            <a:r>
              <a:rPr sz="1600" b="0">
                <a:solidFill>
                  <a:srgbClr val="222222"/>
                </a:solidFill>
                <a:latin typeface="맑은 고딕"/>
              </a:rPr>
              <a:t>•  실습 02 — 메트릭 임계값 설정(SET_THRESHOLD)과 DBA_THRESHOLDS 조회</a:t>
            </a:r>
          </a:p>
          <a:p>
            <a:pPr>
              <a:spcAft>
                <a:spcPts val="600"/>
              </a:spcAft>
            </a:pPr>
            <a:r>
              <a:rPr sz="1600" b="0">
                <a:solidFill>
                  <a:srgbClr val="222222"/>
                </a:solidFill>
                <a:latin typeface="맑은 고딕"/>
              </a:rPr>
              <a:t>•  실습 03 — 임계값 산정: DBA_HIST 이력 분포(p95·p99) (🔒·대안 경로)</a:t>
            </a:r>
          </a:p>
          <a:p>
            <a:pPr>
              <a:spcAft>
                <a:spcPts val="600"/>
              </a:spcAft>
            </a:pPr>
            <a:r>
              <a:rPr sz="1600" b="0">
                <a:solidFill>
                  <a:srgbClr val="222222"/>
                </a:solidFill>
                <a:latin typeface="맑은 고딕"/>
              </a:rPr>
              <a:t>•  실습 04 — 테이블스페이스 사용률 알림 발생·해제 전 과정 재현</a:t>
            </a:r>
          </a:p>
          <a:p>
            <a:pPr>
              <a:spcAft>
                <a:spcPts val="600"/>
              </a:spcAft>
            </a:pPr>
            <a:r>
              <a:rPr sz="1600" b="0">
                <a:solidFill>
                  <a:srgbClr val="222222"/>
                </a:solidFill>
                <a:latin typeface="맑은 고딕"/>
              </a:rPr>
              <a:t>•  실습 05 — WL_04_lock 경합 유발 → 알림 대응 절차(무엇부터 보는가)</a:t>
            </a:r>
          </a:p>
          <a:p>
            <a:pPr>
              <a:spcAft>
                <a:spcPts val="600"/>
              </a:spcAft>
            </a:pPr>
            <a:r>
              <a:rPr sz="1600" b="0">
                <a:solidFill>
                  <a:srgbClr val="222222"/>
                </a:solidFill>
                <a:latin typeface="맑은 고딕"/>
              </a:rPr>
              <a:t>•  실습 06 — 세션 모니터링·장기 실행 작업(V$SESSION_LONGOPS)</a:t>
            </a:r>
          </a:p>
          <a:p>
            <a:pPr>
              <a:spcAft>
                <a:spcPts val="600"/>
              </a:spcAft>
            </a:pPr>
            <a:r>
              <a:rPr sz="1600" b="0">
                <a:solidFill>
                  <a:srgbClr val="222222"/>
                </a:solidFill>
                <a:latin typeface="맑은 고딕"/>
              </a:rPr>
              <a:t>•  실습 07 — 서비스 단위 모니터링(V$SERVICE_STATS·V$SERVICEMETRIC)</a:t>
            </a:r>
          </a:p>
          <a:p>
            <a:pPr>
              <a:spcAft>
                <a:spcPts val="600"/>
              </a:spcAft>
            </a:pPr>
            <a:r>
              <a:rPr sz="1600" b="0">
                <a:solidFill>
                  <a:srgbClr val="222222"/>
                </a:solidFill>
                <a:latin typeface="맑은 고딕"/>
              </a:rPr>
              <a:t>•  ※ 환경: non-CDB orcl 19.3, SYS@orcl&gt;/SQLT@orcl&gt;. '조치 전→조회→해석'+'이상→원인→조치→재확인'.</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
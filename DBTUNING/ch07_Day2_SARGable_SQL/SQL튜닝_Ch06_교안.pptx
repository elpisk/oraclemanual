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제6장은 5장에서 만든 인덱스가 실제로 쓰이는지를 따지는 장이다. 인덱스를 만들었는데도 느리다는 신고가 들어오면 원인은 대개 통계나 하드웨어가 아니라 조건절을 쓴 방식에 있다. 이번 차시의 실행계획과 Buffers는 모두 진료비청구심사 실습 DB에서 캡처한 실측값이며, 학습자가 같은 SQL을 실행해 그대로 재현할 수 있다. 첫머리에 못 박을 메시지는 하나다. 인덱스를 만드는 일과 인덱스를 타게 하는 일은 별개이며, 뒤쪽은 전적으로 조건절 작성 방식에 달려 있다는 점이다. 실습용 인덱스를 만들고 지우는 차시이므로 종료 시 정리 규칙도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정의로, SARGable이라는 낱말을 컬럼 가공 여부라는 한 가지 기준으로 환원해 이해하는 것이다. 둘째는 진단으로, 실행계획의 Predicate Information에서 컬럼이 함수에 감싸였는지 찾아 읽는 능력이다. 셋째는 재작성으로, 위반 조건을 같은 결과를 내는 SARGable한 형태로 바꾸는 기술이다. 이 장은 인덱스를 새로 설계하는 장이 아니라 이미 있는 인덱스를 쓰게 만드는 장이라는 점을 미리 알려 주면 5장과의 경계가 분명해진다. 각 목표가 몇 번 절과 대응하는지 짚어 주면 학습자가 진행 중에 위치를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'원리 이해 → 실측 확인 → 재작성'이다. 6.1과 6.2에서 SARGable의 정의를 세우고, 6.3에서 눈에 보이지 않는 묵시적 형변환의 방향을 짚는다. 6.4와 6.5가 이 장의 몸통으로, 작은따옴표 유무만 다른 두 SQL의 실행계획을 나란히 놓고 읽는다. 6.6은 DATE 컬럼에서 같은 문제가 재현되는지 확인하는 구간이고, 6.7은 실측 없이 개념으로만 정리하는 보충 절이다. 시간이 부족하면 6.7을 축약하고 6.5에 시간을 몰아 주는 편이 낫다. 절이 바뀔 때마다 앞 절과의 연결 문장을 한 줄씩 붙여 주면 맥락이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5장에서 학습자는 '인덱스를 만들면 빨라진다'는 경험을 했다. 그 경험이 강할수록 인덱스를 만들었는데 느리다는 상황을 만나면 원인을 엉뚱한 곳에서 찾게 된다. 이 절의 목적은 인덱스 생성과 인덱스 사용을 분리해서 보게 만드는 것이다. 두 가지는 별개의 사건이고, 사이에 조건절 작성 방식이라는 변수가 하나 더 있다는 점을 합의하고 넘어간다. 이 절에는 실행계획이 나오지 않으므로 학습자에게 지금까지 인덱스가 안 먹힌 경험이 있는지 먼저 물어 보고 시작하면 이후 전개가 훨씬 잘 붙는다. 5장과 6장을 인덱스 단원으로 묶어 소개하면 두 장의 관계를 잡기 쉬워진다.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가장 흔히 오해하는 지점을 정확히 짚어야 한다. 인덱스를 만들어 두면 옵티마이저가 알아서 쓸 것이라는 기대다. 옵티마이저는 조건절이 인덱스로 찾아갈 수 있는 형태일 때만 그 인덱스를 후보로 올린다. 형태가 맞지 않으면 아무리 좋은 인덱스가 있어도 후보에서 빠진다. 현장에서 인덱스가 계속 늘어나기만 하는 시스템은 대개 이 지점을 놓친 결과다. 인덱스가 늘면 DML 부담과 저장 공간까지 함께 늘어난다는 점도 덧붙여 두면 경각심이 생긴다. 인덱스를 만든 뒤 실제로 조회가 빨라졌는지 확인한 적이 있는지 물으면 대부분 답하지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용어를 영어 약자 그대로 외우게 하지 말고 판정 기준 한 줄로 바꿔 기억하게 하는 편이 효과적이다. 조건절을 볼 때 '컬럼이 원본 그대로 있는가'만 확인하면 대부분의 경우 판정이 끝난다. 학습자가 자주 혼동하는 것은 리터럴 쪽을 가공하는 경우다. 리터럴이나 상수를 가공하는 것은 실행 전에 한 번 계산되고 끝나므로 인덱스 사용에 아무 지장이 없다. 가공하면 안 되는 쪽은 언제나 컬럼이라는 비대칭을 분명히 해 두면 이후 재작성 연습이 쉬워진다. 판정 기준을 한 줄로 정리해 각자 노트에 적게 하면 이후 절의 진행이 훨씬 수월해진다.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먼저 선언하는 것이 이 슬라이드의 목적이다. 학습자 중에는 함수를 써야만 하는 상황이면 함수 기반 인덱스를 만들면 되지 않느냐고 묻는 사람이 반드시 있다. 그 선택지가 존재한다는 사실은 인정하되, 조건절을 고치는 것으로 해결되는 문제에 인덱스를 하나 더 만드는 것은 순서가 뒤바뀐 대응이라는 점을 강조한다. 실습용 인덱스를 만들었다가 지우는 차시이므로 정리 규칙을 미리 확인시켜 두어야 다음 차시 실행계획이 재현된다. 실습 환경을 각자 구성한 경우에는 인덱스 목록부터 확인시켜야 실행계획이 교안과 맞는다.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원리를 세우는 구간이다. 실행계획을 보기 전에 왜 그런 결과가 나올 수밖에 없는지를 인덱스의 자료 구조로 먼저 설명해 두면, 6.5절에서 실측값을 볼 때 학습자가 결과를 외우는 대신 예측하게 된다. 여기서 핵심 문장은 하나다. 인덱스는 가공되지 않은 원본 값을 기준으로 정렬돼 있다는 것. 이 한 문장에서 이번 장의 모든 결론이 파생된다. 칠판에 이 문장을 적어 두고 장이 끝날 때까지 지우지 않으면 학습자가 매 슬라이드마다 스스로 근거를 대게 된다. 원리를 먼저 세워 두면 뒤에 나오는 실측이 결과 암기가 아니라 확인 작업으로 바뀐다.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나오는 질문이 있다. 함수를 씌워도 결국 같은 값을 찾는 것인데 왜 옵티마이저가 알아서 풀어 주지 않느냐는 것이다. 일반적인 함수는 입력과 출력의 순서 관계를 옵티마이저가 보장할 수 없기 때문이다. 사용자 정의 함수라면 내부에서 무슨 일이 벌어지는지 알 방법조차 없다. 옵티마이저는 순서가 보장되지 않는 변환 앞에서는 안전한 쪽을 택할 수밖에 없다. 정확성이 성능보다 먼저라는 원칙을 함께 짚어 주면 납득이 쉬워진다. 함수 기반 인덱스라는 해법이 존재한다는 사실은 언급하되 본 과정 범위 밖임을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학습자가 반드시 가져가야 할 감각은 불안감이다. 내가 함수를 쓰지 않았다고 해서 함수가 없는 것이 아니라는 사실. 실무에서 이 문제가 특히 무서운 이유는 코드 리뷰로도 잘 잡히지 않기 때문이다. 리뷰어 눈에는 그냥 컬럼과 값을 비교하는 평범한 조건으로 보인다. 그래서 진단은 SQL 텍스트가 아니라 실행계획의 Predicate Information에서 해야 한다. 바인드 변수를 쓰는 애플리케이션에서는 변수의 선언 타입이 컬럼과 어긋나 같은 일이 벌어지기도 한다. 조건절 텍스트만 믿어서는 안 된다는 경고를 이 자리에서 한 번 강하게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갈래를 나누는 이유는 진단 방법이 서로 다르기 때문이다. 첫 번째 갈래는 SQL을 읽는 것만으로 잡히고, 두 번째 갈래는 실행계획을 봐야 잡히며, 세 번째 갈래는 조건의 의미 자체를 다시 설계해야 하는 경우가 많다. 학습자가 셋을 하나로 뭉뚱그려 인덱스를 못 탄다고만 기억하면 현장에서 대응 방법을 고르지 못한다. 특히 세 번째 갈래는 조건을 고쳐 쓸 여지가 없는 경우도 있어서, 요구사항 자체를 협의해야 할 때가 있다는 점을 미리 알려 둔다. 세 갈래를 표로 정리해 실습 중 참고하게 하면 진단 속도가 눈에 띄게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이번 장에서 개념적으로 가장 중요한 구간이다. 앞 절에서 묵시적 형변환이 존재한다는 사실까지 왔다면, 여기서는 그 방향이 어느 쪽인지를 확정한다. 방향이 정해지는 순간 작은따옴표 하나가 왜 실행계획을 바꾸는지가 논리적으로 설명된다. 학습자에게 먼저 예측하게 해 보는 것이 좋다. 문자 컬럼과 숫자 리터럴을 비교하면 어느 쪽이 변환될 것 같은지 물으면 대부분 리터럴 쪽을 고른다. 그 기대가 어긋나는 지점에서 학습 효과가 가장 크게 난다. 예측을 먼저 받아 칠판에 적어 두면 다음 슬라이드의 결론이 훨씬 강하게 남는다.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우선순위 규칙을 통째로 외우게 할 필요는 없다. 실무에서 부딪히는 조합은 대부분 문자 컬럼과 숫자 리터럴이고, 이 경우 컬럼이 변환된다는 사실 하나면 충분하다. 왜 숫자 쪽이 우선인지 묻는다면, 문자열을 숫자로 바꾸는 것이 정보 손실 없이 정의되는 방향이기 때문이라고 설명하면 대체로 납득한다. 여기서 학습자에게 자기 시스템의 코드성 컬럼이 문자인지 숫자인지 떠올려 보게 하면 다음 슬라이드의 위험이 훨씬 실감난다. 우선순위 규칙 전체를 외우기보다 문자 컬럼과 숫자 리터럴 조합 하나만 확실히 기억하게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항목은 실무 사고 사례로 자주 등장하는 대목이다. 코드성 문자 컬럼을 숫자 리터럴과 비교하도록 짜 두면 그동안은 숫자만 들어 있어서 잘 돌아간다. 그러다 문자가 섞인 값이 한 건 들어오는 순간 변환이 실패하고, 그 시점에는 원인이 조건절에 있다는 사실을 아무도 떠올리지 못한다. 성능뿐 아니라 안정성 측면에서도 타입을 맞춰 쓰는 것이 원칙이라는 점을 여기서 한 번 더 못 박아 둔다. 실습문제 2번이 이 대목의 원리를 그대로 묻는다. 성능 문제와 안정성 문제가 같은 원인에서 갈라져 나온다는 점이 이 슬라이드의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진단 도구 전부다. 학습자가 현장에 돌아가서 실제로 쓰게 될 절차이므로, 화면에서 어디를 봐야 하는지 손으로 짚어 가며 보여 주는 편이 좋다. access와 filter의 구분은 이후 챕터에서도 반복해서 쓰이므로 여기서 확실히 정리해 둔다. 같은 조건이라도 access로 잡히면 읽는 양 자체가 줄고, filter로 잡히면 다 읽은 뒤 버리는 것이라 읽는 양이 줄지 않는다. 실습 문항 대부분이 이 화면의 절차를 근거로 답을 쓰게 되어 있으므로 여기서 충분히 시간을 쓴다. 진단 절차를 말로 한 번 복창하게 하면 실습에서 헤매는 시간이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실측 구간이다. 소재는 하나의 컬럼이고, 바뀌는 것은 조건절을 쓰는 방식뿐이다. 변수를 하나만 두는 실험 설계라는 점을 먼저 짚어 준다. 인덱스도 같고 데이터도 같고 원하는 결과도 같은데 조건절 표현만 세 가지로 바꾼다. 그래서 실행계획이 달라진다면 원인은 조건절 표현 말고는 없다는 논리 구조가 성립한다. SQL을 보여 준 직후 셋 중 어느 것이 인덱스를 탈지 손을 들어 보게 하고 그 결과를 기록해 두면 뒤에서 실측과 대조하기 좋다. 변수를 하나만 두는 실험 설계라는 점을 학습자가 스스로 확인하게 하면 결론의 설득력이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문자열로 날짜를 저장하는 설계를 두고 잘못된 설계라고 단정하는 학습자가 종종 있다. 이 자리에서 짚어 줄 것은 그 설계에 나름의 이유가 있다는 점이다. YYYYMMDD는 사전식 순서와 날짜 순서가 일치하는 몇 안 되는 형식이라 범위 비교가 그대로 성립한다. 다만 이 장점은 리터럴을 문자열로 정확히 써 줄 때만 살아난다. 따옴표를 빼는 순간 장점이 통째로 사라진다는 것이 바로 다음 슬라이드의 내용이다. 실습문제 10번이 이 성질을 근거로 조건절을 작성하게 한다. 컬럼 타입을 먼저 확인하는 것이 이 장의 진단 절차에서 첫 단계라는 점도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장에서 가장 강한 인상을 남기는 대목이므로 서두르지 않는 편이 좋다. 두 SQL을 나란히 띄워 놓고 다른 곳을 찾아보라고 하면 대부분 금방 따옴표를 짚어 낸다. 그다음 질문이 중요하다. 이 차이가 성능에 영향을 줄 것 같은지 묻는 것이다. 대부분은 결과가 같으니 영향이 없을 것이라고 답한다. 그 예상이 어긋나는 순간이 학습 효과의 정점이다. 결과 건수가 같다는 사실을 미리 밝혀 두면 성능 차이가 결과 차이 때문이 아니라는 점이 분명해진다. 실무 코드에서 따옴표가 빠진 조건을 본 적이 있는지 물어보면 사례가 곧잘 나온다.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코드 리뷰에서 잡히는 유형이다. 함수가 눈에 보이기 때문이다. 그래서 Q3 자체보다 Q2와의 대비가 더 중요하다. 학습자에게 두 조건절 중 어느 쪽이 더 위험한지 물어보면 대개 함수가 두 개나 붙은 Q3을 고른다. 실무 관점에서는 Q2가 더 위험하다. 아무도 문제라고 인식하지 못한 채 코드에 남기 때문이다. 문제를 발견할 수 있는 코드와 발견할 수 없는 코드 중 어느 쪽이 더 무서운지를 되짚어 주면 이 장의 메시지가 선명해진다. 실습문제 3번이 이 대비를 다룬다. 보이는 문제와 보이지 않는 문제를 구분하는 감각이 이 장에서 얻는 실무적 소득이다.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몸통이다. 앞에서 세운 원리가 실제 실행계획에서 그대로 관측되는지 확인하는 구간이다. 표를 보여 주기 전에 예측을 먼저 받아 두면 몰입도가 크게 달라진다. Q1만 인덱스를 탈 것이라는 예측이 나오면 근거를 말하게 하고, 다른 예측이 나오면 그것도 그대로 적어 둔다. 실측값을 공개한 뒤 예측과 대조하는 순서로 진행하면 학습자가 결과를 외우지 않고 원리로 기억하게 된다. Predicate Information까지 함께 읽는 습관을 이 절에서 붙여 준다. 실행계획을 위에서 아래로 읽는 순서도 이 절에서 한 번 정리해 두면 이후가 편해진다.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Operation 열만 세로로 훑어 Q1만 인덱스를 쓰고 나머지 둘은 테이블 전체를 읽었다는 사실을 확인한다. 다음으로 Buffers 열을 보며 읽은 블록 수의 차이를 확인한다. 마지막으로 Predicate Information을 보며 그 차이의 원인이 어디에 적혀 있는지 짚는다. 이 순서가 곧 실무에서 실행계획을 읽는 순서이기도 하다. 무엇이 일어났는지, 얼마나 읽었는지, 왜 그랬는지 순으로 좁혀 들어간다고 정리해 준다. Buffers 값 자체보다 두 계획의 Operation이 갈렸다는 사실이 먼저라는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INDEX FAST FULL SCAN이라는 이름을 두고 인덱스를 다 읽는데 왜 빠르냐는 질문이 나온다. 핵심은 읽는 대상의 크기다. 인덱스에는 해당 컬럼과 ROWID만 들어 있으니 같은 블록에 훨씬 많은 항목이 들어간다. 조건이 넓어서 특정 구간만 골라 읽는 이점을 못 살리더라도, 읽어야 할 총량 자체가 작아 여전히 유리하다. 조건의 선택도에 따라 RANGE SCAN이 될 수도 FAST FULL SCAN이 될 수도 있다는 점을 함께 짚어 주면 다음 절의 Q4와 자연스럽게 연결된다. 인덱스를 탔다고 해서 항상 소량만 읽는 것은 아니라는 점도 이 자리에서 함께 정리해 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결론에 가장 가깝다. 학습자에게 강조할 것은 진단 가능성이다. 묵시적 형변환은 SQL만 봐서는 절대 보이지 않지만 실행계획에는 반드시 흔적을 남긴다. 그래서 인덱스를 만들었는데 안 탄다는 상황에서 가장 먼저 확인할 것은 통계도 힌트도 아니고 Predicate Information이다. 이 절차 하나만 몸에 익혀도 현장에서 마주치는 인덱스 미사용 사례의 상당 부분을 스스로 설명할 수 있게 된다. 실습문제 1번과 2번이 이 대목을 그대로 묻는다. 이 슬라이드 하나만 정확히 이해해도 현장에서의 진단 능력이 눈에 띄게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hash value가 같다는 사실은 우연이 아니라 필연이다. 옵티마이저 입장에서 두 조건은 같은 형태로 정규화되기 때문이다. 이 대목에서 코드 리뷰 기준을 함께 정리해 주면 실무 적용도가 높아진다. 리뷰 체크 항목을 함수 사용 금지로 적으면 Q2 같은 사례를 놓친다. 컬럼이 원본 그대로 비교되는가로 적어야 두 갈래를 모두 잡을 수 있다. 실습문제 3번과 9번이 이 기준을 실제 코드에 적용해 보게 하는 문항이다. 코드 리뷰 체크 항목을 그 자리에서 한 문장으로 고쳐 써 보게 하면 정착이 빠르다.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6번을 그대로 다룬 것이다. 학습자가 실무에서 가장 자주 마주치는 반론이기도 하다. 반박의 핵심은 배율이 고정된 상수가 아니라는 점이다. 지금 3배라는 숫자를 근거로 앞으로도 3배일 것이라고 보는 것이 오류다. 전체를 읽는 방식과 순서를 이용하는 방식은 증가 곡선의 기울기 자체가 다르다. 서비스가 성장하면 판단이 뒤집힌다는 말은 추상적이므로, 학습자가 담당하는 테이블의 건수를 떠올려 보게 하면 훨씬 구체화된다. 작은 테이블에서 검증하고 큰 테이블에 적용한 순간 판단이 뒤집힌 사례를 하나쯤 곁들이면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절은 문자 컬럼에서 벌어진 일이었다. 여기서 확인할 것은 이 원리가 특정 타입의 문제가 아니라는 사실이다. DATE 컬럼에서도 컬럼을 가공하면 똑같이 인덱스를 못 탄다. 오히려 실무에서는 이쪽이 훨씬 자주 나온다. 기간 조회는 거의 모든 업무 화면에 들어가고, 월 단위 조회를 TO_CHAR로 구현하는 관행이 널리 퍼져 있기 때문이다. 이 절의 사례를 자기 시스템의 조회 화면과 겹쳐 보게 하면 적용도가 크게 올라간다. 타입이 달라도 결론이 같다는 것을 확인시키는 것이 이 절의 목적임을 먼저 밝혀 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 형태는 현장에서 가장 자주 발견되는 SARGable 위반이다. 사람이 생각하는 방식과 코드가 거의 일대일로 대응하기 때문이다. 이번 달 데이터를 가져오자는 요구를 들으면 월을 뽑아서 비교한다는 발상이 자연스럽게 나온다. 반면 Q4처럼 시작일 이상, 다음 달 1일 미만으로 쓰는 것은 한 단계 더 생각해야 나오는 표현이다. 읽기 쉬운 코드와 인덱스를 타는 코드가 항상 일치하지는 않는다는 점을 여기서 인정하고 넘어가는 편이 솔직하고 설득력 있다. 사람이 생각하는 순서와 인덱스가 좋아하는 순서가 다르다는 점을 여기서 인정하고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Q4의 상한을 다음 달 1일 미만으로 쓴 이유를 반드시 짚어 준다. 6월 30일 이하로 쓰면 시분초가 붙은 값이 누락되기 때문이다. DATE 타입은 시각까지 담고 있으므로 이하 비교는 거의 항상 함정이 된다. 시작일은 이상, 종료는 다음 구간 시작 미만으로 쓰는 것이 안전한 관용구다. BETWEEN을 쓰고 싶다는 요청이 나오면 날짜형에서는 이 이유로 권하지 않는다고 설명한다. 반대로 앞 절의 YYYYMMDD 문자열 컬럼에서는 BETWEEN이 안전하다는 대비도 함께 짚어 준다. 기간 조회 관용구는 실무에서 그대로 옮겨 쓸 수 있는 형태이므로 받아 적게 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가장 중요한 것은 Buffers 숫자가 아니라 access와 filter의 구분이다. 숫자는 데이터가 바뀌면 달라지지만 이 구분은 원리라서 바뀌지 않는다. 학습자에게 두 낱말의 차이를 자기 말로 설명해 보게 하면 이해 정도가 바로 드러난다. Q4가 INDEX RANGE SCAN이 된 것은 조건이 연속된 구간을 지정했기 때문이다. 앞 절 Q1이 FAST FULL SCAN이었던 것과 대비하면 조건의 형태가 스캔 방식까지 결정한다는 점이 분명해진다. 실습문제 4번이 이 표를 근거로 설명하게 하는 문항이다. 두 낱말의 구분은 이후 챕터에서도 계속 쓰이므로 이 자리에서 확실히 굳혀 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받아들이기 어려워하는 지점이 바로 여기다. 사람 눈에는 두 조건이 같은 말인데 왜 DB는 다르게 취급하느냐는 것이다. 답은 옵티마이저가 조건의 의미를 이해하는 것이 아니라 형태를 인식한다는 데 있다. TO_CHAR 안에 들어간 컬럼이 실제로는 6월 한 달을 가리킨다는 사실을 옵티마이저는 알지 못한다. 알 수 없으니 안전하게 전체를 읽는 쪽을 택한다. 의미가 아니라 형태를 맞춰 줘야 한다는 말로 정리하면 이 장 전체의 요약이 된다. 의미가 아니라 형태를 맞춰 줘야 한다는 문장이 이 장 전체의 요약이라는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5번의 모범 답안을 그대로 담고 있다. 재작성 원칙을 한 문장으로 기억하게 하는 것이 목적이다. 가공은 컬럼이 아니라 기준값 쪽에서 한다는 문장이다. 이 원칙은 이번 장의 모든 사례에 예외 없이 적용된다. TRUNC나 ADD_MONTHS도 결국 함수 아니냐는 질문이 나오면, 그 함수들이 컬럼이 아니라 SYSDATE에 적용된다는 점을 짚어 준다. 상수에 대한 계산은 한 번이면 끝나고 모든 행마다 반복되지 않는다는 것이 결정적인 차이다. 기간 조회 표준형은 사내 코딩 규약에 넣어 둘 만한 항목이라고 권해도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사례를 관통하는 원칙이 하나라는 점을 강조한다. 어떤 함수를 쓰느냐가 아니라 그 함수가 어느 쪽에 붙어 있느냐가 전부다. 두 번째 사례에서 문자열 컬럼에는 BETWEEN이 안전하다고 한 이유도 짚어 준다. YYYYMMDD 형식은 사전식 순서와 날짜 순서가 일치하고 시분초가 없기 때문이다. 세 번째 사례의 빈 문자열 결합은 실제 코드에서 형변환을 피하려다 오히려 만들어 내는 전형적인 패턴이다. 실습문제 5번, 9번, 10번이 각각 이 세 사례에 대응한다. 세 사례를 각자 담당 코드에서 찾아보게 하는 과제를 내면 다음 시간의 사례가 풍부해진다.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실측 없이 개념으로만 정리하는 보충 구간이다. 앞 절들과 달리 숫자를 제시하지 않는 대신 원리를 일관되게 적용해 보는 연습으로 진행한다. 세 패턴 모두 인덱스가 값의 정렬 순서를 이용한다는 하나의 원리에서 설명된다는 점을 계속 상기시킨다. 학습자가 원리 하나로 세 가지를 스스로 추론해 내면 이 장의 목표는 달성된 것이다. 시간이 부족하면 이 절은 슬라이드만 읽고 넘어가되, 실습문제 7번과 8번이 여기서 나온다는 점은 반드시 알려 준다. 실측이 없는 절이라고 가볍게 넘기면 실습 두 문항을 놓치게 되므로 미리 주의를 준다.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7번을 다룬 것이다. 문제는 앞쪽 와일드카드가 안 된다는 사실만 알려 주고 뒤쪽은 스스로 추론하게 한다. 추론의 근거는 인덱스가 값을 왼쪽부터 정렬한다는 사실 하나뿐이다. 이 원리 하나로 세 가지 경우를 모두 판정할 수 있다는 점을 학습자가 직접 확인하게 하는 것이 목적이다. 실무에서 검색 기능을 만들 때 앞쪽 와일드카드를 기본으로 붙여 두는 관행이 흔한데, 그 한 글자가 인덱스 사용 여부를 결정한다는 점을 알려 주면 인상이 오래 남는다. 검색어 앞에 %를 기본으로 붙이는 화면 표준이 있다면 그것부터 재검토 대상이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부정 조건은 컬럼을 가공하지 않았는데도 인덱스를 못 탄다는 점에서 앞의 두 갈래와 성격이 다르다. 여기서 학습자가 정리해야 할 것은 SARGable의 판정 기준이 컬럼 가공 하나만은 아니라는 사실이다. 결국 인덱스가 연속된 구간을 찾아가는 구조라는 원리가 상위 개념이고, 컬럼 가공은 그 원리를 위반하는 대표적인 방식일 뿐이다. 실무에서 부정 조건은 조건절을 고쳐서 해결되지 않는 경우가 많아 요구사항 단계에서 협의가 필요할 때도 있다. 긍정 조건으로 바꿀 수 있는지 먼저 검토하는 절차를 리뷰 항목으로 넣어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NULL은 학습자가 가장 자주 놓치는 항목이다. 컬럼을 가공하지도 않았고 부정 조건도 아닌데 인덱스를 못 타기 때문이다. 원인이 조건 형태가 아니라 인덱스에 데이터가 없다는 데 있다는 점을 분명히 해야 한다. NULL 대신 기본값을 쓰자는 이야기는 성능만 보고 결정할 문제가 아니라는 점도 함께 짚는다. 값이 없다는 것과 특정 기본값이라는 것은 업무적으로 다른 의미이고, 이를 뭉개면 나중에 집계 결과가 어긋난다. 실습문제 8번이 이 대목을 묻는다. NULL 허용 여부를 설계 단계에서 정하는 일이 결국 성능 문제로 돌아온다는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흩어진 실측값을 한 화면에 모아 이 장의 결론을 확정하는 구간이다. 표를 보여 주는 목적은 배율을 외우게 하는 것이 아니라 두 사례에서 같은 원리가 반복됐다는 점을 확인시키는 것이다. 타입도 다르고 위반 방식도 다른데 결론이 같다면 그것은 우연이 아니라 원리라는 논증 구조로 마무리한다. 이어지는 체크리스트는 학습자가 현장에 가져가서 실제로 쓸 도구이므로 한 항목씩 짚어 가며 읽어 주는 편이 좋다. 체크리스트는 강의가 끝난 뒤에도 남는 산출물이므로 각자 정리해 두도록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 배율 숫자에 시선이 몰리지 않도록 유도한다. 3배와 45배의 차이는 데이터 분포와 조건 선택도에서 나온 것이지 위반의 심각도를 나타내는 값이 아니다. 첫 사례는 조건이 넓어 인덱스를 타도 많이 읽었고, 두 번째 사례는 조건이 한 달로 좁아 인덱스의 이점이 크게 드러났다. 학습자가 가져가야 할 결론은 배율이 아니라 방향이다. 컬럼을 가공하면 언제나 읽는 양이 늘어나는 쪽으로 간다는 것. 조건이 좁을수록 SARGable 여부의 영향이 커진다는 점도 함께 짚어 준다. 조건 범위가 좁을수록 SARGable 여부의 영향이 더 크게 작용한다는 점을 마지막으로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외우는 것이 아니라 코드 리뷰 템플릿에 넣어 두고 쓰는 도구다. 특히 2번과 4번은 눈으로는 잡히지 않으므로 습관으로 만들어야 한다. 바인드 변수 항목을 넣은 이유는 애플리케이션에서 이 문제가 훨씬 자주 발생하기 때문이다. 문자 컬럼에 정수형 변수를 바인딩하면 SQL 텍스트는 멀쩡한데 실행계획에서만 형변환이 드러난다. 체크리스트를 다 통과했는데도 인덱스를 안 탄다면 그때는 통계정보나 조건 선택도 문제로 넘어가면 된다고 정리해 준다. 체크리스트를 사내 리뷰 템플릿에 실제로 옮겨 넣어 보라고 권하면 적용도가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슬라이드는 이 장의 핵심을 아홉 줄로 압축한 것이다. 학습자에게 이 화면을 띄워 둔 채 실습에 들어가게 하면 참고 자료 역할을 한다. 두 번째 줄과 마지막 줄은 앞으로 인덱스를 다루는 모든 챕터에서 반복해서 쓰이는 원칙이므로 반드시 기억하게 한다. 각 항목이 어느 절에서 나왔는지 짚어 주면 복습할 때 교안 본문을 찾기 쉬워진다. 요약을 읽고 끝내지 말고 각 줄에 대해 근거가 되는 실측값이나 사례를 하나씩 말해 보게 하면 그 자리에서 복습이 된다. 다음 장으로 넘어가기 전에 이 장의 원칙 한 줄을 각자 말해 보게 하면 마무리가 깔끔해진다.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문제와 근거를 서술하는 문제가 섞여 있다. 서술형은 답이 맞았는지보다 어떤 값을 근거로 삼았는지를 채점 기준으로 삼아야 한다고 안내한다. 특히 7번은 교안에 답이 직접 나와 있지 않고 원리에서 추론해야 하는 문항이므로 시간을 조금 더 준다. 인덱스 정리 규칙은 반드시 다시 강조한다. 실습용 인덱스가 남아 있으면 다음 챕터의 실행계획이 재현되지 않아 문제 자체가 성립하지 않는다. 채점 후에는 3번과 9번을 함께 읽으며 판정 기준을 복기하는 시간을 잡는 것을 권한다. 제출물에는 실행계획 캡처와 근거 문장을 함께 넣도록 형식을 미리 정해 주는 편이 좋다.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제6장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SARGable SQL</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SARGable 조건의 정의 · 컬럼 가공과 인덱스 · 묵시적 형변환의 방향 · Predicate Information 진단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SARGable 조건을 '컬럼을 가공하지 않고 원본 값 그대로 비교하는 조건'으로 정의한다</a:t>
            </a:r>
          </a:p>
          <a:p>
            <a:r>
              <a:rPr sz="1600" b="0">
                <a:solidFill>
                  <a:srgbClr val="5A6672"/>
                </a:solidFill>
                <a:latin typeface="Malgun Gothic"/>
              </a:rPr>
              <a:t>    –  컬럼에 함수를 씌우면 일반 인덱스를 못 타게 되는 이유를 인덱스의 정렬 구조로 설명한다</a:t>
            </a:r>
          </a:p>
          <a:p>
            <a:r>
              <a:rPr sz="1600" b="0">
                <a:solidFill>
                  <a:srgbClr val="5A6672"/>
                </a:solidFill>
                <a:latin typeface="Malgun Gothic"/>
              </a:rPr>
              <a:t>    –  묵시적 형변환이 컬럼과 리터럴 중 어느 쪽에서 일어나는지 타입 우선순위로 판단한다</a:t>
            </a:r>
          </a:p>
          <a:p>
            <a:r>
              <a:rPr sz="1600" b="0">
                <a:solidFill>
                  <a:srgbClr val="5A6672"/>
                </a:solidFill>
                <a:latin typeface="Malgun Gothic"/>
              </a:rPr>
              <a:t>    –  Predicate Information에서 컬럼이 함수로 감싸였는지 확인해 인덱스 미사용을 진단한다</a:t>
            </a:r>
          </a:p>
          <a:p>
            <a:r>
              <a:rPr sz="1600" b="0">
                <a:solidFill>
                  <a:srgbClr val="5A6672"/>
                </a:solidFill>
                <a:latin typeface="Malgun Gothic"/>
              </a:rPr>
              <a:t>    –  같은 조건을 문자열 리터럴로 쓸 때와 숫자 리터럴로 쓸 때의 실행계획 차이를 설명한다</a:t>
            </a:r>
          </a:p>
          <a:p>
            <a:r>
              <a:rPr sz="1600" b="0">
                <a:solidFill>
                  <a:srgbClr val="5A6672"/>
                </a:solidFill>
                <a:latin typeface="Malgun Gothic"/>
              </a:rPr>
              <a:t>    –  묵시적 형변환과 명시적 함수 호출이 옵티마이저에게 왜 같은 문제인지 설명한다</a:t>
            </a:r>
          </a:p>
          <a:p>
            <a:r>
              <a:rPr sz="1600" b="0">
                <a:solidFill>
                  <a:srgbClr val="5A6672"/>
                </a:solidFill>
                <a:latin typeface="Malgun Gothic"/>
              </a:rPr>
              <a:t>    –  TO_CHAR로 월을 비교하는 조건을 범위 조건(`&gt;=` / `&lt;`)으로 재작성한다</a:t>
            </a:r>
          </a:p>
          <a:p>
            <a:r>
              <a:rPr sz="1600" b="0">
                <a:solidFill>
                  <a:srgbClr val="5A6672"/>
                </a:solidFill>
                <a:latin typeface="Malgun Gothic"/>
              </a:rPr>
              <a:t>    –  LIKE 와일드카드 위치, 부정 조건, IS NULL이 일반 인덱스와 안 맞는 이유를 설명한다</a:t>
            </a:r>
          </a:p>
          <a:p>
            <a:r>
              <a:rPr sz="1600" b="0">
                <a:solidFill>
                  <a:srgbClr val="5A6672"/>
                </a:solidFill>
                <a:latin typeface="Malgun Gothic"/>
              </a:rPr>
              <a:t>    –  조건절만 보고 SARGable 여부를 판정하는 체크리스트를 실제 코드 리뷰에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6.1  Why — 인덱스가 있어도 못 타는 조건절이 있다</a:t>
            </a:r>
          </a:p>
          <a:p>
            <a:r>
              <a:rPr sz="1800" b="0">
                <a:solidFill>
                  <a:srgbClr val="202830"/>
                </a:solidFill>
                <a:latin typeface="Malgun Gothic"/>
              </a:rPr>
              <a:t>•  6.2  Concept — SARGable의 정의와 위반의 갈래</a:t>
            </a:r>
          </a:p>
          <a:p>
            <a:r>
              <a:rPr sz="1800" b="0">
                <a:solidFill>
                  <a:srgbClr val="202830"/>
                </a:solidFill>
                <a:latin typeface="Malgun Gothic"/>
              </a:rPr>
              <a:t>•  6.3  Oracle Internals — 묵시적 형변환의 방향</a:t>
            </a:r>
          </a:p>
          <a:p>
            <a:r>
              <a:rPr sz="1800" b="0">
                <a:solidFill>
                  <a:srgbClr val="202830"/>
                </a:solidFill>
                <a:latin typeface="Malgun Gothic"/>
              </a:rPr>
              <a:t>•  6.4  Example — BIRTH_DATE 세 가지 조건절 비교</a:t>
            </a:r>
          </a:p>
          <a:p>
            <a:r>
              <a:rPr sz="1800" b="0">
                <a:solidFill>
                  <a:srgbClr val="202830"/>
                </a:solidFill>
                <a:latin typeface="Malgun Gothic"/>
              </a:rPr>
              <a:t>•  6.5  Execution Plan — 실측 비교와 해석</a:t>
            </a:r>
          </a:p>
          <a:p>
            <a:r>
              <a:rPr sz="1800" b="0">
                <a:solidFill>
                  <a:srgbClr val="202830"/>
                </a:solidFill>
                <a:latin typeface="Malgun Gothic"/>
              </a:rPr>
              <a:t>•  6.6  Bad SQL — DATE 컬럼에서 같은 문제 재현</a:t>
            </a:r>
          </a:p>
          <a:p>
            <a:r>
              <a:rPr sz="1800" b="0">
                <a:solidFill>
                  <a:srgbClr val="202830"/>
                </a:solidFill>
                <a:latin typeface="Malgun Gothic"/>
              </a:rPr>
              <a:t>•  6.7  Tuning — 그 밖의 SARGable 위반 패턴</a:t>
            </a:r>
          </a:p>
          <a:p>
            <a:r>
              <a:rPr sz="1800" b="0">
                <a:solidFill>
                  <a:srgbClr val="202830"/>
                </a:solidFill>
                <a:latin typeface="Malgun Gothic"/>
              </a:rPr>
              <a:t>•  6.8~6.10  Benchmark 종합 ·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인덱스가 있어도 못 타는 조건절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5장에서 남겨 둔 질문</a:t>
            </a:r>
          </a:p>
          <a:p>
            <a:r>
              <a:rPr sz="1600" b="0">
                <a:solidFill>
                  <a:srgbClr val="C5CED6"/>
                </a:solidFill>
                <a:latin typeface="Malgun Gothic"/>
              </a:rPr>
              <a:t>•  SARGable이라는 개념</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5장에서 남겨 둔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5에서 확인한 것 — '인덱스를 만들면 빨라진다'</a:t>
            </a:r>
          </a:p>
          <a:p>
            <a:r>
              <a:rPr sz="1600" b="0">
                <a:solidFill>
                  <a:srgbClr val="5A6672"/>
                </a:solidFill>
                <a:latin typeface="Malgun Gothic"/>
              </a:rPr>
              <a:t>    –  같은 SQL을 인덱스 유무만 바꿔 비교했고, 인덱스가 있는 쪽이 유리했다</a:t>
            </a:r>
          </a:p>
          <a:p>
            <a:r>
              <a:rPr sz="1600" b="0">
                <a:solidFill>
                  <a:srgbClr val="5A6672"/>
                </a:solidFill>
                <a:latin typeface="Malgun Gothic"/>
              </a:rPr>
              <a:t>    –  그 실험에서는 조건절 작성 방식이 변수가 아니었다</a:t>
            </a:r>
          </a:p>
          <a:p>
            <a:r>
              <a:rPr sz="1800" b="0">
                <a:solidFill>
                  <a:srgbClr val="202830"/>
                </a:solidFill>
                <a:latin typeface="Malgun Gothic"/>
              </a:rPr>
              <a:t>•  그러나 다루지 않은 사실이 하나 있다 — 인덱스가 있어도 조건절을 잘못 쓰면 아예 못 탈 수 있다</a:t>
            </a:r>
          </a:p>
          <a:p>
            <a:r>
              <a:rPr sz="1600" b="0">
                <a:solidFill>
                  <a:srgbClr val="5A6672"/>
                </a:solidFill>
                <a:latin typeface="Malgun Gothic"/>
              </a:rPr>
              <a:t>    –  인덱스가 존재하는 것과 옵티마이저가 그 인덱스를 선택하는 것은 서로 다른 사건이다</a:t>
            </a:r>
          </a:p>
          <a:p>
            <a:r>
              <a:rPr sz="1600" b="0">
                <a:solidFill>
                  <a:srgbClr val="5A6672"/>
                </a:solidFill>
                <a:latin typeface="Malgun Gothic"/>
              </a:rPr>
              <a:t>    –  둘 사이에 조건절을 어떻게 썼는가라는 변수가 하나 더 놓여 있다</a:t>
            </a:r>
          </a:p>
          <a:p>
            <a:r>
              <a:rPr sz="1800" b="0">
                <a:solidFill>
                  <a:srgbClr val="202830"/>
                </a:solidFill>
                <a:latin typeface="Malgun Gothic"/>
              </a:rPr>
              <a:t>•  실무에서 이 차이가 사고로 이어지는 전형적인 경로</a:t>
            </a:r>
          </a:p>
          <a:p>
            <a:r>
              <a:rPr sz="1600" b="0">
                <a:solidFill>
                  <a:srgbClr val="5A6672"/>
                </a:solidFill>
                <a:latin typeface="Malgun Gothic"/>
              </a:rPr>
              <a:t>    –  인덱스를 만들었으니 됐다고 판단하고 실행계획을 확인하지 않는다</a:t>
            </a:r>
          </a:p>
          <a:p>
            <a:r>
              <a:rPr sz="1600" b="0">
                <a:solidFill>
                  <a:srgbClr val="5A6672"/>
                </a:solidFill>
                <a:latin typeface="Malgun Gothic"/>
              </a:rPr>
              <a:t>    –  느리다는 신고가 들어오면 인덱스를 하나 더 만드는 쪽으로 대응한다</a:t>
            </a:r>
          </a:p>
          <a:p>
            <a:r>
              <a:rPr sz="1600" b="0">
                <a:solidFill>
                  <a:srgbClr val="5A6672"/>
                </a:solidFill>
                <a:latin typeface="Malgun Gothic"/>
              </a:rPr>
              <a:t>    –  조건절은 그대로이므로 새 인덱스도 같은 이유로 쓰이지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SARGable이란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SARGable = Search ARGument-able</a:t>
            </a:r>
          </a:p>
          <a:p>
            <a:r>
              <a:rPr sz="1600" b="0">
                <a:solidFill>
                  <a:srgbClr val="5A6672"/>
                </a:solidFill>
                <a:latin typeface="Malgun Gothic"/>
              </a:rPr>
              <a:t>    –  인덱스를 탐색하는 데 그대로 쓸 수 있는 형태의 조건을 뜻한다</a:t>
            </a:r>
          </a:p>
          <a:p>
            <a:r>
              <a:rPr sz="1600" b="0">
                <a:solidFill>
                  <a:srgbClr val="5A6672"/>
                </a:solidFill>
                <a:latin typeface="Malgun Gothic"/>
              </a:rPr>
              <a:t>    –  이름 그대로 그 조건이 검색 인수로 쓰일 자격이 있는가를 묻는 말이다</a:t>
            </a:r>
          </a:p>
          <a:p>
            <a:r>
              <a:rPr sz="1800" b="0">
                <a:solidFill>
                  <a:srgbClr val="202830"/>
                </a:solidFill>
                <a:latin typeface="Malgun Gothic"/>
              </a:rPr>
              <a:t>•  판정 기준은 하나로 압축된다 — 컬럼을 가공했는가</a:t>
            </a:r>
          </a:p>
          <a:p>
            <a:r>
              <a:rPr sz="1600" b="0">
                <a:solidFill>
                  <a:srgbClr val="5A6672"/>
                </a:solidFill>
                <a:latin typeface="Malgun Gothic"/>
              </a:rPr>
              <a:t>    –  컬럼을 가공하지 않고 원래 값 그대로 비교하는 조건이 SARGable하다</a:t>
            </a:r>
          </a:p>
          <a:p>
            <a:r>
              <a:rPr sz="1600" b="0">
                <a:solidFill>
                  <a:srgbClr val="5A6672"/>
                </a:solidFill>
                <a:latin typeface="Malgun Gothic"/>
              </a:rPr>
              <a:t>    –  컬럼에 함수·연산이 적용되면 그 순간 SARGable하지 않게 된다</a:t>
            </a:r>
          </a:p>
          <a:p>
            <a:r>
              <a:rPr sz="1800" b="0">
                <a:solidFill>
                  <a:srgbClr val="202830"/>
                </a:solidFill>
                <a:latin typeface="Malgun Gothic"/>
              </a:rPr>
              <a:t>•  가공의 주체가 사람인지 Oracle인지는 상관없다</a:t>
            </a:r>
          </a:p>
          <a:p>
            <a:r>
              <a:rPr sz="1600" b="0">
                <a:solidFill>
                  <a:srgbClr val="5A6672"/>
                </a:solidFill>
                <a:latin typeface="Malgun Gothic"/>
              </a:rPr>
              <a:t>    –  개발자가 직접 쓴 함수든, 타입이 안 맞아 자동으로 생긴 변환이든 결과는 같다</a:t>
            </a:r>
          </a:p>
          <a:p>
            <a:r>
              <a:rPr sz="1600" b="0">
                <a:solidFill>
                  <a:srgbClr val="5A6672"/>
                </a:solidFill>
                <a:latin typeface="Malgun Gothic"/>
              </a:rPr>
              <a:t>    –  눈에 보이지 않는 가공이 더 위험하다 — 6.3절에서 그 사례를 다룬다</a:t>
            </a:r>
          </a:p>
          <a:p>
            <a:r>
              <a:rPr sz="1800" b="0">
                <a:solidFill>
                  <a:srgbClr val="202830"/>
                </a:solidFill>
                <a:latin typeface="Malgun Gothic"/>
              </a:rPr>
              <a:t>•  이번 차시의 목표 — 인덱스가 있어도 못 타는 대표 패턴을 실측으로 확인한다</a:t>
            </a:r>
          </a:p>
          <a:p>
            <a:r>
              <a:rPr sz="1600" b="0">
                <a:solidFill>
                  <a:srgbClr val="5A6672"/>
                </a:solidFill>
                <a:latin typeface="Malgun Gothic"/>
              </a:rPr>
              <a:t>    –  대표 패턴은 명시적 함수 사용과 묵시적 형변환 두 가지다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다루는 것 — 조건절 작성 방식이 인덱스 사용 여부를 가르는 지점</a:t>
            </a:r>
          </a:p>
          <a:p>
            <a:r>
              <a:rPr sz="1600" b="0">
                <a:solidFill>
                  <a:srgbClr val="5A6672"/>
                </a:solidFill>
                <a:latin typeface="Malgun Gothic"/>
              </a:rPr>
              <a:t>    –  명시적 함수 사용(TO_NUMBER, SUBSTR, TO_CHAR 등)</a:t>
            </a:r>
          </a:p>
          <a:p>
            <a:r>
              <a:rPr sz="1600" b="0">
                <a:solidFill>
                  <a:srgbClr val="5A6672"/>
                </a:solidFill>
                <a:latin typeface="Malgun Gothic"/>
              </a:rPr>
              <a:t>    –  묵시적 형변환 — 컬럼과 리터럴의 데이터 타입이 어긋나는 경우</a:t>
            </a:r>
          </a:p>
          <a:p>
            <a:r>
              <a:rPr sz="1600" b="0">
                <a:solidFill>
                  <a:srgbClr val="5A6672"/>
                </a:solidFill>
                <a:latin typeface="Malgun Gothic"/>
              </a:rPr>
              <a:t>    –  실측 소재는 PATIENTS.BIRTH_DATE(VARCHAR2 YYYYMMDD)와 MEDICAL_CLAIMS.RECEIPT_DATE(DATE)</a:t>
            </a:r>
          </a:p>
          <a:p>
            <a:r>
              <a:rPr sz="1800" b="0">
                <a:solidFill>
                  <a:srgbClr val="202830"/>
                </a:solidFill>
                <a:latin typeface="Malgun Gothic"/>
              </a:rPr>
              <a:t>•  개념으로만 짚고 넘어가는 것 — 6.7절</a:t>
            </a:r>
          </a:p>
          <a:p>
            <a:r>
              <a:rPr sz="1600" b="0">
                <a:solidFill>
                  <a:srgbClr val="5A6672"/>
                </a:solidFill>
                <a:latin typeface="Malgun Gothic"/>
              </a:rPr>
              <a:t>    –  앞에 %가 붙는 LIKE, 부정 조건, IS NULL — 실측 없이 원리만 정리한다</a:t>
            </a:r>
          </a:p>
          <a:p>
            <a:r>
              <a:rPr sz="1800" b="0">
                <a:solidFill>
                  <a:srgbClr val="202830"/>
                </a:solidFill>
                <a:latin typeface="Malgun Gothic"/>
              </a:rPr>
              <a:t>•  이 장에서 다루지 않는 것</a:t>
            </a:r>
          </a:p>
          <a:p>
            <a:r>
              <a:rPr sz="1600" b="0">
                <a:solidFill>
                  <a:srgbClr val="5A6672"/>
                </a:solidFill>
                <a:latin typeface="Malgun Gothic"/>
              </a:rPr>
              <a:t>    –  함수 기반 인덱스, 전문 검색 인덱스 등 별도 기법 — 본 과정 범위 밖</a:t>
            </a:r>
          </a:p>
          <a:p>
            <a:r>
              <a:rPr sz="1600" b="0">
                <a:solidFill>
                  <a:srgbClr val="5A6672"/>
                </a:solidFill>
                <a:latin typeface="Malgun Gothic"/>
              </a:rPr>
              <a:t>    –  인덱스 컬럼 순서 설계와 결합 인덱스 전략 — 별도 주제</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실습용 인덱스를 생성·삭제한다. 종료 시 DROP INDEX로 정리해 PATIENTS·MEDICAL_CLAIMS가 PK만 남은 상태로 복구되었는지 확인한다.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SARGable의 정의와 위반의 갈래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함수와 인덱스 — 정렬 기준이 어긋난다</a:t>
            </a:r>
          </a:p>
          <a:p>
            <a:r>
              <a:rPr sz="1600" b="0">
                <a:solidFill>
                  <a:srgbClr val="C5CED6"/>
                </a:solidFill>
                <a:latin typeface="Malgun Gothic"/>
              </a:rPr>
              <a:t>•  묵시적 형변환이라는 개념</a:t>
            </a:r>
          </a:p>
          <a:p>
            <a:r>
              <a:rPr sz="1600" b="0">
                <a:solidFill>
                  <a:srgbClr val="C5CED6"/>
                </a:solidFill>
                <a:latin typeface="Malgun Gothic"/>
              </a:rPr>
              <a:t>•  SARGable 위반의 갈래 정리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함수와 인덱스 — 정렬 기준이 어긋난다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B-Tree 인덱스는 컬럼의 원본 값을 기준으로 정렬해 저장한다</a:t>
            </a:r>
          </a:p>
          <a:p>
            <a:r>
              <a:rPr sz="1600" b="0">
                <a:solidFill>
                  <a:srgbClr val="5A6672"/>
                </a:solidFill>
                <a:latin typeface="Malgun Gothic"/>
              </a:rPr>
              <a:t>    –  정렬돼 있기 때문에 특정 값이나 범위의 시작 지점을 곧바로 찾아갈 수 있다</a:t>
            </a:r>
          </a:p>
          <a:p>
            <a:r>
              <a:rPr sz="1600" b="0">
                <a:solidFill>
                  <a:srgbClr val="5A6672"/>
                </a:solidFill>
                <a:latin typeface="Malgun Gothic"/>
              </a:rPr>
              <a:t>    –  인덱스가 빠른 이유는 자료가 작아서가 아니라 순서를 알고 있기 때문이다</a:t>
            </a:r>
          </a:p>
          <a:p>
            <a:r>
              <a:rPr sz="1800" b="0">
                <a:solidFill>
                  <a:srgbClr val="202830"/>
                </a:solidFill>
                <a:latin typeface="Malgun Gothic"/>
              </a:rPr>
              <a:t>•  컬럼에 함수를 씌우면 비교 대상이 원본 값이 아니게 된다</a:t>
            </a:r>
          </a:p>
          <a:p>
            <a:r>
              <a:rPr sz="1600" b="0">
                <a:solidFill>
                  <a:srgbClr val="5A6672"/>
                </a:solidFill>
                <a:latin typeface="Malgun Gothic"/>
              </a:rPr>
              <a:t>    –  TO_NUMBER(col), SUBSTR(col,..), TO_CHAR(col,..) 등이 모두 여기에 해당한다</a:t>
            </a:r>
          </a:p>
          <a:p>
            <a:r>
              <a:rPr sz="1600" b="0">
                <a:solidFill>
                  <a:srgbClr val="5A6672"/>
                </a:solidFill>
                <a:latin typeface="Malgun Gothic"/>
              </a:rPr>
              <a:t>    –  인덱스는 원본 값 순서로 정렬돼 있는데 비교는 변환된 값으로 이뤄진다</a:t>
            </a:r>
          </a:p>
          <a:p>
            <a:r>
              <a:rPr sz="1600" b="0">
                <a:solidFill>
                  <a:srgbClr val="5A6672"/>
                </a:solidFill>
                <a:latin typeface="Malgun Gothic"/>
              </a:rPr>
              <a:t>    –  변환된 값의 순서를 인덱스는 모르므로 그 인덱스로 바로 찾아갈 수 없다</a:t>
            </a:r>
          </a:p>
          <a:p>
            <a:r>
              <a:rPr sz="1800" b="0">
                <a:solidFill>
                  <a:srgbClr val="202830"/>
                </a:solidFill>
                <a:latin typeface="Malgun Gothic"/>
              </a:rPr>
              <a:t>•  그래서 옵티마이저는 그 인덱스를 접근 경로 후보에서 제외한다</a:t>
            </a:r>
          </a:p>
          <a:p>
            <a:r>
              <a:rPr sz="1600" b="0">
                <a:solidFill>
                  <a:srgbClr val="5A6672"/>
                </a:solidFill>
                <a:latin typeface="Malgun Gothic"/>
              </a:rPr>
              <a:t>    –  남는 선택지는 대개 테이블 전체를 읽으며 한 행씩 변환해 걸러내는 방식이다</a:t>
            </a:r>
          </a:p>
          <a:p>
            <a:r>
              <a:rPr sz="1600" b="0">
                <a:solidFill>
                  <a:srgbClr val="5A6672"/>
                </a:solidFill>
                <a:latin typeface="Malgun Gothic"/>
              </a:rPr>
              <a:t>    –  결과는 정확하지만 읽은 블록 수는 조건의 선택도와 무관하게 커진다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묵시적 형변환이라는 개념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조건절에서 컬럼과 리터럴의 데이터 타입이 다르면 그대로 비교할 수 없다</a:t>
            </a:r>
          </a:p>
          <a:p>
            <a:r>
              <a:rPr sz="1600" b="0">
                <a:solidFill>
                  <a:srgbClr val="5A6672"/>
                </a:solidFill>
                <a:latin typeface="Malgun Gothic"/>
              </a:rPr>
              <a:t>    –  문자와 숫자는 비교 규칙 자체가 다르므로 한쪽을 다른 쪽 타입으로 맞춰야 한다</a:t>
            </a:r>
          </a:p>
          <a:p>
            <a:r>
              <a:rPr sz="1800" b="0">
                <a:solidFill>
                  <a:srgbClr val="202830"/>
                </a:solidFill>
                <a:latin typeface="Malgun Gothic"/>
              </a:rPr>
              <a:t>•  Oracle은 이때 둘 중 하나를 자동으로 변환해 비교한다 — 이것이 묵시적 형변환이다</a:t>
            </a:r>
          </a:p>
          <a:p>
            <a:r>
              <a:rPr sz="1600" b="0">
                <a:solidFill>
                  <a:srgbClr val="5A6672"/>
                </a:solidFill>
                <a:latin typeface="Malgun Gothic"/>
              </a:rPr>
              <a:t>    –  개발자가 변환 함수를 한 글자도 쓰지 않아도 내부적으로 발생한다</a:t>
            </a:r>
          </a:p>
          <a:p>
            <a:r>
              <a:rPr sz="1600" b="0">
                <a:solidFill>
                  <a:srgbClr val="5A6672"/>
                </a:solidFill>
                <a:latin typeface="Malgun Gothic"/>
              </a:rPr>
              <a:t>    –  SQL 문장만 봐서는 변환이 일어났는지 알 수 없다는 점이 이 문제의 핵심이다</a:t>
            </a:r>
          </a:p>
          <a:p>
            <a:r>
              <a:rPr sz="1800" b="0">
                <a:solidFill>
                  <a:srgbClr val="202830"/>
                </a:solidFill>
                <a:latin typeface="Malgun Gothic"/>
              </a:rPr>
              <a:t>•  어느 쪽이 변환되는지가 인덱스 사용 여부를 가른다</a:t>
            </a:r>
          </a:p>
          <a:p>
            <a:r>
              <a:rPr sz="1600" b="0">
                <a:solidFill>
                  <a:srgbClr val="5A6672"/>
                </a:solidFill>
                <a:latin typeface="Malgun Gothic"/>
              </a:rPr>
              <a:t>    –  리터럴이 변환되면 컬럼은 원본 그대로 남으므로 인덱스를 탈 수 있다</a:t>
            </a:r>
          </a:p>
          <a:p>
            <a:r>
              <a:rPr sz="1600" b="0">
                <a:solidFill>
                  <a:srgbClr val="5A6672"/>
                </a:solidFill>
                <a:latin typeface="Malgun Gothic"/>
              </a:rPr>
              <a:t>    –  컬럼이 변환되면 컬럼에 함수를 씌운 것과 완전히 같은 효과가 된다</a:t>
            </a:r>
          </a:p>
          <a:p>
            <a:r>
              <a:rPr sz="1800" b="0">
                <a:solidFill>
                  <a:srgbClr val="202830"/>
                </a:solidFill>
                <a:latin typeface="Malgun Gothic"/>
              </a:rPr>
              <a:t>•  변환 방향은 개발자가 고르는 것이 아니라 Oracle의 규칙이 정한다</a:t>
            </a:r>
          </a:p>
          <a:p>
            <a:r>
              <a:rPr sz="1600" b="0">
                <a:solidFill>
                  <a:srgbClr val="5A6672"/>
                </a:solidFill>
                <a:latin typeface="Malgun Gothic"/>
              </a:rPr>
              <a:t>    –  그 규칙이 무엇인지는 6.3절에서 다룬다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위반의 갈래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갈래 1 — 명시적 함수·연산으로 컬럼을 가공</a:t>
            </a:r>
          </a:p>
          <a:p>
            <a:r>
              <a:rPr sz="1600" b="0">
                <a:solidFill>
                  <a:srgbClr val="5A6672"/>
                </a:solidFill>
                <a:latin typeface="Malgun Gothic"/>
              </a:rPr>
              <a:t>    –  TO_NUMBER(SUBSTR(col,..)), TO_CHAR(col,..), col*2, col||'' 등</a:t>
            </a:r>
          </a:p>
          <a:p>
            <a:r>
              <a:rPr sz="1600" b="0">
                <a:solidFill>
                  <a:srgbClr val="5A6672"/>
                </a:solidFill>
                <a:latin typeface="Malgun Gothic"/>
              </a:rPr>
              <a:t>    –  눈에 보이므로 코드 리뷰로 잡을 수 있다</a:t>
            </a:r>
          </a:p>
          <a:p>
            <a:r>
              <a:rPr sz="1800" b="0">
                <a:solidFill>
                  <a:srgbClr val="202830"/>
                </a:solidFill>
                <a:latin typeface="Malgun Gothic"/>
              </a:rPr>
              <a:t>•  갈래 2 — 타입 불일치로 인한 묵시적 형변환</a:t>
            </a:r>
          </a:p>
          <a:p>
            <a:r>
              <a:rPr sz="1600" b="0">
                <a:solidFill>
                  <a:srgbClr val="5A6672"/>
                </a:solidFill>
                <a:latin typeface="Malgun Gothic"/>
              </a:rPr>
              <a:t>    –  VARCHAR2 컬럼을 숫자 리터럴과 비교하는 등 타입을 어긋나게 쓴 경우</a:t>
            </a:r>
          </a:p>
          <a:p>
            <a:r>
              <a:rPr sz="1600" b="0">
                <a:solidFill>
                  <a:srgbClr val="5A6672"/>
                </a:solidFill>
                <a:latin typeface="Malgun Gothic"/>
              </a:rPr>
              <a:t>    –  눈에 보이지 않으므로 실행계획으로만 잡을 수 있다</a:t>
            </a:r>
          </a:p>
          <a:p>
            <a:r>
              <a:rPr sz="1800" b="0">
                <a:solidFill>
                  <a:srgbClr val="202830"/>
                </a:solidFill>
                <a:latin typeface="Malgun Gothic"/>
              </a:rPr>
              <a:t>•  갈래 3 — 인덱스의 정렬 특성과 맞지 않는 조건</a:t>
            </a:r>
          </a:p>
          <a:p>
            <a:r>
              <a:rPr sz="1600" b="0">
                <a:solidFill>
                  <a:srgbClr val="5A6672"/>
                </a:solidFill>
                <a:latin typeface="Malgun Gothic"/>
              </a:rPr>
              <a:t>    –  앞에 %가 붙는 LIKE, 부정 조건(!=, NOT IN), IS NULL</a:t>
            </a:r>
          </a:p>
          <a:p>
            <a:r>
              <a:rPr sz="1600" b="0">
                <a:solidFill>
                  <a:srgbClr val="5A6672"/>
                </a:solidFill>
                <a:latin typeface="Malgun Gothic"/>
              </a:rPr>
              <a:t>    –  컬럼을 가공하지는 않았지만 정렬 순서를 이용할 수 없는 형태다</a:t>
            </a:r>
          </a:p>
          <a:p>
            <a:r>
              <a:rPr sz="1800" b="0">
                <a:solidFill>
                  <a:srgbClr val="202830"/>
                </a:solidFill>
                <a:latin typeface="Malgun Gothic"/>
              </a:rPr>
              <a:t>•  본 차시는 갈래 1·2를 실측으로 확인하고, 갈래 3은 6.7절에서 개념으로 정리한다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묵시적 형변환의 방향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데이터 타입 우선순위</a:t>
            </a:r>
          </a:p>
          <a:p>
            <a:r>
              <a:rPr sz="1600" b="0">
                <a:solidFill>
                  <a:srgbClr val="C5CED6"/>
                </a:solidFill>
                <a:latin typeface="Malgun Gothic"/>
              </a:rPr>
              <a:t>•  컬럼이 변환되면 벌어지는 일</a:t>
            </a:r>
          </a:p>
          <a:p>
            <a:r>
              <a:rPr sz="1600" b="0">
                <a:solidFill>
                  <a:srgbClr val="C5CED6"/>
                </a:solidFill>
                <a:latin typeface="Malgun Gothic"/>
              </a:rPr>
              <a:t>•  Predicate Information으로 진단하기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타입 우선순위 — 누가 변환되는가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타입이 다른 두 값을 비교할 때 정해진 규칙으로 한쪽을 변환한다</a:t>
            </a:r>
          </a:p>
          <a:p>
            <a:r>
              <a:rPr sz="1600" b="0">
                <a:solidFill>
                  <a:srgbClr val="5A6672"/>
                </a:solidFill>
                <a:latin typeface="Malgun Gothic"/>
              </a:rPr>
              <a:t>    –  규칙을 단순화하면 NUMBER가 VARCHAR2보다 우선순위가 높다</a:t>
            </a:r>
          </a:p>
          <a:p>
            <a:r>
              <a:rPr sz="1600" b="0">
                <a:solidFill>
                  <a:srgbClr val="5A6672"/>
                </a:solidFill>
                <a:latin typeface="Malgun Gothic"/>
              </a:rPr>
              <a:t>    –  우선순위가 높은 쪽에 맞추므로 문자 쪽이 숫자로 변환된다</a:t>
            </a:r>
          </a:p>
          <a:p>
            <a:r>
              <a:rPr sz="1800" b="0">
                <a:solidFill>
                  <a:srgbClr val="202830"/>
                </a:solidFill>
                <a:latin typeface="Malgun Gothic"/>
              </a:rPr>
              <a:t>•  VARCHAR2 컬럼을 NUMBER 리터럴과 비교하면 — WHERE varchar_col &lt;= 19901231</a:t>
            </a:r>
          </a:p>
          <a:p>
            <a:r>
              <a:rPr sz="1600" b="0">
                <a:solidFill>
                  <a:srgbClr val="5A6672"/>
                </a:solidFill>
                <a:latin typeface="Malgun Gothic"/>
              </a:rPr>
              <a:t>    –  리터럴이 아니라 컬럼 쪽을 TO_NUMBER()로 감싸서 비교한다</a:t>
            </a:r>
          </a:p>
          <a:p>
            <a:r>
              <a:rPr sz="1600" b="0">
                <a:solidFill>
                  <a:srgbClr val="5A6672"/>
                </a:solidFill>
                <a:latin typeface="Malgun Gothic"/>
              </a:rPr>
              <a:t>    –  사람이 보기엔 컬럼을 건드린 적이 없지만 내부적으로는 함수가 씌워진 것과 같다</a:t>
            </a:r>
          </a:p>
          <a:p>
            <a:r>
              <a:rPr sz="1800" b="0">
                <a:solidFill>
                  <a:srgbClr val="202830"/>
                </a:solidFill>
                <a:latin typeface="Malgun Gothic"/>
              </a:rPr>
              <a:t>•  이 방향이 최악인 이유</a:t>
            </a:r>
          </a:p>
          <a:p>
            <a:r>
              <a:rPr sz="1600" b="0">
                <a:solidFill>
                  <a:srgbClr val="5A6672"/>
                </a:solidFill>
                <a:latin typeface="Malgun Gothic"/>
              </a:rPr>
              <a:t>    –  변환 대상이 리터럴이면 값 하나만 한 번 바꾸면 끝난다</a:t>
            </a:r>
          </a:p>
          <a:p>
            <a:r>
              <a:rPr sz="1600" b="0">
                <a:solidFill>
                  <a:srgbClr val="5A6672"/>
                </a:solidFill>
                <a:latin typeface="Malgun Gothic"/>
              </a:rPr>
              <a:t>    –  변환 대상이 컬럼이면 모든 행의 값을 하나씩 바꿔야 하고 인덱스도 무력화된다</a:t>
            </a:r>
          </a:p>
          <a:p>
            <a:r>
              <a:rPr sz="1800" b="0">
                <a:solidFill>
                  <a:srgbClr val="202830"/>
                </a:solidFill>
                <a:latin typeface="Malgun Gothic"/>
              </a:rPr>
              <a:t>•  즉 리터럴에 작은따옴표를 빼먹었을 뿐인데 인덱스를 못 타게 만들 수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컬럼이 변환되면 벌어지는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조건절이 사실상 다음과 같이 바뀐 상태로 처리된다</a:t>
            </a:r>
          </a:p>
          <a:p>
            <a:r>
              <a:rPr sz="1600" b="0">
                <a:solidFill>
                  <a:srgbClr val="5A6672"/>
                </a:solidFill>
                <a:latin typeface="Malgun Gothic"/>
              </a:rPr>
              <a:t>    –  WHERE birth_date &lt;= 19901231  →  WHERE TO_NUMBER(birth_date) &lt;= 19901231</a:t>
            </a:r>
          </a:p>
          <a:p>
            <a:r>
              <a:rPr sz="1600" b="0">
                <a:solidFill>
                  <a:srgbClr val="5A6672"/>
                </a:solidFill>
                <a:latin typeface="Malgun Gothic"/>
              </a:rPr>
              <a:t>    –  개발자가 쓴 SQL 텍스트에는 TO_NUMBER가 어디에도 없다</a:t>
            </a:r>
          </a:p>
          <a:p>
            <a:r>
              <a:rPr sz="1800" b="0">
                <a:solidFill>
                  <a:srgbClr val="202830"/>
                </a:solidFill>
                <a:latin typeface="Malgun Gothic"/>
              </a:rPr>
              <a:t>•  결과적으로 명시적 함수 사용과 동일한 상황이 된다</a:t>
            </a:r>
          </a:p>
          <a:p>
            <a:r>
              <a:rPr sz="1600" b="0">
                <a:solidFill>
                  <a:srgbClr val="5A6672"/>
                </a:solidFill>
                <a:latin typeface="Malgun Gothic"/>
              </a:rPr>
              <a:t>    –  인덱스는 원본 문자열 순서로 정렬돼 있는데 비교는 숫자 값으로 이뤄진다</a:t>
            </a:r>
          </a:p>
          <a:p>
            <a:r>
              <a:rPr sz="1600" b="0">
                <a:solidFill>
                  <a:srgbClr val="5A6672"/>
                </a:solidFill>
                <a:latin typeface="Malgun Gothic"/>
              </a:rPr>
              <a:t>    –  옵티마이저는 그 인덱스로 찾아갈 수 없다고 판단하고 후보에서 제외한다</a:t>
            </a:r>
          </a:p>
          <a:p>
            <a:r>
              <a:rPr sz="1800" b="0">
                <a:solidFill>
                  <a:srgbClr val="202830"/>
                </a:solidFill>
                <a:latin typeface="Malgun Gothic"/>
              </a:rPr>
              <a:t>•  추가로 따라오는 위험 — 정확성 문제</a:t>
            </a:r>
          </a:p>
          <a:p>
            <a:r>
              <a:rPr sz="1600" b="0">
                <a:solidFill>
                  <a:srgbClr val="5A6672"/>
                </a:solidFill>
                <a:latin typeface="Malgun Gothic"/>
              </a:rPr>
              <a:t>    –  숫자로 바꿀 수 없는 값이 한 건이라도 섞이면 변환 자체가 실패할 수 있다</a:t>
            </a:r>
          </a:p>
          <a:p>
            <a:r>
              <a:rPr sz="1600" b="0">
                <a:solidFill>
                  <a:srgbClr val="5A6672"/>
                </a:solidFill>
                <a:latin typeface="Malgun Gothic"/>
              </a:rPr>
              <a:t>    –  평소 잘 돌던 SQL이 데이터가 하나 들어온 순간 오류를 내는 형태로 나타난다</a:t>
            </a:r>
          </a:p>
          <a:p>
            <a:r>
              <a:rPr sz="1800" b="0">
                <a:solidFill>
                  <a:srgbClr val="202830"/>
                </a:solidFill>
                <a:latin typeface="Malgun Gothic"/>
              </a:rPr>
              <a:t>•  성능 문제로만 보이지만 잠재적으로는 안정성 문제이기도 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Information으로 진단하기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묵시적 형변환은 SQL 텍스트로는 보이지 않는다 — 실행계획으로 진단한다</a:t>
            </a:r>
          </a:p>
          <a:p>
            <a:r>
              <a:rPr sz="1600" b="0">
                <a:solidFill>
                  <a:srgbClr val="5A6672"/>
                </a:solidFill>
                <a:latin typeface="Malgun Gothic"/>
              </a:rPr>
              <a:t>    –  실행계획 아래쪽의 Predicate Information 영역을 본다</a:t>
            </a:r>
          </a:p>
          <a:p>
            <a:r>
              <a:rPr sz="1600" b="0">
                <a:solidFill>
                  <a:srgbClr val="5A6672"/>
                </a:solidFill>
                <a:latin typeface="Malgun Gothic"/>
              </a:rPr>
              <a:t>    –  조건이 옵티마이저에게 어떤 형태로 전달됐는지가 그대로 적혀 있다</a:t>
            </a:r>
          </a:p>
          <a:p>
            <a:r>
              <a:rPr sz="1800" b="0">
                <a:solidFill>
                  <a:srgbClr val="202830"/>
                </a:solidFill>
                <a:latin typeface="Malgun Gothic"/>
              </a:rPr>
              <a:t>•  판정 방법은 단순하다 — 컬럼 이름이 함수에 감싸여 있는지 본다</a:t>
            </a:r>
          </a:p>
          <a:p>
            <a:r>
              <a:rPr sz="1600" b="0">
                <a:solidFill>
                  <a:srgbClr val="5A6672"/>
                </a:solidFill>
                <a:latin typeface="Malgun Gothic"/>
              </a:rPr>
              <a:t>    –  filter("BIRTH_DATE"&lt;='19901231') — 컬럼이 원본 그대로다</a:t>
            </a:r>
          </a:p>
          <a:p>
            <a:r>
              <a:rPr sz="1600" b="0">
                <a:solidFill>
                  <a:srgbClr val="5A6672"/>
                </a:solidFill>
                <a:latin typeface="Malgun Gothic"/>
              </a:rPr>
              <a:t>    –  filter(TO_NUMBER("BIRTH_DATE")&lt;=19901231) — 컬럼이 감싸여 있다</a:t>
            </a:r>
          </a:p>
          <a:p>
            <a:r>
              <a:rPr sz="1800" b="0">
                <a:solidFill>
                  <a:srgbClr val="202830"/>
                </a:solidFill>
                <a:latin typeface="Malgun Gothic"/>
              </a:rPr>
              <a:t>•  access와 filter의 구분도 함께 읽는다</a:t>
            </a:r>
          </a:p>
          <a:p>
            <a:r>
              <a:rPr sz="1600" b="0">
                <a:solidFill>
                  <a:srgbClr val="5A6672"/>
                </a:solidFill>
                <a:latin typeface="Malgun Gothic"/>
              </a:rPr>
              <a:t>    –  access는 인덱스에서 그 조건으로 찾아간 것을 뜻한다</a:t>
            </a:r>
          </a:p>
          <a:p>
            <a:r>
              <a:rPr sz="1600" b="0">
                <a:solidFill>
                  <a:srgbClr val="5A6672"/>
                </a:solidFill>
                <a:latin typeface="Malgun Gothic"/>
              </a:rPr>
              <a:t>    –  filter는 읽어 온 행을 그 조건으로 걸러낸 것을 뜻한다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실행계획은 DBMS_XPLAN.DISPLAY_CURSOR에 ALLSTATS LAST 포맷을 주면 Predicate Information까지 함께 출력된다.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BIRTH_DATE 세 가지 조건절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PATIENTS.BIRTH_DATE</a:t>
            </a:r>
          </a:p>
          <a:p>
            <a:r>
              <a:rPr sz="1600" b="0">
                <a:solidFill>
                  <a:srgbClr val="C5CED6"/>
                </a:solidFill>
                <a:latin typeface="Malgun Gothic"/>
              </a:rPr>
              <a:t>•  Q1 vs Q2 — 작은따옴표 하나의 차이</a:t>
            </a:r>
          </a:p>
          <a:p>
            <a:r>
              <a:rPr sz="1600" b="0">
                <a:solidFill>
                  <a:srgbClr val="C5CED6"/>
                </a:solidFill>
                <a:latin typeface="Malgun Gothic"/>
              </a:rPr>
              <a:t>•  Q3 — 명시적 함수로 컬럼 가공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PATIENTS.BIRTH_DATE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BIRTH_DATE는 VARCHAR2 타입이며 YYYYMMDD 형식 문자열을 담는다</a:t>
            </a:r>
          </a:p>
          <a:p>
            <a:r>
              <a:rPr sz="1600" b="0">
                <a:solidFill>
                  <a:srgbClr val="5A6672"/>
                </a:solidFill>
                <a:latin typeface="Malgun Gothic"/>
              </a:rPr>
              <a:t>    –  예: '19901231' — 여덟 자리 문자열</a:t>
            </a:r>
          </a:p>
          <a:p>
            <a:r>
              <a:rPr sz="1600" b="0">
                <a:solidFill>
                  <a:srgbClr val="5A6672"/>
                </a:solidFill>
                <a:latin typeface="Malgun Gothic"/>
              </a:rPr>
              <a:t>    –  DATE 타입이 아니라 문자열이라는 점이 이번 실험의 출발점이다</a:t>
            </a:r>
          </a:p>
          <a:p>
            <a:r>
              <a:rPr sz="1800" b="0">
                <a:solidFill>
                  <a:srgbClr val="202830"/>
                </a:solidFill>
                <a:latin typeface="Malgun Gothic"/>
              </a:rPr>
              <a:t>•  왜 이런 설계를 하는가</a:t>
            </a:r>
          </a:p>
          <a:p>
            <a:r>
              <a:rPr sz="1600" b="0">
                <a:solidFill>
                  <a:srgbClr val="5A6672"/>
                </a:solidFill>
                <a:latin typeface="Malgun Gothic"/>
              </a:rPr>
              <a:t>    –  YYYYMMDD 문자열은 사전식 정렬 순서가 실제 날짜 순서와 일치한다</a:t>
            </a:r>
          </a:p>
          <a:p>
            <a:r>
              <a:rPr sz="1600" b="0">
                <a:solidFill>
                  <a:srgbClr val="5A6672"/>
                </a:solidFill>
                <a:latin typeface="Malgun Gothic"/>
              </a:rPr>
              <a:t>    –  그래서 문자열 범위 비교가 날짜 범위 비교와 같은 결과를 낸다</a:t>
            </a:r>
          </a:p>
          <a:p>
            <a:r>
              <a:rPr sz="1600" b="0">
                <a:solidFill>
                  <a:srgbClr val="5A6672"/>
                </a:solidFill>
                <a:latin typeface="Malgun Gothic"/>
              </a:rPr>
              <a:t>    –  이 성질 덕분에 함수 없이도 기간 조건을 SARGable하게 쓸 수 있다</a:t>
            </a:r>
          </a:p>
          <a:p>
            <a:r>
              <a:rPr sz="1800" b="0">
                <a:solidFill>
                  <a:srgbClr val="202830"/>
                </a:solidFill>
                <a:latin typeface="Malgun Gothic"/>
              </a:rPr>
              <a:t>•  이 컬럼에 인덱스를 만들고 세 가지 조건절로 같은 의도를 표현해 본다</a:t>
            </a:r>
          </a:p>
          <a:p>
            <a:r>
              <a:rPr sz="1600" b="0">
                <a:solidFill>
                  <a:srgbClr val="5A6672"/>
                </a:solidFill>
                <a:latin typeface="Malgun Gothic"/>
              </a:rPr>
              <a:t>    –  Q1 — 문자열 리터럴 그대로 비교</a:t>
            </a:r>
          </a:p>
          <a:p>
            <a:r>
              <a:rPr sz="1600" b="0">
                <a:solidFill>
                  <a:srgbClr val="5A6672"/>
                </a:solidFill>
                <a:latin typeface="Malgun Gothic"/>
              </a:rPr>
              <a:t>    –  Q2 — 따옴표를 뺀 숫자 리터럴과 비교</a:t>
            </a:r>
          </a:p>
          <a:p>
            <a:r>
              <a:rPr sz="1600" b="0">
                <a:solidFill>
                  <a:srgbClr val="5A6672"/>
                </a:solidFill>
                <a:latin typeface="Malgun Gothic"/>
              </a:rPr>
              <a:t>    –  Q3 — SUBSTR과 TO_NUMBER로 컬럼을 직접 가공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 작은따옴표 하나의 차이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같은 의도, 리터럴 표기만 다른 두 조건절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실습용 인덱스 생성 (차시 종료 시 DROP INDEX로 정리)</a:t>
            </a:r>
          </a:p>
          <a:p>
            <a:r>
              <a:rPr sz="1250" b="0">
                <a:solidFill>
                  <a:srgbClr val="E6E6E6"/>
                </a:solidFill>
                <a:latin typeface="Consolas"/>
              </a:rPr>
              <a:t>CREATE INDEX ix_birth ON patients(birth_date);</a:t>
            </a:r>
          </a:p>
          <a:p>
            <a:r>
              <a:rPr sz="1250" b="0">
                <a:solidFill>
                  <a:srgbClr val="E6E6E6"/>
                </a:solidFill>
                <a:latin typeface="Consolas"/>
              </a:rPr>
              <a:t> </a:t>
            </a:r>
          </a:p>
          <a:p>
            <a:r>
              <a:rPr sz="1250" b="0">
                <a:solidFill>
                  <a:srgbClr val="7EC699"/>
                </a:solidFill>
                <a:latin typeface="Consolas"/>
              </a:rPr>
              <a:t>-- Q1. SARGable : 문자열 리터럴 그대로 비교  (BIRTH_DATE는 VARCHAR2)</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Q2. 묵시적 형변환 : 따옴표 없는 숫자 리터럴과 비교</a:t>
            </a:r>
          </a:p>
          <a:p>
            <a:r>
              <a:rPr sz="1250" b="0">
                <a:solidFill>
                  <a:srgbClr val="E6E6E6"/>
                </a:solidFill>
                <a:latin typeface="Consolas"/>
              </a:rPr>
              <a:t>SELECT COUNT(*) FROM patients WHERE birth_date &lt;= 19901231;</a:t>
            </a:r>
          </a:p>
          <a:p>
            <a:r>
              <a:rPr sz="1250" b="0">
                <a:solidFill>
                  <a:srgbClr val="E6E6E6"/>
                </a:solidFill>
                <a:latin typeface="Consolas"/>
              </a:rPr>
              <a:t> </a:t>
            </a:r>
          </a:p>
          <a:p>
            <a:r>
              <a:rPr sz="1250" b="0">
                <a:solidFill>
                  <a:srgbClr val="7EC699"/>
                </a:solidFill>
                <a:latin typeface="Consolas"/>
              </a:rPr>
              <a:t>-- 두 SQL의 문자상 차이는 작은따옴표 두 개뿐이다</a:t>
            </a:r>
          </a:p>
          <a:p>
            <a:r>
              <a:rPr sz="1250" b="0">
                <a:solidFill>
                  <a:srgbClr val="7EC699"/>
                </a:solidFill>
                <a:latin typeface="Consolas"/>
              </a:rPr>
              <a:t>-- 결과 건수도 둘 다 37,425건으로 완전히 같다</a:t>
            </a:r>
          </a:p>
          <a:p>
            <a:r>
              <a:rPr sz="1250" b="0">
                <a:solidFill>
                  <a:srgbClr val="7EC699"/>
                </a:solidFill>
                <a:latin typeface="Consolas"/>
              </a:rPr>
              <a:t>-- 그런데 실행계획은 서로 다르다  -&gt; 6.5절에서 확인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명시적 함수로 컬럼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6.4절 Example — 개발자가 직접 함수를 씌운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명시적 함수 : 컬럼을 직접 가공</a:t>
            </a:r>
          </a:p>
          <a:p>
            <a:r>
              <a:rPr sz="1250" b="0">
                <a:solidFill>
                  <a:srgbClr val="E6E6E6"/>
                </a:solidFill>
                <a:latin typeface="Consolas"/>
              </a:rPr>
              <a:t>SELECT COUNT(*) FROM patients</a:t>
            </a:r>
          </a:p>
          <a:p>
            <a:r>
              <a:rPr sz="1250" b="0">
                <a:solidFill>
                  <a:srgbClr val="E6E6E6"/>
                </a:solidFill>
                <a:latin typeface="Consolas"/>
              </a:rPr>
              <a:t>WHERE TO_NUMBER(SUBSTR(birth_date,1,4)) &lt;= 1990;</a:t>
            </a:r>
          </a:p>
          <a:p>
            <a:r>
              <a:rPr sz="1250" b="0">
                <a:solidFill>
                  <a:srgbClr val="E6E6E6"/>
                </a:solidFill>
                <a:latin typeface="Consolas"/>
              </a:rPr>
              <a:t> </a:t>
            </a:r>
          </a:p>
          <a:p>
            <a:r>
              <a:rPr sz="1250" b="0">
                <a:solidFill>
                  <a:srgbClr val="7EC699"/>
                </a:solidFill>
                <a:latin typeface="Consolas"/>
              </a:rPr>
              <a:t>-- SUBSTR로 앞 네 자리를 잘라내고 TO_NUMBER로 숫자로 바꾼 뒤 비교한다</a:t>
            </a:r>
          </a:p>
          <a:p>
            <a:r>
              <a:rPr sz="1250" b="0">
                <a:solidFill>
                  <a:srgbClr val="7EC699"/>
                </a:solidFill>
                <a:latin typeface="Consolas"/>
              </a:rPr>
              <a:t>-- 개발자가 함수를 직접 썼으므로 컬럼 가공이 눈에 보인다</a:t>
            </a:r>
          </a:p>
          <a:p>
            <a:r>
              <a:rPr sz="1250" b="0">
                <a:solidFill>
                  <a:srgbClr val="E6E6E6"/>
                </a:solidFill>
                <a:latin typeface="Consolas"/>
              </a:rPr>
              <a:t> </a:t>
            </a:r>
          </a:p>
          <a:p>
            <a:r>
              <a:rPr sz="1250" b="0">
                <a:solidFill>
                  <a:srgbClr val="7EC699"/>
                </a:solidFill>
                <a:latin typeface="Consolas"/>
              </a:rPr>
              <a:t>-- Q2와 Q3의 공통점 — 조건절에 birth_date가 원본 그대로 있지 않다</a:t>
            </a:r>
          </a:p>
          <a:p>
            <a:r>
              <a:rPr sz="1250" b="0">
                <a:solidFill>
                  <a:srgbClr val="7EC699"/>
                </a:solidFill>
                <a:latin typeface="Consolas"/>
              </a:rPr>
              <a:t>--   Q2 : TO_NUMBER("BIRTH_DATE")                &lt;- Oracle이 자동으로 씌움</a:t>
            </a:r>
          </a:p>
          <a:p>
            <a:r>
              <a:rPr sz="1250" b="0">
                <a:solidFill>
                  <a:srgbClr val="7EC699"/>
                </a:solidFill>
                <a:latin typeface="Consolas"/>
              </a:rPr>
              <a:t>--   Q3 : TO_NUMBER(SUBSTR("BIRTH_DATE",1,4))    &lt;- 개발자가 직접 씌움</a:t>
            </a:r>
          </a:p>
          <a:p>
            <a:r>
              <a:rPr sz="1250" b="0">
                <a:solidFill>
                  <a:srgbClr val="E6E6E6"/>
                </a:solidFill>
                <a:latin typeface="Consolas"/>
              </a:rPr>
              <a:t> </a:t>
            </a:r>
          </a:p>
          <a:p>
            <a:r>
              <a:rPr sz="1250" b="0">
                <a:solidFill>
                  <a:srgbClr val="7EC699"/>
                </a:solidFill>
                <a:latin typeface="Consolas"/>
              </a:rPr>
              <a:t>-- 옵티마이저는 이 둘을 구분하지 않는다  -&gt; 6.5절에서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조건절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쿼리의 실행계획 실측</a:t>
            </a:r>
          </a:p>
          <a:p>
            <a:r>
              <a:rPr sz="1600" b="0">
                <a:solidFill>
                  <a:srgbClr val="C5CED6"/>
                </a:solidFill>
                <a:latin typeface="Malgun Gothic"/>
              </a:rPr>
              <a:t>•  Q1은 왜 인덱스를 탔는가</a:t>
            </a:r>
          </a:p>
          <a:p>
            <a:r>
              <a:rPr sz="1600" b="0">
                <a:solidFill>
                  <a:srgbClr val="C5CED6"/>
                </a:solidFill>
                <a:latin typeface="Malgun Gothic"/>
              </a:rPr>
              <a:t>•  Q2와 Q3의 계획이 같은 이유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조건절의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6.5절 Execution Plan — 같은 컬럼, 같은 인덱스, 조건절 표기만 다름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Q1 (문자열 리터럴)         | INDEX FAST FULL SCAN  |     148 |</a:t>
            </a:r>
          </a:p>
          <a:p>
            <a:r>
              <a:rPr sz="1250" b="0">
                <a:solidFill>
                  <a:srgbClr val="E6E6E6"/>
                </a:solidFill>
                <a:latin typeface="Consolas"/>
              </a:rPr>
              <a:t>| Q2 (숫자 리터럴, 형변환)   | TABLE ACCESS FULL     |     442 |</a:t>
            </a:r>
          </a:p>
          <a:p>
            <a:r>
              <a:rPr sz="1250" b="0">
                <a:solidFill>
                  <a:srgbClr val="E6E6E6"/>
                </a:solidFill>
                <a:latin typeface="Consolas"/>
              </a:rPr>
              <a:t>| Q3 (명시적 함수)           | TABLE ACCESS FULL     |     442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Q1 : filter("BIRTH_DATE"&lt;='19901231')</a:t>
            </a:r>
          </a:p>
          <a:p>
            <a:r>
              <a:rPr sz="1250" b="0">
                <a:solidFill>
                  <a:srgbClr val="7EC699"/>
                </a:solidFill>
                <a:latin typeface="Consolas"/>
              </a:rPr>
              <a:t>--   Q2 : filter(TO_NUMBER("BIRTH_DATE")&lt;=19901231)</a:t>
            </a:r>
          </a:p>
          <a:p>
            <a:r>
              <a:rPr sz="1250" b="0">
                <a:solidFill>
                  <a:srgbClr val="7EC699"/>
                </a:solidFill>
                <a:latin typeface="Consolas"/>
              </a:rPr>
              <a:t>--   Q3 : filter(TO_NUMBER(SUBSTR("BIRTH_DATE",1,4))&lt;=1990)</a:t>
            </a:r>
          </a:p>
          <a:p>
            <a:r>
              <a:rPr sz="1250" b="0">
                <a:solidFill>
                  <a:srgbClr val="E6E6E6"/>
                </a:solidFill>
                <a:latin typeface="Consolas"/>
              </a:rPr>
              <a:t> </a:t>
            </a:r>
          </a:p>
          <a:p>
            <a:r>
              <a:rPr sz="1250" b="0">
                <a:solidFill>
                  <a:srgbClr val="7EC699"/>
                </a:solidFill>
                <a:latin typeface="Consolas"/>
              </a:rPr>
              <a:t>-- Q2와 Q3은 Plan hash value까지 완전히 동일했다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Q1은 왜 인덱스를 탔는가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Q1의 Predicate Information — filter("BIRTH_DATE"&lt;='19901231')</a:t>
            </a:r>
          </a:p>
          <a:p>
            <a:r>
              <a:rPr sz="1600" b="0">
                <a:solidFill>
                  <a:srgbClr val="5A6672"/>
                </a:solidFill>
                <a:latin typeface="Malgun Gothic"/>
              </a:rPr>
              <a:t>    –  컬럼이 가공되지 않은 원본 그대로 조건에 나타난다</a:t>
            </a:r>
          </a:p>
          <a:p>
            <a:r>
              <a:rPr sz="1600" b="0">
                <a:solidFill>
                  <a:srgbClr val="5A6672"/>
                </a:solidFill>
                <a:latin typeface="Malgun Gothic"/>
              </a:rPr>
              <a:t>    –  BIRTH_DATE는 VARCHAR2이고 리터럴도 문자열이라 타입이 일치한다</a:t>
            </a:r>
          </a:p>
          <a:p>
            <a:r>
              <a:rPr sz="1600" b="0">
                <a:solidFill>
                  <a:srgbClr val="5A6672"/>
                </a:solidFill>
                <a:latin typeface="Malgun Gothic"/>
              </a:rPr>
              <a:t>    –  타입이 맞으므로 묵시적 형변환이 일어날 이유가 없다</a:t>
            </a:r>
          </a:p>
          <a:p>
            <a:r>
              <a:rPr sz="1800" b="0">
                <a:solidFill>
                  <a:srgbClr val="202830"/>
                </a:solidFill>
                <a:latin typeface="Malgun Gothic"/>
              </a:rPr>
              <a:t>•  그 결과 옵티마이저는 인덱스를 접근 경로 후보로 쓸 수 있었다</a:t>
            </a:r>
          </a:p>
          <a:p>
            <a:r>
              <a:rPr sz="1600" b="0">
                <a:solidFill>
                  <a:srgbClr val="5A6672"/>
                </a:solidFill>
                <a:latin typeface="Malgun Gothic"/>
              </a:rPr>
              <a:t>    –  실측 결과는 INDEX FAST FULL SCAN, Buffers 148</a:t>
            </a:r>
          </a:p>
          <a:p>
            <a:r>
              <a:rPr sz="1600" b="0">
                <a:solidFill>
                  <a:srgbClr val="5A6672"/>
                </a:solidFill>
                <a:latin typeface="Malgun Gothic"/>
              </a:rPr>
              <a:t>    –  조건 자체의 선택도가 낮아 인덱스를 통째로 읽는 방식이 선택됐다</a:t>
            </a:r>
          </a:p>
          <a:p>
            <a:r>
              <a:rPr sz="1800" b="0">
                <a:solidFill>
                  <a:srgbClr val="202830"/>
                </a:solidFill>
                <a:latin typeface="Malgun Gothic"/>
              </a:rPr>
              <a:t>•  그래도 테이블 전체를 읽는 것보다는 적게 읽는다</a:t>
            </a:r>
          </a:p>
          <a:p>
            <a:r>
              <a:rPr sz="1600" b="0">
                <a:solidFill>
                  <a:srgbClr val="5A6672"/>
                </a:solidFill>
                <a:latin typeface="Malgun Gothic"/>
              </a:rPr>
              <a:t>    –  인덱스에는 대상 컬럼과 ROWID만 들어 있어 블록당 담기는 항목 수가 많다</a:t>
            </a:r>
          </a:p>
          <a:p>
            <a:r>
              <a:rPr sz="1600" b="0">
                <a:solidFill>
                  <a:srgbClr val="5A6672"/>
                </a:solidFill>
                <a:latin typeface="Malgun Gothic"/>
              </a:rPr>
              <a:t>    –  COUNT(*)에 필요한 값이 인덱스 안에 다 있으므로 테이블을 볼 필요가 없다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해석 — TO_NUMBER는 누가 넣었는가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Q2의 Predicate Information — filter(TO_NUMBER("BIRTH_DATE")&lt;=19901231)</a:t>
            </a:r>
          </a:p>
          <a:p>
            <a:r>
              <a:rPr sz="1600" b="0">
                <a:solidFill>
                  <a:srgbClr val="5A6672"/>
                </a:solidFill>
                <a:latin typeface="Malgun Gothic"/>
              </a:rPr>
              <a:t>    –  개발자는 SQL 어디에도 TO_NUMBER를 쓰지 않았다</a:t>
            </a:r>
          </a:p>
          <a:p>
            <a:r>
              <a:rPr sz="1600" b="0">
                <a:solidFill>
                  <a:srgbClr val="5A6672"/>
                </a:solidFill>
                <a:latin typeface="Malgun Gothic"/>
              </a:rPr>
              <a:t>    –  그런데 실행계획에는 컬럼이 TO_NUMBER로 감싸인 형태로 나타난다</a:t>
            </a:r>
          </a:p>
          <a:p>
            <a:r>
              <a:rPr sz="1800" b="0">
                <a:solidFill>
                  <a:srgbClr val="202830"/>
                </a:solidFill>
                <a:latin typeface="Malgun Gothic"/>
              </a:rPr>
              <a:t>•  이것이 Oracle이 리터럴이 아니라 컬럼 쪽을 변환했다는 직접적인 증거다</a:t>
            </a:r>
          </a:p>
          <a:p>
            <a:r>
              <a:rPr sz="1600" b="0">
                <a:solidFill>
                  <a:srgbClr val="5A6672"/>
                </a:solidFill>
                <a:latin typeface="Malgun Gothic"/>
              </a:rPr>
              <a:t>    –  BIRTH_DATE는 VARCHAR2, 19901231은 따옴표가 없으므로 NUMBER 리터럴이다</a:t>
            </a:r>
          </a:p>
          <a:p>
            <a:r>
              <a:rPr sz="1600" b="0">
                <a:solidFill>
                  <a:srgbClr val="5A6672"/>
                </a:solidFill>
                <a:latin typeface="Malgun Gothic"/>
              </a:rPr>
              <a:t>    –  NUMBER가 우선순위가 높으므로 문자 쪽인 컬럼이 변환 대상이 됐다</a:t>
            </a:r>
          </a:p>
          <a:p>
            <a:r>
              <a:rPr sz="1800" b="0">
                <a:solidFill>
                  <a:srgbClr val="202830"/>
                </a:solidFill>
                <a:latin typeface="Malgun Gothic"/>
              </a:rPr>
              <a:t>•  변환된 순간 인덱스의 정렬 순서를 활용할 수 없게 됐다</a:t>
            </a:r>
          </a:p>
          <a:p>
            <a:r>
              <a:rPr sz="1600" b="0">
                <a:solidFill>
                  <a:srgbClr val="5A6672"/>
                </a:solidFill>
                <a:latin typeface="Malgun Gothic"/>
              </a:rPr>
              <a:t>    –  실측 결과는 TABLE ACCESS FULL, Buffers 442</a:t>
            </a:r>
          </a:p>
          <a:p>
            <a:r>
              <a:rPr sz="1600" b="0">
                <a:solidFill>
                  <a:srgbClr val="5A6672"/>
                </a:solidFill>
                <a:latin typeface="Malgun Gothic"/>
              </a:rPr>
              <a:t>    –  인덱스는 그대로 존재하지만 접근 경로로 선택되지 않았다</a:t>
            </a:r>
          </a:p>
          <a:p>
            <a:r>
              <a:rPr sz="1800" b="0">
                <a:solidFill>
                  <a:srgbClr val="202830"/>
                </a:solidFill>
                <a:latin typeface="Malgun Gothic"/>
              </a:rPr>
              <a:t>•  진단 절차의 결론 — Predicate Information에 컬럼이 감싸여 있으면 의심한다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Q2와 Q3의 계획이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실행계획은 Plan hash value까지 완전히 동일했다</a:t>
            </a:r>
          </a:p>
          <a:p>
            <a:r>
              <a:rPr sz="1600" b="0">
                <a:solidFill>
                  <a:srgbClr val="5A6672"/>
                </a:solidFill>
                <a:latin typeface="Malgun Gothic"/>
              </a:rPr>
              <a:t>    –  Q2는 개발자가 함수를 쓰지 않았고, Q3은 함수를 두 개나 썼다</a:t>
            </a:r>
          </a:p>
          <a:p>
            <a:r>
              <a:rPr sz="1600" b="0">
                <a:solidFill>
                  <a:srgbClr val="5A6672"/>
                </a:solidFill>
                <a:latin typeface="Malgun Gothic"/>
              </a:rPr>
              <a:t>    –  작성 방식이 전혀 다른데도 옵티마이저의 결론은 같았다</a:t>
            </a:r>
          </a:p>
          <a:p>
            <a:r>
              <a:rPr sz="1800" b="0">
                <a:solidFill>
                  <a:srgbClr val="202830"/>
                </a:solidFill>
                <a:latin typeface="Malgun Gothic"/>
              </a:rPr>
              <a:t>•  옵티마이저가 보는 것은 단 하나뿐이다</a:t>
            </a:r>
          </a:p>
          <a:p>
            <a:r>
              <a:rPr sz="1600" b="0">
                <a:solidFill>
                  <a:srgbClr val="5A6672"/>
                </a:solidFill>
                <a:latin typeface="Malgun Gothic"/>
              </a:rPr>
              <a:t>    –  누가 왜 이 함수를 넣었는가가 아니라 '인덱스 컬럼이 가공된 상태로 조건에 나타나는가'</a:t>
            </a:r>
          </a:p>
          <a:p>
            <a:r>
              <a:rPr sz="1600" b="0">
                <a:solidFill>
                  <a:srgbClr val="5A6672"/>
                </a:solidFill>
                <a:latin typeface="Malgun Gothic"/>
              </a:rPr>
              <a:t>    –  가공됐다면 원본 인덱스의 정렬 순서를 쓸 수 없다고 판단하고 동일하게 처리한다</a:t>
            </a:r>
          </a:p>
          <a:p>
            <a:r>
              <a:rPr sz="1800" b="0">
                <a:solidFill>
                  <a:srgbClr val="202830"/>
                </a:solidFill>
                <a:latin typeface="Malgun Gothic"/>
              </a:rPr>
              <a:t>•  여기서 나오는 실무적 결론</a:t>
            </a:r>
          </a:p>
          <a:p>
            <a:r>
              <a:rPr sz="1600" b="0">
                <a:solidFill>
                  <a:srgbClr val="5A6672"/>
                </a:solidFill>
                <a:latin typeface="Malgun Gothic"/>
              </a:rPr>
              <a:t>    –  실수로 생긴 문제와 의도적으로 만든 문제를 DB는 구분해 주지 않는다</a:t>
            </a:r>
          </a:p>
          <a:p>
            <a:r>
              <a:rPr sz="1600" b="0">
                <a:solidFill>
                  <a:srgbClr val="5A6672"/>
                </a:solidFill>
                <a:latin typeface="Malgun Gothic"/>
              </a:rPr>
              <a:t>    –  따라서 코드 리뷰 기준도 함수를 썼는가가 아니라 컬럼이 가공됐는가여야 한다</a:t>
            </a:r>
          </a:p>
          <a:p>
            <a:r>
              <a:rPr sz="1800" b="0">
                <a:solidFill>
                  <a:srgbClr val="202830"/>
                </a:solidFill>
                <a:latin typeface="Malgun Gothic"/>
              </a:rPr>
              <a:t>•  조건절을 읽을 때는 컬럼 이름이 괄호 안에 들어가 있는지부터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결과가 같으면 무시해도 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Q1과 Q2의 결과 건수는 둘 다 37,425건으로 동일했다</a:t>
            </a:r>
          </a:p>
          <a:p>
            <a:r>
              <a:rPr sz="1600" b="0">
                <a:solidFill>
                  <a:srgbClr val="5A6672"/>
                </a:solidFill>
                <a:latin typeface="Malgun Gothic"/>
              </a:rPr>
              <a:t>    –  그래서 결과가 같으니 성능 차이는 무시해도 된다는 주장이 나올 수 있다</a:t>
            </a:r>
          </a:p>
          <a:p>
            <a:r>
              <a:rPr sz="1800" b="0">
                <a:solidFill>
                  <a:srgbClr val="202830"/>
                </a:solidFill>
                <a:latin typeface="Malgun Gothic"/>
              </a:rPr>
              <a:t>•  반박 1 — 지금 이미 차이가 나 있다</a:t>
            </a:r>
          </a:p>
          <a:p>
            <a:r>
              <a:rPr sz="1600" b="0">
                <a:solidFill>
                  <a:srgbClr val="5A6672"/>
                </a:solidFill>
                <a:latin typeface="Malgun Gothic"/>
              </a:rPr>
              <a:t>    –  Buffers 148과 442로 약 3배 차이가 이미 관측됐다</a:t>
            </a:r>
          </a:p>
          <a:p>
            <a:r>
              <a:rPr sz="1600" b="0">
                <a:solidFill>
                  <a:srgbClr val="5A6672"/>
                </a:solidFill>
                <a:latin typeface="Malgun Gothic"/>
              </a:rPr>
              <a:t>    –  PATIENTS는 5만 건짜리 비교적 작은 테이블이라 체감이 크지 않을 뿐이다</a:t>
            </a:r>
          </a:p>
          <a:p>
            <a:r>
              <a:rPr sz="1800" b="0">
                <a:solidFill>
                  <a:srgbClr val="202830"/>
                </a:solidFill>
                <a:latin typeface="Malgun Gothic"/>
              </a:rPr>
              <a:t>•  반박 2 — 데이터가 커지면 격차 자체가 벌어진다</a:t>
            </a:r>
          </a:p>
          <a:p>
            <a:r>
              <a:rPr sz="1600" b="0">
                <a:solidFill>
                  <a:srgbClr val="5A6672"/>
                </a:solidFill>
                <a:latin typeface="Malgun Gothic"/>
              </a:rPr>
              <a:t>    –  TABLE ACCESS FULL은 테이블 크기에 비례해 읽는 양이 계속 커진다</a:t>
            </a:r>
          </a:p>
          <a:p>
            <a:r>
              <a:rPr sz="1600" b="0">
                <a:solidFill>
                  <a:srgbClr val="5A6672"/>
                </a:solidFill>
                <a:latin typeface="Malgun Gothic"/>
              </a:rPr>
              <a:t>    –  INDEX FAST FULL SCAN이나 RANGE SCAN은 훨씬 완만하게 증가한다</a:t>
            </a:r>
          </a:p>
          <a:p>
            <a:r>
              <a:rPr sz="1600" b="0">
                <a:solidFill>
                  <a:srgbClr val="5A6672"/>
                </a:solidFill>
                <a:latin typeface="Malgun Gothic"/>
              </a:rPr>
              <a:t>    –  지금은 3배지만 데이터가 커질수록 그 배율 자체가 더 커질 수 있다</a:t>
            </a:r>
          </a:p>
          <a:p>
            <a:r>
              <a:rPr sz="1800" b="0">
                <a:solidFill>
                  <a:srgbClr val="202830"/>
                </a:solidFill>
                <a:latin typeface="Malgun Gothic"/>
              </a:rPr>
              <a:t>•  결론 — '무시해도 된다'는 판단은 현재 데이터 규모에서만 유효하다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DATE 컬럼에서 같은 문제 재현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MEDICAL_CLAIMS.RECEIPT_DATE</a:t>
            </a:r>
          </a:p>
          <a:p>
            <a:r>
              <a:rPr sz="1600" b="0">
                <a:solidFill>
                  <a:srgbClr val="C5CED6"/>
                </a:solidFill>
                <a:latin typeface="Malgun Gothic"/>
              </a:rPr>
              <a:t>•  Q4 vs Q5 — 범위 조건과 TO_CHAR 가공</a:t>
            </a:r>
          </a:p>
          <a:p>
            <a:r>
              <a:rPr sz="1600" b="0">
                <a:solidFill>
                  <a:srgbClr val="C5CED6"/>
                </a:solidFill>
                <a:latin typeface="Malgun Gothic"/>
              </a:rPr>
              <a:t>•  월 단위 조회를 SARGable하게 쓰기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MEDICAL_CLAIMS.RECEIPT_DATE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RECEIPT_DATE는 DATE 타입 컬럼이다</a:t>
            </a:r>
          </a:p>
          <a:p>
            <a:r>
              <a:rPr sz="1600" b="0">
                <a:solidFill>
                  <a:srgbClr val="5A6672"/>
                </a:solidFill>
                <a:latin typeface="Malgun Gothic"/>
              </a:rPr>
              <a:t>    –  앞 절의 BIRTH_DATE와 달리 문자열이 아니라 진짜 날짜 타입이다</a:t>
            </a:r>
          </a:p>
          <a:p>
            <a:r>
              <a:rPr sz="1600" b="0">
                <a:solidFill>
                  <a:srgbClr val="5A6672"/>
                </a:solidFill>
                <a:latin typeface="Malgun Gothic"/>
              </a:rPr>
              <a:t>    –  이 컬럼에 인덱스를 만들고 같은 실험을 반복한다</a:t>
            </a:r>
          </a:p>
          <a:p>
            <a:r>
              <a:rPr sz="1800" b="0">
                <a:solidFill>
                  <a:srgbClr val="202830"/>
                </a:solidFill>
                <a:latin typeface="Malgun Gothic"/>
              </a:rPr>
              <a:t>•  업무 요구는 하나다 — 특정 월의 청구 데이터를 조회한다</a:t>
            </a:r>
          </a:p>
          <a:p>
            <a:r>
              <a:rPr sz="1600" b="0">
                <a:solidFill>
                  <a:srgbClr val="5A6672"/>
                </a:solidFill>
                <a:latin typeface="Malgun Gothic"/>
              </a:rPr>
              <a:t>    –  Q4 — 범위 조건으로 원본 값 그대로 비교한다</a:t>
            </a:r>
          </a:p>
          <a:p>
            <a:r>
              <a:rPr sz="1600" b="0">
                <a:solidFill>
                  <a:srgbClr val="5A6672"/>
                </a:solidFill>
                <a:latin typeface="Malgun Gothic"/>
              </a:rPr>
              <a:t>    –  Q5 — TO_CHAR로 월 단위 문자열을 만들어 비교한다</a:t>
            </a:r>
          </a:p>
          <a:p>
            <a:r>
              <a:rPr sz="1800" b="0">
                <a:solidFill>
                  <a:srgbClr val="202830"/>
                </a:solidFill>
                <a:latin typeface="Malgun Gothic"/>
              </a:rPr>
              <a:t>•  두 조건은 논리적으로 같은 결과를 가리킨다</a:t>
            </a:r>
          </a:p>
          <a:p>
            <a:r>
              <a:rPr sz="1600" b="0">
                <a:solidFill>
                  <a:srgbClr val="5A6672"/>
                </a:solidFill>
                <a:latin typeface="Malgun Gothic"/>
              </a:rPr>
              <a:t>    –  실측 결과 건수도 두 쿼리 모두 24,655건으로 완전히 같다</a:t>
            </a:r>
          </a:p>
          <a:p>
            <a:r>
              <a:rPr sz="1600" b="0">
                <a:solidFill>
                  <a:srgbClr val="5A6672"/>
                </a:solidFill>
                <a:latin typeface="Malgun Gothic"/>
              </a:rPr>
              <a:t>    –  따라서 성능 차이가 나온다면 원인은 결과가 아니라 표현 방식이다</a:t>
            </a:r>
          </a:p>
          <a:p>
            <a:r>
              <a:rPr sz="1800" b="0">
                <a:solidFill>
                  <a:srgbClr val="202830"/>
                </a:solidFill>
                <a:latin typeface="Malgun Gothic"/>
              </a:rPr>
              <a:t>•  앞 절과 같은 실험 설계다 — 변수는 조건절 표현 하나뿐이다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 범위 조건과 TO_CHAR 가공</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Bad SQL — 같은 결과를 내는 두 가지 월 단위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INDEX ix_receipt ON medical_claims(receipt_date);</a:t>
            </a:r>
          </a:p>
          <a:p>
            <a:r>
              <a:rPr sz="1250" b="0">
                <a:solidFill>
                  <a:srgbClr val="E6E6E6"/>
                </a:solidFill>
                <a:latin typeface="Consolas"/>
              </a:rPr>
              <a:t> </a:t>
            </a:r>
          </a:p>
          <a:p>
            <a:r>
              <a:rPr sz="1250" b="0">
                <a:solidFill>
                  <a:srgbClr val="7EC699"/>
                </a:solidFill>
                <a:latin typeface="Consolas"/>
              </a:rPr>
              <a:t>-- Q4. SARGable : 범위 조건으로 원본 값 그대로 비교</a:t>
            </a:r>
          </a:p>
          <a:p>
            <a:r>
              <a:rPr sz="1250" b="0">
                <a:solidFill>
                  <a:srgbClr val="E6E6E6"/>
                </a:solidFill>
                <a:latin typeface="Consolas"/>
              </a:rPr>
              <a:t>SELECT COUNT(*) FROM medical_claims</a:t>
            </a:r>
          </a:p>
          <a:p>
            <a:r>
              <a:rPr sz="1250" b="0">
                <a:solidFill>
                  <a:srgbClr val="E6E6E6"/>
                </a:solidFill>
                <a:latin typeface="Consolas"/>
              </a:rPr>
              <a:t>WHERE receipt_date &gt;= DATE'2024-06-01'</a:t>
            </a:r>
          </a:p>
          <a:p>
            <a:r>
              <a:rPr sz="1250" b="0">
                <a:solidFill>
                  <a:srgbClr val="E6E6E6"/>
                </a:solidFill>
                <a:latin typeface="Consolas"/>
              </a:rPr>
              <a:t>  AND receipt_date &lt;  DATE'2024-07-01';</a:t>
            </a:r>
          </a:p>
          <a:p>
            <a:r>
              <a:rPr sz="1250" b="0">
                <a:solidFill>
                  <a:srgbClr val="E6E6E6"/>
                </a:solidFill>
                <a:latin typeface="Consolas"/>
              </a:rPr>
              <a:t> </a:t>
            </a:r>
          </a:p>
          <a:p>
            <a:r>
              <a:rPr sz="1250" b="0">
                <a:solidFill>
                  <a:srgbClr val="7EC699"/>
                </a:solidFill>
                <a:latin typeface="Consolas"/>
              </a:rPr>
              <a:t>-- Q5. 위반 : 컬럼을 TO_CHAR로 가공해 월 단위 문자열과 비교</a:t>
            </a:r>
          </a:p>
          <a:p>
            <a:r>
              <a:rPr sz="1250" b="0">
                <a:solidFill>
                  <a:srgbClr val="E6E6E6"/>
                </a:solidFill>
                <a:latin typeface="Consolas"/>
              </a:rPr>
              <a:t>SELECT COUNT(*) FROM medical_claims</a:t>
            </a:r>
          </a:p>
          <a:p>
            <a:r>
              <a:rPr sz="1250" b="0">
                <a:solidFill>
                  <a:srgbClr val="E6E6E6"/>
                </a:solidFill>
                <a:latin typeface="Consolas"/>
              </a:rPr>
              <a:t>WHERE TO_CHAR(receipt_date,'YYYYMM') = '202406';</a:t>
            </a:r>
          </a:p>
          <a:p>
            <a:r>
              <a:rPr sz="1250" b="0">
                <a:solidFill>
                  <a:srgbClr val="E6E6E6"/>
                </a:solidFill>
                <a:latin typeface="Consolas"/>
              </a:rPr>
              <a:t> </a:t>
            </a:r>
          </a:p>
          <a:p>
            <a:r>
              <a:rPr sz="1250" b="0">
                <a:solidFill>
                  <a:srgbClr val="7EC699"/>
                </a:solidFill>
                <a:latin typeface="Consolas"/>
              </a:rPr>
              <a:t>-- 두 조건이 뜻하는 기간은 같다 — 결과 건수도 둘 다 24,655건</a:t>
            </a:r>
          </a:p>
          <a:p>
            <a:r>
              <a:rPr sz="1250" b="0">
                <a:solidFill>
                  <a:srgbClr val="7EC699"/>
                </a:solidFill>
                <a:latin typeface="Consolas"/>
              </a:rPr>
              <a:t>-- Q4는 컬럼이 원본 그대로, Q5는 컬럼이 TO_CHAR로 감싸여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vs Q5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6.6절 Execution Plan — 결과는 같고 읽은 블록 수만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 Buffers |</a:t>
            </a:r>
          </a:p>
          <a:p>
            <a:r>
              <a:rPr sz="1250" b="0">
                <a:solidFill>
                  <a:srgbClr val="E6E6E6"/>
                </a:solidFill>
                <a:latin typeface="Consolas"/>
              </a:rPr>
              <a:t>+---------------------+--------------------+---------+</a:t>
            </a:r>
          </a:p>
          <a:p>
            <a:r>
              <a:rPr sz="1250" b="0">
                <a:solidFill>
                  <a:srgbClr val="E6E6E6"/>
                </a:solidFill>
                <a:latin typeface="Consolas"/>
              </a:rPr>
              <a:t>| Q4 (범위 조건)      | INDEX RANGE SCAN   |      68 |</a:t>
            </a:r>
          </a:p>
          <a:p>
            <a:r>
              <a:rPr sz="1250" b="0">
                <a:solidFill>
                  <a:srgbClr val="E6E6E6"/>
                </a:solidFill>
                <a:latin typeface="Consolas"/>
              </a:rPr>
              <a:t>| Q5 (TO_CHAR 가공)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Predicate Information</a:t>
            </a:r>
          </a:p>
          <a:p>
            <a:r>
              <a:rPr sz="1250" b="0">
                <a:solidFill>
                  <a:srgbClr val="7EC699"/>
                </a:solidFill>
                <a:latin typeface="Consolas"/>
              </a:rPr>
              <a:t>--   Q4 : access("RECEIPT_DATE"&gt;=... AND "RECEIPT_DATE"&lt;...)</a:t>
            </a:r>
          </a:p>
          <a:p>
            <a:r>
              <a:rPr sz="1250" b="0">
                <a:solidFill>
                  <a:srgbClr val="7EC699"/>
                </a:solidFill>
                <a:latin typeface="Consolas"/>
              </a:rPr>
              <a:t>--   Q5 : filter(TO_CHAR(...,'YYYYMM')='202406')</a:t>
            </a:r>
          </a:p>
          <a:p>
            <a:r>
              <a:rPr sz="1250" b="0">
                <a:solidFill>
                  <a:srgbClr val="E6E6E6"/>
                </a:solidFill>
                <a:latin typeface="Consolas"/>
              </a:rPr>
              <a:t> </a:t>
            </a:r>
          </a:p>
          <a:p>
            <a:r>
              <a:rPr sz="1250" b="0">
                <a:solidFill>
                  <a:srgbClr val="7EC699"/>
                </a:solidFill>
                <a:latin typeface="Consolas"/>
              </a:rPr>
              <a:t>-- Q4는 access, Q5는 filter</a:t>
            </a:r>
          </a:p>
          <a:p>
            <a:r>
              <a:rPr sz="1250" b="0">
                <a:solidFill>
                  <a:srgbClr val="7EC699"/>
                </a:solidFill>
                <a:latin typeface="Consolas"/>
              </a:rPr>
              <a:t>--   access : 인덱스에서 그 조건으로 '찾아갔다'  -&gt; 읽는 양 자체가 줄어든다</a:t>
            </a:r>
          </a:p>
          <a:p>
            <a:r>
              <a:rPr sz="1250" b="0">
                <a:solidFill>
                  <a:srgbClr val="7EC699"/>
                </a:solidFill>
                <a:latin typeface="Consolas"/>
              </a:rPr>
              <a:t>--   filter : 읽어 온 행을 그 조건으로 '걸러냈다' -&gt; 읽는 양은 줄지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결과는 같은데 Buffers는 45배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결과 건수는 24,655건으로 완전히 같다</a:t>
            </a:r>
          </a:p>
          <a:p>
            <a:r>
              <a:rPr sz="1600" b="0">
                <a:solidFill>
                  <a:srgbClr val="5A6672"/>
                </a:solidFill>
                <a:latin typeface="Malgun Gothic"/>
              </a:rPr>
              <a:t>    –  그런데 Buffers는 68과 3,090으로 45배 이상 차이가 난다</a:t>
            </a:r>
          </a:p>
          <a:p>
            <a:r>
              <a:rPr sz="1800" b="0">
                <a:solidFill>
                  <a:srgbClr val="202830"/>
                </a:solidFill>
                <a:latin typeface="Malgun Gothic"/>
              </a:rPr>
              <a:t>•  Q5가 느린 이유 — 컬럼을 변환한 뒤 비교하기 때문</a:t>
            </a:r>
          </a:p>
          <a:p>
            <a:r>
              <a:rPr sz="1600" b="0">
                <a:solidFill>
                  <a:srgbClr val="5A6672"/>
                </a:solidFill>
                <a:latin typeface="Malgun Gothic"/>
              </a:rPr>
              <a:t>    –  인덱스가 원본 DATE 값 순서로 정렬돼 있다는 사실을 활용할 수 없다</a:t>
            </a:r>
          </a:p>
          <a:p>
            <a:r>
              <a:rPr sz="1600" b="0">
                <a:solidFill>
                  <a:srgbClr val="5A6672"/>
                </a:solidFill>
                <a:latin typeface="Malgun Gothic"/>
              </a:rPr>
              <a:t>    –  모든 행을 일일이 문자열로 변환해서 비교해야 하므로 전체를 읽어야 한다</a:t>
            </a:r>
          </a:p>
          <a:p>
            <a:r>
              <a:rPr sz="1800" b="0">
                <a:solidFill>
                  <a:srgbClr val="202830"/>
                </a:solidFill>
                <a:latin typeface="Malgun Gothic"/>
              </a:rPr>
              <a:t>•  Q4가 빠른 이유 — 컬럼을 전혀 가공하지 않기 때문</a:t>
            </a:r>
          </a:p>
          <a:p>
            <a:r>
              <a:rPr sz="1600" b="0">
                <a:solidFill>
                  <a:srgbClr val="5A6672"/>
                </a:solidFill>
                <a:latin typeface="Malgun Gothic"/>
              </a:rPr>
              <a:t>    –  원본 값 그대로 범위를 비교하므로 인덱스에서 시작·끝 위치를 바로 찾아간다</a:t>
            </a:r>
          </a:p>
          <a:p>
            <a:r>
              <a:rPr sz="1600" b="0">
                <a:solidFill>
                  <a:srgbClr val="5A6672"/>
                </a:solidFill>
                <a:latin typeface="Malgun Gothic"/>
              </a:rPr>
              <a:t>    –  그 구간에 해당하는 항목만 읽으면 되므로 읽는 양이 조건 범위에 비례한다</a:t>
            </a:r>
          </a:p>
          <a:p>
            <a:r>
              <a:rPr sz="1800" b="0">
                <a:solidFill>
                  <a:srgbClr val="202830"/>
                </a:solidFill>
                <a:latin typeface="Malgun Gothic"/>
              </a:rPr>
              <a:t>•  결론 — 최종 결과 집합이 같더라도 옵티마이저가 인식하는 형태가 전혀 다르다</a:t>
            </a:r>
          </a:p>
          <a:p>
            <a:r>
              <a:rPr sz="1600" b="0">
                <a:solidFill>
                  <a:srgbClr val="5A6672"/>
                </a:solidFill>
                <a:latin typeface="Malgun Gothic"/>
              </a:rPr>
              <a:t>    –  논리적 동등성과 SARGable 여부는 별개의 문제다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월 단위 조회를 SARGable하게 쓰기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달 데이터를 가져오자'는 요구는 어디에나 있다</a:t>
            </a:r>
          </a:p>
          <a:p>
            <a:r>
              <a:rPr sz="1600" b="0">
                <a:solidFill>
                  <a:srgbClr val="5A6672"/>
                </a:solidFill>
                <a:latin typeface="Malgun Gothic"/>
              </a:rPr>
              <a:t>    –  흔한 구현 — TO_CHAR(receipt_date,'YYYYMM') = TO_CHAR(SYSDATE,'YYYYMM')</a:t>
            </a:r>
          </a:p>
          <a:p>
            <a:r>
              <a:rPr sz="1600" b="0">
                <a:solidFill>
                  <a:srgbClr val="5A6672"/>
                </a:solidFill>
                <a:latin typeface="Malgun Gothic"/>
              </a:rPr>
              <a:t>    –  읽기는 쉽지만 컬럼을 가공하므로 Q5와 똑같은 문제가 발생한다</a:t>
            </a:r>
          </a:p>
          <a:p>
            <a:r>
              <a:rPr sz="1800" b="0">
                <a:solidFill>
                  <a:srgbClr val="202830"/>
                </a:solidFill>
                <a:latin typeface="Malgun Gothic"/>
              </a:rPr>
              <a:t>•  재작성 원칙 — 가공은 컬럼이 아니라 기준값 쪽에서 한다</a:t>
            </a:r>
          </a:p>
          <a:p>
            <a:r>
              <a:rPr sz="1600" b="0">
                <a:solidFill>
                  <a:srgbClr val="5A6672"/>
                </a:solidFill>
                <a:latin typeface="Malgun Gothic"/>
              </a:rPr>
              <a:t>    –  receipt_date &gt;= TRUNC(SYSDATE,'MM')</a:t>
            </a:r>
          </a:p>
          <a:p>
            <a:r>
              <a:rPr sz="1600" b="0">
                <a:solidFill>
                  <a:srgbClr val="5A6672"/>
                </a:solidFill>
                <a:latin typeface="Malgun Gothic"/>
              </a:rPr>
              <a:t>    –  AND receipt_date &lt; ADD_MONTHS(TRUNC(SYSDATE,'MM'), 1)</a:t>
            </a:r>
          </a:p>
          <a:p>
            <a:r>
              <a:rPr sz="1600" b="0">
                <a:solidFill>
                  <a:srgbClr val="5A6672"/>
                </a:solidFill>
                <a:latin typeface="Malgun Gothic"/>
              </a:rPr>
              <a:t>    –  SYSDATE 쪽 계산은 실행 전에 상수처럼 한 번 결정되고 끝난다</a:t>
            </a:r>
          </a:p>
          <a:p>
            <a:r>
              <a:rPr sz="1600" b="0">
                <a:solidFill>
                  <a:srgbClr val="5A6672"/>
                </a:solidFill>
                <a:latin typeface="Malgun Gothic"/>
              </a:rPr>
              <a:t>    –  receipt_date 컬럼 자체는 전혀 가공되지 않으므로 인덱스를 그대로 탄다</a:t>
            </a:r>
          </a:p>
          <a:p>
            <a:r>
              <a:rPr sz="1800" b="0">
                <a:solidFill>
                  <a:srgbClr val="202830"/>
                </a:solidFill>
                <a:latin typeface="Malgun Gothic"/>
              </a:rPr>
              <a:t>•  이 패턴이 기간 조회의 표준형이다</a:t>
            </a:r>
          </a:p>
          <a:p>
            <a:r>
              <a:rPr sz="1600" b="0">
                <a:solidFill>
                  <a:srgbClr val="5A6672"/>
                </a:solidFill>
                <a:latin typeface="Malgun Gothic"/>
              </a:rPr>
              <a:t>    –  시작은 이상(&gt;=), 끝은 다음 구간 시작 미만(&lt;)으로 쓴다</a:t>
            </a:r>
          </a:p>
          <a:p>
            <a:r>
              <a:rPr sz="1600" b="0">
                <a:solidFill>
                  <a:srgbClr val="5A6672"/>
                </a:solidFill>
                <a:latin typeface="Malgun Gothic"/>
              </a:rPr>
              <a:t>    –  날짜형에서 이하(&lt;=)를 쓰면 시분초가 붙은 값이 누락될 수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재작성 패턴 모음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6.6~6.7절 Tuning — 실습 해설에 나온 재작성 사례 정리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이번 달 데이터 조회</a:t>
            </a:r>
          </a:p>
          <a:p>
            <a:r>
              <a:rPr sz="1250" b="0">
                <a:solidFill>
                  <a:srgbClr val="7EC699"/>
                </a:solidFill>
                <a:latin typeface="Consolas"/>
              </a:rPr>
              <a:t>--    위반 : WHERE TO_CHAR(receipt_date,'YYYYMM') = TO_CHAR(SYSDATE,'YYYYMM')</a:t>
            </a:r>
          </a:p>
          <a:p>
            <a:r>
              <a:rPr sz="1250" b="0">
                <a:solidFill>
                  <a:srgbClr val="7EC699"/>
                </a:solidFill>
                <a:latin typeface="Consolas"/>
              </a:rPr>
              <a:t>--    개선</a:t>
            </a:r>
          </a:p>
          <a:p>
            <a:r>
              <a:rPr sz="1250" b="0">
                <a:solidFill>
                  <a:srgbClr val="E6E6E6"/>
                </a:solidFill>
                <a:latin typeface="Consolas"/>
              </a:rPr>
              <a:t>WHERE receipt_date &gt;= TRUNC(SYSDATE,'MM')</a:t>
            </a:r>
          </a:p>
          <a:p>
            <a:r>
              <a:rPr sz="1250" b="0">
                <a:solidFill>
                  <a:srgbClr val="E6E6E6"/>
                </a:solidFill>
                <a:latin typeface="Consolas"/>
              </a:rPr>
              <a:t>AND   receipt_date &lt;  ADD_MONTHS(TRUNC(SYSDATE,'MM'), 1)</a:t>
            </a:r>
          </a:p>
          <a:p>
            <a:r>
              <a:rPr sz="1250" b="0">
                <a:solidFill>
                  <a:srgbClr val="E6E6E6"/>
                </a:solidFill>
                <a:latin typeface="Consolas"/>
              </a:rPr>
              <a:t> </a:t>
            </a:r>
          </a:p>
          <a:p>
            <a:r>
              <a:rPr sz="1250" b="0">
                <a:solidFill>
                  <a:srgbClr val="7EC699"/>
                </a:solidFill>
                <a:latin typeface="Consolas"/>
              </a:rPr>
              <a:t>-- 2) 1990년대생 환자 조회  (BIRTH_DATE는 VARCHAR2 YYYYMMDD)</a:t>
            </a:r>
          </a:p>
          <a:p>
            <a:r>
              <a:rPr sz="1250" b="0">
                <a:solidFill>
                  <a:srgbClr val="E6E6E6"/>
                </a:solidFill>
                <a:latin typeface="Consolas"/>
              </a:rPr>
              <a:t>WHERE birth_date BETWEEN '19900101' AND '19991231'            -- 방법 1</a:t>
            </a:r>
          </a:p>
          <a:p>
            <a:r>
              <a:rPr sz="1250" b="0">
                <a:solidFill>
                  <a:srgbClr val="E6E6E6"/>
                </a:solidFill>
                <a:latin typeface="Consolas"/>
              </a:rPr>
              <a:t>WHERE birth_date &gt;= '19900101' AND birth_date &lt; '20000101'    -- 방법 2</a:t>
            </a:r>
          </a:p>
          <a:p>
            <a:r>
              <a:rPr sz="1250" b="0">
                <a:solidFill>
                  <a:srgbClr val="E6E6E6"/>
                </a:solidFill>
                <a:latin typeface="Consolas"/>
              </a:rPr>
              <a:t> </a:t>
            </a:r>
          </a:p>
          <a:p>
            <a:r>
              <a:rPr sz="1250" b="0">
                <a:solidFill>
                  <a:srgbClr val="7EC699"/>
                </a:solidFill>
                <a:latin typeface="Consolas"/>
              </a:rPr>
              <a:t>-- 3) 코드 리뷰 사례  (HOSP_ID는 NUMBER 컬럼)</a:t>
            </a:r>
          </a:p>
          <a:p>
            <a:r>
              <a:rPr sz="1250" b="0">
                <a:solidFill>
                  <a:srgbClr val="7EC699"/>
                </a:solidFill>
                <a:latin typeface="Consolas"/>
              </a:rPr>
              <a:t>--    위반 : WHERE hosp_id || '' = '100'   &lt;- 컬럼을 문자열로 가공</a:t>
            </a:r>
          </a:p>
          <a:p>
            <a:r>
              <a:rPr sz="1250" b="0">
                <a:solidFill>
                  <a:srgbClr val="7EC699"/>
                </a:solidFill>
                <a:latin typeface="Consolas"/>
              </a:rPr>
              <a:t>--    개선 : WHERE hosp_id = 100           &lt;- 타입 일치, 가공 없음</a:t>
            </a:r>
          </a:p>
          <a:p>
            <a:r>
              <a:rPr sz="1250" b="0">
                <a:solidFill>
                  <a:srgbClr val="E6E6E6"/>
                </a:solidFill>
                <a:latin typeface="Consolas"/>
              </a:rPr>
              <a:t> </a:t>
            </a:r>
          </a:p>
          <a:p>
            <a:r>
              <a:rPr sz="1250" b="0">
                <a:solidFill>
                  <a:srgbClr val="7EC699"/>
                </a:solidFill>
                <a:latin typeface="Consolas"/>
              </a:rPr>
              <a:t>-- 공통 원칙 : 가공은 컬럼이 아니라 리터럴·상수 쪽에서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그 밖의 SARGable 위반 패턴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LIKE와 와일드카드의 위치</a:t>
            </a:r>
          </a:p>
          <a:p>
            <a:r>
              <a:rPr sz="1600" b="0">
                <a:solidFill>
                  <a:srgbClr val="C5CED6"/>
                </a:solidFill>
                <a:latin typeface="Malgun Gothic"/>
              </a:rPr>
              <a:t>•  부정 조건과 인덱스</a:t>
            </a:r>
          </a:p>
          <a:p>
            <a:r>
              <a:rPr sz="1600" b="0">
                <a:solidFill>
                  <a:srgbClr val="C5CED6"/>
                </a:solidFill>
                <a:latin typeface="Malgun Gothic"/>
              </a:rPr>
              <a:t>•  IS NULL과 B-Tree 인덱스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LIKE와 와일드카드의 위치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LIKE '%검색어%' — 앞에 %가 붙는 패턴</a:t>
            </a:r>
          </a:p>
          <a:p>
            <a:r>
              <a:rPr sz="1600" b="0">
                <a:solidFill>
                  <a:srgbClr val="5A6672"/>
                </a:solidFill>
                <a:latin typeface="Malgun Gothic"/>
              </a:rPr>
              <a:t>    –  인덱스는 값을 왼쪽부터 정렬해서 저장한다</a:t>
            </a:r>
          </a:p>
          <a:p>
            <a:r>
              <a:rPr sz="1600" b="0">
                <a:solidFill>
                  <a:srgbClr val="5A6672"/>
                </a:solidFill>
                <a:latin typeface="Malgun Gothic"/>
              </a:rPr>
              <a:t>    –  중간부터 일치하는 값은 정렬 순서상 어디에 있는지 특정할 수 없다</a:t>
            </a:r>
          </a:p>
          <a:p>
            <a:r>
              <a:rPr sz="1600" b="0">
                <a:solidFill>
                  <a:srgbClr val="5A6672"/>
                </a:solidFill>
                <a:latin typeface="Malgun Gothic"/>
              </a:rPr>
              <a:t>    –  결국 전체를 훑어야 하므로 일반 B-Tree 인덱스로는 지원할 수 없다</a:t>
            </a:r>
          </a:p>
          <a:p>
            <a:r>
              <a:rPr sz="1600" b="0">
                <a:solidFill>
                  <a:srgbClr val="5A6672"/>
                </a:solidFill>
                <a:latin typeface="Malgun Gothic"/>
              </a:rPr>
              <a:t>    –  전문 검색 인덱스 등 별도 기법이 필요하며 본 과정 범위 밖이다</a:t>
            </a:r>
          </a:p>
          <a:p>
            <a:r>
              <a:rPr sz="1800" b="0">
                <a:solidFill>
                  <a:srgbClr val="202830"/>
                </a:solidFill>
                <a:latin typeface="Malgun Gothic"/>
              </a:rPr>
              <a:t>•  LIKE '검색어%' — 뒤에만 %가 붙는 패턴</a:t>
            </a:r>
          </a:p>
          <a:p>
            <a:r>
              <a:rPr sz="1600" b="0">
                <a:solidFill>
                  <a:srgbClr val="5A6672"/>
                </a:solidFill>
                <a:latin typeface="Malgun Gothic"/>
              </a:rPr>
              <a:t>    –  '이 문자열로 시작하는 값'을 찾는 것이므로 시작 지점을 바로 찾아갈 수 있다</a:t>
            </a:r>
          </a:p>
          <a:p>
            <a:r>
              <a:rPr sz="1600" b="0">
                <a:solidFill>
                  <a:srgbClr val="5A6672"/>
                </a:solidFill>
                <a:latin typeface="Malgun Gothic"/>
              </a:rPr>
              <a:t>    –  정렬된 순서에서 연속된 구간에 모여 있으므로 RANGE SCAN으로 처리 가능하다</a:t>
            </a:r>
          </a:p>
          <a:p>
            <a:r>
              <a:rPr sz="1800" b="0">
                <a:solidFill>
                  <a:srgbClr val="202830"/>
                </a:solidFill>
                <a:latin typeface="Malgun Gothic"/>
              </a:rPr>
              <a:t>•  LIKE '%검색어' — 앞에만 %가 붙는 패턴</a:t>
            </a:r>
          </a:p>
          <a:p>
            <a:r>
              <a:rPr sz="1600" b="0">
                <a:solidFill>
                  <a:srgbClr val="5A6672"/>
                </a:solidFill>
                <a:latin typeface="Malgun Gothic"/>
              </a:rPr>
              <a:t>    –  끝부분이 일치해야 하므로 앞쪽 정렬 순서로는 시작 지점을 특정할 수 없다</a:t>
            </a:r>
          </a:p>
          <a:p>
            <a:r>
              <a:rPr sz="1800" b="0">
                <a:solidFill>
                  <a:srgbClr val="202830"/>
                </a:solidFill>
                <a:latin typeface="Malgun Gothic"/>
              </a:rPr>
              <a:t>•  판정 기준 — 와일드카드가 앞에 오는가만 보면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부정 조건과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부정 조건 — !=, NOT IN, NOT LIKE</a:t>
            </a:r>
          </a:p>
          <a:p>
            <a:r>
              <a:rPr sz="1600" b="0">
                <a:solidFill>
                  <a:srgbClr val="5A6672"/>
                </a:solidFill>
                <a:latin typeface="Malgun Gothic"/>
              </a:rPr>
              <a:t>    –  인덱스는 특정 값과 같은 것 또는 특정 범위 안에 있는 것을 찾는 데 최적화돼 있다</a:t>
            </a:r>
          </a:p>
          <a:p>
            <a:r>
              <a:rPr sz="1600" b="0">
                <a:solidFill>
                  <a:srgbClr val="5A6672"/>
                </a:solidFill>
                <a:latin typeface="Malgun Gothic"/>
              </a:rPr>
              <a:t>    –  연속된 한 구간을 찾아가는 구조라는 뜻이다</a:t>
            </a:r>
          </a:p>
          <a:p>
            <a:r>
              <a:rPr sz="1800" b="0">
                <a:solidFill>
                  <a:srgbClr val="202830"/>
                </a:solidFill>
                <a:latin typeface="Malgun Gothic"/>
              </a:rPr>
              <a:t>•  '이 값이 아닌 모든 것'은 연속된 구간으로 표현하기 어렵다</a:t>
            </a:r>
          </a:p>
          <a:p>
            <a:r>
              <a:rPr sz="1600" b="0">
                <a:solidFill>
                  <a:srgbClr val="5A6672"/>
                </a:solidFill>
                <a:latin typeface="Malgun Gothic"/>
              </a:rPr>
              <a:t>    –  전체에서 한 구간만 빼는 형태이므로 나머지 전부가 대상이 된다</a:t>
            </a:r>
          </a:p>
          <a:p>
            <a:r>
              <a:rPr sz="1600" b="0">
                <a:solidFill>
                  <a:srgbClr val="5A6672"/>
                </a:solidFill>
                <a:latin typeface="Malgun Gothic"/>
              </a:rPr>
              <a:t>    –  읽어야 할 대상이 거의 전체라면 인덱스를 경유하는 이점이 사라진다</a:t>
            </a:r>
          </a:p>
          <a:p>
            <a:r>
              <a:rPr sz="1600" b="0">
                <a:solidFill>
                  <a:srgbClr val="5A6672"/>
                </a:solidFill>
                <a:latin typeface="Malgun Gothic"/>
              </a:rPr>
              <a:t>    –  그래서 대개 Full Scan으로 처리된다</a:t>
            </a:r>
          </a:p>
          <a:p>
            <a:r>
              <a:rPr sz="1800" b="0">
                <a:solidFill>
                  <a:srgbClr val="202830"/>
                </a:solidFill>
                <a:latin typeface="Malgun Gothic"/>
              </a:rPr>
              <a:t>•  실무에서의 대응 방향</a:t>
            </a:r>
          </a:p>
          <a:p>
            <a:r>
              <a:rPr sz="1600" b="0">
                <a:solidFill>
                  <a:srgbClr val="5A6672"/>
                </a:solidFill>
                <a:latin typeface="Malgun Gothic"/>
              </a:rPr>
              <a:t>    –  가능하면 긍정 조건으로 바꿔 쓸 수 있는지 먼저 검토한다</a:t>
            </a:r>
          </a:p>
          <a:p>
            <a:r>
              <a:rPr sz="1600" b="0">
                <a:solidFill>
                  <a:srgbClr val="5A6672"/>
                </a:solidFill>
                <a:latin typeface="Malgun Gothic"/>
              </a:rPr>
              <a:t>    –  값의 종류가 적다면 원하는 값들을 IN으로 나열하는 편이 나을 수 있다</a:t>
            </a:r>
          </a:p>
          <a:p>
            <a:r>
              <a:rPr sz="1600" b="0">
                <a:solidFill>
                  <a:srgbClr val="5A6672"/>
                </a:solidFill>
                <a:latin typeface="Malgun Gothic"/>
              </a:rPr>
              <a:t>    –  조건 자체를 바꿀 수 없다면 다른 조건으로 대상을 좁힐 수 있는지 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IS NULL과 B-Tree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일반 B-Tree 인덱스는 인덱스 구성 컬럼 값이 모두 NULL인 행을 저장하지 않는다</a:t>
            </a:r>
          </a:p>
          <a:p>
            <a:r>
              <a:rPr sz="1600" b="0">
                <a:solidFill>
                  <a:srgbClr val="5A6672"/>
                </a:solidFill>
                <a:latin typeface="Malgun Gothic"/>
              </a:rPr>
              <a:t>    –  NULL은 값이 아니라 값이 없는 상태이므로 정렬 위치를 정할 수 없기 때문이다</a:t>
            </a:r>
          </a:p>
          <a:p>
            <a:r>
              <a:rPr sz="1600" b="0">
                <a:solidFill>
                  <a:srgbClr val="5A6672"/>
                </a:solidFill>
                <a:latin typeface="Malgun Gothic"/>
              </a:rPr>
              <a:t>    –  저장되지 않았으니 인덱스 안에 찾을 대상 자체가 없다</a:t>
            </a:r>
          </a:p>
          <a:p>
            <a:r>
              <a:rPr sz="1800" b="0">
                <a:solidFill>
                  <a:srgbClr val="202830"/>
                </a:solidFill>
                <a:latin typeface="Malgun Gothic"/>
              </a:rPr>
              <a:t>•  그래서 IS NULL 조건은 그 인덱스를 쓸 수 없다</a:t>
            </a:r>
          </a:p>
          <a:p>
            <a:r>
              <a:rPr sz="1600" b="0">
                <a:solidFill>
                  <a:srgbClr val="5A6672"/>
                </a:solidFill>
                <a:latin typeface="Malgun Gothic"/>
              </a:rPr>
              <a:t>    –  인덱스가 있어도 NULL인 행은 인덱스만으로 찾아낼 방법이 없다</a:t>
            </a:r>
          </a:p>
          <a:p>
            <a:r>
              <a:rPr sz="1800" b="0">
                <a:solidFill>
                  <a:srgbClr val="202830"/>
                </a:solidFill>
                <a:latin typeface="Malgun Gothic"/>
              </a:rPr>
              <a:t>•  예외 — 복합 인덱스의 일부 컬럼만 NULL인 경우</a:t>
            </a:r>
          </a:p>
          <a:p>
            <a:r>
              <a:rPr sz="1600" b="0">
                <a:solidFill>
                  <a:srgbClr val="5A6672"/>
                </a:solidFill>
                <a:latin typeface="Malgun Gothic"/>
              </a:rPr>
              <a:t>    –  구성 컬럼 중 하나라도 값이 있으면 그 행은 인덱스에 저장된다</a:t>
            </a:r>
          </a:p>
          <a:p>
            <a:r>
              <a:rPr sz="1600" b="0">
                <a:solidFill>
                  <a:srgbClr val="5A6672"/>
                </a:solidFill>
                <a:latin typeface="Malgun Gothic"/>
              </a:rPr>
              <a:t>    –  따라서 복합 인덱스에서는 상황에 따라 활용 가능한 경우가 있다</a:t>
            </a:r>
          </a:p>
          <a:p>
            <a:r>
              <a:rPr sz="1800" b="0">
                <a:solidFill>
                  <a:srgbClr val="202830"/>
                </a:solidFill>
                <a:latin typeface="Malgun Gothic"/>
              </a:rPr>
              <a:t>•  설계 단계에서 함께 생각할 것</a:t>
            </a:r>
          </a:p>
          <a:p>
            <a:r>
              <a:rPr sz="1600" b="0">
                <a:solidFill>
                  <a:srgbClr val="5A6672"/>
                </a:solidFill>
                <a:latin typeface="Malgun Gothic"/>
              </a:rPr>
              <a:t>    –  자주 조회되는 컬럼이라면 NULL 대신 기본값을 쓰는 설계를 검토할 수 있다</a:t>
            </a:r>
          </a:p>
          <a:p>
            <a:r>
              <a:rPr sz="1600" b="0">
                <a:solidFill>
                  <a:srgbClr val="5A6672"/>
                </a:solidFill>
                <a:latin typeface="Malgun Gothic"/>
              </a:rPr>
              <a:t>    –  다만 NULL과 기본값은 의미가 다르므로 업무 정의부터 확인해야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6.8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종합과 판정 체크리스트</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컬럼 실측 종합</a:t>
            </a:r>
          </a:p>
          <a:p>
            <a:r>
              <a:rPr sz="1600" b="0">
                <a:solidFill>
                  <a:srgbClr val="C5CED6"/>
                </a:solidFill>
                <a:latin typeface="Malgun Gothic"/>
              </a:rPr>
              <a:t>•  SARGable 판정 체크리스트</a:t>
            </a:r>
          </a:p>
          <a:p>
            <a:r>
              <a:rPr sz="1600" b="0">
                <a:solidFill>
                  <a:srgbClr val="C5CED6"/>
                </a:solidFill>
                <a:latin typeface="Malgun Gothic"/>
              </a:rPr>
              <a:t>•  요약과 실습 안내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두 컬럼 실측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6.8절 Benchmark — 타입도 위반 방식도 다르지만 결론은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컬럼                        | SARGable 조건     | 위반 조건              | Buffers 차이    |</a:t>
            </a:r>
          </a:p>
          <a:p>
            <a:r>
              <a:rPr sz="1250" b="0">
                <a:solidFill>
                  <a:srgbClr val="E6E6E6"/>
                </a:solidFill>
                <a:latin typeface="Consolas"/>
              </a:rPr>
              <a:t>+-----------------------------+-------------------+------------------------+-----------------+</a:t>
            </a:r>
          </a:p>
          <a:p>
            <a:r>
              <a:rPr sz="1250" b="0">
                <a:solidFill>
                  <a:srgbClr val="E6E6E6"/>
                </a:solidFill>
                <a:latin typeface="Consolas"/>
              </a:rPr>
              <a:t>| PATIENTS.BIRTH_DATE         | &lt;= '19901231'     | &lt;= 19901231 (형변환)   | 148 vs 442      |</a:t>
            </a:r>
          </a:p>
          <a:p>
            <a:r>
              <a:rPr sz="1250" b="0">
                <a:solidFill>
                  <a:srgbClr val="E6E6E6"/>
                </a:solidFill>
                <a:latin typeface="Consolas"/>
              </a:rPr>
              <a:t>| MEDICAL_CLAIMS.RECEIPT_DATE | 범위 (&gt;= / &lt;)     | TO_CHAR(..)='202406'   | 68 vs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BIRTH_DATE   : 148 vs 442    -&gt; 약 3배</a:t>
            </a:r>
          </a:p>
          <a:p>
            <a:r>
              <a:rPr sz="1250" b="0">
                <a:solidFill>
                  <a:srgbClr val="7EC699"/>
                </a:solidFill>
                <a:latin typeface="Consolas"/>
              </a:rPr>
              <a:t>-- RECEIPT_DATE : 68  vs 3,090  -&gt; 45배 이상</a:t>
            </a:r>
          </a:p>
          <a:p>
            <a:r>
              <a:rPr sz="1250" b="0">
                <a:solidFill>
                  <a:srgbClr val="E6E6E6"/>
                </a:solidFill>
                <a:latin typeface="Consolas"/>
              </a:rPr>
              <a:t> </a:t>
            </a:r>
          </a:p>
          <a:p>
            <a:r>
              <a:rPr sz="1250" b="0">
                <a:solidFill>
                  <a:srgbClr val="7EC699"/>
                </a:solidFill>
                <a:latin typeface="Consolas"/>
              </a:rPr>
              <a:t>-- 배율보다 중요한 사실 : 결과 집합은 같은데 읽은 블록 수만 달라졌다</a:t>
            </a:r>
          </a:p>
          <a:p>
            <a:r>
              <a:rPr sz="1250" b="0">
                <a:solidFill>
                  <a:srgbClr val="7EC699"/>
                </a:solidFill>
                <a:latin typeface="Consolas"/>
              </a:rPr>
              <a:t>-- VARCHAR2든 DATE든, 묵시적이든 명시적이든 결론은 하나로 수렴한다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SARGable 판정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조건절을 볼 때 이 순서로 확인한다</a:t>
            </a:r>
          </a:p>
          <a:p>
            <a:r>
              <a:rPr sz="1600" b="0">
                <a:solidFill>
                  <a:srgbClr val="5A6672"/>
                </a:solidFill>
                <a:latin typeface="Malgun Gothic"/>
              </a:rPr>
              <a:t>    –  1. 컬럼 이름이 함수나 연산의 괄호 안에 들어가 있는가</a:t>
            </a:r>
          </a:p>
          <a:p>
            <a:r>
              <a:rPr sz="1600" b="0">
                <a:solidFill>
                  <a:srgbClr val="5A6672"/>
                </a:solidFill>
                <a:latin typeface="Malgun Gothic"/>
              </a:rPr>
              <a:t>    –  2. 컬럼과 비교 대상 리터럴의 데이터 타입이 서로 같은가</a:t>
            </a:r>
          </a:p>
          <a:p>
            <a:r>
              <a:rPr sz="1600" b="0">
                <a:solidFill>
                  <a:srgbClr val="5A6672"/>
                </a:solidFill>
                <a:latin typeface="Malgun Gothic"/>
              </a:rPr>
              <a:t>    –  3. 문자 컬럼에 따옴표 없는 숫자 리터럴을 쓰지 않았는가</a:t>
            </a:r>
          </a:p>
          <a:p>
            <a:r>
              <a:rPr sz="1600" b="0">
                <a:solidFill>
                  <a:srgbClr val="5A6672"/>
                </a:solidFill>
                <a:latin typeface="Malgun Gothic"/>
              </a:rPr>
              <a:t>    –  4. 바인드 변수의 선언 타입이 컬럼 타입과 일치하는가</a:t>
            </a:r>
          </a:p>
          <a:p>
            <a:r>
              <a:rPr sz="1600" b="0">
                <a:solidFill>
                  <a:srgbClr val="5A6672"/>
                </a:solidFill>
                <a:latin typeface="Malgun Gothic"/>
              </a:rPr>
              <a:t>    –  5. 기간 조건을 TO_CHAR 비교가 아니라 범위 비교로 썼는가</a:t>
            </a:r>
          </a:p>
          <a:p>
            <a:r>
              <a:rPr sz="1600" b="0">
                <a:solidFill>
                  <a:srgbClr val="5A6672"/>
                </a:solidFill>
                <a:latin typeface="Malgun Gothic"/>
              </a:rPr>
              <a:t>    –  6. LIKE 패턴의 앞에 와일드카드가 붙어 있지 않은가</a:t>
            </a:r>
          </a:p>
          <a:p>
            <a:r>
              <a:rPr sz="1600" b="0">
                <a:solidFill>
                  <a:srgbClr val="5A6672"/>
                </a:solidFill>
                <a:latin typeface="Malgun Gothic"/>
              </a:rPr>
              <a:t>    –  7. 부정 조건이나 IS NULL로 대상을 지정하고 있지 않은가</a:t>
            </a:r>
          </a:p>
          <a:p>
            <a:r>
              <a:rPr sz="1800" b="0">
                <a:solidFill>
                  <a:srgbClr val="202830"/>
                </a:solidFill>
                <a:latin typeface="Malgun Gothic"/>
              </a:rPr>
              <a:t>•  확실하지 않으면 실행계획의 Predicate Information을 확인한다</a:t>
            </a:r>
          </a:p>
          <a:p>
            <a:r>
              <a:rPr sz="1600" b="0">
                <a:solidFill>
                  <a:srgbClr val="5A6672"/>
                </a:solidFill>
                <a:latin typeface="Malgun Gothic"/>
              </a:rPr>
              <a:t>    –  컬럼이 함수로 감싸여 있으면 그 조건은 SARGable하지 않다</a:t>
            </a:r>
          </a:p>
          <a:p>
            <a:r>
              <a:rPr sz="1600" b="0">
                <a:solidFill>
                  <a:srgbClr val="5A6672"/>
                </a:solidFill>
                <a:latin typeface="Malgun Gothic"/>
              </a:rPr>
              <a:t>    –  access가 아니라 filter로만 잡혀 있으면 읽는 양이 줄지 않았다는 뜻이다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컬럼에 함수를 씌우면 명시적이든 묵시적이든 일반 인덱스를 탈 수 없게 된다</a:t>
            </a:r>
          </a:p>
          <a:p>
            <a:r>
              <a:rPr sz="1800" b="0">
                <a:solidFill>
                  <a:srgbClr val="202830"/>
                </a:solidFill>
                <a:latin typeface="Malgun Gothic"/>
              </a:rPr>
              <a:t>•  인덱스는 가공되지 않은 원본 값 순서로 정렬돼 있다 — 이 한 문장이 모든 결론의 근거다</a:t>
            </a:r>
          </a:p>
          <a:p>
            <a:r>
              <a:rPr sz="1800" b="0">
                <a:solidFill>
                  <a:srgbClr val="202830"/>
                </a:solidFill>
                <a:latin typeface="Malgun Gothic"/>
              </a:rPr>
              <a:t>•  타입이 다른 리터럴과 비교하면 Oracle이 컬럼 쪽을 자동 변환할 수 있다</a:t>
            </a:r>
          </a:p>
          <a:p>
            <a:r>
              <a:rPr sz="1800" b="0">
                <a:solidFill>
                  <a:srgbClr val="202830"/>
                </a:solidFill>
                <a:latin typeface="Malgun Gothic"/>
              </a:rPr>
              <a:t>•  VARCHAR2 컬럼과 NUMBER 리터럴을 비교하면 컬럼이 TO_NUMBER로 감싸인다</a:t>
            </a:r>
          </a:p>
          <a:p>
            <a:r>
              <a:rPr sz="1800" b="0">
                <a:solidFill>
                  <a:srgbClr val="202830"/>
                </a:solidFill>
                <a:latin typeface="Malgun Gothic"/>
              </a:rPr>
              <a:t>•  Predicate Information에서 컬럼이 함수로 감싸여 있는지 보면 진단할 수 있다</a:t>
            </a:r>
          </a:p>
          <a:p>
            <a:r>
              <a:rPr sz="1800" b="0">
                <a:solidFill>
                  <a:srgbClr val="202830"/>
                </a:solidFill>
                <a:latin typeface="Malgun Gothic"/>
              </a:rPr>
              <a:t>•  묵시적 형변환과 명시적 함수는 옵티마이저에게 완전히 같은 문제다 — 계획까지 동일했다</a:t>
            </a:r>
          </a:p>
          <a:p>
            <a:r>
              <a:rPr sz="1800" b="0">
                <a:solidFill>
                  <a:srgbClr val="202830"/>
                </a:solidFill>
                <a:latin typeface="Malgun Gothic"/>
              </a:rPr>
              <a:t>•  '월 단위로 가져오자'는 요구는 TO_CHAR 비교가 아니라 범위 조건으로 써야 한다</a:t>
            </a:r>
          </a:p>
          <a:p>
            <a:r>
              <a:rPr sz="1800" b="0">
                <a:solidFill>
                  <a:srgbClr val="202830"/>
                </a:solidFill>
                <a:latin typeface="Malgun Gothic"/>
              </a:rPr>
              <a:t>•  LIKE 앞쪽 와일드카드, 부정 조건, IS NULL도 일반 인덱스와 궁합이 나쁜 패턴이다</a:t>
            </a:r>
          </a:p>
          <a:p>
            <a:r>
              <a:rPr sz="1800" b="0">
                <a:solidFill>
                  <a:srgbClr val="202830"/>
                </a:solidFill>
                <a:latin typeface="Malgun Gothic"/>
              </a:rPr>
              <a:t>•  가공은 컬럼이 아니라 리터럴·상수 쪽에서 한다 — 이 장의 재작성 원칙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SQL튜닝_Ch06_문제.md</a:t>
            </a:r>
          </a:p>
          <a:p>
            <a:r>
              <a:rPr sz="1600" b="0">
                <a:solidFill>
                  <a:srgbClr val="5A6672"/>
                </a:solidFill>
                <a:latin typeface="Malgun Gothic"/>
              </a:rPr>
              <a:t>    –  1~2번  따옴표 유무가 만든 실행계획 차이와 묵시적 형변환의 발생 원리</a:t>
            </a:r>
          </a:p>
          <a:p>
            <a:r>
              <a:rPr sz="1600" b="0">
                <a:solidFill>
                  <a:srgbClr val="5A6672"/>
                </a:solidFill>
                <a:latin typeface="Malgun Gothic"/>
              </a:rPr>
              <a:t>    –  3번  묵시적 형변환과 명시적 함수가 같은 계획이 된 이유</a:t>
            </a:r>
          </a:p>
          <a:p>
            <a:r>
              <a:rPr sz="1600" b="0">
                <a:solidFill>
                  <a:srgbClr val="5A6672"/>
                </a:solidFill>
                <a:latin typeface="Malgun Gothic"/>
              </a:rPr>
              <a:t>    –  4~5번  TO_CHAR 비교와 범위 조건의 Buffers 차이, 이번 달 조회 재작성</a:t>
            </a:r>
          </a:p>
          <a:p>
            <a:r>
              <a:rPr sz="1600" b="0">
                <a:solidFill>
                  <a:srgbClr val="5A6672"/>
                </a:solidFill>
                <a:latin typeface="Malgun Gothic"/>
              </a:rPr>
              <a:t>    –  6번  결과가 같으니 무시해도 된다는 주장에 대한 반박</a:t>
            </a:r>
          </a:p>
          <a:p>
            <a:r>
              <a:rPr sz="1600" b="0">
                <a:solidFill>
                  <a:srgbClr val="5A6672"/>
                </a:solidFill>
                <a:latin typeface="Malgun Gothic"/>
              </a:rPr>
              <a:t>    –  7~8번  뒤쪽 와일드카드 LIKE의 가능성, 부정 조건과 IS NULL의 원리</a:t>
            </a:r>
          </a:p>
          <a:p>
            <a:r>
              <a:rPr sz="1600" b="0">
                <a:solidFill>
                  <a:srgbClr val="5A6672"/>
                </a:solidFill>
                <a:latin typeface="Malgun Gothic"/>
              </a:rPr>
              <a:t>    –  9~10번  코드 리뷰 판정과 1990년대생 조회 조건 직접 작성</a:t>
            </a:r>
          </a:p>
          <a:p>
            <a:r>
              <a:rPr sz="1800" b="0">
                <a:solidFill>
                  <a:srgbClr val="202830"/>
                </a:solidFill>
                <a:latin typeface="Malgun Gothic"/>
              </a:rPr>
              <a:t>•  실습 전 확인 — 이번 장은 인덱스를 생성하고 삭제한다</a:t>
            </a:r>
          </a:p>
          <a:p>
            <a:r>
              <a:rPr sz="1600" b="0">
                <a:solidFill>
                  <a:srgbClr val="5A6672"/>
                </a:solidFill>
                <a:latin typeface="Malgun Gothic"/>
              </a:rPr>
              <a:t>    –  실습에서 만든 인덱스는 종료 시 반드시 DROP INDEX로 정리한다</a:t>
            </a:r>
          </a:p>
          <a:p>
            <a:r>
              <a:rPr sz="1600" b="0">
                <a:solidFill>
                  <a:srgbClr val="5A6672"/>
                </a:solidFill>
                <a:latin typeface="Malgun Gothic"/>
              </a:rPr>
              <a:t>    –  PATIENTS와 MEDICAL_CLAIMS가 PK만 남은 상태로 복구됐는지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
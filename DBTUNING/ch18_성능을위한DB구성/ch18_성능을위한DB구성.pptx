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notesMaster" Target="notesMasters/notesMaster1.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 장의 핵심 메시지는 하나입니다. 구성 실수는 튜닝으로 덮이지 않습니다. Undo 테이블스페이스가 부족해서 나는 ORA-01555는 SQL을 고쳐서 해결할 문제가 아니고, 임시 테이블스페이스가 작아서 나는 ORA-01652도 인덱스를 추가해서 해결할 문제가 아닙니다. 이런 오류를 SQL 문제로 오인하면 엉뚱한 곳에서 몇 시간을 허비합니다. 그래서 이 장은 이 증상이 나오면 먼저 구성을 의심하라는 판별 감각을 심는 데 목적이 있습니다.</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 파라미터들은 데이터베이스가 뜨기 위한 최소 조건이지 성능 조절 손잡이가 아닙니다. 특히 OPEN_CURSORS는 이름 때문에 성능 파라미터로 오해받지만, 값을 키운다고 빨라지지 않습니다. 한 세션이 동시에 열 수 있는 커서의 상한일 뿐이며 너무 작으면 ORA-01000이 나고 크게 잡아도 성능은 그대로입니다. 500이 일반적 권고이며, 나머지는 데이터베이스가 뜨기 위한 이름·위치·파일 관련 최소 설정입니다.</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리두 로그 크기 자체는 LGWR 성능을 좌우하지 않지만 DBWR와 체크포인트 동작에 영향을 줍니다. 로그가 너무 작으면 스위치가 잦아 그때마다 체크포인트가 유발돼 성능이 떨어집니다. 최대 20분에 한 번 스위치하도록 크기를 잡으라는 것이 가이드의 권고이고, 100MB에서 수 GB 범위가 합리적입니다. 영구 테이블스페이스는 로컬 관리에 ASSM을 쓰면 과거 프리 리스트 방식의 동시 삽입 경합을 줄일 수 있습니다.</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성능에 실제로 영향을 주는 파라미터는 소수입니다. 오라클 가이드가 특히 강조하는 것은 PROCESSES로, 가장 중요한 1차 파라미터이며 다른 많은 값이 여기서 파생됩니다. SESSIONS는 기본적으로 PROCESSES에서 자동 계산되는데, 공유 서버를 쓰면 이 파생값이 부족해질 수 있어 별도로 키워야 합니다. SGA_TARGET·PGA_AGGREGATE_TARGET을 지정하면 그 안의 구성요소가 자동으로 조정됩니다.</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 한 화면이 인스턴스의 성격을 요약합니다. 8KB 블록의 OLTP 지향 구성이고, memory_target=0이므로 AMM은 꺼져 있으며 SGA 약 1.5GB와 PGA 약 700MB를 각각 지정한 ASMM 방식입니다. processes=500에서 sessions=776이 파생됐고, undo_retention=900 즉 15분과 undo_tablespace=UNDOTBS1로 자동 Undo 관리가 동작 중임을 알 수 있습니다.</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바이트로 보이는 값은 1024로 두 번 나눠 MB로 환산해 읽습니다. 파라미터를 바꿀 때는 변경 전 현재값을 반드시 캡처하고, SCOPE의 의미를 이해해야 합니다. MEMORY는 현재 인스턴스에만, SPFILE은 다음 기동부터, BOTH는 둘 다 반영합니다. PROCESSES 같은 정적 파라미터는 SPFILE로만 바꿀 수 있고 재기동해야 적용됩니다. 한 번에 하나만 바꾸고 같은 지표를 같은 방식으로 재측정합니다.</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데이터베이스는 Undo 공간에 읽기 일관성·복구·롤백에 쓰이는 데이터를 저장합니다. 어떤 트랜잭션이 행을 바꾸면 바뀌기 전의 이미지가 Undo 세그먼트에 남습니다. 이 과거 이미지가 두 가지 일을 합니다. 하나는 아직 커밋되지 않은 변경을 되돌리는 롤백이고, 다른 하나는 다른 세션이 트랜잭션 시작 시점의 일관된 스냅샷을 보게 하는 읽기 일관성입니다. 이 과거 이미지가 공간 부족으로 덮어써지면 긴 조회가 ORA-01555로 실패합니다.</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오라클은 자동 Undo 관리를 강력히 권장합니다. UNDO_MANAGEMENT를 AUTO로 두면 오라클이 Undo 세그먼트를 투명하게 생성·관리하므로, DBA가 신경 쓸 것은 Undo 테이블스페이스를 충분히 크게 잡는 것과 UNDO_RETENTION을 워크로드에 맞게 두는 두 가지로 좁혀집니다. 오라클의 다중 버전 읽기 일관성이 바로 이 Undo 위에서 돌아갑니다.</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읽어야 할 값은 세 가지입니다. RETENTION=NOGUARANTEE, UNDO_RETENTION=900초 즉 15분, 그리고 Undo 테이블스페이스 크기 380MB입니다. 이 셋의 조합이 ORA-01555가 날 수 있는지를 결정합니다. 보존은 15분을 목표로 하지만 NOGUARANTEE이므로 공간이 부족하면 그 약속은 지켜지지 않습니다. 업무 데이터 규모에 비해 380MB는 넉넉하지 않으므로, 동시 변경이 몰리는 구간에서는 긴 조회가 위험해질 수 있습니다.</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UNDO_RETENTION은 커밋된 Undo를 최소 몇 초 보존하려는 목표이지 보장이 아닙니다. NOGUARANTEE에서는 공간이 빠듯하면 오라클이 조용히 커밋된 Undo를 덮어쓰고, 오류도 없이 어느 날 긴 조회가 ORA-01555로 죽습니다. GUARANTEE에서는 보존 약속을 지키느라 새 DML이 ORA-30036으로 실패합니다. 어느 쪽도 공짜가 아니며 워크로드가 선택을 정합니다.</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ORA-01555는 이름에 rollback segment가 들어 있어 세그먼트가 작아서 나는 것처럼 보이지만, 본질은 긴 조회가 필요로 하는 과거 이미지를 이미 다른 트랜잭션이 덮어썼다는 것입니다. 조회의 길이와 동시 변경량과 Undo 공간, 이 세 가지의 함수입니다. 조회 SQL 자체에는 잘못이 없을 수 있으므로 SQL을 고치는 접근은 헛다리를 짚습니다. Undo 구성으로 해결해야 합니다.</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V$UNDOSTAT의 판정법은 명확합니다. MAXQUERYLEN이 UNDO_RETENTION보다 크고 SSOLDERRCNT가 0보다 크면 보존 시간이 조회 길이를 못 따라간 것입니다. TUNED_UNDORETENTION이 설정값보다 작게 나오면 공간이 상한이라는 뜻이므로 테이블스페이스를 키웁니다. 설정값과 실측 필요량을 비교해 판정하는 이 방식이 근거 기반 조치입니다. GUARANTEE 전에는 Undo가 최대 DML을 감당할 크기인지 확인합니다.</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낮에는 멀쩡한데 월말 마감일 오전에 30분 넘게 도는 리포트만 ORA-01555로 실패하는 전형적 사례입니다. 리포트 SQL 자체에는 오류가 없습니다. V$UNDOSTAT를 보면 마감 구간의 MAXQUERYLEN이 UNDO_RETENTION을 크게 넘고 SSOLDERRCNT가 0보다 큽니다. 마감 트랜잭션이 몰려 Undo를 빠르게 순환시키는 사이 리포트가 필요로 하던 과거 이미지가 덮어써진 것입니다. 조치 후 다음 마감에서 발생 수가 0으로 유지되는지 재확인하는 것까지가 튜닝입니다.</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임시 테이블스페이스는 메모리에 담기지 않는 작업을 디스크로 흘려보내는 공간으로 정렬·해시·전역 임시 테이블에 쓰입니다. PGA 작업 영역이 감당하면 메모리에서 끝나지만 넘치면 스필합니다. 오라클은 로컬 관리에 UNIFORM 1MB를 권장하며, 임시 테이블스페이스는 정의상 로컬 관리이므로 EXTENT MANAGEMENT LOCAL 절은 선택입니다. 실측 TEMP은 20MB로 대량 정렬에는 부족합니다.</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ORA-01652는 임시 세그먼트를 확장하려는데 자리가 없을 때 납니다. 실무의 오인은 두 가지입니다. 첫째, 데이터 테이블스페이스 부족으로 착각하는 것으로 메시지 끝의 테이블스페이스 이름을 반드시 확인해야 합니다. 둘째, SQL 튜닝으로만 해결하려는 것입니다. 정렬이 월 집계처럼 업무상 정당하면 임시 공간을 늘리는 것이 정답이고, 불필요한 정렬이면 SQL로 접근합니다. 판별 기준은 이 정렬이 업무상 필요한 크기인가입니다.</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ORA-01652가 났을 때 현재 누가 임시 공간을 얼마나 쓰는지는 V$TEMPSEG_USAGE로 봅니다. 세션·SQL별로 사용 중인 임시 익스텐트 수를 보여 주므로 어떤 세션의 어떤 SQL이 TEMP을 삼켰는지 즉시 지목할 수 있습니다. V$SORT_SEGMENT는 임시 테이블스페이스 전체의 현재·최대 사용량을 요약합니다. 조치는 임시 파일을 추가해 넉넉히 확장하고 AUTOEXTEND를 켜는 것입니다.</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클라이언트가 접속하면 SQL을 실행할 서버 프로세스가 필요합니다. 전용 서버는 접속 하나마다 전용 프로세스를 붙이고, 공유 서버는 소수의 공유 서버를 여러 세션이 디스패처를 통해 나눠 씁니다. 공유 서버는 프로세스와 메모리를 줄여 간헐적 OLTP가 매우 많은 환경과 고접속률 환경에 유리합니다. 다만 병렬 실행이나 장시간 배치는 세션을 오래 점유하므로 전용 서버가 정석입니다. 공유 서버를 켜면 UGA가 SGA로 이동하므로 라지 풀을 확보해야 합니다.</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전용 서버는 접속 요청마다 전용 프로세스를 순차적으로 초기화하므로 초당 새 접속이 많은 환경에서는 이 초기화가 비용이 됩니다. 공유 서버는 디스패처가 대기하고 있다가 동시 접속 요청을 바로 받아 유리합니다. 특정 세션이 전용인지 공유인지는 V$SESSION의 SERVER 컬럼으로 봅니다. 19c에는 사전 생성 프로세스 풀도 있어, dedicated broker나 threaded execution 모드에서 서버 프로세스를 미리 띄워 접속 효율을 높이며 V$PROCESS_POOL로 관찰합니다.</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공유 서버를 쓰면 디스패처와 공유 서버의 경합을 모니터링해야 합니다. V$DISPATCHER_RATE의 현재·평균·최대 접두사를 비교해, 현재값이 최대 근처면 디스패처를 늘리고 한참 낮으면 줄입니다. V$QUEUE의 요청 큐 대기시간이 꾸준히 늘면 공유 서버 경합입니다. 처리량이 한계에 이르렀다고 무작정 디스패처를 늘리기보다 접속 풀링과 세션 다중화로 있는 자원을 더 촘촘히 쓰는 방향을 먼저 검토합니다. 경합 전에 공유 풀·라지 풀 메모리 문제가 아닌지도 확인합니다.</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DB_BLOCK_SIZE는 오라클이 데이터 파일에 저장하고 SGA에 캐싱하는 블록의 크기로 실측은 8KB입니다. 블록이 성능에 닿는 통로는 두 가지입니다. 하나는 I/O 효율로 한 번의 읽기로 가져오는 양이 블록 크기에 비례하므로 대량 스캔의 DW는 큰 블록이 유리합니다. 다른 하나는 행 밀도로, 블록이 크면 캐시 효율은 오르지만 같은 블록의 서로 다른 행을 동시에 고치면 buffer busy 경합이 늡니다. OLTP가 8KB를 쓰는 이유가 이 균형입니다.</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PCTFREE는 행 이주를 막기 위한 예약 공간입니다. 블록의 몇 퍼센트를 삽입에 쓰지 않고 남겨, 나중의 UPDATE로 행이 커질 여지를 주는 값입니다. UPDATE가 잦고 행이 커지는 테이블은 PCTFREE를 높이면 이주가 줄고, INSERT만 있고 갱신이 거의 없는 테이블은 PCTFREE를 낮춰 블록을 빽빽이 채우는 게 낫습니다. 자동 세그먼트 공간 관리를 쓰면 PCTUSED는 지정할 필요가 없지만 PCTFREE는 여전히 의미가 있습니다.</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행 이주는 UPDATE로 커진 행이 원 블록에 안 들어가 다른 블록으로 옮겨지고 원 자리에 포인터만 남는 현상입니다. 인덱스는 원래 ROWID를 가리키므로 이주 행을 인덱스로 읽으면 한 번 더 점프해 논리 읽기가 늡니다. 단일 행 조회가 많은 OLTP에서 특히 문제입니다. 체이닝은 행 자체가 블록보다 커서 처음부터 여러 블록에 걸치는 것으로 성격이 다릅니다. 이주는 PCTFREE로 예방하지만 체이닝은 블록 크기 문제라 더 큰 블록으로 옮겨야 합니다.</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이주·체이닝 행은 ANALYZE ... LIST CHAINED ROWS로 실제로 찾아냅니다. utlchain.sql로 결과 테이블을 만들고 ROWID를 채운 뒤 조회합니다. 통계에도 남아서 테이블을 수집하면 DBA_TABLES의 CHAIN_CNT에 이주와 체이닝을 합친 수가 기록됩니다. 이 값이 전체 행 수 대비 크면 이주를 의심합니다. 이주로 판명되면 PCTFREE를 높인 뒤 MOVE로 재구성하고 인덱스를 리빌드합니다. MOVE는 ROWID를 바꾸므로 인덱스 무효화에 주의합니다.</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실습 데이터베이스의 테이블스페이스 크기를 한자리에서 봅니다. USERS가 2,369MB로 가장 크고 진료비 스키마 업무 테이블이 여기 있습니다. 업무 데이터에 비해 Undo 380MB와 Temp 20MB가 상대적으로 작습니다. 이후 장에서 부하 스크립트로 대량 스캔·정렬을 유발하면 이 작은 Undo와 Temp가 먼저 압박을 받습니다. 즉 이 장에서 재현하는 ORA-01555·ORA-01652는 인위적 상황이 아니라 이 구성에서 부하가 조금만 커져도 마주칠 수 있는 시나리오입니다.</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219456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5394960"/>
            <a:ext cx="12191695" cy="1463040"/>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457200"/>
            <a:ext cx="10698480" cy="548640"/>
          </a:xfrm>
          <a:prstGeom prst="rect">
            <a:avLst/>
          </a:prstGeom>
          <a:noFill/>
        </p:spPr>
        <p:txBody>
          <a:bodyPr wrap="square">
            <a:spAutoFit/>
          </a:bodyPr>
          <a:lstStyle/>
          <a:p>
            <a:pPr algn="l">
              <a:spcAft>
                <a:spcPts val="600"/>
              </a:spcAft>
            </a:pPr>
            <a:r>
              <a:rPr sz="1600" b="1">
                <a:solidFill>
                  <a:srgbClr val="FFFFFF"/>
                </a:solidFill>
                <a:latin typeface="맑은 고딕"/>
                <a:ea typeface="맑은 고딕"/>
                <a:cs typeface="맑은 고딕"/>
              </a:rPr>
              <a:t>Oracle Database 19c 성능 튜닝 실무 과정</a:t>
            </a:r>
          </a:p>
        </p:txBody>
      </p:sp>
      <p:sp>
        <p:nvSpPr>
          <p:cNvPr id="6" name="TextBox 5"/>
          <p:cNvSpPr txBox="1"/>
          <p:nvPr/>
        </p:nvSpPr>
        <p:spPr>
          <a:xfrm>
            <a:off x="731520" y="2377440"/>
            <a:ext cx="10698480" cy="1554480"/>
          </a:xfrm>
          <a:prstGeom prst="rect">
            <a:avLst/>
          </a:prstGeom>
          <a:noFill/>
        </p:spPr>
        <p:txBody>
          <a:bodyPr wrap="square">
            <a:spAutoFit/>
          </a:bodyPr>
          <a:lstStyle/>
          <a:p>
            <a:pPr algn="l">
              <a:spcAft>
                <a:spcPts val="600"/>
              </a:spcAft>
            </a:pPr>
            <a:r>
              <a:rPr sz="3400" b="1">
                <a:solidFill>
                  <a:srgbClr val="C0392B"/>
                </a:solidFill>
                <a:latin typeface="맑은 고딕"/>
                <a:ea typeface="맑은 고딕"/>
                <a:cs typeface="맑은 고딕"/>
              </a:rPr>
              <a:t>성능을 위한 데이터베이스 구성</a:t>
            </a:r>
          </a:p>
          <a:p>
            <a:r>
              <a:rPr sz="2000" b="0">
                <a:solidFill>
                  <a:srgbClr val="5A6672"/>
                </a:solidFill>
                <a:latin typeface="맑은 고딕"/>
                <a:ea typeface="맑은 고딕"/>
                <a:cs typeface="맑은 고딕"/>
              </a:rPr>
              <a:t>Configuring a Database for Performance — 처음에 어떻게 놓는가</a:t>
            </a:r>
          </a:p>
        </p:txBody>
      </p:sp>
      <p:sp>
        <p:nvSpPr>
          <p:cNvPr id="7" name="TextBox 6"/>
          <p:cNvSpPr txBox="1"/>
          <p:nvPr/>
        </p:nvSpPr>
        <p:spPr>
          <a:xfrm>
            <a:off x="731520" y="4114800"/>
            <a:ext cx="10698480" cy="1097280"/>
          </a:xfrm>
          <a:prstGeom prst="rect">
            <a:avLst/>
          </a:prstGeom>
          <a:noFill/>
        </p:spPr>
        <p:txBody>
          <a:bodyPr wrap="square">
            <a:spAutoFit/>
          </a:bodyPr>
          <a:lstStyle/>
          <a:p>
            <a:pPr algn="l">
              <a:spcAft>
                <a:spcPts val="600"/>
              </a:spcAft>
            </a:pPr>
            <a:r>
              <a:rPr sz="1500" b="0">
                <a:solidFill>
                  <a:srgbClr val="5A6672"/>
                </a:solidFill>
                <a:latin typeface="맑은 고딕"/>
                <a:ea typeface="맑은 고딕"/>
                <a:cs typeface="맑은 고딕"/>
              </a:rPr>
              <a:t>초기화 파라미터 · Undo와 ORA-01555 · 임시 테이블스페이스와 ORA-01652 · 전용/공유 서버 · 블록 크기와 행 이주</a:t>
            </a:r>
          </a:p>
        </p:txBody>
      </p:sp>
      <p:sp>
        <p:nvSpPr>
          <p:cNvPr id="8" name="TextBox 7"/>
          <p:cNvSpPr txBox="1"/>
          <p:nvPr/>
        </p:nvSpPr>
        <p:spPr>
          <a:xfrm>
            <a:off x="731520" y="5577840"/>
            <a:ext cx="10698480" cy="914400"/>
          </a:xfrm>
          <a:prstGeom prst="rect">
            <a:avLst/>
          </a:prstGeom>
          <a:noFill/>
        </p:spPr>
        <p:txBody>
          <a:bodyPr wrap="square">
            <a:spAutoFit/>
          </a:bodyPr>
          <a:lstStyle/>
          <a:p>
            <a:pPr algn="l">
              <a:spcAft>
                <a:spcPts val="600"/>
              </a:spcAft>
            </a:pPr>
            <a:r>
              <a:rPr sz="2000" b="1">
                <a:solidFill>
                  <a:srgbClr val="C0392B"/>
                </a:solidFill>
                <a:latin typeface="맑은 고딕"/>
                <a:ea typeface="맑은 고딕"/>
                <a:cs typeface="맑은 고딕"/>
              </a:rPr>
              <a:t>ch18</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nchor="ctr">
            <a:spAutoFit/>
          </a:bodyPr>
          <a:lstStyle/>
          <a:p>
            <a:pPr algn="l">
              <a:spcAft>
                <a:spcPts val="600"/>
              </a:spcAft>
            </a:pPr>
            <a:r>
              <a:rPr sz="2600" b="1">
                <a:solidFill>
                  <a:srgbClr val="FFFFFF"/>
                </a:solidFill>
                <a:latin typeface="맑은 고딕"/>
                <a:ea typeface="맑은 고딕"/>
                <a:cs typeface="맑은 고딕"/>
              </a:rPr>
              <a:t>학습 목표 (Objectives)</a:t>
            </a:r>
          </a:p>
        </p:txBody>
      </p:sp>
      <p:sp>
        <p:nvSpPr>
          <p:cNvPr id="4" name="TextBox 3"/>
          <p:cNvSpPr txBox="1"/>
          <p:nvPr/>
        </p:nvSpPr>
        <p:spPr>
          <a:xfrm>
            <a:off x="640080" y="1371600"/>
            <a:ext cx="10881360" cy="5120640"/>
          </a:xfrm>
          <a:prstGeom prst="rect">
            <a:avLst/>
          </a:prstGeom>
          <a:noFill/>
        </p:spPr>
        <p:txBody>
          <a:bodyPr wrap="square">
            <a:spAutoFit/>
          </a:bodyPr>
          <a:lstStyle/>
          <a:p>
            <a:pPr algn="l">
              <a:spcAft>
                <a:spcPts val="700"/>
              </a:spcAft>
            </a:pPr>
            <a:r>
              <a:rPr sz="1600" b="0">
                <a:solidFill>
                  <a:srgbClr val="222222"/>
                </a:solidFill>
                <a:latin typeface="맑은 고딕"/>
                <a:ea typeface="맑은 고딕"/>
                <a:cs typeface="맑은 고딕"/>
              </a:rPr>
              <a:t>•  성능에 영향을 주는 초기화 파라미터를 구분하고 V$PARAMETER로 구성을 읽는다.</a:t>
            </a:r>
          </a:p>
          <a:p>
            <a:pPr algn="l">
              <a:spcAft>
                <a:spcPts val="700"/>
              </a:spcAft>
            </a:pPr>
            <a:r>
              <a:rPr sz="1600" b="0">
                <a:solidFill>
                  <a:srgbClr val="222222"/>
                </a:solidFill>
                <a:latin typeface="맑은 고딕"/>
                <a:ea typeface="맑은 고딕"/>
                <a:cs typeface="맑은 고딕"/>
              </a:rPr>
              <a:t>•  자동 Undo 관리와 UNDO_RETENTION·RETENTION GUARANTEE가 ORA-01555에 얽히는 방식을 안다.</a:t>
            </a:r>
          </a:p>
          <a:p>
            <a:pPr algn="l">
              <a:spcAft>
                <a:spcPts val="700"/>
              </a:spcAft>
            </a:pPr>
            <a:r>
              <a:rPr sz="1600" b="0">
                <a:solidFill>
                  <a:srgbClr val="222222"/>
                </a:solidFill>
                <a:latin typeface="맑은 고딕"/>
                <a:ea typeface="맑은 고딕"/>
                <a:cs typeface="맑은 고딕"/>
              </a:rPr>
              <a:t>•  임시 테이블스페이스와 ORA-01652를 이해하고, Undo가 아니라 Temp를 봐야 함을 판별한다.</a:t>
            </a:r>
          </a:p>
          <a:p>
            <a:pPr algn="l">
              <a:spcAft>
                <a:spcPts val="700"/>
              </a:spcAft>
            </a:pPr>
            <a:r>
              <a:rPr sz="1600" b="0">
                <a:solidFill>
                  <a:srgbClr val="222222"/>
                </a:solidFill>
                <a:latin typeface="맑은 고딕"/>
                <a:ea typeface="맑은 고딕"/>
                <a:cs typeface="맑은 고딕"/>
              </a:rPr>
              <a:t>•  전용 서버와 공유 서버의 프로세스·메모리 차이를 설명하고 워크로드에 맞게 고른다.</a:t>
            </a:r>
          </a:p>
          <a:p>
            <a:pPr algn="l">
              <a:spcAft>
                <a:spcPts val="700"/>
              </a:spcAft>
            </a:pPr>
            <a:r>
              <a:rPr sz="1600" b="0">
                <a:solidFill>
                  <a:srgbClr val="222222"/>
                </a:solidFill>
                <a:latin typeface="맑은 고딕"/>
                <a:ea typeface="맑은 고딕"/>
                <a:cs typeface="맑은 고딕"/>
              </a:rPr>
              <a:t>•  DB_BLOCK_SIZE·PCTFREE와 행 이주·체이닝의 관계를 알고 이주 행을 찾아낸다.</a:t>
            </a:r>
          </a:p>
          <a:p>
            <a:pPr algn="l">
              <a:spcAft>
                <a:spcPts val="700"/>
              </a:spcAft>
            </a:pPr>
            <a:r>
              <a:rPr sz="1600" b="0">
                <a:solidFill>
                  <a:srgbClr val="222222"/>
                </a:solidFill>
                <a:latin typeface="맑은 고딕"/>
                <a:ea typeface="맑은 고딕"/>
                <a:cs typeface="맑은 고딕"/>
              </a:rPr>
              <a:t>•  구성성 오류(ORA-01555·ORA-01652)를 SQL 문제로 오인하지 않는다.</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nchor="ctr">
            <a:spAutoFit/>
          </a:bodyPr>
          <a:lstStyle/>
          <a:p>
            <a:pPr algn="l">
              <a:spcAft>
                <a:spcPts val="600"/>
              </a:spcAft>
            </a:pPr>
            <a:r>
              <a:rPr sz="2600" b="1">
                <a:solidFill>
                  <a:srgbClr val="FFFFFF"/>
                </a:solidFill>
                <a:latin typeface="맑은 고딕"/>
                <a:ea typeface="맑은 고딕"/>
                <a:cs typeface="맑은 고딕"/>
              </a:rPr>
              <a:t>이 장의 구성 (Agenda)</a:t>
            </a:r>
          </a:p>
        </p:txBody>
      </p:sp>
      <p:sp>
        <p:nvSpPr>
          <p:cNvPr id="4" name="TextBox 3"/>
          <p:cNvSpPr txBox="1"/>
          <p:nvPr/>
        </p:nvSpPr>
        <p:spPr>
          <a:xfrm>
            <a:off x="640080" y="1371600"/>
            <a:ext cx="10881360" cy="5120640"/>
          </a:xfrm>
          <a:prstGeom prst="rect">
            <a:avLst/>
          </a:prstGeom>
          <a:noFill/>
        </p:spPr>
        <p:txBody>
          <a:bodyPr wrap="square">
            <a:spAutoFit/>
          </a:bodyPr>
          <a:lstStyle/>
          <a:p>
            <a:pPr algn="l">
              <a:spcAft>
                <a:spcPts val="700"/>
              </a:spcAft>
            </a:pPr>
            <a:r>
              <a:rPr sz="1600" b="0">
                <a:solidFill>
                  <a:srgbClr val="222222"/>
                </a:solidFill>
                <a:latin typeface="맑은 고딕"/>
                <a:ea typeface="맑은 고딕"/>
                <a:cs typeface="맑은 고딕"/>
              </a:rPr>
              <a:t>•  4.2  초기 인스턴스 구성 — 무엇을 처음에 정하는가</a:t>
            </a:r>
          </a:p>
          <a:p>
            <a:pPr algn="l">
              <a:spcAft>
                <a:spcPts val="700"/>
              </a:spcAft>
            </a:pPr>
            <a:r>
              <a:rPr sz="1600" b="0">
                <a:solidFill>
                  <a:srgbClr val="222222"/>
                </a:solidFill>
                <a:latin typeface="맑은 고딕"/>
                <a:ea typeface="맑은 고딕"/>
                <a:cs typeface="맑은 고딕"/>
              </a:rPr>
              <a:t>•  4.3  성능에 영향을 주는 초기화 파라미터</a:t>
            </a:r>
          </a:p>
          <a:p>
            <a:pPr algn="l">
              <a:spcAft>
                <a:spcPts val="700"/>
              </a:spcAft>
            </a:pPr>
            <a:r>
              <a:rPr sz="1600" b="0">
                <a:solidFill>
                  <a:srgbClr val="222222"/>
                </a:solidFill>
                <a:latin typeface="맑은 고딕"/>
                <a:ea typeface="맑은 고딕"/>
                <a:cs typeface="맑은 고딕"/>
              </a:rPr>
              <a:t>•  4.4  Undo 보존과 ORA-01555 — 읽기 일관성의 값</a:t>
            </a:r>
          </a:p>
          <a:p>
            <a:pPr algn="l">
              <a:spcAft>
                <a:spcPts val="700"/>
              </a:spcAft>
            </a:pPr>
            <a:r>
              <a:rPr sz="1600" b="0">
                <a:solidFill>
                  <a:srgbClr val="222222"/>
                </a:solidFill>
                <a:latin typeface="맑은 고딕"/>
                <a:ea typeface="맑은 고딕"/>
                <a:cs typeface="맑은 고딕"/>
              </a:rPr>
              <a:t>•  4.5  임시 테이블스페이스와 ORA-01652 — 정렬이 흘러넘칠 때</a:t>
            </a:r>
          </a:p>
          <a:p>
            <a:pPr algn="l">
              <a:spcAft>
                <a:spcPts val="700"/>
              </a:spcAft>
            </a:pPr>
            <a:r>
              <a:rPr sz="1600" b="0">
                <a:solidFill>
                  <a:srgbClr val="222222"/>
                </a:solidFill>
                <a:latin typeface="맑은 고딕"/>
                <a:ea typeface="맑은 고딕"/>
                <a:cs typeface="맑은 고딕"/>
              </a:rPr>
              <a:t>•  4.6  전용 서버와 공유 서버 — 프로세스와 메모리의 선택</a:t>
            </a:r>
          </a:p>
          <a:p>
            <a:pPr algn="l">
              <a:spcAft>
                <a:spcPts val="700"/>
              </a:spcAft>
            </a:pPr>
            <a:r>
              <a:rPr sz="1600" b="0">
                <a:solidFill>
                  <a:srgbClr val="222222"/>
                </a:solidFill>
                <a:latin typeface="맑은 고딕"/>
                <a:ea typeface="맑은 고딕"/>
                <a:cs typeface="맑은 고딕"/>
              </a:rPr>
              <a:t>•  4.7  블록 크기와 행 이주 — 한 블록에 행이 안 들어갈 때</a:t>
            </a:r>
          </a:p>
          <a:p>
            <a:pPr algn="l">
              <a:spcAft>
                <a:spcPts val="700"/>
              </a:spcAft>
            </a:pPr>
            <a:r>
              <a:rPr sz="1600" b="0">
                <a:solidFill>
                  <a:srgbClr val="222222"/>
                </a:solidFill>
                <a:latin typeface="맑은 고딕"/>
                <a:ea typeface="맑은 고딕"/>
                <a:cs typeface="맑은 고딕"/>
              </a:rPr>
              <a:t>•  ※ 실습 환경: non-CDB orcl 19.3. 파라미터 변경·오류 재현은 개인 실습 환경 전용.</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nchor="ctr">
            <a:spAutoFit/>
          </a:bodyPr>
          <a:lstStyle/>
          <a:p>
            <a:pPr algn="l">
              <a:spcAft>
                <a:spcPts val="600"/>
              </a:spcAft>
            </a:pPr>
            <a:r>
              <a:rPr sz="2600" b="1">
                <a:solidFill>
                  <a:srgbClr val="FFFFFF"/>
                </a:solidFill>
                <a:latin typeface="맑은 고딕"/>
                <a:ea typeface="맑은 고딕"/>
                <a:cs typeface="맑은 고딕"/>
              </a:rPr>
              <a:t>이 장의 핵심 메시지</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ea typeface="맑은 고딕"/>
                <a:cs typeface="맑은 고딕"/>
              </a:rPr>
              <a:t>구성 실수는 튜닝으로 덮이지 않는다</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800"/>
              </a:spcAft>
            </a:pPr>
            <a:r>
              <a:rPr sz="1700" b="0">
                <a:solidFill>
                  <a:srgbClr val="222222"/>
                </a:solidFill>
                <a:latin typeface="맑은 고딕"/>
                <a:ea typeface="맑은 고딕"/>
                <a:cs typeface="맑은 고딕"/>
              </a:rPr>
              <a:t>•  Undo 부족의 ORA-01555는 SQL을 고쳐서 해결할 수 없다</a:t>
            </a:r>
          </a:p>
          <a:p>
            <a:pPr algn="l">
              <a:spcAft>
                <a:spcPts val="800"/>
              </a:spcAft>
            </a:pPr>
            <a:r>
              <a:rPr sz="1700" b="0">
                <a:solidFill>
                  <a:srgbClr val="222222"/>
                </a:solidFill>
                <a:latin typeface="맑은 고딕"/>
                <a:ea typeface="맑은 고딕"/>
                <a:cs typeface="맑은 고딕"/>
              </a:rPr>
              <a:t>•  Temp 부족의 ORA-01652는 인덱스를 추가해서 해결할 수 없다</a:t>
            </a:r>
          </a:p>
          <a:p>
            <a:pPr algn="l">
              <a:spcAft>
                <a:spcPts val="800"/>
              </a:spcAft>
            </a:pPr>
            <a:r>
              <a:rPr sz="1700" b="0">
                <a:solidFill>
                  <a:srgbClr val="222222"/>
                </a:solidFill>
                <a:latin typeface="맑은 고딕"/>
                <a:ea typeface="맑은 고딕"/>
                <a:cs typeface="맑은 고딕"/>
              </a:rPr>
              <a:t>•  이런 오류를 SQL 문제로 오인하면 엉뚱한 곳에서 시간을 허비한다</a:t>
            </a:r>
          </a:p>
          <a:p>
            <a:pPr algn="l">
              <a:spcAft>
                <a:spcPts val="800"/>
              </a:spcAft>
            </a:pPr>
            <a:r>
              <a:rPr sz="1700" b="0">
                <a:solidFill>
                  <a:srgbClr val="222222"/>
                </a:solidFill>
                <a:latin typeface="맑은 고딕"/>
                <a:ea typeface="맑은 고딕"/>
                <a:cs typeface="맑은 고딕"/>
              </a:rPr>
              <a:t>•  DBA Point: 처음에 제대로 놓아야 한다</a:t>
            </a:r>
          </a:p>
          <a:p>
            <a:pPr algn="l">
              <a:spcAft>
                <a:spcPts val="800"/>
              </a:spcAft>
            </a:pPr>
            <a:r>
              <a:rPr sz="1700" b="0">
                <a:solidFill>
                  <a:srgbClr val="222222"/>
                </a:solidFill>
                <a:latin typeface="맑은 고딕"/>
                <a:ea typeface="맑은 고딕"/>
                <a:cs typeface="맑은 고딕"/>
              </a:rPr>
              <a:t>•  Common Error: Undo·Temp 부족을 SQL 문제로 오인</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2011680"/>
            <a:ext cx="10515600" cy="1097280"/>
          </a:xfrm>
          <a:prstGeom prst="rect">
            <a:avLst/>
          </a:prstGeom>
          <a:noFill/>
        </p:spPr>
        <p:txBody>
          <a:bodyPr wrap="square">
            <a:spAutoFit/>
          </a:bodyPr>
          <a:lstStyle/>
          <a:p>
            <a:pPr algn="l">
              <a:spcAft>
                <a:spcPts val="600"/>
              </a:spcAft>
            </a:pPr>
            <a:r>
              <a:rPr sz="4000" b="1">
                <a:solidFill>
                  <a:srgbClr val="FFFFFF"/>
                </a:solidFill>
                <a:latin typeface="맑은 고딕"/>
                <a:ea typeface="맑은 고딕"/>
                <a:cs typeface="맑은 고딕"/>
              </a:rPr>
              <a:t>4.2</a:t>
            </a:r>
          </a:p>
        </p:txBody>
      </p:sp>
      <p:sp>
        <p:nvSpPr>
          <p:cNvPr id="4" name="TextBox 3"/>
          <p:cNvSpPr txBox="1"/>
          <p:nvPr/>
        </p:nvSpPr>
        <p:spPr>
          <a:xfrm>
            <a:off x="822960" y="3017520"/>
            <a:ext cx="10515600" cy="914400"/>
          </a:xfrm>
          <a:prstGeom prst="rect">
            <a:avLst/>
          </a:prstGeom>
          <a:noFill/>
        </p:spPr>
        <p:txBody>
          <a:bodyPr wrap="square">
            <a:spAutoFit/>
          </a:bodyPr>
          <a:lstStyle/>
          <a:p>
            <a:pPr algn="l">
              <a:spcAft>
                <a:spcPts val="600"/>
              </a:spcAft>
            </a:pPr>
            <a:r>
              <a:rPr sz="2800" b="1">
                <a:solidFill>
                  <a:srgbClr val="FFFFFF"/>
                </a:solidFill>
                <a:latin typeface="맑은 고딕"/>
                <a:ea typeface="맑은 고딕"/>
                <a:cs typeface="맑은 고딕"/>
              </a:rPr>
              <a:t>초기 인스턴스 구성</a:t>
            </a:r>
          </a:p>
        </p:txBody>
      </p:sp>
      <p:sp>
        <p:nvSpPr>
          <p:cNvPr id="5" name="Rectangle 4"/>
          <p:cNvSpPr/>
          <p:nvPr/>
        </p:nvSpPr>
        <p:spPr>
          <a:xfrm>
            <a:off x="822960" y="4114800"/>
            <a:ext cx="5486400" cy="5486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4297680"/>
            <a:ext cx="10058400" cy="2011680"/>
          </a:xfrm>
          <a:prstGeom prst="rect">
            <a:avLst/>
          </a:prstGeom>
          <a:noFill/>
        </p:spPr>
        <p:txBody>
          <a:bodyPr wrap="square">
            <a:spAutoFit/>
          </a:bodyPr>
          <a:lstStyle/>
          <a:p>
            <a:pPr algn="l">
              <a:spcAft>
                <a:spcPts val="600"/>
              </a:spcAft>
            </a:pPr>
            <a:r>
              <a:rPr sz="1600" b="0">
                <a:solidFill>
                  <a:srgbClr val="FFFFFF"/>
                </a:solidFill>
                <a:latin typeface="맑은 고딕"/>
                <a:ea typeface="맑은 고딕"/>
                <a:cs typeface="맑은 고딕"/>
              </a:rPr>
              <a:t>•  성능 영향 4갈래: 파라미터·Undo·리두·테이블스페이스</a:t>
            </a:r>
          </a:p>
          <a:p>
            <a:pPr algn="l">
              <a:spcAft>
                <a:spcPts val="600"/>
              </a:spcAft>
            </a:pPr>
            <a:r>
              <a:rPr sz="1600" b="0">
                <a:solidFill>
                  <a:srgbClr val="FFFFFF"/>
                </a:solidFill>
                <a:latin typeface="맑은 고딕"/>
                <a:ea typeface="맑은 고딕"/>
                <a:cs typeface="맑은 고딕"/>
              </a:rPr>
              <a:t>•  DBCA 시드는 권고를 이미 충족</a:t>
            </a:r>
          </a:p>
          <a:p>
            <a:pPr algn="l">
              <a:spcAft>
                <a:spcPts val="600"/>
              </a:spcAft>
            </a:pPr>
            <a:r>
              <a:rPr sz="1600" b="0">
                <a:solidFill>
                  <a:srgbClr val="FFFFFF"/>
                </a:solidFill>
                <a:latin typeface="맑은 고딕"/>
                <a:ea typeface="맑은 고딕"/>
                <a:cs typeface="맑은 고딕"/>
              </a:rPr>
              <a:t>•  초기화 파일은 튜닝 첫 자리가 아니다</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nchor="ctr">
            <a:spAutoFit/>
          </a:bodyPr>
          <a:lstStyle/>
          <a:p>
            <a:pPr algn="l">
              <a:spcAft>
                <a:spcPts val="600"/>
              </a:spcAft>
            </a:pPr>
            <a:r>
              <a:rPr sz="2600" b="1">
                <a:solidFill>
                  <a:srgbClr val="FFFFFF"/>
                </a:solidFill>
                <a:latin typeface="맑은 고딕"/>
                <a:ea typeface="맑은 고딕"/>
                <a:cs typeface="맑은 고딕"/>
              </a:rPr>
              <a:t>성능에 영향 없는 필수 파라미터</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ea typeface="맑은 고딕"/>
                <a:cs typeface="맑은 고딕"/>
              </a:rPr>
              <a:t>있어야 뜨는 최소 조건 — 성능 손잡이가 아니다</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800"/>
              </a:spcAft>
            </a:pPr>
            <a:r>
              <a:rPr sz="1700" b="0">
                <a:solidFill>
                  <a:srgbClr val="222222"/>
                </a:solidFill>
                <a:latin typeface="맑은 고딕"/>
                <a:ea typeface="맑은 고딕"/>
                <a:cs typeface="맑은 고딕"/>
              </a:rPr>
              <a:t>•  DB_NAME / DB_DOMAIN — 이름과 위치</a:t>
            </a:r>
          </a:p>
          <a:p>
            <a:pPr algn="l">
              <a:spcAft>
                <a:spcPts val="800"/>
              </a:spcAft>
            </a:pPr>
            <a:r>
              <a:rPr sz="1700" b="0">
                <a:solidFill>
                  <a:srgbClr val="222222"/>
                </a:solidFill>
                <a:latin typeface="맑은 고딕"/>
                <a:ea typeface="맑은 고딕"/>
                <a:cs typeface="맑은 고딕"/>
              </a:rPr>
              <a:t>•  OPEN_CURSORS — 세션당 커서 상한(권고 500), 키워도 빨라지지 않음</a:t>
            </a:r>
          </a:p>
          <a:p>
            <a:pPr algn="l">
              <a:spcAft>
                <a:spcPts val="800"/>
              </a:spcAft>
            </a:pPr>
            <a:r>
              <a:rPr sz="1700" b="0">
                <a:solidFill>
                  <a:srgbClr val="222222"/>
                </a:solidFill>
                <a:latin typeface="맑은 고딕"/>
                <a:ea typeface="맑은 고딕"/>
                <a:cs typeface="맑은 고딕"/>
              </a:rPr>
              <a:t>•  CONTROL_FILES — 서로 다른 디스크에 2개 이상</a:t>
            </a:r>
          </a:p>
          <a:p>
            <a:pPr algn="l">
              <a:spcAft>
                <a:spcPts val="800"/>
              </a:spcAft>
            </a:pPr>
            <a:r>
              <a:rPr sz="1700" b="0">
                <a:solidFill>
                  <a:srgbClr val="222222"/>
                </a:solidFill>
                <a:latin typeface="맑은 고딕"/>
                <a:ea typeface="맑은 고딕"/>
                <a:cs typeface="맑은 고딕"/>
              </a:rPr>
              <a:t>•  DB_FILES — 할당 가능한 최대 파일 수</a:t>
            </a:r>
          </a:p>
          <a:p>
            <a:pPr algn="l">
              <a:spcAft>
                <a:spcPts val="800"/>
              </a:spcAft>
            </a:pPr>
            <a:r>
              <a:rPr sz="1700" b="0">
                <a:solidFill>
                  <a:srgbClr val="222222"/>
                </a:solidFill>
                <a:latin typeface="맑은 고딕"/>
                <a:ea typeface="맑은 고딕"/>
                <a:cs typeface="맑은 고딕"/>
              </a:rPr>
              <a:t>•  너무 작으면 ORA-01000, 커도 성능은 그대로</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nchor="ctr">
            <a:spAutoFit/>
          </a:bodyPr>
          <a:lstStyle/>
          <a:p>
            <a:pPr algn="l">
              <a:spcAft>
                <a:spcPts val="600"/>
              </a:spcAft>
            </a:pPr>
            <a:r>
              <a:rPr sz="2600" b="1">
                <a:solidFill>
                  <a:srgbClr val="FFFFFF"/>
                </a:solidFill>
                <a:latin typeface="맑은 고딕"/>
                <a:ea typeface="맑은 고딕"/>
                <a:cs typeface="맑은 고딕"/>
              </a:rPr>
              <a:t>리두 로그와 테이블스페이스</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ea typeface="맑은 고딕"/>
                <a:cs typeface="맑은 고딕"/>
              </a:rPr>
              <a:t>체크포인트와 세그먼트 공간 관리</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800"/>
              </a:spcAft>
            </a:pPr>
            <a:r>
              <a:rPr sz="1700" b="0">
                <a:solidFill>
                  <a:srgbClr val="222222"/>
                </a:solidFill>
                <a:latin typeface="맑은 고딕"/>
                <a:ea typeface="맑은 고딕"/>
                <a:cs typeface="맑은 고딕"/>
              </a:rPr>
              <a:t>•  리두 로그: 큰 로그가 일반적으로 유리, 최대 20분에 한 번 스위치</a:t>
            </a:r>
          </a:p>
          <a:p>
            <a:pPr algn="l">
              <a:spcAft>
                <a:spcPts val="800"/>
              </a:spcAft>
            </a:pPr>
            <a:r>
              <a:rPr sz="1700" b="0">
                <a:solidFill>
                  <a:srgbClr val="222222"/>
                </a:solidFill>
                <a:latin typeface="맑은 고딕"/>
                <a:ea typeface="맑은 고딕"/>
                <a:cs typeface="맑은 고딕"/>
              </a:rPr>
              <a:t>•  작은 로그는 잦은 체크포인트로 성능 저하(DBWR·체크포인트에 영향)</a:t>
            </a:r>
          </a:p>
          <a:p>
            <a:pPr algn="l">
              <a:spcAft>
                <a:spcPts val="800"/>
              </a:spcAft>
            </a:pPr>
            <a:r>
              <a:rPr sz="1700" b="0">
                <a:solidFill>
                  <a:srgbClr val="222222"/>
                </a:solidFill>
                <a:latin typeface="맑은 고딕"/>
                <a:ea typeface="맑은 고딕"/>
                <a:cs typeface="맑은 고딕"/>
              </a:rPr>
              <a:t>•  최적 크기: V$INSTANCE_RECOVERY.OPTIMAL_LOGFILE_SIZE</a:t>
            </a:r>
          </a:p>
          <a:p>
            <a:pPr algn="l">
              <a:spcAft>
                <a:spcPts val="800"/>
              </a:spcAft>
            </a:pPr>
            <a:r>
              <a:rPr sz="1700" b="0">
                <a:solidFill>
                  <a:srgbClr val="222222"/>
                </a:solidFill>
                <a:latin typeface="맑은 고딕"/>
                <a:ea typeface="맑은 고딕"/>
                <a:cs typeface="맑은 고딕"/>
              </a:rPr>
              <a:t>•  영구 TS: 로컬 관리 + 자동 세그먼트 공간 관리(ASSM) 권장</a:t>
            </a:r>
          </a:p>
          <a:p>
            <a:pPr algn="l">
              <a:spcAft>
                <a:spcPts val="800"/>
              </a:spcAft>
            </a:pPr>
            <a:r>
              <a:rPr sz="1700" b="0">
                <a:solidFill>
                  <a:srgbClr val="222222"/>
                </a:solidFill>
                <a:latin typeface="맑은 고딕"/>
                <a:ea typeface="맑은 고딕"/>
                <a:cs typeface="맑은 고딕"/>
              </a:rPr>
              <a:t>•  삽입·수정·삭제가 잦으면 반드시 로컬 익스텐트 관리</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2011680"/>
            <a:ext cx="10515600" cy="1097280"/>
          </a:xfrm>
          <a:prstGeom prst="rect">
            <a:avLst/>
          </a:prstGeom>
          <a:noFill/>
        </p:spPr>
        <p:txBody>
          <a:bodyPr wrap="square">
            <a:spAutoFit/>
          </a:bodyPr>
          <a:lstStyle/>
          <a:p>
            <a:pPr algn="l">
              <a:spcAft>
                <a:spcPts val="600"/>
              </a:spcAft>
            </a:pPr>
            <a:r>
              <a:rPr sz="4000" b="1">
                <a:solidFill>
                  <a:srgbClr val="FFFFFF"/>
                </a:solidFill>
                <a:latin typeface="맑은 고딕"/>
                <a:ea typeface="맑은 고딕"/>
                <a:cs typeface="맑은 고딕"/>
              </a:rPr>
              <a:t>4.3</a:t>
            </a:r>
          </a:p>
        </p:txBody>
      </p:sp>
      <p:sp>
        <p:nvSpPr>
          <p:cNvPr id="4" name="TextBox 3"/>
          <p:cNvSpPr txBox="1"/>
          <p:nvPr/>
        </p:nvSpPr>
        <p:spPr>
          <a:xfrm>
            <a:off x="822960" y="3017520"/>
            <a:ext cx="10515600" cy="914400"/>
          </a:xfrm>
          <a:prstGeom prst="rect">
            <a:avLst/>
          </a:prstGeom>
          <a:noFill/>
        </p:spPr>
        <p:txBody>
          <a:bodyPr wrap="square">
            <a:spAutoFit/>
          </a:bodyPr>
          <a:lstStyle/>
          <a:p>
            <a:pPr algn="l">
              <a:spcAft>
                <a:spcPts val="600"/>
              </a:spcAft>
            </a:pPr>
            <a:r>
              <a:rPr sz="2800" b="1">
                <a:solidFill>
                  <a:srgbClr val="FFFFFF"/>
                </a:solidFill>
                <a:latin typeface="맑은 고딕"/>
                <a:ea typeface="맑은 고딕"/>
                <a:cs typeface="맑은 고딕"/>
              </a:rPr>
              <a:t>성능 초기화 파라미터</a:t>
            </a:r>
          </a:p>
        </p:txBody>
      </p:sp>
      <p:sp>
        <p:nvSpPr>
          <p:cNvPr id="5" name="Rectangle 4"/>
          <p:cNvSpPr/>
          <p:nvPr/>
        </p:nvSpPr>
        <p:spPr>
          <a:xfrm>
            <a:off x="822960" y="4114800"/>
            <a:ext cx="5486400" cy="5486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4297680"/>
            <a:ext cx="10058400" cy="2011680"/>
          </a:xfrm>
          <a:prstGeom prst="rect">
            <a:avLst/>
          </a:prstGeom>
          <a:noFill/>
        </p:spPr>
        <p:txBody>
          <a:bodyPr wrap="square">
            <a:spAutoFit/>
          </a:bodyPr>
          <a:lstStyle/>
          <a:p>
            <a:pPr algn="l">
              <a:spcAft>
                <a:spcPts val="600"/>
              </a:spcAft>
            </a:pPr>
            <a:r>
              <a:rPr sz="1600" b="0">
                <a:solidFill>
                  <a:srgbClr val="FFFFFF"/>
                </a:solidFill>
                <a:latin typeface="맑은 고딕"/>
                <a:ea typeface="맑은 고딕"/>
                <a:cs typeface="맑은 고딕"/>
              </a:rPr>
              <a:t>•  성능에 영향을 주는 파라미터는 소수</a:t>
            </a:r>
          </a:p>
          <a:p>
            <a:pPr algn="l">
              <a:spcAft>
                <a:spcPts val="600"/>
              </a:spcAft>
            </a:pPr>
            <a:r>
              <a:rPr sz="1600" b="0">
                <a:solidFill>
                  <a:srgbClr val="FFFFFF"/>
                </a:solidFill>
                <a:latin typeface="맑은 고딕"/>
                <a:ea typeface="맑은 고딕"/>
                <a:cs typeface="맑은 고딕"/>
              </a:rPr>
              <a:t>•  PROCESSES가 1차 파라미터 — 다수 값이 파생</a:t>
            </a:r>
          </a:p>
          <a:p>
            <a:pPr algn="l">
              <a:spcAft>
                <a:spcPts val="600"/>
              </a:spcAft>
            </a:pPr>
            <a:r>
              <a:rPr sz="1600" b="0">
                <a:solidFill>
                  <a:srgbClr val="FFFFFF"/>
                </a:solidFill>
                <a:latin typeface="맑은 고딕"/>
                <a:ea typeface="맑은 고딕"/>
                <a:cs typeface="맑은 고딕"/>
              </a:rPr>
              <a:t>•  실측으로 인스턴스 성격을 읽는다</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nchor="ctr">
            <a:spAutoFit/>
          </a:bodyPr>
          <a:lstStyle/>
          <a:p>
            <a:pPr algn="l">
              <a:spcAft>
                <a:spcPts val="600"/>
              </a:spcAft>
            </a:pPr>
            <a:r>
              <a:rPr sz="2600" b="1">
                <a:solidFill>
                  <a:srgbClr val="FFFFFF"/>
                </a:solidFill>
                <a:latin typeface="맑은 고딕"/>
                <a:ea typeface="맑은 고딕"/>
                <a:cs typeface="맑은 고딕"/>
              </a:rPr>
              <a:t>성능 영향이 있는 중요 파라미터</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ea typeface="맑은 고딕"/>
                <a:cs typeface="맑은 고딕"/>
              </a:rPr>
              <a:t>이 값들을 읽으면 인스턴스 성격이 보인다</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800"/>
              </a:spcAft>
            </a:pPr>
            <a:r>
              <a:rPr sz="1700" b="0">
                <a:solidFill>
                  <a:srgbClr val="222222"/>
                </a:solidFill>
                <a:latin typeface="맑은 고딕"/>
                <a:ea typeface="맑은 고딕"/>
                <a:cs typeface="맑은 고딕"/>
              </a:rPr>
              <a:t>•  COMPATIBLE — 신기능 활성화 경계</a:t>
            </a:r>
          </a:p>
          <a:p>
            <a:pPr algn="l">
              <a:spcAft>
                <a:spcPts val="800"/>
              </a:spcAft>
            </a:pPr>
            <a:r>
              <a:rPr sz="1700" b="0">
                <a:solidFill>
                  <a:srgbClr val="222222"/>
                </a:solidFill>
                <a:latin typeface="맑은 고딕"/>
                <a:ea typeface="맑은 고딕"/>
                <a:cs typeface="맑은 고딕"/>
              </a:rPr>
              <a:t>•  DB_BLOCK_SIZE — OLTP 8192 / DW 더 큼</a:t>
            </a:r>
          </a:p>
          <a:p>
            <a:pPr algn="l">
              <a:spcAft>
                <a:spcPts val="800"/>
              </a:spcAft>
            </a:pPr>
            <a:r>
              <a:rPr sz="1700" b="0">
                <a:solidFill>
                  <a:srgbClr val="222222"/>
                </a:solidFill>
                <a:latin typeface="맑은 고딕"/>
                <a:ea typeface="맑은 고딕"/>
                <a:cs typeface="맑은 고딕"/>
              </a:rPr>
              <a:t>•  SGA_TARGET — 지정 시 버퍼캐시·공유풀 자동 분배</a:t>
            </a:r>
          </a:p>
          <a:p>
            <a:pPr algn="l">
              <a:spcAft>
                <a:spcPts val="800"/>
              </a:spcAft>
            </a:pPr>
            <a:r>
              <a:rPr sz="1700" b="0">
                <a:solidFill>
                  <a:srgbClr val="222222"/>
                </a:solidFill>
                <a:latin typeface="맑은 고딕"/>
                <a:ea typeface="맑은 고딕"/>
                <a:cs typeface="맑은 고딕"/>
              </a:rPr>
              <a:t>•  PGA_AGGREGATE_TARGET — 정렬·해시 작업영역 자동 조정</a:t>
            </a:r>
          </a:p>
          <a:p>
            <a:pPr algn="l">
              <a:spcAft>
                <a:spcPts val="800"/>
              </a:spcAft>
            </a:pPr>
            <a:r>
              <a:rPr sz="1700" b="0">
                <a:solidFill>
                  <a:srgbClr val="222222"/>
                </a:solidFill>
                <a:latin typeface="맑은 고딕"/>
                <a:ea typeface="맑은 고딕"/>
                <a:cs typeface="맑은 고딕"/>
              </a:rPr>
              <a:t>•  PROCESSES(1차) → SESSIONS 파생 / UNDO_MANAGEMENT·UNDO_TABLESPACE</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nchor="ctr">
            <a:spAutoFit/>
          </a:bodyPr>
          <a:lstStyle/>
          <a:p>
            <a:pPr algn="l">
              <a:spcAft>
                <a:spcPts val="600"/>
              </a:spcAft>
            </a:pPr>
            <a:r>
              <a:rPr sz="2600" b="1">
                <a:solidFill>
                  <a:srgbClr val="FFFFFF"/>
                </a:solidFill>
                <a:latin typeface="맑은 고딕"/>
                <a:ea typeface="맑은 고딕"/>
                <a:cs typeface="맑은 고딕"/>
              </a:rPr>
              <a:t>V$PARAMETER 실측 — 이 인스턴스의 구성</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ea typeface="맑은 고딕"/>
                <a:cs typeface="맑은 고딕"/>
              </a:rPr>
              <a:t>성능 관련 항목 필터링 (orcl 19.3, 2026-08-25)</a:t>
            </a:r>
          </a:p>
        </p:txBody>
      </p:sp>
      <p:sp>
        <p:nvSpPr>
          <p:cNvPr id="5" name="Rectangle 4"/>
          <p:cNvSpPr/>
          <p:nvPr/>
        </p:nvSpPr>
        <p:spPr>
          <a:xfrm>
            <a:off x="640080" y="1691640"/>
            <a:ext cx="10881360" cy="475488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tIns="91440"/>
          <a:lstStyle/>
          <a:p>
            <a:pPr algn="l">
              <a:spcAft>
                <a:spcPts val="0"/>
              </a:spcAft>
            </a:pPr>
            <a:r>
              <a:rPr sz="1250" b="0">
                <a:solidFill>
                  <a:srgbClr val="F2F2F2"/>
                </a:solidFill>
                <a:latin typeface="Consolas"/>
                <a:ea typeface="Consolas"/>
                <a:cs typeface="Consolas"/>
              </a:rPr>
              <a:t>SYS@orcl&gt; SELECT name, value FROM v$parameter</a:t>
            </a:r>
          </a:p>
          <a:p>
            <a:pPr algn="l">
              <a:spcAft>
                <a:spcPts val="0"/>
              </a:spcAft>
            </a:pPr>
            <a:r>
              <a:rPr sz="1250" b="0">
                <a:solidFill>
                  <a:srgbClr val="F2F2F2"/>
                </a:solidFill>
                <a:latin typeface="Consolas"/>
                <a:ea typeface="Consolas"/>
                <a:cs typeface="Consolas"/>
              </a:rPr>
              <a:t>  2       WHERE name IN ('db_block_size','sga_target',</a:t>
            </a:r>
          </a:p>
          <a:p>
            <a:pPr algn="l">
              <a:spcAft>
                <a:spcPts val="0"/>
              </a:spcAft>
            </a:pPr>
            <a:r>
              <a:rPr sz="1250" b="0">
                <a:solidFill>
                  <a:srgbClr val="F2F2F2"/>
                </a:solidFill>
                <a:latin typeface="Consolas"/>
                <a:ea typeface="Consolas"/>
                <a:cs typeface="Consolas"/>
              </a:rPr>
              <a:t>  3         'pga_aggregate_target','processes','sessions',</a:t>
            </a:r>
          </a:p>
          <a:p>
            <a:pPr algn="l">
              <a:spcAft>
                <a:spcPts val="0"/>
              </a:spcAft>
            </a:pPr>
            <a:r>
              <a:rPr sz="1250" b="0">
                <a:solidFill>
                  <a:srgbClr val="F2F2F2"/>
                </a:solidFill>
                <a:latin typeface="Consolas"/>
                <a:ea typeface="Consolas"/>
                <a:cs typeface="Consolas"/>
              </a:rPr>
              <a:t>  4         'undo_retention','undo_tablespace','memory_target');</a:t>
            </a:r>
          </a:p>
          <a:p>
            <a:pPr algn="l">
              <a:spcAft>
                <a:spcPts val="0"/>
              </a:spcAft>
            </a:pPr>
            <a:r>
              <a:rPr sz="1250" b="0">
                <a:solidFill>
                  <a:srgbClr val="F2F2F2"/>
                </a:solidFill>
                <a:latin typeface="Consolas"/>
                <a:ea typeface="Consolas"/>
                <a:cs typeface="Consolas"/>
              </a:rPr>
              <a:t> </a:t>
            </a:r>
          </a:p>
          <a:p>
            <a:pPr algn="l">
              <a:spcAft>
                <a:spcPts val="0"/>
              </a:spcAft>
            </a:pPr>
            <a:r>
              <a:rPr sz="1250" b="0">
                <a:solidFill>
                  <a:srgbClr val="F2F2F2"/>
                </a:solidFill>
                <a:latin typeface="Consolas"/>
                <a:ea typeface="Consolas"/>
                <a:cs typeface="Consolas"/>
              </a:rPr>
              <a:t>NAME                            VALUE</a:t>
            </a:r>
          </a:p>
          <a:p>
            <a:pPr algn="l">
              <a:spcAft>
                <a:spcPts val="0"/>
              </a:spcAft>
            </a:pPr>
            <a:r>
              <a:rPr sz="1250" b="0">
                <a:solidFill>
                  <a:srgbClr val="F2F2F2"/>
                </a:solidFill>
                <a:latin typeface="Consolas"/>
                <a:ea typeface="Consolas"/>
                <a:cs typeface="Consolas"/>
              </a:rPr>
              <a:t>------------------------------- ----------------</a:t>
            </a:r>
          </a:p>
          <a:p>
            <a:pPr algn="l">
              <a:spcAft>
                <a:spcPts val="0"/>
              </a:spcAft>
            </a:pPr>
            <a:r>
              <a:rPr sz="1250" b="0">
                <a:solidFill>
                  <a:srgbClr val="F2F2F2"/>
                </a:solidFill>
                <a:latin typeface="Consolas"/>
                <a:ea typeface="Consolas"/>
                <a:cs typeface="Consolas"/>
              </a:rPr>
              <a:t>db_block_size                   8192</a:t>
            </a:r>
          </a:p>
          <a:p>
            <a:pPr algn="l">
              <a:spcAft>
                <a:spcPts val="0"/>
              </a:spcAft>
            </a:pPr>
            <a:r>
              <a:rPr sz="1250" b="0">
                <a:solidFill>
                  <a:srgbClr val="F2F2F2"/>
                </a:solidFill>
                <a:latin typeface="Consolas"/>
                <a:ea typeface="Consolas"/>
                <a:cs typeface="Consolas"/>
              </a:rPr>
              <a:t>memory_target                   0</a:t>
            </a:r>
          </a:p>
          <a:p>
            <a:pPr algn="l">
              <a:spcAft>
                <a:spcPts val="0"/>
              </a:spcAft>
            </a:pPr>
            <a:r>
              <a:rPr sz="1250" b="0">
                <a:solidFill>
                  <a:srgbClr val="F2F2F2"/>
                </a:solidFill>
                <a:latin typeface="Consolas"/>
                <a:ea typeface="Consolas"/>
                <a:cs typeface="Consolas"/>
              </a:rPr>
              <a:t>pga_aggregate_target            734003200</a:t>
            </a:r>
          </a:p>
          <a:p>
            <a:pPr algn="l">
              <a:spcAft>
                <a:spcPts val="0"/>
              </a:spcAft>
            </a:pPr>
            <a:r>
              <a:rPr sz="1250" b="0">
                <a:solidFill>
                  <a:srgbClr val="F2F2F2"/>
                </a:solidFill>
                <a:latin typeface="Consolas"/>
                <a:ea typeface="Consolas"/>
                <a:cs typeface="Consolas"/>
              </a:rPr>
              <a:t>processes                       500</a:t>
            </a:r>
          </a:p>
          <a:p>
            <a:pPr algn="l">
              <a:spcAft>
                <a:spcPts val="0"/>
              </a:spcAft>
            </a:pPr>
            <a:r>
              <a:rPr sz="1250" b="0">
                <a:solidFill>
                  <a:srgbClr val="F2F2F2"/>
                </a:solidFill>
                <a:latin typeface="Consolas"/>
                <a:ea typeface="Consolas"/>
                <a:cs typeface="Consolas"/>
              </a:rPr>
              <a:t>sessions                        776</a:t>
            </a:r>
          </a:p>
          <a:p>
            <a:pPr algn="l">
              <a:spcAft>
                <a:spcPts val="0"/>
              </a:spcAft>
            </a:pPr>
            <a:r>
              <a:rPr sz="1250" b="0">
                <a:solidFill>
                  <a:srgbClr val="F2F2F2"/>
                </a:solidFill>
                <a:latin typeface="Consolas"/>
                <a:ea typeface="Consolas"/>
                <a:cs typeface="Consolas"/>
              </a:rPr>
              <a:t>sga_target                      1577058304</a:t>
            </a:r>
          </a:p>
          <a:p>
            <a:pPr algn="l">
              <a:spcAft>
                <a:spcPts val="0"/>
              </a:spcAft>
            </a:pPr>
            <a:r>
              <a:rPr sz="1250" b="0">
                <a:solidFill>
                  <a:srgbClr val="F2F2F2"/>
                </a:solidFill>
                <a:latin typeface="Consolas"/>
                <a:ea typeface="Consolas"/>
                <a:cs typeface="Consolas"/>
              </a:rPr>
              <a:t>undo_retention                  900</a:t>
            </a:r>
          </a:p>
          <a:p>
            <a:pPr algn="l">
              <a:spcAft>
                <a:spcPts val="0"/>
              </a:spcAft>
            </a:pPr>
            <a:r>
              <a:rPr sz="1250" b="0">
                <a:solidFill>
                  <a:srgbClr val="F2F2F2"/>
                </a:solidFill>
                <a:latin typeface="Consolas"/>
                <a:ea typeface="Consolas"/>
                <a:cs typeface="Consolas"/>
              </a:rPr>
              <a:t>undo_tablespace                 UNDOTBS1</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nchor="ctr">
            <a:spAutoFit/>
          </a:bodyPr>
          <a:lstStyle/>
          <a:p>
            <a:pPr algn="l">
              <a:spcAft>
                <a:spcPts val="600"/>
              </a:spcAft>
            </a:pPr>
            <a:r>
              <a:rPr sz="2600" b="1">
                <a:solidFill>
                  <a:srgbClr val="FFFFFF"/>
                </a:solidFill>
                <a:latin typeface="맑은 고딕"/>
                <a:ea typeface="맑은 고딕"/>
                <a:cs typeface="맑은 고딕"/>
              </a:rPr>
              <a:t>실측 해석과 안전한 변경</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ea typeface="맑은 고딕"/>
                <a:cs typeface="맑은 고딕"/>
              </a:rPr>
              <a:t>값을 읽고, 근거를 남기고, 하나씩 바꾼다</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800"/>
              </a:spcAft>
            </a:pPr>
            <a:r>
              <a:rPr sz="1700" b="0">
                <a:solidFill>
                  <a:srgbClr val="222222"/>
                </a:solidFill>
                <a:latin typeface="맑은 고딕"/>
                <a:ea typeface="맑은 고딕"/>
                <a:cs typeface="맑은 고딕"/>
              </a:rPr>
              <a:t>•  sga_target 1,577,058,304B ≈ 1.47GB / pga 734,003,200B ≈ 700MB</a:t>
            </a:r>
          </a:p>
          <a:p>
            <a:pPr algn="l">
              <a:spcAft>
                <a:spcPts val="800"/>
              </a:spcAft>
            </a:pPr>
            <a:r>
              <a:rPr sz="1700" b="0">
                <a:solidFill>
                  <a:srgbClr val="222222"/>
                </a:solidFill>
                <a:latin typeface="맑은 고딕"/>
                <a:ea typeface="맑은 고딕"/>
                <a:cs typeface="맑은 고딕"/>
              </a:rPr>
              <a:t>•  memory_target=0은 '설정 안 함' — 오류 아님</a:t>
            </a:r>
          </a:p>
          <a:p>
            <a:pPr algn="l">
              <a:spcAft>
                <a:spcPts val="800"/>
              </a:spcAft>
            </a:pPr>
            <a:r>
              <a:rPr sz="1700" b="0">
                <a:solidFill>
                  <a:srgbClr val="222222"/>
                </a:solidFill>
                <a:latin typeface="맑은 고딕"/>
                <a:ea typeface="맑은 고딕"/>
                <a:cs typeface="맑은 고딕"/>
              </a:rPr>
              <a:t>•  변경 전 현재값을 반드시 캡처(근거 없는 조치 경계)</a:t>
            </a:r>
          </a:p>
          <a:p>
            <a:pPr algn="l">
              <a:spcAft>
                <a:spcPts val="800"/>
              </a:spcAft>
            </a:pPr>
            <a:r>
              <a:rPr sz="1700" b="0">
                <a:solidFill>
                  <a:srgbClr val="222222"/>
                </a:solidFill>
                <a:latin typeface="맑은 고딕"/>
                <a:ea typeface="맑은 고딕"/>
                <a:cs typeface="맑은 고딕"/>
              </a:rPr>
              <a:t>•  SCOPE: MEMORY(현재) / SPFILE(다음 기동) / BOTH(둘 다)</a:t>
            </a:r>
          </a:p>
          <a:p>
            <a:pPr algn="l">
              <a:spcAft>
                <a:spcPts val="800"/>
              </a:spcAft>
            </a:pPr>
            <a:r>
              <a:rPr sz="1700" b="0">
                <a:solidFill>
                  <a:srgbClr val="222222"/>
                </a:solidFill>
                <a:latin typeface="맑은 고딕"/>
                <a:ea typeface="맑은 고딕"/>
                <a:cs typeface="맑은 고딕"/>
              </a:rPr>
              <a:t>•  정적 파라미터(PROCESSES)는 SPFILE + 재기동 → 재조회로 확인</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2011680"/>
            <a:ext cx="10515600" cy="1097280"/>
          </a:xfrm>
          <a:prstGeom prst="rect">
            <a:avLst/>
          </a:prstGeom>
          <a:noFill/>
        </p:spPr>
        <p:txBody>
          <a:bodyPr wrap="square">
            <a:spAutoFit/>
          </a:bodyPr>
          <a:lstStyle/>
          <a:p>
            <a:pPr algn="l">
              <a:spcAft>
                <a:spcPts val="600"/>
              </a:spcAft>
            </a:pPr>
            <a:r>
              <a:rPr sz="4000" b="1">
                <a:solidFill>
                  <a:srgbClr val="FFFFFF"/>
                </a:solidFill>
                <a:latin typeface="맑은 고딕"/>
                <a:ea typeface="맑은 고딕"/>
                <a:cs typeface="맑은 고딕"/>
              </a:rPr>
              <a:t>4.4</a:t>
            </a:r>
          </a:p>
        </p:txBody>
      </p:sp>
      <p:sp>
        <p:nvSpPr>
          <p:cNvPr id="4" name="TextBox 3"/>
          <p:cNvSpPr txBox="1"/>
          <p:nvPr/>
        </p:nvSpPr>
        <p:spPr>
          <a:xfrm>
            <a:off x="822960" y="3017520"/>
            <a:ext cx="10515600" cy="914400"/>
          </a:xfrm>
          <a:prstGeom prst="rect">
            <a:avLst/>
          </a:prstGeom>
          <a:noFill/>
        </p:spPr>
        <p:txBody>
          <a:bodyPr wrap="square">
            <a:spAutoFit/>
          </a:bodyPr>
          <a:lstStyle/>
          <a:p>
            <a:pPr algn="l">
              <a:spcAft>
                <a:spcPts val="600"/>
              </a:spcAft>
            </a:pPr>
            <a:r>
              <a:rPr sz="2800" b="1">
                <a:solidFill>
                  <a:srgbClr val="FFFFFF"/>
                </a:solidFill>
                <a:latin typeface="맑은 고딕"/>
                <a:ea typeface="맑은 고딕"/>
                <a:cs typeface="맑은 고딕"/>
              </a:rPr>
              <a:t>Undo 보존과 ORA-01555</a:t>
            </a:r>
          </a:p>
        </p:txBody>
      </p:sp>
      <p:sp>
        <p:nvSpPr>
          <p:cNvPr id="5" name="Rectangle 4"/>
          <p:cNvSpPr/>
          <p:nvPr/>
        </p:nvSpPr>
        <p:spPr>
          <a:xfrm>
            <a:off x="822960" y="4114800"/>
            <a:ext cx="5486400" cy="5486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4297680"/>
            <a:ext cx="10058400" cy="2011680"/>
          </a:xfrm>
          <a:prstGeom prst="rect">
            <a:avLst/>
          </a:prstGeom>
          <a:noFill/>
        </p:spPr>
        <p:txBody>
          <a:bodyPr wrap="square">
            <a:spAutoFit/>
          </a:bodyPr>
          <a:lstStyle/>
          <a:p>
            <a:pPr algn="l">
              <a:spcAft>
                <a:spcPts val="600"/>
              </a:spcAft>
            </a:pPr>
            <a:r>
              <a:rPr sz="1600" b="0">
                <a:solidFill>
                  <a:srgbClr val="FFFFFF"/>
                </a:solidFill>
                <a:latin typeface="맑은 고딕"/>
                <a:ea typeface="맑은 고딕"/>
                <a:cs typeface="맑은 고딕"/>
              </a:rPr>
              <a:t>•  Undo = 읽기 일관성·복구·롤백의 값</a:t>
            </a:r>
          </a:p>
          <a:p>
            <a:pPr algn="l">
              <a:spcAft>
                <a:spcPts val="600"/>
              </a:spcAft>
            </a:pPr>
            <a:r>
              <a:rPr sz="1600" b="0">
                <a:solidFill>
                  <a:srgbClr val="FFFFFF"/>
                </a:solidFill>
                <a:latin typeface="맑은 고딕"/>
                <a:ea typeface="맑은 고딕"/>
                <a:cs typeface="맑은 고딕"/>
              </a:rPr>
              <a:t>•  UNDO_RETENTION은 목표이지 보장이 아니다</a:t>
            </a:r>
          </a:p>
          <a:p>
            <a:pPr algn="l">
              <a:spcAft>
                <a:spcPts val="600"/>
              </a:spcAft>
            </a:pPr>
            <a:r>
              <a:rPr sz="1600" b="0">
                <a:solidFill>
                  <a:srgbClr val="FFFFFF"/>
                </a:solidFill>
                <a:latin typeface="맑은 고딕"/>
                <a:ea typeface="맑은 고딕"/>
                <a:cs typeface="맑은 고딕"/>
              </a:rPr>
              <a:t>•  ORA-01555는 SQL 문제가 아니다</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nchor="ctr">
            <a:spAutoFit/>
          </a:bodyPr>
          <a:lstStyle/>
          <a:p>
            <a:pPr algn="l">
              <a:spcAft>
                <a:spcPts val="600"/>
              </a:spcAft>
            </a:pPr>
            <a:r>
              <a:rPr sz="2600" b="1">
                <a:solidFill>
                  <a:srgbClr val="FFFFFF"/>
                </a:solidFill>
                <a:latin typeface="맑은 고딕"/>
                <a:ea typeface="맑은 고딕"/>
                <a:cs typeface="맑은 고딕"/>
              </a:rPr>
              <a:t>Undo가 하는 두 가지 일</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ea typeface="맑은 고딕"/>
                <a:cs typeface="맑은 고딕"/>
              </a:rPr>
              <a:t>롤백과 읽기 일관성 — 둘 다 과거 이미지에서 나온다</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800"/>
              </a:spcAft>
            </a:pPr>
            <a:r>
              <a:rPr sz="1700" b="0">
                <a:solidFill>
                  <a:srgbClr val="222222"/>
                </a:solidFill>
                <a:latin typeface="맑은 고딕"/>
                <a:ea typeface="맑은 고딕"/>
                <a:cs typeface="맑은 고딕"/>
              </a:rPr>
              <a:t>•  행이 바뀌면 바뀌기 전 이미지가 Undo 세그먼트에 남는다</a:t>
            </a:r>
          </a:p>
          <a:p>
            <a:pPr algn="l">
              <a:spcAft>
                <a:spcPts val="800"/>
              </a:spcAft>
            </a:pPr>
            <a:r>
              <a:rPr sz="1700" b="0">
                <a:solidFill>
                  <a:srgbClr val="222222"/>
                </a:solidFill>
                <a:latin typeface="맑은 고딕"/>
                <a:ea typeface="맑은 고딕"/>
                <a:cs typeface="맑은 고딕"/>
              </a:rPr>
              <a:t>•  ① 롤백: 커밋 안 된 변경을 되돌린다</a:t>
            </a:r>
          </a:p>
          <a:p>
            <a:pPr algn="l">
              <a:spcAft>
                <a:spcPts val="800"/>
              </a:spcAft>
            </a:pPr>
            <a:r>
              <a:rPr sz="1700" b="0">
                <a:solidFill>
                  <a:srgbClr val="222222"/>
                </a:solidFill>
                <a:latin typeface="맑은 고딕"/>
                <a:ea typeface="맑은 고딕"/>
                <a:cs typeface="맑은 고딕"/>
              </a:rPr>
              <a:t>•  ② 읽기 일관성: 다른 세션이 트랜잭션 시작 시점의 스냅샷을 본다</a:t>
            </a:r>
          </a:p>
          <a:p>
            <a:pPr algn="l">
              <a:spcAft>
                <a:spcPts val="800"/>
              </a:spcAft>
            </a:pPr>
            <a:r>
              <a:rPr sz="1700" b="0">
                <a:solidFill>
                  <a:srgbClr val="222222"/>
                </a:solidFill>
                <a:latin typeface="맑은 고딕"/>
                <a:ea typeface="맑은 고딕"/>
                <a:cs typeface="맑은 고딕"/>
              </a:rPr>
              <a:t>•  이 과거 이미지가 사라지면 긴 조회가 ORA-01555</a:t>
            </a:r>
          </a:p>
          <a:p>
            <a:pPr algn="l">
              <a:spcAft>
                <a:spcPts val="800"/>
              </a:spcAft>
            </a:pPr>
            <a:r>
              <a:rPr sz="1700" b="0">
                <a:solidFill>
                  <a:srgbClr val="222222"/>
                </a:solidFill>
                <a:latin typeface="맑은 고딕"/>
                <a:ea typeface="맑은 고딕"/>
                <a:cs typeface="맑은 고딕"/>
              </a:rPr>
              <a:t>•  그래서 Undo는 '읽기 일관성의 값(비용)'이다</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nchor="ctr">
            <a:spAutoFit/>
          </a:bodyPr>
          <a:lstStyle/>
          <a:p>
            <a:pPr algn="l">
              <a:spcAft>
                <a:spcPts val="600"/>
              </a:spcAft>
            </a:pPr>
            <a:r>
              <a:rPr sz="2600" b="1">
                <a:solidFill>
                  <a:srgbClr val="FFFFFF"/>
                </a:solidFill>
                <a:latin typeface="맑은 고딕"/>
                <a:ea typeface="맑은 고딕"/>
                <a:cs typeface="맑은 고딕"/>
              </a:rPr>
              <a:t>자동 Undo 관리</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ea typeface="맑은 고딕"/>
                <a:cs typeface="맑은 고딕"/>
              </a:rPr>
              <a:t>DBA가 신경 쓸 것은 크기와 보존 두 가지</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800"/>
              </a:spcAft>
            </a:pPr>
            <a:r>
              <a:rPr sz="1700" b="0">
                <a:solidFill>
                  <a:srgbClr val="222222"/>
                </a:solidFill>
                <a:latin typeface="맑은 고딕"/>
                <a:ea typeface="맑은 고딕"/>
                <a:cs typeface="맑은 고딕"/>
              </a:rPr>
              <a:t>•  UNDO_MANAGEMENT=AUTO(기본) — 오라클이 세그먼트 투명 관리</a:t>
            </a:r>
          </a:p>
          <a:p>
            <a:pPr algn="l">
              <a:spcAft>
                <a:spcPts val="800"/>
              </a:spcAft>
            </a:pPr>
            <a:r>
              <a:rPr sz="1700" b="0">
                <a:solidFill>
                  <a:srgbClr val="222222"/>
                </a:solidFill>
                <a:latin typeface="맑은 고딕"/>
                <a:ea typeface="맑은 고딕"/>
                <a:cs typeface="맑은 고딕"/>
              </a:rPr>
              <a:t>•  수동 롤백 세그먼트는 하위 호환용, 새 구성에서 쓸 이유 없음</a:t>
            </a:r>
          </a:p>
          <a:p>
            <a:pPr algn="l">
              <a:spcAft>
                <a:spcPts val="800"/>
              </a:spcAft>
            </a:pPr>
            <a:r>
              <a:rPr sz="1700" b="0">
                <a:solidFill>
                  <a:srgbClr val="222222"/>
                </a:solidFill>
                <a:latin typeface="맑은 고딕"/>
                <a:ea typeface="맑은 고딕"/>
                <a:cs typeface="맑은 고딕"/>
              </a:rPr>
              <a:t>•  MVCC(다중 버전 읽기 일관성)가 Undo 위에서 동작</a:t>
            </a:r>
          </a:p>
          <a:p>
            <a:pPr algn="l">
              <a:spcAft>
                <a:spcPts val="800"/>
              </a:spcAft>
            </a:pPr>
            <a:r>
              <a:rPr sz="1700" b="0">
                <a:solidFill>
                  <a:srgbClr val="222222"/>
                </a:solidFill>
                <a:latin typeface="맑은 고딕"/>
                <a:ea typeface="맑은 고딕"/>
                <a:cs typeface="맑은 고딕"/>
              </a:rPr>
              <a:t>•  DBA 관심사: ① Undo 테이블스페이스 크기 ② UNDO_RETENTION</a:t>
            </a:r>
          </a:p>
          <a:p>
            <a:pPr algn="l">
              <a:spcAft>
                <a:spcPts val="800"/>
              </a:spcAft>
            </a:pPr>
            <a:r>
              <a:rPr sz="1700" b="0">
                <a:solidFill>
                  <a:srgbClr val="222222"/>
                </a:solidFill>
                <a:latin typeface="맑은 고딕"/>
                <a:ea typeface="맑은 고딕"/>
                <a:cs typeface="맑은 고딕"/>
              </a:rPr>
              <a:t>•  V$UNDOSTAT(10분 통계) / V$ROLLSTAT(세그먼트 동작)</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nchor="ctr">
            <a:spAutoFit/>
          </a:bodyPr>
          <a:lstStyle/>
          <a:p>
            <a:pPr algn="l">
              <a:spcAft>
                <a:spcPts val="600"/>
              </a:spcAft>
            </a:pPr>
            <a:r>
              <a:rPr sz="2600" b="1">
                <a:solidFill>
                  <a:srgbClr val="FFFFFF"/>
                </a:solidFill>
                <a:latin typeface="맑은 고딕"/>
                <a:ea typeface="맑은 고딕"/>
                <a:cs typeface="맑은 고딕"/>
              </a:rPr>
              <a:t>Undo 구성 실측</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ea typeface="맑은 고딕"/>
                <a:cs typeface="맑은 고딕"/>
              </a:rPr>
              <a:t>세 값의 조합이 ORA-01555 가능성을 결정</a:t>
            </a:r>
          </a:p>
        </p:txBody>
      </p:sp>
      <p:sp>
        <p:nvSpPr>
          <p:cNvPr id="5" name="Rectangle 4"/>
          <p:cNvSpPr/>
          <p:nvPr/>
        </p:nvSpPr>
        <p:spPr>
          <a:xfrm>
            <a:off x="640080" y="1691640"/>
            <a:ext cx="10881360" cy="475488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tIns="91440"/>
          <a:lstStyle/>
          <a:p>
            <a:pPr algn="l">
              <a:spcAft>
                <a:spcPts val="0"/>
              </a:spcAft>
            </a:pPr>
            <a:r>
              <a:rPr sz="1250" b="0">
                <a:solidFill>
                  <a:srgbClr val="F2F2F2"/>
                </a:solidFill>
                <a:latin typeface="Consolas"/>
                <a:ea typeface="Consolas"/>
                <a:cs typeface="Consolas"/>
              </a:rPr>
              <a:t>SYS@orcl&gt; SELECT tablespace_name, contents, retention</a:t>
            </a:r>
          </a:p>
          <a:p>
            <a:pPr algn="l">
              <a:spcAft>
                <a:spcPts val="0"/>
              </a:spcAft>
            </a:pPr>
            <a:r>
              <a:rPr sz="1250" b="0">
                <a:solidFill>
                  <a:srgbClr val="F2F2F2"/>
                </a:solidFill>
                <a:latin typeface="Consolas"/>
                <a:ea typeface="Consolas"/>
                <a:cs typeface="Consolas"/>
              </a:rPr>
              <a:t>  2       FROM dba_tablespaces WHERE contents='UNDO';</a:t>
            </a:r>
          </a:p>
          <a:p>
            <a:pPr algn="l">
              <a:spcAft>
                <a:spcPts val="0"/>
              </a:spcAft>
            </a:pPr>
            <a:r>
              <a:rPr sz="1250" b="0">
                <a:solidFill>
                  <a:srgbClr val="F2F2F2"/>
                </a:solidFill>
                <a:latin typeface="Consolas"/>
                <a:ea typeface="Consolas"/>
                <a:cs typeface="Consolas"/>
              </a:rPr>
              <a:t>TABLESPACE_NAME   CONTENTS   RETENTION</a:t>
            </a:r>
          </a:p>
          <a:p>
            <a:pPr algn="l">
              <a:spcAft>
                <a:spcPts val="0"/>
              </a:spcAft>
            </a:pPr>
            <a:r>
              <a:rPr sz="1250" b="0">
                <a:solidFill>
                  <a:srgbClr val="F2F2F2"/>
                </a:solidFill>
                <a:latin typeface="Consolas"/>
                <a:ea typeface="Consolas"/>
                <a:cs typeface="Consolas"/>
              </a:rPr>
              <a:t>----------------- ---------- -------------</a:t>
            </a:r>
          </a:p>
          <a:p>
            <a:pPr algn="l">
              <a:spcAft>
                <a:spcPts val="0"/>
              </a:spcAft>
            </a:pPr>
            <a:r>
              <a:rPr sz="1250" b="0">
                <a:solidFill>
                  <a:srgbClr val="F2F2F2"/>
                </a:solidFill>
                <a:latin typeface="Consolas"/>
                <a:ea typeface="Consolas"/>
                <a:cs typeface="Consolas"/>
              </a:rPr>
              <a:t>UNDOTBS1          UNDO       NOGUARANTEE</a:t>
            </a:r>
          </a:p>
          <a:p>
            <a:pPr algn="l">
              <a:spcAft>
                <a:spcPts val="0"/>
              </a:spcAft>
            </a:pPr>
            <a:r>
              <a:rPr sz="1250" b="0">
                <a:solidFill>
                  <a:srgbClr val="F2F2F2"/>
                </a:solidFill>
                <a:latin typeface="Consolas"/>
                <a:ea typeface="Consolas"/>
                <a:cs typeface="Consolas"/>
              </a:rPr>
              <a:t> </a:t>
            </a:r>
          </a:p>
          <a:p>
            <a:pPr algn="l">
              <a:spcAft>
                <a:spcPts val="0"/>
              </a:spcAft>
            </a:pPr>
            <a:r>
              <a:rPr sz="1250" b="0">
                <a:solidFill>
                  <a:srgbClr val="F2F2F2"/>
                </a:solidFill>
                <a:latin typeface="Consolas"/>
                <a:ea typeface="Consolas"/>
                <a:cs typeface="Consolas"/>
              </a:rPr>
              <a:t>SYS@orcl&gt; SELECT tablespace_name, ROUND(SUM(bytes)/1024/1024) mb</a:t>
            </a:r>
          </a:p>
          <a:p>
            <a:pPr algn="l">
              <a:spcAft>
                <a:spcPts val="0"/>
              </a:spcAft>
            </a:pPr>
            <a:r>
              <a:rPr sz="1250" b="0">
                <a:solidFill>
                  <a:srgbClr val="F2F2F2"/>
                </a:solidFill>
                <a:latin typeface="Consolas"/>
                <a:ea typeface="Consolas"/>
                <a:cs typeface="Consolas"/>
              </a:rPr>
              <a:t>  2       FROM dba_data_files</a:t>
            </a:r>
          </a:p>
          <a:p>
            <a:pPr algn="l">
              <a:spcAft>
                <a:spcPts val="0"/>
              </a:spcAft>
            </a:pPr>
            <a:r>
              <a:rPr sz="1250" b="0">
                <a:solidFill>
                  <a:srgbClr val="F2F2F2"/>
                </a:solidFill>
                <a:latin typeface="Consolas"/>
                <a:ea typeface="Consolas"/>
                <a:cs typeface="Consolas"/>
              </a:rPr>
              <a:t>  3       WHERE tablespace_name='UNDOTBS1' GROUP BY tablespace_name;</a:t>
            </a:r>
          </a:p>
          <a:p>
            <a:pPr algn="l">
              <a:spcAft>
                <a:spcPts val="0"/>
              </a:spcAft>
            </a:pPr>
            <a:r>
              <a:rPr sz="1250" b="0">
                <a:solidFill>
                  <a:srgbClr val="F2F2F2"/>
                </a:solidFill>
                <a:latin typeface="Consolas"/>
                <a:ea typeface="Consolas"/>
                <a:cs typeface="Consolas"/>
              </a:rPr>
              <a:t>TABLESPACE_NAME          MB</a:t>
            </a:r>
          </a:p>
          <a:p>
            <a:pPr algn="l">
              <a:spcAft>
                <a:spcPts val="0"/>
              </a:spcAft>
            </a:pPr>
            <a:r>
              <a:rPr sz="1250" b="0">
                <a:solidFill>
                  <a:srgbClr val="F2F2F2"/>
                </a:solidFill>
                <a:latin typeface="Consolas"/>
                <a:ea typeface="Consolas"/>
                <a:cs typeface="Consolas"/>
              </a:rPr>
              <a:t>----------------- ----------</a:t>
            </a:r>
          </a:p>
          <a:p>
            <a:pPr algn="l">
              <a:spcAft>
                <a:spcPts val="0"/>
              </a:spcAft>
            </a:pPr>
            <a:r>
              <a:rPr sz="1250" b="0">
                <a:solidFill>
                  <a:srgbClr val="F2F2F2"/>
                </a:solidFill>
                <a:latin typeface="Consolas"/>
                <a:ea typeface="Consolas"/>
                <a:cs typeface="Consolas"/>
              </a:rPr>
              <a:t>UNDOTBS1                 380</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nchor="ctr">
            <a:spAutoFit/>
          </a:bodyPr>
          <a:lstStyle/>
          <a:p>
            <a:pPr algn="l">
              <a:spcAft>
                <a:spcPts val="600"/>
              </a:spcAft>
            </a:pPr>
            <a:r>
              <a:rPr sz="2600" b="1">
                <a:solidFill>
                  <a:srgbClr val="FFFFFF"/>
                </a:solidFill>
                <a:latin typeface="맑은 고딕"/>
                <a:ea typeface="맑은 고딕"/>
                <a:cs typeface="맑은 고딕"/>
              </a:rPr>
              <a:t>UNDO_RETENTION vs RETENTION GUARANTEE</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ea typeface="맑은 고딕"/>
                <a:cs typeface="맑은 고딕"/>
              </a:rPr>
              <a:t>둘 중 무엇을 희생할 것인가</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800"/>
              </a:spcAft>
            </a:pPr>
            <a:r>
              <a:rPr sz="1700" b="0">
                <a:solidFill>
                  <a:srgbClr val="222222"/>
                </a:solidFill>
                <a:latin typeface="맑은 고딕"/>
                <a:ea typeface="맑은 고딕"/>
                <a:cs typeface="맑은 고딕"/>
              </a:rPr>
              <a:t>•  UNDO_RETENTION: 커밋된 Undo를 최소 N초 보존하려는 '목표'</a:t>
            </a:r>
          </a:p>
          <a:p>
            <a:pPr algn="l">
              <a:spcAft>
                <a:spcPts val="800"/>
              </a:spcAft>
            </a:pPr>
            <a:r>
              <a:rPr sz="1700" b="0">
                <a:solidFill>
                  <a:srgbClr val="222222"/>
                </a:solidFill>
                <a:latin typeface="맑은 고딕"/>
                <a:ea typeface="맑은 고딕"/>
                <a:cs typeface="맑은 고딕"/>
              </a:rPr>
              <a:t>•  NOGUARANTEE: 공간 부족 시 보존 안 지나도 덮어씀 → 긴 조회 ORA-01555</a:t>
            </a:r>
          </a:p>
          <a:p>
            <a:pPr algn="l">
              <a:spcAft>
                <a:spcPts val="800"/>
              </a:spcAft>
            </a:pPr>
            <a:r>
              <a:rPr sz="1700" b="0">
                <a:solidFill>
                  <a:srgbClr val="222222"/>
                </a:solidFill>
                <a:latin typeface="맑은 고딕"/>
                <a:ea typeface="맑은 고딕"/>
                <a:cs typeface="맑은 고딕"/>
              </a:rPr>
              <a:t>•  GUARANTEE: 보존 시간 내 Undo 절대 안 덮어씀 → 대신 DML ORA-30036</a:t>
            </a:r>
          </a:p>
          <a:p>
            <a:pPr algn="l">
              <a:spcAft>
                <a:spcPts val="800"/>
              </a:spcAft>
            </a:pPr>
            <a:r>
              <a:rPr sz="1700" b="0">
                <a:solidFill>
                  <a:srgbClr val="222222"/>
                </a:solidFill>
                <a:latin typeface="맑은 고딕"/>
                <a:ea typeface="맑은 고딕"/>
                <a:cs typeface="맑은 고딕"/>
              </a:rPr>
              <a:t>•  오래 도는 리포트 필수 완주 → GUARANTEE</a:t>
            </a:r>
          </a:p>
          <a:p>
            <a:pPr algn="l">
              <a:spcAft>
                <a:spcPts val="800"/>
              </a:spcAft>
            </a:pPr>
            <a:r>
              <a:rPr sz="1700" b="0">
                <a:solidFill>
                  <a:srgbClr val="222222"/>
                </a:solidFill>
                <a:latin typeface="맑은 고딕"/>
                <a:ea typeface="맑은 고딕"/>
                <a:cs typeface="맑은 고딕"/>
              </a:rPr>
              <a:t>•  DML 가용성 최우선 → NOGUARANTEE</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nchor="ctr">
            <a:spAutoFit/>
          </a:bodyPr>
          <a:lstStyle/>
          <a:p>
            <a:pPr algn="l">
              <a:spcAft>
                <a:spcPts val="600"/>
              </a:spcAft>
            </a:pPr>
            <a:r>
              <a:rPr sz="2600" b="1">
                <a:solidFill>
                  <a:srgbClr val="FFFFFF"/>
                </a:solidFill>
                <a:latin typeface="맑은 고딕"/>
                <a:ea typeface="맑은 고딕"/>
                <a:cs typeface="맑은 고딕"/>
              </a:rPr>
              <a:t>ORA-01555 snapshot too old의 메커니즘</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ea typeface="맑은 고딕"/>
                <a:cs typeface="맑은 고딕"/>
              </a:rPr>
              <a:t>조회 길이·동시 변경량·Undo 공간의 함수</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800"/>
              </a:spcAft>
            </a:pPr>
            <a:r>
              <a:rPr sz="1700" b="0">
                <a:solidFill>
                  <a:srgbClr val="222222"/>
                </a:solidFill>
                <a:latin typeface="맑은 고딕"/>
                <a:ea typeface="맑은 고딕"/>
                <a:cs typeface="맑은 고딕"/>
              </a:rPr>
              <a:t>•  긴 조회 A는 시작 시점의 일관된 스냅샷을 봐야 한다</a:t>
            </a:r>
          </a:p>
          <a:p>
            <a:pPr algn="l">
              <a:spcAft>
                <a:spcPts val="800"/>
              </a:spcAft>
            </a:pPr>
            <a:r>
              <a:rPr sz="1700" b="0">
                <a:solidFill>
                  <a:srgbClr val="222222"/>
                </a:solidFill>
                <a:latin typeface="맑은 고딕"/>
                <a:ea typeface="맑은 고딕"/>
                <a:cs typeface="맑은 고딕"/>
              </a:rPr>
              <a:t>•  그 사이 다른 세션이 같은 데이터를 바꾸고 커밋</a:t>
            </a:r>
          </a:p>
          <a:p>
            <a:pPr algn="l">
              <a:spcAft>
                <a:spcPts val="800"/>
              </a:spcAft>
            </a:pPr>
            <a:r>
              <a:rPr sz="1700" b="0">
                <a:solidFill>
                  <a:srgbClr val="222222"/>
                </a:solidFill>
                <a:latin typeface="맑은 고딕"/>
                <a:ea typeface="맑은 고딕"/>
                <a:cs typeface="맑은 고딕"/>
              </a:rPr>
              <a:t>•  Undo 공간 부족 → 시작 시점 과거 이미지가 덮어써짐</a:t>
            </a:r>
          </a:p>
          <a:p>
            <a:pPr algn="l">
              <a:spcAft>
                <a:spcPts val="800"/>
              </a:spcAft>
            </a:pPr>
            <a:r>
              <a:rPr sz="1700" b="0">
                <a:solidFill>
                  <a:srgbClr val="222222"/>
                </a:solidFill>
                <a:latin typeface="맑은 고딕"/>
                <a:ea typeface="맑은 고딕"/>
                <a:cs typeface="맑은 고딕"/>
              </a:rPr>
              <a:t>•  A가 그 블록에 도달 → '과거 이미지 없음' → ORA-01555</a:t>
            </a:r>
          </a:p>
          <a:p>
            <a:pPr algn="l">
              <a:spcAft>
                <a:spcPts val="800"/>
              </a:spcAft>
            </a:pPr>
            <a:r>
              <a:rPr sz="1700" b="0">
                <a:solidFill>
                  <a:srgbClr val="222222"/>
                </a:solidFill>
                <a:latin typeface="맑은 고딕"/>
                <a:ea typeface="맑은 고딕"/>
                <a:cs typeface="맑은 고딕"/>
              </a:rPr>
              <a:t>•  조치: Undo 확장 / UNDO_RETENTION↑ / RETENTION GUARANTEE</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nchor="ctr">
            <a:spAutoFit/>
          </a:bodyPr>
          <a:lstStyle/>
          <a:p>
            <a:pPr algn="l">
              <a:spcAft>
                <a:spcPts val="600"/>
              </a:spcAft>
            </a:pPr>
            <a:r>
              <a:rPr sz="2600" b="1">
                <a:solidFill>
                  <a:srgbClr val="FFFFFF"/>
                </a:solidFill>
                <a:latin typeface="맑은 고딕"/>
                <a:ea typeface="맑은 고딕"/>
                <a:cs typeface="맑은 고딕"/>
              </a:rPr>
              <a:t>조치와 재확인 — V$UNDOSTAT로 판정</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ea typeface="맑은 고딕"/>
                <a:cs typeface="맑은 고딕"/>
              </a:rPr>
              <a:t>설정값과 실측 필요량을 비교한다</a:t>
            </a:r>
          </a:p>
        </p:txBody>
      </p:sp>
      <p:sp>
        <p:nvSpPr>
          <p:cNvPr id="5" name="Rectangle 4"/>
          <p:cNvSpPr/>
          <p:nvPr/>
        </p:nvSpPr>
        <p:spPr>
          <a:xfrm>
            <a:off x="640080" y="1691640"/>
            <a:ext cx="10881360" cy="475488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tIns="91440"/>
          <a:lstStyle/>
          <a:p>
            <a:pPr algn="l">
              <a:spcAft>
                <a:spcPts val="0"/>
              </a:spcAft>
            </a:pPr>
            <a:r>
              <a:rPr sz="1250" b="0">
                <a:solidFill>
                  <a:srgbClr val="F2F2F2"/>
                </a:solidFill>
                <a:latin typeface="Consolas"/>
                <a:ea typeface="Consolas"/>
                <a:cs typeface="Consolas"/>
              </a:rPr>
              <a:t>-- 조치(개인 실습 환경 전용)</a:t>
            </a:r>
          </a:p>
          <a:p>
            <a:pPr algn="l">
              <a:spcAft>
                <a:spcPts val="0"/>
              </a:spcAft>
            </a:pPr>
            <a:r>
              <a:rPr sz="1250" b="0">
                <a:solidFill>
                  <a:srgbClr val="F2F2F2"/>
                </a:solidFill>
                <a:latin typeface="Consolas"/>
                <a:ea typeface="Consolas"/>
                <a:cs typeface="Consolas"/>
              </a:rPr>
              <a:t>SYS@orcl&gt; ALTER SYSTEM SET undo_retention=3600 SCOPE=BOTH;</a:t>
            </a:r>
          </a:p>
          <a:p>
            <a:pPr algn="l">
              <a:spcAft>
                <a:spcPts val="0"/>
              </a:spcAft>
            </a:pPr>
            <a:r>
              <a:rPr sz="1250" b="0">
                <a:solidFill>
                  <a:srgbClr val="F2F2F2"/>
                </a:solidFill>
                <a:latin typeface="Consolas"/>
                <a:ea typeface="Consolas"/>
                <a:cs typeface="Consolas"/>
              </a:rPr>
              <a:t>SYS@orcl&gt; ALTER TABLESPACE undotbs1 RETENTION GUARANTEE;</a:t>
            </a:r>
          </a:p>
          <a:p>
            <a:pPr algn="l">
              <a:spcAft>
                <a:spcPts val="0"/>
              </a:spcAft>
            </a:pPr>
            <a:r>
              <a:rPr sz="1250" b="0">
                <a:solidFill>
                  <a:srgbClr val="F2F2F2"/>
                </a:solidFill>
                <a:latin typeface="Consolas"/>
                <a:ea typeface="Consolas"/>
                <a:cs typeface="Consolas"/>
              </a:rPr>
              <a:t> </a:t>
            </a:r>
          </a:p>
          <a:p>
            <a:pPr algn="l">
              <a:spcAft>
                <a:spcPts val="0"/>
              </a:spcAft>
            </a:pPr>
            <a:r>
              <a:rPr sz="1250" b="0">
                <a:solidFill>
                  <a:srgbClr val="F2F2F2"/>
                </a:solidFill>
                <a:latin typeface="Consolas"/>
                <a:ea typeface="Consolas"/>
                <a:cs typeface="Consolas"/>
              </a:rPr>
              <a:t>-- 판정: 최장 조회 vs 보존, ORA-01555 발생 수</a:t>
            </a:r>
          </a:p>
          <a:p>
            <a:pPr algn="l">
              <a:spcAft>
                <a:spcPts val="0"/>
              </a:spcAft>
            </a:pPr>
            <a:r>
              <a:rPr sz="1250" b="0">
                <a:solidFill>
                  <a:srgbClr val="F2F2F2"/>
                </a:solidFill>
                <a:latin typeface="Consolas"/>
                <a:ea typeface="Consolas"/>
                <a:cs typeface="Consolas"/>
              </a:rPr>
              <a:t>SYS@orcl&gt; SELECT maxquerylen mql, tuned_undoretention tuned,</a:t>
            </a:r>
          </a:p>
          <a:p>
            <a:pPr algn="l">
              <a:spcAft>
                <a:spcPts val="0"/>
              </a:spcAft>
            </a:pPr>
            <a:r>
              <a:rPr sz="1250" b="0">
                <a:solidFill>
                  <a:srgbClr val="F2F2F2"/>
                </a:solidFill>
                <a:latin typeface="Consolas"/>
                <a:ea typeface="Consolas"/>
                <a:cs typeface="Consolas"/>
              </a:rPr>
              <a:t>  2         ssolderrcnt ora1555 FROM v$undostat</a:t>
            </a:r>
          </a:p>
          <a:p>
            <a:pPr algn="l">
              <a:spcAft>
                <a:spcPts val="0"/>
              </a:spcAft>
            </a:pPr>
            <a:r>
              <a:rPr sz="1250" b="0">
                <a:solidFill>
                  <a:srgbClr val="F2F2F2"/>
                </a:solidFill>
                <a:latin typeface="Consolas"/>
                <a:ea typeface="Consolas"/>
                <a:cs typeface="Consolas"/>
              </a:rPr>
              <a:t>  3       ORDER BY begin_time DESC FETCH FIRST 3 ROWS ONLY;</a:t>
            </a:r>
          </a:p>
          <a:p>
            <a:pPr algn="l">
              <a:spcAft>
                <a:spcPts val="0"/>
              </a:spcAft>
            </a:pPr>
            <a:r>
              <a:rPr sz="1250" b="0">
                <a:solidFill>
                  <a:srgbClr val="F2F2F2"/>
                </a:solidFill>
                <a:latin typeface="Consolas"/>
                <a:ea typeface="Consolas"/>
                <a:cs typeface="Consolas"/>
              </a:rPr>
              <a:t>  MQL      TUNED    ORA1555</a:t>
            </a:r>
          </a:p>
          <a:p>
            <a:pPr algn="l">
              <a:spcAft>
                <a:spcPts val="0"/>
              </a:spcAft>
            </a:pPr>
            <a:r>
              <a:rPr sz="1250" b="0">
                <a:solidFill>
                  <a:srgbClr val="F2F2F2"/>
                </a:solidFill>
                <a:latin typeface="Consolas"/>
                <a:ea typeface="Consolas"/>
                <a:cs typeface="Consolas"/>
              </a:rPr>
              <a:t>------- ---------- ----------</a:t>
            </a:r>
          </a:p>
          <a:p>
            <a:pPr algn="l">
              <a:spcAft>
                <a:spcPts val="0"/>
              </a:spcAft>
            </a:pPr>
            <a:r>
              <a:rPr sz="1250" b="0">
                <a:solidFill>
                  <a:srgbClr val="F2F2F2"/>
                </a:solidFill>
                <a:latin typeface="Consolas"/>
                <a:ea typeface="Consolas"/>
                <a:cs typeface="Consolas"/>
              </a:rPr>
              <a:t> &lt;환경값&gt;     &lt;환경값&gt;          0</a:t>
            </a:r>
          </a:p>
          <a:p>
            <a:pPr algn="l">
              <a:spcAft>
                <a:spcPts val="0"/>
              </a:spcAft>
            </a:pPr>
            <a:r>
              <a:rPr sz="1250" b="0">
                <a:solidFill>
                  <a:srgbClr val="F2F2F2"/>
                </a:solidFill>
                <a:latin typeface="Consolas"/>
                <a:ea typeface="Consolas"/>
                <a:cs typeface="Consolas"/>
              </a:rPr>
              <a:t>-- MAXQUERYLEN &gt; UNDO_RETENTION 이고 ORA1555&gt;0 이면 보존 부족</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nchor="ctr">
            <a:spAutoFit/>
          </a:bodyPr>
          <a:lstStyle/>
          <a:p>
            <a:pPr algn="l">
              <a:spcAft>
                <a:spcPts val="600"/>
              </a:spcAft>
            </a:pPr>
            <a:r>
              <a:rPr sz="2600" b="1">
                <a:solidFill>
                  <a:srgbClr val="FFFFFF"/>
                </a:solidFill>
                <a:latin typeface="맑은 고딕"/>
                <a:ea typeface="맑은 고딕"/>
                <a:cs typeface="맑은 고딕"/>
              </a:rPr>
              <a:t>실무 시나리오 — 리포트만 죽는 ORA-01555</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ea typeface="맑은 고딕"/>
                <a:cs typeface="맑은 고딕"/>
              </a:rPr>
              <a:t>'특정 긴 조회만' 실패하면 Undo를 의심한다</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800"/>
              </a:spcAft>
            </a:pPr>
            <a:r>
              <a:rPr sz="1700" b="0">
                <a:solidFill>
                  <a:srgbClr val="222222"/>
                </a:solidFill>
                <a:latin typeface="맑은 고딕"/>
                <a:ea typeface="맑은 고딕"/>
                <a:cs typeface="맑은 고딕"/>
              </a:rPr>
              <a:t>•  상황: 월말 마감일 오전, 30분짜리 정산 리포트만 ORA-01555로 실패</a:t>
            </a:r>
          </a:p>
          <a:p>
            <a:pPr algn="l">
              <a:spcAft>
                <a:spcPts val="800"/>
              </a:spcAft>
            </a:pPr>
            <a:r>
              <a:rPr sz="1700" b="0">
                <a:solidFill>
                  <a:srgbClr val="222222"/>
                </a:solidFill>
                <a:latin typeface="맑은 고딕"/>
                <a:ea typeface="맑은 고딕"/>
                <a:cs typeface="맑은 고딕"/>
              </a:rPr>
              <a:t>•  진단: V$UNDOSTAT의 MAXQUERYLEN &gt; UNDO_RETENTION(15분), SSOLDERRCNT&gt;0</a:t>
            </a:r>
          </a:p>
          <a:p>
            <a:pPr algn="l">
              <a:spcAft>
                <a:spcPts val="800"/>
              </a:spcAft>
            </a:pPr>
            <a:r>
              <a:rPr sz="1700" b="0">
                <a:solidFill>
                  <a:srgbClr val="222222"/>
                </a:solidFill>
                <a:latin typeface="맑은 고딕"/>
                <a:ea typeface="맑은 고딕"/>
                <a:cs typeface="맑은 고딕"/>
              </a:rPr>
              <a:t>•  원인: 마감 트랜잭션이 Undo를 빠르게 순환 → 과거 이미지 덮어씀</a:t>
            </a:r>
          </a:p>
          <a:p>
            <a:pPr algn="l">
              <a:spcAft>
                <a:spcPts val="800"/>
              </a:spcAft>
            </a:pPr>
            <a:r>
              <a:rPr sz="1700" b="0">
                <a:solidFill>
                  <a:srgbClr val="222222"/>
                </a:solidFill>
                <a:latin typeface="맑은 고딕"/>
                <a:ea typeface="맑은 고딕"/>
                <a:cs typeface="맑은 고딕"/>
              </a:rPr>
              <a:t>•  판정: 조회 길이(30분) &gt; 보존(15분) → 전형적 ORA-01555, SQL 문제 아님</a:t>
            </a:r>
          </a:p>
          <a:p>
            <a:pPr algn="l">
              <a:spcAft>
                <a:spcPts val="800"/>
              </a:spcAft>
            </a:pPr>
            <a:r>
              <a:rPr sz="1700" b="0">
                <a:solidFill>
                  <a:srgbClr val="222222"/>
                </a:solidFill>
                <a:latin typeface="맑은 고딕"/>
                <a:ea typeface="맑은 고딕"/>
                <a:cs typeface="맑은 고딕"/>
              </a:rPr>
              <a:t>•  조치: UNDO_RETENTION 3600으로↑ + GUARANTEE(단, Undo 크기 확인)</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2011680"/>
            <a:ext cx="10515600" cy="1097280"/>
          </a:xfrm>
          <a:prstGeom prst="rect">
            <a:avLst/>
          </a:prstGeom>
          <a:noFill/>
        </p:spPr>
        <p:txBody>
          <a:bodyPr wrap="square">
            <a:spAutoFit/>
          </a:bodyPr>
          <a:lstStyle/>
          <a:p>
            <a:pPr algn="l">
              <a:spcAft>
                <a:spcPts val="600"/>
              </a:spcAft>
            </a:pPr>
            <a:r>
              <a:rPr sz="4000" b="1">
                <a:solidFill>
                  <a:srgbClr val="FFFFFF"/>
                </a:solidFill>
                <a:latin typeface="맑은 고딕"/>
                <a:ea typeface="맑은 고딕"/>
                <a:cs typeface="맑은 고딕"/>
              </a:rPr>
              <a:t>4.5</a:t>
            </a:r>
          </a:p>
        </p:txBody>
      </p:sp>
      <p:sp>
        <p:nvSpPr>
          <p:cNvPr id="4" name="TextBox 3"/>
          <p:cNvSpPr txBox="1"/>
          <p:nvPr/>
        </p:nvSpPr>
        <p:spPr>
          <a:xfrm>
            <a:off x="822960" y="3017520"/>
            <a:ext cx="10515600" cy="914400"/>
          </a:xfrm>
          <a:prstGeom prst="rect">
            <a:avLst/>
          </a:prstGeom>
          <a:noFill/>
        </p:spPr>
        <p:txBody>
          <a:bodyPr wrap="square">
            <a:spAutoFit/>
          </a:bodyPr>
          <a:lstStyle/>
          <a:p>
            <a:pPr algn="l">
              <a:spcAft>
                <a:spcPts val="600"/>
              </a:spcAft>
            </a:pPr>
            <a:r>
              <a:rPr sz="2800" b="1">
                <a:solidFill>
                  <a:srgbClr val="FFFFFF"/>
                </a:solidFill>
                <a:latin typeface="맑은 고딕"/>
                <a:ea typeface="맑은 고딕"/>
                <a:cs typeface="맑은 고딕"/>
              </a:rPr>
              <a:t>임시 테이블스페이스와 ORA-01652</a:t>
            </a:r>
          </a:p>
        </p:txBody>
      </p:sp>
      <p:sp>
        <p:nvSpPr>
          <p:cNvPr id="5" name="Rectangle 4"/>
          <p:cNvSpPr/>
          <p:nvPr/>
        </p:nvSpPr>
        <p:spPr>
          <a:xfrm>
            <a:off x="822960" y="4114800"/>
            <a:ext cx="5486400" cy="5486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4297680"/>
            <a:ext cx="10058400" cy="2011680"/>
          </a:xfrm>
          <a:prstGeom prst="rect">
            <a:avLst/>
          </a:prstGeom>
          <a:noFill/>
        </p:spPr>
        <p:txBody>
          <a:bodyPr wrap="square">
            <a:spAutoFit/>
          </a:bodyPr>
          <a:lstStyle/>
          <a:p>
            <a:pPr algn="l">
              <a:spcAft>
                <a:spcPts val="600"/>
              </a:spcAft>
            </a:pPr>
            <a:r>
              <a:rPr sz="1600" b="0">
                <a:solidFill>
                  <a:srgbClr val="FFFFFF"/>
                </a:solidFill>
                <a:latin typeface="맑은 고딕"/>
                <a:ea typeface="맑은 고딕"/>
                <a:cs typeface="맑은 고딕"/>
              </a:rPr>
              <a:t>•  정렬·해시·GTT가 흘러넘치는 곳</a:t>
            </a:r>
          </a:p>
          <a:p>
            <a:pPr algn="l">
              <a:spcAft>
                <a:spcPts val="600"/>
              </a:spcAft>
            </a:pPr>
            <a:r>
              <a:rPr sz="1600" b="0">
                <a:solidFill>
                  <a:srgbClr val="FFFFFF"/>
                </a:solidFill>
                <a:latin typeface="맑은 고딕"/>
                <a:ea typeface="맑은 고딕"/>
                <a:cs typeface="맑은 고딕"/>
              </a:rPr>
              <a:t>•  오류 메시지의 TS 이름이 진단의 절반</a:t>
            </a:r>
          </a:p>
          <a:p>
            <a:pPr algn="l">
              <a:spcAft>
                <a:spcPts val="600"/>
              </a:spcAft>
            </a:pPr>
            <a:r>
              <a:rPr sz="1600" b="0">
                <a:solidFill>
                  <a:srgbClr val="FFFFFF"/>
                </a:solidFill>
                <a:latin typeface="맑은 고딕"/>
                <a:ea typeface="맑은 고딕"/>
                <a:cs typeface="맑은 고딕"/>
              </a:rPr>
              <a:t>•  Undo가 아니라 Temp를 본다</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nchor="ctr">
            <a:spAutoFit/>
          </a:bodyPr>
          <a:lstStyle/>
          <a:p>
            <a:pPr algn="l">
              <a:spcAft>
                <a:spcPts val="600"/>
              </a:spcAft>
            </a:pPr>
            <a:r>
              <a:rPr sz="2600" b="1">
                <a:solidFill>
                  <a:srgbClr val="FFFFFF"/>
                </a:solidFill>
                <a:latin typeface="맑은 고딕"/>
                <a:ea typeface="맑은 고딕"/>
                <a:cs typeface="맑은 고딕"/>
              </a:rPr>
              <a:t>임시 테이블스페이스</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ea typeface="맑은 고딕"/>
                <a:cs typeface="맑은 고딕"/>
              </a:rPr>
              <a:t>메모리에 안 담기는 작업을 디스크로</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800"/>
              </a:spcAft>
            </a:pPr>
            <a:r>
              <a:rPr sz="1700" b="0">
                <a:solidFill>
                  <a:srgbClr val="222222"/>
                </a:solidFill>
                <a:latin typeface="맑은 고딕"/>
                <a:ea typeface="맑은 고딕"/>
                <a:cs typeface="맑은 고딕"/>
              </a:rPr>
              <a:t>•  정렬(ORDER BY·GROUP BY·인덱스 생성)·해시 조인·전역 임시 테이블</a:t>
            </a:r>
          </a:p>
          <a:p>
            <a:pPr algn="l">
              <a:spcAft>
                <a:spcPts val="800"/>
              </a:spcAft>
            </a:pPr>
            <a:r>
              <a:rPr sz="1700" b="0">
                <a:solidFill>
                  <a:srgbClr val="222222"/>
                </a:solidFill>
                <a:latin typeface="맑은 고딕"/>
                <a:ea typeface="맑은 고딕"/>
                <a:cs typeface="맑은 고딕"/>
              </a:rPr>
              <a:t>•  PGA 작업영역 초과 시 임시 TS로 스필(1-pass/multi-pass, ch33)</a:t>
            </a:r>
          </a:p>
          <a:p>
            <a:pPr algn="l">
              <a:spcAft>
                <a:spcPts val="800"/>
              </a:spcAft>
            </a:pPr>
            <a:r>
              <a:rPr sz="1700" b="0">
                <a:solidFill>
                  <a:srgbClr val="222222"/>
                </a:solidFill>
                <a:latin typeface="맑은 고딕"/>
                <a:ea typeface="맑은 고딕"/>
                <a:cs typeface="맑은 고딕"/>
              </a:rPr>
              <a:t>•  권장: 로컬 관리 + UNIFORM 익스텐트 1MB</a:t>
            </a:r>
          </a:p>
          <a:p>
            <a:pPr algn="l">
              <a:spcAft>
                <a:spcPts val="800"/>
              </a:spcAft>
            </a:pPr>
            <a:r>
              <a:rPr sz="1700" b="0">
                <a:solidFill>
                  <a:srgbClr val="222222"/>
                </a:solidFill>
                <a:latin typeface="맑은 고딕"/>
                <a:ea typeface="맑은 고딕"/>
                <a:cs typeface="맑은 고딕"/>
              </a:rPr>
              <a:t>•  동시 GTT 다수 → 익스텐트 256K로 작게 / 큰 정렬 → 1MB</a:t>
            </a:r>
          </a:p>
          <a:p>
            <a:pPr algn="l">
              <a:spcAft>
                <a:spcPts val="800"/>
              </a:spcAft>
            </a:pPr>
            <a:r>
              <a:rPr sz="1700" b="0">
                <a:solidFill>
                  <a:srgbClr val="222222"/>
                </a:solidFill>
                <a:latin typeface="맑은 고딕"/>
                <a:ea typeface="맑은 고딕"/>
                <a:cs typeface="맑은 고딕"/>
              </a:rPr>
              <a:t>•  실측 TEMP = 20MB (대량 정렬엔 부족)</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nchor="ctr">
            <a:spAutoFit/>
          </a:bodyPr>
          <a:lstStyle/>
          <a:p>
            <a:pPr algn="l">
              <a:spcAft>
                <a:spcPts val="600"/>
              </a:spcAft>
            </a:pPr>
            <a:r>
              <a:rPr sz="2600" b="1">
                <a:solidFill>
                  <a:srgbClr val="FFFFFF"/>
                </a:solidFill>
                <a:latin typeface="맑은 고딕"/>
                <a:ea typeface="맑은 고딕"/>
                <a:cs typeface="맑은 고딕"/>
              </a:rPr>
              <a:t>ORA-01652 판별 — Temp인가 SQL인가</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ea typeface="맑은 고딕"/>
                <a:cs typeface="맑은 고딕"/>
              </a:rPr>
              <a:t>두 가지 오인을 피한다</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800"/>
              </a:spcAft>
            </a:pPr>
            <a:r>
              <a:rPr sz="1700" b="0">
                <a:solidFill>
                  <a:srgbClr val="222222"/>
                </a:solidFill>
                <a:latin typeface="맑은 고딕"/>
                <a:ea typeface="맑은 고딕"/>
                <a:cs typeface="맑은 고딕"/>
              </a:rPr>
              <a:t>•  오인①: 데이터 TS 부족으로 착각 → 메시지 끝 TS 이름을 반드시 확인</a:t>
            </a:r>
          </a:p>
          <a:p>
            <a:pPr algn="l">
              <a:spcAft>
                <a:spcPts val="800"/>
              </a:spcAft>
            </a:pPr>
            <a:r>
              <a:rPr sz="1700" b="0">
                <a:solidFill>
                  <a:srgbClr val="222222"/>
                </a:solidFill>
                <a:latin typeface="맑은 고딕"/>
                <a:ea typeface="맑은 고딕"/>
                <a:cs typeface="맑은 고딕"/>
              </a:rPr>
              <a:t>•  TEMP이면 임시 공간 / 업무 TS면 세그먼트 확장 실패(성격 다름)</a:t>
            </a:r>
          </a:p>
          <a:p>
            <a:pPr algn="l">
              <a:spcAft>
                <a:spcPts val="800"/>
              </a:spcAft>
            </a:pPr>
            <a:r>
              <a:rPr sz="1700" b="0">
                <a:solidFill>
                  <a:srgbClr val="222222"/>
                </a:solidFill>
                <a:latin typeface="맑은 고딕"/>
                <a:ea typeface="맑은 고딕"/>
                <a:cs typeface="맑은 고딕"/>
              </a:rPr>
              <a:t>•  오인②: SQL 튜닝으로만 해결하려 함</a:t>
            </a:r>
          </a:p>
          <a:p>
            <a:pPr algn="l">
              <a:spcAft>
                <a:spcPts val="800"/>
              </a:spcAft>
            </a:pPr>
            <a:r>
              <a:rPr sz="1700" b="0">
                <a:solidFill>
                  <a:srgbClr val="222222"/>
                </a:solidFill>
                <a:latin typeface="맑은 고딕"/>
                <a:ea typeface="맑은 고딕"/>
                <a:cs typeface="맑은 고딕"/>
              </a:rPr>
              <a:t>•  정렬이 업무상 정당하면 → 구성(TEMP 확장)이 정답</a:t>
            </a:r>
          </a:p>
          <a:p>
            <a:pPr algn="l">
              <a:spcAft>
                <a:spcPts val="800"/>
              </a:spcAft>
            </a:pPr>
            <a:r>
              <a:rPr sz="1700" b="0">
                <a:solidFill>
                  <a:srgbClr val="222222"/>
                </a:solidFill>
                <a:latin typeface="맑은 고딕"/>
                <a:ea typeface="맑은 고딕"/>
                <a:cs typeface="맑은 고딕"/>
              </a:rPr>
              <a:t>•  불필요한 정렬이면 → SQL(정렬 제거·인덱스 회피)</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nchor="ctr">
            <a:spAutoFit/>
          </a:bodyPr>
          <a:lstStyle/>
          <a:p>
            <a:pPr algn="l">
              <a:spcAft>
                <a:spcPts val="600"/>
              </a:spcAft>
            </a:pPr>
            <a:r>
              <a:rPr sz="2600" b="1">
                <a:solidFill>
                  <a:srgbClr val="FFFFFF"/>
                </a:solidFill>
                <a:latin typeface="맑은 고딕"/>
                <a:ea typeface="맑은 고딕"/>
                <a:cs typeface="맑은 고딕"/>
              </a:rPr>
              <a:t>TEMP 확장과 원인 세션 지목</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ea typeface="맑은 고딕"/>
                <a:cs typeface="맑은 고딕"/>
              </a:rPr>
              <a:t>V$TEMPSEG_USAGE로 누가 삼켰는지 본다</a:t>
            </a:r>
          </a:p>
        </p:txBody>
      </p:sp>
      <p:sp>
        <p:nvSpPr>
          <p:cNvPr id="5" name="Rectangle 4"/>
          <p:cNvSpPr/>
          <p:nvPr/>
        </p:nvSpPr>
        <p:spPr>
          <a:xfrm>
            <a:off x="640080" y="1691640"/>
            <a:ext cx="10881360" cy="475488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tIns="91440"/>
          <a:lstStyle/>
          <a:p>
            <a:pPr algn="l">
              <a:spcAft>
                <a:spcPts val="0"/>
              </a:spcAft>
            </a:pPr>
            <a:r>
              <a:rPr sz="1250" b="0">
                <a:solidFill>
                  <a:srgbClr val="F2F2F2"/>
                </a:solidFill>
                <a:latin typeface="Consolas"/>
                <a:ea typeface="Consolas"/>
                <a:cs typeface="Consolas"/>
              </a:rPr>
              <a:t>SYS@orcl&gt; SELECT tablespace_name, ROUND(SUM(bytes)/1024/1024) mb</a:t>
            </a:r>
          </a:p>
          <a:p>
            <a:pPr algn="l">
              <a:spcAft>
                <a:spcPts val="0"/>
              </a:spcAft>
            </a:pPr>
            <a:r>
              <a:rPr sz="1250" b="0">
                <a:solidFill>
                  <a:srgbClr val="F2F2F2"/>
                </a:solidFill>
                <a:latin typeface="Consolas"/>
                <a:ea typeface="Consolas"/>
                <a:cs typeface="Consolas"/>
              </a:rPr>
              <a:t>  2       FROM dba_temp_files GROUP BY tablespace_name;</a:t>
            </a:r>
          </a:p>
          <a:p>
            <a:pPr algn="l">
              <a:spcAft>
                <a:spcPts val="0"/>
              </a:spcAft>
            </a:pPr>
            <a:r>
              <a:rPr sz="1250" b="0">
                <a:solidFill>
                  <a:srgbClr val="F2F2F2"/>
                </a:solidFill>
                <a:latin typeface="Consolas"/>
                <a:ea typeface="Consolas"/>
                <a:cs typeface="Consolas"/>
              </a:rPr>
              <a:t>TABLESPACE_NAME          MB</a:t>
            </a:r>
          </a:p>
          <a:p>
            <a:pPr algn="l">
              <a:spcAft>
                <a:spcPts val="0"/>
              </a:spcAft>
            </a:pPr>
            <a:r>
              <a:rPr sz="1250" b="0">
                <a:solidFill>
                  <a:srgbClr val="F2F2F2"/>
                </a:solidFill>
                <a:latin typeface="Consolas"/>
                <a:ea typeface="Consolas"/>
                <a:cs typeface="Consolas"/>
              </a:rPr>
              <a:t>----------------- ----------</a:t>
            </a:r>
          </a:p>
          <a:p>
            <a:pPr algn="l">
              <a:spcAft>
                <a:spcPts val="0"/>
              </a:spcAft>
            </a:pPr>
            <a:r>
              <a:rPr sz="1250" b="0">
                <a:solidFill>
                  <a:srgbClr val="F2F2F2"/>
                </a:solidFill>
                <a:latin typeface="Consolas"/>
                <a:ea typeface="Consolas"/>
                <a:cs typeface="Consolas"/>
              </a:rPr>
              <a:t>TEMP                      20     &lt;- 확장 전</a:t>
            </a:r>
          </a:p>
          <a:p>
            <a:pPr algn="l">
              <a:spcAft>
                <a:spcPts val="0"/>
              </a:spcAft>
            </a:pPr>
            <a:r>
              <a:rPr sz="1250" b="0">
                <a:solidFill>
                  <a:srgbClr val="F2F2F2"/>
                </a:solidFill>
                <a:latin typeface="Consolas"/>
                <a:ea typeface="Consolas"/>
                <a:cs typeface="Consolas"/>
              </a:rPr>
              <a:t> </a:t>
            </a:r>
          </a:p>
          <a:p>
            <a:pPr algn="l">
              <a:spcAft>
                <a:spcPts val="0"/>
              </a:spcAft>
            </a:pPr>
            <a:r>
              <a:rPr sz="1250" b="0">
                <a:solidFill>
                  <a:srgbClr val="F2F2F2"/>
                </a:solidFill>
                <a:latin typeface="Consolas"/>
                <a:ea typeface="Consolas"/>
                <a:cs typeface="Consolas"/>
              </a:rPr>
              <a:t>-- 조치(개인 실습 환경 전용)</a:t>
            </a:r>
          </a:p>
          <a:p>
            <a:pPr algn="l">
              <a:spcAft>
                <a:spcPts val="0"/>
              </a:spcAft>
            </a:pPr>
            <a:r>
              <a:rPr sz="1250" b="0">
                <a:solidFill>
                  <a:srgbClr val="F2F2F2"/>
                </a:solidFill>
                <a:latin typeface="Consolas"/>
                <a:ea typeface="Consolas"/>
                <a:cs typeface="Consolas"/>
              </a:rPr>
              <a:t>SYS@orcl&gt; ALTER TABLESPACE temp ADD TEMPFILE</a:t>
            </a:r>
          </a:p>
          <a:p>
            <a:pPr algn="l">
              <a:spcAft>
                <a:spcPts val="0"/>
              </a:spcAft>
            </a:pPr>
            <a:r>
              <a:rPr sz="1250" b="0">
                <a:solidFill>
                  <a:srgbClr val="F2F2F2"/>
                </a:solidFill>
                <a:latin typeface="Consolas"/>
                <a:ea typeface="Consolas"/>
                <a:cs typeface="Consolas"/>
              </a:rPr>
              <a:t>  2   '.../temp02.dbf' SIZE 512M AUTOEXTEND ON NEXT 64M MAXSIZE 2G;</a:t>
            </a:r>
          </a:p>
          <a:p>
            <a:pPr algn="l">
              <a:spcAft>
                <a:spcPts val="0"/>
              </a:spcAft>
            </a:pPr>
            <a:r>
              <a:rPr sz="1250" b="0">
                <a:solidFill>
                  <a:srgbClr val="F2F2F2"/>
                </a:solidFill>
                <a:latin typeface="Consolas"/>
                <a:ea typeface="Consolas"/>
                <a:cs typeface="Consolas"/>
              </a:rPr>
              <a:t> </a:t>
            </a:r>
          </a:p>
          <a:p>
            <a:pPr algn="l">
              <a:spcAft>
                <a:spcPts val="0"/>
              </a:spcAft>
            </a:pPr>
            <a:r>
              <a:rPr sz="1250" b="0">
                <a:solidFill>
                  <a:srgbClr val="F2F2F2"/>
                </a:solidFill>
                <a:latin typeface="Consolas"/>
                <a:ea typeface="Consolas"/>
                <a:cs typeface="Consolas"/>
              </a:rPr>
              <a:t>-- 재확인 → TEMP 532MB. 원인 세션은 V$TEMPSEG_USAGE로 지목</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2011680"/>
            <a:ext cx="10515600" cy="1097280"/>
          </a:xfrm>
          <a:prstGeom prst="rect">
            <a:avLst/>
          </a:prstGeom>
          <a:noFill/>
        </p:spPr>
        <p:txBody>
          <a:bodyPr wrap="square">
            <a:spAutoFit/>
          </a:bodyPr>
          <a:lstStyle/>
          <a:p>
            <a:pPr algn="l">
              <a:spcAft>
                <a:spcPts val="600"/>
              </a:spcAft>
            </a:pPr>
            <a:r>
              <a:rPr sz="4000" b="1">
                <a:solidFill>
                  <a:srgbClr val="FFFFFF"/>
                </a:solidFill>
                <a:latin typeface="맑은 고딕"/>
                <a:ea typeface="맑은 고딕"/>
                <a:cs typeface="맑은 고딕"/>
              </a:rPr>
              <a:t>4.6</a:t>
            </a:r>
          </a:p>
        </p:txBody>
      </p:sp>
      <p:sp>
        <p:nvSpPr>
          <p:cNvPr id="4" name="TextBox 3"/>
          <p:cNvSpPr txBox="1"/>
          <p:nvPr/>
        </p:nvSpPr>
        <p:spPr>
          <a:xfrm>
            <a:off x="822960" y="3017520"/>
            <a:ext cx="10515600" cy="914400"/>
          </a:xfrm>
          <a:prstGeom prst="rect">
            <a:avLst/>
          </a:prstGeom>
          <a:noFill/>
        </p:spPr>
        <p:txBody>
          <a:bodyPr wrap="square">
            <a:spAutoFit/>
          </a:bodyPr>
          <a:lstStyle/>
          <a:p>
            <a:pPr algn="l">
              <a:spcAft>
                <a:spcPts val="600"/>
              </a:spcAft>
            </a:pPr>
            <a:r>
              <a:rPr sz="2800" b="1">
                <a:solidFill>
                  <a:srgbClr val="FFFFFF"/>
                </a:solidFill>
                <a:latin typeface="맑은 고딕"/>
                <a:ea typeface="맑은 고딕"/>
                <a:cs typeface="맑은 고딕"/>
              </a:rPr>
              <a:t>전용 서버와 공유 서버</a:t>
            </a:r>
          </a:p>
        </p:txBody>
      </p:sp>
      <p:sp>
        <p:nvSpPr>
          <p:cNvPr id="5" name="Rectangle 4"/>
          <p:cNvSpPr/>
          <p:nvPr/>
        </p:nvSpPr>
        <p:spPr>
          <a:xfrm>
            <a:off x="822960" y="4114800"/>
            <a:ext cx="5486400" cy="5486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4297680"/>
            <a:ext cx="10058400" cy="2011680"/>
          </a:xfrm>
          <a:prstGeom prst="rect">
            <a:avLst/>
          </a:prstGeom>
          <a:noFill/>
        </p:spPr>
        <p:txBody>
          <a:bodyPr wrap="square">
            <a:spAutoFit/>
          </a:bodyPr>
          <a:lstStyle/>
          <a:p>
            <a:pPr algn="l">
              <a:spcAft>
                <a:spcPts val="600"/>
              </a:spcAft>
            </a:pPr>
            <a:r>
              <a:rPr sz="1600" b="0">
                <a:solidFill>
                  <a:srgbClr val="FFFFFF"/>
                </a:solidFill>
                <a:latin typeface="맑은 고딕"/>
                <a:ea typeface="맑은 고딕"/>
                <a:cs typeface="맑은 고딕"/>
              </a:rPr>
              <a:t>•  서버 프로세스를 어떻게 배정하는가</a:t>
            </a:r>
          </a:p>
          <a:p>
            <a:pPr algn="l">
              <a:spcAft>
                <a:spcPts val="600"/>
              </a:spcAft>
            </a:pPr>
            <a:r>
              <a:rPr sz="1600" b="0">
                <a:solidFill>
                  <a:srgbClr val="FFFFFF"/>
                </a:solidFill>
                <a:latin typeface="맑은 고딕"/>
                <a:ea typeface="맑은 고딕"/>
                <a:cs typeface="맑은 고딕"/>
              </a:rPr>
              <a:t>•  전용=접속마다 프로세스 / 공유=디스패처로 다중</a:t>
            </a:r>
          </a:p>
          <a:p>
            <a:pPr algn="l">
              <a:spcAft>
                <a:spcPts val="600"/>
              </a:spcAft>
            </a:pPr>
            <a:r>
              <a:rPr sz="1600" b="0">
                <a:solidFill>
                  <a:srgbClr val="FFFFFF"/>
                </a:solidFill>
                <a:latin typeface="맑은 고딕"/>
                <a:ea typeface="맑은 고딕"/>
                <a:cs typeface="맑은 고딕"/>
              </a:rPr>
              <a:t>•  기본은 전용, 공유는 검토 대상</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nchor="ctr">
            <a:spAutoFit/>
          </a:bodyPr>
          <a:lstStyle/>
          <a:p>
            <a:pPr algn="l">
              <a:spcAft>
                <a:spcPts val="600"/>
              </a:spcAft>
            </a:pPr>
            <a:r>
              <a:rPr sz="2600" b="1">
                <a:solidFill>
                  <a:srgbClr val="FFFFFF"/>
                </a:solidFill>
                <a:latin typeface="맑은 고딕"/>
                <a:ea typeface="맑은 고딕"/>
                <a:cs typeface="맑은 고딕"/>
              </a:rPr>
              <a:t>전용 vs 공유 — 구조의 차이</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ea typeface="맑은 고딕"/>
                <a:cs typeface="맑은 고딕"/>
              </a:rPr>
              <a:t>UGA 위치와 적합 워크로드가 갈린다</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800"/>
              </a:spcAft>
            </a:pPr>
            <a:r>
              <a:rPr sz="1700" b="0">
                <a:solidFill>
                  <a:srgbClr val="222222"/>
                </a:solidFill>
                <a:latin typeface="맑은 고딕"/>
                <a:ea typeface="맑은 고딕"/>
                <a:cs typeface="맑은 고딕"/>
              </a:rPr>
              <a:t>•  전용: 접속 수만큼 서버 프로세스 / UGA는 PGA</a:t>
            </a:r>
          </a:p>
          <a:p>
            <a:pPr algn="l">
              <a:spcAft>
                <a:spcPts val="800"/>
              </a:spcAft>
            </a:pPr>
            <a:r>
              <a:rPr sz="1700" b="0">
                <a:solidFill>
                  <a:srgbClr val="222222"/>
                </a:solidFill>
                <a:latin typeface="맑은 고딕"/>
                <a:ea typeface="맑은 고딕"/>
                <a:cs typeface="맑은 고딕"/>
              </a:rPr>
              <a:t>•  공유: 소수 공유 서버+디스패처 / UGA는 SGA(라지 풀)</a:t>
            </a:r>
          </a:p>
          <a:p>
            <a:pPr algn="l">
              <a:spcAft>
                <a:spcPts val="800"/>
              </a:spcAft>
            </a:pPr>
            <a:r>
              <a:rPr sz="1700" b="0">
                <a:solidFill>
                  <a:srgbClr val="222222"/>
                </a:solidFill>
                <a:latin typeface="맑은 고딕"/>
                <a:ea typeface="맑은 고딕"/>
                <a:cs typeface="맑은 고딕"/>
              </a:rPr>
              <a:t>•  공유 이점: 프로세스·메모리 절감, 고접속률에 유리</a:t>
            </a:r>
          </a:p>
          <a:p>
            <a:pPr algn="l">
              <a:spcAft>
                <a:spcPts val="800"/>
              </a:spcAft>
            </a:pPr>
            <a:r>
              <a:rPr sz="1700" b="0">
                <a:solidFill>
                  <a:srgbClr val="222222"/>
                </a:solidFill>
                <a:latin typeface="맑은 고딕"/>
                <a:ea typeface="맑은 고딕"/>
                <a:cs typeface="맑은 고딕"/>
              </a:rPr>
              <a:t>•  공유 약점: 병렬 실행 중 세션 묶임, 장시간 작업 부적합</a:t>
            </a:r>
          </a:p>
          <a:p>
            <a:pPr algn="l">
              <a:spcAft>
                <a:spcPts val="800"/>
              </a:spcAft>
            </a:pPr>
            <a:r>
              <a:rPr sz="1700" b="0">
                <a:solidFill>
                  <a:srgbClr val="222222"/>
                </a:solidFill>
                <a:latin typeface="맑은 고딕"/>
                <a:ea typeface="맑은 고딕"/>
                <a:cs typeface="맑은 고딕"/>
              </a:rPr>
              <a:t>•  기본은 전용 / 간헐 OLTP 다수 접속 → 공유 검토</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nchor="ctr">
            <a:spAutoFit/>
          </a:bodyPr>
          <a:lstStyle/>
          <a:p>
            <a:pPr algn="l">
              <a:spcAft>
                <a:spcPts val="600"/>
              </a:spcAft>
            </a:pPr>
            <a:r>
              <a:rPr sz="2600" b="1">
                <a:solidFill>
                  <a:srgbClr val="FFFFFF"/>
                </a:solidFill>
                <a:latin typeface="맑은 고딕"/>
                <a:ea typeface="맑은 고딕"/>
                <a:cs typeface="맑은 고딕"/>
              </a:rPr>
              <a:t>접속 비용과 사전 생성 프로세스</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ea typeface="맑은 고딕"/>
                <a:cs typeface="맑은 고딕"/>
              </a:rPr>
              <a:t>접속 방식은 어떻게 확인하나</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800"/>
              </a:spcAft>
            </a:pPr>
            <a:r>
              <a:rPr sz="1700" b="0">
                <a:solidFill>
                  <a:srgbClr val="222222"/>
                </a:solidFill>
                <a:latin typeface="맑은 고딕"/>
                <a:ea typeface="맑은 고딕"/>
                <a:cs typeface="맑은 고딕"/>
              </a:rPr>
              <a:t>•  전용은 접속마다 프로세스를 순차 초기화 → 고접속률에 비용</a:t>
            </a:r>
          </a:p>
          <a:p>
            <a:pPr algn="l">
              <a:spcAft>
                <a:spcPts val="800"/>
              </a:spcAft>
            </a:pPr>
            <a:r>
              <a:rPr sz="1700" b="0">
                <a:solidFill>
                  <a:srgbClr val="222222"/>
                </a:solidFill>
                <a:latin typeface="맑은 고딕"/>
                <a:ea typeface="맑은 고딕"/>
                <a:cs typeface="맑은 고딕"/>
              </a:rPr>
              <a:t>•  공유는 디스패처가 대기하다 동시 접속 요청을 바로 받음</a:t>
            </a:r>
          </a:p>
          <a:p>
            <a:pPr algn="l">
              <a:spcAft>
                <a:spcPts val="800"/>
              </a:spcAft>
            </a:pPr>
            <a:r>
              <a:rPr sz="1700" b="0">
                <a:solidFill>
                  <a:srgbClr val="222222"/>
                </a:solidFill>
                <a:latin typeface="맑은 고딕"/>
                <a:ea typeface="맑은 고딕"/>
                <a:cs typeface="맑은 고딕"/>
              </a:rPr>
              <a:t>•  V$SESSION.SERVER: DEDICATED / SHARED / NONE / POOLED</a:t>
            </a:r>
          </a:p>
          <a:p>
            <a:pPr algn="l">
              <a:spcAft>
                <a:spcPts val="800"/>
              </a:spcAft>
            </a:pPr>
            <a:r>
              <a:rPr sz="1700" b="0">
                <a:solidFill>
                  <a:srgbClr val="222222"/>
                </a:solidFill>
                <a:latin typeface="맑은 고딕"/>
                <a:ea typeface="맑은 고딕"/>
                <a:cs typeface="맑은 고딕"/>
              </a:rPr>
              <a:t>•  19c 사전 생성 프로세스: dedicated broker·threaded 모드</a:t>
            </a:r>
          </a:p>
          <a:p>
            <a:pPr algn="l">
              <a:spcAft>
                <a:spcPts val="800"/>
              </a:spcAft>
            </a:pPr>
            <a:r>
              <a:rPr sz="1700" b="0">
                <a:solidFill>
                  <a:srgbClr val="222222"/>
                </a:solidFill>
                <a:latin typeface="맑은 고딕"/>
                <a:ea typeface="맑은 고딕"/>
                <a:cs typeface="맑은 고딕"/>
              </a:rPr>
              <a:t>•  V$PROCESS_POOL로 관찰, DBMS_PROCESS로 관리</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nchor="ctr">
            <a:spAutoFit/>
          </a:bodyPr>
          <a:lstStyle/>
          <a:p>
            <a:pPr algn="l">
              <a:spcAft>
                <a:spcPts val="600"/>
              </a:spcAft>
            </a:pPr>
            <a:r>
              <a:rPr sz="2600" b="1">
                <a:solidFill>
                  <a:srgbClr val="FFFFFF"/>
                </a:solidFill>
                <a:latin typeface="맑은 고딕"/>
                <a:ea typeface="맑은 고딕"/>
                <a:cs typeface="맑은 고딕"/>
              </a:rPr>
              <a:t>공유 서버 경합 진단과 완화</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ea typeface="맑은 고딕"/>
                <a:cs typeface="맑은 고딕"/>
              </a:rPr>
              <a:t>프로세스를 늘리기 전에 있는 자원을 촘촘히</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800"/>
              </a:spcAft>
            </a:pPr>
            <a:r>
              <a:rPr sz="1700" b="0">
                <a:solidFill>
                  <a:srgbClr val="222222"/>
                </a:solidFill>
                <a:latin typeface="맑은 고딕"/>
                <a:ea typeface="맑은 고딕"/>
                <a:cs typeface="맑은 고딕"/>
              </a:rPr>
              <a:t>•  V$DISPATCHER_RATE: CUR_ vs AVG_ vs MAX_ 비교</a:t>
            </a:r>
          </a:p>
          <a:p>
            <a:pPr algn="l">
              <a:spcAft>
                <a:spcPts val="800"/>
              </a:spcAft>
            </a:pPr>
            <a:r>
              <a:rPr sz="1700" b="0">
                <a:solidFill>
                  <a:srgbClr val="222222"/>
                </a:solidFill>
                <a:latin typeface="맑은 고딕"/>
                <a:ea typeface="맑은 고딕"/>
                <a:cs typeface="맑은 고딕"/>
              </a:rPr>
              <a:t>•  현재값이 MAX 근처 → 디스패처 추가 / 한참 낮으면 과다</a:t>
            </a:r>
          </a:p>
          <a:p>
            <a:pPr algn="l">
              <a:spcAft>
                <a:spcPts val="800"/>
              </a:spcAft>
            </a:pPr>
            <a:r>
              <a:rPr sz="1700" b="0">
                <a:solidFill>
                  <a:srgbClr val="222222"/>
                </a:solidFill>
                <a:latin typeface="맑은 고딕"/>
                <a:ea typeface="맑은 고딕"/>
                <a:cs typeface="맑은 고딕"/>
              </a:rPr>
              <a:t>•  V$QUEUE: 요청 큐 대기 꾸준히 증가 → 공유 서버 경합</a:t>
            </a:r>
          </a:p>
          <a:p>
            <a:pPr algn="l">
              <a:spcAft>
                <a:spcPts val="800"/>
              </a:spcAft>
            </a:pPr>
            <a:r>
              <a:rPr sz="1700" b="0">
                <a:solidFill>
                  <a:srgbClr val="222222"/>
                </a:solidFill>
                <a:latin typeface="맑은 고딕"/>
                <a:ea typeface="맑은 고딕"/>
                <a:cs typeface="맑은 고딕"/>
              </a:rPr>
              <a:t>•  V$SHARED_SERVER: STATUS!='QUIT'로 현재 서버 수</a:t>
            </a:r>
          </a:p>
          <a:p>
            <a:pPr algn="l">
              <a:spcAft>
                <a:spcPts val="800"/>
              </a:spcAft>
            </a:pPr>
            <a:r>
              <a:rPr sz="1700" b="0">
                <a:solidFill>
                  <a:srgbClr val="222222"/>
                </a:solidFill>
                <a:latin typeface="맑은 고딕"/>
                <a:ea typeface="맑은 고딕"/>
                <a:cs typeface="맑은 고딕"/>
              </a:rPr>
              <a:t>•  완화: 디스패처 추가 / 접속 풀링 / 세션 다중화</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2011680"/>
            <a:ext cx="10515600" cy="1097280"/>
          </a:xfrm>
          <a:prstGeom prst="rect">
            <a:avLst/>
          </a:prstGeom>
          <a:noFill/>
        </p:spPr>
        <p:txBody>
          <a:bodyPr wrap="square">
            <a:spAutoFit/>
          </a:bodyPr>
          <a:lstStyle/>
          <a:p>
            <a:pPr algn="l">
              <a:spcAft>
                <a:spcPts val="600"/>
              </a:spcAft>
            </a:pPr>
            <a:r>
              <a:rPr sz="4000" b="1">
                <a:solidFill>
                  <a:srgbClr val="FFFFFF"/>
                </a:solidFill>
                <a:latin typeface="맑은 고딕"/>
                <a:ea typeface="맑은 고딕"/>
                <a:cs typeface="맑은 고딕"/>
              </a:rPr>
              <a:t>4.7</a:t>
            </a:r>
          </a:p>
        </p:txBody>
      </p:sp>
      <p:sp>
        <p:nvSpPr>
          <p:cNvPr id="4" name="TextBox 3"/>
          <p:cNvSpPr txBox="1"/>
          <p:nvPr/>
        </p:nvSpPr>
        <p:spPr>
          <a:xfrm>
            <a:off x="822960" y="3017520"/>
            <a:ext cx="10515600" cy="914400"/>
          </a:xfrm>
          <a:prstGeom prst="rect">
            <a:avLst/>
          </a:prstGeom>
          <a:noFill/>
        </p:spPr>
        <p:txBody>
          <a:bodyPr wrap="square">
            <a:spAutoFit/>
          </a:bodyPr>
          <a:lstStyle/>
          <a:p>
            <a:pPr algn="l">
              <a:spcAft>
                <a:spcPts val="600"/>
              </a:spcAft>
            </a:pPr>
            <a:r>
              <a:rPr sz="2800" b="1">
                <a:solidFill>
                  <a:srgbClr val="FFFFFF"/>
                </a:solidFill>
                <a:latin typeface="맑은 고딕"/>
                <a:ea typeface="맑은 고딕"/>
                <a:cs typeface="맑은 고딕"/>
              </a:rPr>
              <a:t>블록 크기와 행 이주</a:t>
            </a:r>
          </a:p>
        </p:txBody>
      </p:sp>
      <p:sp>
        <p:nvSpPr>
          <p:cNvPr id="5" name="Rectangle 4"/>
          <p:cNvSpPr/>
          <p:nvPr/>
        </p:nvSpPr>
        <p:spPr>
          <a:xfrm>
            <a:off x="822960" y="4114800"/>
            <a:ext cx="5486400" cy="5486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4297680"/>
            <a:ext cx="10058400" cy="2011680"/>
          </a:xfrm>
          <a:prstGeom prst="rect">
            <a:avLst/>
          </a:prstGeom>
          <a:noFill/>
        </p:spPr>
        <p:txBody>
          <a:bodyPr wrap="square">
            <a:spAutoFit/>
          </a:bodyPr>
          <a:lstStyle/>
          <a:p>
            <a:pPr algn="l">
              <a:spcAft>
                <a:spcPts val="600"/>
              </a:spcAft>
            </a:pPr>
            <a:r>
              <a:rPr sz="1600" b="0">
                <a:solidFill>
                  <a:srgbClr val="FFFFFF"/>
                </a:solidFill>
                <a:latin typeface="맑은 고딕"/>
                <a:ea typeface="맑은 고딕"/>
                <a:cs typeface="맑은 고딕"/>
              </a:rPr>
              <a:t>•  블록 크기 = I/O 효율과 동시성의 균형</a:t>
            </a:r>
          </a:p>
          <a:p>
            <a:pPr algn="l">
              <a:spcAft>
                <a:spcPts val="600"/>
              </a:spcAft>
            </a:pPr>
            <a:r>
              <a:rPr sz="1600" b="0">
                <a:solidFill>
                  <a:srgbClr val="FFFFFF"/>
                </a:solidFill>
                <a:latin typeface="맑은 고딕"/>
                <a:ea typeface="맑은 고딕"/>
                <a:cs typeface="맑은 고딕"/>
              </a:rPr>
              <a:t>•  이주는 UPDATE로 커진 행이 옮겨지는 것</a:t>
            </a:r>
          </a:p>
          <a:p>
            <a:pPr algn="l">
              <a:spcAft>
                <a:spcPts val="600"/>
              </a:spcAft>
            </a:pPr>
            <a:r>
              <a:rPr sz="1600" b="0">
                <a:solidFill>
                  <a:srgbClr val="FFFFFF"/>
                </a:solidFill>
                <a:latin typeface="맑은 고딕"/>
                <a:ea typeface="맑은 고딕"/>
                <a:cs typeface="맑은 고딕"/>
              </a:rPr>
              <a:t>•  이주와 체이닝의 근본 해법은 다르다</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nchor="ctr">
            <a:spAutoFit/>
          </a:bodyPr>
          <a:lstStyle/>
          <a:p>
            <a:pPr algn="l">
              <a:spcAft>
                <a:spcPts val="600"/>
              </a:spcAft>
            </a:pPr>
            <a:r>
              <a:rPr sz="2600" b="1">
                <a:solidFill>
                  <a:srgbClr val="FFFFFF"/>
                </a:solidFill>
                <a:latin typeface="맑은 고딕"/>
                <a:ea typeface="맑은 고딕"/>
                <a:cs typeface="맑은 고딕"/>
              </a:rPr>
              <a:t>DB_BLOCK_SIZE와 성능</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ea typeface="맑은 고딕"/>
                <a:cs typeface="맑은 고딕"/>
              </a:rPr>
              <a:t>실측 8192 — OLTP의 표준값</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800"/>
              </a:spcAft>
            </a:pPr>
            <a:r>
              <a:rPr sz="1700" b="0">
                <a:solidFill>
                  <a:srgbClr val="222222"/>
                </a:solidFill>
                <a:latin typeface="맑은 고딕"/>
                <a:ea typeface="맑은 고딕"/>
                <a:cs typeface="맑은 고딕"/>
              </a:rPr>
              <a:t>•  큰 블록: 한 I/O로 많이 읽음 → DW 대량 스캔 유리</a:t>
            </a:r>
          </a:p>
          <a:p>
            <a:pPr algn="l">
              <a:spcAft>
                <a:spcPts val="800"/>
              </a:spcAft>
            </a:pPr>
            <a:r>
              <a:rPr sz="1700" b="0">
                <a:solidFill>
                  <a:srgbClr val="222222"/>
                </a:solidFill>
                <a:latin typeface="맑은 고딕"/>
                <a:ea typeface="맑은 고딕"/>
                <a:cs typeface="맑은 고딕"/>
              </a:rPr>
              <a:t>•  큰 블록의 대가: 한 블록에 행 몰림 → buffer busy 경합↑</a:t>
            </a:r>
          </a:p>
          <a:p>
            <a:pPr algn="l">
              <a:spcAft>
                <a:spcPts val="800"/>
              </a:spcAft>
            </a:pPr>
            <a:r>
              <a:rPr sz="1700" b="0">
                <a:solidFill>
                  <a:srgbClr val="222222"/>
                </a:solidFill>
                <a:latin typeface="맑은 고딕"/>
                <a:ea typeface="맑은 고딕"/>
                <a:cs typeface="맑은 고딕"/>
              </a:rPr>
              <a:t>•  OLTP 8KB는 I/O 효율과 동시성의 균형점</a:t>
            </a:r>
          </a:p>
          <a:p>
            <a:pPr algn="l">
              <a:spcAft>
                <a:spcPts val="800"/>
              </a:spcAft>
            </a:pPr>
            <a:r>
              <a:rPr sz="1700" b="0">
                <a:solidFill>
                  <a:srgbClr val="222222"/>
                </a:solidFill>
                <a:latin typeface="맑은 고딕"/>
                <a:ea typeface="맑은 고딕"/>
                <a:cs typeface="맑은 고딕"/>
              </a:rPr>
              <a:t>•  블록 크기는 DB 생성 시 결정, SYSTEM은 변경 불가</a:t>
            </a:r>
          </a:p>
          <a:p>
            <a:pPr algn="l">
              <a:spcAft>
                <a:spcPts val="800"/>
              </a:spcAft>
            </a:pPr>
            <a:r>
              <a:rPr sz="1700" b="0">
                <a:solidFill>
                  <a:srgbClr val="222222"/>
                </a:solidFill>
                <a:latin typeface="맑은 고딕"/>
                <a:ea typeface="맑은 고딕"/>
                <a:cs typeface="맑은 고딕"/>
              </a:rPr>
              <a:t>•  DB_nK_CACHE_SIZE로 비표준 블록 TS 추가 가능</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nchor="ctr">
            <a:spAutoFit/>
          </a:bodyPr>
          <a:lstStyle/>
          <a:p>
            <a:pPr algn="l">
              <a:spcAft>
                <a:spcPts val="600"/>
              </a:spcAft>
            </a:pPr>
            <a:r>
              <a:rPr sz="2600" b="1">
                <a:solidFill>
                  <a:srgbClr val="FFFFFF"/>
                </a:solidFill>
                <a:latin typeface="맑은 고딕"/>
                <a:ea typeface="맑은 고딕"/>
                <a:cs typeface="맑은 고딕"/>
              </a:rPr>
              <a:t>PCTFREE — 이주를 막는 예약 공간</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ea typeface="맑은 고딕"/>
                <a:cs typeface="맑은 고딕"/>
              </a:rPr>
              <a:t>블록에 UPDATE 여유를 남긴다</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800"/>
              </a:spcAft>
            </a:pPr>
            <a:r>
              <a:rPr sz="1700" b="0">
                <a:solidFill>
                  <a:srgbClr val="222222"/>
                </a:solidFill>
                <a:latin typeface="맑은 고딕"/>
                <a:ea typeface="맑은 고딕"/>
                <a:cs typeface="맑은 고딕"/>
              </a:rPr>
              <a:t>•  PCTFREE: 블록의 몇 %를 삽입에 안 쓰고 남겨 둔다</a:t>
            </a:r>
          </a:p>
          <a:p>
            <a:pPr algn="l">
              <a:spcAft>
                <a:spcPts val="800"/>
              </a:spcAft>
            </a:pPr>
            <a:r>
              <a:rPr sz="1700" b="0">
                <a:solidFill>
                  <a:srgbClr val="222222"/>
                </a:solidFill>
                <a:latin typeface="맑은 고딕"/>
                <a:ea typeface="맑은 고딕"/>
                <a:cs typeface="맑은 고딕"/>
              </a:rPr>
              <a:t>•  UPDATE로 행이 커질 여지 → 이주 예방</a:t>
            </a:r>
          </a:p>
          <a:p>
            <a:pPr algn="l">
              <a:spcAft>
                <a:spcPts val="800"/>
              </a:spcAft>
            </a:pPr>
            <a:r>
              <a:rPr sz="1700" b="0">
                <a:solidFill>
                  <a:srgbClr val="222222"/>
                </a:solidFill>
                <a:latin typeface="맑은 고딕"/>
                <a:ea typeface="맑은 고딕"/>
                <a:cs typeface="맑은 고딕"/>
              </a:rPr>
              <a:t>•  UPDATE 잦고 행이 커지는 테이블 → PCTFREE 높게(20~30)</a:t>
            </a:r>
          </a:p>
          <a:p>
            <a:pPr algn="l">
              <a:spcAft>
                <a:spcPts val="800"/>
              </a:spcAft>
            </a:pPr>
            <a:r>
              <a:rPr sz="1700" b="0">
                <a:solidFill>
                  <a:srgbClr val="222222"/>
                </a:solidFill>
                <a:latin typeface="맑은 고딕"/>
                <a:ea typeface="맑은 고딕"/>
                <a:cs typeface="맑은 고딕"/>
              </a:rPr>
              <a:t>•  INSERT만·갱신 거의 없음 → PCTFREE 낮게(5~10)로 빽빽이</a:t>
            </a:r>
          </a:p>
          <a:p>
            <a:pPr algn="l">
              <a:spcAft>
                <a:spcPts val="800"/>
              </a:spcAft>
            </a:pPr>
            <a:r>
              <a:rPr sz="1700" b="0">
                <a:solidFill>
                  <a:srgbClr val="222222"/>
                </a:solidFill>
                <a:latin typeface="맑은 고딕"/>
                <a:ea typeface="맑은 고딕"/>
                <a:cs typeface="맑은 고딕"/>
              </a:rPr>
              <a:t>•  ASSM에서 PCTUSED는 불필요하지만 PCTFREE는 유효</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nchor="ctr">
            <a:spAutoFit/>
          </a:bodyPr>
          <a:lstStyle/>
          <a:p>
            <a:pPr algn="l">
              <a:spcAft>
                <a:spcPts val="600"/>
              </a:spcAft>
            </a:pPr>
            <a:r>
              <a:rPr sz="2600" b="1">
                <a:solidFill>
                  <a:srgbClr val="FFFFFF"/>
                </a:solidFill>
                <a:latin typeface="맑은 고딕"/>
                <a:ea typeface="맑은 고딕"/>
                <a:cs typeface="맑은 고딕"/>
              </a:rPr>
              <a:t>행 이주 vs 행 체이닝</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ea typeface="맑은 고딕"/>
                <a:cs typeface="맑은 고딕"/>
              </a:rPr>
              <a:t>무엇이 옮겨지고, 무엇이 원래 큰가</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800"/>
              </a:spcAft>
            </a:pPr>
            <a:r>
              <a:rPr sz="1700" b="0">
                <a:solidFill>
                  <a:srgbClr val="222222"/>
                </a:solidFill>
                <a:latin typeface="맑은 고딕"/>
                <a:ea typeface="맑은 고딕"/>
                <a:cs typeface="맑은 고딕"/>
              </a:rPr>
              <a:t>•  이주: UPDATE로 커진 행이 원 블록에 안 들어가 이동 + 포인터 잔류</a:t>
            </a:r>
          </a:p>
          <a:p>
            <a:pPr algn="l">
              <a:spcAft>
                <a:spcPts val="800"/>
              </a:spcAft>
            </a:pPr>
            <a:r>
              <a:rPr sz="1700" b="0">
                <a:solidFill>
                  <a:srgbClr val="222222"/>
                </a:solidFill>
                <a:latin typeface="맑은 고딕"/>
                <a:ea typeface="맑은 고딕"/>
                <a:cs typeface="맑은 고딕"/>
              </a:rPr>
              <a:t>•  → 인덱스 조회 시 한 번 더 점프 → 논리·물리 읽기↑</a:t>
            </a:r>
          </a:p>
          <a:p>
            <a:pPr algn="l">
              <a:spcAft>
                <a:spcPts val="800"/>
              </a:spcAft>
            </a:pPr>
            <a:r>
              <a:rPr sz="1700" b="0">
                <a:solidFill>
                  <a:srgbClr val="222222"/>
                </a:solidFill>
                <a:latin typeface="맑은 고딕"/>
                <a:ea typeface="맑은 고딕"/>
                <a:cs typeface="맑은 고딕"/>
              </a:rPr>
              <a:t>•  체이닝: 행 자체가 블록보다 커서 처음부터 여러 블록에 걸침</a:t>
            </a:r>
          </a:p>
          <a:p>
            <a:pPr algn="l">
              <a:spcAft>
                <a:spcPts val="800"/>
              </a:spcAft>
            </a:pPr>
            <a:r>
              <a:rPr sz="1700" b="0">
                <a:solidFill>
                  <a:srgbClr val="222222"/>
                </a:solidFill>
                <a:latin typeface="맑은 고딕"/>
                <a:ea typeface="맑은 고딕"/>
                <a:cs typeface="맑은 고딕"/>
              </a:rPr>
              <a:t>•  이주 해법: PCTFREE↑ + ALTER TABLE ... MOVE + 인덱스 REBUILD</a:t>
            </a:r>
          </a:p>
          <a:p>
            <a:pPr algn="l">
              <a:spcAft>
                <a:spcPts val="800"/>
              </a:spcAft>
            </a:pPr>
            <a:r>
              <a:rPr sz="1700" b="0">
                <a:solidFill>
                  <a:srgbClr val="222222"/>
                </a:solidFill>
                <a:latin typeface="맑은 고딕"/>
                <a:ea typeface="맑은 고딕"/>
                <a:cs typeface="맑은 고딕"/>
              </a:rPr>
              <a:t>•  체이닝 해법: 더 큰 블록 크기 테이블스페이스</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nchor="ctr">
            <a:spAutoFit/>
          </a:bodyPr>
          <a:lstStyle/>
          <a:p>
            <a:pPr algn="l">
              <a:spcAft>
                <a:spcPts val="600"/>
              </a:spcAft>
            </a:pPr>
            <a:r>
              <a:rPr sz="2600" b="1">
                <a:solidFill>
                  <a:srgbClr val="FFFFFF"/>
                </a:solidFill>
                <a:latin typeface="맑은 고딕"/>
                <a:ea typeface="맑은 고딕"/>
                <a:cs typeface="맑은 고딕"/>
              </a:rPr>
              <a:t>이주 행을 찾아내기</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ea typeface="맑은 고딕"/>
                <a:cs typeface="맑은 고딕"/>
              </a:rPr>
              <a:t>ANALYZE ... LIST CHAINED ROWS / CHAIN_CNT</a:t>
            </a:r>
          </a:p>
        </p:txBody>
      </p:sp>
      <p:sp>
        <p:nvSpPr>
          <p:cNvPr id="5" name="Rectangle 4"/>
          <p:cNvSpPr/>
          <p:nvPr/>
        </p:nvSpPr>
        <p:spPr>
          <a:xfrm>
            <a:off x="640080" y="1691640"/>
            <a:ext cx="10881360" cy="475488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tIns="91440"/>
          <a:lstStyle/>
          <a:p>
            <a:pPr algn="l">
              <a:spcAft>
                <a:spcPts val="0"/>
              </a:spcAft>
            </a:pPr>
            <a:r>
              <a:rPr sz="1250" b="0">
                <a:solidFill>
                  <a:srgbClr val="F2F2F2"/>
                </a:solidFill>
                <a:latin typeface="Consolas"/>
                <a:ea typeface="Consolas"/>
                <a:cs typeface="Consolas"/>
              </a:rPr>
              <a:t>-- (1) 결과 테이블 생성</a:t>
            </a:r>
          </a:p>
          <a:p>
            <a:pPr algn="l">
              <a:spcAft>
                <a:spcPts val="0"/>
              </a:spcAft>
            </a:pPr>
            <a:r>
              <a:rPr sz="1250" b="0">
                <a:solidFill>
                  <a:srgbClr val="F2F2F2"/>
                </a:solidFill>
                <a:latin typeface="Consolas"/>
                <a:ea typeface="Consolas"/>
                <a:cs typeface="Consolas"/>
              </a:rPr>
              <a:t>SYS@orcl&gt; @?/rdbms/admin/utlchain.sql</a:t>
            </a:r>
          </a:p>
          <a:p>
            <a:pPr algn="l">
              <a:spcAft>
                <a:spcPts val="0"/>
              </a:spcAft>
            </a:pPr>
            <a:r>
              <a:rPr sz="1250" b="0">
                <a:solidFill>
                  <a:srgbClr val="F2F2F2"/>
                </a:solidFill>
                <a:latin typeface="Consolas"/>
                <a:ea typeface="Consolas"/>
                <a:cs typeface="Consolas"/>
              </a:rPr>
              <a:t> </a:t>
            </a:r>
          </a:p>
          <a:p>
            <a:pPr algn="l">
              <a:spcAft>
                <a:spcPts val="0"/>
              </a:spcAft>
            </a:pPr>
            <a:r>
              <a:rPr sz="1250" b="0">
                <a:solidFill>
                  <a:srgbClr val="F2F2F2"/>
                </a:solidFill>
                <a:latin typeface="Consolas"/>
                <a:ea typeface="Consolas"/>
                <a:cs typeface="Consolas"/>
              </a:rPr>
              <a:t>-- (2) 이주/체이닝 행 수집</a:t>
            </a:r>
          </a:p>
          <a:p>
            <a:pPr algn="l">
              <a:spcAft>
                <a:spcPts val="0"/>
              </a:spcAft>
            </a:pPr>
            <a:r>
              <a:rPr sz="1250" b="0">
                <a:solidFill>
                  <a:srgbClr val="F2F2F2"/>
                </a:solidFill>
                <a:latin typeface="Consolas"/>
                <a:ea typeface="Consolas"/>
                <a:cs typeface="Consolas"/>
              </a:rPr>
              <a:t>SQLT@orcl&gt; ANALYZE TABLE claim_details LIST CHAINED ROWS</a:t>
            </a:r>
          </a:p>
          <a:p>
            <a:pPr algn="l">
              <a:spcAft>
                <a:spcPts val="0"/>
              </a:spcAft>
            </a:pPr>
            <a:r>
              <a:rPr sz="1250" b="0">
                <a:solidFill>
                  <a:srgbClr val="F2F2F2"/>
                </a:solidFill>
                <a:latin typeface="Consolas"/>
                <a:ea typeface="Consolas"/>
                <a:cs typeface="Consolas"/>
              </a:rPr>
              <a:t>  2         INTO chained_rows;</a:t>
            </a:r>
          </a:p>
          <a:p>
            <a:pPr algn="l">
              <a:spcAft>
                <a:spcPts val="0"/>
              </a:spcAft>
            </a:pPr>
            <a:r>
              <a:rPr sz="1250" b="0">
                <a:solidFill>
                  <a:srgbClr val="F2F2F2"/>
                </a:solidFill>
                <a:latin typeface="Consolas"/>
                <a:ea typeface="Consolas"/>
                <a:cs typeface="Consolas"/>
              </a:rPr>
              <a:t> </a:t>
            </a:r>
          </a:p>
          <a:p>
            <a:pPr algn="l">
              <a:spcAft>
                <a:spcPts val="0"/>
              </a:spcAft>
            </a:pPr>
            <a:r>
              <a:rPr sz="1250" b="0">
                <a:solidFill>
                  <a:srgbClr val="F2F2F2"/>
                </a:solidFill>
                <a:latin typeface="Consolas"/>
                <a:ea typeface="Consolas"/>
                <a:cs typeface="Consolas"/>
              </a:rPr>
              <a:t>-- (3) 개수 확인</a:t>
            </a:r>
          </a:p>
          <a:p>
            <a:pPr algn="l">
              <a:spcAft>
                <a:spcPts val="0"/>
              </a:spcAft>
            </a:pPr>
            <a:r>
              <a:rPr sz="1250" b="0">
                <a:solidFill>
                  <a:srgbClr val="F2F2F2"/>
                </a:solidFill>
                <a:latin typeface="Consolas"/>
                <a:ea typeface="Consolas"/>
                <a:cs typeface="Consolas"/>
              </a:rPr>
              <a:t>SQLT@orcl&gt; SELECT COUNT(*) FROM chained_rows</a:t>
            </a:r>
          </a:p>
          <a:p>
            <a:pPr algn="l">
              <a:spcAft>
                <a:spcPts val="0"/>
              </a:spcAft>
            </a:pPr>
            <a:r>
              <a:rPr sz="1250" b="0">
                <a:solidFill>
                  <a:srgbClr val="F2F2F2"/>
                </a:solidFill>
                <a:latin typeface="Consolas"/>
                <a:ea typeface="Consolas"/>
                <a:cs typeface="Consolas"/>
              </a:rPr>
              <a:t>  2         WHERE table_name='CLAIM_DETAILS';</a:t>
            </a:r>
          </a:p>
          <a:p>
            <a:pPr algn="l">
              <a:spcAft>
                <a:spcPts val="0"/>
              </a:spcAft>
            </a:pPr>
            <a:r>
              <a:rPr sz="1250" b="0">
                <a:solidFill>
                  <a:srgbClr val="F2F2F2"/>
                </a:solidFill>
                <a:latin typeface="Consolas"/>
                <a:ea typeface="Consolas"/>
                <a:cs typeface="Consolas"/>
              </a:rPr>
              <a:t> </a:t>
            </a:r>
          </a:p>
          <a:p>
            <a:pPr algn="l">
              <a:spcAft>
                <a:spcPts val="0"/>
              </a:spcAft>
            </a:pPr>
            <a:r>
              <a:rPr sz="1250" b="0">
                <a:solidFill>
                  <a:srgbClr val="F2F2F2"/>
                </a:solidFill>
                <a:latin typeface="Consolas"/>
                <a:ea typeface="Consolas"/>
                <a:cs typeface="Consolas"/>
              </a:rPr>
              <a:t>-- 통계에도: DBA_TABLES.CHAIN_CNT (이주+체이닝 합산)</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nchor="ctr">
            <a:spAutoFit/>
          </a:bodyPr>
          <a:lstStyle/>
          <a:p>
            <a:pPr algn="l">
              <a:spcAft>
                <a:spcPts val="600"/>
              </a:spcAft>
            </a:pPr>
            <a:r>
              <a:rPr sz="2600" b="1">
                <a:solidFill>
                  <a:srgbClr val="FFFFFF"/>
                </a:solidFill>
                <a:latin typeface="맑은 고딕"/>
                <a:ea typeface="맑은 고딕"/>
                <a:cs typeface="맑은 고딕"/>
              </a:rPr>
              <a:t>실습 환경의 테이블스페이스 지도</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ea typeface="맑은 고딕"/>
                <a:cs typeface="맑은 고딕"/>
              </a:rPr>
              <a:t>어느 오류가 어느 TS와 연결되는지 기준선</a:t>
            </a:r>
          </a:p>
        </p:txBody>
      </p:sp>
      <p:sp>
        <p:nvSpPr>
          <p:cNvPr id="5" name="Rectangle 4"/>
          <p:cNvSpPr/>
          <p:nvPr/>
        </p:nvSpPr>
        <p:spPr>
          <a:xfrm>
            <a:off x="640080" y="1691640"/>
            <a:ext cx="10881360" cy="475488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tIns="91440"/>
          <a:lstStyle/>
          <a:p>
            <a:pPr algn="l">
              <a:spcAft>
                <a:spcPts val="0"/>
              </a:spcAft>
            </a:pPr>
            <a:r>
              <a:rPr sz="1250" b="0">
                <a:solidFill>
                  <a:srgbClr val="F2F2F2"/>
                </a:solidFill>
                <a:latin typeface="Consolas"/>
                <a:ea typeface="Consolas"/>
                <a:cs typeface="Consolas"/>
              </a:rPr>
              <a:t>SYS@orcl&gt; SELECT tablespace_name, ROUND(SUM(bytes)/1024/1024) mb, COUNT(*) files</a:t>
            </a:r>
          </a:p>
          <a:p>
            <a:pPr algn="l">
              <a:spcAft>
                <a:spcPts val="0"/>
              </a:spcAft>
            </a:pPr>
            <a:r>
              <a:rPr sz="1250" b="0">
                <a:solidFill>
                  <a:srgbClr val="F2F2F2"/>
                </a:solidFill>
                <a:latin typeface="Consolas"/>
                <a:ea typeface="Consolas"/>
                <a:cs typeface="Consolas"/>
              </a:rPr>
              <a:t>  2       FROM dba_data_files GROUP BY tablespace_name ORDER BY mb DESC;</a:t>
            </a:r>
          </a:p>
          <a:p>
            <a:pPr algn="l">
              <a:spcAft>
                <a:spcPts val="0"/>
              </a:spcAft>
            </a:pPr>
            <a:r>
              <a:rPr sz="1250" b="0">
                <a:solidFill>
                  <a:srgbClr val="F2F2F2"/>
                </a:solidFill>
                <a:latin typeface="Consolas"/>
                <a:ea typeface="Consolas"/>
                <a:cs typeface="Consolas"/>
              </a:rPr>
              <a:t>TABLESPACE_NAME          MB      FILES</a:t>
            </a:r>
          </a:p>
          <a:p>
            <a:pPr algn="l">
              <a:spcAft>
                <a:spcPts val="0"/>
              </a:spcAft>
            </a:pPr>
            <a:r>
              <a:rPr sz="1250" b="0">
                <a:solidFill>
                  <a:srgbClr val="F2F2F2"/>
                </a:solidFill>
                <a:latin typeface="Consolas"/>
                <a:ea typeface="Consolas"/>
                <a:cs typeface="Consolas"/>
              </a:rPr>
              <a:t>----------------- ---------- ----------</a:t>
            </a:r>
          </a:p>
          <a:p>
            <a:pPr algn="l">
              <a:spcAft>
                <a:spcPts val="0"/>
              </a:spcAft>
            </a:pPr>
            <a:r>
              <a:rPr sz="1250" b="0">
                <a:solidFill>
                  <a:srgbClr val="F2F2F2"/>
                </a:solidFill>
                <a:latin typeface="Consolas"/>
                <a:ea typeface="Consolas"/>
                <a:cs typeface="Consolas"/>
              </a:rPr>
              <a:t>USERS                   2369          2</a:t>
            </a:r>
          </a:p>
          <a:p>
            <a:pPr algn="l">
              <a:spcAft>
                <a:spcPts val="0"/>
              </a:spcAft>
            </a:pPr>
            <a:r>
              <a:rPr sz="1250" b="0">
                <a:solidFill>
                  <a:srgbClr val="F2F2F2"/>
                </a:solidFill>
                <a:latin typeface="Consolas"/>
                <a:ea typeface="Consolas"/>
                <a:cs typeface="Consolas"/>
              </a:rPr>
              <a:t>SYSTEM                   940          1</a:t>
            </a:r>
          </a:p>
          <a:p>
            <a:pPr algn="l">
              <a:spcAft>
                <a:spcPts val="0"/>
              </a:spcAft>
            </a:pPr>
            <a:r>
              <a:rPr sz="1250" b="0">
                <a:solidFill>
                  <a:srgbClr val="F2F2F2"/>
                </a:solidFill>
                <a:latin typeface="Consolas"/>
                <a:ea typeface="Consolas"/>
                <a:cs typeface="Consolas"/>
              </a:rPr>
              <a:t>SYSAUX                   900          1</a:t>
            </a:r>
          </a:p>
          <a:p>
            <a:pPr algn="l">
              <a:spcAft>
                <a:spcPts val="0"/>
              </a:spcAft>
            </a:pPr>
            <a:r>
              <a:rPr sz="1250" b="0">
                <a:solidFill>
                  <a:srgbClr val="F2F2F2"/>
                </a:solidFill>
                <a:latin typeface="Consolas"/>
                <a:ea typeface="Consolas"/>
                <a:cs typeface="Consolas"/>
              </a:rPr>
              <a:t>TS_STG                   422          1</a:t>
            </a:r>
          </a:p>
          <a:p>
            <a:pPr algn="l">
              <a:spcAft>
                <a:spcPts val="0"/>
              </a:spcAft>
            </a:pPr>
            <a:r>
              <a:rPr sz="1250" b="0">
                <a:solidFill>
                  <a:srgbClr val="F2F2F2"/>
                </a:solidFill>
                <a:latin typeface="Consolas"/>
                <a:ea typeface="Consolas"/>
                <a:cs typeface="Consolas"/>
              </a:rPr>
              <a:t>UNDOTBS1                 380          1     &lt;- ORA-01555 (4.4)</a:t>
            </a:r>
          </a:p>
          <a:p>
            <a:pPr algn="l">
              <a:spcAft>
                <a:spcPts val="0"/>
              </a:spcAft>
            </a:pPr>
            <a:r>
              <a:rPr sz="1250" b="0">
                <a:solidFill>
                  <a:srgbClr val="F2F2F2"/>
                </a:solidFill>
                <a:latin typeface="Consolas"/>
                <a:ea typeface="Consolas"/>
                <a:cs typeface="Consolas"/>
              </a:rPr>
              <a:t>RTBS                      50          1</a:t>
            </a:r>
          </a:p>
          <a:p>
            <a:pPr algn="l">
              <a:spcAft>
                <a:spcPts val="0"/>
              </a:spcAft>
            </a:pPr>
            <a:r>
              <a:rPr sz="1250" b="0">
                <a:solidFill>
                  <a:srgbClr val="F2F2F2"/>
                </a:solidFill>
                <a:latin typeface="Consolas"/>
                <a:ea typeface="Consolas"/>
                <a:cs typeface="Consolas"/>
              </a:rPr>
              <a:t>TEMP  (temp file)         20          1     &lt;- ORA-01652 (4.5)</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nchor="ctr">
            <a:spAutoFit/>
          </a:bodyPr>
          <a:lstStyle/>
          <a:p>
            <a:pPr algn="l">
              <a:spcAft>
                <a:spcPts val="600"/>
              </a:spcAft>
            </a:pPr>
            <a:r>
              <a:rPr sz="2600" b="1">
                <a:solidFill>
                  <a:srgbClr val="FFFFFF"/>
                </a:solidFill>
                <a:latin typeface="맑은 고딕"/>
                <a:ea typeface="맑은 고딕"/>
                <a:cs typeface="맑은 고딕"/>
              </a:rPr>
              <a:t>퀴즈 (Quiz)</a:t>
            </a:r>
          </a:p>
        </p:txBody>
      </p:sp>
      <p:sp>
        <p:nvSpPr>
          <p:cNvPr id="4" name="TextBox 3"/>
          <p:cNvSpPr txBox="1"/>
          <p:nvPr/>
        </p:nvSpPr>
        <p:spPr>
          <a:xfrm>
            <a:off x="640080" y="1371600"/>
            <a:ext cx="10881360" cy="5120640"/>
          </a:xfrm>
          <a:prstGeom prst="rect">
            <a:avLst/>
          </a:prstGeom>
          <a:noFill/>
        </p:spPr>
        <p:txBody>
          <a:bodyPr wrap="square">
            <a:spAutoFit/>
          </a:bodyPr>
          <a:lstStyle/>
          <a:p>
            <a:pPr algn="l">
              <a:spcAft>
                <a:spcPts val="700"/>
              </a:spcAft>
            </a:pPr>
            <a:r>
              <a:rPr sz="1600" b="0">
                <a:solidFill>
                  <a:srgbClr val="222222"/>
                </a:solidFill>
                <a:latin typeface="맑은 고딕"/>
                <a:ea typeface="맑은 고딕"/>
                <a:cs typeface="맑은 고딕"/>
              </a:rPr>
              <a:t>•  Q1. 성능 파라미터 중 '1차 파라미터'로 다수 값이 파생되는 것은? 파생 예 하나?</a:t>
            </a:r>
          </a:p>
          <a:p>
            <a:pPr algn="l">
              <a:spcAft>
                <a:spcPts val="700"/>
              </a:spcAft>
            </a:pPr>
            <a:r>
              <a:rPr sz="1600" b="0">
                <a:solidFill>
                  <a:srgbClr val="222222"/>
                </a:solidFill>
                <a:latin typeface="맑은 고딕"/>
                <a:ea typeface="맑은 고딕"/>
                <a:cs typeface="맑은 고딕"/>
              </a:rPr>
              <a:t>•  Q2. UNDO_RETENTION=900·NOGUARANTEE에서 Undo 부족 시 무슨 일이? GUARANTEE라면?</a:t>
            </a:r>
          </a:p>
          <a:p>
            <a:pPr algn="l">
              <a:spcAft>
                <a:spcPts val="700"/>
              </a:spcAft>
            </a:pPr>
            <a:r>
              <a:rPr sz="1600" b="0">
                <a:solidFill>
                  <a:srgbClr val="222222"/>
                </a:solidFill>
                <a:latin typeface="맑은 고딕"/>
                <a:ea typeface="맑은 고딕"/>
                <a:cs typeface="맑은 고딕"/>
              </a:rPr>
              <a:t>•  Q3. ORA-01555의 근본 원인을 '조회 길이·동시 변경량·Undo 공간'으로 설명하라.</a:t>
            </a:r>
          </a:p>
          <a:p>
            <a:pPr algn="l">
              <a:spcAft>
                <a:spcPts val="700"/>
              </a:spcAft>
            </a:pPr>
            <a:r>
              <a:rPr sz="1600" b="0">
                <a:solidFill>
                  <a:srgbClr val="222222"/>
                </a:solidFill>
                <a:latin typeface="맑은 고딕"/>
                <a:ea typeface="맑은 고딕"/>
                <a:cs typeface="맑은 고딕"/>
              </a:rPr>
              <a:t>•  Q4. ORA-01652가 임시 공간 문제인지 무엇으로 가르는가? SQL 튜닝이 정답인 경우와 아닌 경우는?</a:t>
            </a:r>
          </a:p>
          <a:p>
            <a:pPr algn="l">
              <a:spcAft>
                <a:spcPts val="700"/>
              </a:spcAft>
            </a:pPr>
            <a:r>
              <a:rPr sz="1600" b="0">
                <a:solidFill>
                  <a:srgbClr val="222222"/>
                </a:solidFill>
                <a:latin typeface="맑은 고딕"/>
                <a:ea typeface="맑은 고딕"/>
                <a:cs typeface="맑은 고딕"/>
              </a:rPr>
              <a:t>•  Q5. 전용 vs 공유 서버의 프로세스·UGA 차이와 각각 유리한 워크로드는?</a:t>
            </a:r>
          </a:p>
          <a:p>
            <a:pPr algn="l">
              <a:spcAft>
                <a:spcPts val="700"/>
              </a:spcAft>
            </a:pPr>
            <a:r>
              <a:rPr sz="1600" b="0">
                <a:solidFill>
                  <a:srgbClr val="222222"/>
                </a:solidFill>
                <a:latin typeface="맑은 고딕"/>
                <a:ea typeface="맑은 고딕"/>
                <a:cs typeface="맑은 고딕"/>
              </a:rPr>
              <a:t>•  Q6. 행 이주와 체이닝의 차이, 근본 해법이 다른 이유(PCTFREE vs 블록 크기)는?</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nchor="ctr">
            <a:spAutoFit/>
          </a:bodyPr>
          <a:lstStyle/>
          <a:p>
            <a:pPr algn="l">
              <a:spcAft>
                <a:spcPts val="600"/>
              </a:spcAft>
            </a:pPr>
            <a:r>
              <a:rPr sz="2600" b="1">
                <a:solidFill>
                  <a:srgbClr val="FFFFFF"/>
                </a:solidFill>
                <a:latin typeface="맑은 고딕"/>
                <a:ea typeface="맑은 고딕"/>
                <a:cs typeface="맑은 고딕"/>
              </a:rPr>
              <a:t>요약 (Summary)</a:t>
            </a:r>
          </a:p>
        </p:txBody>
      </p:sp>
      <p:sp>
        <p:nvSpPr>
          <p:cNvPr id="4" name="TextBox 3"/>
          <p:cNvSpPr txBox="1"/>
          <p:nvPr/>
        </p:nvSpPr>
        <p:spPr>
          <a:xfrm>
            <a:off x="640080" y="1371600"/>
            <a:ext cx="10881360" cy="5120640"/>
          </a:xfrm>
          <a:prstGeom prst="rect">
            <a:avLst/>
          </a:prstGeom>
          <a:noFill/>
        </p:spPr>
        <p:txBody>
          <a:bodyPr wrap="square">
            <a:spAutoFit/>
          </a:bodyPr>
          <a:lstStyle/>
          <a:p>
            <a:pPr algn="l">
              <a:spcAft>
                <a:spcPts val="700"/>
              </a:spcAft>
            </a:pPr>
            <a:r>
              <a:rPr sz="1600" b="0">
                <a:solidFill>
                  <a:srgbClr val="222222"/>
                </a:solidFill>
                <a:latin typeface="맑은 고딕"/>
                <a:ea typeface="맑은 고딕"/>
                <a:cs typeface="맑은 고딕"/>
              </a:rPr>
              <a:t>•  초기 구성이 성능의 상한을 정한다. 성능 파라미터는 소수이고 PROCESSES가 1차.</a:t>
            </a:r>
          </a:p>
          <a:p>
            <a:pPr algn="l">
              <a:spcAft>
                <a:spcPts val="700"/>
              </a:spcAft>
            </a:pPr>
            <a:r>
              <a:rPr sz="1600" b="0">
                <a:solidFill>
                  <a:srgbClr val="222222"/>
                </a:solidFill>
                <a:latin typeface="맑은 고딕"/>
                <a:ea typeface="맑은 고딕"/>
                <a:cs typeface="맑은 고딕"/>
              </a:rPr>
              <a:t>•  실측: 8KB 블록, ASMM(SGA 1.5GB/PGA 700MB), processes 500·sessions 776, TEMP 20MB.</a:t>
            </a:r>
          </a:p>
          <a:p>
            <a:pPr algn="l">
              <a:spcAft>
                <a:spcPts val="700"/>
              </a:spcAft>
            </a:pPr>
            <a:r>
              <a:rPr sz="1600" b="0">
                <a:solidFill>
                  <a:srgbClr val="222222"/>
                </a:solidFill>
                <a:latin typeface="맑은 고딕"/>
                <a:ea typeface="맑은 고딕"/>
                <a:cs typeface="맑은 고딕"/>
              </a:rPr>
              <a:t>•  ORA-01555는 Undo 세그먼트가 작아서가 아니라 과거 이미지를 덮어써서 난다 — SQL 문제 아님.</a:t>
            </a:r>
          </a:p>
          <a:p>
            <a:pPr algn="l">
              <a:spcAft>
                <a:spcPts val="700"/>
              </a:spcAft>
            </a:pPr>
            <a:r>
              <a:rPr sz="1600" b="0">
                <a:solidFill>
                  <a:srgbClr val="222222"/>
                </a:solidFill>
                <a:latin typeface="맑은 고딕"/>
                <a:ea typeface="맑은 고딕"/>
                <a:cs typeface="맑은 고딕"/>
              </a:rPr>
              <a:t>•  ORA-01652는 임시 공간 부족. 메시지의 TS 이름을 먼저 보고 구성/SQL을 가른다.</a:t>
            </a:r>
          </a:p>
          <a:p>
            <a:pPr algn="l">
              <a:spcAft>
                <a:spcPts val="700"/>
              </a:spcAft>
            </a:pPr>
            <a:r>
              <a:rPr sz="1600" b="0">
                <a:solidFill>
                  <a:srgbClr val="222222"/>
                </a:solidFill>
                <a:latin typeface="맑은 고딕"/>
                <a:ea typeface="맑은 고딕"/>
                <a:cs typeface="맑은 고딕"/>
              </a:rPr>
              <a:t>•  전용=접속마다 프로세스, 공유=디스패처 다중. 간헐 OLTP는 공유, 장시간·배치는 전용.</a:t>
            </a:r>
          </a:p>
          <a:p>
            <a:pPr algn="l">
              <a:spcAft>
                <a:spcPts val="700"/>
              </a:spcAft>
            </a:pPr>
            <a:r>
              <a:rPr sz="1600" b="0">
                <a:solidFill>
                  <a:srgbClr val="222222"/>
                </a:solidFill>
                <a:latin typeface="맑은 고딕"/>
                <a:ea typeface="맑은 고딕"/>
                <a:cs typeface="맑은 고딕"/>
              </a:rPr>
              <a:t>•  행 이주는 PCTFREE로 예방·CHAIN_CNT로 탐지. 체이닝은 블록 크기 문제.</a:t>
            </a:r>
          </a:p>
          <a:p>
            <a:pPr algn="l">
              <a:spcAft>
                <a:spcPts val="700"/>
              </a:spcAft>
            </a:pPr>
            <a:r>
              <a:rPr sz="1600" b="0">
                <a:solidFill>
                  <a:srgbClr val="222222"/>
                </a:solidFill>
                <a:latin typeface="맑은 고딕"/>
                <a:ea typeface="맑은 고딕"/>
                <a:cs typeface="맑은 고딕"/>
              </a:rPr>
              <a:t>•  구성성 오류를 SQL 문제로 오인하지 않는다 — 이 장의 Common Error.</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nchor="ctr">
            <a:spAutoFit/>
          </a:bodyPr>
          <a:lstStyle/>
          <a:p>
            <a:pPr algn="l">
              <a:spcAft>
                <a:spcPts val="600"/>
              </a:spcAft>
            </a:pPr>
            <a:r>
              <a:rPr sz="2600" b="1">
                <a:solidFill>
                  <a:srgbClr val="FFFFFF"/>
                </a:solidFill>
                <a:latin typeface="맑은 고딕"/>
                <a:ea typeface="맑은 고딕"/>
                <a:cs typeface="맑은 고딕"/>
              </a:rPr>
              <a:t>실습 개요 (Practice Overview)</a:t>
            </a:r>
          </a:p>
        </p:txBody>
      </p:sp>
      <p:sp>
        <p:nvSpPr>
          <p:cNvPr id="4" name="TextBox 3"/>
          <p:cNvSpPr txBox="1"/>
          <p:nvPr/>
        </p:nvSpPr>
        <p:spPr>
          <a:xfrm>
            <a:off x="640080" y="1371600"/>
            <a:ext cx="10881360" cy="5120640"/>
          </a:xfrm>
          <a:prstGeom prst="rect">
            <a:avLst/>
          </a:prstGeom>
          <a:noFill/>
        </p:spPr>
        <p:txBody>
          <a:bodyPr wrap="square">
            <a:spAutoFit/>
          </a:bodyPr>
          <a:lstStyle/>
          <a:p>
            <a:pPr algn="l">
              <a:spcAft>
                <a:spcPts val="700"/>
              </a:spcAft>
            </a:pPr>
            <a:r>
              <a:rPr sz="1600" b="0">
                <a:solidFill>
                  <a:srgbClr val="222222"/>
                </a:solidFill>
                <a:latin typeface="맑은 고딕"/>
                <a:ea typeface="맑은 고딕"/>
                <a:cs typeface="맑은 고딕"/>
              </a:rPr>
              <a:t>•  실습 01 — 성능 관련 초기화 파라미터 일괄 점검(V$PARAMETER 필터링)</a:t>
            </a:r>
          </a:p>
          <a:p>
            <a:pPr algn="l">
              <a:spcAft>
                <a:spcPts val="700"/>
              </a:spcAft>
            </a:pPr>
            <a:r>
              <a:rPr sz="1600" b="0">
                <a:solidFill>
                  <a:srgbClr val="222222"/>
                </a:solidFill>
                <a:latin typeface="맑은 고딕"/>
                <a:ea typeface="맑은 고딕"/>
                <a:cs typeface="맑은 고딕"/>
              </a:rPr>
              <a:t>•  실습 02 — Undo 보존과 ORA-01555 재현→UNDO_RETENTION·테이블스페이스 조정</a:t>
            </a:r>
          </a:p>
          <a:p>
            <a:pPr algn="l">
              <a:spcAft>
                <a:spcPts val="700"/>
              </a:spcAft>
            </a:pPr>
            <a:r>
              <a:rPr sz="1600" b="0">
                <a:solidFill>
                  <a:srgbClr val="222222"/>
                </a:solidFill>
                <a:latin typeface="맑은 고딕"/>
                <a:ea typeface="맑은 고딕"/>
                <a:cs typeface="맑은 고딕"/>
              </a:rPr>
              <a:t>•  실습 03 — 임시 테이블스페이스 부족(ORA-01652) 재현과 TEMP 확장</a:t>
            </a:r>
          </a:p>
          <a:p>
            <a:pPr algn="l">
              <a:spcAft>
                <a:spcPts val="700"/>
              </a:spcAft>
            </a:pPr>
            <a:r>
              <a:rPr sz="1600" b="0">
                <a:solidFill>
                  <a:srgbClr val="222222"/>
                </a:solidFill>
                <a:latin typeface="맑은 고딕"/>
                <a:ea typeface="맑은 고딕"/>
                <a:cs typeface="맑은 고딕"/>
              </a:rPr>
              <a:t>•  실습 04 — 전용 서버 vs 공유 서버 접속 방식 비교(프로세스·메모리)</a:t>
            </a:r>
          </a:p>
          <a:p>
            <a:pPr algn="l">
              <a:spcAft>
                <a:spcPts val="700"/>
              </a:spcAft>
            </a:pPr>
            <a:r>
              <a:rPr sz="1600" b="0">
                <a:solidFill>
                  <a:srgbClr val="222222"/>
                </a:solidFill>
                <a:latin typeface="맑은 고딕"/>
                <a:ea typeface="맑은 고딕"/>
                <a:cs typeface="맑은 고딕"/>
              </a:rPr>
              <a:t>•  실습 05 — 블록 크기와 행 이주 관찰(ANALYZE ... LIST CHAINED ROWS)</a:t>
            </a:r>
          </a:p>
          <a:p>
            <a:pPr algn="l">
              <a:spcAft>
                <a:spcPts val="700"/>
              </a:spcAft>
            </a:pPr>
            <a:r>
              <a:rPr sz="1600" b="0">
                <a:solidFill>
                  <a:srgbClr val="222222"/>
                </a:solidFill>
                <a:latin typeface="맑은 고딕"/>
                <a:ea typeface="맑은 고딕"/>
                <a:cs typeface="맑은 고딕"/>
              </a:rPr>
              <a:t>•  ※ 모두 개인 실습 환경(non-CDB orcl 19.3) 전용. 조치 전→조치→조치 후 3단 캡처.</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
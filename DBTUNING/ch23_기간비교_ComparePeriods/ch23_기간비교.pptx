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 전체의 동기다. 성능은 절대량이 아니라 관계로 읽어야 한다는 점을 강조한다. 같은 초당 논리읽기 100만도 어제 값이 얼마였느냐에 따라 정상일 수도, 열 배 악화일 수도, 오히려 개선일 수도 있다. 사용자가 '느리다'고 신고하는 것도 결국 과거 대비 상대 판단이다. 성능 저하가 서서히 진행되면 언제부터 왜 그런지 기억으로는 잡을 수 없으므로, AWR이 스냅샷으로 남긴 과거 기록과 비교하는 것이 유일한 길임을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 AWR 보고서와 Compare Periods 보고서의 결정적 차이는 입력 스냅샷 개수다. 전자는 두 스냅샷 사이 한 구간, 후자는 두 구간이므로 스냅샷 네 개(보고서 두 장에 해당)를 받는다. 결과는 두 구간 사이에서 무엇이 얼마나 달라졌는지를 %Diff로 정량화하고, 차이가 큰 순서로 정렬해 보여 준다. 두 구간의 길이가 달라도 되는 이유는 통계를 초당·트랜잭션당으로 정규화해 길이라는 잡음을 제거하기 때문이다. 정상 밤 10시~자정과 느린 밤 10시~새벽 2시를 비교할 수 있는 것이 그 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정규화가 구간 길이의 차이는 자동으로 상쇄하지만, 워크로드 성격의 차이까지 상쇄하지는 못한다. 그래서 구간 선정이 비교의 신뢰성을 절반 이상 결정한다. 정상 구간은 사용자가 문제를 느끼기 전, 같은 업무가 같은 시간대에 돌던 때여야 한다. 평일 낮 OLTP 구간과 주말 밤 배치 구간을 비교하면 무엇이 달라졌나가 아니라 원래 다른 것을 보게 된다. 비교 가능성은 도구가 아니라 사람이 보장해야 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Periods 보고서를 만드는 스크립트는 대상에 따라 나뉜다. awrddrpt.sql은 지금 접속한 로컬 인스턴스만 다루므로 dbid를 묻지 않고, awrddrpi.sql은 여러 DB의 AWR을 모아 둔 경우를 위해 dbid와 인스턴스까지 지정한다. RAC는 여러 인스턴스를 하나로 묶는 전역판 awrgdrpt/awrgdrpi를 쓴다. 이 과정의 실습 환경은 non-CDB 단일 인스턴스이므로 awrddrpt.sql이 기준이다. 형식은 사람이 탐색하기 좋은 html과 자동 처리·트랜스크립트에 붙이기 좋은 text 중 고른다.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awrddrpt.sql은 보고서 형식, 첫 구간 스냅 목록 일수, 첫 구간 시작·끝 스냅, 둘째 구간 일수와 시작·끝 스냅, 보고서 이름을 차례로 묻는다. 여기서는 실습 데이터베이스의 구간A(스냅 303→304, 가벼운 부하)와 구간B(스냅 305→306, 무거운 부하)를 지정해 텍스트 보고서를 만들었다. 실행 전에 STATISTICS_LEVEL이 TYPICAL 이상인지, 두 구간 스냅이 보존 기간 안에 있는지, 사이에 재기동이 없었는지를 확인해야 한다. 이 모든 작업은 Diagnostics Pack 라이선스가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대화형 프롬프트가 번거롭거나 자동화하고 싶으면 AWR_DIFF_REPORT_TEXT 함수로 보고서 텍스트를 SQL에서 바로 반환받는다. 인자는 스크립트가 묻는 값과 같다 — 두 구간의 dbid, 인스턴스, 시작·끝 스냅. 스케줄러에 걸어 정기적으로 평시 대비 보고서를 뽑거나, 스크립트 안에서 특정 구간을 자동 비교할 때 유용하다. 반환 형식은 text이며, 역시 Diagnostics Pack 라이선스가 필요하다는 점은 동일하다.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다섯 부분이며 읽는 순서가 중요하다. 먼저 Snapshot Sets에서 두 구간이 같은 인스턴스·호스트인지, 사이에 재기동이 없었는지, 각 구간의 DB Time 절대값(실측 81.8초·302.0초)을 확인한다. 다음으로 Host·System 구성 비교로 하드웨어와 파라미터가 그대로인지 검증한다. 여기에 큰 차이가 있으면 이후 성능 차이는 워크로드가 아니라 환경 변화로 먼저 의심해야 한다. 구성이 같음을 확인한 뒤에야 Load Profile과 Top Timed Events로 내려간다. 이 순서를 건너뛰면 환경 변화를 워크로드 변화로 착각한다.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상세는 요약에서 짚은 차이의 뿌리를 판다. Time Model은 DB Time이 어떤 종류의 작업으로 흘러갔는지 대조하므로, hard parse가 급증했다면 파싱 문제를, sql execute가 급증했다면 SQL 실행의 회귀를 가리킨다. Wait Events는 대기를, SQL Statistics는 상위 SQL을 여섯 기준으로 각각 상위 10개씩 대조한다. I/O·Segment는 파일·세그먼트별 급증 지점을 짚는다. 보충 영역의 Complete List of SQL Text에서 SQL_ID의 실제 문장을 확인해 어떤 업무 쿼리인지 식별한다. 모든 표가 차이 순 정렬이라 상단 몇 줄이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장의 핵심 데이터다. 초당값 열은 모두 크게 늘었는데(논리읽기 +136.8%, 파싱 +186.8%) 트랜잭션당값 열은 모두 -99% 넘게 줄었다. 어떻게 같은 항목이 늘면서 동시에 주는가. 답은 맨 아래 Transactions 행이다. 구간A는 초당 0.3건, 구간B는 276.3건으로 약 920배 폭증했다. 구간B는 작은 트랜잭션이 초당 수백 건 쏟아진 구간이라, 초당 총량은 늘었지만 트랜잭션 하나가 하는 일은 급감했다. 분모가 커졌기 때문이다. 두 열을 함께 읽지 않으면 정반대 결론에 이른다.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%Diff의 의미를 정확히 하자. 초당 +136.8%는 구간B가 초당 논리읽기를 2.37배 했다는 뜻이고, 트랜잭션당 -99.7%는 트랜잭션 하나가 유발한 논리읽기가 300분의 1로 줄었다는 뜻이다. 모순처럼 보이지만 아니다. 분자인 총 논리읽기는 2.37배가 됐는데 분모인 트랜잭션 수가 920배가 됐으니 나눈 값은 당연히 급감한다. 파싱도 같다. 초당 하드파싱 +173%는 트랜잭션 폭증의 부수 효과일 뿐, 트랜잭션당은 오히려 줄었다. 만약 트랜잭션당 하드파싱이 늘었다면 그때는 바인드 변수 미사용 같은 진짜 파싱 문제를 의심해야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Profile 아래의 Top 5 Timed Events는 각 구간에서 DB Time을 가장 많이 쓴 이벤트 다섯을 보여 준다. Load Profile이 '얼마나 많은 일을 했나'라면 이것은 '그 시간이 어디로 갔나'다. 실측 두 구간은 DB CPU가 목록 최상단이었고 그 아래 대기 이벤트의 순위·비중이 크게 흔들리지 않았다. CPU가 계속 1위이고 대기 구조가 유지됐다는 것은 같은 성격의 워크로드가 양만 늘었다는 신호다. 반대로 어느 대기가 갑자기 상위로 올라왔다면 그 이벤트가 성능 저하의 실마리가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원리는 단순하다. DB Time을 그 구간이 처리한 일의 양으로 나눠 단위 작업당 DB Time을 구하고 두 구간에서 비교한다. 실측에서 DB Time은 3.7배 늘었는데 트랜잭션은 920배 늘었으니 단위 작업당은 오히려 급감했다. 즉 데이터베이스가 느려진 것이 아니라 훨씬 많은 일을 하느라 총 DB Time이 커진 것이다. 3.7배라는 숫자 하나로는 좋은지 나쁜지 알 수 없다. 트랜잭션이 그대로였다면 재앙이고 920배로 늘었다면 오히려 잘 버틴 것이다. 분모는 워크로드에 맞게 하나로 고정해 두 구간에 똑같이 적용한다.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정리하면 판정이 한눈에 잡힌다. DB Time만 보면 3.7배로 느려진 것 같지만, 트랜잭션이 920배 늘었고 논리읽기/트랜잭션은 -99.7%로 줄었다. 단위 작업당 효율은 나빠지지 않았고 오히려 좋아졌다. 두 구간 모두 DB CPU가 DB Time의 거의 전부라 CPU 바운드다. 결론은 성능 저하가 아니라 부하 증가다. 이런 구간에 느린 SQL을 찾아 실행계획을 손대는 것은 멀쩡한 것을 건드리는 과잉 조치다. CPU 바운드이므로 옳은 조치는 CPU 헤드룸 점검과 용량 계획이다.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겨냥하는 대표 오판은 부하 증가를 성능 저하로 보고하는 것이다. 초당·절대 지표 급증을 보고 나빠졌다고 보고한 뒤 상위 SQL 계획을 뜯고 멀쩡한 계획을 개선한답시고 사이드이펙트를 만드는 경로다. 근본 원인은 분모를 함께 보지 않은 것이다. 어떤 총량 지표가 늘었다는 보고를 받으면 반드시 트랜잭션·실행을 함께 가져와 나눠 본다. 그리고 Top Timed Events의 대기 구성으로 교차 검증한다. 구조가 유지되면 부하 증가, 특정 대기가 급증하면 성능 저하다. CPU 바운드 구간에서 대기를 파는 것은 시간 낭비다.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흔한 함정을 시나리오로 본다. 모니터링 대시보드가 초당 논리읽기가 어제보다 2.4배로 급증했다는 경보를 띄우고, 팀장은 캐시를 폭식하는 SQL을 찾아 잡으라고 지시한다. 이때 먼저 할 일은 같은 구간의 트랜잭션 수를 보는 것이다. 트랜잭션이 920배로 늘었다면 초당 논리읽기 2.4배는 오히려 트랜잭션당 논리읽기가 급감했다는 뜻이다. 트랜잭션당 -99.7%이므로 개별 작업은 더 효율적이었고, 늘어난 것은 효율 나쁜 SQL이 아니라 들어온 일의 양이다. 초당값만 보면 부하 증가를 성능 저하로 오판한다는 교훈으로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Statistics는 상위 SQL을 여섯 기준으로 각각 대조한다. 회귀의 핵심 신호는 한 구간에서만 DB Time을 크게 쓴 SQL이다. 어느 기준 표 상단에 올라왔는지가 성격을 알려 준다. 실행시간·CPU 동반 급등은 계산량이 늘어난 계획을, 버퍼읽기 급등은 인덱스에서 스캔으로의 접근 경로 변경을, 물리읽기 급등은 캐시 미스를, 파싱 급등은 커서·바인드 문제를 가리킨다. 특히 실행횟수 기준 표는 조심해서 읽는다. 실행이 늘어 순위가 오른 SQL은 느려진 게 아니라 더 자주 불린 것, 즉 부하 증가의 SQL 단위 표현일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SQL을 DBA_HIST_SQLSTAT으로 실행당 지표와 실행계획 해시를 두 구간에서 비교한다. 이 결과가 전형적 회귀다. 실행 횟수는 500에서 520으로 거의 같은데 실행당 시간이 12.4ms에서 112.3ms로 9배, 실행당 버퍼읽기가 1,850에서 42,800으로 급증했고, 결정적으로 plan_hash_value가 바뀌었다. 인덱스를 타던 계획이 전체 스캔으로 바뀌며 느려진 것이다. 집계가 부하 증가로 판정됐어도 이런 개별 회귀는 명백한 성능 저하이며, 계획 고정·통계 재수집 같은 조치가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회귀를 확정했다면 왜 계획이 바뀌었는지 묻는다. 대표 원인은 통계 변화, 바인드 값 편향, 적응형 계획·계획 지시어의 개입, 스키마 변경이다. 원인마다 조치가 다르다. 통계 문제면 대표 통계를 다시 잡거나 고정하고, 바인드 편향이면 적응형 커서 공유나 계획 고정으로 다스린다. 급한 불을 끄려면 좋았던 계획을 SQL Plan Management 베이스라인으로 고정해 옵티마이저가 그 계획만 쓰게 강제할 수 있다. 다만 계획 고정은 증상을 묶는 것이지 원인을 없애는 것이 아니므로 임시 조치임을 기록에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기간을 평시 기준으로 고정하려면 CREATE_BASELINE으로 스냅 범위에 이름을 붙인다. 베이스라인으로 지정된 스냅샷은 AWR 보존 기간(기본 8일)이 지나도 삭제되지 않는다. 이것이 핵심 가치다. 평범한 스냅샷은 8일 뒤 사라지지만 베이스라인은 몇 달 뒤에도 남아 '두 달 전 정상 대비 오늘'을 비교할 수 있다. 이렇게 만든 베이스라인 구간을 awrddrpt.sql의 한쪽 구간으로 넣으면 평시 대비 차이 보고서가 나온다. 즉 베이스라인은 스냅 범위에 붙인 이름표이며, 기간 비교 위에 기준을 저장하는 한 겹을 더한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베이스라인은 두 종류다. 고정 베이스라인은 사람이 고른 대표 구간, 즉 한 순간의 사진이며 배포·패치 전후 비교에 쓴다. 이동 윈도우 베이스라인은 최근 N일의 평시 분포를 자동으로 유지한다. 기본으로 SYSTEM_MOVING_WINDOW가 존재하고 크기는 AWR 보존 기간과 같다. 이 분포가 적응형 임계값의 근거가 되어 ch28의 메트릭 경보에서 평시 대비 비정상을 자동 판정한다. 적응형 임계값을 제대로 쓰려면 주간·월간 같은 업무 주기가 윈도우 안에 충분히 들어오도록 크기를 잡아야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모든 도구는 Diagnostics Pack이 필요하다. 라이선스가 없으면 이 기능을 쓰는 것 자체가 위반이다. 대안은 있다. 두 구간 차이 보고서는 Statspack 두 보고서를 사람이 대조해 대신하고, 시간 모델 델타는 V$SYS_TIME_MODEL을 두 시점에 캡처해 뺀다. SQL 회귀는 V$SQL·V$SQL_PLAN 캡처로 본다. 주의할 점은 라이선스가 없는 환경에서 DBA_HIST를 조회하거나 awrddrpt를 돌리는 것만으로도 사용이 감지되어 DBA_FEATURE_USAGE_STATISTICS에 기록된다는 것이다. 조회만 했다는 변명은 통하지 않는다. 불확실하면 V$·Statspack 경로만 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Statspack은 AWR 이전부터 있던 무상 수집 도구다. 주기적으로 스냅샷을 떠 PERFSTAT 스키마에 저장하고 두 스냅 사이 보고서를 만드는 점이 AWR과 같아 라이선스 없이 기간 비교의 핵심을 대신한다. 자동 diff는 없으므로 평시·문제 각각 보고서를 만들어 사람이 Load Profile을 나란히 대조한다. 이때 반드시 Per Second와 Per Transaction 두 열을 함께 보는 것은 AWR과 동일하다. Statspack 보고서도 두 열을 제공하므로 이 장의 판정 절차를 그대로 적용할 수 있다. 판정 원리는 도구가 무엇이든 같다.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000" b="1">
                <a:solidFill>
                  <a:srgbClr val="C0392B"/>
                </a:solidFill>
                <a:latin typeface="맑은 고딕"/>
              </a:rPr>
              <a:t>기간 비교 — 어제와 오늘은 무엇이 달라졌는가</a:t>
            </a:r>
          </a:p>
          <a:p>
            <a:r>
              <a:rPr sz="1800" b="0">
                <a:solidFill>
                  <a:srgbClr val="5A6672"/>
                </a:solidFill>
                <a:latin typeface="맑은 고딕"/>
              </a:rPr>
              <a:t>Comparing Database Performance Over Time — AWR Compare Periods</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Compare Periods 보고서 · Load Profile 대조 · SQL 회귀 탐지 · 베이스라인 · 부하 증가 vs 성능 저하</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ch23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학습 목표 (Objectives)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장을 마치면 할 수 있는 것</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AWR 보고서 한 장과 Compare Periods 보고서(두 스냅샷 대 네 스냅샷)의 차이를 설명한다.</a:t>
            </a:r>
          </a:p>
          <a:p>
            <a:pPr>
              <a:spcAft>
                <a:spcPts val="600"/>
              </a:spcAft>
            </a:pPr>
            <a:r>
              <a:rPr sz="1600" b="0">
                <a:solidFill>
                  <a:srgbClr val="222222"/>
                </a:solidFill>
                <a:latin typeface="맑은 고딕"/>
              </a:rPr>
              <a:t>•  awrddrpt.sql·awrddrpi.sql·AWR_DIFF_REPORT_TEXT로 두 구간 차이 보고서를 생성한다.</a:t>
            </a:r>
          </a:p>
          <a:p>
            <a:pPr>
              <a:spcAft>
                <a:spcPts val="600"/>
              </a:spcAft>
            </a:pPr>
            <a:r>
              <a:rPr sz="1600" b="0">
                <a:solidFill>
                  <a:srgbClr val="222222"/>
                </a:solidFill>
                <a:latin typeface="맑은 고딕"/>
              </a:rPr>
              <a:t>•  Load Profile의 초당값과 트랜잭션당값을 함께 읽어 워크로드 변화를 해석한다.</a:t>
            </a:r>
          </a:p>
          <a:p>
            <a:pPr>
              <a:spcAft>
                <a:spcPts val="600"/>
              </a:spcAft>
            </a:pPr>
            <a:r>
              <a:rPr sz="1600" b="0">
                <a:solidFill>
                  <a:srgbClr val="222222"/>
                </a:solidFill>
                <a:latin typeface="맑은 고딕"/>
              </a:rPr>
              <a:t>•  DB Time 증가가 부하 증가인지 성능 저하인지 판정하는 절차를 세운다.</a:t>
            </a:r>
          </a:p>
          <a:p>
            <a:pPr>
              <a:spcAft>
                <a:spcPts val="600"/>
              </a:spcAft>
            </a:pPr>
            <a:r>
              <a:rPr sz="1600" b="0">
                <a:solidFill>
                  <a:srgbClr val="222222"/>
                </a:solidFill>
                <a:latin typeface="맑은 고딕"/>
              </a:rPr>
              <a:t>•  실행계획 변경으로 느려진 SQL(회귀)을 실행당 지표·plan_hash_value로 식별한다.</a:t>
            </a:r>
          </a:p>
          <a:p>
            <a:pPr>
              <a:spcAft>
                <a:spcPts val="600"/>
              </a:spcAft>
            </a:pPr>
            <a:r>
              <a:rPr sz="1600" b="0">
                <a:solidFill>
                  <a:srgbClr val="222222"/>
                </a:solidFill>
                <a:latin typeface="맑은 고딕"/>
              </a:rPr>
              <a:t>•  베이스라인으로 평시를 보존하고, 고정·이동 윈도우 베이스라인을 구분한다.</a:t>
            </a:r>
          </a:p>
          <a:p>
            <a:pPr>
              <a:spcAft>
                <a:spcPts val="600"/>
              </a:spcAft>
            </a:pPr>
            <a:r>
              <a:rPr sz="1600" b="0">
                <a:solidFill>
                  <a:srgbClr val="222222"/>
                </a:solidFill>
                <a:latin typeface="맑은 고딕"/>
              </a:rPr>
              <a:t>•  🔒 Diagnostics Pack이 필요함을 알고, Statspack·V$ 대안 경로를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이 장의 구성 (Agenda)</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11.2 ~ 11.9</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11.2  기간 비교란 무엇인가 — 두 스냅샷이 아니라 두 구간</a:t>
            </a:r>
          </a:p>
          <a:p>
            <a:pPr>
              <a:spcAft>
                <a:spcPts val="600"/>
              </a:spcAft>
            </a:pPr>
            <a:r>
              <a:rPr sz="1600" b="0">
                <a:solidFill>
                  <a:srgbClr val="222222"/>
                </a:solidFill>
                <a:latin typeface="맑은 고딕"/>
              </a:rPr>
              <a:t>•  11.3  AWR Compare Periods 보고서 생성</a:t>
            </a:r>
          </a:p>
          <a:p>
            <a:pPr>
              <a:spcAft>
                <a:spcPts val="600"/>
              </a:spcAft>
            </a:pPr>
            <a:r>
              <a:rPr sz="1600" b="0">
                <a:solidFill>
                  <a:srgbClr val="222222"/>
                </a:solidFill>
                <a:latin typeface="맑은 고딕"/>
              </a:rPr>
              <a:t>•  11.4  보고서 구조 읽기 — 어디를 먼저 보는가</a:t>
            </a:r>
          </a:p>
          <a:p>
            <a:pPr>
              <a:spcAft>
                <a:spcPts val="600"/>
              </a:spcAft>
            </a:pPr>
            <a:r>
              <a:rPr sz="1600" b="0">
                <a:solidFill>
                  <a:srgbClr val="222222"/>
                </a:solidFill>
                <a:latin typeface="맑은 고딕"/>
              </a:rPr>
              <a:t>•  11.5  Load Profile 두 구간 대조</a:t>
            </a:r>
          </a:p>
          <a:p>
            <a:pPr>
              <a:spcAft>
                <a:spcPts val="600"/>
              </a:spcAft>
            </a:pPr>
            <a:r>
              <a:rPr sz="1600" b="0">
                <a:solidFill>
                  <a:srgbClr val="222222"/>
                </a:solidFill>
                <a:latin typeface="맑은 고딕"/>
              </a:rPr>
              <a:t>•  11.6  핵심 판정 — 부하 증가인가 성능 저하인가</a:t>
            </a:r>
          </a:p>
          <a:p>
            <a:pPr>
              <a:spcAft>
                <a:spcPts val="600"/>
              </a:spcAft>
            </a:pPr>
            <a:r>
              <a:rPr sz="1600" b="0">
                <a:solidFill>
                  <a:srgbClr val="222222"/>
                </a:solidFill>
                <a:latin typeface="맑은 고딕"/>
              </a:rPr>
              <a:t>•  11.7  SQL 단위 회귀 탐지 — 실행계획이 바뀌어 느려진 SQL</a:t>
            </a:r>
          </a:p>
          <a:p>
            <a:pPr>
              <a:spcAft>
                <a:spcPts val="600"/>
              </a:spcAft>
            </a:pPr>
            <a:r>
              <a:rPr sz="1600" b="0">
                <a:solidFill>
                  <a:srgbClr val="222222"/>
                </a:solidFill>
                <a:latin typeface="맑은 고딕"/>
              </a:rPr>
              <a:t>•  11.8  베이스라인 대비 비교 — 평시를 저장해 둔다</a:t>
            </a:r>
          </a:p>
          <a:p>
            <a:pPr>
              <a:spcAft>
                <a:spcPts val="600"/>
              </a:spcAft>
            </a:pPr>
            <a:r>
              <a:rPr sz="1600" b="0">
                <a:solidFill>
                  <a:srgbClr val="222222"/>
                </a:solidFill>
                <a:latin typeface="맑은 고딕"/>
              </a:rPr>
              <a:t>•  11.9  라이선스와 대안 — Statspack 두 구간 수동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기간 비교란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성능 저하는 서서히 온다 — 정상이던 과거의 기록이 필요</a:t>
            </a:r>
          </a:p>
          <a:p>
            <a:r>
              <a:rPr sz="1600" b="0">
                <a:solidFill>
                  <a:srgbClr val="FFFFFF"/>
                </a:solidFill>
                <a:latin typeface="맑은 고딕"/>
              </a:rPr>
              <a:t>•  AWR 보고서(한 구간) vs Compare Periods(두 구간의 차이)</a:t>
            </a:r>
          </a:p>
          <a:p>
            <a:r>
              <a:rPr sz="1600" b="0">
                <a:solidFill>
                  <a:srgbClr val="FFFFFF"/>
                </a:solidFill>
                <a:latin typeface="맑은 고딕"/>
              </a:rPr>
              <a:t>•  스냅샷 네 개 = 보고서 두 장</a:t>
            </a:r>
          </a:p>
          <a:p>
            <a:r>
              <a:rPr sz="1600" b="0">
                <a:solidFill>
                  <a:srgbClr val="FFFFFF"/>
                </a:solidFill>
                <a:latin typeface="맑은 고딕"/>
              </a:rPr>
              <a:t>•  구간 길이가 달라도 되는 이유 — 정규화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성능은 관계적이다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같은 숫자도 비교 대상에 따라 정상·악화·개선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초당 논리읽기 100만 = 그 자체로는 좋지도 나쁘지도 않다</a:t>
            </a:r>
          </a:p>
          <a:p>
            <a:pPr>
              <a:spcAft>
                <a:spcPts val="600"/>
              </a:spcAft>
            </a:pPr>
            <a:r>
              <a:rPr sz="1700" b="0">
                <a:solidFill>
                  <a:srgbClr val="222222"/>
                </a:solidFill>
                <a:latin typeface="맑은 고딕"/>
              </a:rPr>
              <a:t>•  어제도 100만이면 정상, 어제 10만이면 열 배 악화, 어제 1000만이면 개선</a:t>
            </a:r>
          </a:p>
          <a:p>
            <a:pPr>
              <a:spcAft>
                <a:spcPts val="600"/>
              </a:spcAft>
            </a:pPr>
            <a:r>
              <a:rPr sz="1700" b="0">
                <a:solidFill>
                  <a:srgbClr val="222222"/>
                </a:solidFill>
                <a:latin typeface="맑은 고딕"/>
              </a:rPr>
              <a:t>•  진단 성숙도는 '얼마나 좋은 비교 기준을 가졌는가'로 결정된다</a:t>
            </a:r>
          </a:p>
          <a:p>
            <a:pPr>
              <a:spcAft>
                <a:spcPts val="600"/>
              </a:spcAft>
            </a:pPr>
            <a:r>
              <a:rPr sz="1700" b="0">
                <a:solidFill>
                  <a:srgbClr val="222222"/>
                </a:solidFill>
                <a:latin typeface="맑은 고딕"/>
              </a:rPr>
              <a:t>•  서서히 오는 저하는 '언제부터 왜'가 기억나지 않는다 → 과거 기록이 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AWR 보고서 vs Compare Periods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두 스냅샷인가, 네 스냅샷인가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일반 AWR 보고서: 두 스냅샷 사이의 '한 구간'을 보여 준다</a:t>
            </a:r>
          </a:p>
          <a:p>
            <a:pPr>
              <a:spcAft>
                <a:spcPts val="600"/>
              </a:spcAft>
            </a:pPr>
            <a:r>
              <a:rPr sz="1700" b="0">
                <a:solidFill>
                  <a:srgbClr val="222222"/>
                </a:solidFill>
                <a:latin typeface="맑은 고딕"/>
              </a:rPr>
              <a:t>•  Compare Periods 보고서: '두 구간의 차이'를 보여 준다(스냅샷 4개)</a:t>
            </a:r>
          </a:p>
          <a:p>
            <a:pPr>
              <a:spcAft>
                <a:spcPts val="600"/>
              </a:spcAft>
            </a:pPr>
            <a:r>
              <a:rPr sz="1700" b="0">
                <a:solidFill>
                  <a:srgbClr val="222222"/>
                </a:solidFill>
                <a:latin typeface="맑은 고딕"/>
              </a:rPr>
              <a:t>•  결과는 %Diff로 정량화된 차이 — 가장 크게 달라진 항목부터 정렬</a:t>
            </a:r>
          </a:p>
          <a:p>
            <a:pPr>
              <a:spcAft>
                <a:spcPts val="600"/>
              </a:spcAft>
            </a:pPr>
            <a:r>
              <a:rPr sz="1700" b="0">
                <a:solidFill>
                  <a:srgbClr val="222222"/>
                </a:solidFill>
                <a:latin typeface="맑은 고딕"/>
              </a:rPr>
              <a:t>•  두 구간의 길이가 달라도 됨: 초당·트랜잭션당으로 정규화하기 때문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구간 선정 — 비교 가능성</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정규화도 상쇄 못 하는 것: 워크로드 성격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정상 구간 = 문제 전, 같은 업무가 같은 시간대에 돌던 때</a:t>
            </a:r>
          </a:p>
          <a:p>
            <a:pPr>
              <a:spcAft>
                <a:spcPts val="600"/>
              </a:spcAft>
            </a:pPr>
            <a:r>
              <a:rPr sz="1700" b="0">
                <a:solidFill>
                  <a:srgbClr val="222222"/>
                </a:solidFill>
                <a:latin typeface="맑은 고딕"/>
              </a:rPr>
              <a:t>•  요일·시간대·업무가 다른 두 구간 비교 = '원래 다른 것'을 봄</a:t>
            </a:r>
          </a:p>
          <a:p>
            <a:pPr>
              <a:spcAft>
                <a:spcPts val="600"/>
              </a:spcAft>
            </a:pPr>
            <a:r>
              <a:rPr sz="1700" b="0">
                <a:solidFill>
                  <a:srgbClr val="222222"/>
                </a:solidFill>
                <a:latin typeface="맑은 고딕"/>
              </a:rPr>
              <a:t>•  예: 평일 낮 OLTP vs 주말 밤 배치 비교는 무의미</a:t>
            </a:r>
          </a:p>
          <a:p>
            <a:pPr>
              <a:spcAft>
                <a:spcPts val="600"/>
              </a:spcAft>
            </a:pPr>
            <a:r>
              <a:rPr sz="1700" b="0">
                <a:solidFill>
                  <a:srgbClr val="222222"/>
                </a:solidFill>
                <a:latin typeface="맑은 고딕"/>
              </a:rPr>
              <a:t>•  정규화는 '길이' 차이를 상쇄하지만 '성격' 차이는 상쇄 못 함</a:t>
            </a:r>
          </a:p>
          <a:p>
            <a:pPr>
              <a:spcAft>
                <a:spcPts val="600"/>
              </a:spcAft>
            </a:pPr>
            <a:r>
              <a:rPr sz="1700" b="0">
                <a:solidFill>
                  <a:srgbClr val="222222"/>
                </a:solidFill>
                <a:latin typeface="맑은 고딕"/>
              </a:rPr>
              <a:t>•  비교 가능성(comparability)은 사람이 보장해야 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Compare Periods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awrddrpt.sql(로컬) / awrddrpi.sql(특정 DB) / RAC 전역판</a:t>
            </a:r>
          </a:p>
          <a:p>
            <a:r>
              <a:rPr sz="1600" b="0">
                <a:solidFill>
                  <a:srgbClr val="FFFFFF"/>
                </a:solidFill>
                <a:latin typeface="맑은 고딕"/>
              </a:rPr>
              <a:t>•  html vs text 형식</a:t>
            </a:r>
          </a:p>
          <a:p>
            <a:r>
              <a:rPr sz="1600" b="0">
                <a:solidFill>
                  <a:srgbClr val="FFFFFF"/>
                </a:solidFill>
                <a:latin typeface="맑은 고딕"/>
              </a:rPr>
              <a:t>•  AWR_DIFF_REPORT_TEXT로 SQL에서 직접</a:t>
            </a:r>
          </a:p>
          <a:p>
            <a:r>
              <a:rPr sz="1600" b="0">
                <a:solidFill>
                  <a:srgbClr val="FFFFFF"/>
                </a:solidFill>
                <a:latin typeface="맑은 고딕"/>
              </a:rPr>
              <a:t>•  🔒 Diagnostics Pack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어느 스크립트를 쓰는가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목적에 따라 나뉜다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awrddrpt.sql — 로컬 인스턴스 두 구간 비교(dbid 안 물음)</a:t>
            </a:r>
          </a:p>
          <a:p>
            <a:pPr>
              <a:spcAft>
                <a:spcPts val="600"/>
              </a:spcAft>
            </a:pPr>
            <a:r>
              <a:rPr sz="1700" b="0">
                <a:solidFill>
                  <a:srgbClr val="222222"/>
                </a:solidFill>
                <a:latin typeface="맑은 고딕"/>
              </a:rPr>
              <a:t>•  awrddrpi.sql — 특정 dbid·인스턴스 지정 비교</a:t>
            </a:r>
          </a:p>
          <a:p>
            <a:pPr>
              <a:spcAft>
                <a:spcPts val="600"/>
              </a:spcAft>
            </a:pPr>
            <a:r>
              <a:rPr sz="1700" b="0">
                <a:solidFill>
                  <a:srgbClr val="222222"/>
                </a:solidFill>
                <a:latin typeface="맑은 고딕"/>
              </a:rPr>
              <a:t>•  awrgdrpt.sql / awrgdrpi.sql — RAC 전역(여러 인스턴스)</a:t>
            </a:r>
          </a:p>
          <a:p>
            <a:pPr>
              <a:spcAft>
                <a:spcPts val="600"/>
              </a:spcAft>
            </a:pPr>
            <a:r>
              <a:rPr sz="1700" b="0">
                <a:solidFill>
                  <a:srgbClr val="222222"/>
                </a:solidFill>
                <a:latin typeface="맑은 고딕"/>
              </a:rPr>
              <a:t>•  실습(non-CDB 단일 인스턴스)은 awrddrpt.sql이 기준</a:t>
            </a:r>
          </a:p>
          <a:p>
            <a:pPr>
              <a:spcAft>
                <a:spcPts val="600"/>
              </a:spcAft>
            </a:pPr>
            <a:r>
              <a:rPr sz="1700" b="0">
                <a:solidFill>
                  <a:srgbClr val="222222"/>
                </a:solidFill>
                <a:latin typeface="맑은 고딕"/>
              </a:rPr>
              <a:t>•  형식: html(브라우저 탐색) / text(자동 처리·트랜스크립트)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awrddrpt.sql 실행</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구간A(303→304) vs 구간B(305→306), 실측 스냅</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SYS@orcl&gt; @?/rdbms/admin/awrddrpt.sql</a:t>
            </a:r>
          </a:p>
          <a:p>
            <a:pPr>
              <a:spcAft>
                <a:spcPts val="0"/>
              </a:spcAft>
            </a:pPr>
            <a:r>
              <a:rPr sz="1250" b="0">
                <a:solidFill>
                  <a:srgbClr val="F2F2F2"/>
                </a:solidFill>
                <a:latin typeface="Consolas"/>
              </a:rPr>
              <a:t>Enter value for report_type: text</a:t>
            </a:r>
          </a:p>
          <a:p>
            <a:pPr>
              <a:spcAft>
                <a:spcPts val="0"/>
              </a:spcAft>
            </a:pPr>
            <a:r>
              <a:rPr sz="1250" b="0">
                <a:solidFill>
                  <a:srgbClr val="F2F2F2"/>
                </a:solidFill>
                <a:latin typeface="Consolas"/>
              </a:rPr>
              <a:t>Enter value for num_days: 1</a:t>
            </a:r>
          </a:p>
          <a:p>
            <a:pPr>
              <a:spcAft>
                <a:spcPts val="0"/>
              </a:spcAft>
            </a:pPr>
            <a:r>
              <a:rPr sz="1250" b="0">
                <a:solidFill>
                  <a:srgbClr val="F2F2F2"/>
                </a:solidFill>
                <a:latin typeface="Consolas"/>
              </a:rPr>
              <a:t>Enter value for begin_snap: 303</a:t>
            </a:r>
          </a:p>
          <a:p>
            <a:pPr>
              <a:spcAft>
                <a:spcPts val="0"/>
              </a:spcAft>
            </a:pPr>
            <a:r>
              <a:rPr sz="1250" b="0">
                <a:solidFill>
                  <a:srgbClr val="F2F2F2"/>
                </a:solidFill>
                <a:latin typeface="Consolas"/>
              </a:rPr>
              <a:t>Enter value for end_snap: 304</a:t>
            </a:r>
          </a:p>
          <a:p>
            <a:pPr>
              <a:spcAft>
                <a:spcPts val="0"/>
              </a:spcAft>
            </a:pPr>
            <a:r>
              <a:rPr sz="1250" b="0">
                <a:solidFill>
                  <a:srgbClr val="F2F2F2"/>
                </a:solidFill>
                <a:latin typeface="Consolas"/>
              </a:rPr>
              <a:t>Enter value for num_days2: 1</a:t>
            </a:r>
          </a:p>
          <a:p>
            <a:pPr>
              <a:spcAft>
                <a:spcPts val="0"/>
              </a:spcAft>
            </a:pPr>
            <a:r>
              <a:rPr sz="1250" b="0">
                <a:solidFill>
                  <a:srgbClr val="F2F2F2"/>
                </a:solidFill>
                <a:latin typeface="Consolas"/>
              </a:rPr>
              <a:t>Enter value for begin_snap2: 305</a:t>
            </a:r>
          </a:p>
          <a:p>
            <a:pPr>
              <a:spcAft>
                <a:spcPts val="0"/>
              </a:spcAft>
            </a:pPr>
            <a:r>
              <a:rPr sz="1250" b="0">
                <a:solidFill>
                  <a:srgbClr val="F2F2F2"/>
                </a:solidFill>
                <a:latin typeface="Consolas"/>
              </a:rPr>
              <a:t>Enter value for end_snap2: 306</a:t>
            </a:r>
          </a:p>
          <a:p>
            <a:pPr>
              <a:spcAft>
                <a:spcPts val="0"/>
              </a:spcAft>
            </a:pPr>
            <a:r>
              <a:rPr sz="1250" b="0">
                <a:solidFill>
                  <a:srgbClr val="F2F2F2"/>
                </a:solidFill>
                <a:latin typeface="Consolas"/>
              </a:rPr>
              <a:t>Enter value for report_name: awrdiff_303_304_vs_305_306.txt</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Report written to awrdiff_303_304_vs_305_306.txt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SQL에서 바로 뽑기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DBMS_WORKLOAD_REPOSITORY.AWR_DIFF_REPORT_TEXT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SYS@orcl&gt; SELECT output</a:t>
            </a:r>
          </a:p>
          <a:p>
            <a:pPr>
              <a:spcAft>
                <a:spcPts val="0"/>
              </a:spcAft>
            </a:pPr>
            <a:r>
              <a:rPr sz="1250" b="0">
                <a:solidFill>
                  <a:srgbClr val="F2F2F2"/>
                </a:solidFill>
                <a:latin typeface="Consolas"/>
              </a:rPr>
              <a:t>  2       FROM TABLE(</a:t>
            </a:r>
          </a:p>
          <a:p>
            <a:pPr>
              <a:spcAft>
                <a:spcPts val="0"/>
              </a:spcAft>
            </a:pPr>
            <a:r>
              <a:rPr sz="1250" b="0">
                <a:solidFill>
                  <a:srgbClr val="F2F2F2"/>
                </a:solidFill>
                <a:latin typeface="Consolas"/>
              </a:rPr>
              <a:t>  3         DBMS_WORKLOAD_REPOSITORY.AWR_DIFF_REPORT_TEXT(</a:t>
            </a:r>
          </a:p>
          <a:p>
            <a:pPr>
              <a:spcAft>
                <a:spcPts val="0"/>
              </a:spcAft>
            </a:pPr>
            <a:r>
              <a:rPr sz="1250" b="0">
                <a:solidFill>
                  <a:srgbClr val="F2F2F2"/>
                </a:solidFill>
                <a:latin typeface="Consolas"/>
              </a:rPr>
              <a:t>  4            &amp;dbid, 1, 303, 304,    -- 구간A: dbid,inst,시작,끝</a:t>
            </a:r>
          </a:p>
          <a:p>
            <a:pPr>
              <a:spcAft>
                <a:spcPts val="0"/>
              </a:spcAft>
            </a:pPr>
            <a:r>
              <a:rPr sz="1250" b="0">
                <a:solidFill>
                  <a:srgbClr val="F2F2F2"/>
                </a:solidFill>
                <a:latin typeface="Consolas"/>
              </a:rPr>
              <a:t>  5            &amp;dbid, 1, 305, 306));  -- 구간B: dbid,inst,시작,끝</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Load Profile / Top Timed Events / SQL Statistics 텍스트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보고서 구조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요약(Summary) → 상세(Details) → 보충(Supplemental)</a:t>
            </a:r>
          </a:p>
          <a:p>
            <a:r>
              <a:rPr sz="1600" b="0">
                <a:solidFill>
                  <a:srgbClr val="FFFFFF"/>
                </a:solidFill>
                <a:latin typeface="맑은 고딕"/>
              </a:rPr>
              <a:t>•  모든 표는 '차이가 큰 순서'로 정렬</a:t>
            </a:r>
          </a:p>
          <a:p>
            <a:r>
              <a:rPr sz="1600" b="0">
                <a:solidFill>
                  <a:srgbClr val="FFFFFF"/>
                </a:solidFill>
                <a:latin typeface="맑은 고딕"/>
              </a:rPr>
              <a:t>•  요약: Load Profile·Top 5 Timed Events부터</a:t>
            </a:r>
          </a:p>
          <a:p>
            <a:r>
              <a:rPr sz="1600" b="0">
                <a:solidFill>
                  <a:srgbClr val="FFFFFF"/>
                </a:solidFill>
                <a:latin typeface="맑은 고딕"/>
              </a:rPr>
              <a:t>•  구성 비교(Host·System)로 환경 변화 먼저 검증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요약(Summary) 읽는 순서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환경 검증 → 부하 → 시간 소비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Snapshot Sets — 같은 인스턴스인가, 재기동 없었나, 각 구간 DB Time</a:t>
            </a:r>
          </a:p>
          <a:p>
            <a:pPr>
              <a:spcAft>
                <a:spcPts val="600"/>
              </a:spcAft>
            </a:pPr>
            <a:r>
              <a:rPr sz="1700" b="0">
                <a:solidFill>
                  <a:srgbClr val="222222"/>
                </a:solidFill>
                <a:latin typeface="맑은 고딕"/>
              </a:rPr>
              <a:t>•  Host / System Config Comparison — 하드웨어·파라미터가 그대로인가</a:t>
            </a:r>
          </a:p>
          <a:p>
            <a:pPr>
              <a:spcAft>
                <a:spcPts val="600"/>
              </a:spcAft>
            </a:pPr>
            <a:r>
              <a:rPr sz="1700" b="0">
                <a:solidFill>
                  <a:srgbClr val="222222"/>
                </a:solidFill>
                <a:latin typeface="맑은 고딕"/>
              </a:rPr>
              <a:t>•  구성이 바뀌었으면 성능 차이는 워크로드 아닌 '환경'을 먼저 의심</a:t>
            </a:r>
          </a:p>
          <a:p>
            <a:pPr>
              <a:spcAft>
                <a:spcPts val="600"/>
              </a:spcAft>
            </a:pPr>
            <a:r>
              <a:rPr sz="1700" b="0">
                <a:solidFill>
                  <a:srgbClr val="222222"/>
                </a:solidFill>
                <a:latin typeface="맑은 고딕"/>
              </a:rPr>
              <a:t>•  Load Profile — 두 워크로드를 초당·트랜잭션당으로 대조</a:t>
            </a:r>
          </a:p>
          <a:p>
            <a:pPr>
              <a:spcAft>
                <a:spcPts val="600"/>
              </a:spcAft>
            </a:pPr>
            <a:r>
              <a:rPr sz="1700" b="0">
                <a:solidFill>
                  <a:srgbClr val="222222"/>
                </a:solidFill>
                <a:latin typeface="맑은 고딕"/>
              </a:rPr>
              <a:t>•  Top 5 Timed Events — 각 구간 DB Time을 가장 많이 쓴 5개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상세(Details)와 보충</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차이의 뿌리를 판다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Time Model — DB Time이 어떤 작업으로 이동했나(파싱? 실행?)</a:t>
            </a:r>
          </a:p>
          <a:p>
            <a:pPr>
              <a:spcAft>
                <a:spcPts val="600"/>
              </a:spcAft>
            </a:pPr>
            <a:r>
              <a:rPr sz="1700" b="0">
                <a:solidFill>
                  <a:srgbClr val="222222"/>
                </a:solidFill>
                <a:latin typeface="맑은 고딕"/>
              </a:rPr>
              <a:t>•  Wait Events — 대기 클래스·이벤트를 DB Time 차이 순으로</a:t>
            </a:r>
          </a:p>
          <a:p>
            <a:pPr>
              <a:spcAft>
                <a:spcPts val="600"/>
              </a:spcAft>
            </a:pPr>
            <a:r>
              <a:rPr sz="1700" b="0">
                <a:solidFill>
                  <a:srgbClr val="222222"/>
                </a:solidFill>
                <a:latin typeface="맑은 고딕"/>
              </a:rPr>
              <a:t>•  SQL Statistics — 상위 SQL을 6기준(시간·CPU·읽기·실행·파싱)으로 대조</a:t>
            </a:r>
          </a:p>
          <a:p>
            <a:pPr>
              <a:spcAft>
                <a:spcPts val="600"/>
              </a:spcAft>
            </a:pPr>
            <a:r>
              <a:rPr sz="1700" b="0">
                <a:solidFill>
                  <a:srgbClr val="222222"/>
                </a:solidFill>
                <a:latin typeface="맑은 고딕"/>
              </a:rPr>
              <a:t>•  I/O·Segment — 파일·세그먼트별 급증 지점</a:t>
            </a:r>
          </a:p>
          <a:p>
            <a:pPr>
              <a:spcAft>
                <a:spcPts val="600"/>
              </a:spcAft>
            </a:pPr>
            <a:r>
              <a:rPr sz="1700" b="0">
                <a:solidFill>
                  <a:srgbClr val="222222"/>
                </a:solidFill>
                <a:latin typeface="맑은 고딕"/>
              </a:rPr>
              <a:t>•  보충: Complete List of SQL Text — SQL_ID의 실제 문장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Load Profile 두 구간 대조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초당값과 트랜잭션당값을 함께 본다</a:t>
            </a:r>
          </a:p>
          <a:p>
            <a:r>
              <a:rPr sz="1600" b="0">
                <a:solidFill>
                  <a:srgbClr val="FFFFFF"/>
                </a:solidFill>
                <a:latin typeface="맑은 고딕"/>
              </a:rPr>
              <a:t>•  실측: 초당 논리읽기 +136.8% vs 트랜잭션당 -99.7%</a:t>
            </a:r>
          </a:p>
          <a:p>
            <a:r>
              <a:rPr sz="1600" b="0">
                <a:solidFill>
                  <a:srgbClr val="FFFFFF"/>
                </a:solidFill>
                <a:latin typeface="맑은 고딕"/>
              </a:rPr>
              <a:t>•  원인은 맨 아래 Transactions 행</a:t>
            </a:r>
          </a:p>
          <a:p>
            <a:r>
              <a:rPr sz="1600" b="0">
                <a:solidFill>
                  <a:srgbClr val="FFFFFF"/>
                </a:solidFill>
                <a:latin typeface="맑은 고딕"/>
              </a:rPr>
              <a:t>•  Top Timed Events로 교차 검증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Load Profile 실측 발췌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구간A/초 · 구간B/초 · %Diff · A/txn · B/txn · %Diff</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                          A/초        B/초    %Diff     A/txn     B/txn  %Diff</a:t>
            </a:r>
          </a:p>
          <a:p>
            <a:pPr>
              <a:spcAft>
                <a:spcPts val="0"/>
              </a:spcAft>
            </a:pPr>
            <a:r>
              <a:rPr sz="1250" b="0">
                <a:solidFill>
                  <a:srgbClr val="F2F2F2"/>
                </a:solidFill>
                <a:latin typeface="Consolas"/>
              </a:rPr>
              <a:t>Logical read (blocks): 577,591.8 1,367,654.2  136.8 1,916,243   4,949  -99.7</a:t>
            </a:r>
          </a:p>
          <a:p>
            <a:pPr>
              <a:spcAft>
                <a:spcPts val="0"/>
              </a:spcAft>
            </a:pPr>
            <a:r>
              <a:rPr sz="1250" b="0">
                <a:solidFill>
                  <a:srgbClr val="F2F2F2"/>
                </a:solidFill>
                <a:latin typeface="Consolas"/>
              </a:rPr>
              <a:t>        Block changes:     183.1     1,249.2  582.4     607.4     4.5  -99.3</a:t>
            </a:r>
          </a:p>
          <a:p>
            <a:pPr>
              <a:spcAft>
                <a:spcPts val="0"/>
              </a:spcAft>
            </a:pPr>
            <a:r>
              <a:rPr sz="1250" b="0">
                <a:solidFill>
                  <a:srgbClr val="F2F2F2"/>
                </a:solidFill>
                <a:latin typeface="Consolas"/>
              </a:rPr>
              <a:t>           User calls:     712.7     1,391.5   95.2   2,364.5     5.0  -99.8</a:t>
            </a:r>
          </a:p>
          <a:p>
            <a:pPr>
              <a:spcAft>
                <a:spcPts val="0"/>
              </a:spcAft>
            </a:pPr>
            <a:r>
              <a:rPr sz="1250" b="0">
                <a:solidFill>
                  <a:srgbClr val="F2F2F2"/>
                </a:solidFill>
                <a:latin typeface="Consolas"/>
              </a:rPr>
              <a:t>         Parses (SQL):     183.5       526.3  186.8     608.9     1.9  -99.7</a:t>
            </a:r>
          </a:p>
          <a:p>
            <a:pPr>
              <a:spcAft>
                <a:spcPts val="0"/>
              </a:spcAft>
            </a:pPr>
            <a:r>
              <a:rPr sz="1250" b="0">
                <a:solidFill>
                  <a:srgbClr val="F2F2F2"/>
                </a:solidFill>
                <a:latin typeface="Consolas"/>
              </a:rPr>
              <a:t>    Hard parses (SQL):     146.4       399.6  173.0     485.6     1.4  -99.7</a:t>
            </a:r>
          </a:p>
          <a:p>
            <a:pPr>
              <a:spcAft>
                <a:spcPts val="0"/>
              </a:spcAft>
            </a:pPr>
            <a:r>
              <a:rPr sz="1250" b="0">
                <a:solidFill>
                  <a:srgbClr val="F2F2F2"/>
                </a:solidFill>
                <a:latin typeface="Consolas"/>
              </a:rPr>
              <a:t>       Executes (SQL):     343.1       760.3  121.6   1,138.3     2.8  -99.8</a:t>
            </a:r>
          </a:p>
          <a:p>
            <a:pPr>
              <a:spcAft>
                <a:spcPts val="0"/>
              </a:spcAft>
            </a:pPr>
            <a:r>
              <a:rPr sz="1250" b="0">
                <a:solidFill>
                  <a:srgbClr val="F2F2F2"/>
                </a:solidFill>
                <a:latin typeface="Consolas"/>
              </a:rPr>
              <a:t>         Transactions:       0.3       276.3  92,000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두 열이 반대로 움직이는 이유</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분자는 시간, 분모는 작업 — 무엇으로 나눴나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초당 +136.8% = 구간B가 초당 논리읽기를 2.37배 했다</a:t>
            </a:r>
          </a:p>
          <a:p>
            <a:pPr>
              <a:spcAft>
                <a:spcPts val="600"/>
              </a:spcAft>
            </a:pPr>
            <a:r>
              <a:rPr sz="1700" b="0">
                <a:solidFill>
                  <a:srgbClr val="222222"/>
                </a:solidFill>
                <a:latin typeface="맑은 고딕"/>
              </a:rPr>
              <a:t>•  트랜잭션당 -99.7% = 트랜잭션 하나의 논리읽기가 300분의 1로 줄었다</a:t>
            </a:r>
          </a:p>
          <a:p>
            <a:pPr>
              <a:spcAft>
                <a:spcPts val="600"/>
              </a:spcAft>
            </a:pPr>
            <a:r>
              <a:rPr sz="1700" b="0">
                <a:solidFill>
                  <a:srgbClr val="222222"/>
                </a:solidFill>
                <a:latin typeface="맑은 고딕"/>
              </a:rPr>
              <a:t>•  모순 아님: 분자(총 읽기) 2.37배, 분모(트랜잭션) 920배 → 나눈 값 급감</a:t>
            </a:r>
          </a:p>
          <a:p>
            <a:pPr>
              <a:spcAft>
                <a:spcPts val="600"/>
              </a:spcAft>
            </a:pPr>
            <a:r>
              <a:rPr sz="1700" b="0">
                <a:solidFill>
                  <a:srgbClr val="222222"/>
                </a:solidFill>
                <a:latin typeface="맑은 고딕"/>
              </a:rPr>
              <a:t>•  파싱도 동일 — 초당 하드파싱 +173%지만 트랜잭션당은 -99.7%</a:t>
            </a:r>
          </a:p>
          <a:p>
            <a:pPr>
              <a:spcAft>
                <a:spcPts val="600"/>
              </a:spcAft>
            </a:pPr>
            <a:r>
              <a:rPr sz="1700" b="0">
                <a:solidFill>
                  <a:srgbClr val="222222"/>
                </a:solidFill>
                <a:latin typeface="맑은 고딕"/>
              </a:rPr>
              <a:t>•  트랜잭션당이 늘었다면 그때가 진짜 파싱 문제(ch32)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Top Timed Events도 함께 본다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Load Profile='얼마나' / Timed Events='어디로'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Load Profile은 '얼마나 많은 일을 했나', Timed Events는 '시간이 어디로 갔나'</a:t>
            </a:r>
          </a:p>
          <a:p>
            <a:pPr>
              <a:spcAft>
                <a:spcPts val="600"/>
              </a:spcAft>
            </a:pPr>
            <a:r>
              <a:rPr sz="1700" b="0">
                <a:solidFill>
                  <a:srgbClr val="222222"/>
                </a:solidFill>
                <a:latin typeface="맑은 고딕"/>
              </a:rPr>
              <a:t>•  실측 두 구간 모두 DB CPU가 최상단 — CPU 바운드</a:t>
            </a:r>
          </a:p>
          <a:p>
            <a:pPr>
              <a:spcAft>
                <a:spcPts val="600"/>
              </a:spcAft>
            </a:pPr>
            <a:r>
              <a:rPr sz="1700" b="0">
                <a:solidFill>
                  <a:srgbClr val="222222"/>
                </a:solidFill>
                <a:latin typeface="맑은 고딕"/>
              </a:rPr>
              <a:t>•  대기 이벤트 순위·비중이 크게 흔들리지 않음 = 같은 성격의 워크로드</a:t>
            </a:r>
          </a:p>
          <a:p>
            <a:pPr>
              <a:spcAft>
                <a:spcPts val="600"/>
              </a:spcAft>
            </a:pPr>
            <a:r>
              <a:rPr sz="1700" b="0">
                <a:solidFill>
                  <a:srgbClr val="222222"/>
                </a:solidFill>
                <a:latin typeface="맑은 고딕"/>
              </a:rPr>
              <a:t>•  어느 대기가 갑자기 상위로 치고 오르면 → 성능 저하의 실마리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핵심 판정 — 부하 증가인가 성능 저하인가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DB Time 81.8초 → 302.0초 (3.7배)</a:t>
            </a:r>
          </a:p>
          <a:p>
            <a:r>
              <a:rPr sz="1600" b="0">
                <a:solidFill>
                  <a:srgbClr val="FFFFFF"/>
                </a:solidFill>
                <a:latin typeface="맑은 고딕"/>
              </a:rPr>
              <a:t>•  느려진 것 vs 일이 늘어난 것</a:t>
            </a:r>
          </a:p>
          <a:p>
            <a:r>
              <a:rPr sz="1600" b="0">
                <a:solidFill>
                  <a:srgbClr val="FFFFFF"/>
                </a:solidFill>
                <a:latin typeface="맑은 고딕"/>
              </a:rPr>
              <a:t>•  단위 작업당 DB Time으로 나눠 판정</a:t>
            </a:r>
          </a:p>
          <a:p>
            <a:r>
              <a:rPr sz="1600" b="0">
                <a:solidFill>
                  <a:srgbClr val="FFFFFF"/>
                </a:solidFill>
                <a:latin typeface="맑은 고딕"/>
              </a:rPr>
              <a:t>•  흔한 실수: 부하 증가를 성능 저하로 보고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판정의 원리</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 Time을 '한 일'로 나눈다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총 DB Time 증가율(3.7배)과 '일의 양' 증가율(트랜잭션 920배)을 비교</a:t>
            </a:r>
          </a:p>
          <a:p>
            <a:pPr>
              <a:spcAft>
                <a:spcPts val="600"/>
              </a:spcAft>
            </a:pPr>
            <a:r>
              <a:rPr sz="1700" b="0">
                <a:solidFill>
                  <a:srgbClr val="222222"/>
                </a:solidFill>
                <a:latin typeface="맑은 고딕"/>
              </a:rPr>
              <a:t>•  단위 작업당 DB Time = 총 DB Time ÷ 처리한 일 → 두 구간 비교</a:t>
            </a:r>
          </a:p>
          <a:p>
            <a:pPr>
              <a:spcAft>
                <a:spcPts val="600"/>
              </a:spcAft>
            </a:pPr>
            <a:r>
              <a:rPr sz="1700" b="0">
                <a:solidFill>
                  <a:srgbClr val="222222"/>
                </a:solidFill>
                <a:latin typeface="맑은 고딕"/>
              </a:rPr>
              <a:t>•  줄었으면 부하 증가, 늘었으면 성능 저하</a:t>
            </a:r>
          </a:p>
          <a:p>
            <a:pPr>
              <a:spcAft>
                <a:spcPts val="600"/>
              </a:spcAft>
            </a:pPr>
            <a:r>
              <a:rPr sz="1700" b="0">
                <a:solidFill>
                  <a:srgbClr val="222222"/>
                </a:solidFill>
                <a:latin typeface="맑은 고딕"/>
              </a:rPr>
              <a:t>•  '3.7배'만으로는 좋은지 나쁜지 모른다 — 분모를 알아야 의미가 생김</a:t>
            </a:r>
          </a:p>
          <a:p>
            <a:pPr>
              <a:spcAft>
                <a:spcPts val="600"/>
              </a:spcAft>
            </a:pPr>
            <a:r>
              <a:rPr sz="1700" b="0">
                <a:solidFill>
                  <a:srgbClr val="222222"/>
                </a:solidFill>
                <a:latin typeface="맑은 고딕"/>
              </a:rPr>
              <a:t>•  분모는 하나로 고정(OLTP=트랜잭션, 배치=실행) — 두 구간에 똑같이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판정 표 — 실측 종합</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총량만 보면 '저하', 분모를 보면 '부하 증가'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DB Time: 81.8초 → 302.0초 (3.7배) — 이것만 보면 '느려졌다'</a:t>
            </a:r>
          </a:p>
          <a:p>
            <a:pPr>
              <a:spcAft>
                <a:spcPts val="600"/>
              </a:spcAft>
            </a:pPr>
            <a:r>
              <a:rPr sz="1700" b="0">
                <a:solidFill>
                  <a:srgbClr val="222222"/>
                </a:solidFill>
                <a:latin typeface="맑은 고딕"/>
              </a:rPr>
              <a:t>•  DB CPU: 81.5초 → 293.9초 — 두 구간 모두 CPU 바운드</a:t>
            </a:r>
          </a:p>
          <a:p>
            <a:pPr>
              <a:spcAft>
                <a:spcPts val="600"/>
              </a:spcAft>
            </a:pPr>
            <a:r>
              <a:rPr sz="1700" b="0">
                <a:solidFill>
                  <a:srgbClr val="222222"/>
                </a:solidFill>
                <a:latin typeface="맑은 고딕"/>
              </a:rPr>
              <a:t>•  Transactions/초: 0.3 → 276.3 — 처리한 일 약 920배</a:t>
            </a:r>
          </a:p>
          <a:p>
            <a:pPr>
              <a:spcAft>
                <a:spcPts val="600"/>
              </a:spcAft>
            </a:pPr>
            <a:r>
              <a:rPr sz="1700" b="0">
                <a:solidFill>
                  <a:srgbClr val="222222"/>
                </a:solidFill>
                <a:latin typeface="맑은 고딕"/>
              </a:rPr>
              <a:t>•  논리읽기/txn: 1,916,243 → 4,949 — 단위 작업당은 -99.7%, 효율 개선</a:t>
            </a:r>
          </a:p>
          <a:p>
            <a:pPr>
              <a:spcAft>
                <a:spcPts val="600"/>
              </a:spcAft>
            </a:pPr>
            <a:r>
              <a:rPr sz="1700" b="0">
                <a:solidFill>
                  <a:srgbClr val="222222"/>
                </a:solidFill>
                <a:latin typeface="맑은 고딕"/>
              </a:rPr>
              <a:t>•  결론: 성능 저하 아님 → 부하(일) 증가. 실행계획 손대면 과잉 조치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흔한 실수와 교차 검증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부하 증가를 성능 저하로 보고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오판 경로: 초당·절대 지표 급증 → '나빠졌다' → SQL 계획 뜯기 → 사이드이펙트</a:t>
            </a:r>
          </a:p>
          <a:p>
            <a:pPr>
              <a:spcAft>
                <a:spcPts val="600"/>
              </a:spcAft>
            </a:pPr>
            <a:r>
              <a:rPr sz="1700" b="0">
                <a:solidFill>
                  <a:srgbClr val="222222"/>
                </a:solidFill>
                <a:latin typeface="맑은 고딕"/>
              </a:rPr>
              <a:t>•  근본 원인: 첫 단계에서 분모(처리한 일)를 함께 보지 않음</a:t>
            </a:r>
          </a:p>
          <a:p>
            <a:pPr>
              <a:spcAft>
                <a:spcPts val="600"/>
              </a:spcAft>
            </a:pPr>
            <a:r>
              <a:rPr sz="1700" b="0">
                <a:solidFill>
                  <a:srgbClr val="222222"/>
                </a:solidFill>
                <a:latin typeface="맑은 고딕"/>
              </a:rPr>
              <a:t>•  습관: 총량이 늘었다는 보고엔 반드시 트랜잭션·실행을 함께 나눠 본다</a:t>
            </a:r>
          </a:p>
          <a:p>
            <a:pPr>
              <a:spcAft>
                <a:spcPts val="600"/>
              </a:spcAft>
            </a:pPr>
            <a:r>
              <a:rPr sz="1700" b="0">
                <a:solidFill>
                  <a:srgbClr val="222222"/>
                </a:solidFill>
                <a:latin typeface="맑은 고딕"/>
              </a:rPr>
              <a:t>•  교차 검증: 대기 구조 유지=부하 증가 / 특정 대기 급증=성능 저하</a:t>
            </a:r>
          </a:p>
          <a:p>
            <a:pPr>
              <a:spcAft>
                <a:spcPts val="600"/>
              </a:spcAft>
            </a:pPr>
            <a:r>
              <a:rPr sz="1700" b="0">
                <a:solidFill>
                  <a:srgbClr val="222222"/>
                </a:solidFill>
                <a:latin typeface="맑은 고딕"/>
              </a:rPr>
              <a:t>•  CPU 바운드면 대기 사냥은 무의미 — CPU 줄이는 SQL·자원을 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실무 시나리오 · '초당 논리읽기 2.4배' 경보</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부하 증가를 성능 저하로 오판할 뻔</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상황: 대시보드가 '초당 논리읽기 어제 대비 2.4배' 경보 → '캐시 폭식 SQL 잡아라'</a:t>
            </a:r>
          </a:p>
          <a:p>
            <a:pPr>
              <a:spcAft>
                <a:spcPts val="600"/>
              </a:spcAft>
            </a:pPr>
            <a:r>
              <a:rPr sz="1700" b="0">
                <a:solidFill>
                  <a:srgbClr val="222222"/>
                </a:solidFill>
                <a:latin typeface="맑은 고딕"/>
              </a:rPr>
              <a:t>•  먼저 할 일: 같은 구간의 트랜잭션 수를 본다(920배 폭증)</a:t>
            </a:r>
          </a:p>
          <a:p>
            <a:pPr>
              <a:spcAft>
                <a:spcPts val="600"/>
              </a:spcAft>
            </a:pPr>
            <a:r>
              <a:rPr sz="1700" b="0">
                <a:solidFill>
                  <a:srgbClr val="222222"/>
                </a:solidFill>
                <a:latin typeface="맑은 고딕"/>
              </a:rPr>
              <a:t>•  판정: 트랜잭션당 논리읽기 -99.7% → 개별 작업은 더 효율적</a:t>
            </a:r>
          </a:p>
          <a:p>
            <a:pPr>
              <a:spcAft>
                <a:spcPts val="600"/>
              </a:spcAft>
            </a:pPr>
            <a:r>
              <a:rPr sz="1700" b="0">
                <a:solidFill>
                  <a:srgbClr val="222222"/>
                </a:solidFill>
                <a:latin typeface="맑은 고딕"/>
              </a:rPr>
              <a:t>•  늘어난 건 효율 나쁜 SQL이 아니라 '들어온 일의 양'</a:t>
            </a:r>
          </a:p>
          <a:p>
            <a:pPr>
              <a:spcAft>
                <a:spcPts val="600"/>
              </a:spcAft>
            </a:pPr>
            <a:r>
              <a:rPr sz="1700" b="0">
                <a:solidFill>
                  <a:srgbClr val="222222"/>
                </a:solidFill>
                <a:latin typeface="맑은 고딕"/>
              </a:rPr>
              <a:t>•  교훈: 초당값 하나만 보면 오판 — 반드시 단위 작업당과 함께 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SQL 단위 회귀 탐지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집계가 '부하 증가'여도 개별 SQL은 회귀할 수 있다</a:t>
            </a:r>
          </a:p>
          <a:p>
            <a:r>
              <a:rPr sz="1600" b="0">
                <a:solidFill>
                  <a:srgbClr val="FFFFFF"/>
                </a:solidFill>
                <a:latin typeface="맑은 고딕"/>
              </a:rPr>
              <a:t>•  회귀 = 실행 횟수 비슷 + 실행당 시간 급증</a:t>
            </a:r>
          </a:p>
          <a:p>
            <a:r>
              <a:rPr sz="1600" b="0">
                <a:solidFill>
                  <a:srgbClr val="FFFFFF"/>
                </a:solidFill>
                <a:latin typeface="맑은 고딕"/>
              </a:rPr>
              <a:t>•  원인: 실행계획 변경(plan_hash_value)</a:t>
            </a:r>
          </a:p>
          <a:p>
            <a:r>
              <a:rPr sz="1600" b="0">
                <a:solidFill>
                  <a:srgbClr val="FFFFFF"/>
                </a:solidFill>
                <a:latin typeface="맑은 고딕"/>
              </a:rPr>
              <a:t>•  DBA_HIST_SQLSTAT으로 확정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SQL Statistics로 후보 좁히기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6기준 표에서 무엇을 보나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핵심 신호: 한 구간만 DB Time을 크게 쓴 SQL</a:t>
            </a:r>
          </a:p>
          <a:p>
            <a:pPr>
              <a:spcAft>
                <a:spcPts val="600"/>
              </a:spcAft>
            </a:pPr>
            <a:r>
              <a:rPr sz="1700" b="0">
                <a:solidFill>
                  <a:srgbClr val="222222"/>
                </a:solidFill>
                <a:latin typeface="맑은 고딕"/>
              </a:rPr>
              <a:t>•  실행시간·CPU 급등 → 계산량 늘어난 계획(스캔·해시)</a:t>
            </a:r>
          </a:p>
          <a:p>
            <a:pPr>
              <a:spcAft>
                <a:spcPts val="600"/>
              </a:spcAft>
            </a:pPr>
            <a:r>
              <a:rPr sz="1700" b="0">
                <a:solidFill>
                  <a:srgbClr val="222222"/>
                </a:solidFill>
                <a:latin typeface="맑은 고딕"/>
              </a:rPr>
              <a:t>•  버퍼읽기 급등 → 인덱스에서 전체 스캔으로 접근 경로 변경</a:t>
            </a:r>
          </a:p>
          <a:p>
            <a:pPr>
              <a:spcAft>
                <a:spcPts val="600"/>
              </a:spcAft>
            </a:pPr>
            <a:r>
              <a:rPr sz="1700" b="0">
                <a:solidFill>
                  <a:srgbClr val="222222"/>
                </a:solidFill>
                <a:latin typeface="맑은 고딕"/>
              </a:rPr>
              <a:t>•  물리읽기 급등 → 캐시 미스 대량 / 파싱 급등 → 커서·바인드 문제</a:t>
            </a:r>
          </a:p>
          <a:p>
            <a:pPr>
              <a:spcAft>
                <a:spcPts val="600"/>
              </a:spcAft>
            </a:pPr>
            <a:r>
              <a:rPr sz="1700" b="0">
                <a:solidFill>
                  <a:srgbClr val="222222"/>
                </a:solidFill>
                <a:latin typeface="맑은 고딕"/>
              </a:rPr>
              <a:t>•  실행횟수 급등은 '느려진' 게 아니라 '더 불린' 것(부하 증가)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DBA_HIST_SQLSTAT으로 확정</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실행당 지표 + plan_hash_value 두 구간 비교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SQLT@orcl&gt; SELECT snap_id, plan_hash_value,</a:t>
            </a:r>
          </a:p>
          <a:p>
            <a:pPr>
              <a:spcAft>
                <a:spcPts val="0"/>
              </a:spcAft>
            </a:pPr>
            <a:r>
              <a:rPr sz="1250" b="0">
                <a:solidFill>
                  <a:srgbClr val="F2F2F2"/>
                </a:solidFill>
                <a:latin typeface="Consolas"/>
              </a:rPr>
              <a:t>  2    executions_delta execs,</a:t>
            </a:r>
          </a:p>
          <a:p>
            <a:pPr>
              <a:spcAft>
                <a:spcPts val="0"/>
              </a:spcAft>
            </a:pPr>
            <a:r>
              <a:rPr sz="1250" b="0">
                <a:solidFill>
                  <a:srgbClr val="F2F2F2"/>
                </a:solidFill>
                <a:latin typeface="Consolas"/>
              </a:rPr>
              <a:t>  3    ROUND(elapsed_time_delta/NULLIF(executions_delta,0)/1000,2) ms_exec,</a:t>
            </a:r>
          </a:p>
          <a:p>
            <a:pPr>
              <a:spcAft>
                <a:spcPts val="0"/>
              </a:spcAft>
            </a:pPr>
            <a:r>
              <a:rPr sz="1250" b="0">
                <a:solidFill>
                  <a:srgbClr val="F2F2F2"/>
                </a:solidFill>
                <a:latin typeface="Consolas"/>
              </a:rPr>
              <a:t>  4    ROUND(buffer_gets_delta/NULLIF(executions_delta,0)) gets_exec</a:t>
            </a:r>
          </a:p>
          <a:p>
            <a:pPr>
              <a:spcAft>
                <a:spcPts val="0"/>
              </a:spcAft>
            </a:pPr>
            <a:r>
              <a:rPr sz="1250" b="0">
                <a:solidFill>
                  <a:srgbClr val="F2F2F2"/>
                </a:solidFill>
                <a:latin typeface="Consolas"/>
              </a:rPr>
              <a:t>  5  FROM dba_hist_sqlstat</a:t>
            </a:r>
          </a:p>
          <a:p>
            <a:pPr>
              <a:spcAft>
                <a:spcPts val="0"/>
              </a:spcAft>
            </a:pPr>
            <a:r>
              <a:rPr sz="1250" b="0">
                <a:solidFill>
                  <a:srgbClr val="F2F2F2"/>
                </a:solidFill>
                <a:latin typeface="Consolas"/>
              </a:rPr>
              <a:t>  6  WHERE sql_id='&amp;sql_id' AND snap_id IN (304,306) ORDER BY snap_id;</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SNAP_ID   PLAN_HASH  EXECS  MS_EXEC  GETS_EXEC</a:t>
            </a:r>
          </a:p>
          <a:p>
            <a:pPr>
              <a:spcAft>
                <a:spcPts val="0"/>
              </a:spcAft>
            </a:pPr>
            <a:r>
              <a:rPr sz="1250" b="0">
                <a:solidFill>
                  <a:srgbClr val="F2F2F2"/>
                </a:solidFill>
                <a:latin typeface="Consolas"/>
              </a:rPr>
              <a:t> -------  ----------  -----  -------  ---------</a:t>
            </a:r>
          </a:p>
          <a:p>
            <a:pPr>
              <a:spcAft>
                <a:spcPts val="0"/>
              </a:spcAft>
            </a:pPr>
            <a:r>
              <a:rPr sz="1250" b="0">
                <a:solidFill>
                  <a:srgbClr val="F2F2F2"/>
                </a:solidFill>
                <a:latin typeface="Consolas"/>
              </a:rPr>
              <a:t>     304  1388734953    500    12.40       1850   -- 인덱스 계획</a:t>
            </a:r>
          </a:p>
          <a:p>
            <a:pPr>
              <a:spcAft>
                <a:spcPts val="0"/>
              </a:spcAft>
            </a:pPr>
            <a:r>
              <a:rPr sz="1250" b="0">
                <a:solidFill>
                  <a:srgbClr val="F2F2F2"/>
                </a:solidFill>
                <a:latin typeface="Consolas"/>
              </a:rPr>
              <a:t>     306   983734112    520   112.31      42800   -- 전체스캔 계획(회귀)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왜 실행계획이 바뀌는가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원인을 알아야 조치가 정해진다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통계 변화 — 카디널리티 추정이 달라져 다른 계획 선택</a:t>
            </a:r>
          </a:p>
          <a:p>
            <a:pPr>
              <a:spcAft>
                <a:spcPts val="600"/>
              </a:spcAft>
            </a:pPr>
            <a:r>
              <a:rPr sz="1700" b="0">
                <a:solidFill>
                  <a:srgbClr val="222222"/>
                </a:solidFill>
                <a:latin typeface="맑은 고딕"/>
              </a:rPr>
              <a:t>•  바인드 값 편향(bind peeking) — 첫 파싱 값이 대표적이지 않음</a:t>
            </a:r>
          </a:p>
          <a:p>
            <a:pPr>
              <a:spcAft>
                <a:spcPts val="600"/>
              </a:spcAft>
            </a:pPr>
            <a:r>
              <a:rPr sz="1700" b="0">
                <a:solidFill>
                  <a:srgbClr val="222222"/>
                </a:solidFill>
                <a:latin typeface="맑은 고딕"/>
              </a:rPr>
              <a:t>•  적응형 계획·SQL Plan Directives의 개입</a:t>
            </a:r>
          </a:p>
          <a:p>
            <a:pPr>
              <a:spcAft>
                <a:spcPts val="600"/>
              </a:spcAft>
            </a:pPr>
            <a:r>
              <a:rPr sz="1700" b="0">
                <a:solidFill>
                  <a:srgbClr val="222222"/>
                </a:solidFill>
                <a:latin typeface="맑은 고딕"/>
              </a:rPr>
              <a:t>•  인덱스·파티션 등 스키마 변경</a:t>
            </a:r>
          </a:p>
          <a:p>
            <a:pPr>
              <a:spcAft>
                <a:spcPts val="600"/>
              </a:spcAft>
            </a:pPr>
            <a:r>
              <a:rPr sz="1700" b="0">
                <a:solidFill>
                  <a:srgbClr val="222222"/>
                </a:solidFill>
                <a:latin typeface="맑은 고딕"/>
              </a:rPr>
              <a:t>•  급한 불: 좋았던 계획을 SPM 베이스라인으로 고정(임시 조치임을 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베이스라인 대비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평시 구간을 이름 붙여 보존 — 보존 기간이 지나도 안 지워짐</a:t>
            </a:r>
          </a:p>
          <a:p>
            <a:r>
              <a:rPr sz="1600" b="0">
                <a:solidFill>
                  <a:srgbClr val="FFFFFF"/>
                </a:solidFill>
                <a:latin typeface="맑은 고딕"/>
              </a:rPr>
              <a:t>•  CREATE_BASELINE으로 고정 베이스라인</a:t>
            </a:r>
          </a:p>
          <a:p>
            <a:r>
              <a:rPr sz="1600" b="0">
                <a:solidFill>
                  <a:srgbClr val="FFFFFF"/>
                </a:solidFill>
                <a:latin typeface="맑은 고딕"/>
              </a:rPr>
              <a:t>•  고정 vs 이동 윈도우(SYSTEM_MOVING_WINDOW)</a:t>
            </a:r>
          </a:p>
          <a:p>
            <a:r>
              <a:rPr sz="1600" b="0">
                <a:solidFill>
                  <a:srgbClr val="FFFFFF"/>
                </a:solidFill>
                <a:latin typeface="맑은 고딕"/>
              </a:rPr>
              <a:t>•  이동 윈도우 → 적응형 임계값(ch28)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고정 베이스라인 만들기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DBMS_WORKLOAD_REPOSITORY.CREATE_BASELINE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SYS@orcl&gt; BEGIN</a:t>
            </a:r>
          </a:p>
          <a:p>
            <a:pPr>
              <a:spcAft>
                <a:spcPts val="0"/>
              </a:spcAft>
            </a:pPr>
            <a:r>
              <a:rPr sz="1250" b="0">
                <a:solidFill>
                  <a:srgbClr val="F2F2F2"/>
                </a:solidFill>
                <a:latin typeface="Consolas"/>
              </a:rPr>
              <a:t>  2    DBMS_WORKLOAD_REPOSITORY.CREATE_BASELINE(</a:t>
            </a:r>
          </a:p>
          <a:p>
            <a:pPr>
              <a:spcAft>
                <a:spcPts val="0"/>
              </a:spcAft>
            </a:pPr>
            <a:r>
              <a:rPr sz="1250" b="0">
                <a:solidFill>
                  <a:srgbClr val="F2F2F2"/>
                </a:solidFill>
                <a:latin typeface="Consolas"/>
              </a:rPr>
              <a:t>  3       start_snap_id =&gt; 303,</a:t>
            </a:r>
          </a:p>
          <a:p>
            <a:pPr>
              <a:spcAft>
                <a:spcPts val="0"/>
              </a:spcAft>
            </a:pPr>
            <a:r>
              <a:rPr sz="1250" b="0">
                <a:solidFill>
                  <a:srgbClr val="F2F2F2"/>
                </a:solidFill>
                <a:latin typeface="Consolas"/>
              </a:rPr>
              <a:t>  4       end_snap_id   =&gt; 304,</a:t>
            </a:r>
          </a:p>
          <a:p>
            <a:pPr>
              <a:spcAft>
                <a:spcPts val="0"/>
              </a:spcAft>
            </a:pPr>
            <a:r>
              <a:rPr sz="1250" b="0">
                <a:solidFill>
                  <a:srgbClr val="F2F2F2"/>
                </a:solidFill>
                <a:latin typeface="Consolas"/>
              </a:rPr>
              <a:t>  5       baseline_name =&gt; 'NORMAL_MORNING_PEAK');</a:t>
            </a:r>
          </a:p>
          <a:p>
            <a:pPr>
              <a:spcAft>
                <a:spcPts val="0"/>
              </a:spcAft>
            </a:pPr>
            <a:r>
              <a:rPr sz="1250" b="0">
                <a:solidFill>
                  <a:srgbClr val="F2F2F2"/>
                </a:solidFill>
                <a:latin typeface="Consolas"/>
              </a:rPr>
              <a:t>  6  END;</a:t>
            </a:r>
          </a:p>
          <a:p>
            <a:pPr>
              <a:spcAft>
                <a:spcPts val="0"/>
              </a:spcAft>
            </a:pPr>
            <a:r>
              <a:rPr sz="1250" b="0">
                <a:solidFill>
                  <a:srgbClr val="F2F2F2"/>
                </a:solidFill>
                <a:latin typeface="Consolas"/>
              </a:rPr>
              <a:t>  7  /</a:t>
            </a:r>
          </a:p>
          <a:p>
            <a:pPr>
              <a:spcAft>
                <a:spcPts val="0"/>
              </a:spcAft>
            </a:pPr>
            <a:r>
              <a:rPr sz="1250" b="0">
                <a:solidFill>
                  <a:srgbClr val="F2F2F2"/>
                </a:solidFill>
                <a:latin typeface="Consolas"/>
              </a:rPr>
              <a:t>PL/SQL procedure successfully completed.</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SYS@orcl&gt; SELECT baseline_name, start_snap_id, end_snap_id, baseline_type</a:t>
            </a:r>
          </a:p>
          <a:p>
            <a:pPr>
              <a:spcAft>
                <a:spcPts val="0"/>
              </a:spcAft>
            </a:pPr>
            <a:r>
              <a:rPr sz="1250" b="0">
                <a:solidFill>
                  <a:srgbClr val="F2F2F2"/>
                </a:solidFill>
                <a:latin typeface="Consolas"/>
              </a:rPr>
              <a:t>  2       FROM dba_hist_baseline;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고정 vs 이동 윈도우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사진인가, 따라오는 분포인가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고정 베이스라인 = 내가 고른 한 순간의 사진(배포·패치 전후 비교)</a:t>
            </a:r>
          </a:p>
          <a:p>
            <a:pPr>
              <a:spcAft>
                <a:spcPts val="600"/>
              </a:spcAft>
            </a:pPr>
            <a:r>
              <a:rPr sz="1700" b="0">
                <a:solidFill>
                  <a:srgbClr val="222222"/>
                </a:solidFill>
                <a:latin typeface="맑은 고딕"/>
              </a:rPr>
              <a:t>•  이동 윈도우 = 최근을 계속 따라오는 평시의 통계 분포</a:t>
            </a:r>
          </a:p>
          <a:p>
            <a:pPr>
              <a:spcAft>
                <a:spcPts val="600"/>
              </a:spcAft>
            </a:pPr>
            <a:r>
              <a:rPr sz="1700" b="0">
                <a:solidFill>
                  <a:srgbClr val="222222"/>
                </a:solidFill>
                <a:latin typeface="맑은 고딕"/>
              </a:rPr>
              <a:t>•  SYSTEM_MOVING_WINDOW 기본 존재, 크기는 보존 기간과 같음</a:t>
            </a:r>
          </a:p>
          <a:p>
            <a:pPr>
              <a:spcAft>
                <a:spcPts val="600"/>
              </a:spcAft>
            </a:pPr>
            <a:r>
              <a:rPr sz="1700" b="0">
                <a:solidFill>
                  <a:srgbClr val="222222"/>
                </a:solidFill>
                <a:latin typeface="맑은 고딕"/>
              </a:rPr>
              <a:t>•  적응형 임계값의 근거 → '평시 대비 비정상' 자동 판정(ch28)</a:t>
            </a:r>
          </a:p>
          <a:p>
            <a:pPr>
              <a:spcAft>
                <a:spcPts val="600"/>
              </a:spcAft>
            </a:pPr>
            <a:r>
              <a:rPr sz="1700" b="0">
                <a:solidFill>
                  <a:srgbClr val="222222"/>
                </a:solidFill>
                <a:latin typeface="맑은 고딕"/>
              </a:rPr>
              <a:t>•  윈도우는 업무 주기(주간·월간)를 덮도록 크기를 잡는다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11.9</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라이선스와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194560"/>
          </a:xfrm>
          <a:prstGeom prst="rect">
            <a:avLst/>
          </a:prstGeom>
          <a:noFill/>
        </p:spPr>
        <p:txBody>
          <a:bodyPr wrap="square">
            <a:spAutoFit/>
          </a:bodyPr>
          <a:lstStyle/>
          <a:p>
            <a:r>
              <a:rPr sz="1600" b="0">
                <a:solidFill>
                  <a:srgbClr val="FFFFFF"/>
                </a:solidFill>
                <a:latin typeface="맑은 고딕"/>
              </a:rPr>
              <a:t>•  이 장의 모든 도구는 Diagnostics Pack 🔒</a:t>
            </a:r>
          </a:p>
          <a:p>
            <a:r>
              <a:rPr sz="1600" b="0">
                <a:solidFill>
                  <a:srgbClr val="FFFFFF"/>
                </a:solidFill>
                <a:latin typeface="맑은 고딕"/>
              </a:rPr>
              <a:t>•  없으면 Statspack 두 구간 수동 대조</a:t>
            </a:r>
          </a:p>
          <a:p>
            <a:r>
              <a:rPr sz="1600" b="0">
                <a:solidFill>
                  <a:srgbClr val="FFFFFF"/>
                </a:solidFill>
                <a:latin typeface="맑은 고딕"/>
              </a:rPr>
              <a:t>•  또는 V$ 두 시점 캡처 후 델타 비교</a:t>
            </a:r>
          </a:p>
          <a:p>
            <a:r>
              <a:rPr sz="1600" b="0">
                <a:solidFill>
                  <a:srgbClr val="FFFFFF"/>
                </a:solidFill>
                <a:latin typeface="맑은 고딕"/>
              </a:rPr>
              <a:t>•  판정 원리는 도구와 무관하게 같다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라이선스 경계와 대안 경로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 Diagnostics Pack / 무상 대안</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700" b="0">
                <a:solidFill>
                  <a:srgbClr val="222222"/>
                </a:solidFill>
                <a:latin typeface="맑은 고딕"/>
              </a:rPr>
              <a:t>•  🔒 Compare Periods·awrddrpt·AWR_DIFF·DBA_HIST_*·베이스라인</a:t>
            </a:r>
          </a:p>
          <a:p>
            <a:pPr>
              <a:spcAft>
                <a:spcPts val="600"/>
              </a:spcAft>
            </a:pPr>
            <a:r>
              <a:rPr sz="1700" b="0">
                <a:solidFill>
                  <a:srgbClr val="222222"/>
                </a:solidFill>
                <a:latin typeface="맑은 고딕"/>
              </a:rPr>
              <a:t>•  무상: V$ 직접 조회 / Statspack(spcreate·SNAP·spreport)</a:t>
            </a:r>
          </a:p>
          <a:p>
            <a:pPr>
              <a:spcAft>
                <a:spcPts val="600"/>
              </a:spcAft>
            </a:pPr>
            <a:r>
              <a:rPr sz="1700" b="0">
                <a:solidFill>
                  <a:srgbClr val="222222"/>
                </a:solidFill>
                <a:latin typeface="맑은 고딕"/>
              </a:rPr>
              <a:t>•  두 구간 차이 보고서 → Statspack 두 보고서 수동 대조</a:t>
            </a:r>
          </a:p>
          <a:p>
            <a:pPr>
              <a:spcAft>
                <a:spcPts val="600"/>
              </a:spcAft>
            </a:pPr>
            <a:r>
              <a:rPr sz="1700" b="0">
                <a:solidFill>
                  <a:srgbClr val="222222"/>
                </a:solidFill>
                <a:latin typeface="맑은 고딕"/>
              </a:rPr>
              <a:t>•  시간 모델 델타 → V$SYS_TIME_MODEL 두 시점 캡처</a:t>
            </a:r>
          </a:p>
          <a:p>
            <a:pPr>
              <a:spcAft>
                <a:spcPts val="600"/>
              </a:spcAft>
            </a:pPr>
            <a:r>
              <a:rPr sz="1700" b="0">
                <a:solidFill>
                  <a:srgbClr val="222222"/>
                </a:solidFill>
                <a:latin typeface="맑은 고딕"/>
              </a:rPr>
              <a:t>•  '조회만 했다'도 사용 감지됨(DBA_FEATURE_USAGE_STATISTICS)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Statspack 두 구간 대조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무상 대안 — Per Second/Per Txn 대조는 동일</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spcAft>
                <a:spcPts val="0"/>
              </a:spcAft>
            </a:pPr>
            <a:r>
              <a:rPr sz="1250" b="0">
                <a:solidFill>
                  <a:srgbClr val="F2F2F2"/>
                </a:solidFill>
                <a:latin typeface="Consolas"/>
              </a:rPr>
              <a:t>-- 설치(최초 1회, PERFSTAT 계정)</a:t>
            </a:r>
          </a:p>
          <a:p>
            <a:pPr>
              <a:spcAft>
                <a:spcPts val="0"/>
              </a:spcAft>
            </a:pPr>
            <a:r>
              <a:rPr sz="1250" b="0">
                <a:solidFill>
                  <a:srgbClr val="F2F2F2"/>
                </a:solidFill>
                <a:latin typeface="Consolas"/>
              </a:rPr>
              <a:t>SYS@orcl&gt; @?/rdbms/admin/spcreate.sql</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PERFSTAT@orcl&gt; EXEC STATSPACK.SNAP;   -- 평시 시작</a:t>
            </a:r>
          </a:p>
          <a:p>
            <a:pPr>
              <a:spcAft>
                <a:spcPts val="0"/>
              </a:spcAft>
            </a:pPr>
            <a:r>
              <a:rPr sz="1250" b="0">
                <a:solidFill>
                  <a:srgbClr val="F2F2F2"/>
                </a:solidFill>
                <a:latin typeface="Consolas"/>
              </a:rPr>
              <a:t>    ... (평시 워크로드) ...</a:t>
            </a:r>
          </a:p>
          <a:p>
            <a:pPr>
              <a:spcAft>
                <a:spcPts val="0"/>
              </a:spcAft>
            </a:pPr>
            <a:r>
              <a:rPr sz="1250" b="0">
                <a:solidFill>
                  <a:srgbClr val="F2F2F2"/>
                </a:solidFill>
                <a:latin typeface="Consolas"/>
              </a:rPr>
              <a:t>PERFSTAT@orcl&gt; EXEC STATSPACK.SNAP;   -- 평시 끝</a:t>
            </a:r>
          </a:p>
          <a:p>
            <a:pPr>
              <a:spcAft>
                <a:spcPts val="0"/>
              </a:spcAft>
            </a:pPr>
            <a:r>
              <a:rPr sz="1250" b="0">
                <a:solidFill>
                  <a:srgbClr val="F2F2F2"/>
                </a:solidFill>
                <a:latin typeface="Consolas"/>
              </a:rPr>
              <a:t>PERFSTAT@orcl&gt; EXEC STATSPACK.SNAP;   -- 문제 시작</a:t>
            </a:r>
          </a:p>
          <a:p>
            <a:pPr>
              <a:spcAft>
                <a:spcPts val="0"/>
              </a:spcAft>
            </a:pPr>
            <a:r>
              <a:rPr sz="1250" b="0">
                <a:solidFill>
                  <a:srgbClr val="F2F2F2"/>
                </a:solidFill>
                <a:latin typeface="Consolas"/>
              </a:rPr>
              <a:t>    ... (문제 워크로드) ...</a:t>
            </a:r>
          </a:p>
          <a:p>
            <a:pPr>
              <a:spcAft>
                <a:spcPts val="0"/>
              </a:spcAft>
            </a:pPr>
            <a:r>
              <a:rPr sz="1250" b="0">
                <a:solidFill>
                  <a:srgbClr val="F2F2F2"/>
                </a:solidFill>
                <a:latin typeface="Consolas"/>
              </a:rPr>
              <a:t>PERFSTAT@orcl&gt; EXEC STATSPACK.SNAP;   -- 문제 끝</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PERFSTAT@orcl&gt; @?/rdbms/admin/spreport.sql   -- 평시 범위</a:t>
            </a:r>
          </a:p>
          <a:p>
            <a:pPr>
              <a:spcAft>
                <a:spcPts val="0"/>
              </a:spcAft>
            </a:pPr>
            <a:r>
              <a:rPr sz="1250" b="0">
                <a:solidFill>
                  <a:srgbClr val="F2F2F2"/>
                </a:solidFill>
                <a:latin typeface="Consolas"/>
              </a:rPr>
              <a:t>PERFSTAT@orcl&gt; @?/rdbms/admin/spreport.sql   -- 문제 범위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정답은 실습문제 정답지 참고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500" b="0">
                <a:solidFill>
                  <a:srgbClr val="222222"/>
                </a:solidFill>
                <a:latin typeface="맑은 고딕"/>
              </a:rPr>
              <a:t>•  Q1. 일반 AWR 보고서와 Compare Periods의 차이를 스냅샷 개수로 설명하라.</a:t>
            </a:r>
          </a:p>
          <a:p>
            <a:pPr>
              <a:spcAft>
                <a:spcPts val="600"/>
              </a:spcAft>
            </a:pPr>
            <a:r>
              <a:rPr sz="1500" b="0">
                <a:solidFill>
                  <a:srgbClr val="222222"/>
                </a:solidFill>
                <a:latin typeface="맑은 고딕"/>
              </a:rPr>
              <a:t>•  Q2. 초당 논리읽기 +136.8%인데 트랜잭션당 -99.7%인 상황을 해석하라.</a:t>
            </a:r>
          </a:p>
          <a:p>
            <a:pPr>
              <a:spcAft>
                <a:spcPts val="600"/>
              </a:spcAft>
            </a:pPr>
            <a:r>
              <a:rPr sz="1500" b="0">
                <a:solidFill>
                  <a:srgbClr val="222222"/>
                </a:solidFill>
                <a:latin typeface="맑은 고딕"/>
              </a:rPr>
              <a:t>•  Q3. DB Time 81.8→302.0초(3.7배)가 부하 증가인지 성능 저하인지 판정 절차는?</a:t>
            </a:r>
          </a:p>
          <a:p>
            <a:pPr>
              <a:spcAft>
                <a:spcPts val="600"/>
              </a:spcAft>
            </a:pPr>
            <a:r>
              <a:rPr sz="1500" b="0">
                <a:solidFill>
                  <a:srgbClr val="222222"/>
                </a:solidFill>
                <a:latin typeface="맑은 고딕"/>
              </a:rPr>
              <a:t>•  Q4. 특정 SQL 회귀를 확정하려면 어느 뷰에서 어떤 값을 두 구간 비교하나?</a:t>
            </a:r>
          </a:p>
          <a:p>
            <a:pPr>
              <a:spcAft>
                <a:spcPts val="600"/>
              </a:spcAft>
            </a:pPr>
            <a:r>
              <a:rPr sz="1500" b="0">
                <a:solidFill>
                  <a:srgbClr val="222222"/>
                </a:solidFill>
                <a:latin typeface="맑은 고딕"/>
              </a:rPr>
              <a:t>•  Q5. 고정 베이스라인과 이동 윈도우 베이스라인의 용도 차이는?</a:t>
            </a:r>
          </a:p>
          <a:p>
            <a:pPr>
              <a:spcAft>
                <a:spcPts val="600"/>
              </a:spcAft>
            </a:pPr>
            <a:r>
              <a:rPr sz="1500" b="0">
                <a:solidFill>
                  <a:srgbClr val="222222"/>
                </a:solidFill>
                <a:latin typeface="맑은 고딕"/>
              </a:rPr>
              <a:t>•  Q6. Diagnostics Pack이 없을 때 대안 두 경로와 공통 판정 원리는?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요약 (Summary)</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 장의 핵심</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Compare Periods는 두 구간의 차이(스냅샷 4개)를 정규화해 보여 준다</a:t>
            </a:r>
          </a:p>
          <a:p>
            <a:pPr>
              <a:spcAft>
                <a:spcPts val="600"/>
              </a:spcAft>
            </a:pPr>
            <a:r>
              <a:rPr sz="1600" b="0">
                <a:solidFill>
                  <a:srgbClr val="222222"/>
                </a:solidFill>
                <a:latin typeface="맑은 고딕"/>
              </a:rPr>
              <a:t>•  Load Profile은 초당값과 트랜잭션당값을 함께 봐야 한다</a:t>
            </a:r>
          </a:p>
          <a:p>
            <a:pPr>
              <a:spcAft>
                <a:spcPts val="600"/>
              </a:spcAft>
            </a:pPr>
            <a:r>
              <a:rPr sz="1600" b="0">
                <a:solidFill>
                  <a:srgbClr val="222222"/>
                </a:solidFill>
                <a:latin typeface="맑은 고딕"/>
              </a:rPr>
              <a:t>•  정수: DB Time 3.7배는 성능 저하 아닌 부하 증가 — 단위 작업당으로 나눠 판정</a:t>
            </a:r>
          </a:p>
          <a:p>
            <a:pPr>
              <a:spcAft>
                <a:spcPts val="600"/>
              </a:spcAft>
            </a:pPr>
            <a:r>
              <a:rPr sz="1600" b="0">
                <a:solidFill>
                  <a:srgbClr val="222222"/>
                </a:solidFill>
                <a:latin typeface="맑은 고딕"/>
              </a:rPr>
              <a:t>•  집계가 부하 증가여도 개별 SQL은 회귀 가능(실행당 지표·plan_hash_value)</a:t>
            </a:r>
          </a:p>
          <a:p>
            <a:pPr>
              <a:spcAft>
                <a:spcPts val="600"/>
              </a:spcAft>
            </a:pPr>
            <a:r>
              <a:rPr sz="1600" b="0">
                <a:solidFill>
                  <a:srgbClr val="222222"/>
                </a:solidFill>
                <a:latin typeface="맑은 고딕"/>
              </a:rPr>
              <a:t>•  베이스라인으로 평시 보존 / 🔒 없으면 Statspack·V$ 대안</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5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실습 5개 · non-CDB orcl 19.3 · WL_06_mixed</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600"/>
              </a:spcAft>
            </a:pPr>
            <a:r>
              <a:rPr sz="1600" b="0">
                <a:solidFill>
                  <a:srgbClr val="222222"/>
                </a:solidFill>
                <a:latin typeface="맑은 고딕"/>
              </a:rPr>
              <a:t>•  실습 01 — Compare Periods 보고서 생성(awrddrpt.sql / AWR_DIFF_REPORT_TEXT)</a:t>
            </a:r>
          </a:p>
          <a:p>
            <a:pPr>
              <a:spcAft>
                <a:spcPts val="600"/>
              </a:spcAft>
            </a:pPr>
            <a:r>
              <a:rPr sz="1600" b="0">
                <a:solidFill>
                  <a:srgbClr val="222222"/>
                </a:solidFill>
                <a:latin typeface="맑은 고딕"/>
              </a:rPr>
              <a:t>•  실습 02 — 두 기간 Load Profile 차이 판독(초당 vs 트랜잭션당)</a:t>
            </a:r>
          </a:p>
          <a:p>
            <a:pPr>
              <a:spcAft>
                <a:spcPts val="600"/>
              </a:spcAft>
            </a:pPr>
            <a:r>
              <a:rPr sz="1600" b="0">
                <a:solidFill>
                  <a:srgbClr val="222222"/>
                </a:solidFill>
                <a:latin typeface="맑은 고딕"/>
              </a:rPr>
              <a:t>•  실습 03 — SQL 단위 회귀 탐지(DBA_HIST_SQLSTAT·plan_hash_value)</a:t>
            </a:r>
          </a:p>
          <a:p>
            <a:pPr>
              <a:spcAft>
                <a:spcPts val="600"/>
              </a:spcAft>
            </a:pPr>
            <a:r>
              <a:rPr sz="1600" b="0">
                <a:solidFill>
                  <a:srgbClr val="222222"/>
                </a:solidFill>
                <a:latin typeface="맑은 고딕"/>
              </a:rPr>
              <a:t>•  실습 04 — 베이스라인 대비 비교(CREATE_BASELINE·고정/이동)</a:t>
            </a:r>
          </a:p>
          <a:p>
            <a:pPr>
              <a:spcAft>
                <a:spcPts val="600"/>
              </a:spcAft>
            </a:pPr>
            <a:r>
              <a:rPr sz="1600" b="0">
                <a:solidFill>
                  <a:srgbClr val="222222"/>
                </a:solidFill>
                <a:latin typeface="맑은 고딕"/>
              </a:rPr>
              <a:t>•  실습 05 — 부하 증가 vs 성능 저하 판정(81.8초 vs 302.0초 오판 교정)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
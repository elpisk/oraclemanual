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ch13은 리스트·게시판 화면에서 가장 흔하게 신고되는 성능 민원, 곧 "1페이지는 빠른데 뒷페이지로 갈수록 느려진다"는 현상을 정면으로 다루는 장이다. 이 장의 실행계획과 소요 시간은 모두 진료비청구심사 실습 DB에서 직접 캡처한 실측값이며, 실습용 인덱스를 만들었다가 종료 시 원상복구한 상태에서 관찰했다. 학습자가 이 장을 마치면 페이징 방식의 선택을 화면 요구사항과 비용 구조를 함께 놓고 설명할 수 있어야 한다. 페이징은 거의 모든 업무 화면에 들어가는 기능이라 이 장의 내용은 특정 프로젝트에 한정되지 않고 오래 재사용된다는 점도 함께 일러 둔다. 첫 시간에는 결론을 미리 말하지 말고 현상만 제시하는 편이 몰입에 유리하다.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첫째는 문법으로, 두 가지 페이징 작성법을 모두 읽고 쓸 수 있게 하는 것이다. 둘째는 실행계획 독해로, 두 종류의 WINDOW 오퍼레이션을 구분해 그 차이가 곧 비용의 차이임을 알아보는 능력이다. 셋째는 판단으로, 더 빠른 방식이 항상 정답은 아니며 화면 요구사항이 선택을 제약한다는 사실까지 포함한다. 마지막 항목은 정답이 하나가 아닌 서술형 실습으로 이어진다고 예고한다. 목표를 훑을 때는 다섯 번째와 여섯 번째 항목에 특히 밑줄을 긋게 한다. 실행계획의 오퍼레이션 이름 하나를 구분해 읽는 능력이 이 장의 결론 전체를 지탱하기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흐름은 "현상 확인 → 원리 설명 → 실측 → 대안 실측 → 실무 판단"이다. 11.2와 11.3이 칠판 설명 구간이고 11.5와 11.6이 실측 구간인데, 두 실측을 반드시 짝으로 보여 줘야 한다. 11.5만 보면 "페이징은 원래 느린 것"이라는 체념으로 끝나고, 11.6만 보면 "Keyset이 정답"이라는 과신으로 끝나기 때문이다. 마지막 11.7에서 제약을 다루면서 균형을 잡는 것이 이 장의 설계 의도다. 시간이 부족하면 11.2의 ROWNUM 코드 슬라이드를 빠르게 넘기고 11.3부터 속도를 붙이는 편이 낫다. 원리를 건너뛰면 실측표가 암기 대상이 되어 버린다.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문제를 학습자의 경험과 연결하는 구간이다. 이 현상은 거의 모든 웹 서비스에서 한 번씩은 신고되는 민원이라, 강사가 설명을 시작하기도 전에 학습자 쪽에서 사례가 나온다. 여기서 중요한 것은 이 현상을 "데이터가 많아서 어쩔 수 없다"로 넘기지 않는 것이다. 원인을 실행계획 수준에서 특정할 수 있고, 특정하고 나면 대안도 분명해진다는 것이 이 장의 약속이다. 사례를 받을 때는 어떤 화면이었는지, 몇 페이지쯤에서 느려졌는지까지 되물어 두면 뒤의 실측표를 볼 때 학습자가 자기 경험과 대조하며 듣게 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민원이 재현되지 않는 구조를 짚어 주는 것이 이 슬라이드의 목적이다. 개발자와 테스터는 1페이지만 눌러 보고, 사용자는 검색 결과를 한참 넘겨 본 뒤 느리다고 말한다. 두 사람이 같은 SQL을 다른 바인드 값으로 실행한 것이므로 대화가 어긋난다. 실무에서는 이 지점에서 몇 주씩 원인 미상으로 방치되는 경우가 많다는 점을 강조해 둔다. 이 슬라이드에서 중요한 태도는 성능 민원을 재현 조건까지 포함해 접수하는 습관이다. 어떤 화면의 몇 페이지에서 얼마나 걸렸는지가 없으면 어떤 튜닝도 시작할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소재를 고른 이유를 짚어 두면 좋다. 접수일 내림차순 목록은 실무에서 가장 흔한 화면 형태이고, 정렬 기준 컬럼 하나에 인덱스를 걸 수 있다는 점에서 대안 실험이 깔끔하게 된다. 또 하나 미리 안내할 것은 인덱스 원상복구다. 이 차시에서 만든 실습 인덱스를 지우지 않고 다음 장으로 넘어가면 이후 챕터의 실행계획이 교안과 달라진다. 또 한 가지, 이 장은 인덱스를 새로 만드는 장이 아니라 접근 방식을 바꾸는 장이라는 점을 미리 구분해 두면 뒤에서 인덱스가 있는데도 안 쓰이는 장면이 덜 당황스럽다.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문법 정리 구간이다. 학습자 배경이 갈리는 지점이라 속도 조절이 필요하다. 오래 개발한 사람은 ROWNUM 중첩 뷰만 알고 FETCH FIRST를 안 써 봤고, 최근 입문한 사람은 그 반대다. 세 방식을 나란히 놓고 "같은 요구사항의 서로 다른 표현"이라는 틀을 먼저 세워 두면 뒤의 실행계획 비교가 훨씬 수월해진다. 문법 자체는 어렵지 않으므로 여기서 시간을 많이 쓰지 않는다. 다만 세 방식이 같은 요구사항의 다른 표현이라는 문장만은 학습자가 따라 말하게 하고 넘어간다.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 BY 없이 페이징을 쓰는 코드가 실무에 의외로 많다. 개발 환경에서는 우연히 일정한 순서로 나오다가, 데이터가 늘거나 실행계획이 바뀌면 같은 행이 두 페이지에 나오거나 아예 빠지는 사고로 이어진다. 또 정렬 기준 컬럼에 동점 값이 많은 경우도 같은 문제를 일으키므로, 고유한 컬럼을 보조 정렬 기준으로 덧붙이는 습관을 함께 권한다. 실무에서는 정렬 기준 컬럼이 날짜인 경우가 압도적으로 많은데, 같은 날짜에 여러 건이 몰리는 데이터라면 동점 문제가 곧바로 드러난다는 점을 사례로 들면 설득력이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패턴에서 학습자가 가장 많이 틀리는 지점은 뷰를 두 겹으로 감싸는 이유다. ROWNUM은 정렬이 끝난 뒤가 아니라 행이 결과 집합에 들어오는 순간 매겨지기 때문에, 한 겹만 쓰면 정렬되지 않은 순서로 번호가 붙는다. 실무에서 이 실수는 결과가 아예 안 나오는 것이 아니라 "그럴듯하게 틀린" 목록이 나오는 형태라 발견이 늦다. 지금 코드를 쓸 일이 없더라도 레거시를 읽을 일은 반드시 생긴다. 신규 개발이라면 이 패턴을 새로 쓸 이유가 없지만, 기존 시스템을 인수받아 튜닝하는 상황에서는 이 구조를 읽어 내는 것이 첫 단계가 된다는 점을 함께 말해 준다.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장 전체의 방향을 잡아 주는 슬라이드다. 학습자는 새 문법을 배우면 그것이 곧 튜닝이라고 생각하기 쉬운데, 페이징에서는 그렇지 않다. 문법을 바꾸는 것은 가독성과 실수 방지에 도움이 되지만 비용 구조는 그대로다. 실제로 비용을 바꾸는 것은 접근 방식 자체를 바꾸는 것, 곧 뒤에서 다룰 Keyset 방식이라는 점을 여기서 미리 예고해 둔다. 강사가 던지기 좋은 질문은 "그러면 이 장에서 우리가 바꿀 것은 무엇인가"이다. 문법이 아니라 접근 기준이라는 답이 나오면 이후 흐름을 학습자가 스스로 예측하게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Keyset을 "더 좋은 방법"으로 소개하지 않도록 조심해야 한다. 이 방식은 요구사항을 살짝 바꾸는 대가로 비용을 크게 줄이는 거래에 가깝다. 무한 스크롤이나 더보기 버튼처럼 사용자가 순차적으로만 넘기는 화면이라면 잃는 것이 사실상 없지만, 게시판형 화면이라면 기능 축소가 된다. 이 균형 감각을 처음부터 심어 두면 11.7이 자연스럽게 이어진다. 용어가 여러 개인 것도 짚어 둔다. 문서마다 커서 기반 페이징, Seek Method 등으로 다르게 부르기 때문에 검색할 때 혼란을 겪는 학습자가 적지 않다.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칠판에 옮겨 적게 하면 이후 논의가 편해진다. 세 방식을 문법 난이도로 줄 세우면 요점을 놓친다. 앞의 두 방식은 표현만 다를 뿐 옵티마이저 입장에서는 같은 일을 시키는 것이고, 마지막 하나만 옵티마이저에게 다른 일을 시킨다. 실습문제 5번이 정확히 이 대조를 묻는 문항이므로, 여기서 나온 표현을 답안에 그대로 쓸 수 있게 유도한다. 이 슬라이드는 이 절의 결론이므로 다음으로 넘어가기 전에 잠깐 멈추는 것이 좋다. 세 방식의 이름이 아니라 접근 기준 두 가지가 기억에 남으면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이 장의 이론 핵심이다. 여기서 원리를 잡아 두지 않으면 11.5의 실측표가 그냥 숫자 나열로 보인다. 설명 순서는 "무엇이 필요한가 → 그래서 무엇을 해야 하는가 → 그 작업이 어느 컬럼에 나타나는가" 세 단계로 잡는다. 특히 마지막 단계, 곧 비용이 나타나는 컬럼과 나타나지 않는 컬럼을 구분하는 부분이 ch11와 이어지는 대목이다. 이 절은 코드도 실측표도 없는 순수 설명 구간이라 집중이 흐트러지기 쉬우므로, 질문을 자주 던져 학습자가 답을 만들어 보게 하는 진행이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가장 크게 오해하는 지점이 여기다. OFFSET을 "앞부분을 안 읽고 건너뛴다"로 이해하면 깊은 페이지가 느릴 이유가 없다고 생각하게 된다. 실제로는 건너뛰기 위해서라도 세어야 하고, 세려면 정렬된 상태로 그 행들을 거쳐야 한다. 책갈피 없이 책장을 넘겨 300쪽을 찾는 상황에 비유하면 이해가 빠르다. 실습문제 2번이 이 원리를 묻는다. 비유를 하나 더 준비해 두면 좋다. 줄을 선 사람 중 스물한 번째부터 마흔 번째를 뽑으려면 앞의 스무 명을 세는 일 자체는 피할 수 없다는 설명이 특히 잘 통한다.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ch11와의 연결은 이 장에서 반드시 짚어야 한다. 같은 함정이 다른 옷을 입고 두 번 나온 것이기 때문이다. 두 사례의 공통 성질은 정렬 계열 연산이라는 점이고, 정렬은 이미 가져온 데이터를 재배열하는 작업이라 블록을 더 만지지 않는다. 실습문제 10번이 두 챕터를 묶어 종합하라는 문항이므로, 여기서 나온 표현을 메모해 두라고 안내하면 좋다. 여기서 실행계획의 어느 컬럼이 어떤 자원을 보는지 한 번 더 정리해 준다. Buffers는 I/O, A-Time은 시간, OMem 계열은 메모리를 본다는 대응만 잡혀도 이후 판단이 크게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오퍼레이션 이름을 통째로 외우게 하기보다 세 단어로 쪼개 읽게 하는 편이 좋다. WINDOW는 분석 함수 처리, SORT는 정렬이 필요하다는 뜻, PUSHED RANK는 순위 조건을 정렬 안으로 밀어 넣었다는 뜻이다. 이름 안에 SORT가 들어 있다는 것 자체가 이미 정렬 비용을 예고하고 있다는 점을 짚어 주면, 뒤에 나올 NOSORT와의 대비가 선명해진다. 실무 조언도 함께 덧붙인다. 성능 테스트 시나리오를 만들 때 페이지 번호를 1로 고정해 두는 관행이 이 문제를 계속 놓치게 만드는 원인이라는 점을 지적해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NOSORT와 STOPKEY는 별개의 이득이지만 실무에서는 거의 함께 나타난다. 인덱스 순서로 읽는다는 조건이 둘 모두의 전제이기 때문이다. 학습자에게는 "인덱스가 정렬 순서를 제공하면 정렬을 생략할 수 있고, 정렬을 생략할 수 있으면 앞에서부터 필요한 만큼만 읽고 멈출 수 있다"는 인과 사슬로 정리해 주는 것이 기억에 오래 남는다. 이 두 단어가 실행계획에 보이면 그 쿼리는 부분범위 처리로 풀렸다는 신호다. 앞으로 실행계획을 볼 때 이 단어를 먼저 찾는 습관을 들이라고 권한다.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부분범위 처리는 이 장을 관통하는 개념이자 SQL 튜닝 전반의 핵심 개념 중 하나다. 화면이 요구하는 데이터의 양과 DB가 실제로 처리하는 데이터의 양 사이에 큰 격차가 있을 때 튜닝 여지가 생긴다. 학습자에게 이 격차를 계속 의식하게 만드는 것이 목표다. 뒤에 나올 두 실측표를 이 관점으로 다시 보면 숫자의 의미가 훨씬 분명해진다. 이 개념은 페이징에만 쓰이지 않는다. 상위 N건 조회, 존재 여부 확인, 첫 화면만 빠르게 그리는 요구사항 모두 같은 관점에서 다룰 수 있다는 점을 예로 들어 준다.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절은 코드 구간이다. 두 SQL을 나란히 읽는 것이 목적이므로 한 화면씩 천천히 넘긴다. 여기서 학습자가 직접 손으로 따라 치게 하면 좋은데, 특히 Keyset 방식은 처음 보면 어색해서 눈으로만 읽으면 기억에 남지 않는다. 두 SQL이 같은 화면을 만들어 낸다는 사실, 곧 결과가 동등하다는 전제를 다시 확인하고 넘어간다. 코드 슬라이드는 세 장이 연속되므로 중간에 질문을 하나씩 끼워 넣어 리듬을 끊는 편이 좋다. 특히 두 번째와 세 번째 사이에서 차이를 먼저 예상하게 하면 몰입이 유지된다.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방식을 같은 인덱스 조건에서 측정한다는 점을 꼭 강조해야 한다. 인덱스가 한쪽에만 있으면 비교 자체가 성립하지 않는데, 학습자는 흔히 "Keyset이 빠른 건 인덱스를 만들었기 때문 아닌가"라고 되묻는다. 인덱스는 양쪽 모두에 있었고, 그런데도 한쪽만 그것을 활용했다는 사실이 이 장의 관찰 포인트라는 점을 미리 예고해 둔다. 실습 인덱스 이름 규칙을 정해 두는 이유도 설명해 준다. 접두어가 있으면 차시 종료 시 무엇을 지워야 하는지 한눈에 확인할 수 있어 정리 누락이 크게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인덱스를 만드는 순간 학습자는 이제 두 쿼리 모두 인덱스를 쓸 것이라고 기대한다. 그 기대가 반쯤만 맞는다는 것이 이 절의 반전이다. 여기서 미리 답을 말해 주지 말고 질문만 던져 두는 편이 좋다. 인덱스가 정렬 순서를 제공한다는 두 번째 역할은 뒤의 NOSORT와 직결되므로 이 줄만은 반드시 소리 내어 읽고 넘어간다. 단일 컬럼 인덱스를 고른 이유도 짧게 언급한다. 조회 컬럼까지 포함한 결합 인덱스를 만들면 이야기가 달라지는데, 그 변형은 학습자가 실습 후 스스로 실험해 볼 과제로 남겨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절이 없다는 사실을 여기서 반드시 짚어야 한다. 학습자는 이 SQL을 보면서 인덱스를 탈 것이라고 기대하는데, 옵티마이저 입장에서는 인덱스로 찾아 들어갈 조건이 하나도 없는 쿼리다. 실습문제 9번이 정확히 이 점을 인덱스 미사용과 연결지어 추론하라고 요구한다. 이 슬라이드에서 밑줄을 그어 두면 나중에 답안을 쓸 때 근거로 돌아올 수 있다. 화면 개발 입장에서 이 형태가 가장 편하다는 점도 인정하고 넘어가야 한다. 편의성과 비용이 맞바꿔지는 지점이라는 구도를 세워 두면 뒤의 절충안 논의가 자연스럽게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SQL의 차이가 두 줄뿐이라는 점이 이 슬라이드의 메시지다. 문법을 크게 바꾼 것도 아니고 새로운 기능을 쓴 것도 아닌데 실행계획이 완전히 달라진다. 실무에서 이 전환의 진짜 난이도는 SQL이 아니라 애플리케이션 쪽에 있다는 점도 함께 언급해 둔다. 마지막 값을 화면과 서버가 주고받도록 API를 바꿔야 하므로, DB만 고쳐서 끝나는 튜닝이 아니다. 학습자가 자주 묻는 질문 하나를 미리 다뤄 둔다. 같은 접수일이 여러 건이면 경계에서 행이 누락되거나 중복될 수 있으므로, 고유 컬럼을 보조 기준으로 함께 쓰는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SQL을 비교할 때 문법의 길이나 복잡도로 비교하지 않도록 유도해야 한다. 비교 축은 "옵티마이저에게 무엇을 시켰는가"다. 한쪽은 전체에 순번을 매기라고 시켰고 다른 쪽은 특정 값을 찾아가라고 시켰다. 같은 화면을 만드는 두 가지 지시인데 작업량이 전혀 다르다는 것을, 다음 절의 실측이 숫자로 확인해 준다. 이 슬라이드를 덮기 전에 두 SQL의 실행계획을 각자 예상해 적어 보게 하면 좋다. 예상을 글로 남긴 학습자는 다음 절의 실측 결과를 훨씬 더 강하게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절은 이 장의 첫 번째 실측 구간이다. 표를 한꺼번에 읽지 말고 컬럼 단위로 나눠 읽는 진행이 효과적이다. 먼저 Buffers 컬럼만 세로로 훑어 세 값이 같다는 것을 확인시키고, 그다음 A-Time과 작업 메모리 컬럼을 본다. 두 관찰이 각각 다른 원칙을 증명하므로 순서를 섞으면 메시지가 흐려진다. 표에 나온 값은 모두 실습 DB에서 직접 캡처한 것이라는 점을 다시 밝히고 시작한다. 값의 크기 자체보다 세 행 사이의 변화 방향이 이 절의 관찰 대상이다.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띄우자마자 학습자에게 먼저 질문을 던지는 편이 좋다. "Buffers가 같으니 성능도 같겠죠?"라고 물으면 상당수가 그렇다고 답한다. 그 상태에서 A-Time과 메모리 컬럼을 보여 주면 인식이 강하게 흔들린다. 이 흔들림이 이 장에서 가장 중요한 학습 순간이므로, 답을 먼저 말해 주고 표를 보여 주는 순서로 진행하지 않는다. 표를 덮기 전에 마지막 주석 한 줄, 곧 계획에 나타난 두 오퍼레이션 이름을 함께 확인시킨다. 다음 두 슬라이드의 설명이 모두 그 이름에서 출발하기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Buffers가 잘못된 지표라는 식으로 설명하면 안 된다. Buffers는 자기가 측정하는 것을 정확히 측정했고, 다만 이 사례의 지배적 비용 요인이 I/O가 아니었을 뿐이다. 지표를 불신하게 만드는 대신 "이 지표는 무엇을 보는 지표인가"를 항상 확인하는 습관으로 연결해야 한다. 실습문제 1번이 이 이유를 Full Scan 성질과 연결해 설명하라고 요구한다. 덧붙여, 이 쿼리가 Full Scan을 선택한 이유 자체는 뒤의 11.6에서 따로 다룬다고 예고해 둔다. 여기서 그 논의까지 끌어오면 두 관찰이 뒤엉켜 메시지가 흐려진다.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문장은 "읽은 양은 같은데 그 데이터로 하는 일이 늘었다"이다. 학습자가 이 문장을 자기 말로 다시 말할 수 있으면 이 절은 성공이다. 280,020이라는 숫자를 칠판에 적어 두면 효과가 좋은데, 화면에 20건을 뿌리기 위해 28만 건에 번호를 매겼다는 대비가 부분범위 처리 개념과 곧바로 이어지기 때문이다. 또 하나 짚을 것은 정렬 작업 메모리가 커지면 결국 임시 공간으로 넘칠 수 있다는 점이다. 그 순간부터는 디스크 I/O까지 발생하므로 비용 곡선이 더 가팔라진다.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3번의 답안 뼈대에 해당한다. 반박의 구조를 명확히 잡아 주는 것이 목적이다. 지표가 틀렸다고 말하는 것이 아니라, 그 지표가 보지 못하는 영역이 있고 이 사례의 비용이 정확히 그 영역에 있다고 말해야 한다. 동시 사용자 이야기는 교안 밖의 실무 맥락이지만 학습자에게 위기감을 주는 데 효과적이므로 짧게 덧붙인다. 실무에서 이 오판이 특히 위험한 이유는 판단 근거가 그럴듯해서 아무도 재검토하지 않기 때문이다. 숫자를 근거로 댔다는 사실만으로 결론이 검증된 것처럼 받아들여진다.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이 장의 두 번째 실측 구간이자 결론 구간이다. 앞 절에서 문제를 확인했으니 여기서 해답을 본다. 실행계획을 띄우기 전에 학습자에게 예상을 물어보는 것이 좋다. 대부분 "조금 빨라질 것"이라고 답하는데, 실제 차이는 그 예상을 크게 넘어선다. 예상과 결과의 간격이 클수록 원리 설명이 기억에 오래 남는다. 예상을 물을 때는 배수로 답하게 하면 효과가 좋다. 두세 배쯤이라고 답한 뒤 실제 결과를 보면 원리를 다시 듣고 싶어지는 상태가 만들어진다.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실행계획은 아래에서 위로 읽는다. 4번에서 인덱스로 진입해 20건을 읽었고, 3번에서 그 rowid로 테이블에 접근했으며, 2번에서 정렬 없이 20건을 채우고 멈췄다. A-Rows 컬럼이 전 단계에서 모두 20이라는 점이 결정적인데, 어느 단계에서도 20건을 넘겨 처리한 적이 없다는 뜻이다. 이것이 부분범위 처리의 실행계획상 지문이다. 인덱스 스캔 단계의 Buffers만 따로 짚어 주면 설득력이 커진다. 필요한 지점을 찾아 들어가는 데 든 비용이 그만큼이었다는 뜻이기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오퍼레이션이 각각 다른 문제를 해결했다는 점을 나눠 설명해야 한다. RANGE SCAN DESCENDING은 시작점 문제를, NOSORT STOPKEY는 종료점 문제를 해결한다. 시작과 끝을 모두 한정할 수 있게 되면서 중간에 있는 대부분의 데이터를 아예 건드리지 않게 된 것이다. 실습문제 4번이 두 오퍼레이션의 결합 효과를 묻는 문항이다. 정리 문장은 한 줄로 남긴다. 시작점을 조건으로 잡고 종료점을 건수로 잡으면 중간의 대부분을 건드리지 않아도 된다는 것이 이 장의 튜닝 원리 전부다.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8번의 추론 문항과 직결된다. 학습자가 "내림차순으로 쓸 거면 내림차순 인덱스를 만들어야 하지 않나"라고 생각하는 경우가 많은데, 단일 컬럼이라면 불필요하다. 반대로 마지막 예외 항목은 내림차순 인덱스가 실제로 필요해지는 드문 경우이므로, 무조건 필요 없다고 외우지 않도록 함께 짚어 준다. 시간이 허락하면 인덱스 리프 블록이 양방향으로 연결된 그림을 칠판에 그려 주면 좋다. 구조를 눈으로 본 학습자는 이 내용을 다시 잊지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9번의 답안 뼈대에 해당하는 슬라이드다. 두 이유가 독립적으로 작동한다는 점을 짚어 주는 것이 좋다. 진입 조건이 없다는 것만으로도 인덱스의 이점이 절반 사라지고, 컬럼을 다 못 가져온다는 점이 나머지 절반을 지운다. Keyset 방식은 첫 번째 문제를 해결했기 때문에 인덱스가 다시 매력적인 선택지가 되었다는 흐름으로 연결하면 이해가 매끄럽다. 여기서 옵티마이저를 의인화해 설명하면 이해가 빠르다. 인덱스를 쓰지 않은 것이 아니라, 쓸 이유를 계산해 봤더니 이득이 없었다는 판단으로 읽어야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균형을 잡는 구간이다. 앞 절의 실측이 워낙 극적이라 학습자는 Keyset을 만능으로 받아들이기 쉽다. 그러나 실무에서 페이징 방식을 바꾸는 일은 DB 작업이 아니라 화면 설계와 API 변경을 수반하는 일이다. 기술적 우열보다 요구사항과의 적합성이 선택을 결정한다는 점을 여기서 분명히 해야 한다. 이 절은 정답을 주는 구간이 아니라 판단 기준을 주는 구간이다. 학습자가 자기 프로젝트 화면을 떠올리며 적용 여부를 스스로 결정해 보게 하는 것이 목표다.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제약의 원인을 정확히 짚는 것이 중요하다. Keyset이 임의 점프를 못 하는 이유는 구현이 미흡해서가 아니라, 순번을 세지 않는다는 바로 그 성질 때문이다. 빠른 이유와 못 하는 이유가 같은 뿌리에서 나온다는 점을 강조하면 학습자가 이 방식을 균형 있게 이해한다. 실습문제 6번이 이 제약과 UI 적합성을 함께 묻는다. 전체 건수와 전체 페이지 수 표시도 같은 제약에 걸린다는 점을 덧붙이면 좋다. 그 숫자를 구하려면 결국 전체를 세어야 하므로 화면 요구사항을 함께 검토해야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자주 마주치는 상황은 페이지 번호 UI가 실제 필요에서 나온 것이 아니라 관행으로 남아 있는 경우다. 사용성 로그를 보면 대부분의 사용자는 앞쪽 몇 페이지만 본다. 이런 경우 SQL을 붙잡고 씨름하기보다 화면 설계를 바꾸는 편이 훨씬 저렴하다. DB 담당자가 화면 요구사항 논의에 참여해야 하는 이유를 보여 주는 좋은 사례다. 판단 순서를 한 줄로 정리해 준다. 화면 요구사항을 먼저 확정하고, 그다음에 그 요구사항을 가장 싸게 만족시키는 SQL을 고르는 순서여야 한다는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7번이 절충안을 자유롭게 제안하라는 서술형이므로, 여기서는 정답을 외우게 하기보다 사고의 축을 심어 주는 것이 목표다. 축은 세 가지다. 범위를 제한하거나, 방식을 섞거나, 대상 자체를 줄이는 것. 학습자가 이 축 중 하나에 해당하는 제안을 스스로 만들어 내면 충분하다. 세 번째 축은 교안에 없는 방향이지만 이 장의 원리에서 자연스럽게 도출되므로 함께 제시한다. 절충안을 논의할 때는 반드시 비용과 잃는 것을 함께 적게 한다. 무엇을 포기했는지 적히지 않은 절충안은 나중에 요구사항이 되살아나면서 그대로 무너진다.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종합표는 두 방향으로 읽게 해야 한다. 세로로 읽으면 OFFSET 방식 내부에서 깊이가 비용을 끌어올리는 모습이 보이고, 가로로 읽으면 같은 깊이에서 방식의 차이가 보인다. 한 방향만 읽으면 결론이 반쪽이 된다. 마지막 행의 Keyset이 첫 행의 OFFSET 1페이지보다도 저렴하다는 점을 짚어 주면 부분범위 처리의 위력이 선명해진다. 이 표를 실습 전 마지막 화면으로 남겨 두면 학습자가 답안을 쓰면서 수치를 인용하기 편하다. 다만 수치를 외우게 하지 말고 변화의 방향을 설명하게 하는 것이 목표다.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아홉 줄은 세 묶음으로 읽어 준다. 앞의 세 줄이 문제의 원인, 가운데 네 줄이 대안의 원리, 마지막 두 줄이 실무 판단이다. 이 화면을 띄워 둔 채로 실습을 시작하게 하면 학습자가 답안을 쓰면서 근거 문장을 골라 쓸 수 있다. 특히 마지막 줄은 이 장뿐 아니라 이후 챕터에서도 반복해 등장할 관점이므로 별도로 강조해 둔다. 다음 장으로 넘어가기 전에 실습 인덱스 정리 여부를 한 번 확인시키고, 이 장에서 배운 관점이 다음 챕터에서 어떤 형태로 다시 나오는지 한 문장으로 예고해 둔다.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장의 실습은 전부 서술형이며 SQL을 새로 작성하는 문항은 없다. 채점 기준은 결론의 일치가 아니라 근거로 삼은 값과 논리의 순서다. 3번과 10번은 ch11를 다시 펴 봐야 하는 문항이므로 미리 안내한다. 7번은 정답이 열려 있으니 자기 서비스 경험을 끌어와 쓰도록 권한다. 마지막으로 실습 인덱스 정리를 다시 한번 강조하고 마친다. 답안을 쓸 때 실행계획 오퍼레이션 이름을 정확히 적었는지도 함께 본다. 이름을 흐릿하게 쓰면 근거가 흐릿해지고, 이후 챕터의 논의를 이어 가기도 어려워진다.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ch13</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페이징 SQL 튜닝</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부분범위 처리 · ROWNUM 중첩 뷰와 FETCH FIRST · WINDOW SORT PUSHED RANK vs NOSORT STOPKEY · Keyset Pagination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부분범위 처리의 개념을 정의하고 전체범위 처리와 구분해 설명한다</a:t>
            </a:r>
          </a:p>
          <a:p>
            <a:r>
              <a:rPr sz="1600" b="0">
                <a:solidFill>
                  <a:srgbClr val="5A6672"/>
                </a:solidFill>
                <a:latin typeface="Malgun Gothic"/>
              </a:rPr>
              <a:t>    –  OFFSET n ROWS FETCH NEXT m ROWS ONLY 구문의 동작을 설명한다</a:t>
            </a:r>
          </a:p>
          <a:p>
            <a:r>
              <a:rPr sz="1600" b="0">
                <a:solidFill>
                  <a:srgbClr val="5A6672"/>
                </a:solidFill>
                <a:latin typeface="Malgun Gothic"/>
              </a:rPr>
              <a:t>    –  ROWNUM 중첩 인라인 뷰 방식의 페이징 SQL 구조를 읽고 작성한다</a:t>
            </a:r>
          </a:p>
          <a:p>
            <a:r>
              <a:rPr sz="1600" b="0">
                <a:solidFill>
                  <a:srgbClr val="5A6672"/>
                </a:solidFill>
                <a:latin typeface="Malgun Gothic"/>
              </a:rPr>
              <a:t>    –  OFFSET 쿼리가 내부적으로 ROW_NUMBER()로 변환되는 과정을 설명한다</a:t>
            </a:r>
          </a:p>
          <a:p>
            <a:r>
              <a:rPr sz="1600" b="0">
                <a:solidFill>
                  <a:srgbClr val="5A6672"/>
                </a:solidFill>
                <a:latin typeface="Malgun Gothic"/>
              </a:rPr>
              <a:t>    –  WINDOW SORT PUSHED RANK와 WINDOW NOSORT STOPKEY를 구분해 읽는다</a:t>
            </a:r>
          </a:p>
          <a:p>
            <a:r>
              <a:rPr sz="1600" b="0">
                <a:solidFill>
                  <a:srgbClr val="5A6672"/>
                </a:solidFill>
                <a:latin typeface="Malgun Gothic"/>
              </a:rPr>
              <a:t>    –  OFFSET이 깊어질 때 Buffers는 그대로인데 A-Time이 늘어나는 이유를 말한다</a:t>
            </a:r>
          </a:p>
          <a:p>
            <a:r>
              <a:rPr sz="1600" b="0">
                <a:solidFill>
                  <a:srgbClr val="5A6672"/>
                </a:solidFill>
                <a:latin typeface="Malgun Gothic"/>
              </a:rPr>
              <a:t>    –  정렬 작업 메모리(OMem·1Mem·Used-Mem)를 성능 판단 근거로 함께 확인한다</a:t>
            </a:r>
          </a:p>
          <a:p>
            <a:r>
              <a:rPr sz="1600" b="0">
                <a:solidFill>
                  <a:srgbClr val="5A6672"/>
                </a:solidFill>
                <a:latin typeface="Malgun Gothic"/>
              </a:rPr>
              <a:t>    –  Keyset Pagination의 SQL을 작성하고 실행계획으로 효과를 확인한다</a:t>
            </a:r>
          </a:p>
          <a:p>
            <a:r>
              <a:rPr sz="1600" b="0">
                <a:solidFill>
                  <a:srgbClr val="5A6672"/>
                </a:solidFill>
                <a:latin typeface="Malgun Gothic"/>
              </a:rPr>
              <a:t>    –  INDEX RANGE SCAN DESCENDING이 가능한 구조적 이유를 설명한다</a:t>
            </a:r>
          </a:p>
          <a:p>
            <a:r>
              <a:rPr sz="1600" b="0">
                <a:solidFill>
                  <a:srgbClr val="5A6672"/>
                </a:solidFill>
                <a:latin typeface="Malgun Gothic"/>
              </a:rPr>
              <a:t>    –  Keyset 방식의 제약을 UI 요구사항과 연결해 적용 여부를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11.1  Why — 뒷페이지로 갈수록 느려지는 화면</a:t>
            </a:r>
          </a:p>
          <a:p>
            <a:r>
              <a:rPr sz="1800" b="0">
                <a:solidFill>
                  <a:srgbClr val="202830"/>
                </a:solidFill>
                <a:latin typeface="Malgun Gothic"/>
              </a:rPr>
              <a:t>•  11.2  Concept — OFFSET/FETCH · ROWNUM · Keyset Pagination</a:t>
            </a:r>
          </a:p>
          <a:p>
            <a:r>
              <a:rPr sz="1800" b="0">
                <a:solidFill>
                  <a:srgbClr val="202830"/>
                </a:solidFill>
                <a:latin typeface="Malgun Gothic"/>
              </a:rPr>
              <a:t>•  11.3  Oracle Internals — OFFSET이 깊어지면 왜 느려지는가</a:t>
            </a:r>
          </a:p>
          <a:p>
            <a:r>
              <a:rPr sz="1800" b="0">
                <a:solidFill>
                  <a:srgbClr val="202830"/>
                </a:solidFill>
                <a:latin typeface="Malgun Gothic"/>
              </a:rPr>
              <a:t>•  11.4  Example — 청구 목록을 접수일 내림차순으로 페이징</a:t>
            </a:r>
          </a:p>
          <a:p>
            <a:r>
              <a:rPr sz="1800" b="0">
                <a:solidFill>
                  <a:srgbClr val="202830"/>
                </a:solidFill>
                <a:latin typeface="Malgun Gothic"/>
              </a:rPr>
              <a:t>•  11.5  Execution Plan — OFFSET 깊이에 따른 실측</a:t>
            </a:r>
          </a:p>
          <a:p>
            <a:r>
              <a:rPr sz="1800" b="0">
                <a:solidFill>
                  <a:srgbClr val="202830"/>
                </a:solidFill>
                <a:latin typeface="Malgun Gothic"/>
              </a:rPr>
              <a:t>•  11.6  Bad SQL — Keyset 방식과의 실행계획 비교</a:t>
            </a:r>
          </a:p>
          <a:p>
            <a:r>
              <a:rPr sz="1800" b="0">
                <a:solidFill>
                  <a:srgbClr val="202830"/>
                </a:solidFill>
                <a:latin typeface="Malgun Gothic"/>
              </a:rPr>
              <a:t>•  11.7  Tuning · Benchmark — Keyset의 제약과 절충안</a:t>
            </a:r>
          </a:p>
          <a:p>
            <a:r>
              <a:rPr sz="1800" b="0">
                <a:solidFill>
                  <a:srgbClr val="202830"/>
                </a:solidFill>
                <a:latin typeface="Malgun Gothic"/>
              </a:rPr>
              <a:t>•  11.8~11.9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뒷페이지로 갈수록 느려지는 화면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리스트·게시판 화면에서 흔한 성능 민원</a:t>
            </a:r>
          </a:p>
          <a:p>
            <a:r>
              <a:rPr sz="1600" b="0">
                <a:solidFill>
                  <a:srgbClr val="C5CED6"/>
                </a:solidFill>
                <a:latin typeface="Malgun Gothic"/>
              </a:rPr>
              <a:t>•  1페이지는 빠른데 뒤로 갈수록 느려진다</a:t>
            </a:r>
          </a:p>
          <a:p>
            <a:r>
              <a:rPr sz="1600" b="0">
                <a:solidFill>
                  <a:srgbClr val="C5CED6"/>
                </a:solidFill>
                <a:latin typeface="Malgun Gothic"/>
              </a:rPr>
              <a:t>•  이 차시의 목표와 관찰 소재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현장에서 반복되는 민원</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"1페이지는 빠른데 뒷페이지로 갈수록 느려진다"</a:t>
            </a:r>
          </a:p>
          <a:p>
            <a:r>
              <a:rPr sz="1600" b="0">
                <a:solidFill>
                  <a:srgbClr val="5A6672"/>
                </a:solidFill>
                <a:latin typeface="Malgun Gothic"/>
              </a:rPr>
              <a:t>    –  리스트·게시판·검색 결과 화면에서 매우 흔하게 발생하는 문제</a:t>
            </a:r>
          </a:p>
          <a:p>
            <a:r>
              <a:rPr sz="1600" b="0">
                <a:solidFill>
                  <a:srgbClr val="5A6672"/>
                </a:solidFill>
                <a:latin typeface="Malgun Gothic"/>
              </a:rPr>
              <a:t>    –  개발 단계에서는 대개 1~2페이지만 확인하므로 발견되지 않는다</a:t>
            </a:r>
          </a:p>
          <a:p>
            <a:r>
              <a:rPr sz="1800" b="0">
                <a:solidFill>
                  <a:srgbClr val="202830"/>
                </a:solidFill>
                <a:latin typeface="Malgun Gothic"/>
              </a:rPr>
              <a:t>•  민원이 애매하게 보고되는 이유</a:t>
            </a:r>
          </a:p>
          <a:p>
            <a:r>
              <a:rPr sz="1600" b="0">
                <a:solidFill>
                  <a:srgbClr val="5A6672"/>
                </a:solidFill>
                <a:latin typeface="Malgun Gothic"/>
              </a:rPr>
              <a:t>    –  같은 SQL, 같은 화면인데 바인드 값 하나만 다르므로 재현이 어렵다</a:t>
            </a:r>
          </a:p>
          <a:p>
            <a:r>
              <a:rPr sz="1600" b="0">
                <a:solidFill>
                  <a:srgbClr val="5A6672"/>
                </a:solidFill>
                <a:latin typeface="Malgun Gothic"/>
              </a:rPr>
              <a:t>    –  "가끔 느리다"로 접수되어 서버 부하나 네트워크 탓으로 오진되기 쉽다</a:t>
            </a:r>
          </a:p>
          <a:p>
            <a:r>
              <a:rPr sz="1800" b="0">
                <a:solidFill>
                  <a:srgbClr val="202830"/>
                </a:solidFill>
                <a:latin typeface="Malgun Gothic"/>
              </a:rPr>
              <a:t>•  이 장은 이 현상을 실측으로 특정한다</a:t>
            </a:r>
          </a:p>
          <a:p>
            <a:r>
              <a:rPr sz="1600" b="0">
                <a:solidFill>
                  <a:srgbClr val="5A6672"/>
                </a:solidFill>
                <a:latin typeface="Malgun Gothic"/>
              </a:rPr>
              <a:t>    –  왜 깊은 페이지에서만 느려지는지를 실행계획 오퍼레이션 단위로 확인</a:t>
            </a:r>
          </a:p>
          <a:p>
            <a:r>
              <a:rPr sz="1600" b="0">
                <a:solidFill>
                  <a:srgbClr val="5A6672"/>
                </a:solidFill>
                <a:latin typeface="Malgun Gothic"/>
              </a:rPr>
              <a:t>    –  OFFSET 깊이가 늘어도 비용이 거의 늘지 않는 대안까지 함께 확인</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장의 모든 실행계획·A-Time·Buffers·작업 메모리 값은 진료비청구심사 실습 DB에서 직접 캡처한 실측값이다.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관찰 소재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① 현상의 원인을 실측으로 확인한다</a:t>
            </a:r>
          </a:p>
          <a:p>
            <a:r>
              <a:rPr sz="1600" b="0">
                <a:solidFill>
                  <a:srgbClr val="5A6672"/>
                </a:solidFill>
                <a:latin typeface="Malgun Gothic"/>
              </a:rPr>
              <a:t>    –  깊은 페이지에서 비싸지는 비용이 정확히 어느 오퍼레이션에서 발생하는지</a:t>
            </a:r>
          </a:p>
          <a:p>
            <a:r>
              <a:rPr sz="1600" b="0">
                <a:solidFill>
                  <a:srgbClr val="5A6672"/>
                </a:solidFill>
                <a:latin typeface="Malgun Gothic"/>
              </a:rPr>
              <a:t>    –  그 비용이 실행계획의 어느 컬럼에 나타나고 어느 컬럼에는 안 나타나는지</a:t>
            </a:r>
          </a:p>
          <a:p>
            <a:r>
              <a:rPr sz="1800" b="0">
                <a:solidFill>
                  <a:srgbClr val="202830"/>
                </a:solidFill>
                <a:latin typeface="Malgun Gothic"/>
              </a:rPr>
              <a:t>•  목표 ② OFFSET 깊이와 무관한 대안을 확인한다</a:t>
            </a:r>
          </a:p>
          <a:p>
            <a:r>
              <a:rPr sz="1600" b="0">
                <a:solidFill>
                  <a:srgbClr val="5A6672"/>
                </a:solidFill>
                <a:latin typeface="Malgun Gothic"/>
              </a:rPr>
              <a:t>    –  Keyset Pagination — 마지막으로 본 값을 기준으로 다음 페이지를 가져오는 방식</a:t>
            </a:r>
          </a:p>
          <a:p>
            <a:r>
              <a:rPr sz="1800" b="0">
                <a:solidFill>
                  <a:srgbClr val="202830"/>
                </a:solidFill>
                <a:latin typeface="Malgun Gothic"/>
              </a:rPr>
              <a:t>•  관찰 소재</a:t>
            </a:r>
          </a:p>
          <a:p>
            <a:r>
              <a:rPr sz="1600" b="0">
                <a:solidFill>
                  <a:srgbClr val="5A6672"/>
                </a:solidFill>
                <a:latin typeface="Malgun Gothic"/>
              </a:rPr>
              <a:t>    –  청구 목록을 접수일 내림차순으로 20건씩 페이징 조회</a:t>
            </a:r>
          </a:p>
          <a:p>
            <a:r>
              <a:rPr sz="1600" b="0">
                <a:solidFill>
                  <a:srgbClr val="5A6672"/>
                </a:solidFill>
                <a:latin typeface="Malgun Gothic"/>
              </a:rPr>
              <a:t>    –  MEDICAL_CLAIMS 테이블, 정렬 기준 컬럼은 receipt_date</a:t>
            </a:r>
          </a:p>
          <a:p>
            <a:r>
              <a:rPr sz="1600" b="0">
                <a:solidFill>
                  <a:srgbClr val="5A6672"/>
                </a:solidFill>
                <a:latin typeface="Malgun Gothic"/>
              </a:rPr>
              <a:t>    –  같은 요구사항을 OFFSET 방식과 Keyset 방식 두 가지로 작성해 비교</a:t>
            </a:r>
          </a:p>
          <a:p>
            <a:r>
              <a:rPr sz="1800" b="0">
                <a:solidFill>
                  <a:srgbClr val="202830"/>
                </a:solidFill>
                <a:latin typeface="Malgun Gothic"/>
              </a:rPr>
              <a:t>•  이번 차시는 실습용 인덱스를 만들었다가 종료 시 원상복구한다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OFFSET/FETCH · ROWNUM · Keyset</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OFFSET n ROWS FETCH NEXT m ROWS ONLY</a:t>
            </a:r>
          </a:p>
          <a:p>
            <a:r>
              <a:rPr sz="1600" b="0">
                <a:solidFill>
                  <a:srgbClr val="C5CED6"/>
                </a:solidFill>
                <a:latin typeface="Malgun Gothic"/>
              </a:rPr>
              <a:t>•  ROWNUM 중첩 인라인 뷰 — 전통적 방법</a:t>
            </a:r>
          </a:p>
          <a:p>
            <a:r>
              <a:rPr sz="1600" b="0">
                <a:solidFill>
                  <a:srgbClr val="C5CED6"/>
                </a:solidFill>
                <a:latin typeface="Malgun Gothic"/>
              </a:rPr>
              <a:t>•  Keyset Pagination — 값으로 접근하는 방식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 / FETCH 구문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OFFSET n ROWS FETCH NEXT m ROWS ONLY</a:t>
            </a:r>
          </a:p>
          <a:p>
            <a:r>
              <a:rPr sz="1600" b="0">
                <a:solidFill>
                  <a:srgbClr val="5A6672"/>
                </a:solidFill>
                <a:latin typeface="Malgun Gothic"/>
              </a:rPr>
              <a:t>    –  정렬된 결과에서 앞의 n건을 건너뛰고 그다음 m건을 가져온다</a:t>
            </a:r>
          </a:p>
          <a:p>
            <a:r>
              <a:rPr sz="1600" b="0">
                <a:solidFill>
                  <a:srgbClr val="5A6672"/>
                </a:solidFill>
                <a:latin typeface="Malgun Gothic"/>
              </a:rPr>
              <a:t>    –  ORDER BY 뒤에 붙이며, 정렬 순서가 정해져야 "몇 번째"가 의미를 가진다</a:t>
            </a:r>
          </a:p>
          <a:p>
            <a:r>
              <a:rPr sz="1800" b="0">
                <a:solidFill>
                  <a:srgbClr val="202830"/>
                </a:solidFill>
                <a:latin typeface="Malgun Gothic"/>
              </a:rPr>
              <a:t>•  페이지 번호와의 매핑이 직관적이다</a:t>
            </a:r>
          </a:p>
          <a:p>
            <a:r>
              <a:rPr sz="1600" b="0">
                <a:solidFill>
                  <a:srgbClr val="5A6672"/>
                </a:solidFill>
                <a:latin typeface="Malgun Gothic"/>
              </a:rPr>
              <a:t>    –  한 페이지 m건이면 p페이지의 OFFSET은 (p-1) * m</a:t>
            </a:r>
          </a:p>
          <a:p>
            <a:r>
              <a:rPr sz="1600" b="0">
                <a:solidFill>
                  <a:srgbClr val="5A6672"/>
                </a:solidFill>
                <a:latin typeface="Malgun Gothic"/>
              </a:rPr>
              <a:t>    –  화면의 페이지 번호를 그대로 바인드 변수로 넘길 수 있다</a:t>
            </a:r>
          </a:p>
          <a:p>
            <a:r>
              <a:rPr sz="1800" b="0">
                <a:solidFill>
                  <a:srgbClr val="202830"/>
                </a:solidFill>
                <a:latin typeface="Malgun Gothic"/>
              </a:rPr>
              <a:t>•  FETCH FIRST m ROWS ONLY — OFFSET 없이 상위 m건만</a:t>
            </a:r>
          </a:p>
          <a:p>
            <a:r>
              <a:rPr sz="1600" b="0">
                <a:solidFill>
                  <a:srgbClr val="5A6672"/>
                </a:solidFill>
                <a:latin typeface="Malgun Gothic"/>
              </a:rPr>
              <a:t>    –  "최근 20건"처럼 첫 화면만 필요할 때 쓰는 형태</a:t>
            </a:r>
          </a:p>
          <a:p>
            <a:r>
              <a:rPr sz="1800" b="0">
                <a:solidFill>
                  <a:srgbClr val="202830"/>
                </a:solidFill>
                <a:latin typeface="Malgun Gothic"/>
              </a:rPr>
              <a:t>•  주의 — ORDER BY 없이 쓰면 어떤 m건이 나올지 보장되지 않는다</a:t>
            </a:r>
          </a:p>
          <a:p>
            <a:r>
              <a:rPr sz="1600" b="0">
                <a:solidFill>
                  <a:srgbClr val="5A6672"/>
                </a:solidFill>
                <a:latin typeface="Malgun Gothic"/>
              </a:rPr>
              <a:t>    –  정렬 기준이 없으면 실행계획이 바뀔 때 결과 집합도 달라질 수 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전통적 방법 — ROWNUM 중첩 인라인 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OFFSET/FETCH가 없던 시절 Oracle에서 페이징을 구현하던 방법 (구조 참고용)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인라인 뷰를 두 겹으로 감싸고 ROWNUM을 비교하는 전통적 패턴</a:t>
            </a:r>
          </a:p>
          <a:p>
            <a:r>
              <a:rPr sz="1250" b="0">
                <a:solidFill>
                  <a:srgbClr val="E6E6E6"/>
                </a:solidFill>
                <a:latin typeface="Consolas"/>
              </a:rPr>
              <a:t>SELECT claim_id, receipt_date</a:t>
            </a:r>
          </a:p>
          <a:p>
            <a:r>
              <a:rPr sz="1250" b="0">
                <a:solidFill>
                  <a:srgbClr val="E6E6E6"/>
                </a:solidFill>
                <a:latin typeface="Consolas"/>
              </a:rPr>
              <a:t>FROM   ( SELECT a.*, ROWNUM AS rn</a:t>
            </a:r>
          </a:p>
          <a:p>
            <a:r>
              <a:rPr sz="1250" b="0">
                <a:solidFill>
                  <a:srgbClr val="E6E6E6"/>
                </a:solidFill>
                <a:latin typeface="Consolas"/>
              </a:rPr>
              <a:t>         FROM   ( SELECT claim_id, receipt_date</a:t>
            </a:r>
          </a:p>
          <a:p>
            <a:r>
              <a:rPr sz="1250" b="0">
                <a:solidFill>
                  <a:srgbClr val="E6E6E6"/>
                </a:solidFill>
                <a:latin typeface="Consolas"/>
              </a:rPr>
              <a:t>                  FROM   medical_claims</a:t>
            </a:r>
          </a:p>
          <a:p>
            <a:r>
              <a:rPr sz="1250" b="0">
                <a:solidFill>
                  <a:srgbClr val="E6E6E6"/>
                </a:solidFill>
                <a:latin typeface="Consolas"/>
              </a:rPr>
              <a:t>                  ORDER  BY receipt_date DESC ) a</a:t>
            </a:r>
          </a:p>
          <a:p>
            <a:r>
              <a:rPr sz="1250" b="0">
                <a:solidFill>
                  <a:srgbClr val="E6E6E6"/>
                </a:solidFill>
                <a:latin typeface="Consolas"/>
              </a:rPr>
              <a:t>         WHERE  ROWNUM &lt;= :끝행 )</a:t>
            </a:r>
          </a:p>
          <a:p>
            <a:r>
              <a:rPr sz="1250" b="0">
                <a:solidFill>
                  <a:srgbClr val="E6E6E6"/>
                </a:solidFill>
                <a:latin typeface="Consolas"/>
              </a:rPr>
              <a:t>WHERE  rn &gt; :시작행;</a:t>
            </a:r>
          </a:p>
          <a:p>
            <a:r>
              <a:rPr sz="1250" b="0">
                <a:solidFill>
                  <a:srgbClr val="E6E6E6"/>
                </a:solidFill>
                <a:latin typeface="Consolas"/>
              </a:rPr>
              <a:t> </a:t>
            </a:r>
          </a:p>
          <a:p>
            <a:r>
              <a:rPr sz="1250" b="0">
                <a:solidFill>
                  <a:srgbClr val="7EC699"/>
                </a:solidFill>
                <a:latin typeface="Consolas"/>
              </a:rPr>
              <a:t>-- 가장 안쪽 뷰: 정렬만 담당한다</a:t>
            </a:r>
          </a:p>
          <a:p>
            <a:r>
              <a:rPr sz="1250" b="0">
                <a:solidFill>
                  <a:srgbClr val="7EC699"/>
                </a:solidFill>
                <a:latin typeface="Consolas"/>
              </a:rPr>
              <a:t>-- 가운데 뷰: 정렬된 결과에 ROWNUM으로 번호를 매기고 끝행까지 자른다</a:t>
            </a:r>
          </a:p>
          <a:p>
            <a:r>
              <a:rPr sz="1250" b="0">
                <a:solidFill>
                  <a:srgbClr val="7EC699"/>
                </a:solidFill>
                <a:latin typeface="Consolas"/>
              </a:rPr>
              <a:t>-- 바깥 쿼리: 시작행 이전을 버린다</a:t>
            </a:r>
          </a:p>
          <a:p>
            <a:r>
              <a:rPr sz="1250" b="0">
                <a:solidFill>
                  <a:srgbClr val="E6E6E6"/>
                </a:solidFill>
                <a:latin typeface="Consolas"/>
              </a:rPr>
              <a:t> </a:t>
            </a:r>
          </a:p>
          <a:p>
            <a:r>
              <a:rPr sz="1250" b="0">
                <a:solidFill>
                  <a:srgbClr val="7EC699"/>
                </a:solidFill>
                <a:latin typeface="Consolas"/>
              </a:rPr>
              <a:t>-- ROWNUM은 행이 확정되는 시점에 매겨지므로 ORDER BY보다 먼저 계산된다</a:t>
            </a:r>
          </a:p>
          <a:p>
            <a:r>
              <a:rPr sz="1250" b="0">
                <a:solidFill>
                  <a:srgbClr val="7EC699"/>
                </a:solidFill>
                <a:latin typeface="Consolas"/>
              </a:rPr>
              <a:t>-- 그래서 정렬을 안쪽 뷰로 한 번 감싸 두지 않으면 엉뚱한 결과가 나온다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ROWNUM 방식과 OFFSET/FETCH의 관계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표현은 다르지만 요구사항은 같다</a:t>
            </a:r>
          </a:p>
          <a:p>
            <a:r>
              <a:rPr sz="1600" b="0">
                <a:solidFill>
                  <a:srgbClr val="5A6672"/>
                </a:solidFill>
                <a:latin typeface="Malgun Gothic"/>
              </a:rPr>
              <a:t>    –  둘 다 "정렬된 결과에서 몇 번째부터 몇 번째까지"를 뽑는 구조</a:t>
            </a:r>
          </a:p>
          <a:p>
            <a:r>
              <a:rPr sz="1600" b="0">
                <a:solidFill>
                  <a:srgbClr val="5A6672"/>
                </a:solidFill>
                <a:latin typeface="Malgun Gothic"/>
              </a:rPr>
              <a:t>    –  ROWNUM 중첩 뷰는 그 구조를 사람이 직접 손으로 짠 것에 가깝다</a:t>
            </a:r>
          </a:p>
          <a:p>
            <a:r>
              <a:rPr sz="1800" b="0">
                <a:solidFill>
                  <a:srgbClr val="202830"/>
                </a:solidFill>
                <a:latin typeface="Malgun Gothic"/>
              </a:rPr>
              <a:t>•  OFFSET/FETCH는 그 구조를 문법으로 흡수한 것</a:t>
            </a:r>
          </a:p>
          <a:p>
            <a:r>
              <a:rPr sz="1600" b="0">
                <a:solidFill>
                  <a:srgbClr val="5A6672"/>
                </a:solidFill>
                <a:latin typeface="Malgun Gothic"/>
              </a:rPr>
              <a:t>    –  중첩 뷰를 직접 쓰지 않아도 되므로 SQL이 짧고 오작성 위험이 줄어든다</a:t>
            </a:r>
          </a:p>
          <a:p>
            <a:r>
              <a:rPr sz="1600" b="0">
                <a:solidFill>
                  <a:srgbClr val="5A6672"/>
                </a:solidFill>
                <a:latin typeface="Malgun Gothic"/>
              </a:rPr>
              <a:t>    –  내부적으로는 여전히 순번을 매기는 작업이 수행된다 — 11.3에서 확인</a:t>
            </a:r>
          </a:p>
          <a:p>
            <a:r>
              <a:rPr sz="1800" b="0">
                <a:solidFill>
                  <a:srgbClr val="202830"/>
                </a:solidFill>
                <a:latin typeface="Malgun Gothic"/>
              </a:rPr>
              <a:t>•  그래서 문법을 바꾼다고 성능이 저절로 좋아지지 않는다</a:t>
            </a:r>
          </a:p>
          <a:p>
            <a:r>
              <a:rPr sz="1600" b="0">
                <a:solidFill>
                  <a:srgbClr val="5A6672"/>
                </a:solidFill>
                <a:latin typeface="Malgun Gothic"/>
              </a:rPr>
              <a:t>    –  "FETCH FIRST로 바꿨는데 왜 안 빨라지나"는 흔한 오해</a:t>
            </a:r>
          </a:p>
          <a:p>
            <a:r>
              <a:rPr sz="1600" b="0">
                <a:solidFill>
                  <a:srgbClr val="5A6672"/>
                </a:solidFill>
                <a:latin typeface="Malgun Gothic"/>
              </a:rPr>
              <a:t>    –  비용을 결정하는 것은 문법이 아니라 실행계획에 나타나는 오퍼레이션이다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Keyset Pagination — 값으로 접근한다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"몇 번째부터"가 아니라 "마지막으로 본 값보다 작은 것부터"</a:t>
            </a:r>
          </a:p>
          <a:p>
            <a:r>
              <a:rPr sz="1600" b="0">
                <a:solidFill>
                  <a:srgbClr val="5A6672"/>
                </a:solidFill>
                <a:latin typeface="Malgun Gothic"/>
              </a:rPr>
              <a:t>    –  직전 페이지의 마지막 행 값을 커서처럼 들고 다니며 다음 페이지를 요청</a:t>
            </a:r>
          </a:p>
          <a:p>
            <a:r>
              <a:rPr sz="1600" b="0">
                <a:solidFill>
                  <a:srgbClr val="5A6672"/>
                </a:solidFill>
                <a:latin typeface="Malgun Gothic"/>
              </a:rPr>
              <a:t>    –  예: WHERE receipt_date &lt; :마지막으로_본_날짜</a:t>
            </a:r>
          </a:p>
          <a:p>
            <a:r>
              <a:rPr sz="1800" b="0">
                <a:solidFill>
                  <a:srgbClr val="202830"/>
                </a:solidFill>
                <a:latin typeface="Malgun Gothic"/>
              </a:rPr>
              <a:t>•  순번을 셀 필요가 없어진다는 점이 핵심이다</a:t>
            </a:r>
          </a:p>
          <a:p>
            <a:r>
              <a:rPr sz="1600" b="0">
                <a:solidFill>
                  <a:srgbClr val="5A6672"/>
                </a:solidFill>
                <a:latin typeface="Malgun Gothic"/>
              </a:rPr>
              <a:t>    –  조건이 값 비교이므로 인덱스에서 그 지점을 바로 찾아 들어갈 수 있다</a:t>
            </a:r>
          </a:p>
          <a:p>
            <a:r>
              <a:rPr sz="1600" b="0">
                <a:solidFill>
                  <a:srgbClr val="5A6672"/>
                </a:solidFill>
                <a:latin typeface="Malgun Gothic"/>
              </a:rPr>
              <a:t>    –  페이지 깊이와 무관하게 시작점을 한 번에 특정할 수 있다</a:t>
            </a:r>
          </a:p>
          <a:p>
            <a:r>
              <a:rPr sz="1800" b="0">
                <a:solidFill>
                  <a:srgbClr val="202830"/>
                </a:solidFill>
                <a:latin typeface="Malgun Gothic"/>
              </a:rPr>
              <a:t>•  다른 이름으로도 불린다</a:t>
            </a:r>
          </a:p>
          <a:p>
            <a:r>
              <a:rPr sz="1600" b="0">
                <a:solidFill>
                  <a:srgbClr val="5A6672"/>
                </a:solidFill>
                <a:latin typeface="Malgun Gothic"/>
              </a:rPr>
              <a:t>    –  커서 기반 페이징 · Seek Method — 부르는 이름은 달라도 구조는 같다</a:t>
            </a:r>
          </a:p>
          <a:p>
            <a:r>
              <a:rPr sz="1800" b="0">
                <a:solidFill>
                  <a:srgbClr val="202830"/>
                </a:solidFill>
                <a:latin typeface="Malgun Gothic"/>
              </a:rPr>
              <a:t>•  대신 잃는 것이 있다 — 11.7에서 다룬다</a:t>
            </a:r>
          </a:p>
          <a:p>
            <a:r>
              <a:rPr sz="1600" b="0">
                <a:solidFill>
                  <a:srgbClr val="5A6672"/>
                </a:solidFill>
                <a:latin typeface="Malgun Gothic"/>
              </a:rPr>
              <a:t>    –  임의의 페이지 번호로 바로 점프하는 기능을 포기해야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가지 접근을 한 화면에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ROWNUM 중첩 인라인 뷰</a:t>
            </a:r>
          </a:p>
          <a:p>
            <a:r>
              <a:rPr sz="1600" b="0">
                <a:solidFill>
                  <a:srgbClr val="5A6672"/>
                </a:solidFill>
                <a:latin typeface="Malgun Gothic"/>
              </a:rPr>
              <a:t>    –  접근 기준은 순번 · 표현은 수동 · 오작성 위험이 상대적으로 크다</a:t>
            </a:r>
          </a:p>
          <a:p>
            <a:r>
              <a:rPr sz="1800" b="0">
                <a:solidFill>
                  <a:srgbClr val="202830"/>
                </a:solidFill>
                <a:latin typeface="Malgun Gothic"/>
              </a:rPr>
              <a:t>•  OFFSET n ROWS FETCH NEXT m ROWS ONLY</a:t>
            </a:r>
          </a:p>
          <a:p>
            <a:r>
              <a:rPr sz="1600" b="0">
                <a:solidFill>
                  <a:srgbClr val="5A6672"/>
                </a:solidFill>
                <a:latin typeface="Malgun Gothic"/>
              </a:rPr>
              <a:t>    –  접근 기준은 순번 · 표현은 문법으로 흡수 · 페이지 번호 UI에 그대로 대응</a:t>
            </a:r>
          </a:p>
          <a:p>
            <a:r>
              <a:rPr sz="1600" b="0">
                <a:solidFill>
                  <a:srgbClr val="5A6672"/>
                </a:solidFill>
                <a:latin typeface="Malgun Gothic"/>
              </a:rPr>
              <a:t>    –  19c에서 사용하는 표준 형태이며 이 장의 실측 대상이다</a:t>
            </a:r>
          </a:p>
          <a:p>
            <a:r>
              <a:rPr sz="1800" b="0">
                <a:solidFill>
                  <a:srgbClr val="202830"/>
                </a:solidFill>
                <a:latin typeface="Malgun Gothic"/>
              </a:rPr>
              <a:t>•  Keyset Pagination</a:t>
            </a:r>
          </a:p>
          <a:p>
            <a:r>
              <a:rPr sz="1600" b="0">
                <a:solidFill>
                  <a:srgbClr val="5A6672"/>
                </a:solidFill>
                <a:latin typeface="Malgun Gothic"/>
              </a:rPr>
              <a:t>    –  접근 기준은 값 · 다음 페이지의 시작점을 조건으로 표현</a:t>
            </a:r>
          </a:p>
          <a:p>
            <a:r>
              <a:rPr sz="1600" b="0">
                <a:solidFill>
                  <a:srgbClr val="5A6672"/>
                </a:solidFill>
                <a:latin typeface="Malgun Gothic"/>
              </a:rPr>
              <a:t>    –  순차 이동 UI에 적합하고 임의 페이지 점프에는 부적합하다</a:t>
            </a:r>
          </a:p>
          <a:p>
            <a:r>
              <a:rPr sz="1800" b="0">
                <a:solidFill>
                  <a:srgbClr val="202830"/>
                </a:solidFill>
                <a:latin typeface="Malgun Gothic"/>
              </a:rPr>
              <a:t>•  앞의 두 방식은 접근 기준이 같으므로 비용 구조도 같은 계열이다</a:t>
            </a:r>
          </a:p>
          <a:p>
            <a:r>
              <a:rPr sz="1600" b="0">
                <a:solidFill>
                  <a:srgbClr val="5A6672"/>
                </a:solidFill>
                <a:latin typeface="Malgun Gothic"/>
              </a:rPr>
              <a:t>    –  진짜 갈림길은 문법이 아니라 "순번이냐 값이냐"에서 갈린다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OFFSET이 깊어지면 왜 느려지는가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ROW_NUMBER() 변환과 순위 매김의 범위</a:t>
            </a:r>
          </a:p>
          <a:p>
            <a:r>
              <a:rPr sz="1600" b="0">
                <a:solidFill>
                  <a:srgbClr val="C5CED6"/>
                </a:solidFill>
                <a:latin typeface="Malgun Gothic"/>
              </a:rPr>
              <a:t>•  Buffers에 안 나타나는 CPU·메모리 비용</a:t>
            </a:r>
          </a:p>
          <a:p>
            <a:r>
              <a:rPr sz="1600" b="0">
                <a:solidFill>
                  <a:srgbClr val="C5CED6"/>
                </a:solidFill>
                <a:latin typeface="Malgun Gothic"/>
              </a:rPr>
              <a:t>•  WINDOW SORT PUSHED RANK와 NOSORT STOPKEY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OFFSET을 처리하려면 순번이 필요하다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OFFSET n ROWS는 "정렬된 순서에서 n번째"라는 뜻이다</a:t>
            </a:r>
          </a:p>
          <a:p>
            <a:r>
              <a:rPr sz="1600" b="0">
                <a:solidFill>
                  <a:srgbClr val="5A6672"/>
                </a:solidFill>
                <a:latin typeface="Malgun Gothic"/>
              </a:rPr>
              <a:t>    –  따라서 Oracle은 각 행이 몇 번째인지를 알아야 조건을 판정할 수 있다</a:t>
            </a:r>
          </a:p>
          <a:p>
            <a:r>
              <a:rPr sz="1600" b="0">
                <a:solidFill>
                  <a:srgbClr val="5A6672"/>
                </a:solidFill>
                <a:latin typeface="Malgun Gothic"/>
              </a:rPr>
              <a:t>    –  내부적으로 ROW_NUMBER() OVER (ORDER BY ...) 형태로 변환된다</a:t>
            </a:r>
          </a:p>
          <a:p>
            <a:r>
              <a:rPr sz="1600" b="0">
                <a:solidFill>
                  <a:srgbClr val="5A6672"/>
                </a:solidFill>
                <a:latin typeface="Malgun Gothic"/>
              </a:rPr>
              <a:t>    –  변환 흔적은 실행계획의 Predicate Information에서 확인할 수 있다</a:t>
            </a:r>
          </a:p>
          <a:p>
            <a:r>
              <a:rPr sz="1800" b="0">
                <a:solidFill>
                  <a:srgbClr val="202830"/>
                </a:solidFill>
                <a:latin typeface="Malgun Gothic"/>
              </a:rPr>
              <a:t>•  순번은 앞에서부터 차례로만 매길 수 있다</a:t>
            </a:r>
          </a:p>
          <a:p>
            <a:r>
              <a:rPr sz="1600" b="0">
                <a:solidFill>
                  <a:srgbClr val="5A6672"/>
                </a:solidFill>
                <a:latin typeface="Malgun Gothic"/>
              </a:rPr>
              <a:t>    –  중간부터 세기 시작할 방법이 없으므로 원칙적으로 처음부터 세야 한다</a:t>
            </a:r>
          </a:p>
          <a:p>
            <a:r>
              <a:rPr sz="1600" b="0">
                <a:solidFill>
                  <a:srgbClr val="5A6672"/>
                </a:solidFill>
                <a:latin typeface="Malgun Gothic"/>
              </a:rPr>
              <a:t>    –  OFFSET n에 FETCH m이면 최소한 n+m번째 행까지 순번이 필요하다</a:t>
            </a:r>
          </a:p>
          <a:p>
            <a:r>
              <a:rPr sz="1800" b="0">
                <a:solidFill>
                  <a:srgbClr val="202830"/>
                </a:solidFill>
                <a:latin typeface="Malgun Gothic"/>
              </a:rPr>
              <a:t>•  그래서 OFFSET이 커질수록 "순서를 매겨야 하는 범위"가 커진다</a:t>
            </a:r>
          </a:p>
          <a:p>
            <a:r>
              <a:rPr sz="1600" b="0">
                <a:solidFill>
                  <a:srgbClr val="5A6672"/>
                </a:solidFill>
                <a:latin typeface="Malgun Gothic"/>
              </a:rPr>
              <a:t>    –  건너뛰는 행이라고 해서 공짜로 건너뛰는 것이 아니다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그 비용은 어디에 나타나는가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읽어야 하는 테이블 블록 수는 OFFSET과 무관하다</a:t>
            </a:r>
          </a:p>
          <a:p>
            <a:r>
              <a:rPr sz="1600" b="0">
                <a:solidFill>
                  <a:srgbClr val="5A6672"/>
                </a:solidFill>
                <a:latin typeface="Malgun Gothic"/>
              </a:rPr>
              <a:t>    –  전체를 한 번 스캔하는 것은 OFFSET 값이 얼마든 동일하기 때문</a:t>
            </a:r>
          </a:p>
          <a:p>
            <a:r>
              <a:rPr sz="1600" b="0">
                <a:solidFill>
                  <a:srgbClr val="5A6672"/>
                </a:solidFill>
                <a:latin typeface="Malgun Gothic"/>
              </a:rPr>
              <a:t>    –  따라서 Buffers는 OFFSET 깊이에 따라 거의 변하지 않는다</a:t>
            </a:r>
          </a:p>
          <a:p>
            <a:r>
              <a:rPr sz="1800" b="0">
                <a:solidFill>
                  <a:srgbClr val="202830"/>
                </a:solidFill>
                <a:latin typeface="Malgun Gothic"/>
              </a:rPr>
              <a:t>•  늘어나는 것은 정렬·순위 매김 작업량이다</a:t>
            </a:r>
          </a:p>
          <a:p>
            <a:r>
              <a:rPr sz="1600" b="0">
                <a:solidFill>
                  <a:srgbClr val="5A6672"/>
                </a:solidFill>
                <a:latin typeface="Malgun Gothic"/>
              </a:rPr>
              <a:t>    –  CPU 시간 — 실행계획의 A-Time에 나타난다</a:t>
            </a:r>
          </a:p>
          <a:p>
            <a:r>
              <a:rPr sz="1600" b="0">
                <a:solidFill>
                  <a:srgbClr val="5A6672"/>
                </a:solidFill>
                <a:latin typeface="Malgun Gothic"/>
              </a:rPr>
              <a:t>    –  작업 메모리 — OMem · 1Mem · Used-Mem에 나타난다</a:t>
            </a:r>
          </a:p>
          <a:p>
            <a:r>
              <a:rPr sz="1800" b="0">
                <a:solidFill>
                  <a:srgbClr val="202830"/>
                </a:solidFill>
                <a:latin typeface="Malgun Gothic"/>
              </a:rPr>
              <a:t>•  ch11에서 확인한 함정이 여기서 그대로 재현된다</a:t>
            </a:r>
          </a:p>
          <a:p>
            <a:r>
              <a:rPr sz="1600" b="0">
                <a:solidFill>
                  <a:srgbClr val="5A6672"/>
                </a:solidFill>
                <a:latin typeface="Malgun Gothic"/>
              </a:rPr>
              <a:t>    –  ch11는 UNION의 SORT UNIQUE, 이 장은 순위 매김 정렬</a:t>
            </a:r>
          </a:p>
          <a:p>
            <a:r>
              <a:rPr sz="1600" b="0">
                <a:solidFill>
                  <a:srgbClr val="5A6672"/>
                </a:solidFill>
                <a:latin typeface="Malgun Gothic"/>
              </a:rPr>
              <a:t>    –  둘 다 이미 메모리에 올린 데이터를 다루므로 추가 블록 접근이 없다</a:t>
            </a:r>
          </a:p>
          <a:p>
            <a:r>
              <a:rPr sz="1800" b="0">
                <a:solidFill>
                  <a:srgbClr val="202830"/>
                </a:solidFill>
                <a:latin typeface="Malgun Gothic"/>
              </a:rPr>
              <a:t>•  결론 — 정렬 계열 연산이 있으면 Buffers만으로 판단하지 않는다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WINDOW SORT PUSHED RANK</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전체 결과에 순위를 매기는 오퍼레이션</a:t>
            </a:r>
          </a:p>
          <a:p>
            <a:r>
              <a:rPr sz="1600" b="0">
                <a:solidFill>
                  <a:srgbClr val="5A6672"/>
                </a:solidFill>
                <a:latin typeface="Malgun Gothic"/>
              </a:rPr>
              <a:t>    –  ROW_NUMBER()로 변환된 순번 계산이 이 오퍼레이션에서 수행된다</a:t>
            </a:r>
          </a:p>
          <a:p>
            <a:r>
              <a:rPr sz="1600" b="0">
                <a:solidFill>
                  <a:srgbClr val="5A6672"/>
                </a:solidFill>
                <a:latin typeface="Malgun Gothic"/>
              </a:rPr>
              <a:t>    –  PUSHED RANK — 순위 조건을 정렬 단계 안쪽으로 밀어 넣었다는 뜻</a:t>
            </a:r>
          </a:p>
          <a:p>
            <a:r>
              <a:rPr sz="1800" b="0">
                <a:solidFill>
                  <a:srgbClr val="202830"/>
                </a:solidFill>
                <a:latin typeface="Malgun Gothic"/>
              </a:rPr>
              <a:t>•  OFFSET이 커질수록 이 오퍼레이션의 부담이 커진다</a:t>
            </a:r>
          </a:p>
          <a:p>
            <a:r>
              <a:rPr sz="1600" b="0">
                <a:solidFill>
                  <a:srgbClr val="5A6672"/>
                </a:solidFill>
                <a:latin typeface="Malgun Gothic"/>
              </a:rPr>
              <a:t>    –  순위를 매겨야 하는 행 수 자체가 OFFSET에 비례해 늘어나기 때문</a:t>
            </a:r>
          </a:p>
          <a:p>
            <a:r>
              <a:rPr sz="1600" b="0">
                <a:solidFill>
                  <a:srgbClr val="5A6672"/>
                </a:solidFill>
                <a:latin typeface="Malgun Gothic"/>
              </a:rPr>
              <a:t>    –  정렬된 상태를 유지해야 하므로 작업 메모리 사용량도 함께 커진다</a:t>
            </a:r>
          </a:p>
          <a:p>
            <a:r>
              <a:rPr sz="1800" b="0">
                <a:solidFill>
                  <a:srgbClr val="202830"/>
                </a:solidFill>
                <a:latin typeface="Malgun Gothic"/>
              </a:rPr>
              <a:t>•  이 오퍼레이션이 보이면 페이지 깊이를 반드시 확인한다</a:t>
            </a:r>
          </a:p>
          <a:p>
            <a:r>
              <a:rPr sz="1600" b="0">
                <a:solidFill>
                  <a:srgbClr val="5A6672"/>
                </a:solidFill>
                <a:latin typeface="Malgun Gothic"/>
              </a:rPr>
              <a:t>    –  1페이지 기준 실행계획만 보고 넘어가면 문제를 놓치게 된다</a:t>
            </a:r>
          </a:p>
          <a:p>
            <a:r>
              <a:rPr sz="1600" b="0">
                <a:solidFill>
                  <a:srgbClr val="5A6672"/>
                </a:solidFill>
                <a:latin typeface="Malgun Gothic"/>
              </a:rPr>
              <a:t>    –  실무에서는 가장 깊은 페이지를 기준으로도 한 번 측정해 보는 것이 안전하다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WINDOW NOSORT STOPKEY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이름 자체가 두 가지 이득을 말해 준다</a:t>
            </a:r>
          </a:p>
          <a:p>
            <a:r>
              <a:rPr sz="1600" b="0">
                <a:solidFill>
                  <a:srgbClr val="5A6672"/>
                </a:solidFill>
                <a:latin typeface="Malgun Gothic"/>
              </a:rPr>
              <a:t>    –  NOSORT — 입력이 이미 정렬된 순서로 들어오므로 정렬하지 않는다</a:t>
            </a:r>
          </a:p>
          <a:p>
            <a:r>
              <a:rPr sz="1600" b="0">
                <a:solidFill>
                  <a:srgbClr val="5A6672"/>
                </a:solidFill>
                <a:latin typeface="Malgun Gothic"/>
              </a:rPr>
              <a:t>    –  STOPKEY — 필요한 건수를 채우는 즉시 더 읽지 않고 멈춘다</a:t>
            </a:r>
          </a:p>
          <a:p>
            <a:r>
              <a:rPr sz="1800" b="0">
                <a:solidFill>
                  <a:srgbClr val="202830"/>
                </a:solidFill>
                <a:latin typeface="Malgun Gothic"/>
              </a:rPr>
              <a:t>•  NOSORT가 가능한 조건</a:t>
            </a:r>
          </a:p>
          <a:p>
            <a:r>
              <a:rPr sz="1600" b="0">
                <a:solidFill>
                  <a:srgbClr val="5A6672"/>
                </a:solidFill>
                <a:latin typeface="Malgun Gothic"/>
              </a:rPr>
              <a:t>    –  정렬 기준 컬럼의 인덱스를 순서대로 따라 읽는 계획이 선택된 경우</a:t>
            </a:r>
          </a:p>
          <a:p>
            <a:r>
              <a:rPr sz="1600" b="0">
                <a:solidFill>
                  <a:srgbClr val="5A6672"/>
                </a:solidFill>
                <a:latin typeface="Malgun Gothic"/>
              </a:rPr>
              <a:t>    –  인덱스가 이미 정렬 순서를 제공하므로 별도 정렬 단계가 사라진다</a:t>
            </a:r>
          </a:p>
          <a:p>
            <a:r>
              <a:rPr sz="1800" b="0">
                <a:solidFill>
                  <a:srgbClr val="202830"/>
                </a:solidFill>
                <a:latin typeface="Malgun Gothic"/>
              </a:rPr>
              <a:t>•  STOPKEY가 가능한 조건</a:t>
            </a:r>
          </a:p>
          <a:p>
            <a:r>
              <a:rPr sz="1600" b="0">
                <a:solidFill>
                  <a:srgbClr val="5A6672"/>
                </a:solidFill>
                <a:latin typeface="Malgun Gothic"/>
              </a:rPr>
              <a:t>    –  앞에서부터 필요한 만큼만 읽으면 결과가 확정되는 구조일 것</a:t>
            </a:r>
          </a:p>
          <a:p>
            <a:r>
              <a:rPr sz="1600" b="0">
                <a:solidFill>
                  <a:srgbClr val="5A6672"/>
                </a:solidFill>
                <a:latin typeface="Malgun Gothic"/>
              </a:rPr>
              <a:t>    –  전체를 다 봐야 순위가 확정되는 구조에서는 중단할 수 없다</a:t>
            </a:r>
          </a:p>
          <a:p>
            <a:r>
              <a:rPr sz="1800" b="0">
                <a:solidFill>
                  <a:srgbClr val="202830"/>
                </a:solidFill>
                <a:latin typeface="Malgun Gothic"/>
              </a:rPr>
              <a:t>•  ch03의 Q4, ch12의 좁은 범위 사례와 같은 원리다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부분범위 처리 — 이 장의 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전체범위 처리 — 결과 전체를 만들어 놓고 그중 일부를 준다</a:t>
            </a:r>
          </a:p>
          <a:p>
            <a:r>
              <a:rPr sz="1600" b="0">
                <a:solidFill>
                  <a:srgbClr val="5A6672"/>
                </a:solidFill>
                <a:latin typeface="Malgun Gothic"/>
              </a:rPr>
              <a:t>    –  전체를 읽고 정렬하고 순위를 매긴 뒤 해당 구간을 잘라 내는 방식</a:t>
            </a:r>
          </a:p>
          <a:p>
            <a:r>
              <a:rPr sz="1600" b="0">
                <a:solidFill>
                  <a:srgbClr val="5A6672"/>
                </a:solidFill>
                <a:latin typeface="Malgun Gothic"/>
              </a:rPr>
              <a:t>    –  앞의 몇 건만 필요해도 마지막 행까지의 작업이 선행되어야 한다</a:t>
            </a:r>
          </a:p>
          <a:p>
            <a:r>
              <a:rPr sz="1800" b="0">
                <a:solidFill>
                  <a:srgbClr val="202830"/>
                </a:solidFill>
                <a:latin typeface="Malgun Gothic"/>
              </a:rPr>
              <a:t>•  부분범위 처리 — 필요한 만큼만 만들고 멈춘다</a:t>
            </a:r>
          </a:p>
          <a:p>
            <a:r>
              <a:rPr sz="1600" b="0">
                <a:solidFill>
                  <a:srgbClr val="5A6672"/>
                </a:solidFill>
                <a:latin typeface="Malgun Gothic"/>
              </a:rPr>
              <a:t>    –  요청한 건수를 채우는 순간 남은 데이터는 건드리지 않는다</a:t>
            </a:r>
          </a:p>
          <a:p>
            <a:r>
              <a:rPr sz="1600" b="0">
                <a:solidFill>
                  <a:srgbClr val="5A6672"/>
                </a:solidFill>
                <a:latin typeface="Malgun Gothic"/>
              </a:rPr>
              <a:t>    –  실행계획에서는 STOPKEY 계열 오퍼레이션으로 드러난다</a:t>
            </a:r>
          </a:p>
          <a:p>
            <a:r>
              <a:rPr sz="1800" b="0">
                <a:solidFill>
                  <a:srgbClr val="202830"/>
                </a:solidFill>
                <a:latin typeface="Malgun Gothic"/>
              </a:rPr>
              <a:t>•  페이징은 본질적으로 부분범위 처리가 어울리는 요구사항이다</a:t>
            </a:r>
          </a:p>
          <a:p>
            <a:r>
              <a:rPr sz="1600" b="0">
                <a:solidFill>
                  <a:srgbClr val="5A6672"/>
                </a:solidFill>
                <a:latin typeface="Malgun Gothic"/>
              </a:rPr>
              <a:t>    –  화면에 20건만 보여 주는데 30만 건을 정렬할 이유가 없다</a:t>
            </a:r>
          </a:p>
          <a:p>
            <a:r>
              <a:rPr sz="1600" b="0">
                <a:solidFill>
                  <a:srgbClr val="5A6672"/>
                </a:solidFill>
                <a:latin typeface="Malgun Gothic"/>
              </a:rPr>
              <a:t>    –  그런데 OFFSET 방식은 순번 때문에 전체범위 처리로 끌려간다</a:t>
            </a:r>
          </a:p>
          <a:p>
            <a:r>
              <a:rPr sz="1800" b="0">
                <a:solidFill>
                  <a:srgbClr val="202830"/>
                </a:solidFill>
                <a:latin typeface="Malgun Gothic"/>
              </a:rPr>
              <a:t>•  이 장의 튜닝은 요구사항을 부분범위 처리로 되돌리는 작업이다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청구 목록 페이징 조회</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실습용 인덱스 생성 — IX_RECEIPT</a:t>
            </a:r>
          </a:p>
          <a:p>
            <a:r>
              <a:rPr sz="1600" b="0">
                <a:solidFill>
                  <a:srgbClr val="C5CED6"/>
                </a:solidFill>
                <a:latin typeface="Malgun Gothic"/>
              </a:rPr>
              <a:t>•  OFFSET 방식 SQL</a:t>
            </a:r>
          </a:p>
          <a:p>
            <a:r>
              <a:rPr sz="1600" b="0">
                <a:solidFill>
                  <a:srgbClr val="C5CED6"/>
                </a:solidFill>
                <a:latin typeface="Malgun Gothic"/>
              </a:rPr>
              <a:t>•  Keyset 방식 SQL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관찰 소재 정리</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요구사항 — 청구 목록을 접수일 내림차순으로 20건씩 페이징 조회</a:t>
            </a:r>
          </a:p>
          <a:p>
            <a:r>
              <a:rPr sz="1600" b="0">
                <a:solidFill>
                  <a:srgbClr val="5A6672"/>
                </a:solidFill>
                <a:latin typeface="Malgun Gothic"/>
              </a:rPr>
              <a:t>    –  대상 테이블은 MEDICAL_CLAIMS, 정렬 기준은 receipt_date</a:t>
            </a:r>
          </a:p>
          <a:p>
            <a:r>
              <a:rPr sz="1600" b="0">
                <a:solidFill>
                  <a:srgbClr val="5A6672"/>
                </a:solidFill>
                <a:latin typeface="Malgun Gothic"/>
              </a:rPr>
              <a:t>    –  조회 컬럼은 claim_id와 receipt_date 두 개</a:t>
            </a:r>
          </a:p>
          <a:p>
            <a:r>
              <a:rPr sz="1800" b="0">
                <a:solidFill>
                  <a:srgbClr val="202830"/>
                </a:solidFill>
                <a:latin typeface="Malgun Gothic"/>
              </a:rPr>
              <a:t>•  같은 요구사항을 두 방식으로 작성한다</a:t>
            </a:r>
          </a:p>
          <a:p>
            <a:r>
              <a:rPr sz="1600" b="0">
                <a:solidFill>
                  <a:srgbClr val="5A6672"/>
                </a:solidFill>
                <a:latin typeface="Malgun Gothic"/>
              </a:rPr>
              <a:t>    –  OFFSET 방식 — 페이지 번호로 접근한다</a:t>
            </a:r>
          </a:p>
          <a:p>
            <a:r>
              <a:rPr sz="1600" b="0">
                <a:solidFill>
                  <a:srgbClr val="5A6672"/>
                </a:solidFill>
                <a:latin typeface="Malgun Gothic"/>
              </a:rPr>
              <a:t>    –  Keyset 방식 — 마지막으로 본 값으로 접근한다</a:t>
            </a:r>
          </a:p>
          <a:p>
            <a:r>
              <a:rPr sz="1800" b="0">
                <a:solidFill>
                  <a:srgbClr val="202830"/>
                </a:solidFill>
                <a:latin typeface="Malgun Gothic"/>
              </a:rPr>
              <a:t>•  실습용 인덱스를 하나 만든다</a:t>
            </a:r>
          </a:p>
          <a:p>
            <a:r>
              <a:rPr sz="1600" b="0">
                <a:solidFill>
                  <a:srgbClr val="5A6672"/>
                </a:solidFill>
                <a:latin typeface="Malgun Gothic"/>
              </a:rPr>
              <a:t>    –  receipt_date 단일 컬럼 인덱스 — 정렬 순서를 제공하기 위한 것</a:t>
            </a:r>
          </a:p>
          <a:p>
            <a:r>
              <a:rPr sz="1600" b="0">
                <a:solidFill>
                  <a:srgbClr val="5A6672"/>
                </a:solidFill>
                <a:latin typeface="Malgun Gothic"/>
              </a:rPr>
              <a:t>    –  두 방식 모두 같은 인덱스가 존재하는 상태에서 측정한다</a:t>
            </a:r>
          </a:p>
          <a:p>
            <a:r>
              <a:rPr sz="1800" b="0">
                <a:solidFill>
                  <a:srgbClr val="202830"/>
                </a:solidFill>
                <a:latin typeface="Malgun Gothic"/>
              </a:rPr>
              <a:t>•  차시 종료 시 실습 인덱스는 반드시 삭제한다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실습용 인덱스는 IX_CH11_ 접두어로 만들고 차시 종료 시 DROP INDEX로 정리한다. MEDICAL_CLAIMS에는 PK_MEDICAL_CLAIMS만 남아야 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생성</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정렬 기준 컬럼에 인덱스를 만들어 두고 두 방식을 같은 조건에서 비교한다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접수일 단일 컬럼 인덱스</a:t>
            </a:r>
          </a:p>
          <a:p>
            <a:r>
              <a:rPr sz="1250" b="0">
                <a:solidFill>
                  <a:srgbClr val="E6E6E6"/>
                </a:solidFill>
                <a:latin typeface="Consolas"/>
              </a:rPr>
              <a:t>CREATE INDEX ix_receipt ON medical_claims(receipt_date);</a:t>
            </a:r>
          </a:p>
          <a:p>
            <a:r>
              <a:rPr sz="1250" b="0">
                <a:solidFill>
                  <a:srgbClr val="E6E6E6"/>
                </a:solidFill>
                <a:latin typeface="Consolas"/>
              </a:rPr>
              <a:t> </a:t>
            </a:r>
          </a:p>
          <a:p>
            <a:r>
              <a:rPr sz="1250" b="0">
                <a:solidFill>
                  <a:srgbClr val="7EC699"/>
                </a:solidFill>
                <a:latin typeface="Consolas"/>
              </a:rPr>
              <a:t>-- 이 인덱스의 역할은 두 가지다</a:t>
            </a:r>
          </a:p>
          <a:p>
            <a:r>
              <a:rPr sz="1250" b="0">
                <a:solidFill>
                  <a:srgbClr val="7EC699"/>
                </a:solidFill>
                <a:latin typeface="Consolas"/>
              </a:rPr>
              <a:t>--   1) receipt_date 조건으로 진입 지점을 찾을 수 있게 한다 (access)</a:t>
            </a:r>
          </a:p>
          <a:p>
            <a:r>
              <a:rPr sz="1250" b="0">
                <a:solidFill>
                  <a:srgbClr val="7EC699"/>
                </a:solidFill>
                <a:latin typeface="Consolas"/>
              </a:rPr>
              <a:t>--   2) receipt_date 순서를 그대로 제공한다 (정렬 생략의 전제)</a:t>
            </a:r>
          </a:p>
          <a:p>
            <a:r>
              <a:rPr sz="1250" b="0">
                <a:solidFill>
                  <a:srgbClr val="E6E6E6"/>
                </a:solidFill>
                <a:latin typeface="Consolas"/>
              </a:rPr>
              <a:t> </a:t>
            </a:r>
          </a:p>
          <a:p>
            <a:r>
              <a:rPr sz="1250" b="0">
                <a:solidFill>
                  <a:srgbClr val="7EC699"/>
                </a:solidFill>
                <a:latin typeface="Consolas"/>
              </a:rPr>
              <a:t>-- 인덱스가 있다는 사실만으로 옵티마이저가 반드시 쓰는 것은 아니다</a:t>
            </a:r>
          </a:p>
          <a:p>
            <a:r>
              <a:rPr sz="1250" b="0">
                <a:solidFill>
                  <a:srgbClr val="7EC699"/>
                </a:solidFill>
                <a:latin typeface="Consolas"/>
              </a:rPr>
              <a:t>-- 쓸 이유가 있어야 쓴다 — 그 이유가 무엇인지가 이 장의 관찰 대상</a:t>
            </a:r>
          </a:p>
          <a:p>
            <a:r>
              <a:rPr sz="1250" b="0">
                <a:solidFill>
                  <a:srgbClr val="E6E6E6"/>
                </a:solidFill>
                <a:latin typeface="Consolas"/>
              </a:rPr>
              <a:t> </a:t>
            </a:r>
          </a:p>
          <a:p>
            <a:r>
              <a:rPr sz="1250" b="0">
                <a:solidFill>
                  <a:srgbClr val="7EC699"/>
                </a:solidFill>
                <a:latin typeface="Consolas"/>
              </a:rPr>
              <a:t>-- 차시 종료 시 정리</a:t>
            </a:r>
          </a:p>
          <a:p>
            <a:r>
              <a:rPr sz="1250" b="0">
                <a:solidFill>
                  <a:srgbClr val="7EC699"/>
                </a:solidFill>
                <a:latin typeface="Consolas"/>
              </a:rPr>
              <a:t>-- DROP INDEX ix_receipt;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 방식 — 페이지 번호로 접근</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정렬된 결과에서 앞의 n건을 건너뛰고 그다음 20건을 가져온다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OFFSET 방식: 페이지 번호로 접근</a:t>
            </a:r>
          </a:p>
          <a:p>
            <a:r>
              <a:rPr sz="1250" b="0">
                <a:solidFill>
                  <a:srgbClr val="E6E6E6"/>
                </a:solidFill>
                <a:latin typeface="Consolas"/>
              </a:rPr>
              <a:t>SELECT claim_id, receipt_date FROM medical_claims</a:t>
            </a:r>
          </a:p>
          <a:p>
            <a:r>
              <a:rPr sz="1250" b="0">
                <a:solidFill>
                  <a:srgbClr val="E6E6E6"/>
                </a:solidFill>
                <a:latin typeface="Consolas"/>
              </a:rPr>
              <a:t>ORDER BY receipt_date DESC</a:t>
            </a:r>
          </a:p>
          <a:p>
            <a:r>
              <a:rPr sz="1250" b="0">
                <a:solidFill>
                  <a:srgbClr val="E6E6E6"/>
                </a:solidFill>
                <a:latin typeface="Consolas"/>
              </a:rPr>
              <a:t>OFFSET :페이지시작 ROWS FETCH NEXT 20 ROWS ONLY;</a:t>
            </a:r>
          </a:p>
          <a:p>
            <a:r>
              <a:rPr sz="1250" b="0">
                <a:solidFill>
                  <a:srgbClr val="E6E6E6"/>
                </a:solidFill>
                <a:latin typeface="Consolas"/>
              </a:rPr>
              <a:t> </a:t>
            </a:r>
          </a:p>
          <a:p>
            <a:r>
              <a:rPr sz="1250" b="0">
                <a:solidFill>
                  <a:srgbClr val="7EC699"/>
                </a:solidFill>
                <a:latin typeface="Consolas"/>
              </a:rPr>
              <a:t>-- 바인드 변수 :페이지시작 하나로 모든 페이지를 표현할 수 있다</a:t>
            </a:r>
          </a:p>
          <a:p>
            <a:r>
              <a:rPr sz="1250" b="0">
                <a:solidFill>
                  <a:srgbClr val="7EC699"/>
                </a:solidFill>
                <a:latin typeface="Consolas"/>
              </a:rPr>
              <a:t>-- 1페이지면 0, 2페이지면 20, p페이지면 (p-1)*20</a:t>
            </a:r>
          </a:p>
          <a:p>
            <a:r>
              <a:rPr sz="1250" b="0">
                <a:solidFill>
                  <a:srgbClr val="E6E6E6"/>
                </a:solidFill>
                <a:latin typeface="Consolas"/>
              </a:rPr>
              <a:t> </a:t>
            </a:r>
          </a:p>
          <a:p>
            <a:r>
              <a:rPr sz="1250" b="0">
                <a:solidFill>
                  <a:srgbClr val="7EC699"/>
                </a:solidFill>
                <a:latin typeface="Consolas"/>
              </a:rPr>
              <a:t>-- WHERE 절이 전혀 없다는 점에 주목할 것</a:t>
            </a:r>
          </a:p>
          <a:p>
            <a:r>
              <a:rPr sz="1250" b="0">
                <a:solidFill>
                  <a:srgbClr val="7EC699"/>
                </a:solidFill>
                <a:latin typeface="Consolas"/>
              </a:rPr>
              <a:t>-- 특정 값으로 인덱스를 찾아 들어갈 조건(access predicate)이 없다</a:t>
            </a:r>
          </a:p>
          <a:p>
            <a:r>
              <a:rPr sz="1250" b="0">
                <a:solidFill>
                  <a:srgbClr val="7EC699"/>
                </a:solidFill>
                <a:latin typeface="Consolas"/>
              </a:rPr>
              <a:t>-- 조건이라고는 "몇 번째부터 몇 번째까지"라는 순번 조건뿐이다</a:t>
            </a:r>
          </a:p>
          <a:p>
            <a:r>
              <a:rPr sz="1250" b="0">
                <a:solidFill>
                  <a:srgbClr val="E6E6E6"/>
                </a:solidFill>
                <a:latin typeface="Consolas"/>
              </a:rPr>
              <a:t> </a:t>
            </a:r>
          </a:p>
          <a:p>
            <a:r>
              <a:rPr sz="1250" b="0">
                <a:solidFill>
                  <a:srgbClr val="7EC699"/>
                </a:solidFill>
                <a:latin typeface="Consolas"/>
              </a:rPr>
              <a:t>-- 화면 개발 입장에서는 가장 편한 형태 — 페이지 번호를 그대로 넘기면 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Keyset 방식 — 마지막으로 본 값으로 접근</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직전 페이지의 마지막 접수일을 기준으로 그다음 20건을 가져온다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Keyset 방식: 마지막으로 본 값으로 접근</a:t>
            </a:r>
          </a:p>
          <a:p>
            <a:r>
              <a:rPr sz="1250" b="0">
                <a:solidFill>
                  <a:srgbClr val="E6E6E6"/>
                </a:solidFill>
                <a:latin typeface="Consolas"/>
              </a:rPr>
              <a:t>SELECT claim_id, receipt_date FROM medical_claims</a:t>
            </a:r>
          </a:p>
          <a:p>
            <a:r>
              <a:rPr sz="1250" b="0">
                <a:solidFill>
                  <a:srgbClr val="E6E6E6"/>
                </a:solidFill>
                <a:latin typeface="Consolas"/>
              </a:rPr>
              <a:t>WHERE receipt_date &lt; :마지막으로_본_날짜</a:t>
            </a:r>
          </a:p>
          <a:p>
            <a:r>
              <a:rPr sz="1250" b="0">
                <a:solidFill>
                  <a:srgbClr val="E6E6E6"/>
                </a:solidFill>
                <a:latin typeface="Consolas"/>
              </a:rPr>
              <a:t>ORDER BY receipt_date DESC</a:t>
            </a:r>
          </a:p>
          <a:p>
            <a:r>
              <a:rPr sz="1250" b="0">
                <a:solidFill>
                  <a:srgbClr val="E6E6E6"/>
                </a:solidFill>
                <a:latin typeface="Consolas"/>
              </a:rPr>
              <a:t>FETCH FIRST 20 ROWS ONLY;</a:t>
            </a:r>
          </a:p>
          <a:p>
            <a:r>
              <a:rPr sz="1250" b="0">
                <a:solidFill>
                  <a:srgbClr val="E6E6E6"/>
                </a:solidFill>
                <a:latin typeface="Consolas"/>
              </a:rPr>
              <a:t> </a:t>
            </a:r>
          </a:p>
          <a:p>
            <a:r>
              <a:rPr sz="1250" b="0">
                <a:solidFill>
                  <a:srgbClr val="7EC699"/>
                </a:solidFill>
                <a:latin typeface="Consolas"/>
              </a:rPr>
              <a:t>-- 앞의 SQL과 비교했을 때 달라진 것은 두 가지뿐이다</a:t>
            </a:r>
          </a:p>
          <a:p>
            <a:r>
              <a:rPr sz="1250" b="0">
                <a:solidFill>
                  <a:srgbClr val="7EC699"/>
                </a:solidFill>
                <a:latin typeface="Consolas"/>
              </a:rPr>
              <a:t>--   1) WHERE 절이 생겼다 — 값으로 진입 지점을 지정한다</a:t>
            </a:r>
          </a:p>
          <a:p>
            <a:r>
              <a:rPr sz="1250" b="0">
                <a:solidFill>
                  <a:srgbClr val="7EC699"/>
                </a:solidFill>
                <a:latin typeface="Consolas"/>
              </a:rPr>
              <a:t>--   2) OFFSET이 사라졌다 — 순번을 셀 필요가 없어졌다</a:t>
            </a:r>
          </a:p>
          <a:p>
            <a:r>
              <a:rPr sz="1250" b="0">
                <a:solidFill>
                  <a:srgbClr val="E6E6E6"/>
                </a:solidFill>
                <a:latin typeface="Consolas"/>
              </a:rPr>
              <a:t> </a:t>
            </a:r>
          </a:p>
          <a:p>
            <a:r>
              <a:rPr sz="1250" b="0">
                <a:solidFill>
                  <a:srgbClr val="7EC699"/>
                </a:solidFill>
                <a:latin typeface="Consolas"/>
              </a:rPr>
              <a:t>-- 애플리케이션은 화면에 뿌린 마지막 행의 receipt_date를 들고 있다가</a:t>
            </a:r>
          </a:p>
          <a:p>
            <a:r>
              <a:rPr sz="1250" b="0">
                <a:solidFill>
                  <a:srgbClr val="7EC699"/>
                </a:solidFill>
                <a:latin typeface="Consolas"/>
              </a:rPr>
              <a:t>-- "다음" 요청 시 그 값을 그대로 바인드 변수로 넘긴다</a:t>
            </a:r>
          </a:p>
          <a:p>
            <a:r>
              <a:rPr sz="1250" b="0">
                <a:solidFill>
                  <a:srgbClr val="E6E6E6"/>
                </a:solidFill>
                <a:latin typeface="Consolas"/>
              </a:rPr>
              <a:t> </a:t>
            </a:r>
          </a:p>
          <a:p>
            <a:r>
              <a:rPr sz="1250" b="0">
                <a:solidFill>
                  <a:srgbClr val="7EC699"/>
                </a:solidFill>
                <a:latin typeface="Consolas"/>
              </a:rPr>
              <a:t>-- 페이지 번호가 아니라 커서를 넘기는 구조라는 점이 핵심이다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SQL을 나란히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공통점 — 결과는 동등하다</a:t>
            </a:r>
          </a:p>
          <a:p>
            <a:r>
              <a:rPr sz="1600" b="0">
                <a:solidFill>
                  <a:srgbClr val="5A6672"/>
                </a:solidFill>
                <a:latin typeface="Malgun Gothic"/>
              </a:rPr>
              <a:t>    –  같은 테이블, 같은 정렬 기준, 같은 20건</a:t>
            </a:r>
          </a:p>
          <a:p>
            <a:r>
              <a:rPr sz="1600" b="0">
                <a:solidFill>
                  <a:srgbClr val="5A6672"/>
                </a:solidFill>
                <a:latin typeface="Malgun Gothic"/>
              </a:rPr>
              <a:t>    –  같은 인덱스가 존재하는 상태에서 실행한다</a:t>
            </a:r>
          </a:p>
          <a:p>
            <a:r>
              <a:rPr sz="1800" b="0">
                <a:solidFill>
                  <a:srgbClr val="202830"/>
                </a:solidFill>
                <a:latin typeface="Malgun Gothic"/>
              </a:rPr>
              <a:t>•  차이 ① 조건의 성격</a:t>
            </a:r>
          </a:p>
          <a:p>
            <a:r>
              <a:rPr sz="1600" b="0">
                <a:solidFill>
                  <a:srgbClr val="5A6672"/>
                </a:solidFill>
                <a:latin typeface="Malgun Gothic"/>
              </a:rPr>
              <a:t>    –  OFFSET 방식 — 순번 조건만 있고 값 조건이 없다</a:t>
            </a:r>
          </a:p>
          <a:p>
            <a:r>
              <a:rPr sz="1600" b="0">
                <a:solidFill>
                  <a:srgbClr val="5A6672"/>
                </a:solidFill>
                <a:latin typeface="Malgun Gothic"/>
              </a:rPr>
              <a:t>    –  Keyset 방식 — receipt_date 값 비교 조건이 있다</a:t>
            </a:r>
          </a:p>
          <a:p>
            <a:r>
              <a:rPr sz="1800" b="0">
                <a:solidFill>
                  <a:srgbClr val="202830"/>
                </a:solidFill>
                <a:latin typeface="Malgun Gothic"/>
              </a:rPr>
              <a:t>•  차이 ② 다음 페이지를 표현하는 방법</a:t>
            </a:r>
          </a:p>
          <a:p>
            <a:r>
              <a:rPr sz="1600" b="0">
                <a:solidFill>
                  <a:srgbClr val="5A6672"/>
                </a:solidFill>
                <a:latin typeface="Malgun Gothic"/>
              </a:rPr>
              <a:t>    –  OFFSET 방식 — 페이지 번호를 늘린다</a:t>
            </a:r>
          </a:p>
          <a:p>
            <a:r>
              <a:rPr sz="1600" b="0">
                <a:solidFill>
                  <a:srgbClr val="5A6672"/>
                </a:solidFill>
                <a:latin typeface="Malgun Gothic"/>
              </a:rPr>
              <a:t>    –  Keyset 방식 — 직전 페이지의 마지막 값을 넘긴다</a:t>
            </a:r>
          </a:p>
          <a:p>
            <a:r>
              <a:rPr sz="1800" b="0">
                <a:solidFill>
                  <a:srgbClr val="202830"/>
                </a:solidFill>
                <a:latin typeface="Malgun Gothic"/>
              </a:rPr>
              <a:t>•  이 두 차이가 실행계획에서 어떤 차이로 나타나는지가 다음 절의 주제다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OFFSET 깊이에 따른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OFFSET 0 · 200,000 · 280,000 비교</a:t>
            </a:r>
          </a:p>
          <a:p>
            <a:r>
              <a:rPr sz="1600" b="0">
                <a:solidFill>
                  <a:srgbClr val="C5CED6"/>
                </a:solidFill>
                <a:latin typeface="Malgun Gothic"/>
              </a:rPr>
              <a:t>•  Buffers는 그대로, A-Time과 작업 메모리는 급증</a:t>
            </a:r>
          </a:p>
          <a:p>
            <a:r>
              <a:rPr sz="1600" b="0">
                <a:solidFill>
                  <a:srgbClr val="C5CED6"/>
                </a:solidFill>
                <a:latin typeface="Malgun Gothic"/>
              </a:rPr>
              <a:t>•  Buffers만 보면 놓치는 비용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표 — OFFSET 깊이별 비용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SQL의 바인드 값만 바꿔 세 번 실행한 결과 (실습 DB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OFFSET           | Buffers | A-Time | 정렬 작업 메모리(Used-Mem) |</a:t>
            </a:r>
          </a:p>
          <a:p>
            <a:r>
              <a:rPr sz="1250" b="0">
                <a:solidFill>
                  <a:srgbClr val="E6E6E6"/>
                </a:solidFill>
                <a:latin typeface="Consolas"/>
              </a:rPr>
              <a:t>|----------------------------|---------|--------|----------------------------|</a:t>
            </a:r>
          </a:p>
          <a:p>
            <a:r>
              <a:rPr sz="1250" b="0">
                <a:solidFill>
                  <a:srgbClr val="E6E6E6"/>
                </a:solidFill>
                <a:latin typeface="Consolas"/>
              </a:rPr>
              <a:t>| 0 (1페이지)                |   3,090 | 0.02초 |                         2K |</a:t>
            </a:r>
          </a:p>
          <a:p>
            <a:r>
              <a:rPr sz="1250" b="0">
                <a:solidFill>
                  <a:srgbClr val="E6E6E6"/>
                </a:solidFill>
                <a:latin typeface="Consolas"/>
              </a:rPr>
              <a:t>| 200,000 (약 1만 페이지)    |   3,090 | 0.14초 |                        10M |</a:t>
            </a:r>
          </a:p>
          <a:p>
            <a:r>
              <a:rPr sz="1250" b="0">
                <a:solidFill>
                  <a:srgbClr val="E6E6E6"/>
                </a:solidFill>
                <a:latin typeface="Consolas"/>
              </a:rPr>
              <a:t>| 280,000 (약 1만4천 페이지) |   3,090 | 0.18초 |                        14M |</a:t>
            </a:r>
          </a:p>
          <a:p>
            <a:r>
              <a:rPr sz="1250" b="0">
                <a:solidFill>
                  <a:srgbClr val="E6E6E6"/>
                </a:solidFill>
                <a:latin typeface="Consolas"/>
              </a:rPr>
              <a:t> </a:t>
            </a:r>
          </a:p>
          <a:p>
            <a:r>
              <a:rPr sz="1250" b="0">
                <a:solidFill>
                  <a:srgbClr val="7EC699"/>
                </a:solidFill>
                <a:latin typeface="Consolas"/>
              </a:rPr>
              <a:t>-- Buffers는 세 경우 모두 3,090으로 동일하다</a:t>
            </a:r>
          </a:p>
          <a:p>
            <a:r>
              <a:rPr sz="1250" b="0">
                <a:solidFill>
                  <a:srgbClr val="7EC699"/>
                </a:solidFill>
                <a:latin typeface="Consolas"/>
              </a:rPr>
              <a:t>-- A-Time은 0.02초에서 0.18초로 9배 늘었다</a:t>
            </a:r>
          </a:p>
          <a:p>
            <a:r>
              <a:rPr sz="1250" b="0">
                <a:solidFill>
                  <a:srgbClr val="7EC699"/>
                </a:solidFill>
                <a:latin typeface="Consolas"/>
              </a:rPr>
              <a:t>-- 정렬 작업 메모리는 2K에서 14M로 급증했다</a:t>
            </a:r>
          </a:p>
          <a:p>
            <a:r>
              <a:rPr sz="1250" b="0">
                <a:solidFill>
                  <a:srgbClr val="E6E6E6"/>
                </a:solidFill>
                <a:latin typeface="Consolas"/>
              </a:rPr>
              <a:t> </a:t>
            </a:r>
          </a:p>
          <a:p>
            <a:r>
              <a:rPr sz="1250" b="0">
                <a:solidFill>
                  <a:srgbClr val="7EC699"/>
                </a:solidFill>
                <a:latin typeface="Consolas"/>
              </a:rPr>
              <a:t>-- 계획에는 TABLE ACCESS FULL과 WINDOW SORT PUSHED RANK가 나타났다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① Buffers가 같은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세 경우 모두 Buffers 3,090으로 동일하다</a:t>
            </a:r>
          </a:p>
          <a:p>
            <a:r>
              <a:rPr sz="1600" b="0">
                <a:solidFill>
                  <a:srgbClr val="5A6672"/>
                </a:solidFill>
                <a:latin typeface="Malgun Gothic"/>
              </a:rPr>
              <a:t>    –  OFFSET 값이 얼마든 읽은 블록 수가 변하지 않았다는 뜻</a:t>
            </a:r>
          </a:p>
          <a:p>
            <a:r>
              <a:rPr sz="1800" b="0">
                <a:solidFill>
                  <a:srgbClr val="202830"/>
                </a:solidFill>
                <a:latin typeface="Malgun Gothic"/>
              </a:rPr>
              <a:t>•  이유는 접근 방식에 있다 — TABLE ACCESS FULL</a:t>
            </a:r>
          </a:p>
          <a:p>
            <a:r>
              <a:rPr sz="1600" b="0">
                <a:solidFill>
                  <a:srgbClr val="5A6672"/>
                </a:solidFill>
                <a:latin typeface="Malgun Gothic"/>
              </a:rPr>
              <a:t>    –  Full Scan은 조건과 무관하게 테이블의 모든 블록을 읽는다</a:t>
            </a:r>
          </a:p>
          <a:p>
            <a:r>
              <a:rPr sz="1600" b="0">
                <a:solidFill>
                  <a:srgbClr val="5A6672"/>
                </a:solidFill>
                <a:latin typeface="Malgun Gothic"/>
              </a:rPr>
              <a:t>    –  이 쿼리에는 WHERE 조건이 없어 걸러 낼 것도 없다</a:t>
            </a:r>
          </a:p>
          <a:p>
            <a:r>
              <a:rPr sz="1600" b="0">
                <a:solidFill>
                  <a:srgbClr val="5A6672"/>
                </a:solidFill>
                <a:latin typeface="Malgun Gothic"/>
              </a:rPr>
              <a:t>    –  전체를 한 번은 다 읽어야 순위를 매길 수 있으므로 OFFSET과 무관하다</a:t>
            </a:r>
          </a:p>
          <a:p>
            <a:r>
              <a:rPr sz="1800" b="0">
                <a:solidFill>
                  <a:srgbClr val="202830"/>
                </a:solidFill>
                <a:latin typeface="Malgun Gothic"/>
              </a:rPr>
              <a:t>•  그래서 Buffers는 이 문제를 진단하는 데 쓸모가 없다</a:t>
            </a:r>
          </a:p>
          <a:p>
            <a:r>
              <a:rPr sz="1600" b="0">
                <a:solidFill>
                  <a:srgbClr val="5A6672"/>
                </a:solidFill>
                <a:latin typeface="Malgun Gothic"/>
              </a:rPr>
              <a:t>    –  I/O 비용은 정말로 늘지 않았다 — 지표가 틀린 것이 아니다</a:t>
            </a:r>
          </a:p>
          <a:p>
            <a:r>
              <a:rPr sz="1600" b="0">
                <a:solidFill>
                  <a:srgbClr val="5A6672"/>
                </a:solidFill>
                <a:latin typeface="Malgun Gothic"/>
              </a:rPr>
              <a:t>    –  다만 이 사례의 비용은 I/O가 아닌 곳에서 발생하고 있을 뿐이다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② A-Time과 메모리가 늘어난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A-Time 0.02초 → 0.18초, 작업 메모리 2K → 14M</a:t>
            </a:r>
          </a:p>
          <a:p>
            <a:r>
              <a:rPr sz="1600" b="0">
                <a:solidFill>
                  <a:srgbClr val="5A6672"/>
                </a:solidFill>
                <a:latin typeface="Malgun Gothic"/>
              </a:rPr>
              <a:t>    –  OFFSET이 커질수록 두 값이 함께 커지는 경향이 뚜렷하다</a:t>
            </a:r>
          </a:p>
          <a:p>
            <a:r>
              <a:rPr sz="1800" b="0">
                <a:solidFill>
                  <a:srgbClr val="202830"/>
                </a:solidFill>
                <a:latin typeface="Malgun Gothic"/>
              </a:rPr>
              <a:t>•  원인은 WINDOW SORT PUSHED RANK 오퍼레이션이다</a:t>
            </a:r>
          </a:p>
          <a:p>
            <a:r>
              <a:rPr sz="1600" b="0">
                <a:solidFill>
                  <a:srgbClr val="5A6672"/>
                </a:solidFill>
                <a:latin typeface="Malgun Gothic"/>
              </a:rPr>
              <a:t>    –  전체 결과에 ROW_NUMBER()로 순번을 매기는 작업</a:t>
            </a:r>
          </a:p>
          <a:p>
            <a:r>
              <a:rPr sz="1600" b="0">
                <a:solidFill>
                  <a:srgbClr val="5A6672"/>
                </a:solidFill>
                <a:latin typeface="Malgun Gothic"/>
              </a:rPr>
              <a:t>    –  OFFSET 0이면 20번째까지만 순번이 필요하다</a:t>
            </a:r>
          </a:p>
          <a:p>
            <a:r>
              <a:rPr sz="1600" b="0">
                <a:solidFill>
                  <a:srgbClr val="5A6672"/>
                </a:solidFill>
                <a:latin typeface="Malgun Gothic"/>
              </a:rPr>
              <a:t>    –  OFFSET 280,000이면 280,020번째까지 순번을 매겨야 한다</a:t>
            </a:r>
          </a:p>
          <a:p>
            <a:r>
              <a:rPr sz="1800" b="0">
                <a:solidFill>
                  <a:srgbClr val="202830"/>
                </a:solidFill>
                <a:latin typeface="Malgun Gothic"/>
              </a:rPr>
              <a:t>•  순번을 매기려면 정렬된 상태를 유지해야 한다</a:t>
            </a:r>
          </a:p>
          <a:p>
            <a:r>
              <a:rPr sz="1600" b="0">
                <a:solidFill>
                  <a:srgbClr val="5A6672"/>
                </a:solidFill>
                <a:latin typeface="Malgun Gothic"/>
              </a:rPr>
              <a:t>    –  그만큼의 CPU 시간과 작업 메모리가 함께 필요해진다</a:t>
            </a:r>
          </a:p>
          <a:p>
            <a:r>
              <a:rPr sz="1600" b="0">
                <a:solidFill>
                  <a:srgbClr val="5A6672"/>
                </a:solidFill>
                <a:latin typeface="Malgun Gothic"/>
              </a:rPr>
              <a:t>    –  이 비용이 A-Time과 Used-Mem에 나타난 것이다</a:t>
            </a:r>
          </a:p>
          <a:p>
            <a:r>
              <a:rPr sz="1800" b="0">
                <a:solidFill>
                  <a:srgbClr val="202830"/>
                </a:solidFill>
                <a:latin typeface="Malgun Gothic"/>
              </a:rPr>
              <a:t>•  읽은 블록은 그대로인데 그 블록으로 하는 일이 늘어난 셈이다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오판의 위험 — Buffers만 봤다면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만약 Buffers만 보고 판단했다면 어떤 결론이 나왔을까</a:t>
            </a:r>
          </a:p>
          <a:p>
            <a:r>
              <a:rPr sz="1600" b="0">
                <a:solidFill>
                  <a:srgbClr val="5A6672"/>
                </a:solidFill>
                <a:latin typeface="Malgun Gothic"/>
              </a:rPr>
              <a:t>    –  "페이지가 깊어져도 비용은 그대로다"</a:t>
            </a:r>
          </a:p>
          <a:p>
            <a:r>
              <a:rPr sz="1600" b="0">
                <a:solidFill>
                  <a:srgbClr val="5A6672"/>
                </a:solidFill>
                <a:latin typeface="Malgun Gothic"/>
              </a:rPr>
              <a:t>    –  "이 페이징 쿼리는 튜닝할 것이 없다"</a:t>
            </a:r>
          </a:p>
          <a:p>
            <a:r>
              <a:rPr sz="1800" b="0">
                <a:solidFill>
                  <a:srgbClr val="202830"/>
                </a:solidFill>
                <a:latin typeface="Malgun Gothic"/>
              </a:rPr>
              <a:t>•  실제 사용자 경험은 정반대다</a:t>
            </a:r>
          </a:p>
          <a:p>
            <a:r>
              <a:rPr sz="1600" b="0">
                <a:solidFill>
                  <a:srgbClr val="5A6672"/>
                </a:solidFill>
                <a:latin typeface="Malgun Gothic"/>
              </a:rPr>
              <a:t>    –  깊은 페이지로 갈수록 응답 시간이 눈에 띄게 느려진다</a:t>
            </a:r>
          </a:p>
          <a:p>
            <a:r>
              <a:rPr sz="1600" b="0">
                <a:solidFill>
                  <a:srgbClr val="5A6672"/>
                </a:solidFill>
                <a:latin typeface="Malgun Gothic"/>
              </a:rPr>
              <a:t>    –  동시 사용자가 많으면 작업 메모리 압박으로 서버 전체에 영향을 준다</a:t>
            </a:r>
          </a:p>
          <a:p>
            <a:r>
              <a:rPr sz="1800" b="0">
                <a:solidFill>
                  <a:srgbClr val="202830"/>
                </a:solidFill>
                <a:latin typeface="Malgun Gothic"/>
              </a:rPr>
              <a:t>•  판단 절차로 정리하면</a:t>
            </a:r>
          </a:p>
          <a:p>
            <a:r>
              <a:rPr sz="1600" b="0">
                <a:solidFill>
                  <a:srgbClr val="5A6672"/>
                </a:solidFill>
                <a:latin typeface="Malgun Gothic"/>
              </a:rPr>
              <a:t>    –  ① 실행계획에 정렬 계열 오퍼레이션이 있는지 먼저 확인한다</a:t>
            </a:r>
          </a:p>
          <a:p>
            <a:r>
              <a:rPr sz="1600" b="0">
                <a:solidFill>
                  <a:srgbClr val="5A6672"/>
                </a:solidFill>
                <a:latin typeface="Malgun Gothic"/>
              </a:rPr>
              <a:t>    –  ② 있으면 Buffers와 함께 A-Time·Used-Mem을 반드시 본다</a:t>
            </a:r>
          </a:p>
          <a:p>
            <a:r>
              <a:rPr sz="1600" b="0">
                <a:solidFill>
                  <a:srgbClr val="5A6672"/>
                </a:solidFill>
                <a:latin typeface="Malgun Gothic"/>
              </a:rPr>
              <a:t>    –  ③ 바인드 값을 바꿔 가며 최소 두 지점 이상에서 측정한다</a:t>
            </a:r>
          </a:p>
          <a:p>
            <a:r>
              <a:rPr sz="1800" b="0">
                <a:solidFill>
                  <a:srgbClr val="202830"/>
                </a:solidFill>
                <a:latin typeface="Malgun Gothic"/>
              </a:rPr>
              <a:t>•  ch11의 교훈이 그대로 재현된 사례다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Keyset 방식과의 실행계획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WINDOW NOSORT STOPKEY의 등장</a:t>
            </a:r>
          </a:p>
          <a:p>
            <a:r>
              <a:rPr sz="1600" b="0">
                <a:solidFill>
                  <a:srgbClr val="C5CED6"/>
                </a:solidFill>
                <a:latin typeface="Malgun Gothic"/>
              </a:rPr>
              <a:t>•  INDEX RANGE SCAN DESCENDING</a:t>
            </a:r>
          </a:p>
          <a:p>
            <a:r>
              <a:rPr sz="1600" b="0">
                <a:solidFill>
                  <a:srgbClr val="C5CED6"/>
                </a:solidFill>
                <a:latin typeface="Malgun Gothic"/>
              </a:rPr>
              <a:t>•  OFFSET 쿼리는 왜 인덱스를 못 썼는가</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Keyset 방식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정도의 깊이(약 280,000번째 부근)를 Keyset 방식으로 조회한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20 |00:00:00.01 |      25 |</a:t>
            </a:r>
          </a:p>
          <a:p>
            <a:r>
              <a:rPr sz="1250" b="0">
                <a:solidFill>
                  <a:srgbClr val="E6E6E6"/>
                </a:solidFill>
                <a:latin typeface="Consolas"/>
              </a:rPr>
              <a:t>| 1  |  VIEW                        |                  |     20 |00:00:00.01 |      25 |</a:t>
            </a:r>
          </a:p>
          <a:p>
            <a:r>
              <a:rPr sz="1250" b="0">
                <a:solidFill>
                  <a:srgbClr val="E6E6E6"/>
                </a:solidFill>
                <a:latin typeface="Consolas"/>
              </a:rPr>
              <a:t>| 2  |   WINDOW NOSORT STOPKEY      |                  |     20 |00:00:00.01 |      25 |</a:t>
            </a:r>
          </a:p>
          <a:p>
            <a:r>
              <a:rPr sz="1250" b="0">
                <a:solidFill>
                  <a:srgbClr val="E6E6E6"/>
                </a:solidFill>
                <a:latin typeface="Consolas"/>
              </a:rPr>
              <a:t>| 3  |    TABLE ACCESS BY INDEX ROWID| MEDICAL_CLAIMS  |     20 |00:00:00.01 |      25 |</a:t>
            </a:r>
          </a:p>
          <a:p>
            <a:r>
              <a:rPr sz="1250" b="0">
                <a:solidFill>
                  <a:srgbClr val="E6E6E6"/>
                </a:solidFill>
                <a:latin typeface="Consolas"/>
              </a:rPr>
              <a:t>| 4  |     INDEX RANGE SCAN DESCENDING| IX_RECEIPT     |     20 |00:00:00.01 |       6 |</a:t>
            </a:r>
          </a:p>
          <a:p>
            <a:r>
              <a:rPr sz="1250" b="0">
                <a:solidFill>
                  <a:srgbClr val="E6E6E6"/>
                </a:solidFill>
                <a:latin typeface="Consolas"/>
              </a:rPr>
              <a:t> </a:t>
            </a:r>
          </a:p>
          <a:p>
            <a:r>
              <a:rPr sz="1250" b="0">
                <a:solidFill>
                  <a:srgbClr val="7EC699"/>
                </a:solidFill>
                <a:latin typeface="Consolas"/>
              </a:rPr>
              <a:t>-- 앞 절의 OFFSET 280,000 방식: Buffers 3,090 / A-Time 0.18초</a:t>
            </a:r>
          </a:p>
          <a:p>
            <a:r>
              <a:rPr sz="1250" b="0">
                <a:solidFill>
                  <a:srgbClr val="7EC699"/>
                </a:solidFill>
                <a:latin typeface="Consolas"/>
              </a:rPr>
              <a:t>-- 이번 Keyset 방식:           Buffers    25 / A-Time 0.01초</a:t>
            </a:r>
          </a:p>
          <a:p>
            <a:r>
              <a:rPr sz="1250" b="0">
                <a:solidFill>
                  <a:srgbClr val="E6E6E6"/>
                </a:solidFill>
                <a:latin typeface="Consolas"/>
              </a:rPr>
              <a:t> </a:t>
            </a:r>
          </a:p>
          <a:p>
            <a:r>
              <a:rPr sz="1250" b="0">
                <a:solidFill>
                  <a:srgbClr val="7EC699"/>
                </a:solidFill>
                <a:latin typeface="Consolas"/>
              </a:rPr>
              <a:t>-- 오퍼레이션 구성 자체가 다르다는 점에 주목할 것</a:t>
            </a:r>
          </a:p>
          <a:p>
            <a:r>
              <a:rPr sz="1250" b="0">
                <a:solidFill>
                  <a:srgbClr val="7EC699"/>
                </a:solidFill>
                <a:latin typeface="Consolas"/>
              </a:rPr>
              <a:t>-- TABLE ACCESS FULL + WINDOW SORT PUSHED RANK  →  전체범위 처리</a:t>
            </a:r>
          </a:p>
          <a:p>
            <a:r>
              <a:rPr sz="1250" b="0">
                <a:solidFill>
                  <a:srgbClr val="7EC699"/>
                </a:solidFill>
                <a:latin typeface="Consolas"/>
              </a:rPr>
              <a:t>-- INDEX RANGE SCAN + WINDOW NOSORT STOPKEY     →  부분범위 처리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 해석 — 왜 이렇게 저렴한가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INDEX RANGE SCAN DESCENDING — 시작점을 바로 찾는다</a:t>
            </a:r>
          </a:p>
          <a:p>
            <a:r>
              <a:rPr sz="1600" b="0">
                <a:solidFill>
                  <a:srgbClr val="5A6672"/>
                </a:solidFill>
                <a:latin typeface="Malgun Gothic"/>
              </a:rPr>
              <a:t>    –  receipt_date &lt; :마지막_날짜 조건으로 인덱스의 해당 지점에 즉시 진입</a:t>
            </a:r>
          </a:p>
          <a:p>
            <a:r>
              <a:rPr sz="1600" b="0">
                <a:solidFill>
                  <a:srgbClr val="5A6672"/>
                </a:solidFill>
                <a:latin typeface="Malgun Gothic"/>
              </a:rPr>
              <a:t>    –  그 지점부터 내림차순으로 읽어 나가므로 앞을 셀 필요가 없다</a:t>
            </a:r>
          </a:p>
          <a:p>
            <a:r>
              <a:rPr sz="1800" b="0">
                <a:solidFill>
                  <a:srgbClr val="202830"/>
                </a:solidFill>
                <a:latin typeface="Malgun Gothic"/>
              </a:rPr>
              <a:t>•  WINDOW NOSORT STOPKEY — 정렬도 없고 초과 작업도 없다</a:t>
            </a:r>
          </a:p>
          <a:p>
            <a:r>
              <a:rPr sz="1600" b="0">
                <a:solidFill>
                  <a:srgbClr val="5A6672"/>
                </a:solidFill>
                <a:latin typeface="Malgun Gothic"/>
              </a:rPr>
              <a:t>    –  인덱스가 이미 정렬 순서를 제공하므로 정렬 단계가 사라졌다(NOSORT)</a:t>
            </a:r>
          </a:p>
          <a:p>
            <a:r>
              <a:rPr sz="1600" b="0">
                <a:solidFill>
                  <a:srgbClr val="5A6672"/>
                </a:solidFill>
                <a:latin typeface="Malgun Gothic"/>
              </a:rPr>
              <a:t>    –  20건을 채우는 즉시 더 읽지 않고 멈췄다(STOPKEY)</a:t>
            </a:r>
          </a:p>
          <a:p>
            <a:r>
              <a:rPr sz="1800" b="0">
                <a:solidFill>
                  <a:srgbClr val="202830"/>
                </a:solidFill>
                <a:latin typeface="Malgun Gothic"/>
              </a:rPr>
              <a:t>•  숫자로 확인되는 결과</a:t>
            </a:r>
          </a:p>
          <a:p>
            <a:r>
              <a:rPr sz="1600" b="0">
                <a:solidFill>
                  <a:srgbClr val="5A6672"/>
                </a:solidFill>
                <a:latin typeface="Malgun Gothic"/>
              </a:rPr>
              <a:t>    –  Buffers 25, A-Time 0.01초 — 인덱스 스캔 단계만 보면 Buffers 6</a:t>
            </a:r>
          </a:p>
          <a:p>
            <a:r>
              <a:rPr sz="1600" b="0">
                <a:solidFill>
                  <a:srgbClr val="5A6672"/>
                </a:solidFill>
                <a:latin typeface="Malgun Gothic"/>
              </a:rPr>
              <a:t>    –  모든 단계의 A-Rows가 20 — 초과 처리한 행이 없다</a:t>
            </a:r>
          </a:p>
          <a:p>
            <a:r>
              <a:rPr sz="1800" b="0">
                <a:solidFill>
                  <a:srgbClr val="202830"/>
                </a:solidFill>
                <a:latin typeface="Malgun Gothic"/>
              </a:rPr>
              <a:t>•  "필요한 지점부터 필요한 만큼만"이 계획에 그대로 드러나 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DESCENDING이 가능한 구조적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DESCENDING — 인덱스를 값이 큰 것부터 작은 것 순서로 읽었다는 뜻</a:t>
            </a:r>
          </a:p>
          <a:p>
            <a:r>
              <a:rPr sz="1800" b="0">
                <a:solidFill>
                  <a:srgbClr val="202830"/>
                </a:solidFill>
                <a:latin typeface="Malgun Gothic"/>
              </a:rPr>
              <a:t>•  의문 — 인덱스는 오름차순으로 저장되는데 어떻게 가능한가</a:t>
            </a:r>
          </a:p>
          <a:p>
            <a:r>
              <a:rPr sz="1600" b="0">
                <a:solidFill>
                  <a:srgbClr val="5A6672"/>
                </a:solidFill>
                <a:latin typeface="Malgun Gothic"/>
              </a:rPr>
              <a:t>    –  B-Tree 인덱스의 리프 블록은 양방향으로 연결되어 있다</a:t>
            </a:r>
          </a:p>
          <a:p>
            <a:r>
              <a:rPr sz="1600" b="0">
                <a:solidFill>
                  <a:srgbClr val="5A6672"/>
                </a:solidFill>
                <a:latin typeface="Malgun Gothic"/>
              </a:rPr>
              <a:t>    –  더블 링크드 리스트 구조이므로 반대 방향으로도 따라갈 수 있다</a:t>
            </a:r>
          </a:p>
          <a:p>
            <a:r>
              <a:rPr sz="1600" b="0">
                <a:solidFill>
                  <a:srgbClr val="5A6672"/>
                </a:solidFill>
                <a:latin typeface="Malgun Gothic"/>
              </a:rPr>
              <a:t>    –  체인을 역방향으로 읽으면 내림차순으로 읽는 것과 같은 효과가 난다</a:t>
            </a:r>
          </a:p>
          <a:p>
            <a:r>
              <a:rPr sz="1800" b="0">
                <a:solidFill>
                  <a:srgbClr val="202830"/>
                </a:solidFill>
                <a:latin typeface="Malgun Gothic"/>
              </a:rPr>
              <a:t>•  실무적 함의</a:t>
            </a:r>
          </a:p>
          <a:p>
            <a:r>
              <a:rPr sz="1600" b="0">
                <a:solidFill>
                  <a:srgbClr val="5A6672"/>
                </a:solidFill>
                <a:latin typeface="Malgun Gothic"/>
              </a:rPr>
              <a:t>    –  ORDER BY ... DESC 하나 때문에 내림차순 인덱스를 따로 만들 필요가 없다</a:t>
            </a:r>
          </a:p>
          <a:p>
            <a:r>
              <a:rPr sz="1600" b="0">
                <a:solidFill>
                  <a:srgbClr val="5A6672"/>
                </a:solidFill>
                <a:latin typeface="Malgun Gothic"/>
              </a:rPr>
              <a:t>    –  단일 컬럼 정렬이라면 기존 오름차순 인덱스로 그대로 처리 가능하다</a:t>
            </a:r>
          </a:p>
          <a:p>
            <a:r>
              <a:rPr sz="1800" b="0">
                <a:solidFill>
                  <a:srgbClr val="202830"/>
                </a:solidFill>
                <a:latin typeface="Malgun Gothic"/>
              </a:rPr>
              <a:t>•  예외 — 여러 컬럼의 정렬 방향이 엇갈리는 경우</a:t>
            </a:r>
          </a:p>
          <a:p>
            <a:r>
              <a:rPr sz="1600" b="0">
                <a:solidFill>
                  <a:srgbClr val="5A6672"/>
                </a:solidFill>
                <a:latin typeface="Malgun Gothic"/>
              </a:rPr>
              <a:t>    –  한 컬럼은 오름차순, 다른 컬럼은 내림차순이면 역방향 읽기로 해결되지 않는다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 쿼리는 왜 인덱스를 못 썼는가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인덱스가 있었는데 OFFSET 방식은 TABLE ACCESS FULL을 선택했다</a:t>
            </a:r>
          </a:p>
          <a:p>
            <a:r>
              <a:rPr sz="1800" b="0">
                <a:solidFill>
                  <a:srgbClr val="202830"/>
                </a:solidFill>
                <a:latin typeface="Malgun Gothic"/>
              </a:rPr>
              <a:t>•  이유 ① 찾아 들어갈 조건이 없다</a:t>
            </a:r>
          </a:p>
          <a:p>
            <a:r>
              <a:rPr sz="1600" b="0">
                <a:solidFill>
                  <a:srgbClr val="5A6672"/>
                </a:solidFill>
                <a:latin typeface="Malgun Gothic"/>
              </a:rPr>
              <a:t>    –  OFFSET 쿼리에는 WHERE 절이 전혀 없다</a:t>
            </a:r>
          </a:p>
          <a:p>
            <a:r>
              <a:rPr sz="1600" b="0">
                <a:solidFill>
                  <a:srgbClr val="5A6672"/>
                </a:solidFill>
                <a:latin typeface="Malgun Gothic"/>
              </a:rPr>
              <a:t>    –  특정 값으로 인덱스에 진입할 access predicate가 존재하지 않는다</a:t>
            </a:r>
          </a:p>
          <a:p>
            <a:r>
              <a:rPr sz="1600" b="0">
                <a:solidFill>
                  <a:srgbClr val="5A6672"/>
                </a:solidFill>
                <a:latin typeface="Malgun Gothic"/>
              </a:rPr>
              <a:t>    –  결국 전체 데이터에 순위를 매겨야 하므로 인덱스를 처음부터 끝까지 훑는 셈</a:t>
            </a:r>
          </a:p>
          <a:p>
            <a:r>
              <a:rPr sz="1800" b="0">
                <a:solidFill>
                  <a:srgbClr val="202830"/>
                </a:solidFill>
                <a:latin typeface="Malgun Gothic"/>
              </a:rPr>
              <a:t>•  이유 ② 인덱스만으로는 필요한 컬럼을 다 못 가져온다</a:t>
            </a:r>
          </a:p>
          <a:p>
            <a:r>
              <a:rPr sz="1600" b="0">
                <a:solidFill>
                  <a:srgbClr val="5A6672"/>
                </a:solidFill>
                <a:latin typeface="Malgun Gothic"/>
              </a:rPr>
              <a:t>    –  인덱스에는 receipt_date만 있고 claim_id는 테이블에서 가져와야 한다</a:t>
            </a:r>
          </a:p>
          <a:p>
            <a:r>
              <a:rPr sz="1600" b="0">
                <a:solidFill>
                  <a:srgbClr val="5A6672"/>
                </a:solidFill>
                <a:latin typeface="Malgun Gothic"/>
              </a:rPr>
              <a:t>    –  인덱스를 타면 테이블 접근이 추가로 발생한다</a:t>
            </a:r>
          </a:p>
          <a:p>
            <a:r>
              <a:rPr sz="1600" b="0">
                <a:solidFill>
                  <a:srgbClr val="5A6672"/>
                </a:solidFill>
                <a:latin typeface="Malgun Gothic"/>
              </a:rPr>
              <a:t>    –  그럴 바에는 Full Scan으로 한 번에 읽는 편이 낫다고 판단한 것으로 보인다</a:t>
            </a:r>
          </a:p>
          <a:p>
            <a:r>
              <a:rPr sz="1800" b="0">
                <a:solidFill>
                  <a:srgbClr val="202830"/>
                </a:solidFill>
                <a:latin typeface="Malgun Gothic"/>
              </a:rPr>
              <a:t>•  옵티마이저가 인덱스를 버린 것은 버그가 아니라 계산 결과다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11.7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Keyset의 제약과 실무 절충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임의 페이지 점프가 어려운 이유</a:t>
            </a:r>
          </a:p>
          <a:p>
            <a:r>
              <a:rPr sz="1600" b="0">
                <a:solidFill>
                  <a:srgbClr val="C5CED6"/>
                </a:solidFill>
                <a:latin typeface="Malgun Gothic"/>
              </a:rPr>
              <a:t>•  UI 유형별 적합성 판단</a:t>
            </a:r>
          </a:p>
          <a:p>
            <a:r>
              <a:rPr sz="1600" b="0">
                <a:solidFill>
                  <a:srgbClr val="C5CED6"/>
                </a:solidFill>
                <a:latin typeface="Malgun Gothic"/>
              </a:rPr>
              <a:t>•  절충안과 종합 비교</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Keyset 방식의 제약</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임의의 페이지 번호로 바로 이동하기 어렵다</a:t>
            </a:r>
          </a:p>
          <a:p>
            <a:r>
              <a:rPr sz="1600" b="0">
                <a:solidFill>
                  <a:srgbClr val="5A6672"/>
                </a:solidFill>
                <a:latin typeface="Malgun Gothic"/>
              </a:rPr>
              <a:t>    –  "정확히 500페이지로 가줘" 같은 요청을 처리할 방법이 마땅치 않다</a:t>
            </a:r>
          </a:p>
          <a:p>
            <a:r>
              <a:rPr sz="1800" b="0">
                <a:solidFill>
                  <a:srgbClr val="202830"/>
                </a:solidFill>
                <a:latin typeface="Malgun Gothic"/>
              </a:rPr>
              <a:t>•  왜 그런가</a:t>
            </a:r>
          </a:p>
          <a:p>
            <a:r>
              <a:rPr sz="1600" b="0">
                <a:solidFill>
                  <a:srgbClr val="5A6672"/>
                </a:solidFill>
                <a:latin typeface="Malgun Gothic"/>
              </a:rPr>
              <a:t>    –  다음 페이지를 만들려면 "지금 보고 있는 페이지의 마지막 값"이 있어야 한다</a:t>
            </a:r>
          </a:p>
          <a:p>
            <a:r>
              <a:rPr sz="1600" b="0">
                <a:solidFill>
                  <a:srgbClr val="5A6672"/>
                </a:solidFill>
                <a:latin typeface="Malgun Gothic"/>
              </a:rPr>
              <a:t>    –  500페이지의 시작 값을 알려면 그 앞의 데이터를 결국 세어 봐야 한다</a:t>
            </a:r>
          </a:p>
          <a:p>
            <a:r>
              <a:rPr sz="1600" b="0">
                <a:solidFill>
                  <a:srgbClr val="5A6672"/>
                </a:solidFill>
                <a:latin typeface="Malgun Gothic"/>
              </a:rPr>
              <a:t>    –  세는 순간 OFFSET 방식과 같은 비용 구조로 돌아간다</a:t>
            </a:r>
          </a:p>
          <a:p>
            <a:r>
              <a:rPr sz="1800" b="0">
                <a:solidFill>
                  <a:srgbClr val="202830"/>
                </a:solidFill>
                <a:latin typeface="Malgun Gothic"/>
              </a:rPr>
              <a:t>•  구조적으로 커서 정보에 의존하는 방식이다</a:t>
            </a:r>
          </a:p>
          <a:p>
            <a:r>
              <a:rPr sz="1600" b="0">
                <a:solidFill>
                  <a:srgbClr val="5A6672"/>
                </a:solidFill>
                <a:latin typeface="Malgun Gothic"/>
              </a:rPr>
              <a:t>    –  페이지 번호가 아니라 위치를 들고 다니는 구조</a:t>
            </a:r>
          </a:p>
          <a:p>
            <a:r>
              <a:rPr sz="1600" b="0">
                <a:solidFill>
                  <a:srgbClr val="5A6672"/>
                </a:solidFill>
                <a:latin typeface="Malgun Gothic"/>
              </a:rPr>
              <a:t>    –  그래서 순차적으로 다음·이전으로 넘어가는 이동에만 자연스럽다</a:t>
            </a:r>
          </a:p>
          <a:p>
            <a:r>
              <a:rPr sz="1800" b="0">
                <a:solidFill>
                  <a:srgbClr val="202830"/>
                </a:solidFill>
                <a:latin typeface="Malgun Gothic"/>
              </a:rPr>
              <a:t>•  "더 빠른 방식"이 아니라 "다른 계약을 맺은 방식"으로 이해해야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UI 유형별 적합성 판단</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Keyset이 잘 맞는 화면</a:t>
            </a:r>
          </a:p>
          <a:p>
            <a:r>
              <a:rPr sz="1600" b="0">
                <a:solidFill>
                  <a:srgbClr val="5A6672"/>
                </a:solidFill>
                <a:latin typeface="Malgun Gothic"/>
              </a:rPr>
              <a:t>    –  무한 스크롤 — 아래로 내릴 때마다 다음 묶음을 붙이는 방식</a:t>
            </a:r>
          </a:p>
          <a:p>
            <a:r>
              <a:rPr sz="1600" b="0">
                <a:solidFill>
                  <a:srgbClr val="5A6672"/>
                </a:solidFill>
                <a:latin typeface="Malgun Gothic"/>
              </a:rPr>
              <a:t>    –  "더보기" 버튼 — 순차적으로만 앞으로 나아가는 구조</a:t>
            </a:r>
          </a:p>
          <a:p>
            <a:r>
              <a:rPr sz="1600" b="0">
                <a:solidFill>
                  <a:srgbClr val="5A6672"/>
                </a:solidFill>
                <a:latin typeface="Malgun Gothic"/>
              </a:rPr>
              <a:t>    –  피드형 타임라인 — 페이지 번호 개념 자체가 없는 화면</a:t>
            </a:r>
          </a:p>
          <a:p>
            <a:r>
              <a:rPr sz="1800" b="0">
                <a:solidFill>
                  <a:srgbClr val="202830"/>
                </a:solidFill>
                <a:latin typeface="Malgun Gothic"/>
              </a:rPr>
              <a:t>•  Keyset을 그대로 적용하기 어려운 화면</a:t>
            </a:r>
          </a:p>
          <a:p>
            <a:r>
              <a:rPr sz="1600" b="0">
                <a:solidFill>
                  <a:srgbClr val="5A6672"/>
                </a:solidFill>
                <a:latin typeface="Malgun Gothic"/>
              </a:rPr>
              <a:t>    –  게시판형 — 페이지 번호를 직접 클릭해 임의로 이동하는 구조</a:t>
            </a:r>
          </a:p>
          <a:p>
            <a:r>
              <a:rPr sz="1600" b="0">
                <a:solidFill>
                  <a:srgbClr val="5A6672"/>
                </a:solidFill>
                <a:latin typeface="Malgun Gothic"/>
              </a:rPr>
              <a:t>    –  전체 페이지 수와 현재 페이지 번호를 표시해야 하는 화면</a:t>
            </a:r>
          </a:p>
          <a:p>
            <a:r>
              <a:rPr sz="1800" b="0">
                <a:solidFill>
                  <a:srgbClr val="202830"/>
                </a:solidFill>
                <a:latin typeface="Malgun Gothic"/>
              </a:rPr>
              <a:t>•  판단의 출발점은 DB가 아니라 화면 요구사항이다</a:t>
            </a:r>
          </a:p>
          <a:p>
            <a:r>
              <a:rPr sz="1600" b="0">
                <a:solidFill>
                  <a:srgbClr val="5A6672"/>
                </a:solidFill>
                <a:latin typeface="Malgun Gothic"/>
              </a:rPr>
              <a:t>    –  먼저 물어야 할 질문 — 사용자가 정말 임의 페이지로 점프하는가</a:t>
            </a:r>
          </a:p>
          <a:p>
            <a:r>
              <a:rPr sz="1600" b="0">
                <a:solidFill>
                  <a:srgbClr val="5A6672"/>
                </a:solidFill>
                <a:latin typeface="Malgun Gothic"/>
              </a:rPr>
              <a:t>    –  요구사항이 관행일 뿐이라면 화면 설계를 바꾸는 것이 가장 저렴한 튜닝이다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OFFSET을 유지해야 한다면 — 절충안</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전제 — 페이지 번호 UI를 포기할 수 없는 상황</a:t>
            </a:r>
          </a:p>
          <a:p>
            <a:r>
              <a:rPr sz="1600" b="0">
                <a:solidFill>
                  <a:srgbClr val="5A6672"/>
                </a:solidFill>
                <a:latin typeface="Malgun Gothic"/>
              </a:rPr>
              <a:t>    –  이 경우 OFFSET 방식의 비용을 감수하거나 범위를 제한해야 한다</a:t>
            </a:r>
          </a:p>
          <a:p>
            <a:r>
              <a:rPr sz="1800" b="0">
                <a:solidFill>
                  <a:srgbClr val="202830"/>
                </a:solidFill>
                <a:latin typeface="Malgun Gothic"/>
              </a:rPr>
              <a:t>•  절충안 ① 페이지 깊이에 제한을 둔다</a:t>
            </a:r>
          </a:p>
          <a:p>
            <a:r>
              <a:rPr sz="1600" b="0">
                <a:solidFill>
                  <a:srgbClr val="5A6672"/>
                </a:solidFill>
                <a:latin typeface="Malgun Gothic"/>
              </a:rPr>
              <a:t>    –  앞쪽 N페이지까지만 번호 이동을 허용하고 그 이상은 순차 이동으로 유도</a:t>
            </a:r>
          </a:p>
          <a:p>
            <a:r>
              <a:rPr sz="1600" b="0">
                <a:solidFill>
                  <a:srgbClr val="5A6672"/>
                </a:solidFill>
                <a:latin typeface="Malgun Gothic"/>
              </a:rPr>
              <a:t>    –  검색 조건을 더 좁히도록 안내하는 방식과 함께 쓰면 자연스럽다</a:t>
            </a:r>
          </a:p>
          <a:p>
            <a:r>
              <a:rPr sz="1600" b="0">
                <a:solidFill>
                  <a:srgbClr val="5A6672"/>
                </a:solidFill>
                <a:latin typeface="Malgun Gothic"/>
              </a:rPr>
              <a:t>    –  실제로 아주 깊은 페이지까지 넘겨보는 사용자는 드물다</a:t>
            </a:r>
          </a:p>
          <a:p>
            <a:r>
              <a:rPr sz="1800" b="0">
                <a:solidFill>
                  <a:srgbClr val="202830"/>
                </a:solidFill>
                <a:latin typeface="Malgun Gothic"/>
              </a:rPr>
              <a:t>•  절충안 ② 두 방식을 혼합한다</a:t>
            </a:r>
          </a:p>
          <a:p>
            <a:r>
              <a:rPr sz="1600" b="0">
                <a:solidFill>
                  <a:srgbClr val="5A6672"/>
                </a:solidFill>
                <a:latin typeface="Malgun Gothic"/>
              </a:rPr>
              <a:t>    –  페이지 번호 UI는 유지하되 내부적으로 Keyset과 결합해 처리</a:t>
            </a:r>
          </a:p>
          <a:p>
            <a:r>
              <a:rPr sz="1600" b="0">
                <a:solidFill>
                  <a:srgbClr val="5A6672"/>
                </a:solidFill>
                <a:latin typeface="Malgun Gothic"/>
              </a:rPr>
              <a:t>    –  자주 접근하는 앞쪽 페이지는 캐싱하거나 별도 로직으로 처리</a:t>
            </a:r>
          </a:p>
          <a:p>
            <a:r>
              <a:rPr sz="1800" b="0">
                <a:solidFill>
                  <a:srgbClr val="202830"/>
                </a:solidFill>
                <a:latin typeface="Malgun Gothic"/>
              </a:rPr>
              <a:t>•  절충안 ③ 정렬 기준을 좁히는 WHERE 조건을 함께 요구한다</a:t>
            </a:r>
          </a:p>
          <a:p>
            <a:r>
              <a:rPr sz="1600" b="0">
                <a:solidFill>
                  <a:srgbClr val="5A6672"/>
                </a:solidFill>
                <a:latin typeface="Malgun Gothic"/>
              </a:rPr>
              <a:t>    –  기간 조건 등으로 대상 자체를 줄이면 순위 매김 범위도 함께 줄어든다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두 방식을 깊이별로 나란히 놓은 실측 종합표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방식  |      깊이       | Buffers | A-Time |</a:t>
            </a:r>
          </a:p>
          <a:p>
            <a:r>
              <a:rPr sz="1250" b="0">
                <a:solidFill>
                  <a:srgbClr val="E6E6E6"/>
                </a:solidFill>
                <a:latin typeface="Consolas"/>
              </a:rPr>
              <a:t>|--------|-----------------|---------|--------|</a:t>
            </a:r>
          </a:p>
          <a:p>
            <a:r>
              <a:rPr sz="1250" b="0">
                <a:solidFill>
                  <a:srgbClr val="E6E6E6"/>
                </a:solidFill>
                <a:latin typeface="Consolas"/>
              </a:rPr>
              <a:t>| OFFSET |               0 |   3,090 | 0.02초 |</a:t>
            </a:r>
          </a:p>
          <a:p>
            <a:r>
              <a:rPr sz="1250" b="0">
                <a:solidFill>
                  <a:srgbClr val="E6E6E6"/>
                </a:solidFill>
                <a:latin typeface="Consolas"/>
              </a:rPr>
              <a:t>| OFFSET |         200,000 |   3,090 | 0.14초 |</a:t>
            </a:r>
          </a:p>
          <a:p>
            <a:r>
              <a:rPr sz="1250" b="0">
                <a:solidFill>
                  <a:srgbClr val="E6E6E6"/>
                </a:solidFill>
                <a:latin typeface="Consolas"/>
              </a:rPr>
              <a:t>| OFFSET |         280,000 |   3,090 | 0.18초 |</a:t>
            </a:r>
          </a:p>
          <a:p>
            <a:r>
              <a:rPr sz="1250" b="0">
                <a:solidFill>
                  <a:srgbClr val="E6E6E6"/>
                </a:solidFill>
                <a:latin typeface="Consolas"/>
              </a:rPr>
              <a:t>| Keyset | 약 280,000 상당 |      25 | 0.01초 |</a:t>
            </a:r>
          </a:p>
          <a:p>
            <a:r>
              <a:rPr sz="1250" b="0">
                <a:solidFill>
                  <a:srgbClr val="E6E6E6"/>
                </a:solidFill>
                <a:latin typeface="Consolas"/>
              </a:rPr>
              <a:t> </a:t>
            </a:r>
          </a:p>
          <a:p>
            <a:r>
              <a:rPr sz="1250" b="0">
                <a:solidFill>
                  <a:srgbClr val="7EC699"/>
                </a:solidFill>
                <a:latin typeface="Consolas"/>
              </a:rPr>
              <a:t>-- OFFSET 방식은 깊이가 늘수록 A-Time이 늘지만 Buffers는 고정이다</a:t>
            </a:r>
          </a:p>
          <a:p>
            <a:r>
              <a:rPr sz="1250" b="0">
                <a:solidFill>
                  <a:srgbClr val="7EC699"/>
                </a:solidFill>
                <a:latin typeface="Consolas"/>
              </a:rPr>
              <a:t>-- Keyset 방식은 같은 깊이에서 Buffers 25, A-Time 0.01초에 그친다</a:t>
            </a:r>
          </a:p>
          <a:p>
            <a:r>
              <a:rPr sz="1250" b="0">
                <a:solidFill>
                  <a:srgbClr val="E6E6E6"/>
                </a:solidFill>
                <a:latin typeface="Consolas"/>
              </a:rPr>
              <a:t> </a:t>
            </a:r>
          </a:p>
          <a:p>
            <a:r>
              <a:rPr sz="1250" b="0">
                <a:solidFill>
                  <a:srgbClr val="7EC699"/>
                </a:solidFill>
                <a:latin typeface="Consolas"/>
              </a:rPr>
              <a:t>-- 표를 읽는 두 방향</a:t>
            </a:r>
          </a:p>
          <a:p>
            <a:r>
              <a:rPr sz="1250" b="0">
                <a:solidFill>
                  <a:srgbClr val="7EC699"/>
                </a:solidFill>
                <a:latin typeface="Consolas"/>
              </a:rPr>
              <a:t>--   세로로 읽기: 한 방식 안에서 깊이가 미치는 영향</a:t>
            </a:r>
          </a:p>
          <a:p>
            <a:r>
              <a:rPr sz="1250" b="0">
                <a:solidFill>
                  <a:srgbClr val="7EC699"/>
                </a:solidFill>
                <a:latin typeface="Consolas"/>
              </a:rPr>
              <a:t>--   가로로 읽기: 같은 깊이에서 방식이 만드는 차이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(Review)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OFFSET이 깊어질수록 순위를 매겨야 하는 범위가 커져 CPU·메모리 비용이 커진다</a:t>
            </a:r>
          </a:p>
          <a:p>
            <a:r>
              <a:rPr sz="1800" b="0">
                <a:solidFill>
                  <a:srgbClr val="202830"/>
                </a:solidFill>
                <a:latin typeface="Malgun Gothic"/>
              </a:rPr>
              <a:t>•  이 비용은 Buffers에는 잘 안 나타나고 A-Time과 작업 메모리에 나타난다</a:t>
            </a:r>
          </a:p>
          <a:p>
            <a:r>
              <a:rPr sz="1800" b="0">
                <a:solidFill>
                  <a:srgbClr val="202830"/>
                </a:solidFill>
                <a:latin typeface="Malgun Gothic"/>
              </a:rPr>
              <a:t>•  OFFSET 쿼리는 내부적으로 ROW_NUMBER()로 변환되며 WINDOW SORT PUSHED RANK로 처리된다</a:t>
            </a:r>
          </a:p>
          <a:p>
            <a:r>
              <a:rPr sz="1800" b="0">
                <a:solidFill>
                  <a:srgbClr val="202830"/>
                </a:solidFill>
                <a:latin typeface="Malgun Gothic"/>
              </a:rPr>
              <a:t>•  Keyset Pagination은 인덱스로 다음 페이지의 시작점을 바로 찾아간다</a:t>
            </a:r>
          </a:p>
          <a:p>
            <a:r>
              <a:rPr sz="1800" b="0">
                <a:solidFill>
                  <a:srgbClr val="202830"/>
                </a:solidFill>
                <a:latin typeface="Malgun Gothic"/>
              </a:rPr>
              <a:t>•  그 결과 페이지 깊이와 무관하게 비용이 거의 일정하다</a:t>
            </a:r>
          </a:p>
          <a:p>
            <a:r>
              <a:rPr sz="1800" b="0">
                <a:solidFill>
                  <a:srgbClr val="202830"/>
                </a:solidFill>
                <a:latin typeface="Malgun Gothic"/>
              </a:rPr>
              <a:t>•  인덱스가 정렬 순서를 제공하면 WINDOW NOSORT STOPKEY가 선택될 수 있다</a:t>
            </a:r>
          </a:p>
          <a:p>
            <a:r>
              <a:rPr sz="1800" b="0">
                <a:solidFill>
                  <a:srgbClr val="202830"/>
                </a:solidFill>
                <a:latin typeface="Malgun Gothic"/>
              </a:rPr>
              <a:t>•  INDEX RANGE SCAN DESCENDING은 리프 블록 양방향 연결 덕분에 가능하다</a:t>
            </a:r>
          </a:p>
          <a:p>
            <a:r>
              <a:rPr sz="1800" b="0">
                <a:solidFill>
                  <a:srgbClr val="202830"/>
                </a:solidFill>
                <a:latin typeface="Malgun Gothic"/>
              </a:rPr>
              <a:t>•  Keyset은 순차 이동만 가능하므로 OFFSET을 완전히 대체하지 못할 수 있다</a:t>
            </a:r>
          </a:p>
          <a:p>
            <a:r>
              <a:rPr sz="1800" b="0">
                <a:solidFill>
                  <a:srgbClr val="202830"/>
                </a:solidFill>
                <a:latin typeface="Malgun Gothic"/>
              </a:rPr>
              <a:t>•  페이징 튜닝의 본질은 전체범위 처리를 부분범위 처리로 되돌리는 것이다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ch13_문제.md</a:t>
            </a:r>
          </a:p>
          <a:p>
            <a:r>
              <a:rPr sz="1600" b="0">
                <a:solidFill>
                  <a:srgbClr val="5A6672"/>
                </a:solidFill>
                <a:latin typeface="Malgun Gothic"/>
              </a:rPr>
              <a:t>    –  1번  OFFSET과 무관하게 Buffers가 같은 이유 — Full Scan의 성질</a:t>
            </a:r>
          </a:p>
          <a:p>
            <a:r>
              <a:rPr sz="1600" b="0">
                <a:solidFill>
                  <a:srgbClr val="5A6672"/>
                </a:solidFill>
                <a:latin typeface="Malgun Gothic"/>
              </a:rPr>
              <a:t>    –  2번  A-Time과 Used-Mem이 늘어난 원인 오퍼레이션의 특정</a:t>
            </a:r>
          </a:p>
          <a:p>
            <a:r>
              <a:rPr sz="1600" b="0">
                <a:solidFill>
                  <a:srgbClr val="5A6672"/>
                </a:solidFill>
                <a:latin typeface="Malgun Gothic"/>
              </a:rPr>
              <a:t>    –  3번  "Buffers가 안 늘었으니 문제없다"는 판단에 대한 반박</a:t>
            </a:r>
          </a:p>
          <a:p>
            <a:r>
              <a:rPr sz="1600" b="0">
                <a:solidFill>
                  <a:srgbClr val="5A6672"/>
                </a:solidFill>
                <a:latin typeface="Malgun Gothic"/>
              </a:rPr>
              <a:t>    –  4번  NOSORT STOPKEY와 RANGE SCAN DESCENDING의 결합 효과</a:t>
            </a:r>
          </a:p>
          <a:p>
            <a:r>
              <a:rPr sz="1600" b="0">
                <a:solidFill>
                  <a:srgbClr val="5A6672"/>
                </a:solidFill>
                <a:latin typeface="Malgun Gothic"/>
              </a:rPr>
              <a:t>    –  5번  값 조건과 ROW_NUMBER() 변환의 대조</a:t>
            </a:r>
          </a:p>
          <a:p>
            <a:r>
              <a:rPr sz="1600" b="0">
                <a:solidFill>
                  <a:srgbClr val="5A6672"/>
                </a:solidFill>
                <a:latin typeface="Malgun Gothic"/>
              </a:rPr>
              <a:t>    –  6번  Keyset의 제약과 UI 유형별 적합성</a:t>
            </a:r>
          </a:p>
          <a:p>
            <a:r>
              <a:rPr sz="1600" b="0">
                <a:solidFill>
                  <a:srgbClr val="5A6672"/>
                </a:solidFill>
                <a:latin typeface="Malgun Gothic"/>
              </a:rPr>
              <a:t>    –  7번  게시판형 화면에서의 절충안 제안 (자유 서술)</a:t>
            </a:r>
          </a:p>
          <a:p>
            <a:r>
              <a:rPr sz="1600" b="0">
                <a:solidFill>
                  <a:srgbClr val="5A6672"/>
                </a:solidFill>
                <a:latin typeface="Malgun Gothic"/>
              </a:rPr>
              <a:t>    –  8번  DESCENDING의 의미와 B-Tree 구조적 근거 추론</a:t>
            </a:r>
          </a:p>
          <a:p>
            <a:r>
              <a:rPr sz="1600" b="0">
                <a:solidFill>
                  <a:srgbClr val="5A6672"/>
                </a:solidFill>
                <a:latin typeface="Malgun Gothic"/>
              </a:rPr>
              <a:t>    –  9번  WHERE 조건 부재와 인덱스 미사용의 연결</a:t>
            </a:r>
          </a:p>
          <a:p>
            <a:r>
              <a:rPr sz="1600" b="0">
                <a:solidFill>
                  <a:srgbClr val="5A6672"/>
                </a:solidFill>
                <a:latin typeface="Malgun Gothic"/>
              </a:rPr>
              <a:t>    –  10번  ch11와 묶어 Buffers 단독 판단의 위험을 종합</a:t>
            </a:r>
          </a:p>
          <a:p>
            <a:r>
              <a:rPr sz="1800" b="0">
                <a:solidFill>
                  <a:srgbClr val="202830"/>
                </a:solidFill>
                <a:latin typeface="Malgun Gothic"/>
              </a:rPr>
              <a:t>•  실습 종료 시 IX_CH11_ 접두어 인덱스를 반드시 정리한다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
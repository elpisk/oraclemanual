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ch09은 여러 테이블을 함께 다루는 첫 챕터다. 지금까지는 한 테이블을 어떻게 읽을지만 봤지만 실무 SQL은 대부분 조인이고, 성능 사고도 대부분 조인에서 난다. 이번 장의 실행계획과 Buffers는 모두 진료비청구심사 실습 DB에서 직접 캡처한 실측값이며, 강사는 값을 외우게 하기보다 어느 컬럼을 근거로 무엇을 판단했는지를 따라오게 해야 한다. 특히 힌트를 걸었는데 의도대로 적용되지 않은 사례가 이 장의 백미이므로, 시작할 때 그 반전을 미리 예고해 두면 집중도가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나뉜다. 앞의 네 줄은 세 조인 방식의 동작 원리를 스스로 말로 설명할 수 있게 하는 것이고, 가운데 세 줄은 그 원리를 비용 관점으로 옮겨 언제 무엇이 유리한지 판단하는 능력이다. 마지막 세 줄이 이 장의 실무적 핵심으로, 힌트를 믿지 말고 실행계획으로 검증하라는 태도를 세우는 부분이다. 수업이 끝날 때 이 목록을 다시 띄워 학습자가 각 항목을 자기 문장으로 말해 보게 하면 어디가 비었는지 바로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'원리 세우기, 예제 확인, 실측, 반례, 개선, 종합'의 여섯 단계다. 7.2와 7.3에서 세 방식의 동작과 비용 구조를 개념으로 세우고, 7.4의 예제 한 문장을 조건만 바꿔 가며 반복 실행한 결과를 7.5부터 순서대로 본다. 7.6이 이 장의 반전 구간이고, 7.7에서 진짜 해법이 인덱스였다는 것을 확인한 뒤 7.8에서 결과를 한 표로 정리한다. 시간이 부족하면 7.2와 7.6에 무게를 두고 나머지는 요약으로 넘기는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관점을 넓히는 구간이다. 앞 챕터들에서 학습자는 Full Scan과 Index Scan을 비교하는 데 익숙해졌는데, 그 감각만으로 조인을 보면 '어느 테이블을 인덱스로 읽느냐'만 따지게 된다. 조인에는 접근 경로 외에 짝짓는 방법이라는 축이 하나 더 있고, 실제로는 그 축이 비용을 더 크게 좌우한다는 점을 먼저 심어 준 다음 개념으로 들어가야 한다. 여기서 시간을 많이 쓸 필요는 없지만 축이 하나 늘었다는 사실만은 분명히 남겨야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학습자들이 조인을 어려워하는 이유는 실행계획이 갑자기 트리 구조로 보이기 시작하기 때문이다. 단일 테이블 계획은 위에서 아래로 한 줄기지만, 조인이 들어오면 한 오퍼레이션 아래에 형제 두 개가 붙는다. 이 구조 변화를 먼저 말로 설명해 두면 뒤의 실행계획 슬라이드에서 들여쓰기를 읽는 부담이 크게 줄어든다. 조인 순서와 조인 방식은 서로 다른 결정이라는 점도 여기서 짚어 두면 뒤에서 힌트 이야기를 할 때 혼동이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소재의 비대칭성을 강조해야 한다. 한쪽은 필터로 다섯 건까지 좁혀지고 다른 쪽은 삼십만 건짜리 테이블이다. 이런 극단적 비대칭은 교과서에서 NL이 유리하다고 말하는 전형적인 상황인데, 이 장의 결과는 그 통념이 조건부라는 것을 보여 준다. 인덱스 정리 안내도 가볍게 넘기지 말자. 실습 인덱스를 남겨 두면 다음 챕터의 실행계획이 교안과 달라져 문의가 쏟아지고, 원인을 찾느라 강의 시간을 허비하게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장에서 가장 개념적인 구간이고, 뒤의 모든 실행계획 해석이 여기에 기댄다. 세 방식을 나열식으로 외우게 하지 말고, 각각을 처리 흐름의 단계로 풀어 설명한 뒤 그 단계가 실행계획의 어느 컬럼에 흔적으로 남는지까지 연결해 줘야 한다. 특히 Driving Table은 용어만 알고 실행계획에서는 못 찾는 학습자가 많으므로 판별법을 반드시 함께 준다. 여기서 확실히 잡아 두면 뒤의 실측 구간이 훨씬 빨리 진행된다.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결정해야 할 것이 두 가지라는 점을 분명히 해 두면 뒤에서 혼동이 줄어든다. 학습자들은 조인 순서와 조인 방식을 자주 섞어서 이해하는데, 힌트도 ORDERED나 LEADING 계열과 USE_NL이나 USE_HASH 계열로 나뉘어 있다. 또 세 테이블 이상이어도 한 번에 세 개를 짝짓는 것이 아니라 둘씩 차례로 처리한다는 사실은 복잡한 실행계획을 읽을 때 실제로 도움이 되는 관점이므로, 짧게라도 반드시 언급하고 넘어가자.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단계를 손짓으로 그려 가며 설명하면 이해가 훨씬 빠르다. 왼손을 Outer, 오른손을 Inner로 두고 왼손을 한 칸 내릴 때마다 오른손 전체를 훑는 동작을 반복해 보이면 '왜 곱셈인가'가 즉시 전달된다. 그리고 이 반복 횟수가 실행계획의 Starts라는 숫자로 그대로 관측된다는 점을 미리 예고해 두면, 7.7절에서 그 값을 볼 때 학습자가 스스로 연결짓는다. 첫 행이 빨리 나온다는 성질도 화면 조회와 묶어 설명하자.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Build와 Probe라는 두 단어를 반드시 남겨야 한다. 이 장의 실행계획에서 Hash Join 아래 형제 두 개 중 위쪽이 Build, 아래쪽이 Probe인데, 용어를 모르면 어느 쪽이 작은 쪽인지 읽어내지 못한다. 해시 테이블이 메모리에 다 들어가지 않으면 디스크로 내려간다는 점은 앞 챕터의 작업 영역 이야기와 이어지는 대목이라, 왜 Hash Join이 메모리를 쓰는 방식인지 여기서 한 번 더 묶어 주면 학습자의 지도가 넓어진다.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방식을 원리만 다루는 이유를 솔직히 말해 주는 편이 좋다. 실습 DB의 이번 쿼리에서는 옵티마이저가 Sort Merge를 선택하지 않았기 때문에 실측 자료가 없다. 다만 비등가 조인이 필요할 때 Hash Join이 아예 불가능하다는 사실은 실무에서 종종 만나는 제약이므로 개념만은 반드시 남겨야 한다. 정렬을 인덱스로 대체할 수 있다는 점도 인덱스 설계 챕터와 이어지므로, 나중에 다시 만날 이야기라고 예고해 두자.</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Driving Table을 '큰 테이블이냐 작은 테이블이냐'로만 기억하면 곤란하다. 정확히는 조건이 적용된 뒤 남는 행 수가 기준이다. 원래 크기가 큰 테이블이라도 선택도가 아주 낮은 필터가 붙으면 Driving으로 적합해진다. 이번 실습의 HOSPITALS가 정확히 그 사례로, 천 건짜리 테이블이 조건 하나로 다섯 건까지 줄어든다. 실습 문제 10번이 바로 이 판별을 요구하므로 판단 근거를 어떻게 서술할지도 함께 정리해 주자.</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개념을 비용으로 번역하는 절이다. 여기서 곱셈과 덧셈이라는 대비를 확실히 각인시키면, 뒤의 벤치마크 표를 볼 때 학습자가 숫자를 외우지 않고도 방향을 설명할 수 있게 된다. 마지막 항목인 힌트 이야기는 개념 절에 넣기 어색해 보일 수 있지만, 7.6절의 반전을 이해하려면 옵티마이저가 실행 전에 쿼리를 변환한다는 사실을 미리 알고 있어야 한다. 순서를 바꾸면 뒤에서 설명이 두 배로 길어지므로 여기서 깔아 두자.</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이론적 뼈대다. 곱셈이라는 말을 반복해서 쓰자. 실습 문제 7번은 Outer 조건을 더 넓혔을 때 어떻게 되겠느냐고 묻는데, 이 공식만 있으면 학습자는 실측 없이도 방향을 답할 수 있다. 그리고 어느 지점부터는 NL의 누적 비용이 Hash Join의 한 번씩 읽기 비용을 넘어선다는 점까지 짚어 주면 선택 기준이 자연스럽게 도출된다. 앞 챕터에서 다룬 선택도에 따른 접근 방식 전환과 같은 원리다.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안정적이라는 말의 뜻을 정확히 정의해 줘야 한다. 여기서 안정적이라는 것은 항상 빠르다는 뜻이 아니라, 조건이 나빠져도 비용이 폭발하지 않는다는 뜻이다. NL은 조건이 맞으면 압도적으로 싸지만 조건이 어긋나면 최악으로 간다. 이 위험 프로필의 차이가 실무에서 기본값처럼 Hash Join이 자주 선택되는 이유이며, 학습자가 힌트를 남발하지 않게 만드는 근거이기도 하다. 최선과 최악을 같이 말해 주는 습관을 보여 주자.</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암기 대상으로 만들지 않는 것이 중요하다. 학습자가 원하는 것은 딱 떨어지는 규칙이지만, 그 규칙을 주면 그다음부터는 실행계획을 안 본다. 마지막 줄이 이 장 전체의 결론과 같은 방향인데, 힌트로 방식을 밀어붙이는 대신 인덱스와 통계라는 조건을 갖춰 주는 쪽이 실무에서 훨씬 안전하다는 것을 7.7절에서 실측으로 확인하게 된다. 지금은 가설 수준으로만 던져 두고 뒤에서 회수하는 편이 극적이다. 규칙이 아니라 신호라는 말로 바꿔 부르자.</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힌트가 조용히 무시된다는 점이 위험의 핵심이다. 문법 오류라면 즉시 알 수 있지만 적용 거부는 아무 신호도 남기지 않는다. 그래서 코드 리뷰에서 힌트가 붙은 SQL을 보면 '이 힌트가 실제로 먹었는지 확인했느냐'를 반드시 묻는 습관을 들여야 한다. 다음 절의 사례는 이 질문을 하지 않았다면 그냥 넘어갔을 상황이었다는 점을 강조하자. 힌트를 쓰지 말라는 이야기가 아니라 쓰고 나서 확인하라는 이야기임도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절은 짧게 지나가도 되지만 GROUP BY 하나만은 눈에 남겨야 한다. 이 절에서는 그냥 집계 조건처럼 보이는 이 구문이, 7.6절에서 힌트를 무력화한 쿼리 변환의 직접적인 원인이 된다. 미리 복선이라고 말해 두면 학습자가 뒤에서 원인을 찾을 때 스스로 되짚어 온다. 예제가 단 한 문장이고 조건만 바꿔 반복 실행한다는 구조도 여기서 정리해 두면 실측 구간에서 슬라이드를 넘길 때 길을 잃지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예제를 띄우고 학습자에게 먼저 물어보자. 이 쿼리는 어떤 조인 방식으로 처리되겠느냐고. 대부분은 한쪽이 다섯 건이니 당연히 NL이라고 답한다. 그 예상을 칠판에 적어 두고 다음 슬라이드의 실행계획을 열면 수업이 훨씬 살아난다. 조인 조건이 등가라는 점도 짚어 두자. 세 방식 모두 후보가 될 수 있는 조건이므로 옵티마이저의 선택이 의미를 갖는다. 예측을 적어 두는 이 절차 자체가 튜닝 훈련의 일부다. 예측이 틀렸을 때가 가장 잘 배우는 순간이다.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쿼리를 읽을 때 조인 조건과 필터 조건을 분리해서 짚는 습관을 보여 주자. 조인 조건은 어느 방식이 가능한지를 결정하고, 필터 조건은 어느 쪽이 Driving 후보가 될지를 결정한다. 두 조건이 하필 같은 컬럼에 걸려 있어 초보자가 헷갈리기 쉬운 형태이므로, 등호는 두 테이블을 잇는 조건이고 부등호는 한 테이블을 좁히는 조건이라고 명확히 구분해 준다. 이 구분은 이후 모든 조인 튜닝에서 그대로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 실측 구간이다. 슬라이드를 넘기기 전에 각 실행이 무엇을 바꿔 가며 진행되는지 설계도를 먼저 보여 줘야 학습자가 길을 잃지 않는다. 변수는 인덱스 유무와 힌트 종류 두 개뿐이고 나머지 조건은 전부 고정이라는 점을 강조하면, 뒤에서 차이의 원인을 지목할 때 근거가 분명해진다. 실측 결과를 하나씩 보여 줄 때마다 지금 어느 칸을 채우고 있는지 되짚어 주면 이해도가 크게 올라간다. 표 한 칸씩 채워 나가는 그림을 그려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명시적으로 보여 주는 이 슬라이드는 튜닝 방법론 자체를 가르치는 슬라이드이기도 하다. 변수를 하나씩만 바꾸고 나머지를 고정한다는 원칙은 실무 튜닝에서도 그대로 쓰인다. 현장에서는 인덱스를 만들면서 SQL도 같이 고치고 통계도 갱신해 놓고는 무엇 때문에 좋아졌는지 설명하지 못하는 경우가 흔하다. 여기서 그 습관의 차이를 짚어 두면 학습자가 자기 프로젝트에서 바로 적용할 수 있다. 한 번에 하나만 바꾼다는 원칙을 판서로 남기자.</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실행계획은 들여쓰기가 깊은 안쪽부터 읽는다. Id 4에서 PK_HOSPITALS를 범위 스캔해 다섯 건을 찾고, Id 3에서 테이블 본체를 읽는다. Id 5는 MEDICAL_CLAIMS 전체 스캔이고, 이 둘이 Id 2의 해시 조인으로 묶인다. 학습자에게 Buffers 열을 세로로 훑게 하면 전체 비용의 거의 전부가 Id 5 한 줄에 몰려 있다는 것이 한눈에 보인다. 비용이 어디에 몰려 있는지를 지목하는 연습을 여기서 시키자.</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다섯 건짜리 테이블이 있는데도 NL을 안 골랐느냐는 질문이 여기서 반드시 나온다. 답은 Inner 쪽에 쓸 인덱스가 없기 때문이다. NL을 고르면 삼십만 건 테이블을 다섯 번 훑어야 하는데, 옵티마이저는 그 비용이 한 번 훑는 Hash Join보다 비싸다고 계산한 것이다. 이 판단이 정확했다는 것은 7.7절에서 인덱스를 만든 뒤 결과가 뒤집히는 것으로 확인된다. 지금은 질문만 남겨 두고 넘어가자. 옵티마이저의 계산을 신뢰할 근거가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hash value는 실행계획 비교의 지문 같은 값이다. 줄을 하나씩 대조하지 않아도 이 값만 같으면 구조가 같다고 볼 수 있어 실무에서 매우 자주 쓴다. 다만 같은 계획이라도 실행 시점의 캐시 상태에 따라 A-Time은 달라질 수 있으므로, 이 값이 같다고 성능까지 같다는 뜻은 아니라는 단서를 함께 달아 주는 것이 안전하다. 실습 문제 1번이 이 슬라이드의 내용을 그대로 묻는다. 답안에는 계획 구조가 같다는 표현을 쓰게 하자.</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하이라이트 구간이다. 여기서는 결론을 먼저 말하지 말고 실행계획을 먼저 보여 준 뒤 학습자가 이상한 점을 찾게 하는 편이 훨씬 효과가 좋다. 힌트를 걸었는데 계획이 안 바뀌었다는 사실 자체보다, 그때 아무 오류도 경고도 없었다는 사실이 더 중요하다는 방향으로 논의를 끌고 가자. 이 구간을 제대로 다루면 학습자가 앞으로 힌트를 대하는 태도가 확실히 달라진다. 오류 없이 무시된다는 사실을 두 번 강조하자. 학습자 대부분이 이 지점을 처음 접한다.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학습자에게 예측을 적어 두게 한 뒤 다음 장을 넘기는 것이 좋다. 대부분은 Buffers가 크게 늘어난 나쁜 계획을 예상한다. 실제 결과가 그 예상과도, 힌트의 지시와도 다르다는 점이 이 구간의 학습 효과를 만든다. 예측을 적어 두지 않고 넘어가면 결과를 봐도 그냥 그런가 보다 하고 지나가므로, 짧더라도 반드시 예측 단계를 넣자. 의도적으로 나쁜 계획을 만들어 보는 실험 자체도 좋은 훈련이다. 예측과 결과를 나란히 적어 두면 회수하기 쉽다.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계획과 나란히 놓고 비교하게 하는 것이 가장 효과적이다. Id 2의 오퍼레이션 이름이 같고 Buffers도 같다. 눈에 띄게 달라진 것은 Id 3에 VIEW 한 줄이 끼어들면서 HOSPITALS 접근 단계가 한 칸 더 안쪽으로 들어갔다는 점뿐이다. 학습자가 이 한 줄을 스스로 찾아내면 다음 슬라이드의 설명이 훨씬 잘 붙는다. 찾기 어려워하면 Name 열만 위에서 아래로 읽어 보라고 힌트를 주자. 대조는 학습자가 직접 하게 해야 기억에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실무 사고 패턴을 하나 소개하면 좋다. 성능 문제가 접수되어 힌트를 넣고 배포한 뒤 실행계획을 다시 안 본 채 개선됐다고 보고하는 경우다. 운영에서 문제가 그대로 재발하면 그제야 힌트가 무시되고 있었다는 것을 알게 된다. Buffers가 Q1과 한 자릿수도 다르지 않다는 사실이 힌트가 아무 일도 하지 않았다는 가장 확실한 증거다. 숫자로 증명하는 습관을 여기서 다시 강조하자. 배포 전 실행계획 재확인을 규칙으로 만들게 하자.</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표로 정리하면 힌트가 한 일이 무엇인지가 분명해진다. 조인 방식도 그대로, 접근 방식도 그대로, Buffers도 그대로다. A-Time만 미세하게 다른데 이것은 앞 챕터에서 다룬 캐시 상태 차이로 설명되는 범위이지 계획의 차이가 아니다. 이 대비를 만들어 두면 학습자가 A-Time 하나만 보고 성능을 판단하는 습관에서도 한 걸음 벗어나게 된다. 무엇이 같고 무엇이 다른지 열 단위로 짚어 주자. 계획의 차이와 실행 환경의 차이를 구분해 주자.</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VW_로 시작하는 이름은 사용자가 만든 객체가 아니라는 점을 분명히 해야 한다. 이런 이름이 보이면 내가 쓴 SQL과 실제로 실행된 SQL이 다르다는 신호이고, 그 순간부터 별칭 기반 힌트는 신뢰할 수 없게 된다. 실습 문제 2번이 이 추론을 요구하므로 근거를 어떻게 서술할지도 함께 정리해 주자. 단정 대신 추정이라는 단서를 붙여 쓰는 태도까지 가르치면 답안의 완성도가 확실히 올라간다. 내부 뷰 이름을 검색해 보는 습관도 알려 주자.</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 절차를 체크리스트로 남겨 두면 실무에서 그대로 쓸 수 있다. 세 번째 항목은 특히 놓치기 쉬운데, 오퍼레이션 이름만 확인하고 넘어가면 쿼리 변환이 일어난 사실 자체를 모르고 지나간다. 그리고 이번엔 운이 좋았다는 표현을 반드시 쓰자. 힌트가 무시된 것이 결과적으로 다행이었다는 이 아이러니가 학습자에게 가장 오래 남는 대목이고, 실습 문제 9번의 논거로도 그대로 쓰인다. 이 세 줄은 그대로 팀 위키에 옮겨 써도 좋다.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해결 구간이다. 앞 절에서 힌트가 아무 힘도 없었다는 것을 확인했으므로, 여기서는 무엇을 바꿨더니 계획이 바뀌었는지를 한 가지만 짚으면 된다. 바뀐 것은 인덱스 하나뿐이고 SQL도 데이터도 그대로라는 점을 반복해서 강조하자. 변수를 하나만 바꿨기 때문에 원인을 단정할 수 있다는 실험 설계의 이점이 여기서 회수된다. 앞의 설계도 슬라이드를 잠깐 되돌아 보여 주면 연결이 더 분명해진다. 원인을 하나로 좁힐 수 있는 상황은 흔치 않다.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바뀐 것은 인덱스 한 줄뿐이다. SELECT 문은 Q2와 힌트까지 똑같다. 이 점을 짚고 넘어가야 다음 슬라이드의 결과 차이를 인덱스 탓으로 단정할 수 있다. 마지막 DROP 문은 반드시 함께 보여 주자. 실습 인덱스를 남겨 두면 이후 챕터의 실행계획이 교안과 달라지고, 그 원인을 찾느라 수업 시간을 낭비하게 되는 일이 실제로 자주 일어난다. 접두어 규칙을 정해 둔 이유도 여기서 설명하자. 실습 정리 여부를 조교가 확인하도록 안내하자.</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 계획과 세 곳을 대조하게 하자. Id 2가 HASH JOIN에서 NESTED LOOPS로 바뀌었고, MEDICAL_CLAIMS 접근이 전체 스캔에서 인덱스 범위 스캔으로 바뀌었으며, 전체 Buffers가 네 자리에서 두 자리로 떨어졌다. 그리고 이 계획에는 Starts 열이 함께 나와 있는데, 다음 슬라이드에서 이 열이 NL의 정의를 그대로 보여 준다는 것을 확인하게 된다. 세 곳을 학습자가 직접 짚게 하자.</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보고 힌트가 이제야 먹혔다고 이해하는 학습자가 반드시 나온다. 정확히는 인덱스가 생겨 NL이 실제로 더 싼 선택이 되었고, 그 결과 옵티마이저가 NL로 간 것이다. 그 증거가 바로 두 슬라이드 뒤의 Q5로, 힌트를 빼도 같은 계획이 나온다. 원인과 결과를 뒤집어 기억하지 않도록 여기서 한 번 정리하고 Q5에서 확인시켜 주자. 이 구분을 못 하면 실습 문제 6번을 풀 수 없다. 힌트가 먹은 것과 조건이 바뀐 것은 다른 이야기다.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Starts는 실행계획 읽기에서 가장 저평가된 열이다. 대부분 Buffers와 A-Rows만 보고 지나가는데, 반복 구조가 있는 계획에서는 Starts 없이는 원인을 짚을 수 없다. 그리고 이 값이 곧 NL 비용 공식에서 곱하는 쪽 숫자라는 점을 연결해 주면, 실습 문제 7번에서 Outer를 더 넓혔을 때의 변화를 학습자가 스스로 예측할 수 있게 된다. 실무에서도 반복 횟수 폭증은 이 열로 잡아낸다. 반복 횟수를 먼저 보는 습관을 들이게 하자.</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메시지를 완성한다. 힌트로 옵티마이저를 이기려 하기보다, 옵티마이저가 옳은 판단을 내릴 수 있는 조건을 만들어 주는 편이 훨씬 안전하고 오래간다. 힌트는 데이터가 바뀌어도 그대로 남아 언젠가 잘못된 계획을 고착시키지만, 인덱스는 옵티마이저가 상황에 맞게 쓸지 말지를 다시 판단한다. 실습 문제 6번이 바로 이 논점을 묻고 있으니 근거 문장을 함께 만들어 보게 하자. 힌트는 남기고 잊히지만 조건은 다시 평가된다.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흩어진 실측 결과를 한 화면으로 모으는 구간이다. 표를 띄운 뒤 바로 설명하지 말고 학습자에게 먼저 규칙성을 찾아보게 하자. 위쪽 줄들이 전부 같고 아래쪽 줄들이 전부 같다는 패턴은 눈으로도 금방 보이며, 그 경계에 놓인 변수가 힌트가 아니라 인덱스라는 결론까지 학습자가 스스로 도달할 수 있다. 스스로 찾아낸 결론은 강사가 말해 준 결론보다 훨씬 오래 남는다. 규칙성을 찾는 시간을 일 분쯤 주는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주자. 먼저 Buffers 열만 세로로 훑으면 값이 두 종류뿐이라는 것이 보인다. 다음으로 그 두 그룹의 경계가 어디인지 찾으면 인덱스 유무라는 답이 나온다. 마지막으로 조인 방식 열을 보면 힌트를 걸었는데 미적용으로 표시된 줄이 눈에 들어온다. 이 세 단계로 읽으면 표 하나에서 이 장의 결론 전체가 도출된다. 표를 읽는 절차 자체를 가르치는 슬라이드로 쓰자. 표 읽기 훈련은 이후 모든 챕터에서 재사용된다.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일반화의 범위를 정확히 그어 주는 것이 이 슬라이드의 숨은 역할이다. 인덱스가 힌트보다 항상 중요하다고 외우면 그것도 또 하나의 통념이 된다. 이번 결과는 이 쿼리, 이 데이터, 이 버전에서 관측된 것이고, 힌트가 무시된 것도 GROUP BY 변환이라는 특정 조건 때문이었다. 조건을 붙여 결론을 말하는 훈련 자체가 이 과정의 목표라는 점을 상기시키자. 첫 챕터의 통념 이야기와 같은 맥락이다. 조건 없는 결론은 결국 통념이 되어 되돌아온다.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체크리스트를 주면서 동시에 그 한계를 말해 주는 것이 중요하다. 마지막 줄이 그 역할을 한다. 실무에서는 이 순서대로 가설을 세우고 실행계획으로 검증하는 흐름이 자리 잡으면 충분하다. 특히 세 번째 확인 항목인 반대쪽 인덱스 유무는 이번 장 전체가 실측으로 보여 준 내용이므로, 학습자가 이 한 줄만 가져가도 절반은 성공이다. 실습 전에 이 화면을 사진으로 남기게 하는 것도 좋다. 가설과 검증이라는 두 단어로 정리해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여덟 줄로 압축했다. 이 화면을 띄워 둔 채 실습에 들어가게 하면 문제를 풀 때 근거를 찾기 쉽다. 특히 일곱 번째 줄은 이 과정 전체에서 반복되는 원칙이므로 반드시 기억하게 하자. 마지막 줄의 두 숫자는 외울 대상이 아니라 방향을 기억하는 장치다. 무엇이 바뀌었을 때 무엇이 얼마나 달라졌는지를 자기 문장으로 설명할 수 있으면 이 장의 목표는 달성된 것으로 봐도 된다. 여덟 줄을 세 문장으로 요약하게 시켜 봐도 좋다.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채점 기준은 정답 여부보다 어떤 값을 근거로 삼았는지에 둔다. 7번은 실측값이 없는 예측 문항이므로 방향과 이유가 맞으면 정답으로 인정한다. 그리고 실습 종료 후 인덱스 정리를 반드시 확인시키자. 남아 있으면 다음 챕터의 실행계획이 교안과 달라져 학습자가 엉뚱한 곳에서 시간을 쓰게 된다. 정리 확인까지가 실습의 마지막 단계임을 알리자.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ch09</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JOIN 실행 원리</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Nested Loops · Hash Join · Sort Merge  ·  Driving Table  ·  힌트는 지시일 뿐 보장이 아니다   |   Oracle Database 19c · 진료비청구심사 실습 스키마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조인을 '두 집합에서 조건에 맞는 행을 짝지어 합치는 연산'으로 정의한다</a:t>
            </a:r>
          </a:p>
          <a:p>
            <a:r>
              <a:rPr sz="1600" b="0">
                <a:solidFill>
                  <a:srgbClr val="5A6672"/>
                </a:solidFill>
                <a:latin typeface="Malgun Gothic"/>
              </a:rPr>
              <a:t>    –  Nested Loops Join의 처리 흐름을 Outer·Inner 반복 구조로 단계별로 설명한다</a:t>
            </a:r>
          </a:p>
          <a:p>
            <a:r>
              <a:rPr sz="1600" b="0">
                <a:solidFill>
                  <a:srgbClr val="5A6672"/>
                </a:solidFill>
                <a:latin typeface="Malgun Gothic"/>
              </a:rPr>
              <a:t>    –  Hash Join의 처리 흐름을 Build·Probe 두 단계로 나누어 설명한다</a:t>
            </a:r>
          </a:p>
          <a:p>
            <a:r>
              <a:rPr sz="1600" b="0">
                <a:solidFill>
                  <a:srgbClr val="5A6672"/>
                </a:solidFill>
                <a:latin typeface="Malgun Gothic"/>
              </a:rPr>
              <a:t>    –  Sort Merge Join의 정렬·병합 구조와 다른 두 방식과의 차이를 설명한다</a:t>
            </a:r>
          </a:p>
          <a:p>
            <a:r>
              <a:rPr sz="1600" b="0">
                <a:solidFill>
                  <a:srgbClr val="5A6672"/>
                </a:solidFill>
                <a:latin typeface="Malgun Gothic"/>
              </a:rPr>
              <a:t>    –  Driving Table을 정의하고 실행계획의 Starts 컬럼으로 판별한다</a:t>
            </a:r>
          </a:p>
          <a:p>
            <a:r>
              <a:rPr sz="1600" b="0">
                <a:solidFill>
                  <a:srgbClr val="5A6672"/>
                </a:solidFill>
                <a:latin typeface="Malgun Gothic"/>
              </a:rPr>
              <a:t>    –  NL Join의 비용이 'Outer 행 수 × Inner 1회 탐색 비용'임을 설명한다</a:t>
            </a:r>
          </a:p>
          <a:p>
            <a:r>
              <a:rPr sz="1600" b="0">
                <a:solidFill>
                  <a:srgbClr val="5A6672"/>
                </a:solidFill>
                <a:latin typeface="Malgun Gothic"/>
              </a:rPr>
              <a:t>    –  Inner 조인 컬럼의 인덱스 유무가 NL 비용을 좌우하는 이유를 설명한다</a:t>
            </a:r>
          </a:p>
          <a:p>
            <a:r>
              <a:rPr sz="1600" b="0">
                <a:solidFill>
                  <a:srgbClr val="5A6672"/>
                </a:solidFill>
                <a:latin typeface="Malgun Gothic"/>
              </a:rPr>
              <a:t>    –  힌트가 적용되지 않을 수 있음을 알고 실행계획으로 검증하는 절차를 수행한다</a:t>
            </a:r>
          </a:p>
          <a:p>
            <a:r>
              <a:rPr sz="1600" b="0">
                <a:solidFill>
                  <a:srgbClr val="5A6672"/>
                </a:solidFill>
                <a:latin typeface="Malgun Gothic"/>
              </a:rPr>
              <a:t>    –  실행계획에 나타난 내부 뷰를 쿼리 변환의 흔적으로 읽는다</a:t>
            </a:r>
          </a:p>
          <a:p>
            <a:r>
              <a:rPr sz="1600" b="0">
                <a:solidFill>
                  <a:srgbClr val="5A6672"/>
                </a:solidFill>
                <a:latin typeface="Malgun Gothic"/>
              </a:rPr>
              <a:t>    –  인덱스 유무·힌트 유무에 따른 Buffers 변화를 근거로 조인 방식을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7.1  Why — 조인을 왜 따로 배우는가</a:t>
            </a:r>
          </a:p>
          <a:p>
            <a:r>
              <a:rPr sz="1800" b="0">
                <a:solidFill>
                  <a:srgbClr val="202830"/>
                </a:solidFill>
                <a:latin typeface="Malgun Gothic"/>
              </a:rPr>
              <a:t>•  7.2  Concept — JOIN의 기본 원리 · NL · Hash · Sort Merge · Driving Table</a:t>
            </a:r>
          </a:p>
          <a:p>
            <a:r>
              <a:rPr sz="1800" b="0">
                <a:solidFill>
                  <a:srgbClr val="202830"/>
                </a:solidFill>
                <a:latin typeface="Malgun Gothic"/>
              </a:rPr>
              <a:t>•  7.3  Oracle Internals — 조인 비용의 구조와 선택 기준</a:t>
            </a:r>
          </a:p>
          <a:p>
            <a:r>
              <a:rPr sz="1800" b="0">
                <a:solidFill>
                  <a:srgbClr val="202830"/>
                </a:solidFill>
                <a:latin typeface="Malgun Gothic"/>
              </a:rPr>
              <a:t>•  7.4  Example — HOSPITALS 와 MEDICAL_CLAIMS 예제 SQL</a:t>
            </a:r>
          </a:p>
          <a:p>
            <a:r>
              <a:rPr sz="1800" b="0">
                <a:solidFill>
                  <a:srgbClr val="202830"/>
                </a:solidFill>
                <a:latin typeface="Malgun Gothic"/>
              </a:rPr>
              <a:t>•  7.5  Execution Plan — 인덱스 없는 상태에서 힌트 강제 실측</a:t>
            </a:r>
          </a:p>
          <a:p>
            <a:r>
              <a:rPr sz="1800" b="0">
                <a:solidFill>
                  <a:srgbClr val="202830"/>
                </a:solidFill>
                <a:latin typeface="Malgun Gothic"/>
              </a:rPr>
              <a:t>•  7.6  Bad SQL — 힌트가 의도대로 안 먹힌 사례</a:t>
            </a:r>
          </a:p>
          <a:p>
            <a:r>
              <a:rPr sz="1800" b="0">
                <a:solidFill>
                  <a:srgbClr val="202830"/>
                </a:solidFill>
                <a:latin typeface="Malgun Gothic"/>
              </a:rPr>
              <a:t>•  7.7  Tuning — 인덱스를 만들면 힌트 없이도 NL이 선택됨</a:t>
            </a:r>
          </a:p>
          <a:p>
            <a:r>
              <a:rPr sz="1800" b="0">
                <a:solidFill>
                  <a:srgbClr val="202830"/>
                </a:solidFill>
                <a:latin typeface="Malgun Gothic"/>
              </a:rPr>
              <a:t>•  7.8  Benchmark — 다섯 번의 실행 종합 비교</a:t>
            </a:r>
          </a:p>
          <a:p>
            <a:r>
              <a:rPr sz="1800" b="0">
                <a:solidFill>
                  <a:srgbClr val="202830"/>
                </a:solidFill>
                <a:latin typeface="Malgun Gothic"/>
              </a:rPr>
              <a:t>•  7.9~7.10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조인을 왜 따로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단일 테이블 접근에서 조인으로</a:t>
            </a:r>
          </a:p>
          <a:p>
            <a:r>
              <a:rPr sz="1600" b="0">
                <a:solidFill>
                  <a:srgbClr val="C5CED6"/>
                </a:solidFill>
                <a:latin typeface="Malgun Gothic"/>
              </a:rPr>
              <a:t>•  조인 방식이 만드는 비용 차이</a:t>
            </a:r>
          </a:p>
          <a:p>
            <a:r>
              <a:rPr sz="1600" b="0">
                <a:solidFill>
                  <a:srgbClr val="C5CED6"/>
                </a:solidFill>
                <a:latin typeface="Malgun Gothic"/>
              </a:rPr>
              <a:t>•  이 차시의 목표와 실습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단일 테이블 접근에서 조인으로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지금까지는 단일 테이블 접근만 다뤘다</a:t>
            </a:r>
          </a:p>
          <a:p>
            <a:r>
              <a:rPr sz="1600" b="0">
                <a:solidFill>
                  <a:srgbClr val="5A6672"/>
                </a:solidFill>
                <a:latin typeface="Malgun Gothic"/>
              </a:rPr>
              <a:t>    –  Full Scan / Index Scan — 한 테이블을 어떻게 읽을 것인가의 문제</a:t>
            </a:r>
          </a:p>
          <a:p>
            <a:r>
              <a:rPr sz="1600" b="0">
                <a:solidFill>
                  <a:srgbClr val="5A6672"/>
                </a:solidFill>
                <a:latin typeface="Malgun Gothic"/>
              </a:rPr>
              <a:t>    –  그러나 실무 SQL 대부분은 여러 테이블을 조인한다</a:t>
            </a:r>
          </a:p>
          <a:p>
            <a:r>
              <a:rPr sz="1800" b="0">
                <a:solidFill>
                  <a:srgbClr val="202830"/>
                </a:solidFill>
                <a:latin typeface="Malgun Gothic"/>
              </a:rPr>
              <a:t>•  조인에는 '어떻게 읽을지'에 더해 '어떻게 짝지을지'가 추가된다</a:t>
            </a:r>
          </a:p>
          <a:p>
            <a:r>
              <a:rPr sz="1600" b="0">
                <a:solidFill>
                  <a:srgbClr val="5A6672"/>
                </a:solidFill>
                <a:latin typeface="Malgun Gothic"/>
              </a:rPr>
              <a:t>    –  같은 결과라도 짝짓는 방식에 따라 비용이 크게 달라질 수 있다</a:t>
            </a:r>
          </a:p>
          <a:p>
            <a:r>
              <a:rPr sz="1600" b="0">
                <a:solidFill>
                  <a:srgbClr val="5A6672"/>
                </a:solidFill>
                <a:latin typeface="Malgun Gothic"/>
              </a:rPr>
              <a:t>    –  접근 경로 선택보다 조인 방식 선택이 더 큰 차이를 만드는 경우가 많다</a:t>
            </a:r>
          </a:p>
          <a:p>
            <a:r>
              <a:rPr sz="1800" b="0">
                <a:solidFill>
                  <a:srgbClr val="202830"/>
                </a:solidFill>
                <a:latin typeface="Malgun Gothic"/>
              </a:rPr>
              <a:t>•  조인 방식은 옵티마이저가 고르지만, 근거를 읽을 줄 알아야 한다</a:t>
            </a:r>
          </a:p>
          <a:p>
            <a:r>
              <a:rPr sz="1600" b="0">
                <a:solidFill>
                  <a:srgbClr val="5A6672"/>
                </a:solidFill>
                <a:latin typeface="Malgun Gothic"/>
              </a:rPr>
              <a:t>    –  잘못 골랐을 때 무엇을 바꿔야 하는지 판단하려면 원리를 알아야 한다</a:t>
            </a:r>
          </a:p>
          <a:p>
            <a:r>
              <a:rPr sz="1600" b="0">
                <a:solidFill>
                  <a:srgbClr val="5A6672"/>
                </a:solidFill>
                <a:latin typeface="Malgun Gothic"/>
              </a:rPr>
              <a:t>    –  이 장에서는 힌트로 방식을 강제해 보며 그 판단 과정을 관찰한다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실습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세 가지 조인 방식의 동작 원리를 단계로 설명할 수 있게 한다</a:t>
            </a:r>
          </a:p>
          <a:p>
            <a:r>
              <a:rPr sz="1800" b="0">
                <a:solidFill>
                  <a:srgbClr val="202830"/>
                </a:solidFill>
                <a:latin typeface="Malgun Gothic"/>
              </a:rPr>
              <a:t>•  목표 2 — 힌트로 방식을 강제했을 때 실제로 적용되는지 실행계획으로 확인한다</a:t>
            </a:r>
          </a:p>
          <a:p>
            <a:r>
              <a:rPr sz="1800" b="0">
                <a:solidFill>
                  <a:srgbClr val="202830"/>
                </a:solidFill>
                <a:latin typeface="Malgun Gothic"/>
              </a:rPr>
              <a:t>•  실습 소재</a:t>
            </a:r>
          </a:p>
          <a:p>
            <a:r>
              <a:rPr sz="1600" b="0">
                <a:solidFill>
                  <a:srgbClr val="5A6672"/>
                </a:solidFill>
                <a:latin typeface="Malgun Gothic"/>
              </a:rPr>
              <a:t>    –  HOSPITALS(1,000건) 중 HOSP_ID &lt;= 5 로 좁힌 5건</a:t>
            </a:r>
          </a:p>
          <a:p>
            <a:r>
              <a:rPr sz="1600" b="0">
                <a:solidFill>
                  <a:srgbClr val="5A6672"/>
                </a:solidFill>
                <a:latin typeface="Malgun Gothic"/>
              </a:rPr>
              <a:t>    –  MEDICAL_CLAIMS(30만 건)와 HOSP_ID 로 조인</a:t>
            </a:r>
          </a:p>
          <a:p>
            <a:r>
              <a:rPr sz="1600" b="0">
                <a:solidFill>
                  <a:srgbClr val="5A6672"/>
                </a:solidFill>
                <a:latin typeface="Malgun Gothic"/>
              </a:rPr>
              <a:t>    –  인덱스 유무 · 힌트 유무를 바꿔 가며 반복 실측</a:t>
            </a:r>
          </a:p>
          <a:p>
            <a:r>
              <a:rPr sz="1800" b="0">
                <a:solidFill>
                  <a:srgbClr val="202830"/>
                </a:solidFill>
                <a:latin typeface="Malgun Gothic"/>
              </a:rPr>
              <a:t>•  이 차시는 실습용 인덱스를 만들고 지운다</a:t>
            </a:r>
          </a:p>
          <a:p>
            <a:r>
              <a:rPr sz="1600" b="0">
                <a:solidFill>
                  <a:srgbClr val="5A6672"/>
                </a:solidFill>
                <a:latin typeface="Malgun Gothic"/>
              </a:rPr>
              <a:t>    –  IX_CH07_ 접두어로 만들고 종료 시 반드시 삭제한다</a:t>
            </a:r>
          </a:p>
          <a:p>
            <a:r>
              <a:rPr sz="1600" b="0">
                <a:solidFill>
                  <a:srgbClr val="5A6672"/>
                </a:solidFill>
                <a:latin typeface="Malgun Gothic"/>
              </a:rPr>
              <a:t>    –  정리 후 MEDICAL_CLAIMS 에 PK_MEDICAL_CLAIMS 만 남는지 확인한다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조인의 기본 원리와 세 가지 방식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JOIN의 정의와 결정해야 할 두 가지</a:t>
            </a:r>
          </a:p>
          <a:p>
            <a:r>
              <a:rPr sz="1600" b="0">
                <a:solidFill>
                  <a:srgbClr val="C5CED6"/>
                </a:solidFill>
                <a:latin typeface="Malgun Gothic"/>
              </a:rPr>
              <a:t>•  Nested Loops · Hash · Sort Merge</a:t>
            </a:r>
          </a:p>
          <a:p>
            <a:r>
              <a:rPr sz="1600" b="0">
                <a:solidFill>
                  <a:srgbClr val="C5CED6"/>
                </a:solidFill>
                <a:latin typeface="Malgun Gothic"/>
              </a:rPr>
              <a:t>•  Driving Table — 조인을 시작하는 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JOIN의 기본 원리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조인은 두 집합에서 조인 조건에 맞는 행끼리 짝지어 하나로 합치는 연산</a:t>
            </a:r>
          </a:p>
          <a:p>
            <a:r>
              <a:rPr sz="1600" b="0">
                <a:solidFill>
                  <a:srgbClr val="5A6672"/>
                </a:solidFill>
                <a:latin typeface="Malgun Gothic"/>
              </a:rPr>
              <a:t>    –  대상은 테이블일 수도 있고 앞 단계의 결과 집합일 수도 있다</a:t>
            </a:r>
          </a:p>
          <a:p>
            <a:r>
              <a:rPr sz="1600" b="0">
                <a:solidFill>
                  <a:srgbClr val="5A6672"/>
                </a:solidFill>
                <a:latin typeface="Malgun Gothic"/>
              </a:rPr>
              <a:t>    –  세 테이블 이상의 조인도 결국 두 집합씩 차례로 처리한다</a:t>
            </a:r>
          </a:p>
          <a:p>
            <a:r>
              <a:rPr sz="1800" b="0">
                <a:solidFill>
                  <a:srgbClr val="202830"/>
                </a:solidFill>
                <a:latin typeface="Malgun Gothic"/>
              </a:rPr>
              <a:t>•  조인에서 결정해야 할 것은 두 가지다</a:t>
            </a:r>
          </a:p>
          <a:p>
            <a:r>
              <a:rPr sz="1600" b="0">
                <a:solidFill>
                  <a:srgbClr val="5A6672"/>
                </a:solidFill>
                <a:latin typeface="Malgun Gothic"/>
              </a:rPr>
              <a:t>    –  어느 쪽을 먼저 읽을 것인가 — 조인 순서와 Driving Table</a:t>
            </a:r>
          </a:p>
          <a:p>
            <a:r>
              <a:rPr sz="1600" b="0">
                <a:solidFill>
                  <a:srgbClr val="5A6672"/>
                </a:solidFill>
                <a:latin typeface="Malgun Gothic"/>
              </a:rPr>
              <a:t>    –  짝을 어떤 방법으로 찾을 것인가 — 조인 방식</a:t>
            </a:r>
          </a:p>
          <a:p>
            <a:r>
              <a:rPr sz="1800" b="0">
                <a:solidFill>
                  <a:srgbClr val="202830"/>
                </a:solidFill>
                <a:latin typeface="Malgun Gothic"/>
              </a:rPr>
              <a:t>•  Oracle이 쓰는 대표적인 조인 방식은 세 가지다</a:t>
            </a:r>
          </a:p>
          <a:p>
            <a:r>
              <a:rPr sz="1600" b="0">
                <a:solidFill>
                  <a:srgbClr val="5A6672"/>
                </a:solidFill>
                <a:latin typeface="Malgun Gothic"/>
              </a:rPr>
              <a:t>    –  Nested Loops Join — 반복 탐색</a:t>
            </a:r>
          </a:p>
          <a:p>
            <a:r>
              <a:rPr sz="1600" b="0">
                <a:solidFill>
                  <a:srgbClr val="5A6672"/>
                </a:solidFill>
                <a:latin typeface="Malgun Gothic"/>
              </a:rPr>
              <a:t>    –  Hash Join — 해시 테이블을 만들어 한 번 훑기</a:t>
            </a:r>
          </a:p>
          <a:p>
            <a:r>
              <a:rPr sz="1600" b="0">
                <a:solidFill>
                  <a:srgbClr val="5A6672"/>
                </a:solidFill>
                <a:latin typeface="Malgun Gothic"/>
              </a:rPr>
              <a:t>    –  Sort Merge Join — 정렬한 뒤 병합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Nested Loops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Outer(드라이빙)의 각 행마다 Inner(드리븐)에서 맞는 행을 찾아 반복 결합</a:t>
            </a:r>
          </a:p>
          <a:p>
            <a:r>
              <a:rPr sz="1800" b="0">
                <a:solidFill>
                  <a:srgbClr val="202830"/>
                </a:solidFill>
                <a:latin typeface="Malgun Gothic"/>
              </a:rPr>
              <a:t>•  처리 흐름</a:t>
            </a:r>
          </a:p>
          <a:p>
            <a:r>
              <a:rPr sz="1600" b="0">
                <a:solidFill>
                  <a:srgbClr val="5A6672"/>
                </a:solidFill>
                <a:latin typeface="Malgun Gothic"/>
              </a:rPr>
              <a:t>    –  ① Outer 테이블을 조건으로 걸러 결과 행을 하나씩 꺼낸다</a:t>
            </a:r>
          </a:p>
          <a:p>
            <a:r>
              <a:rPr sz="1600" b="0">
                <a:solidFill>
                  <a:srgbClr val="5A6672"/>
                </a:solidFill>
                <a:latin typeface="Malgun Gothic"/>
              </a:rPr>
              <a:t>    –  ② 꺼낸 행의 조인 컬럼 값으로 Inner 테이블을 탐색한다</a:t>
            </a:r>
          </a:p>
          <a:p>
            <a:r>
              <a:rPr sz="1600" b="0">
                <a:solidFill>
                  <a:srgbClr val="5A6672"/>
                </a:solidFill>
                <a:latin typeface="Malgun Gothic"/>
              </a:rPr>
              <a:t>    –  ③ 매칭된 행을 결합해 상위 오퍼레이션으로 넘긴다</a:t>
            </a:r>
          </a:p>
          <a:p>
            <a:r>
              <a:rPr sz="1600" b="0">
                <a:solidFill>
                  <a:srgbClr val="5A6672"/>
                </a:solidFill>
                <a:latin typeface="Malgun Gothic"/>
              </a:rPr>
              <a:t>    –  ④ Outer 행이 남아 있으면 ②로 돌아가 반복한다</a:t>
            </a:r>
          </a:p>
          <a:p>
            <a:r>
              <a:rPr sz="1800" b="0">
                <a:solidFill>
                  <a:srgbClr val="202830"/>
                </a:solidFill>
                <a:latin typeface="Malgun Gothic"/>
              </a:rPr>
              <a:t>•  실행계획에서 확인하는 법</a:t>
            </a:r>
          </a:p>
          <a:p>
            <a:r>
              <a:rPr sz="1600" b="0">
                <a:solidFill>
                  <a:srgbClr val="5A6672"/>
                </a:solidFill>
                <a:latin typeface="Malgun Gothic"/>
              </a:rPr>
              <a:t>    –  조인 오퍼레이션 이름이 NESTED LOOPS 로 나타난다</a:t>
            </a:r>
          </a:p>
          <a:p>
            <a:r>
              <a:rPr sz="1600" b="0">
                <a:solidFill>
                  <a:srgbClr val="5A6672"/>
                </a:solidFill>
                <a:latin typeface="Malgun Gothic"/>
              </a:rPr>
              <a:t>    –  Inner 쪽 단계의 Starts 값이 Outer 결과 행 수와 같아진다</a:t>
            </a:r>
          </a:p>
          <a:p>
            <a:r>
              <a:rPr sz="1800" b="0">
                <a:solidFill>
                  <a:srgbClr val="202830"/>
                </a:solidFill>
                <a:latin typeface="Malgun Gothic"/>
              </a:rPr>
              <a:t>•  결합된 행을 하나씩 바로 내보내는 구조라 첫 행이 빨리 나온다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작은 쪽으로 해시 테이블을 메모리에 만든 뒤 큰 쪽을 한 번 훑어 매칭</a:t>
            </a:r>
          </a:p>
          <a:p>
            <a:r>
              <a:rPr sz="1800" b="0">
                <a:solidFill>
                  <a:srgbClr val="202830"/>
                </a:solidFill>
                <a:latin typeface="Malgun Gothic"/>
              </a:rPr>
              <a:t>•  처리 흐름</a:t>
            </a:r>
          </a:p>
          <a:p>
            <a:r>
              <a:rPr sz="1600" b="0">
                <a:solidFill>
                  <a:srgbClr val="5A6672"/>
                </a:solidFill>
                <a:latin typeface="Malgun Gothic"/>
              </a:rPr>
              <a:t>    –  ① Build — 작은 쪽을 읽어 조인 컬럼을 해시해 메모리에 적재한다</a:t>
            </a:r>
          </a:p>
          <a:p>
            <a:r>
              <a:rPr sz="1600" b="0">
                <a:solidFill>
                  <a:srgbClr val="5A6672"/>
                </a:solidFill>
                <a:latin typeface="Malgun Gothic"/>
              </a:rPr>
              <a:t>    –  ② Probe — 큰 쪽을 한 번 읽으며 같은 해시 함수로 대응 위치를 찾는다</a:t>
            </a:r>
          </a:p>
          <a:p>
            <a:r>
              <a:rPr sz="1600" b="0">
                <a:solidFill>
                  <a:srgbClr val="5A6672"/>
                </a:solidFill>
                <a:latin typeface="Malgun Gothic"/>
              </a:rPr>
              <a:t>    –  ③ 같은 버킷 안에서 조인 컬럼 값이 실제로 같은 행만 결합한다</a:t>
            </a:r>
          </a:p>
          <a:p>
            <a:r>
              <a:rPr sz="1800" b="0">
                <a:solidFill>
                  <a:srgbClr val="202830"/>
                </a:solidFill>
                <a:latin typeface="Malgun Gothic"/>
              </a:rPr>
              <a:t>•  특징</a:t>
            </a:r>
          </a:p>
          <a:p>
            <a:r>
              <a:rPr sz="1600" b="0">
                <a:solidFill>
                  <a:srgbClr val="5A6672"/>
                </a:solidFill>
                <a:latin typeface="Malgun Gothic"/>
              </a:rPr>
              <a:t>    –  양쪽을 각각 한 번씩만 읽으므로 반복 탐색이 없다</a:t>
            </a:r>
          </a:p>
          <a:p>
            <a:r>
              <a:rPr sz="1600" b="0">
                <a:solidFill>
                  <a:srgbClr val="5A6672"/>
                </a:solidFill>
                <a:latin typeface="Malgun Gothic"/>
              </a:rPr>
              <a:t>    –  해시로 위치를 찾는 방식이라 등가 조인에만 쓸 수 있다</a:t>
            </a:r>
          </a:p>
          <a:p>
            <a:r>
              <a:rPr sz="1600" b="0">
                <a:solidFill>
                  <a:srgbClr val="5A6672"/>
                </a:solidFill>
                <a:latin typeface="Malgun Gothic"/>
              </a:rPr>
              <a:t>    –  해시 테이블이 메모리에 다 들어가지 않으면 디스크로 분할해 처리한다</a:t>
            </a:r>
          </a:p>
          <a:p>
            <a:r>
              <a:rPr sz="1800" b="0">
                <a:solidFill>
                  <a:srgbClr val="202830"/>
                </a:solidFill>
                <a:latin typeface="Malgun Gothic"/>
              </a:rPr>
              <a:t>•  실행계획에서는 HASH JOIN 으로 나타난다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Sort Merge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양쪽을 조인 컬럼 기준으로 정렬한 뒤 한 번씩 훑어 병합</a:t>
            </a:r>
          </a:p>
          <a:p>
            <a:r>
              <a:rPr sz="1800" b="0">
                <a:solidFill>
                  <a:srgbClr val="202830"/>
                </a:solidFill>
                <a:latin typeface="Malgun Gothic"/>
              </a:rPr>
              <a:t>•  처리 흐름</a:t>
            </a:r>
          </a:p>
          <a:p>
            <a:r>
              <a:rPr sz="1600" b="0">
                <a:solidFill>
                  <a:srgbClr val="5A6672"/>
                </a:solidFill>
                <a:latin typeface="Malgun Gothic"/>
              </a:rPr>
              <a:t>    –  ① 양쪽 집합을 각각 조인 컬럼으로 정렬한다 (이미 정렬돼 있으면 생략)</a:t>
            </a:r>
          </a:p>
          <a:p>
            <a:r>
              <a:rPr sz="1600" b="0">
                <a:solidFill>
                  <a:srgbClr val="5A6672"/>
                </a:solidFill>
                <a:latin typeface="Malgun Gothic"/>
              </a:rPr>
              <a:t>    –  ② 정렬된 두 스트림을 앞에서부터 나란히 비교한다</a:t>
            </a:r>
          </a:p>
          <a:p>
            <a:r>
              <a:rPr sz="1600" b="0">
                <a:solidFill>
                  <a:srgbClr val="5A6672"/>
                </a:solidFill>
                <a:latin typeface="Malgun Gothic"/>
              </a:rPr>
              <a:t>    –  ③ 값이 같으면 결합하고, 작은 쪽 스트림을 한 칸 전진시킨다</a:t>
            </a:r>
          </a:p>
          <a:p>
            <a:r>
              <a:rPr sz="1800" b="0">
                <a:solidFill>
                  <a:srgbClr val="202830"/>
                </a:solidFill>
                <a:latin typeface="Malgun Gothic"/>
              </a:rPr>
              <a:t>•  특징</a:t>
            </a:r>
          </a:p>
          <a:p>
            <a:r>
              <a:rPr sz="1600" b="0">
                <a:solidFill>
                  <a:srgbClr val="5A6672"/>
                </a:solidFill>
                <a:latin typeface="Malgun Gothic"/>
              </a:rPr>
              <a:t>    –  정렬 비용이 크지만, 정렬이 끝나면 각각 한 번씩만 읽는다</a:t>
            </a:r>
          </a:p>
          <a:p>
            <a:r>
              <a:rPr sz="1600" b="0">
                <a:solidFill>
                  <a:srgbClr val="5A6672"/>
                </a:solidFill>
                <a:latin typeface="Malgun Gothic"/>
              </a:rPr>
              <a:t>    –  부등호 조인에도 쓸 수 있다는 점이 Hash Join과 다르다</a:t>
            </a:r>
          </a:p>
          <a:p>
            <a:r>
              <a:rPr sz="1600" b="0">
                <a:solidFill>
                  <a:srgbClr val="5A6672"/>
                </a:solidFill>
                <a:latin typeface="Malgun Gothic"/>
              </a:rPr>
              <a:t>    –  인덱스로 이미 정렬된 순서를 얻으면 정렬 단계를 줄일 수 있다</a:t>
            </a:r>
          </a:p>
          <a:p>
            <a:r>
              <a:rPr sz="1800" b="0">
                <a:solidFill>
                  <a:srgbClr val="202830"/>
                </a:solidFill>
                <a:latin typeface="Malgun Gothic"/>
              </a:rPr>
              <a:t>•  이번 차시의 실측 대상은 NL과 Hash 두 가지다 — Sort Merge는 원리만 짚는다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Driving Table — 조인을 시작하는 쪽</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조인을 시작하는 기준이 되는 테이블</a:t>
            </a:r>
          </a:p>
          <a:p>
            <a:r>
              <a:rPr sz="1600" b="0">
                <a:solidFill>
                  <a:srgbClr val="5A6672"/>
                </a:solidFill>
                <a:latin typeface="Malgun Gothic"/>
              </a:rPr>
              <a:t>    –  NL에서는 Outer 쪽, Hash Join에서는 Build 쪽에 해당한다</a:t>
            </a:r>
          </a:p>
          <a:p>
            <a:r>
              <a:rPr sz="1800" b="0">
                <a:solidFill>
                  <a:srgbClr val="202830"/>
                </a:solidFill>
                <a:latin typeface="Malgun Gothic"/>
              </a:rPr>
              <a:t>•  왜 중요한가</a:t>
            </a:r>
          </a:p>
          <a:p>
            <a:r>
              <a:rPr sz="1600" b="0">
                <a:solidFill>
                  <a:srgbClr val="5A6672"/>
                </a:solidFill>
                <a:latin typeface="Malgun Gothic"/>
              </a:rPr>
              <a:t>    –  NL에서는 Driving 쪽 행 수가 그대로 Inner 반복 횟수가 된다</a:t>
            </a:r>
          </a:p>
          <a:p>
            <a:r>
              <a:rPr sz="1600" b="0">
                <a:solidFill>
                  <a:srgbClr val="5A6672"/>
                </a:solidFill>
                <a:latin typeface="Malgun Gothic"/>
              </a:rPr>
              <a:t>    –  Hash Join에서는 Build 쪽 크기가 해시 테이블 메모리 사용량을 좌우한다</a:t>
            </a:r>
          </a:p>
          <a:p>
            <a:r>
              <a:rPr sz="1800" b="0">
                <a:solidFill>
                  <a:srgbClr val="202830"/>
                </a:solidFill>
                <a:latin typeface="Malgun Gothic"/>
              </a:rPr>
              <a:t>•  실행계획에서 찾는 법</a:t>
            </a:r>
          </a:p>
          <a:p>
            <a:r>
              <a:rPr sz="1600" b="0">
                <a:solidFill>
                  <a:srgbClr val="5A6672"/>
                </a:solidFill>
                <a:latin typeface="Malgun Gothic"/>
              </a:rPr>
              <a:t>    –  조인 오퍼레이션 바로 아래 두 자식 중 먼저 나오는 쪽이 Driving</a:t>
            </a:r>
          </a:p>
          <a:p>
            <a:r>
              <a:rPr sz="1600" b="0">
                <a:solidFill>
                  <a:srgbClr val="5A6672"/>
                </a:solidFill>
                <a:latin typeface="Malgun Gothic"/>
              </a:rPr>
              <a:t>    –  Starts 컬럼을 보면 Driving 쪽은 작고 반복되는 쪽은 그보다 크다</a:t>
            </a:r>
          </a:p>
          <a:p>
            <a:r>
              <a:rPr sz="1800" b="0">
                <a:solidFill>
                  <a:srgbClr val="202830"/>
                </a:solidFill>
                <a:latin typeface="Malgun Gothic"/>
              </a:rPr>
              <a:t>•  일반적으로 먼저 걸러져 행 수가 적어진 쪽이 Driving으로 적합하다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 비용의 구조와 선택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NL Join 비용 — 곱셈 구조</a:t>
            </a:r>
          </a:p>
          <a:p>
            <a:r>
              <a:rPr sz="1600" b="0">
                <a:solidFill>
                  <a:srgbClr val="C5CED6"/>
                </a:solidFill>
                <a:latin typeface="Malgun Gothic"/>
              </a:rPr>
              <a:t>•  Hash Join 비용 — 덧셈 구조</a:t>
            </a:r>
          </a:p>
          <a:p>
            <a:r>
              <a:rPr sz="1600" b="0">
                <a:solidFill>
                  <a:srgbClr val="C5CED6"/>
                </a:solidFill>
                <a:latin typeface="Malgun Gothic"/>
              </a:rPr>
              <a:t>•  힌트는 지시일 뿐 보장이 아니다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NL Join의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 ≈ Outer 쪽 행 수 × (Inner 쪽에서 한 번 찾는 비용)</a:t>
            </a:r>
          </a:p>
          <a:p>
            <a:r>
              <a:rPr sz="1600" b="0">
                <a:solidFill>
                  <a:srgbClr val="5A6672"/>
                </a:solidFill>
                <a:latin typeface="Malgun Gothic"/>
              </a:rPr>
              <a:t>    –  곱셈 구조라 Outer 행 수가 늘면 비용이 그에 비례해 늘어난다</a:t>
            </a:r>
          </a:p>
          <a:p>
            <a:r>
              <a:rPr sz="1800" b="0">
                <a:solidFill>
                  <a:srgbClr val="202830"/>
                </a:solidFill>
                <a:latin typeface="Malgun Gothic"/>
              </a:rPr>
              <a:t>•  Inner 쪽 조인 컬럼에 인덱스가 있어야 '한 번 찾는 비용'이 저렴하다</a:t>
            </a:r>
          </a:p>
          <a:p>
            <a:r>
              <a:rPr sz="1600" b="0">
                <a:solidFill>
                  <a:srgbClr val="5A6672"/>
                </a:solidFill>
                <a:latin typeface="Malgun Gothic"/>
              </a:rPr>
              <a:t>    –  인덱스가 있으면 한 번의 탐색이 인덱스 몇 블록 읽기로 끝난다</a:t>
            </a:r>
          </a:p>
          <a:p>
            <a:r>
              <a:rPr sz="1600" b="0">
                <a:solidFill>
                  <a:srgbClr val="5A6672"/>
                </a:solidFill>
                <a:latin typeface="Malgun Gothic"/>
              </a:rPr>
              <a:t>    –  인덱스가 없으면 Outer 행 하나마다 Inner 테이블을 통째로 훑어야 한다</a:t>
            </a:r>
          </a:p>
          <a:p>
            <a:r>
              <a:rPr sz="1800" b="0">
                <a:solidFill>
                  <a:srgbClr val="202830"/>
                </a:solidFill>
                <a:latin typeface="Malgun Gothic"/>
              </a:rPr>
              <a:t>•  인덱스 없는 NL이 치명적인 이유</a:t>
            </a:r>
          </a:p>
          <a:p>
            <a:r>
              <a:rPr sz="1600" b="0">
                <a:solidFill>
                  <a:srgbClr val="5A6672"/>
                </a:solidFill>
                <a:latin typeface="Malgun Gothic"/>
              </a:rPr>
              <a:t>    –  테이블 전체 스캔이 Outer 행 수만큼 반복되는 구조가 된다</a:t>
            </a:r>
          </a:p>
          <a:p>
            <a:r>
              <a:rPr sz="1600" b="0">
                <a:solidFill>
                  <a:srgbClr val="5A6672"/>
                </a:solidFill>
                <a:latin typeface="Malgun Gothic"/>
              </a:rPr>
              <a:t>    –  Outer가 조금만 커져도 감당하기 어려운 비용이 된다</a:t>
            </a:r>
          </a:p>
          <a:p>
            <a:r>
              <a:rPr sz="1800" b="0">
                <a:solidFill>
                  <a:srgbClr val="202830"/>
                </a:solidFill>
                <a:latin typeface="Malgun Gothic"/>
              </a:rPr>
              <a:t>•  그래서 NL은 '작은 Outer + 인덱스 있는 Inner'라는 조건이 붙는 기법이다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Join의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 ≈ 두 테이블을 각각 한 번씩 읽는 비용 (Build 한 번 + Probe 한 번)</a:t>
            </a:r>
          </a:p>
          <a:p>
            <a:r>
              <a:rPr sz="1600" b="0">
                <a:solidFill>
                  <a:srgbClr val="5A6672"/>
                </a:solidFill>
                <a:latin typeface="Malgun Gothic"/>
              </a:rPr>
              <a:t>    –  곱셈이 아니라 덧셈 구조다</a:t>
            </a:r>
          </a:p>
          <a:p>
            <a:r>
              <a:rPr sz="1800" b="0">
                <a:solidFill>
                  <a:srgbClr val="202830"/>
                </a:solidFill>
                <a:latin typeface="Malgun Gothic"/>
              </a:rPr>
              <a:t>•  Outer 쪽에 인덱스가 없어도 상대적으로 안정적이다</a:t>
            </a:r>
          </a:p>
          <a:p>
            <a:r>
              <a:rPr sz="1600" b="0">
                <a:solidFill>
                  <a:srgbClr val="5A6672"/>
                </a:solidFill>
                <a:latin typeface="Malgun Gothic"/>
              </a:rPr>
              <a:t>    –  반복 탐색이 없으므로 인덱스가 없다는 사실이 곧바로 재앙이 되지 않는다</a:t>
            </a:r>
          </a:p>
          <a:p>
            <a:r>
              <a:rPr sz="1600" b="0">
                <a:solidFill>
                  <a:srgbClr val="5A6672"/>
                </a:solidFill>
                <a:latin typeface="Malgun Gothic"/>
              </a:rPr>
              <a:t>    –  대신 Build 쪽을 담을 작업 영역 메모리가 필요하다</a:t>
            </a:r>
          </a:p>
          <a:p>
            <a:r>
              <a:rPr sz="1800" b="0">
                <a:solidFill>
                  <a:srgbClr val="202830"/>
                </a:solidFill>
                <a:latin typeface="Malgun Gothic"/>
              </a:rPr>
              <a:t>•  대량 데이터를 한꺼번에 처리하는 조인에 잘 맞는다</a:t>
            </a:r>
          </a:p>
          <a:p>
            <a:r>
              <a:rPr sz="1600" b="0">
                <a:solidFill>
                  <a:srgbClr val="5A6672"/>
                </a:solidFill>
                <a:latin typeface="Malgun Gothic"/>
              </a:rPr>
              <a:t>    –  전체 결과를 다 만들어야 하는 집계 쿼리에 유리하다</a:t>
            </a:r>
          </a:p>
          <a:p>
            <a:r>
              <a:rPr sz="1800" b="0">
                <a:solidFill>
                  <a:srgbClr val="202830"/>
                </a:solidFill>
                <a:latin typeface="Malgun Gothic"/>
              </a:rPr>
              <a:t>•  다만 첫 행이 나오려면 Build가 끝나야 한다</a:t>
            </a:r>
          </a:p>
          <a:p>
            <a:r>
              <a:rPr sz="1600" b="0">
                <a:solidFill>
                  <a:srgbClr val="5A6672"/>
                </a:solidFill>
                <a:latin typeface="Malgun Gothic"/>
              </a:rPr>
              <a:t>    –  앞쪽 몇 건만 빨리 보여 주는 화면 조회에는 불리할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방식 비교와 선택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Nested Loops</a:t>
            </a:r>
          </a:p>
          <a:p>
            <a:r>
              <a:rPr sz="1600" b="0">
                <a:solidFill>
                  <a:srgbClr val="5A6672"/>
                </a:solidFill>
                <a:latin typeface="Malgun Gothic"/>
              </a:rPr>
              <a:t>    –  한쪽이 매우 작고 다른 쪽 조인 컬럼에 인덱스가 있을 때 유리</a:t>
            </a:r>
          </a:p>
          <a:p>
            <a:r>
              <a:rPr sz="1600" b="0">
                <a:solidFill>
                  <a:srgbClr val="5A6672"/>
                </a:solidFill>
                <a:latin typeface="Malgun Gothic"/>
              </a:rPr>
              <a:t>    –  첫 행을 빨리 내보내야 하는 온라인 조회에 적합</a:t>
            </a:r>
          </a:p>
          <a:p>
            <a:r>
              <a:rPr sz="1800" b="0">
                <a:solidFill>
                  <a:srgbClr val="202830"/>
                </a:solidFill>
                <a:latin typeface="Malgun Gothic"/>
              </a:rPr>
              <a:t>•  Hash Join</a:t>
            </a:r>
          </a:p>
          <a:p>
            <a:r>
              <a:rPr sz="1600" b="0">
                <a:solidFill>
                  <a:srgbClr val="5A6672"/>
                </a:solidFill>
                <a:latin typeface="Malgun Gothic"/>
              </a:rPr>
              <a:t>    –  양쪽이 다 크거나 인덱스가 없을 때 유리 — 등가 조인 전용</a:t>
            </a:r>
          </a:p>
          <a:p>
            <a:r>
              <a:rPr sz="1600" b="0">
                <a:solidFill>
                  <a:srgbClr val="5A6672"/>
                </a:solidFill>
                <a:latin typeface="Malgun Gothic"/>
              </a:rPr>
              <a:t>    –  작업 영역 메모리를 쓰는 대신 반복 탐색이 없다</a:t>
            </a:r>
          </a:p>
          <a:p>
            <a:r>
              <a:rPr sz="1800" b="0">
                <a:solidFill>
                  <a:srgbClr val="202830"/>
                </a:solidFill>
                <a:latin typeface="Malgun Gothic"/>
              </a:rPr>
              <a:t>•  Sort Merge Join</a:t>
            </a:r>
          </a:p>
          <a:p>
            <a:r>
              <a:rPr sz="1600" b="0">
                <a:solidFill>
                  <a:srgbClr val="5A6672"/>
                </a:solidFill>
                <a:latin typeface="Malgun Gothic"/>
              </a:rPr>
              <a:t>    –  정렬 순서를 이미 확보했거나 비등가 조인이 필요할 때 후보</a:t>
            </a:r>
          </a:p>
          <a:p>
            <a:r>
              <a:rPr sz="1800" b="0">
                <a:solidFill>
                  <a:srgbClr val="202830"/>
                </a:solidFill>
                <a:latin typeface="Malgun Gothic"/>
              </a:rPr>
              <a:t>•  절대적 규칙이 아니다</a:t>
            </a:r>
          </a:p>
          <a:p>
            <a:r>
              <a:rPr sz="1600" b="0">
                <a:solidFill>
                  <a:srgbClr val="5A6672"/>
                </a:solidFill>
                <a:latin typeface="Malgun Gothic"/>
              </a:rPr>
              <a:t>    –  최종 판단은 옵티마이저가 통계정보로 비용을 계산해서 내린다</a:t>
            </a:r>
          </a:p>
          <a:p>
            <a:r>
              <a:rPr sz="1600" b="0">
                <a:solidFill>
                  <a:srgbClr val="5A6672"/>
                </a:solidFill>
                <a:latin typeface="Malgun Gothic"/>
              </a:rPr>
              <a:t>    –  우리가 할 일은 옵티마이저가 좋은 판단을 하도록 조건을 갖추는 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힌트는 지시일 뿐 보장이 아니다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힌트는 옵티마이저에게 전달하는 '지시'다</a:t>
            </a:r>
          </a:p>
          <a:p>
            <a:r>
              <a:rPr sz="1600" b="0">
                <a:solidFill>
                  <a:srgbClr val="5A6672"/>
                </a:solidFill>
                <a:latin typeface="Malgun Gothic"/>
              </a:rPr>
              <a:t>    –  문법이 맞아도 적용이 거부되면 아무 오류 없이 조용히 무시된다</a:t>
            </a:r>
          </a:p>
          <a:p>
            <a:r>
              <a:rPr sz="1800" b="0">
                <a:solidFill>
                  <a:srgbClr val="202830"/>
                </a:solidFill>
                <a:latin typeface="Malgun Gothic"/>
              </a:rPr>
              <a:t>•  옵티마이저는 실행 전에 쿼리를 내부적으로 변환한다</a:t>
            </a:r>
          </a:p>
          <a:p>
            <a:r>
              <a:rPr sz="1600" b="0">
                <a:solidFill>
                  <a:srgbClr val="5A6672"/>
                </a:solidFill>
                <a:latin typeface="Malgun Gothic"/>
              </a:rPr>
              <a:t>    –  뷰 병합, 서브쿼리 언네스팅, GROUP BY 위치 조정 등</a:t>
            </a:r>
          </a:p>
          <a:p>
            <a:r>
              <a:rPr sz="1600" b="0">
                <a:solidFill>
                  <a:srgbClr val="5A6672"/>
                </a:solidFill>
                <a:latin typeface="Malgun Gothic"/>
              </a:rPr>
              <a:t>    –  변환 후에는 힌트가 가리키던 별칭 조합이 최종 조인과 어긋날 수 있다</a:t>
            </a:r>
          </a:p>
          <a:p>
            <a:r>
              <a:rPr sz="1800" b="0">
                <a:solidFill>
                  <a:srgbClr val="202830"/>
                </a:solidFill>
                <a:latin typeface="Malgun Gothic"/>
              </a:rPr>
              <a:t>•  그래서 힌트를 걸고 나면 반드시 실행계획을 다시 확인해야 한다</a:t>
            </a:r>
          </a:p>
          <a:p>
            <a:r>
              <a:rPr sz="1600" b="0">
                <a:solidFill>
                  <a:srgbClr val="5A6672"/>
                </a:solidFill>
                <a:latin typeface="Malgun Gothic"/>
              </a:rPr>
              <a:t>    –  의도한 오퍼레이션 이름이 실제로 나타났는지 확인한다</a:t>
            </a:r>
          </a:p>
          <a:p>
            <a:r>
              <a:rPr sz="1800" b="0">
                <a:solidFill>
                  <a:srgbClr val="202830"/>
                </a:solidFill>
                <a:latin typeface="Malgun Gothic"/>
              </a:rPr>
              <a:t>•  7.6절에서 이 현상을 실측 사례로 확인한다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실행계획·Buffers·A-Time은 진료비청구심사 실습 DB에서 직접 캡처한 실측값이다.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실습 예제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HOSPITALS 와 MEDICAL_CLAIMS 의 조인</a:t>
            </a:r>
          </a:p>
          <a:p>
            <a:r>
              <a:rPr sz="1600" b="0">
                <a:solidFill>
                  <a:srgbClr val="C5CED6"/>
                </a:solidFill>
                <a:latin typeface="Malgun Gothic"/>
              </a:rPr>
              <a:t>•  조인 조건과 필터 조건</a:t>
            </a:r>
          </a:p>
          <a:p>
            <a:r>
              <a:rPr sz="1600" b="0">
                <a:solidFill>
                  <a:srgbClr val="C5CED6"/>
                </a:solidFill>
                <a:latin typeface="Malgun Gothic"/>
              </a:rPr>
              <a:t>•  GROUP BY가 남기는 복선</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병원 유형별 청구 건수 — HOSPITALS 와 MEDICAL_CLAIMS 의 등가 조인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h.hosp_type, COUNT(*)</a:t>
            </a:r>
          </a:p>
          <a:p>
            <a:r>
              <a:rPr sz="1250" b="0">
                <a:solidFill>
                  <a:srgbClr val="E6E6E6"/>
                </a:solidFill>
                <a:latin typeface="Consolas"/>
              </a:rPr>
              <a:t>FROM   hospitals h, medical_claims m</a:t>
            </a:r>
          </a:p>
          <a:p>
            <a:r>
              <a:rPr sz="1250" b="0">
                <a:solidFill>
                  <a:srgbClr val="E6E6E6"/>
                </a:solidFill>
                <a:latin typeface="Consolas"/>
              </a:rPr>
              <a:t>WHERE  h.hosp_id = m.hosp_id</a:t>
            </a:r>
          </a:p>
          <a:p>
            <a:r>
              <a:rPr sz="1250" b="0">
                <a:solidFill>
                  <a:srgbClr val="E6E6E6"/>
                </a:solidFill>
                <a:latin typeface="Consolas"/>
              </a:rPr>
              <a:t>AND    h.hosp_id &lt;= 5</a:t>
            </a:r>
          </a:p>
          <a:p>
            <a:r>
              <a:rPr sz="1250" b="0">
                <a:solidFill>
                  <a:srgbClr val="E6E6E6"/>
                </a:solidFill>
                <a:latin typeface="Consolas"/>
              </a:rPr>
              <a:t>GROUP  BY h.hosp_type;</a:t>
            </a:r>
          </a:p>
          <a:p>
            <a:r>
              <a:rPr sz="1250" b="0">
                <a:solidFill>
                  <a:srgbClr val="E6E6E6"/>
                </a:solidFill>
                <a:latin typeface="Consolas"/>
              </a:rPr>
              <a:t> </a:t>
            </a:r>
          </a:p>
          <a:p>
            <a:r>
              <a:rPr sz="1250" b="0">
                <a:solidFill>
                  <a:srgbClr val="7EC699"/>
                </a:solidFill>
                <a:latin typeface="Consolas"/>
              </a:rPr>
              <a:t>-- HOSPITALS(1,000건) 중 HOSP_ID &lt;= 5 조건으로 5건만 남는다</a:t>
            </a:r>
          </a:p>
          <a:p>
            <a:r>
              <a:rPr sz="1250" b="0">
                <a:solidFill>
                  <a:srgbClr val="7EC699"/>
                </a:solidFill>
                <a:latin typeface="Consolas"/>
              </a:rPr>
              <a:t>-- MEDICAL_CLAIMS(30만 건)와 HOSP_ID 로 조인한다</a:t>
            </a:r>
          </a:p>
          <a:p>
            <a:r>
              <a:rPr sz="1250" b="0">
                <a:solidFill>
                  <a:srgbClr val="7EC699"/>
                </a:solidFill>
                <a:latin typeface="Consolas"/>
              </a:rPr>
              <a:t>-- 이 한 문장을 인덱스 유무 · 힌트 유무만 바꿔 가며 반복 실행한다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쿼리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조건 — h.hosp_id = m.hosp_id</a:t>
            </a:r>
          </a:p>
          <a:p>
            <a:r>
              <a:rPr sz="1600" b="0">
                <a:solidFill>
                  <a:srgbClr val="5A6672"/>
                </a:solidFill>
                <a:latin typeface="Malgun Gothic"/>
              </a:rPr>
              <a:t>    –  등가 조인이므로 NL · Hash · Sort Merge 세 방식이 모두 후보가 된다</a:t>
            </a:r>
          </a:p>
          <a:p>
            <a:r>
              <a:rPr sz="1800" b="0">
                <a:solidFill>
                  <a:srgbClr val="202830"/>
                </a:solidFill>
                <a:latin typeface="Malgun Gothic"/>
              </a:rPr>
              <a:t>•  필터 조건 — h.hosp_id &lt;= 5</a:t>
            </a:r>
          </a:p>
          <a:p>
            <a:r>
              <a:rPr sz="1600" b="0">
                <a:solidFill>
                  <a:srgbClr val="5A6672"/>
                </a:solidFill>
                <a:latin typeface="Malgun Gothic"/>
              </a:rPr>
              <a:t>    –  HOSPITALS 1,000건 중 5건만 남는다 — 한쪽이 매우 작아지는 상황</a:t>
            </a:r>
          </a:p>
          <a:p>
            <a:r>
              <a:rPr sz="1600" b="0">
                <a:solidFill>
                  <a:srgbClr val="5A6672"/>
                </a:solidFill>
                <a:latin typeface="Malgun Gothic"/>
              </a:rPr>
              <a:t>    –  교과서적으로는 NL의 Outer로 삼기 좋은 조건이다</a:t>
            </a:r>
          </a:p>
          <a:p>
            <a:r>
              <a:rPr sz="1800" b="0">
                <a:solidFill>
                  <a:srgbClr val="202830"/>
                </a:solidFill>
                <a:latin typeface="Malgun Gothic"/>
              </a:rPr>
              <a:t>•  집계 — GROUP BY h.hosp_type</a:t>
            </a:r>
          </a:p>
          <a:p>
            <a:r>
              <a:rPr sz="1600" b="0">
                <a:solidFill>
                  <a:srgbClr val="5A6672"/>
                </a:solidFill>
                <a:latin typeface="Malgun Gothic"/>
              </a:rPr>
              <a:t>    –  병원 유형별로 청구 건수를 센다</a:t>
            </a:r>
          </a:p>
          <a:p>
            <a:r>
              <a:rPr sz="1600" b="0">
                <a:solidFill>
                  <a:srgbClr val="5A6672"/>
                </a:solidFill>
                <a:latin typeface="Malgun Gothic"/>
              </a:rPr>
              <a:t>    –  이 GROUP BY가 뒤에서 힌트 무력화의 원인이 된다</a:t>
            </a:r>
          </a:p>
          <a:p>
            <a:r>
              <a:rPr sz="1800" b="0">
                <a:solidFill>
                  <a:srgbClr val="202830"/>
                </a:solidFill>
                <a:latin typeface="Malgun Gothic"/>
              </a:rPr>
              <a:t>•  조건만 바꿔 반복 실행한 결과를 7.5절부터 순서대로 확인한다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인덱스 없는 상태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설계 — 무엇을 바꿔 가며 볼 것인가</a:t>
            </a:r>
          </a:p>
          <a:p>
            <a:r>
              <a:rPr sz="1600" b="0">
                <a:solidFill>
                  <a:srgbClr val="C5CED6"/>
                </a:solidFill>
                <a:latin typeface="Malgun Gothic"/>
              </a:rPr>
              <a:t>•  Q1 베이스라인 — 힌트 없음</a:t>
            </a:r>
          </a:p>
          <a:p>
            <a:r>
              <a:rPr sz="1600" b="0">
                <a:solidFill>
                  <a:srgbClr val="C5CED6"/>
                </a:solidFill>
                <a:latin typeface="Malgun Gothic"/>
              </a:rPr>
              <a:t>•  Q3 — USE_HASH 강제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설계 — 무엇을 바꿔 가며 볼 것인가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없는 상태 (MEDICAL_CLAIMS 에 PK 만 있음)</a:t>
            </a:r>
          </a:p>
          <a:p>
            <a:r>
              <a:rPr sz="1600" b="0">
                <a:solidFill>
                  <a:srgbClr val="5A6672"/>
                </a:solidFill>
                <a:latin typeface="Malgun Gothic"/>
              </a:rPr>
              <a:t>    –  Q1 — 힌트 없음 (베이스라인)</a:t>
            </a:r>
          </a:p>
          <a:p>
            <a:r>
              <a:rPr sz="1600" b="0">
                <a:solidFill>
                  <a:srgbClr val="5A6672"/>
                </a:solidFill>
                <a:latin typeface="Malgun Gothic"/>
              </a:rPr>
              <a:t>    –  Q2 — USE_NL(h m) 강제</a:t>
            </a:r>
          </a:p>
          <a:p>
            <a:r>
              <a:rPr sz="1600" b="0">
                <a:solidFill>
                  <a:srgbClr val="5A6672"/>
                </a:solidFill>
                <a:latin typeface="Malgun Gothic"/>
              </a:rPr>
              <a:t>    –  Q3 — USE_HASH(h m) 강제</a:t>
            </a:r>
          </a:p>
          <a:p>
            <a:r>
              <a:rPr sz="1800" b="0">
                <a:solidFill>
                  <a:srgbClr val="202830"/>
                </a:solidFill>
                <a:latin typeface="Malgun Gothic"/>
              </a:rPr>
              <a:t>•  MEDICAL_CLAIMS(HOSP_ID) 에 인덱스를 만든 뒤</a:t>
            </a:r>
          </a:p>
          <a:p>
            <a:r>
              <a:rPr sz="1600" b="0">
                <a:solidFill>
                  <a:srgbClr val="5A6672"/>
                </a:solidFill>
                <a:latin typeface="Malgun Gothic"/>
              </a:rPr>
              <a:t>    –  Q4 — USE_NL(h m) 강제</a:t>
            </a:r>
          </a:p>
          <a:p>
            <a:r>
              <a:rPr sz="1600" b="0">
                <a:solidFill>
                  <a:srgbClr val="5A6672"/>
                </a:solidFill>
                <a:latin typeface="Malgun Gothic"/>
              </a:rPr>
              <a:t>    –  Q5 — 힌트 없음</a:t>
            </a:r>
          </a:p>
          <a:p>
            <a:r>
              <a:rPr sz="1800" b="0">
                <a:solidFill>
                  <a:srgbClr val="202830"/>
                </a:solidFill>
                <a:latin typeface="Malgun Gothic"/>
              </a:rPr>
              <a:t>•  비교 축은 두 개다</a:t>
            </a:r>
          </a:p>
          <a:p>
            <a:r>
              <a:rPr sz="1600" b="0">
                <a:solidFill>
                  <a:srgbClr val="5A6672"/>
                </a:solidFill>
                <a:latin typeface="Malgun Gothic"/>
              </a:rPr>
              <a:t>    –  힌트 유무·종류가 실행계획을 바꾸는가</a:t>
            </a:r>
          </a:p>
          <a:p>
            <a:r>
              <a:rPr sz="1600" b="0">
                <a:solidFill>
                  <a:srgbClr val="5A6672"/>
                </a:solidFill>
                <a:latin typeface="Malgun Gothic"/>
              </a:rPr>
              <a:t>    –  인덱스 유무가 실행계획을 바꾸는가</a:t>
            </a:r>
          </a:p>
          <a:p>
            <a:r>
              <a:rPr sz="1800" b="0">
                <a:solidFill>
                  <a:srgbClr val="202830"/>
                </a:solidFill>
                <a:latin typeface="Malgun Gothic"/>
              </a:rPr>
              <a:t>•  SQL 본문과 데이터는 모든 실행에서 동일하다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 힌트 없음 (인덱스 없음)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베이스라인 — 옵티마이저의 자체 판단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 |00:00:00.02 |    3093 |</a:t>
            </a:r>
          </a:p>
          <a:p>
            <a:r>
              <a:rPr sz="1250" b="0">
                <a:solidFill>
                  <a:srgbClr val="E6E6E6"/>
                </a:solidFill>
                <a:latin typeface="Consolas"/>
              </a:rPr>
              <a:t>| 1  |  HASH GROUP BY                         |                |      2 |00:00:00.02 |    3093 |</a:t>
            </a:r>
          </a:p>
          <a:p>
            <a:r>
              <a:rPr sz="1250" b="0">
                <a:solidFill>
                  <a:srgbClr val="E6E6E6"/>
                </a:solidFill>
                <a:latin typeface="Consolas"/>
              </a:rPr>
              <a:t>| 2  |   HASH JOIN                            |                |  15029 |00:00:00.02 |    3093 |</a:t>
            </a:r>
          </a:p>
          <a:p>
            <a:r>
              <a:rPr sz="1250" b="0">
                <a:solidFill>
                  <a:srgbClr val="E6E6E6"/>
                </a:solidFill>
                <a:latin typeface="Consolas"/>
              </a:rPr>
              <a:t>| 3  |    TABLE ACCESS BY INDEX ROWID BATCHED | HOSPITALS      |      5 |00:00:00.01 |       3 |</a:t>
            </a:r>
          </a:p>
          <a:p>
            <a:r>
              <a:rPr sz="1250" b="0">
                <a:solidFill>
                  <a:srgbClr val="E6E6E6"/>
                </a:solidFill>
                <a:latin typeface="Consolas"/>
              </a:rPr>
              <a:t>| 4  |     INDEX RANGE SCAN                   | PK_HOSPITALS   |      5 |00:00:00.01 |       2 |</a:t>
            </a:r>
          </a:p>
          <a:p>
            <a:r>
              <a:rPr sz="1250" b="0">
                <a:solidFill>
                  <a:srgbClr val="E6E6E6"/>
                </a:solidFill>
                <a:latin typeface="Consolas"/>
              </a:rPr>
              <a:t>| 5  |    TABLE ACCESS FULL                   | MEDICAL_CLAIMS |  15029 |00:00:00.02 |    3090 |</a:t>
            </a:r>
          </a:p>
          <a:p>
            <a:r>
              <a:rPr sz="1250" b="0">
                <a:solidFill>
                  <a:srgbClr val="E6E6E6"/>
                </a:solidFill>
                <a:latin typeface="Consolas"/>
              </a:rPr>
              <a:t> </a:t>
            </a:r>
          </a:p>
          <a:p>
            <a:r>
              <a:rPr sz="1250" b="0">
                <a:solidFill>
                  <a:srgbClr val="7EC699"/>
                </a:solidFill>
                <a:latin typeface="Consolas"/>
              </a:rPr>
              <a:t>-- Plan hash value 619494044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오퍼레이션은 HASH JOIN (Id 2)</a:t>
            </a:r>
          </a:p>
          <a:p>
            <a:r>
              <a:rPr sz="1600" b="0">
                <a:solidFill>
                  <a:srgbClr val="5A6672"/>
                </a:solidFill>
                <a:latin typeface="Malgun Gothic"/>
              </a:rPr>
              <a:t>    –  힌트를 주지 않았는데 옵티마이저가 스스로 Hash Join을 선택했다</a:t>
            </a:r>
          </a:p>
          <a:p>
            <a:r>
              <a:rPr sz="1600" b="0">
                <a:solidFill>
                  <a:srgbClr val="5A6672"/>
                </a:solidFill>
                <a:latin typeface="Malgun Gothic"/>
              </a:rPr>
              <a:t>    –  한쪽이 5건인데도 NL을 고르지 않았다는 점이 중요하다</a:t>
            </a:r>
          </a:p>
          <a:p>
            <a:r>
              <a:rPr sz="1800" b="0">
                <a:solidFill>
                  <a:srgbClr val="202830"/>
                </a:solidFill>
                <a:latin typeface="Malgun Gothic"/>
              </a:rPr>
              <a:t>•  HOSPITALS 쪽 (Id 3~4)</a:t>
            </a:r>
          </a:p>
          <a:p>
            <a:r>
              <a:rPr sz="1600" b="0">
                <a:solidFill>
                  <a:srgbClr val="5A6672"/>
                </a:solidFill>
                <a:latin typeface="Malgun Gothic"/>
              </a:rPr>
              <a:t>    –  PK_HOSPITALS 를 INDEX RANGE SCAN 해서 5건으로 좁혔다</a:t>
            </a:r>
          </a:p>
          <a:p>
            <a:r>
              <a:rPr sz="1600" b="0">
                <a:solidFill>
                  <a:srgbClr val="5A6672"/>
                </a:solidFill>
                <a:latin typeface="Malgun Gothic"/>
              </a:rPr>
              <a:t>    –  Buffers 3 — 사실상 비용이 들지 않았다</a:t>
            </a:r>
          </a:p>
          <a:p>
            <a:r>
              <a:rPr sz="1800" b="0">
                <a:solidFill>
                  <a:srgbClr val="202830"/>
                </a:solidFill>
                <a:latin typeface="Malgun Gothic"/>
              </a:rPr>
              <a:t>•  MEDICAL_CLAIMS 쪽 (Id 5)</a:t>
            </a:r>
          </a:p>
          <a:p>
            <a:r>
              <a:rPr sz="1600" b="0">
                <a:solidFill>
                  <a:srgbClr val="5A6672"/>
                </a:solidFill>
                <a:latin typeface="Malgun Gothic"/>
              </a:rPr>
              <a:t>    –  TABLE ACCESS FULL — 조인 컬럼에 인덱스가 없으니 전체를 훑는 수밖에 없다</a:t>
            </a:r>
          </a:p>
          <a:p>
            <a:r>
              <a:rPr sz="1600" b="0">
                <a:solidFill>
                  <a:srgbClr val="5A6672"/>
                </a:solidFill>
                <a:latin typeface="Malgun Gothic"/>
              </a:rPr>
              <a:t>    –  Buffers 3090 — 전체 3093 중 거의 전부를 차지한다</a:t>
            </a:r>
          </a:p>
          <a:p>
            <a:r>
              <a:rPr sz="1800" b="0">
                <a:solidFill>
                  <a:srgbClr val="202830"/>
                </a:solidFill>
                <a:latin typeface="Malgun Gothic"/>
              </a:rPr>
              <a:t>•  비용의 위치를 지목하면 개선 지점도 함께 드러난다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USE_HASH 를 강제했더니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Q3 은 USE_HASH(h m) 로 Hash Join을 명시적으로 지시한 것</a:t>
            </a:r>
          </a:p>
          <a:p>
            <a:r>
              <a:rPr sz="1800" b="0">
                <a:solidFill>
                  <a:srgbClr val="202830"/>
                </a:solidFill>
                <a:latin typeface="Malgun Gothic"/>
              </a:rPr>
              <a:t>•  결과 — Q1 과 완전히 동일한 계획</a:t>
            </a:r>
          </a:p>
          <a:p>
            <a:r>
              <a:rPr sz="1600" b="0">
                <a:solidFill>
                  <a:srgbClr val="5A6672"/>
                </a:solidFill>
                <a:latin typeface="Malgun Gothic"/>
              </a:rPr>
              <a:t>    –  Plan hash value 619494044 까지 같다</a:t>
            </a:r>
          </a:p>
          <a:p>
            <a:r>
              <a:rPr sz="1600" b="0">
                <a:solidFill>
                  <a:srgbClr val="5A6672"/>
                </a:solidFill>
                <a:latin typeface="Malgun Gothic"/>
              </a:rPr>
              <a:t>    –  오퍼레이션 구성과 Buffers 모두 차이가 없다</a:t>
            </a:r>
          </a:p>
          <a:p>
            <a:r>
              <a:rPr sz="1800" b="0">
                <a:solidFill>
                  <a:srgbClr val="202830"/>
                </a:solidFill>
                <a:latin typeface="Malgun Gothic"/>
              </a:rPr>
              <a:t>•  해석</a:t>
            </a:r>
          </a:p>
          <a:p>
            <a:r>
              <a:rPr sz="1600" b="0">
                <a:solidFill>
                  <a:srgbClr val="5A6672"/>
                </a:solidFill>
                <a:latin typeface="Malgun Gothic"/>
              </a:rPr>
              <a:t>    –  옵티마이저가 원래도 Hash Join을 선택하고 있었다는 뜻이다</a:t>
            </a:r>
          </a:p>
          <a:p>
            <a:r>
              <a:rPr sz="1600" b="0">
                <a:solidFill>
                  <a:srgbClr val="5A6672"/>
                </a:solidFill>
                <a:latin typeface="Malgun Gothic"/>
              </a:rPr>
              <a:t>    –  힌트는 '이미 가고 있던 길'을 한 번 더 지시한 것에 지나지 않았다</a:t>
            </a:r>
          </a:p>
          <a:p>
            <a:r>
              <a:rPr sz="1600" b="0">
                <a:solidFill>
                  <a:srgbClr val="5A6672"/>
                </a:solidFill>
                <a:latin typeface="Malgun Gothic"/>
              </a:rPr>
              <a:t>    –  이 쿼리와 이 데이터 상황에서는 Hash Join이 실제로 비용상 최선이었다</a:t>
            </a:r>
          </a:p>
          <a:p>
            <a:r>
              <a:rPr sz="1800" b="0">
                <a:solidFill>
                  <a:srgbClr val="202830"/>
                </a:solidFill>
                <a:latin typeface="Malgun Gothic"/>
              </a:rPr>
              <a:t>•  Plan hash value 가 같다는 것은 실행계획 구조가 같다는 뜻이다</a:t>
            </a:r>
          </a:p>
          <a:p>
            <a:r>
              <a:rPr sz="1600" b="0">
                <a:solidFill>
                  <a:srgbClr val="5A6672"/>
                </a:solidFill>
                <a:latin typeface="Malgun Gothic"/>
              </a:rPr>
              <a:t>    –  두 계획을 비교할 때 가장 빠르게 확인할 수 있는 지표다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힌트가 안 먹힌 사례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Q2 — USE_NL 강제 시도</a:t>
            </a:r>
          </a:p>
          <a:p>
            <a:r>
              <a:rPr sz="1600" b="0">
                <a:solidFill>
                  <a:srgbClr val="C5CED6"/>
                </a:solidFill>
                <a:latin typeface="Malgun Gothic"/>
              </a:rPr>
              <a:t>•  실행계획에 나타난 내부 뷰</a:t>
            </a:r>
          </a:p>
          <a:p>
            <a:r>
              <a:rPr sz="1600" b="0">
                <a:solidFill>
                  <a:srgbClr val="C5CED6"/>
                </a:solidFill>
                <a:latin typeface="Malgun Gothic"/>
              </a:rPr>
              <a:t>•  힌트 검증 절차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USE_NL 을 걸었지만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의도 — 인덱스가 없는 상태에서 NL을 강제하면 어떻게 되는지 보려 했다</a:t>
            </a:r>
          </a:p>
          <a:p>
            <a:r>
              <a:rPr sz="1600" b="0">
                <a:solidFill>
                  <a:srgbClr val="5A6672"/>
                </a:solidFill>
                <a:latin typeface="Malgun Gothic"/>
              </a:rPr>
              <a:t>    –  이론상 MEDICAL_CLAIMS 전체 스캔이 Outer 행 수만큼 반복될 수 있는 시도</a:t>
            </a:r>
          </a:p>
          <a:p>
            <a:r>
              <a:rPr sz="1600" b="0">
                <a:solidFill>
                  <a:srgbClr val="5A6672"/>
                </a:solidFill>
                <a:latin typeface="Malgun Gothic"/>
              </a:rPr>
              <a:t>    –  즉 의도적으로 나쁜 계획을 만들어 비용을 확인하려는 실험이었다</a:t>
            </a:r>
          </a:p>
          <a:p>
            <a:r>
              <a:rPr sz="1800" b="0">
                <a:solidFill>
                  <a:srgbClr val="202830"/>
                </a:solidFill>
                <a:latin typeface="Malgun Gothic"/>
              </a:rPr>
              <a:t>•  지시 — USE_NL(h m)</a:t>
            </a:r>
          </a:p>
          <a:p>
            <a:r>
              <a:rPr sz="1600" b="0">
                <a:solidFill>
                  <a:srgbClr val="5A6672"/>
                </a:solidFill>
                <a:latin typeface="Malgun Gothic"/>
              </a:rPr>
              <a:t>    –  h 를 Outer, m 을 Inner 로 하는 Nested Loops 를 요구한 것</a:t>
            </a:r>
          </a:p>
          <a:p>
            <a:r>
              <a:rPr sz="1800" b="0">
                <a:solidFill>
                  <a:srgbClr val="202830"/>
                </a:solidFill>
                <a:latin typeface="Malgun Gothic"/>
              </a:rPr>
              <a:t>•  기대했던 실행계획</a:t>
            </a:r>
          </a:p>
          <a:p>
            <a:r>
              <a:rPr sz="1600" b="0">
                <a:solidFill>
                  <a:srgbClr val="5A6672"/>
                </a:solidFill>
                <a:latin typeface="Malgun Gothic"/>
              </a:rPr>
              <a:t>    –  조인 오퍼레이션 자리에 NESTED LOOPS 가 나타나야 한다</a:t>
            </a:r>
          </a:p>
          <a:p>
            <a:r>
              <a:rPr sz="1600" b="0">
                <a:solidFill>
                  <a:srgbClr val="5A6672"/>
                </a:solidFill>
                <a:latin typeface="Malgun Gothic"/>
              </a:rPr>
              <a:t>    –  Buffers 는 Q1 보다 크게 늘어나야 한다</a:t>
            </a:r>
          </a:p>
          <a:p>
            <a:r>
              <a:rPr sz="1800" b="0">
                <a:solidFill>
                  <a:srgbClr val="202830"/>
                </a:solidFill>
                <a:latin typeface="Malgun Gothic"/>
              </a:rPr>
              <a:t>•  실제 결과는 다음 슬라이드에서 확인한다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 USE_NL 강제 (인덱스 없음)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힌트를 걸었는데 조인 오퍼레이션이 바뀌지 않았다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 |00:00:00.03 |    3093 |</a:t>
            </a:r>
          </a:p>
          <a:p>
            <a:r>
              <a:rPr sz="1250" b="0">
                <a:solidFill>
                  <a:srgbClr val="E6E6E6"/>
                </a:solidFill>
                <a:latin typeface="Consolas"/>
              </a:rPr>
              <a:t>| 1  |  HASH GROUP BY                         |                |      2 |00:00:00.03 |    3093 |</a:t>
            </a:r>
          </a:p>
          <a:p>
            <a:r>
              <a:rPr sz="1250" b="0">
                <a:solidFill>
                  <a:srgbClr val="E6E6E6"/>
                </a:solidFill>
                <a:latin typeface="Consolas"/>
              </a:rPr>
              <a:t>| 2  |   HASH JOIN                            |                |  15029 |00:00:00.03 |    3093 |</a:t>
            </a:r>
          </a:p>
          <a:p>
            <a:r>
              <a:rPr sz="1250" b="0">
                <a:solidFill>
                  <a:srgbClr val="E6E6E6"/>
                </a:solidFill>
                <a:latin typeface="Consolas"/>
              </a:rPr>
              <a:t>| 3  |    VIEW                                | VW_GBF_7       |      5 |00:00:00.01 |       3 |</a:t>
            </a:r>
          </a:p>
          <a:p>
            <a:r>
              <a:rPr sz="1250" b="0">
                <a:solidFill>
                  <a:srgbClr val="E6E6E6"/>
                </a:solidFill>
                <a:latin typeface="Consolas"/>
              </a:rPr>
              <a:t>| 4  |     TABLE ACCESS BY INDEX ROWID BATCHED| HOSPITALS      |      5 |00:00:00.01 |       3 |</a:t>
            </a:r>
          </a:p>
          <a:p>
            <a:r>
              <a:rPr sz="1250" b="0">
                <a:solidFill>
                  <a:srgbClr val="E6E6E6"/>
                </a:solidFill>
                <a:latin typeface="Consolas"/>
              </a:rPr>
              <a:t>| 5  |     INDEX RANGE SCAN                   | PK_HOSPITALS   |      5 |00:00:00.01 |       2 |</a:t>
            </a:r>
          </a:p>
          <a:p>
            <a:r>
              <a:rPr sz="1250" b="0">
                <a:solidFill>
                  <a:srgbClr val="E6E6E6"/>
                </a:solidFill>
                <a:latin typeface="Consolas"/>
              </a:rPr>
              <a:t>| 6  |    TABLE ACCESS FULL                   | MEDICAL_CLAIMS | 300K   |00:00:00.01 |    3090 |</a:t>
            </a:r>
          </a:p>
          <a:p>
            <a:r>
              <a:rPr sz="1250" b="0">
                <a:solidFill>
                  <a:srgbClr val="E6E6E6"/>
                </a:solidFill>
                <a:latin typeface="Consolas"/>
              </a:rPr>
              <a:t> </a:t>
            </a:r>
          </a:p>
          <a:p>
            <a:r>
              <a:rPr sz="1250" b="0">
                <a:solidFill>
                  <a:srgbClr val="7EC699"/>
                </a:solidFill>
                <a:latin typeface="Consolas"/>
              </a:rPr>
              <a:t>-- USE_NL 을 명시했지만 Id 2 는 여전히 HASH JOIN 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오퍼레이션은 여전히 HASH JOIN (Id 2)</a:t>
            </a:r>
          </a:p>
          <a:p>
            <a:r>
              <a:rPr sz="1600" b="0">
                <a:solidFill>
                  <a:srgbClr val="5A6672"/>
                </a:solidFill>
                <a:latin typeface="Malgun Gothic"/>
              </a:rPr>
              <a:t>    –  USE_NL 을 명시했는데도 NESTED LOOPS 가 나타나지 않았다</a:t>
            </a:r>
          </a:p>
          <a:p>
            <a:r>
              <a:rPr sz="1800" b="0">
                <a:solidFill>
                  <a:srgbClr val="202830"/>
                </a:solidFill>
                <a:latin typeface="Malgun Gothic"/>
              </a:rPr>
              <a:t>•  Buffers 도 Q1 과 동일하게 3,093</a:t>
            </a:r>
          </a:p>
          <a:p>
            <a:r>
              <a:rPr sz="1600" b="0">
                <a:solidFill>
                  <a:srgbClr val="5A6672"/>
                </a:solidFill>
                <a:latin typeface="Malgun Gothic"/>
              </a:rPr>
              <a:t>    –  힌트가 실행계획을 전혀 바꾸지 못했다는 뜻이다</a:t>
            </a:r>
          </a:p>
          <a:p>
            <a:r>
              <a:rPr sz="1800" b="0">
                <a:solidFill>
                  <a:srgbClr val="202830"/>
                </a:solidFill>
                <a:latin typeface="Malgun Gothic"/>
              </a:rPr>
              <a:t>•  달라진 점은 하나 — Id 3 에 VIEW VW_GBF_7 이 끼어 있다</a:t>
            </a:r>
          </a:p>
          <a:p>
            <a:r>
              <a:rPr sz="1600" b="0">
                <a:solidFill>
                  <a:srgbClr val="5A6672"/>
                </a:solidFill>
                <a:latin typeface="Malgun Gothic"/>
              </a:rPr>
              <a:t>    –  HOSPITALS 접근 단계가 내부 뷰로 한 번 감싸였다</a:t>
            </a:r>
          </a:p>
          <a:p>
            <a:r>
              <a:rPr sz="1600" b="0">
                <a:solidFill>
                  <a:srgbClr val="5A6672"/>
                </a:solidFill>
                <a:latin typeface="Malgun Gothic"/>
              </a:rPr>
              <a:t>    –  이 뷰가 힌트 무력화의 단서다</a:t>
            </a:r>
          </a:p>
          <a:p>
            <a:r>
              <a:rPr sz="1800" b="0">
                <a:solidFill>
                  <a:srgbClr val="202830"/>
                </a:solidFill>
                <a:latin typeface="Malgun Gothic"/>
              </a:rPr>
              <a:t>•  힌트를 걸었는데 오류도 경고도 없었다는 점에 주목한다</a:t>
            </a:r>
          </a:p>
          <a:p>
            <a:r>
              <a:rPr sz="1600" b="0">
                <a:solidFill>
                  <a:srgbClr val="5A6672"/>
                </a:solidFill>
                <a:latin typeface="Malgun Gothic"/>
              </a:rPr>
              <a:t>    –  적용되지 않은 힌트는 아무 흔적 없이 조용히 사라진다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vs Q2 대조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힌트만 바꿨을 때 무엇이 같고 무엇이 달라졌는가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항목                           | Q1 (힌트 없음)     | Q2 (USE_NL 강제)     |</a:t>
            </a:r>
          </a:p>
          <a:p>
            <a:r>
              <a:rPr sz="1250" b="0">
                <a:solidFill>
                  <a:srgbClr val="E6E6E6"/>
                </a:solidFill>
                <a:latin typeface="Consolas"/>
              </a:rPr>
              <a:t>+--------------------------------+--------------------+----------------------+</a:t>
            </a:r>
          </a:p>
          <a:p>
            <a:r>
              <a:rPr sz="1250" b="0">
                <a:solidFill>
                  <a:srgbClr val="E6E6E6"/>
                </a:solidFill>
                <a:latin typeface="Consolas"/>
              </a:rPr>
              <a:t>| Id 2 조인 오퍼레이션           | HASH JOIN          | HASH JOIN            |</a:t>
            </a:r>
          </a:p>
          <a:p>
            <a:r>
              <a:rPr sz="1250" b="0">
                <a:solidFill>
                  <a:srgbClr val="E6E6E6"/>
                </a:solidFill>
                <a:latin typeface="Consolas"/>
              </a:rPr>
              <a:t>| HOSPITALS 를 감싸는 뷰         | 없음               | VW_GBF_7             |</a:t>
            </a:r>
          </a:p>
          <a:p>
            <a:r>
              <a:rPr sz="1250" b="0">
                <a:solidFill>
                  <a:srgbClr val="E6E6E6"/>
                </a:solidFill>
                <a:latin typeface="Consolas"/>
              </a:rPr>
              <a:t>| MEDICAL_CLAIMS 접근            | TABLE ACCESS FULL  | TABLE ACCESS FULL    |</a:t>
            </a:r>
          </a:p>
          <a:p>
            <a:r>
              <a:rPr sz="1250" b="0">
                <a:solidFill>
                  <a:srgbClr val="E6E6E6"/>
                </a:solidFill>
                <a:latin typeface="Consolas"/>
              </a:rPr>
              <a:t>| Buffers (Id 0)                 | 3093               | 3093                 |</a:t>
            </a:r>
          </a:p>
          <a:p>
            <a:r>
              <a:rPr sz="1250" b="0">
                <a:solidFill>
                  <a:srgbClr val="E6E6E6"/>
                </a:solidFill>
                <a:latin typeface="Consolas"/>
              </a:rPr>
              <a:t>| A-Time (Id 0)                  | 00:00:00.02        | 00:00:00.03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조인 방식과 Buffers 는 그대로 — 힌트는 계획을 바꾸지 못했다</a:t>
            </a:r>
          </a:p>
          <a:p>
            <a:r>
              <a:rPr sz="1250" b="0">
                <a:solidFill>
                  <a:srgbClr val="7EC699"/>
                </a:solidFill>
                <a:latin typeface="Consolas"/>
              </a:rPr>
              <a:t>-- 유일한 변화는 내부 뷰 VW_GBF_7 의 등장이다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힌트가 무시됐나 — VW_GBF_7 의 정체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VW_GBF_7 은 옵티마이저가 쿼리를 변환하며 만든 내부 뷰의 이름이다</a:t>
            </a:r>
          </a:p>
          <a:p>
            <a:r>
              <a:rPr sz="1600" b="0">
                <a:solidFill>
                  <a:srgbClr val="5A6672"/>
                </a:solidFill>
                <a:latin typeface="Malgun Gothic"/>
              </a:rPr>
              <a:t>    –  GROUP BY 를 조인보다 먼저 처리하도록 쿼리를 바꾸는 과정에서 생성됐다</a:t>
            </a:r>
          </a:p>
          <a:p>
            <a:r>
              <a:rPr sz="1600" b="0">
                <a:solidFill>
                  <a:srgbClr val="5A6672"/>
                </a:solidFill>
                <a:latin typeface="Malgun Gothic"/>
              </a:rPr>
              <a:t>    –  그 과정에서 HOSPITALS 쪽 집합이 이 뷰로 감싸였다</a:t>
            </a:r>
          </a:p>
          <a:p>
            <a:r>
              <a:rPr sz="1800" b="0">
                <a:solidFill>
                  <a:srgbClr val="202830"/>
                </a:solidFill>
                <a:latin typeface="Malgun Gothic"/>
              </a:rPr>
              <a:t>•  힌트가 가리키는 대상이 어긋났다</a:t>
            </a:r>
          </a:p>
          <a:p>
            <a:r>
              <a:rPr sz="1600" b="0">
                <a:solidFill>
                  <a:srgbClr val="5A6672"/>
                </a:solidFill>
                <a:latin typeface="Malgun Gothic"/>
              </a:rPr>
              <a:t>    –  USE_NL(h m) 은 원래 SQL 에 쓰인 별칭 h, m 을 기준으로 지정한 것이다</a:t>
            </a:r>
          </a:p>
          <a:p>
            <a:r>
              <a:rPr sz="1600" b="0">
                <a:solidFill>
                  <a:srgbClr val="5A6672"/>
                </a:solidFill>
                <a:latin typeface="Malgun Gothic"/>
              </a:rPr>
              <a:t>    –  변환된 쿼리에서 h 는 더 이상 최종 조인의 직접 참여자가 아니다</a:t>
            </a:r>
          </a:p>
          <a:p>
            <a:r>
              <a:rPr sz="1600" b="0">
                <a:solidFill>
                  <a:srgbClr val="5A6672"/>
                </a:solidFill>
                <a:latin typeface="Malgun Gothic"/>
              </a:rPr>
              <a:t>    –  별칭 조합이 대응되지 않아 힌트가 적용되지 못한 것으로 보인다</a:t>
            </a:r>
          </a:p>
          <a:p>
            <a:r>
              <a:rPr sz="1800" b="0">
                <a:solidFill>
                  <a:srgbClr val="202830"/>
                </a:solidFill>
                <a:latin typeface="Malgun Gothic"/>
              </a:rPr>
              <a:t>•  결과 — 옵티마이저의 기본 선택인 Hash Join 이 그대로 유지됐다</a:t>
            </a:r>
          </a:p>
          <a:p>
            <a:r>
              <a:rPr sz="1600" b="0">
                <a:solidFill>
                  <a:srgbClr val="5A6672"/>
                </a:solidFill>
                <a:latin typeface="Malgun Gothic"/>
              </a:rPr>
              <a:t>    –  실행계획에 낯선 VW_ 이름이 보이면 쿼리 변환을 의심한다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교훈 — 힌트 검증 절차</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힌트를 추가했다는 사실만으로는 아무것도 보장되지 않는다</a:t>
            </a:r>
          </a:p>
          <a:p>
            <a:r>
              <a:rPr sz="1800" b="0">
                <a:solidFill>
                  <a:srgbClr val="202830"/>
                </a:solidFill>
                <a:latin typeface="Malgun Gothic"/>
              </a:rPr>
              <a:t>•  힌트 적용 후 반드시 확인할 것</a:t>
            </a:r>
          </a:p>
          <a:p>
            <a:r>
              <a:rPr sz="1600" b="0">
                <a:solidFill>
                  <a:srgbClr val="5A6672"/>
                </a:solidFill>
                <a:latin typeface="Malgun Gothic"/>
              </a:rPr>
              <a:t>    –  ① 의도한 오퍼레이션 이름이 실행계획에 실제로 나타났는가</a:t>
            </a:r>
          </a:p>
          <a:p>
            <a:r>
              <a:rPr sz="1600" b="0">
                <a:solidFill>
                  <a:srgbClr val="5A6672"/>
                </a:solidFill>
                <a:latin typeface="Malgun Gothic"/>
              </a:rPr>
              <a:t>    –  ② Buffers 와 A-Rows 가 기대한 방향으로 움직였는가</a:t>
            </a:r>
          </a:p>
          <a:p>
            <a:r>
              <a:rPr sz="1600" b="0">
                <a:solidFill>
                  <a:srgbClr val="5A6672"/>
                </a:solidFill>
                <a:latin typeface="Malgun Gothic"/>
              </a:rPr>
              <a:t>    –  ③ 계획에 낯선 내부 뷰가 끼어들지 않았는가</a:t>
            </a:r>
          </a:p>
          <a:p>
            <a:r>
              <a:rPr sz="1800" b="0">
                <a:solidFill>
                  <a:srgbClr val="202830"/>
                </a:solidFill>
                <a:latin typeface="Malgun Gothic"/>
              </a:rPr>
              <a:t>•  이번 사례는 운이 좋았던 경우다</a:t>
            </a:r>
          </a:p>
          <a:p>
            <a:r>
              <a:rPr sz="1600" b="0">
                <a:solidFill>
                  <a:srgbClr val="5A6672"/>
                </a:solidFill>
                <a:latin typeface="Malgun Gothic"/>
              </a:rPr>
              <a:t>    –  힌트가 무시된 덕분에 반복 전체 스캔이라는 최악을 피했다</a:t>
            </a:r>
          </a:p>
          <a:p>
            <a:r>
              <a:rPr sz="1600" b="0">
                <a:solidFill>
                  <a:srgbClr val="5A6672"/>
                </a:solidFill>
                <a:latin typeface="Malgun Gothic"/>
              </a:rPr>
              <a:t>    –  힌트가 그대로 적용되는 쿼리 형태였다면 성능이 크게 나빠졌을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적용되지 않은 힌트는 오류를 내지 않는다 — 실행계획을 다시 조회하는 것 외에는 확인할 방법이 없다.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인덱스를 만들면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조인 컬럼 인덱스 생성과 재실행</a:t>
            </a:r>
          </a:p>
          <a:p>
            <a:r>
              <a:rPr sz="1600" b="0">
                <a:solidFill>
                  <a:srgbClr val="C5CED6"/>
                </a:solidFill>
                <a:latin typeface="Malgun Gothic"/>
              </a:rPr>
              <a:t>•  Q4 — NESTED LOOPS 의 등장</a:t>
            </a:r>
          </a:p>
          <a:p>
            <a:r>
              <a:rPr sz="1600" b="0">
                <a:solidFill>
                  <a:srgbClr val="C5CED6"/>
                </a:solidFill>
                <a:latin typeface="Malgun Gothic"/>
              </a:rPr>
              <a:t>•  Q5 — 힌트 없이도 NL 이 선택됨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생성과 재실행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조인 컬럼에 인덱스를 만들고 같은 쿼리를 다시 실행한다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MEDICAL_CLAIMS 의 조인 컬럼에 실습용 인덱스 생성</a:t>
            </a:r>
          </a:p>
          <a:p>
            <a:r>
              <a:rPr sz="1250" b="0">
                <a:solidFill>
                  <a:srgbClr val="E6E6E6"/>
                </a:solidFill>
                <a:latin typeface="Consolas"/>
              </a:rPr>
              <a:t>CREATE INDEX ix_ch07_hospid ON medical_claims(hosp_id);</a:t>
            </a:r>
          </a:p>
          <a:p>
            <a:r>
              <a:rPr sz="1250" b="0">
                <a:solidFill>
                  <a:srgbClr val="E6E6E6"/>
                </a:solidFill>
                <a:latin typeface="Consolas"/>
              </a:rPr>
              <a:t> </a:t>
            </a:r>
          </a:p>
          <a:p>
            <a:r>
              <a:rPr sz="1250" b="0">
                <a:solidFill>
                  <a:srgbClr val="7EC699"/>
                </a:solidFill>
                <a:latin typeface="Consolas"/>
              </a:rPr>
              <a:t>-- Q4. 인덱스가 있는 상태에서 USE_NL 강제</a:t>
            </a:r>
          </a:p>
          <a:p>
            <a:r>
              <a:rPr sz="1250" b="0">
                <a:solidFill>
                  <a:srgbClr val="E6E6E6"/>
                </a:solidFill>
                <a:latin typeface="Consolas"/>
              </a:rPr>
              <a:t>SELECT /*+ USE_NL(h m) */ h.hosp_type, COUNT(*)</a:t>
            </a:r>
          </a:p>
          <a:p>
            <a:r>
              <a:rPr sz="1250" b="0">
                <a:solidFill>
                  <a:srgbClr val="E6E6E6"/>
                </a:solidFill>
                <a:latin typeface="Consolas"/>
              </a:rPr>
              <a:t>FROM   hospitals h, medical_claims m</a:t>
            </a:r>
          </a:p>
          <a:p>
            <a:r>
              <a:rPr sz="1250" b="0">
                <a:solidFill>
                  <a:srgbClr val="E6E6E6"/>
                </a:solidFill>
                <a:latin typeface="Consolas"/>
              </a:rPr>
              <a:t>WHERE  h.hosp_id = m.hosp_id</a:t>
            </a:r>
          </a:p>
          <a:p>
            <a:r>
              <a:rPr sz="1250" b="0">
                <a:solidFill>
                  <a:srgbClr val="E6E6E6"/>
                </a:solidFill>
                <a:latin typeface="Consolas"/>
              </a:rPr>
              <a:t>AND    h.hosp_id &lt;= 5</a:t>
            </a:r>
          </a:p>
          <a:p>
            <a:r>
              <a:rPr sz="1250" b="0">
                <a:solidFill>
                  <a:srgbClr val="E6E6E6"/>
                </a:solidFill>
                <a:latin typeface="Consolas"/>
              </a:rPr>
              <a:t>GROUP  BY h.hosp_type;</a:t>
            </a:r>
          </a:p>
          <a:p>
            <a:r>
              <a:rPr sz="1250" b="0">
                <a:solidFill>
                  <a:srgbClr val="E6E6E6"/>
                </a:solidFill>
                <a:latin typeface="Consolas"/>
              </a:rPr>
              <a:t> </a:t>
            </a:r>
          </a:p>
          <a:p>
            <a:r>
              <a:rPr sz="1250" b="0">
                <a:solidFill>
                  <a:srgbClr val="7EC699"/>
                </a:solidFill>
                <a:latin typeface="Consolas"/>
              </a:rPr>
              <a:t>-- 실습 종료 시 반드시 정리한다</a:t>
            </a:r>
          </a:p>
          <a:p>
            <a:r>
              <a:rPr sz="1250" b="0">
                <a:solidFill>
                  <a:srgbClr val="E6E6E6"/>
                </a:solidFill>
                <a:latin typeface="Consolas"/>
              </a:rPr>
              <a:t>DROP INDEX ix_ch07_hospid;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실행계획 — USE_NL 강제 (인덱스 있음)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힌트, 같은 SQL — 인덱스만 추가한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A-Rows |   A-Time   | Buffers |</a:t>
            </a:r>
          </a:p>
          <a:p>
            <a:r>
              <a:rPr sz="1250" b="0">
                <a:solidFill>
                  <a:srgbClr val="E6E6E6"/>
                </a:solidFill>
                <a:latin typeface="Consolas"/>
              </a:rPr>
              <a:t>| 0  | SELECT STATEMENT                       |                |      1 |      2 |00:00:00.01 |      44 |</a:t>
            </a:r>
          </a:p>
          <a:p>
            <a:r>
              <a:rPr sz="1250" b="0">
                <a:solidFill>
                  <a:srgbClr val="E6E6E6"/>
                </a:solidFill>
                <a:latin typeface="Consolas"/>
              </a:rPr>
              <a:t>| 1  |  HASH GROUP BY                         |                |      1 |      2 |00:00:00.01 |      44 |</a:t>
            </a:r>
          </a:p>
          <a:p>
            <a:r>
              <a:rPr sz="1250" b="0">
                <a:solidFill>
                  <a:srgbClr val="E6E6E6"/>
                </a:solidFill>
                <a:latin typeface="Consolas"/>
              </a:rPr>
              <a:t>| 2  |   NESTED LOOPS                         |                |      1 |  15029 |00:00:00.01 |      44 |</a:t>
            </a:r>
          </a:p>
          <a:p>
            <a:r>
              <a:rPr sz="1250" b="0">
                <a:solidFill>
                  <a:srgbClr val="E6E6E6"/>
                </a:solidFill>
                <a:latin typeface="Consolas"/>
              </a:rPr>
              <a:t>| 3  |    TABLE ACCESS BY INDEX ROWID BATCHED | HOSPITALS      |      1 |      5 |00:00:00.01 |       3 |</a:t>
            </a:r>
          </a:p>
          <a:p>
            <a:r>
              <a:rPr sz="1250" b="0">
                <a:solidFill>
                  <a:srgbClr val="E6E6E6"/>
                </a:solidFill>
                <a:latin typeface="Consolas"/>
              </a:rPr>
              <a:t>| 4  |     INDEX RANGE SCAN                   | PK_HOSPITALS   |      1 |      5 |00:00:00.01 |       2 |</a:t>
            </a:r>
          </a:p>
          <a:p>
            <a:r>
              <a:rPr sz="1250" b="0">
                <a:solidFill>
                  <a:srgbClr val="E6E6E6"/>
                </a:solidFill>
                <a:latin typeface="Consolas"/>
              </a:rPr>
              <a:t>| 5  |    INDEX RANGE SCAN                    | IX_CH07_HOSPID |      5 |  15029 |00:00:00.01 |      41 |</a:t>
            </a:r>
          </a:p>
          <a:p>
            <a:r>
              <a:rPr sz="1250" b="0">
                <a:solidFill>
                  <a:srgbClr val="E6E6E6"/>
                </a:solidFill>
                <a:latin typeface="Consolas"/>
              </a:rPr>
              <a:t> </a:t>
            </a:r>
          </a:p>
          <a:p>
            <a:r>
              <a:rPr sz="1250" b="0">
                <a:solidFill>
                  <a:srgbClr val="7EC699"/>
                </a:solidFill>
                <a:latin typeface="Consolas"/>
              </a:rPr>
              <a:t>-- Plan hash value 872004878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이번엔 NESTED LOOPS 가 실제로 나타났다 (Id 2)</a:t>
            </a:r>
          </a:p>
          <a:p>
            <a:r>
              <a:rPr sz="1600" b="0">
                <a:solidFill>
                  <a:srgbClr val="5A6672"/>
                </a:solidFill>
                <a:latin typeface="Malgun Gothic"/>
              </a:rPr>
              <a:t>    –  같은 힌트, 같은 SQL 인데 결과가 달라졌다 — 바뀐 것은 인덱스뿐이다</a:t>
            </a:r>
          </a:p>
          <a:p>
            <a:r>
              <a:rPr sz="1800" b="0">
                <a:solidFill>
                  <a:srgbClr val="202830"/>
                </a:solidFill>
                <a:latin typeface="Malgun Gothic"/>
              </a:rPr>
              <a:t>•  Inner 접근 방식이 바뀌었다</a:t>
            </a:r>
          </a:p>
          <a:p>
            <a:r>
              <a:rPr sz="1600" b="0">
                <a:solidFill>
                  <a:srgbClr val="5A6672"/>
                </a:solidFill>
                <a:latin typeface="Malgun Gothic"/>
              </a:rPr>
              <a:t>    –  Q2 의 TABLE ACCESS FULL 이 INDEX RANGE SCAN (IX_CH07_HOSPID) 으로 바뀌었다</a:t>
            </a:r>
          </a:p>
          <a:p>
            <a:r>
              <a:rPr sz="1600" b="0">
                <a:solidFill>
                  <a:srgbClr val="5A6672"/>
                </a:solidFill>
                <a:latin typeface="Malgun Gothic"/>
              </a:rPr>
              <a:t>    –  이 단계의 Buffers 는 41</a:t>
            </a:r>
          </a:p>
          <a:p>
            <a:r>
              <a:rPr sz="1800" b="0">
                <a:solidFill>
                  <a:srgbClr val="202830"/>
                </a:solidFill>
                <a:latin typeface="Malgun Gothic"/>
              </a:rPr>
              <a:t>•  전체 Buffers 는 3,093 에서 44 로</a:t>
            </a:r>
          </a:p>
          <a:p>
            <a:r>
              <a:rPr sz="1600" b="0">
                <a:solidFill>
                  <a:srgbClr val="5A6672"/>
                </a:solidFill>
                <a:latin typeface="Malgun Gothic"/>
              </a:rPr>
              <a:t>    –  교안 기준 약 70배 줄어들었다</a:t>
            </a:r>
          </a:p>
          <a:p>
            <a:r>
              <a:rPr sz="1600" b="0">
                <a:solidFill>
                  <a:srgbClr val="5A6672"/>
                </a:solidFill>
                <a:latin typeface="Malgun Gothic"/>
              </a:rPr>
              <a:t>    –  줄어든 몫의 대부분은 MEDICAL_CLAIMS 전체 스캔이 사라진 것이다</a:t>
            </a:r>
          </a:p>
          <a:p>
            <a:r>
              <a:rPr sz="1800" b="0">
                <a:solidFill>
                  <a:srgbClr val="202830"/>
                </a:solidFill>
                <a:latin typeface="Malgun Gothic"/>
              </a:rPr>
              <a:t>•  힌트가 아니라 인덱스가 계획을 바꿨다는 점이 이 장의 결론이다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Starts 가 말해 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Starts 는 해당 오퍼레이션이 몇 번 시작됐는지, 즉 몇 번 반복 실행됐는지를 나타낸다</a:t>
            </a:r>
          </a:p>
          <a:p>
            <a:r>
              <a:rPr sz="1800" b="0">
                <a:solidFill>
                  <a:srgbClr val="202830"/>
                </a:solidFill>
                <a:latin typeface="Malgun Gothic"/>
              </a:rPr>
              <a:t>•  Q4 에서 Starts 열을 세로로 읽어 보자</a:t>
            </a:r>
          </a:p>
          <a:p>
            <a:r>
              <a:rPr sz="1600" b="0">
                <a:solidFill>
                  <a:srgbClr val="5A6672"/>
                </a:solidFill>
                <a:latin typeface="Malgun Gothic"/>
              </a:rPr>
              <a:t>    –  Id 3~4 HOSPITALS — Starts 1, 한 번만 접근해 5건으로 좁혔다</a:t>
            </a:r>
          </a:p>
          <a:p>
            <a:r>
              <a:rPr sz="1600" b="0">
                <a:solidFill>
                  <a:srgbClr val="5A6672"/>
                </a:solidFill>
                <a:latin typeface="Malgun Gothic"/>
              </a:rPr>
              <a:t>    –  Id 5 IX_CH07_HOSPID — Starts 5, 그 5건 각각에 대해 반복 탐색했다</a:t>
            </a:r>
          </a:p>
          <a:p>
            <a:r>
              <a:rPr sz="1800" b="0">
                <a:solidFill>
                  <a:srgbClr val="202830"/>
                </a:solidFill>
                <a:latin typeface="Malgun Gothic"/>
              </a:rPr>
              <a:t>•  NL Join 의 정의가 숫자로 드러난 장면이다</a:t>
            </a:r>
          </a:p>
          <a:p>
            <a:r>
              <a:rPr sz="1600" b="0">
                <a:solidFill>
                  <a:srgbClr val="5A6672"/>
                </a:solidFill>
                <a:latin typeface="Malgun Gothic"/>
              </a:rPr>
              <a:t>    –  'Outer 각 행마다 Inner 를 찾는다'가 실행계획 수치로 그대로 확인됐다</a:t>
            </a:r>
          </a:p>
          <a:p>
            <a:r>
              <a:rPr sz="1800" b="0">
                <a:solidFill>
                  <a:srgbClr val="202830"/>
                </a:solidFill>
                <a:latin typeface="Malgun Gothic"/>
              </a:rPr>
              <a:t>•  Driving Table 판정 근거로도 쓴다</a:t>
            </a:r>
          </a:p>
          <a:p>
            <a:r>
              <a:rPr sz="1600" b="0">
                <a:solidFill>
                  <a:srgbClr val="5A6672"/>
                </a:solidFill>
                <a:latin typeface="Malgun Gothic"/>
              </a:rPr>
              <a:t>    –  Starts 가 1 인 쪽이 Outer(HOSPITALS), 5 인 쪽이 Inner(MEDICAL_CLAIMS)</a:t>
            </a:r>
          </a:p>
          <a:p>
            <a:r>
              <a:rPr sz="1800" b="0">
                <a:solidFill>
                  <a:srgbClr val="202830"/>
                </a:solidFill>
                <a:latin typeface="Malgun Gothic"/>
              </a:rPr>
              <a:t>•  Outer 행 수가 늘면 Starts 도 늘고 비용도 그만큼 따라 늘어난다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Q5 — 힌트 없이도 NL 이 선택됐다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Q5 는 인덱스가 있는 상태에서 힌트를 빼고 실행한 것이다</a:t>
            </a:r>
          </a:p>
          <a:p>
            <a:r>
              <a:rPr sz="1800" b="0">
                <a:solidFill>
                  <a:srgbClr val="202830"/>
                </a:solidFill>
                <a:latin typeface="Malgun Gothic"/>
              </a:rPr>
              <a:t>•  결과 — Q4 와 완전히 동일한 계획</a:t>
            </a:r>
          </a:p>
          <a:p>
            <a:r>
              <a:rPr sz="1600" b="0">
                <a:solidFill>
                  <a:srgbClr val="5A6672"/>
                </a:solidFill>
                <a:latin typeface="Malgun Gothic"/>
              </a:rPr>
              <a:t>    –  Plan hash value 872004878 까지 같다</a:t>
            </a:r>
          </a:p>
          <a:p>
            <a:r>
              <a:rPr sz="1600" b="0">
                <a:solidFill>
                  <a:srgbClr val="5A6672"/>
                </a:solidFill>
                <a:latin typeface="Malgun Gothic"/>
              </a:rPr>
              <a:t>    –  적응형 계획(adaptive plan)이라는 안내 문구까지 동일하게 나타났다</a:t>
            </a:r>
          </a:p>
          <a:p>
            <a:r>
              <a:rPr sz="1800" b="0">
                <a:solidFill>
                  <a:srgbClr val="202830"/>
                </a:solidFill>
                <a:latin typeface="Malgun Gothic"/>
              </a:rPr>
              <a:t>•  해석 — 우연이 아니라 필연에 가깝다</a:t>
            </a:r>
          </a:p>
          <a:p>
            <a:r>
              <a:rPr sz="1600" b="0">
                <a:solidFill>
                  <a:srgbClr val="5A6672"/>
                </a:solidFill>
                <a:latin typeface="Malgun Gothic"/>
              </a:rPr>
              <a:t>    –  옵티마이저는 후보들의 비용을 계산해 가장 싼 쪽을 고른다</a:t>
            </a:r>
          </a:p>
          <a:p>
            <a:r>
              <a:rPr sz="1600" b="0">
                <a:solidFill>
                  <a:srgbClr val="5A6672"/>
                </a:solidFill>
                <a:latin typeface="Malgun Gothic"/>
              </a:rPr>
              <a:t>    –  인덱스가 생기면서 NL 의 예상 비용이 Hash Join 보다 낮아진 것이다</a:t>
            </a:r>
          </a:p>
          <a:p>
            <a:r>
              <a:rPr sz="1800" b="0">
                <a:solidFill>
                  <a:srgbClr val="202830"/>
                </a:solidFill>
                <a:latin typeface="Malgun Gothic"/>
              </a:rPr>
              <a:t>•  이번엔 힌트가 필요조차 없었다</a:t>
            </a:r>
          </a:p>
          <a:p>
            <a:r>
              <a:rPr sz="1600" b="0">
                <a:solidFill>
                  <a:srgbClr val="5A6672"/>
                </a:solidFill>
                <a:latin typeface="Malgun Gothic"/>
              </a:rPr>
              <a:t>    –  조건을 갖춰 주면 옵티마이저가 스스로 같은 결론에 도달한다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 실행 결과 종합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상황별 조인 방식과 Buffers</a:t>
            </a:r>
          </a:p>
          <a:p>
            <a:r>
              <a:rPr sz="1600" b="0">
                <a:solidFill>
                  <a:srgbClr val="C5CED6"/>
                </a:solidFill>
                <a:latin typeface="Malgun Gothic"/>
              </a:rPr>
              <a:t>•  결정적 변수는 무엇이었나</a:t>
            </a:r>
          </a:p>
          <a:p>
            <a:r>
              <a:rPr sz="1600" b="0">
                <a:solidFill>
                  <a:srgbClr val="C5CED6"/>
                </a:solidFill>
                <a:latin typeface="Malgun Gothic"/>
              </a:rPr>
              <a:t>•  조인 방식 선택 체크리스트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벤치마크 — 실행 결과 종합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힌트를 바꾼 경우와 인덱스를 만든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상황                             | 조인 방식                  | Buffers |</a:t>
            </a:r>
          </a:p>
          <a:p>
            <a:r>
              <a:rPr sz="1250" b="0">
                <a:solidFill>
                  <a:srgbClr val="E6E6E6"/>
                </a:solidFill>
                <a:latin typeface="Consolas"/>
              </a:rPr>
              <a:t>+----------------------------------+----------------------------+---------+</a:t>
            </a:r>
          </a:p>
          <a:p>
            <a:r>
              <a:rPr sz="1250" b="0">
                <a:solidFill>
                  <a:srgbClr val="E6E6E6"/>
                </a:solidFill>
                <a:latin typeface="Consolas"/>
              </a:rPr>
              <a:t>| 인덱스 없음, 힌트 없음 (Q1)      | HASH JOIN                  |   3,093 |</a:t>
            </a:r>
          </a:p>
          <a:p>
            <a:r>
              <a:rPr sz="1250" b="0">
                <a:solidFill>
                  <a:srgbClr val="E6E6E6"/>
                </a:solidFill>
                <a:latin typeface="Consolas"/>
              </a:rPr>
              <a:t>| 인덱스 없음, USE_NL 강제 (Q2)    | HASH JOIN (힌트 미적용)    |   3,093 |</a:t>
            </a:r>
          </a:p>
          <a:p>
            <a:r>
              <a:rPr sz="1250" b="0">
                <a:solidFill>
                  <a:srgbClr val="E6E6E6"/>
                </a:solidFill>
                <a:latin typeface="Consolas"/>
              </a:rPr>
              <a:t>| 인덱스 없음, USE_HASH 강제 (Q3)  | HASH JOIN                  |   3,093 |</a:t>
            </a:r>
          </a:p>
          <a:p>
            <a:r>
              <a:rPr sz="1250" b="0">
                <a:solidFill>
                  <a:srgbClr val="E6E6E6"/>
                </a:solidFill>
                <a:latin typeface="Consolas"/>
              </a:rPr>
              <a:t>| 인덱스 있음, USE_NL 강제 (Q4)    | NESTED LOOPS               |      44 |</a:t>
            </a:r>
          </a:p>
          <a:p>
            <a:r>
              <a:rPr sz="1250" b="0">
                <a:solidFill>
                  <a:srgbClr val="E6E6E6"/>
                </a:solidFill>
                <a:latin typeface="Consolas"/>
              </a:rPr>
              <a:t>| 인덱스 있음, 힌트 없음 (Q5)      | NESTED LOOPS (자동 선택)   |      44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위쪽 : 힌트를 무엇으로 바꿔도 결과가 같다</a:t>
            </a:r>
          </a:p>
          <a:p>
            <a:r>
              <a:rPr sz="1250" b="0">
                <a:solidFill>
                  <a:srgbClr val="7EC699"/>
                </a:solidFill>
                <a:latin typeface="Consolas"/>
              </a:rPr>
              <a:t>-- 아래쪽 : 인덱스가 생기자 힌트 유무와 무관하게 같다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벤치마크 해석 — 결정적 변수는 인덱스였다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힌트만 바꾼 경우(Q1·Q2·Q3)는 Buffers 가 모두 3,093 으로 같았다</a:t>
            </a:r>
          </a:p>
          <a:p>
            <a:r>
              <a:rPr sz="1600" b="0">
                <a:solidFill>
                  <a:srgbClr val="5A6672"/>
                </a:solidFill>
                <a:latin typeface="Malgun Gothic"/>
              </a:rPr>
              <a:t>    –  인덱스가 없는 동안에는 무엇을 지시해도 결과가 달라지지 않았다</a:t>
            </a:r>
          </a:p>
          <a:p>
            <a:r>
              <a:rPr sz="1800" b="0">
                <a:solidFill>
                  <a:srgbClr val="202830"/>
                </a:solidFill>
                <a:latin typeface="Malgun Gothic"/>
              </a:rPr>
              <a:t>•  인덱스를 만든 경우(Q4·Q5)는 힌트 유무와 무관하게 44 였다</a:t>
            </a:r>
          </a:p>
          <a:p>
            <a:r>
              <a:rPr sz="1600" b="0">
                <a:solidFill>
                  <a:srgbClr val="5A6672"/>
                </a:solidFill>
                <a:latin typeface="Malgun Gothic"/>
              </a:rPr>
              <a:t>    –  인덱스가 생기자 힌트가 없어도 NL 이 선택됐다</a:t>
            </a:r>
          </a:p>
          <a:p>
            <a:r>
              <a:rPr sz="1800" b="0">
                <a:solidFill>
                  <a:srgbClr val="202830"/>
                </a:solidFill>
                <a:latin typeface="Malgun Gothic"/>
              </a:rPr>
              <a:t>•  정리하면</a:t>
            </a:r>
          </a:p>
          <a:p>
            <a:r>
              <a:rPr sz="1600" b="0">
                <a:solidFill>
                  <a:srgbClr val="5A6672"/>
                </a:solidFill>
                <a:latin typeface="Malgun Gothic"/>
              </a:rPr>
              <a:t>    –  인덱스 유무가 힌트보다 훨씬 결정적인 변수였다</a:t>
            </a:r>
          </a:p>
          <a:p>
            <a:r>
              <a:rPr sz="1600" b="0">
                <a:solidFill>
                  <a:srgbClr val="5A6672"/>
                </a:solidFill>
                <a:latin typeface="Malgun Gothic"/>
              </a:rPr>
              <a:t>    –  힌트로 방식을 바꾸려 하기 전에 조건이 갖춰졌는지부터 확인한다</a:t>
            </a:r>
          </a:p>
          <a:p>
            <a:r>
              <a:rPr sz="1800" b="0">
                <a:solidFill>
                  <a:srgbClr val="202830"/>
                </a:solidFill>
                <a:latin typeface="Malgun Gothic"/>
              </a:rPr>
              <a:t>•  주의 — 이 결론은 이번 쿼리 형태에서 관측된 것이다</a:t>
            </a:r>
          </a:p>
          <a:p>
            <a:r>
              <a:rPr sz="1600" b="0">
                <a:solidFill>
                  <a:srgbClr val="5A6672"/>
                </a:solidFill>
                <a:latin typeface="Malgun Gothic"/>
              </a:rPr>
              <a:t>    –  다른 쿼리 형태에서는 힌트가 그대로 적용될 수도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방식 선택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먼저 확인할 것</a:t>
            </a:r>
          </a:p>
          <a:p>
            <a:r>
              <a:rPr sz="1600" b="0">
                <a:solidFill>
                  <a:srgbClr val="5A6672"/>
                </a:solidFill>
                <a:latin typeface="Malgun Gothic"/>
              </a:rPr>
              <a:t>    –  조인 조건이 등가인가 — 아니면 Hash Join 은 후보에서 빠진다</a:t>
            </a:r>
          </a:p>
          <a:p>
            <a:r>
              <a:rPr sz="1600" b="0">
                <a:solidFill>
                  <a:srgbClr val="5A6672"/>
                </a:solidFill>
                <a:latin typeface="Malgun Gothic"/>
              </a:rPr>
              <a:t>    –  어느 쪽이 조건으로 먼저 좁혀지는가 — 그쪽이 Driving 후보다</a:t>
            </a:r>
          </a:p>
          <a:p>
            <a:r>
              <a:rPr sz="1600" b="0">
                <a:solidFill>
                  <a:srgbClr val="5A6672"/>
                </a:solidFill>
                <a:latin typeface="Malgun Gothic"/>
              </a:rPr>
              <a:t>    –  반대쪽 조인 컬럼에 인덱스가 있는가 — 없으면 NL 은 위험하다</a:t>
            </a:r>
          </a:p>
          <a:p>
            <a:r>
              <a:rPr sz="1800" b="0">
                <a:solidFill>
                  <a:srgbClr val="202830"/>
                </a:solidFill>
                <a:latin typeface="Malgun Gothic"/>
              </a:rPr>
              <a:t>•  방식별 선택 신호</a:t>
            </a:r>
          </a:p>
          <a:p>
            <a:r>
              <a:rPr sz="1600" b="0">
                <a:solidFill>
                  <a:srgbClr val="5A6672"/>
                </a:solidFill>
                <a:latin typeface="Malgun Gothic"/>
              </a:rPr>
              <a:t>    –  좁혀진 쪽이 아주 작고 반대쪽에 인덱스가 있다 → Nested Loops</a:t>
            </a:r>
          </a:p>
          <a:p>
            <a:r>
              <a:rPr sz="1600" b="0">
                <a:solidFill>
                  <a:srgbClr val="5A6672"/>
                </a:solidFill>
                <a:latin typeface="Malgun Gothic"/>
              </a:rPr>
              <a:t>    –  양쪽이 다 크거나 인덱스가 없다 → Hash Join</a:t>
            </a:r>
          </a:p>
          <a:p>
            <a:r>
              <a:rPr sz="1600" b="0">
                <a:solidFill>
                  <a:srgbClr val="5A6672"/>
                </a:solidFill>
                <a:latin typeface="Malgun Gothic"/>
              </a:rPr>
              <a:t>    –  정렬 순서를 이미 확보했거나 비등가 조인이다 → Sort Merge Join</a:t>
            </a:r>
          </a:p>
          <a:p>
            <a:r>
              <a:rPr sz="1800" b="0">
                <a:solidFill>
                  <a:srgbClr val="202830"/>
                </a:solidFill>
                <a:latin typeface="Malgun Gothic"/>
              </a:rPr>
              <a:t>•  마지막 단계는 언제나 같다 — 실행계획으로 확인한다</a:t>
            </a:r>
          </a:p>
          <a:p>
            <a:r>
              <a:rPr sz="1600" b="0">
                <a:solidFill>
                  <a:srgbClr val="5A6672"/>
                </a:solidFill>
                <a:latin typeface="Malgun Gothic"/>
              </a:rPr>
              <a:t>    –  체크리스트는 가설을 세우는 도구이지 결론을 내리는 도구가 아니다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조인은 두 집합에서 조건에 맞는 행을 짝지어 합치는 연산이고, 방식에 따라 비용이 달라진다</a:t>
            </a:r>
          </a:p>
          <a:p>
            <a:r>
              <a:rPr sz="1800" b="0">
                <a:solidFill>
                  <a:srgbClr val="202830"/>
                </a:solidFill>
                <a:latin typeface="Malgun Gothic"/>
              </a:rPr>
              <a:t>•  NL 은 Outer 각 행마다 Inner 를 찾는 방식이라 비용이 'Outer 행 수 × 1회 탐색 비용'이다</a:t>
            </a:r>
          </a:p>
          <a:p>
            <a:r>
              <a:rPr sz="1800" b="0">
                <a:solidFill>
                  <a:srgbClr val="202830"/>
                </a:solidFill>
                <a:latin typeface="Malgun Gothic"/>
              </a:rPr>
              <a:t>•  NL 은 Inner 조인 컬럼에 인덱스가 있고 Outer 가 작을 때 유리하다</a:t>
            </a:r>
          </a:p>
          <a:p>
            <a:r>
              <a:rPr sz="1800" b="0">
                <a:solidFill>
                  <a:srgbClr val="202830"/>
                </a:solidFill>
                <a:latin typeface="Malgun Gothic"/>
              </a:rPr>
              <a:t>•  Hash Join 은 Build 한 번 + Probe 한 번으로 양쪽을 한 번씩만 읽어 상대적으로 안정적이다</a:t>
            </a:r>
          </a:p>
          <a:p>
            <a:r>
              <a:rPr sz="1800" b="0">
                <a:solidFill>
                  <a:srgbClr val="202830"/>
                </a:solidFill>
                <a:latin typeface="Malgun Gothic"/>
              </a:rPr>
              <a:t>•  Sort Merge Join 은 정렬 후 병합하는 구조이며 비등가 조인에도 쓸 수 있다</a:t>
            </a:r>
          </a:p>
          <a:p>
            <a:r>
              <a:rPr sz="1800" b="0">
                <a:solidFill>
                  <a:srgbClr val="202830"/>
                </a:solidFill>
                <a:latin typeface="Malgun Gothic"/>
              </a:rPr>
              <a:t>•  Driving Table 은 조인을 시작하는 쪽이며 실행계획의 Starts 로 판별할 수 있다</a:t>
            </a:r>
          </a:p>
          <a:p>
            <a:r>
              <a:rPr sz="1800" b="0">
                <a:solidFill>
                  <a:srgbClr val="202830"/>
                </a:solidFill>
                <a:latin typeface="Malgun Gothic"/>
              </a:rPr>
              <a:t>•  힌트는 지시일 뿐 보장이 아니다 — 쿼리 변환이 얽히면 조용히 무시될 수 있다</a:t>
            </a:r>
          </a:p>
          <a:p>
            <a:r>
              <a:rPr sz="1800" b="0">
                <a:solidFill>
                  <a:srgbClr val="202830"/>
                </a:solidFill>
                <a:latin typeface="Malgun Gothic"/>
              </a:rPr>
              <a:t>•  인덱스가 없을 때는 힌트를 바꿔도 Buffers 가 3,093 으로 같았고, 인덱스를 만들자 44 로 줄었다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ch09_문제.md</a:t>
            </a:r>
          </a:p>
          <a:p>
            <a:r>
              <a:rPr sz="1600" b="0">
                <a:solidFill>
                  <a:srgbClr val="5A6672"/>
                </a:solidFill>
                <a:latin typeface="Malgun Gothic"/>
              </a:rPr>
              <a:t>    –  1·6번  Q1 과 Q3, Q4 와 Q5 의 계획이 같아진 이유 — 우연인가 필연인가</a:t>
            </a:r>
          </a:p>
          <a:p>
            <a:r>
              <a:rPr sz="1600" b="0">
                <a:solidFill>
                  <a:srgbClr val="5A6672"/>
                </a:solidFill>
                <a:latin typeface="Malgun Gothic"/>
              </a:rPr>
              <a:t>    –  2·3번  내부 뷰를 근거로 한 힌트 무력화 추론과 힌트 검증 절차</a:t>
            </a:r>
          </a:p>
          <a:p>
            <a:r>
              <a:rPr sz="1600" b="0">
                <a:solidFill>
                  <a:srgbClr val="5A6672"/>
                </a:solidFill>
                <a:latin typeface="Malgun Gothic"/>
              </a:rPr>
              <a:t>    –  4·5번  인덱스가 NL 비용에 결정적인 이유와 Starts 값의 의미</a:t>
            </a:r>
          </a:p>
          <a:p>
            <a:r>
              <a:rPr sz="1600" b="0">
                <a:solidFill>
                  <a:srgbClr val="5A6672"/>
                </a:solidFill>
                <a:latin typeface="Malgun Gothic"/>
              </a:rPr>
              <a:t>    –  7번  Outer 조건을 HOSP_ID&lt;=500 으로 넓혔을 때의 Buffers 변화 예측</a:t>
            </a:r>
          </a:p>
          <a:p>
            <a:r>
              <a:rPr sz="1600" b="0">
                <a:solidFill>
                  <a:srgbClr val="5A6672"/>
                </a:solidFill>
                <a:latin typeface="Malgun Gothic"/>
              </a:rPr>
              <a:t>    –  8·9번  Hash Join 의 안정성, '느리면 무조건 USE_NL' 통념 반박</a:t>
            </a:r>
          </a:p>
          <a:p>
            <a:r>
              <a:rPr sz="1600" b="0">
                <a:solidFill>
                  <a:srgbClr val="5A6672"/>
                </a:solidFill>
                <a:latin typeface="Malgun Gothic"/>
              </a:rPr>
              <a:t>    –  10번  Q4·Q5 에서 Outer 와 Inner 지목 및 판단 근거 서술</a:t>
            </a:r>
          </a:p>
          <a:p>
            <a:r>
              <a:rPr sz="1800" b="0">
                <a:solidFill>
                  <a:srgbClr val="202830"/>
                </a:solidFill>
                <a:latin typeface="Malgun Gothic"/>
              </a:rPr>
              <a:t>•  실습 후 정리 — 반드시 확인할 것</a:t>
            </a:r>
          </a:p>
          <a:p>
            <a:r>
              <a:rPr sz="1600" b="0">
                <a:solidFill>
                  <a:srgbClr val="5A6672"/>
                </a:solidFill>
                <a:latin typeface="Malgun Gothic"/>
              </a:rPr>
              <a:t>    –  DROP INDEX 로 IX_CH07_ 접두어 인덱스를 삭제한다</a:t>
            </a:r>
          </a:p>
          <a:p>
            <a:r>
              <a:rPr sz="1600" b="0">
                <a:solidFill>
                  <a:srgbClr val="5A6672"/>
                </a:solidFill>
                <a:latin typeface="Malgun Gothic"/>
              </a:rPr>
              <a:t>    –  MEDICAL_CLAIMS 에 PK_MEDICAL_CLAIMS 만 남았는지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
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왜 메모리 관리가 성능 튜닝의 큰 축인지를 세운다. 디스크 접근은 메모리 접근보다 압도적으로 느리고, 단지 느린 것을 넘어 디바이스 드라이버와 OS 스케줄러를 거치며 CPU 자원까지 더 소모한다. 그래서 자주 접근하는 객체의 요청을 디스크까지 내려보내지 않고 메모리에서 끝내는 것이 효율적이다. 메모리 관리란 결국 전체 크기를 정하고 그 안에서 각 구성 요소에 얼마씩 나눠 줄지를 정하는 일이며, 이 장은 그것을 누가 하느냐라는 관리 방식에서 출발한다는 점을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SGA의 주요 캐시와 풀을 소개한다. 성능에 가장 큰 영향을 주는 둘은 버퍼 캐시와 공유 풀이다. 버퍼 캐시는 디스크 블록을 붙들어 물리 I/O를 줄이고, 공유 풀은 파싱된 SQL과 딕셔너리를 캐싱해 재파싱 비용을 없앤다. 이 두 풀은 ch31과 ch32에서 각각 깊이 다룬다. 리두 로그 버퍼와 KEEP/RECYCLE 캐시, 고정 SGA는 자동 공유 메모리 관리의 자동 조정 대상이 아니라 먼저 떼어 놓는 몫이라는 점, In-Memory 영역은 별도 라이선스 옵션이라는 점을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SGA와 PGA를 가르는 기준은 공유 여부다. SGA는 모든 세션이 함께 쓰는 공유 자원이라 한 번 캐싱한 블록이나 커서를 여러 세션이 재사용하므로 클수록 이득이 크다. 반면 PGA는 세션마다 따로 잡히는 사설 자원이라 접속 세션 수가 늘면 총 수요도 함께 는다. 이 차이가 배분 전략을 가른다. 동시 접속이 많은 OLTP는 PGA 여유를, 소수 세션이 대량 데이터를 다루는 DW는 큰 작업 영역과 큰 버퍼 캐시를 함께 고려한다. 뒤의 어드바이저에서 SGA가 남으면 PGA로라는 조언의 배경이 이 구분이다.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메모리 관리는 SGA와 인스턴스 PGA를 오라클이 통째로 조정하는 방식이다. 관리자는 MEMORY_TARGET 하나로 데이터베이스가 쓸 총 메모리만 정하고, 오라클이 SGA와 PGA 사이, SGA 내부 풀 사이에 메모리를 재분배한다. 가장 자동화된 방식으로 오라클이 강력히 권장한다. 다만 MEMORY_TARGET을 쓰면 SGA가 공유 메모리 파일 기반으로 배치되어 리눅스의 대용량 페이지를 활용하지 못하는 제약이 있어, 대형 SGA를 운영하는 환경에서는 오히려 ASMM을 택하는 경우가 많다는 실무 관행을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메모리 관리가 꺼져 있으면 오라클은 자동 공유 메모리 관리로 SGA를 관리한다. 관리자가 SGA_TARGET으로 SGA 총 크기만 정하면 오라클이 버퍼 캐시·공유 풀·라지 풀·자바 풀·스트림 풀에 자동 분배한다. 개별 풀을 0이 아닌 값으로 두면 그 값은 상한이 아니라 최소 보장치로 취급된다. PGA는 이와 별개로 PGA_AGGREGATE_TARGET으로 자동 관리한다. 즉 ASMM은 SGA는 SGA_TARGET, PGA는 PGA_AGGREGATE_TARGET으로 각각 자동 관리하는 방식이며, 이 장의 실습 DB가 바로 이 상태라는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수동 공유 메모리 관리는 AMM과 ASMM이 모두 꺼져 있을 때로, 관리자가 개별 풀 파라미터를 직접 지정한다. 완전한 제어권을 주지만 워크로드가 바뀔 때마다 손봐야 해 노력이 가장 많이 든다. 이어서 판별 순서를 습관으로 굳힌다. 먼저 MEMORY_TARGET을 보아 0보다 크면 AMM으로 확정, 0이면 SGA_TARGET을 보아 0보다 크면 ASMM, 그마저 0이면 수동이다. 이 세 줄짜리 판별이 어떤 인스턴스에 처음 접속했을 때 메모리를 손대도 되는지, 무엇을 바꿔야 하는지를 즉시 알려 준다는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실측을 판별표에 대입한다. MEMORY_TARGET이 0이므로 AMM은 아니고, SGA_TARGET이 1504M로 0보다 크므로 ASMM이다. DB_CACHE_SIZE와 SHARED_POOL_SIZE가 0이라는 것은 이 풀들을 관리자가 고정하지 않고 오라클의 자동 분배에 맡겼다는 뜻이다. 0은 메모리가 없다는 뜻이 아니라 최소 보장치를 두지 않았다는 의미다. PGA는 PGA_AGGREGATE_TARGET 700M로 자동 관리 중이다. 즉 이 인스턴스는 SGA는 1504M 한도에서 자동, PGA는 700M 목표로 자동인 전형적 ASMM 구성임을 확정한다.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방식을 자동화 수준과 관리 노력의 트레이드오프로 한 장에 정리한다. AMM은 관리 노력이 가장 적고 오라클이 SGA와 PGA를 전부 조정하지만 HugePages 제약이 있다. ASMM은 SGA만 자동 분배하고 PGA를 별도로 관리하며 HugePages를 쓸 수 있어 운영 환경에서 선호된다. 수동은 완전한 제어권을 주지만 워크로드가 바뀔 때마다 손봐야 해 노력이 가장 크다. 세 방식에 공통된 교훈은 자동 관리라도 관리자가 준 상한 안에서만 재배분하며, 그 상한을 잘못 주면 자동으로 나빠진다는 점이다. 자동에 맡기되 자동이 무엇을 근거로 움직이는지 읽을 줄 아는 관리자가 되자는 이 장의 메시지를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파라미터는 목표와 상한의 짝으로 이해해야 한다. 각 영역에는 target과 max가 있고 목표는 대개 동적, 상한은 정적이며 목표는 상한을 넘을 수 없다. 실측에서 SGA_TARGET 1504M는 SGA_MAX_SIZE 2G보다 작아 정상이고, 목표를 상한까지 동적으로 키울 수 있다. PGA도 마찬가지로 PGA_AGGREGATE_TARGET은 부드러운 목표, PGA_AGGREGATE_LIMIT은 넘으면 세션을 중단시켜서라도 지키는 하드 한도다. 동적 파라미터는 운영 중 조정하고 정적 상한은 재기동이 필요하므로, 상한은 넉넉히 잡고 목표만 조절하는 것이 일반적 패턴이라는 점을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장이 경계하는 대표적 흔한 오류다. 자동으로 다 맡기고 싶다며 MEMORY_TARGET과 SGA_TARGET을 둘 다 큰 값으로 설정하는 실수다. 두 파라미터는 계층이 다르다. MEMORY_TARGET이 0보다 크면 AMM이 켜지고 SGA_TARGET은 SGA 최소 하한으로만 작동한다. 둘의 관계를 어기면 기동이 막힌다. 해결은 자동을 두 번 켜는 것이 아니라 한 방식을 고르는 것이다. AMM을 쓰려면 MEMORY_TARGET만, ASMM을 쓰려면 MEMORY_TARGET을 0으로 두고 SGA_TARGET만 설정한다. 실습 DB처럼 명시적으로 0을 두는 이유가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화면을 읽는 법을 짚는다. Maximum SGA Size 2048MB는 SGA_MAX_SIZE와 일치하는 천장이다. Free SGA Memory Available 544MB는 아직 어떤 풀에도 할당되지 않은 여유분이라, 실제 사용 SGA는 2048에서 544를 뺀 약 1504MB로 SGA_TARGET과 맞아떨어진다. RESIZEABLE이 Yes인 풀이 ASMM의 자동 조정 대상이고, No인 항목은 조정에서 빠진다. In-Memory Area Size가 0인 것은 In-Memory 옵션이 꺼져 있음을 뜻한다. 뒤에서 볼 조정 증감폭이 모두 16의 배수인 이유가 그래뉼 16MB에 있다는 점을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그래뉼에 주목한다. SGA의 버퍼 캐시·공유 풀·라지 풀·자바 풀 메모리는 그래뉼이라는 단위로 할당된다. SGA가 1GB 이하이면 4MB, 넘으면 16MB이며 이 DB는 2GB라 16MB다. 그래서 모든 자동 조정이 16MB의 배수로 일어난다. 또 하나 헷갈리기 쉬운 대목을 해설한다. V$SGAINFO의 Buffer Cache Size 1024MB는 DEFAULT·KEEP·4K 등 모든 버퍼 캐시의 합이고, 그중 DEFAULT 하나는 864MB다. 같은 버퍼 캐시라도 어느 뷰가 무엇을 합산하는지에 따라 값이 달라지므로 뷰마다 확인하는 습관이 필요하다는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뷰는 자동 조정되는 각 풀의 현재·최소·최대 크기를 보여 준다. 자동 조정의 흔적이 min/max 스프레드에 남는다. DEFAULT buffer cache는 현재 864MB인데 최소 832MB까지 줄었던 적이 있고, large pool은 현재 16MB지만 한때 48MB까지 커졌던 이력이 있다. 반대로 shared pool처럼 min과 cur과 max가 같은 풀은 관측 구간에 변동이 없었다. 이 스프레드가 바로 ASMM이 부하에 맞춰 풀 사이 메모리를 실제로 옮겼다는 증거다. Buffer Cache Size 1024가 DEFAULT 864 하나보다 큰 이유도 KEEP과 4K를 합쳤기 때문임을 다시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이력에서 ASMM의 작동 원리가 드러난다. 조정은 짝을 이룬다. large pool이 GROW할 때 DEFAULT buffer cache가 SHRINK하고, large pool이 SHRINK하면 버퍼 캐시가 다시 GROW한다. SGA 총량인 SGA_TARGET이 고정이므로 한 풀이 커지려면 다른 풀이 그만큼 내놓아야 하기 때문이다. 이것이 전체는 고정, 내부는 자동 재분배라는 ASMM의 본질이다. 모든 증감이 16MB 그래뉼 단위인 것도 확인된다. 오라클은 최근 800건의 조정 이력을 이 뷰에 보관한다는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조정 이력을 해석할 때 주의가 있다. GROW와 SHRINK가 잦다고 무조건 나쁜 것은 아니다. ASMM의 존재 이유가 부하 변화에 맞춰 메모리를 옮기는 것이므로 적당한 조정은 건강한 작동이다. 문제로 볼 신호는 세 가지다. 같은 풀이 한 방향으로 계속 밀려 상대 풀을 고갈시키거나, 조정이 너무 잦아 조정 자체의 오버헤드가 눈에 띄거나, 조정에도 불구하고 특정 풀에서 부족 오류가 반복되는 경우다. 이럴 때 비로소 SGA_TARGET 상향이나 개별 풀 하한 설정을 검토한다. 조정 이력은 판정의 근거이지 그 자체가 문제는 아니라는 태도를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V$MEMORY_RESIZE_OPS는 SGA와 PGA를 아우르는 메모리 조정 이력으로, AMM 환경에서 SGA와 PGA 사이 이동까지 포함해 최근 800건을 보여 준다. 그런데 실습 DB는 ASMM이라 MEMORY_TARGET이 0이다. 이 상태에서 V$MEMORY_RESIZE_OPS를 조회하면 관점에 따라 결과가 빈약해 보일 수 있다. 그래서 ASMM에서 SGA 조정 이력을 추적할 때는 V$SGA_RESIZE_OPS를, AMM에서 SGA와 PGA 통합 이력을 볼 때는 V$MEMORY_RESIZE_OPS를 쓰는 것이 자연스럽다. 이 뷰 선택 자체가 실습 04의 학습 포인트이며, 오류 흐름으로 재현된다는 점을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관점의 진단을 한 시나리오로 꿴다. 매일 오후 배치 시간에만 응답이 흔들린다는 신고에 개발팀은 SGA를 늘리자고 한다. 1단계로 V$PARAMETER를 보아 ASMM임을 확인하고, 2단계로 V$SGA_RESIZE_OPS를 그 시간대로 필터해 어느 풀이 압력을 받았는지 본다. 3단계로 어드바이저 곡선이 이미 평평하면 SGA를 늘려도 이득이 없으므로 증설 요구를 근거로 기각한다. 4단계로 진짜 원인을 찾는다. 배치의 대량 정렬이면 SGA가 아니라 PGA 문제일 수 있고, 리터럴 SQL 폭증이면 공유 풀 단편화 문제일 수 있다. 메모리를 늘리자는 감이 아니라 판별과 이력과 어드바이저와 진단의 순서로 답한다는 태도를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곡선을 읽는 것이 어드바이저 해석의 핵심이다. 현재 1504MB에서 예상 DB Time은 1635다. SGA를 두 배인 3008MB로 늘려도 1635로 전혀 나아지지 않는다. 더 줘 봐야 이득이 없다. 흥미로운 것은 아래쪽이다. 1128MB로 줄여도 1636으로 사실상 동일하고, 752MB로 반토막 내면 그제야 2213으로 급증한다. 즉 이 시스템의 SGA는 약간 과대 배정되어 있으며 1128MB 부근까지는 줄여도 DB Time에 거의 영향이 없다. 곡선이 평평해지는 무릎 지점이 1128에서 1504 사이에 있는 것이다. 이 판독이 크기 결정의 근거가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어드바이저를 읽는 두 원칙을 정리한다. 더 줘도 평평한 구간에 이미 들어와 있으면 메모리를 늘리는 것은 낭비이며, 그 메모리를 PGA나 다른 인스턴스에 주는 편이 낫다. 줄이면 급증하는 절벽 바로 위가 비용 대비 효율이 가장 좋은 지점이다. 다만 어드바이저는 관측된 워크로드에 기반한 추정이므로 피크 부하를 포함한 대표 구간에서 값을 봐야 하고, 여유를 두어 절벽에서 한 칸 위를 택하는 것이 안전하다. AMM 환경이라면 같은 논리를 V$MEMORY_TARGET_ADVICE에 적용한다는 점을 덧붙인다.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어드바이저 값이 어떻게 만들어지는지 알면 신뢰 수준을 가늠할 수 있다. 오라클은 실제 워크로드가 도는 동안 여러 가상 크기의 예상 효과를 시뮬레이션해 표를 채운다. 따라서 STATISTICS_LEVEL이 TYPICAL 이상이어야 하고 충분한 워크로드가 흘러야 곡선이 의미를 가진다. 흔한 오해도 바로잡는다. DB Time이 크기를 키워도 줄지 않는다는 것은 SGA 크기를 늘리는 것으로는 개선되지 않는다는 뜻일 뿐, 튜닝할 것이 없다는 뜻은 아니다. 진짜 병목은 비효율 SQL·하드 파싱·PGA 부족·I/O 구성 등 다른 곳에 있을 수 있고, 그것은 ch26~ch30의 진단으로 찾아야 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ORA-04031은 오라클이 공유 풀이나 라지 풀 등에서 요청한 크기의 연속된 메모리 조각을 찾지 못했을 때 발생한다. 원인은 크게 둘이다. 절대적 부족은 해당 풀이 워크로드에 비해 너무 작은 것이고, 단편화는 여유 총량은 있으나 작은 조각으로 흩어져 큰 연속 조각을 못 만드는 것이다. 특히 바인드 변수 없이 리터럴 값을 박은 SQL이 무수히 많으면 서로 다른 커서가 라이브러리 캐시를 잘게 채워 단편화를 심화시킨다. 단편화형은 며칠 멀쩡히 돌다 특정 크기 할당에서만 실패해 예측이 어렵고, 애플리케이션 관점에서는 갑자기 쿼리가 죽은 것으로 보인다는 점을 짚는다.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ORA-04031의 원인을 구분하는 실무적 감별법이 있다. 오류 메시지의 풀 이름과 발생 시점을 본다. 기동 직후부터 빈발하면 절대 부족을 의심하고, 며칠 가동한 뒤 서서히 빈발하면 단편화를 의심한다. V$SGASTAT에서 공유 풀 free memory가 넉넉한데도 오류가 나면 단편화다. 총량이 있는데 못 주는 것은 연속 조각을 못 만든 것이기 때문이다. 해소는 원인에 따라 다르다. 부족이면 SGA_TARGET을 어드바이저 근거로 키우고, 단편화면 리터럴 SQL을 바인드 변수화해 커서 공유를 회복한다. FLUSH SHARED_POOL은 캐시를 날려 하드 파싱을 급증시키므로 임시책일 뿐 근본 해법이 아니라는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메모리 실습의 안전 수칙을 한 장으로 못 박는다. SGA_TARGET·MEMORY_TARGET·SHARED_POOL_SIZE 변경과 인스턴스 재기동은 반드시 개인 실습 DB에서만 수행한다. 공유 서버에서 이 값을 잘못 주면 인스턴스가 기동하지 못하거나 다른 사용자 세션에 즉시 영향을 준다. ORA-04031 재현도 격리된 환경에서 하고 재현 후 반드시 원복한다. 그리고 이 장에 등장하는 절대값 1504M 등은 환경에 따라 다른 환경값이므로, 외울 것은 특정 숫자가 아니라 판별과 조정과 재확인의 절차라는 점을 강조한다. 실습 02·03·05가 모두 이 수칙을 전제로 진행된다.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SGA에는 선택적 정적 풀인 In-Memory Column Store가 있다. 테이블과 파티션의 사본을 컬럼 형식으로 저장해 스캔·조인·집계를 크게 가속한다. 버퍼 캐시를 대체하는 것이 아니라 같은 데이터를 다른 형식으로 병존시켜 보완하며, INMEMORY_SIZE로 크기를 정한다. 스캔이 많은 분석성 워크로드에 이득이 크고 OLTP에는 이득이 작다. 중요한 것은 라이선스 경계다. 이 장에서 다룬 메모리 파라미터와 어드바이저 뷰, V$SGAINFO 같은 진단 뷰는 모두 기본 기능으로 라이선스가 필요 없지만, In-Memory는 별도 유상 옵션이라 존재와 조건만 언급하고 실습에서 제외한다는 점을 명확히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400"/>
              </a:spcAft>
            </a:pPr>
            <a:r>
              <a:rPr sz="3200" b="1">
                <a:solidFill>
                  <a:srgbClr val="C0392B"/>
                </a:solidFill>
                <a:latin typeface="맑은 고딕"/>
                <a:ea typeface="맑은 고딕"/>
              </a:rPr>
              <a:t>데이터베이스 메모리 할당 구조</a:t>
            </a:r>
          </a:p>
          <a:p>
            <a:pPr algn="l">
              <a:spcAft>
                <a:spcPts val="400"/>
              </a:spcAft>
            </a:pPr>
            <a:r>
              <a:rPr sz="1900" b="0">
                <a:solidFill>
                  <a:srgbClr val="5A6672"/>
                </a:solidFill>
                <a:latin typeface="맑은 고딕"/>
                <a:ea typeface="맑은 고딕"/>
              </a:rPr>
              <a:t>Database Memory Allocation — AMM · ASMM · 수동</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메모리 관리 방식 판별 · 파라미터 체계 · 자동 조정 이력 · 메모리 어드바이저 · ORA-04031</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a:solidFill>
                  <a:srgbClr val="C0392B"/>
                </a:solidFill>
                <a:latin typeface="맑은 고딕"/>
                <a:ea typeface="맑은 고딕"/>
              </a:rPr>
              <a:t>ch29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오라클 메모리 구조(SGA 캐시·풀, PGA, In-Memory)를 열거하고 역할을 설명한다.</a:t>
            </a:r>
          </a:p>
          <a:p>
            <a:pPr algn="l">
              <a:spcAft>
                <a:spcPts val="900"/>
              </a:spcAft>
            </a:pPr>
            <a:r>
              <a:rPr sz="1600" b="0">
                <a:solidFill>
                  <a:srgbClr val="222222"/>
                </a:solidFill>
                <a:latin typeface="맑은 고딕"/>
                <a:ea typeface="맑은 고딕"/>
              </a:rPr>
              <a:t>•  메모리 관리 세 방식(AMM·ASMM·수동)을 파라미터 값 조합만으로 판별한다.</a:t>
            </a:r>
          </a:p>
          <a:p>
            <a:pPr algn="l">
              <a:spcAft>
                <a:spcPts val="900"/>
              </a:spcAft>
            </a:pPr>
            <a:r>
              <a:rPr sz="1600" b="0">
                <a:solidFill>
                  <a:srgbClr val="222222"/>
                </a:solidFill>
                <a:latin typeface="맑은 고딕"/>
                <a:ea typeface="맑은 고딕"/>
              </a:rPr>
              <a:t>•  MEMORY_TARGET·SGA_TARGET·PGA_AGGREGATE_TARGET의 목표·상한·동적/정적 관계를 구분한다.</a:t>
            </a:r>
          </a:p>
          <a:p>
            <a:pPr algn="l">
              <a:spcAft>
                <a:spcPts val="900"/>
              </a:spcAft>
            </a:pPr>
            <a:r>
              <a:rPr sz="1600" b="0">
                <a:solidFill>
                  <a:srgbClr val="222222"/>
                </a:solidFill>
                <a:latin typeface="맑은 고딕"/>
                <a:ea typeface="맑은 고딕"/>
              </a:rPr>
              <a:t>•  V$SGAINFO·V$SGA_DYNAMIC_COMPONENTS로 실제 배분과 그래뉼을 읽는다.</a:t>
            </a:r>
          </a:p>
          <a:p>
            <a:pPr algn="l">
              <a:spcAft>
                <a:spcPts val="900"/>
              </a:spcAft>
            </a:pPr>
            <a:r>
              <a:rPr sz="1600" b="0">
                <a:solidFill>
                  <a:srgbClr val="222222"/>
                </a:solidFill>
                <a:latin typeface="맑은 고딕"/>
                <a:ea typeface="맑은 고딕"/>
              </a:rPr>
              <a:t>•  V$SGA_RESIZE_OPS·V$MEMORY_RESIZE_OPS로 자동 조정 이력을 추적한다.</a:t>
            </a:r>
          </a:p>
          <a:p>
            <a:pPr algn="l">
              <a:spcAft>
                <a:spcPts val="900"/>
              </a:spcAft>
            </a:pPr>
            <a:r>
              <a:rPr sz="1600" b="0">
                <a:solidFill>
                  <a:srgbClr val="222222"/>
                </a:solidFill>
                <a:latin typeface="맑은 고딕"/>
                <a:ea typeface="맑은 고딕"/>
              </a:rPr>
              <a:t>•  V$SGA_TARGET_ADVICE 곡선으로 '더 줘도 평평한 지점'과 '절벽'을 판정한다.</a:t>
            </a:r>
          </a:p>
          <a:p>
            <a:pPr algn="l">
              <a:spcAft>
                <a:spcPts val="900"/>
              </a:spcAft>
            </a:pPr>
            <a:r>
              <a:rPr sz="1600" b="0">
                <a:solidFill>
                  <a:srgbClr val="222222"/>
                </a:solidFill>
                <a:latin typeface="맑은 고딕"/>
                <a:ea typeface="맑은 고딕"/>
              </a:rPr>
              <a:t>•  ORA-04031을 재현하고 원인(부족·단편화)과 해소책을 설명한다. In-Memory는 라이선스 조건만.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29.2  오라클 메모리 구조 개요 — 무엇을 배분하는가</a:t>
            </a:r>
          </a:p>
          <a:p>
            <a:pPr algn="l">
              <a:spcAft>
                <a:spcPts val="900"/>
              </a:spcAft>
            </a:pPr>
            <a:r>
              <a:rPr sz="1600" b="0">
                <a:solidFill>
                  <a:srgbClr val="222222"/>
                </a:solidFill>
                <a:latin typeface="맑은 고딕"/>
                <a:ea typeface="맑은 고딕"/>
              </a:rPr>
              <a:t>•  29.3  메모리 관리 방식 세 가지 — AMM · ASMM · 수동</a:t>
            </a:r>
          </a:p>
          <a:p>
            <a:pPr algn="l">
              <a:spcAft>
                <a:spcPts val="900"/>
              </a:spcAft>
            </a:pPr>
            <a:r>
              <a:rPr sz="1600" b="0">
                <a:solidFill>
                  <a:srgbClr val="222222"/>
                </a:solidFill>
                <a:latin typeface="맑은 고딕"/>
                <a:ea typeface="맑은 고딕"/>
              </a:rPr>
              <a:t>•  29.4  파라미터 체계 — 목표·상한·동적/정적</a:t>
            </a:r>
          </a:p>
          <a:p>
            <a:pPr algn="l">
              <a:spcAft>
                <a:spcPts val="900"/>
              </a:spcAft>
            </a:pPr>
            <a:r>
              <a:rPr sz="1600" b="0">
                <a:solidFill>
                  <a:srgbClr val="222222"/>
                </a:solidFill>
                <a:latin typeface="맑은 고딕"/>
                <a:ea typeface="맑은 고딕"/>
              </a:rPr>
              <a:t>•  29.5  SGA 동적 구성과 자동 조정 이력</a:t>
            </a:r>
          </a:p>
          <a:p>
            <a:pPr algn="l">
              <a:spcAft>
                <a:spcPts val="900"/>
              </a:spcAft>
            </a:pPr>
            <a:r>
              <a:rPr sz="1600" b="0">
                <a:solidFill>
                  <a:srgbClr val="222222"/>
                </a:solidFill>
                <a:latin typeface="맑은 고딕"/>
                <a:ea typeface="맑은 고딕"/>
              </a:rPr>
              <a:t>•  29.6  메모리 어드바이저 — 지금 크기가 적절한가</a:t>
            </a:r>
          </a:p>
          <a:p>
            <a:pPr algn="l">
              <a:spcAft>
                <a:spcPts val="900"/>
              </a:spcAft>
            </a:pPr>
            <a:r>
              <a:rPr sz="1600" b="0">
                <a:solidFill>
                  <a:srgbClr val="222222"/>
                </a:solidFill>
                <a:latin typeface="맑은 고딕"/>
                <a:ea typeface="맑은 고딕"/>
              </a:rPr>
              <a:t>•  29.7  ORA-04031 — 메모리 부족의 대표 오류</a:t>
            </a:r>
          </a:p>
          <a:p>
            <a:pPr algn="l">
              <a:spcAft>
                <a:spcPts val="900"/>
              </a:spcAft>
            </a:pPr>
            <a:r>
              <a:rPr sz="1600" b="0">
                <a:solidFill>
                  <a:srgbClr val="222222"/>
                </a:solidFill>
                <a:latin typeface="맑은 고딕"/>
                <a:ea typeface="맑은 고딕"/>
              </a:rPr>
              <a:t>•  29.8  In-Memory Column Store — 존재와 라이선스(실습 제외)</a:t>
            </a:r>
          </a:p>
          <a:p>
            <a:pPr algn="l">
              <a:spcAft>
                <a:spcPts val="900"/>
              </a:spcAft>
            </a:pPr>
            <a:r>
              <a:rPr sz="1600" b="0">
                <a:solidFill>
                  <a:srgbClr val="222222"/>
                </a:solidFill>
                <a:latin typeface="맑은 고딕"/>
                <a:ea typeface="맑은 고딕"/>
              </a:rPr>
              <a:t>•  ※ 실습 DB는 ASMM(orcl 19.3, non-CDB). 파라미터 변경·재기동은 개인 환경 전용.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오라클 메모리 구조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공유 영역 SGA vs 프로세스 사설 PGA</a:t>
            </a:r>
          </a:p>
          <a:p>
            <a:pPr algn="l">
              <a:spcAft>
                <a:spcPts val="600"/>
              </a:spcAft>
            </a:pPr>
            <a:r>
              <a:rPr sz="1600" b="0">
                <a:solidFill>
                  <a:srgbClr val="FFFFFF"/>
                </a:solidFill>
                <a:latin typeface="맑은 고딕"/>
                <a:ea typeface="맑은 고딕"/>
              </a:rPr>
              <a:t>•  버퍼 캐시·공유 풀이 성능의 핵심</a:t>
            </a:r>
          </a:p>
          <a:p>
            <a:pPr algn="l">
              <a:spcAft>
                <a:spcPts val="600"/>
              </a:spcAft>
            </a:pPr>
            <a:r>
              <a:rPr sz="1600" b="0">
                <a:solidFill>
                  <a:srgbClr val="FFFFFF"/>
                </a:solidFill>
                <a:latin typeface="맑은 고딕"/>
                <a:ea typeface="맑은 고딕"/>
              </a:rPr>
              <a:t>•  무엇이 자동 조정 대상인가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메모리가 성능을 좌우하는 이유</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물리 I/O는 메모리 접근보다 압도적으로 느리다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디스크 접근(물리 I/O)은 대개 10ms 안팎 — 메모리보다 수십만 배 느림</a:t>
            </a:r>
          </a:p>
          <a:p>
            <a:pPr algn="l">
              <a:spcAft>
                <a:spcPts val="1000"/>
              </a:spcAft>
            </a:pPr>
            <a:r>
              <a:rPr sz="1700" b="0">
                <a:solidFill>
                  <a:srgbClr val="222222"/>
                </a:solidFill>
                <a:latin typeface="맑은 고딕"/>
                <a:ea typeface="맑은 고딕"/>
              </a:rPr>
              <a:t>•  물리 I/O는 드라이버·OS 스케줄러를 거쳐 CPU도 더 씀</a:t>
            </a:r>
          </a:p>
          <a:p>
            <a:pPr algn="l">
              <a:spcAft>
                <a:spcPts val="1000"/>
              </a:spcAft>
            </a:pPr>
            <a:r>
              <a:rPr sz="1700" b="0">
                <a:solidFill>
                  <a:srgbClr val="222222"/>
                </a:solidFill>
                <a:latin typeface="맑은 고딕"/>
                <a:ea typeface="맑은 고딕"/>
              </a:rPr>
              <a:t>•  자주 쓰는 데이터를 메모리에 붙들면 물리 I/O·CPU를 함께 줄인다</a:t>
            </a:r>
          </a:p>
          <a:p>
            <a:pPr algn="l">
              <a:spcAft>
                <a:spcPts val="1000"/>
              </a:spcAft>
            </a:pPr>
            <a:r>
              <a:rPr sz="1700" b="0">
                <a:solidFill>
                  <a:srgbClr val="222222"/>
                </a:solidFill>
                <a:latin typeface="맑은 고딕"/>
                <a:ea typeface="맑은 고딕"/>
              </a:rPr>
              <a:t>•  메모리 관리 = 전체 크기 결정 + 구성 요소별 배분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SGA의 주요 구성 요소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공유 영역 — 모든 세션이 함께 쓴다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버퍼 캐시(DB_CACHE_SIZE): 데이터 블록 캐싱 → 물리 I/O 감소</a:t>
            </a:r>
          </a:p>
          <a:p>
            <a:pPr algn="l">
              <a:spcAft>
                <a:spcPts val="1000"/>
              </a:spcAft>
            </a:pPr>
            <a:r>
              <a:rPr sz="1700" b="0">
                <a:solidFill>
                  <a:srgbClr val="222222"/>
                </a:solidFill>
                <a:latin typeface="맑은 고딕"/>
                <a:ea typeface="맑은 고딕"/>
              </a:rPr>
              <a:t>•  공유 풀(SHARED_POOL_SIZE): 라이브러리 캐시·딕셔너리 캐시·결과 캐시</a:t>
            </a:r>
          </a:p>
          <a:p>
            <a:pPr algn="l">
              <a:spcAft>
                <a:spcPts val="1000"/>
              </a:spcAft>
            </a:pPr>
            <a:r>
              <a:rPr sz="1700" b="0">
                <a:solidFill>
                  <a:srgbClr val="222222"/>
                </a:solidFill>
                <a:latin typeface="맑은 고딕"/>
                <a:ea typeface="맑은 고딕"/>
              </a:rPr>
              <a:t>•  라지 풀·자바 풀·스트림 풀: 병렬·RMAN·JVM·AQ용</a:t>
            </a:r>
          </a:p>
          <a:p>
            <a:pPr algn="l">
              <a:spcAft>
                <a:spcPts val="1000"/>
              </a:spcAft>
            </a:pPr>
            <a:r>
              <a:rPr sz="1700" b="0">
                <a:solidFill>
                  <a:srgbClr val="222222"/>
                </a:solidFill>
                <a:latin typeface="맑은 고딕"/>
                <a:ea typeface="맑은 고딕"/>
              </a:rPr>
              <a:t>•  리두 로그 버퍼(LOG_BUFFER): 자동 조정 대상 아님</a:t>
            </a:r>
          </a:p>
          <a:p>
            <a:pPr algn="l">
              <a:spcAft>
                <a:spcPts val="1000"/>
              </a:spcAft>
            </a:pPr>
            <a:r>
              <a:rPr sz="1700" b="0">
                <a:solidFill>
                  <a:srgbClr val="222222"/>
                </a:solidFill>
                <a:latin typeface="맑은 고딕"/>
                <a:ea typeface="맑은 고딕"/>
              </a:rPr>
              <a:t>•  In-Memory 영역(INMEMORY_SIZE): 컬럼 저장(별도 라이선스)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SGA vs PGA — 공유냐 사설이냐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배분 전략을 가르는 기준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 모든 세션이 공유 → 캐시가 클수록 재사용 이득</a:t>
            </a:r>
          </a:p>
          <a:p>
            <a:pPr algn="l">
              <a:spcAft>
                <a:spcPts val="1000"/>
              </a:spcAft>
            </a:pPr>
            <a:r>
              <a:rPr sz="1700" b="0">
                <a:solidFill>
                  <a:srgbClr val="222222"/>
                </a:solidFill>
                <a:latin typeface="맑은 고딕"/>
                <a:ea typeface="맑은 고딕"/>
              </a:rPr>
              <a:t>•  PGA: 세션마다 사설(정렬·해시 작업 영역) → 세션 수에 비례해 증가</a:t>
            </a:r>
          </a:p>
          <a:p>
            <a:pPr algn="l">
              <a:spcAft>
                <a:spcPts val="1000"/>
              </a:spcAft>
            </a:pPr>
            <a:r>
              <a:rPr sz="1700" b="0">
                <a:solidFill>
                  <a:srgbClr val="222222"/>
                </a:solidFill>
                <a:latin typeface="맑은 고딕"/>
                <a:ea typeface="맑은 고딕"/>
              </a:rPr>
              <a:t>•  OLTP(동시 접속 多): PGA 여유를 고려</a:t>
            </a:r>
          </a:p>
          <a:p>
            <a:pPr algn="l">
              <a:spcAft>
                <a:spcPts val="1000"/>
              </a:spcAft>
            </a:pPr>
            <a:r>
              <a:rPr sz="1700" b="0">
                <a:solidFill>
                  <a:srgbClr val="222222"/>
                </a:solidFill>
                <a:latin typeface="맑은 고딕"/>
                <a:ea typeface="맑은 고딕"/>
              </a:rPr>
              <a:t>•  DW(대량 데이터): 큰 작업 영역(PGA)+큰 버퍼 캐시(SGA)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메모리 관리 방식 세 가지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AMM: MEMORY_TARGET&gt;0</a:t>
            </a:r>
          </a:p>
          <a:p>
            <a:pPr algn="l">
              <a:spcAft>
                <a:spcPts val="600"/>
              </a:spcAft>
            </a:pPr>
            <a:r>
              <a:rPr sz="1600" b="0">
                <a:solidFill>
                  <a:srgbClr val="FFFFFF"/>
                </a:solidFill>
                <a:latin typeface="맑은 고딕"/>
                <a:ea typeface="맑은 고딕"/>
              </a:rPr>
              <a:t>•  ASMM: MEMORY_TARGET=0, SGA_TARGET&gt;0</a:t>
            </a:r>
          </a:p>
          <a:p>
            <a:pPr algn="l">
              <a:spcAft>
                <a:spcPts val="600"/>
              </a:spcAft>
            </a:pPr>
            <a:r>
              <a:rPr sz="1600" b="0">
                <a:solidFill>
                  <a:srgbClr val="FFFFFF"/>
                </a:solidFill>
                <a:latin typeface="맑은 고딕"/>
                <a:ea typeface="맑은 고딕"/>
              </a:rPr>
              <a:t>•  수동: 둘 다 0 · 실습 DB는 ASMM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자동 메모리 관리(AMM)</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SGA+PGA를 통째로 오라클이 조정</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MEMORY_TARGET(동적) 하나로 총 메모리만 지정</a:t>
            </a:r>
          </a:p>
          <a:p>
            <a:pPr algn="l">
              <a:spcAft>
                <a:spcPts val="1000"/>
              </a:spcAft>
            </a:pPr>
            <a:r>
              <a:rPr sz="1700" b="0">
                <a:solidFill>
                  <a:srgbClr val="222222"/>
                </a:solidFill>
                <a:latin typeface="맑은 고딕"/>
                <a:ea typeface="맑은 고딕"/>
              </a:rPr>
              <a:t>•  SGA↔PGA, SGA 내부 풀 사이를 필요에 따라 재분배</a:t>
            </a:r>
          </a:p>
          <a:p>
            <a:pPr algn="l">
              <a:spcAft>
                <a:spcPts val="1000"/>
              </a:spcAft>
            </a:pPr>
            <a:r>
              <a:rPr sz="1700" b="0">
                <a:solidFill>
                  <a:srgbClr val="222222"/>
                </a:solidFill>
                <a:latin typeface="맑은 고딕"/>
                <a:ea typeface="맑은 고딕"/>
              </a:rPr>
              <a:t>•  가장 자동화 — 오라클 권장, 소규모·개발에 편리</a:t>
            </a:r>
          </a:p>
          <a:p>
            <a:pPr algn="l">
              <a:spcAft>
                <a:spcPts val="1000"/>
              </a:spcAft>
            </a:pPr>
            <a:r>
              <a:rPr sz="1700" b="0">
                <a:solidFill>
                  <a:srgbClr val="222222"/>
                </a:solidFill>
                <a:latin typeface="맑은 고딕"/>
                <a:ea typeface="맑은 고딕"/>
              </a:rPr>
              <a:t>•  제약: 리눅스 HugePages를 활용 못 함 → 대형 SGA는 ASMM 선호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자동 공유 메모리 관리(ASMM)</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SGA는 자동 분배, PGA는 별도 관리</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MEMORY_TARGET=0, SGA_TARGET&gt;0일 때 작동</a:t>
            </a:r>
          </a:p>
          <a:p>
            <a:pPr algn="l">
              <a:spcAft>
                <a:spcPts val="1000"/>
              </a:spcAft>
            </a:pPr>
            <a:r>
              <a:rPr sz="1700" b="0">
                <a:solidFill>
                  <a:srgbClr val="222222"/>
                </a:solidFill>
                <a:latin typeface="맑은 고딕"/>
                <a:ea typeface="맑은 고딕"/>
              </a:rPr>
              <a:t>•  SGA_TARGET 안에서 버퍼 캐시·공유 풀·라지 풀 등 자동 분배</a:t>
            </a:r>
          </a:p>
          <a:p>
            <a:pPr algn="l">
              <a:spcAft>
                <a:spcPts val="1000"/>
              </a:spcAft>
            </a:pPr>
            <a:r>
              <a:rPr sz="1700" b="0">
                <a:solidFill>
                  <a:srgbClr val="222222"/>
                </a:solidFill>
                <a:latin typeface="맑은 고딕"/>
                <a:ea typeface="맑은 고딕"/>
              </a:rPr>
              <a:t>•  개별 풀에 0 아닌 값을 주면 '최소 보장치(하한)'로 작동</a:t>
            </a:r>
          </a:p>
          <a:p>
            <a:pPr algn="l">
              <a:spcAft>
                <a:spcPts val="1000"/>
              </a:spcAft>
            </a:pPr>
            <a:r>
              <a:rPr sz="1700" b="0">
                <a:solidFill>
                  <a:srgbClr val="222222"/>
                </a:solidFill>
                <a:latin typeface="맑은 고딕"/>
                <a:ea typeface="맑은 고딕"/>
              </a:rPr>
              <a:t>•  PGA는 PGA_AGGREGATE_TARGET로 자동 관리 → 실습 DB가 이 상태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수동 관리와 판별 규칙</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세 줄로 방식을 가른다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수동: MEMORY_TARGET=0 그리고 SGA_TARGET=0 → 개별 풀 직접 지정</a:t>
            </a:r>
          </a:p>
          <a:p>
            <a:pPr algn="l">
              <a:spcAft>
                <a:spcPts val="1000"/>
              </a:spcAft>
            </a:pPr>
            <a:r>
              <a:rPr sz="1700" b="0">
                <a:solidFill>
                  <a:srgbClr val="222222"/>
                </a:solidFill>
                <a:latin typeface="맑은 고딕"/>
                <a:ea typeface="맑은 고딕"/>
              </a:rPr>
              <a:t>•  판별 ① MEMORY_TARGET&gt;0 이면 AMM(확정)</a:t>
            </a:r>
          </a:p>
          <a:p>
            <a:pPr algn="l">
              <a:spcAft>
                <a:spcPts val="1000"/>
              </a:spcAft>
            </a:pPr>
            <a:r>
              <a:rPr sz="1700" b="0">
                <a:solidFill>
                  <a:srgbClr val="222222"/>
                </a:solidFill>
                <a:latin typeface="맑은 고딕"/>
                <a:ea typeface="맑은 고딕"/>
              </a:rPr>
              <a:t>•  판별 ② =0이고 SGA_TARGET&gt;0 이면 ASMM</a:t>
            </a:r>
          </a:p>
          <a:p>
            <a:pPr algn="l">
              <a:spcAft>
                <a:spcPts val="1000"/>
              </a:spcAft>
            </a:pPr>
            <a:r>
              <a:rPr sz="1700" b="0">
                <a:solidFill>
                  <a:srgbClr val="222222"/>
                </a:solidFill>
                <a:latin typeface="맑은 고딕"/>
                <a:ea typeface="맑은 고딕"/>
              </a:rPr>
              <a:t>•  판별 ③ 둘 다 0이면 수동</a:t>
            </a:r>
          </a:p>
          <a:p>
            <a:pPr algn="l">
              <a:spcAft>
                <a:spcPts val="1000"/>
              </a:spcAft>
            </a:pPr>
            <a:r>
              <a:rPr sz="1700" b="0">
                <a:solidFill>
                  <a:srgbClr val="222222"/>
                </a:solidFill>
                <a:latin typeface="맑은 고딕"/>
                <a:ea typeface="맑은 고딕"/>
              </a:rPr>
              <a:t>•  방식을 모른 채 파라미터를 바꾸면 의도와 다른 결과가 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파라미터로 방식 판별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V$PARAMETER (orcl 19.3, non-CDB)</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NAME                   DISPLAY_VALUE</a:t>
            </a:r>
          </a:p>
          <a:p>
            <a:pPr>
              <a:lnSpc>
                <a:spcPct val="100000"/>
              </a:lnSpc>
              <a:spcAft>
                <a:spcPts val="0"/>
              </a:spcAft>
            </a:pPr>
            <a:r>
              <a:rPr sz="1250" b="0">
                <a:solidFill>
                  <a:srgbClr val="F2F2F2"/>
                </a:solidFill>
                <a:latin typeface="Consolas"/>
                <a:ea typeface="Consolas"/>
              </a:rPr>
              <a:t>---------------------- --------------</a:t>
            </a:r>
          </a:p>
          <a:p>
            <a:pPr>
              <a:lnSpc>
                <a:spcPct val="100000"/>
              </a:lnSpc>
              <a:spcAft>
                <a:spcPts val="0"/>
              </a:spcAft>
            </a:pPr>
            <a:r>
              <a:rPr sz="1250" b="0">
                <a:solidFill>
                  <a:srgbClr val="F2F2F2"/>
                </a:solidFill>
                <a:latin typeface="Consolas"/>
                <a:ea typeface="Consolas"/>
              </a:rPr>
              <a:t>db_cache_size          0</a:t>
            </a:r>
          </a:p>
          <a:p>
            <a:pPr>
              <a:lnSpc>
                <a:spcPct val="100000"/>
              </a:lnSpc>
              <a:spcAft>
                <a:spcPts val="0"/>
              </a:spcAft>
            </a:pPr>
            <a:r>
              <a:rPr sz="1250" b="0">
                <a:solidFill>
                  <a:srgbClr val="F2F2F2"/>
                </a:solidFill>
                <a:latin typeface="Consolas"/>
                <a:ea typeface="Consolas"/>
              </a:rPr>
              <a:t>memory_max_target      0</a:t>
            </a:r>
          </a:p>
          <a:p>
            <a:pPr>
              <a:lnSpc>
                <a:spcPct val="100000"/>
              </a:lnSpc>
              <a:spcAft>
                <a:spcPts val="0"/>
              </a:spcAft>
            </a:pPr>
            <a:r>
              <a:rPr sz="1250" b="0">
                <a:solidFill>
                  <a:srgbClr val="F2F2F2"/>
                </a:solidFill>
                <a:latin typeface="Consolas"/>
                <a:ea typeface="Consolas"/>
              </a:rPr>
              <a:t>memory_target          0        &lt;-- AMM 아님</a:t>
            </a:r>
          </a:p>
          <a:p>
            <a:pPr>
              <a:lnSpc>
                <a:spcPct val="100000"/>
              </a:lnSpc>
              <a:spcAft>
                <a:spcPts val="0"/>
              </a:spcAft>
            </a:pPr>
            <a:r>
              <a:rPr sz="1250" b="0">
                <a:solidFill>
                  <a:srgbClr val="F2F2F2"/>
                </a:solidFill>
                <a:latin typeface="Consolas"/>
                <a:ea typeface="Consolas"/>
              </a:rPr>
              <a:t>pga_aggregate_limit    2G</a:t>
            </a:r>
          </a:p>
          <a:p>
            <a:pPr>
              <a:lnSpc>
                <a:spcPct val="100000"/>
              </a:lnSpc>
              <a:spcAft>
                <a:spcPts val="0"/>
              </a:spcAft>
            </a:pPr>
            <a:r>
              <a:rPr sz="1250" b="0">
                <a:solidFill>
                  <a:srgbClr val="F2F2F2"/>
                </a:solidFill>
                <a:latin typeface="Consolas"/>
                <a:ea typeface="Consolas"/>
              </a:rPr>
              <a:t>pga_aggregate_target   700M</a:t>
            </a:r>
          </a:p>
          <a:p>
            <a:pPr>
              <a:lnSpc>
                <a:spcPct val="100000"/>
              </a:lnSpc>
              <a:spcAft>
                <a:spcPts val="0"/>
              </a:spcAft>
            </a:pPr>
            <a:r>
              <a:rPr sz="1250" b="0">
                <a:solidFill>
                  <a:srgbClr val="F2F2F2"/>
                </a:solidFill>
                <a:latin typeface="Consolas"/>
                <a:ea typeface="Consolas"/>
              </a:rPr>
              <a:t>sga_max_size           2G</a:t>
            </a:r>
          </a:p>
          <a:p>
            <a:pPr>
              <a:lnSpc>
                <a:spcPct val="100000"/>
              </a:lnSpc>
              <a:spcAft>
                <a:spcPts val="0"/>
              </a:spcAft>
            </a:pPr>
            <a:r>
              <a:rPr sz="1250" b="0">
                <a:solidFill>
                  <a:srgbClr val="F2F2F2"/>
                </a:solidFill>
                <a:latin typeface="Consolas"/>
                <a:ea typeface="Consolas"/>
              </a:rPr>
              <a:t>sga_target             1504M     &lt;-- &gt;0 → ASMM</a:t>
            </a:r>
          </a:p>
          <a:p>
            <a:pPr>
              <a:lnSpc>
                <a:spcPct val="100000"/>
              </a:lnSpc>
              <a:spcAft>
                <a:spcPts val="0"/>
              </a:spcAft>
            </a:pPr>
            <a:r>
              <a:rPr sz="1250" b="0">
                <a:solidFill>
                  <a:srgbClr val="F2F2F2"/>
                </a:solidFill>
                <a:latin typeface="Consolas"/>
                <a:ea typeface="Consolas"/>
              </a:rPr>
              <a:t>shared_pool_size       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세 방식 한눈에 비교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자동화 수준과 관리 노력의 트레이드오프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AMM: 관리 노력 최소 / 오라클이 SGA+PGA 전부 조정 / HugePages 제약</a:t>
            </a:r>
          </a:p>
          <a:p>
            <a:pPr algn="l">
              <a:spcAft>
                <a:spcPts val="1000"/>
              </a:spcAft>
            </a:pPr>
            <a:r>
              <a:rPr sz="1700" b="0">
                <a:solidFill>
                  <a:srgbClr val="222222"/>
                </a:solidFill>
                <a:latin typeface="맑은 고딕"/>
                <a:ea typeface="맑은 고딕"/>
              </a:rPr>
              <a:t>•  ASMM: SGA만 자동 + PGA 별도 / HugePages 가능 / 운영 환경 선호</a:t>
            </a:r>
          </a:p>
          <a:p>
            <a:pPr algn="l">
              <a:spcAft>
                <a:spcPts val="1000"/>
              </a:spcAft>
            </a:pPr>
            <a:r>
              <a:rPr sz="1700" b="0">
                <a:solidFill>
                  <a:srgbClr val="222222"/>
                </a:solidFill>
                <a:latin typeface="맑은 고딕"/>
                <a:ea typeface="맑은 고딕"/>
              </a:rPr>
              <a:t>•  수동: 완전한 제어 / 워크로드 변화마다 손봐야 해 노력 최대</a:t>
            </a:r>
          </a:p>
          <a:p>
            <a:pPr algn="l">
              <a:spcAft>
                <a:spcPts val="1000"/>
              </a:spcAft>
            </a:pPr>
            <a:r>
              <a:rPr sz="1700" b="0">
                <a:solidFill>
                  <a:srgbClr val="222222"/>
                </a:solidFill>
                <a:latin typeface="맑은 고딕"/>
                <a:ea typeface="맑은 고딕"/>
              </a:rPr>
              <a:t>•  공통: 자동이라도 상한을 잘못 주면 자동으로 나빠진다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파라미터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목표(동적) vs 상한(정적)</a:t>
            </a:r>
          </a:p>
          <a:p>
            <a:pPr algn="l">
              <a:spcAft>
                <a:spcPts val="600"/>
              </a:spcAft>
            </a:pPr>
            <a:r>
              <a:rPr sz="1600" b="0">
                <a:solidFill>
                  <a:srgbClr val="FFFFFF"/>
                </a:solidFill>
                <a:latin typeface="맑은 고딕"/>
                <a:ea typeface="맑은 고딕"/>
              </a:rPr>
              <a:t>•  목표는 상한을 넘을 수 없다</a:t>
            </a:r>
          </a:p>
          <a:p>
            <a:pPr algn="l">
              <a:spcAft>
                <a:spcPts val="600"/>
              </a:spcAft>
            </a:pPr>
            <a:r>
              <a:rPr sz="1600" b="0">
                <a:solidFill>
                  <a:srgbClr val="FFFFFF"/>
                </a:solidFill>
                <a:latin typeface="맑은 고딕"/>
                <a:ea typeface="맑은 고딕"/>
              </a:rPr>
              <a:t>•  MEMORY_TARGET과 SGA_TARGET 혼동 주의</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목표·상한과 동적/정적</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파라미터는 짝으로 이해한다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SGA_TARGET(1504M, 동적) ≤ SGA_MAX_SIZE(2G, 정적)</a:t>
            </a:r>
          </a:p>
          <a:p>
            <a:pPr algn="l">
              <a:spcAft>
                <a:spcPts val="1000"/>
              </a:spcAft>
            </a:pPr>
            <a:r>
              <a:rPr sz="1700" b="0">
                <a:solidFill>
                  <a:srgbClr val="222222"/>
                </a:solidFill>
                <a:latin typeface="맑은 고딕"/>
                <a:ea typeface="맑은 고딕"/>
              </a:rPr>
              <a:t>•  목표는 상한 이하여야 하고, 상한까지 동적으로 키울 수 있다</a:t>
            </a:r>
          </a:p>
          <a:p>
            <a:pPr algn="l">
              <a:spcAft>
                <a:spcPts val="1000"/>
              </a:spcAft>
            </a:pPr>
            <a:r>
              <a:rPr sz="1700" b="0">
                <a:solidFill>
                  <a:srgbClr val="222222"/>
                </a:solidFill>
                <a:latin typeface="맑은 고딕"/>
                <a:ea typeface="맑은 고딕"/>
              </a:rPr>
              <a:t>•  PGA_AGGREGATE_TARGET(700M, 목표) vs PGA_AGGREGATE_LIMIT(2G, 하드 한도)</a:t>
            </a:r>
          </a:p>
          <a:p>
            <a:pPr algn="l">
              <a:spcAft>
                <a:spcPts val="1000"/>
              </a:spcAft>
            </a:pPr>
            <a:r>
              <a:rPr sz="1700" b="0">
                <a:solidFill>
                  <a:srgbClr val="222222"/>
                </a:solidFill>
                <a:latin typeface="맑은 고딕"/>
                <a:ea typeface="맑은 고딕"/>
              </a:rPr>
              <a:t>•  상한은 성장 여유를 고려해 넉넉히, 목표만 동적으로 조절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Common Error — 자동을 두 번 켜기</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MEMORY_TARGET과 SGA_TARGET 동시 설정 혼란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증상: 재기동 후 SGA가 기대와 다르거나 ORA-00838/00844로 기동 막힘</a:t>
            </a:r>
          </a:p>
          <a:p>
            <a:pPr algn="l">
              <a:spcAft>
                <a:spcPts val="1000"/>
              </a:spcAft>
            </a:pPr>
            <a:r>
              <a:rPr sz="1700" b="0">
                <a:solidFill>
                  <a:srgbClr val="222222"/>
                </a:solidFill>
                <a:latin typeface="맑은 고딕"/>
                <a:ea typeface="맑은 고딕"/>
              </a:rPr>
              <a:t>•  원인: MEMORY_TARGET&gt;0이면 AMM, 이때 SGA_TARGET은 '하한'으로만</a:t>
            </a:r>
          </a:p>
          <a:p>
            <a:pPr algn="l">
              <a:spcAft>
                <a:spcPts val="1000"/>
              </a:spcAft>
            </a:pPr>
            <a:r>
              <a:rPr sz="1700" b="0">
                <a:solidFill>
                  <a:srgbClr val="222222"/>
                </a:solidFill>
                <a:latin typeface="맑은 고딕"/>
                <a:ea typeface="맑은 고딕"/>
              </a:rPr>
              <a:t>•  관계를 어기면(MEMORY_TARGET&lt;SGA_TARGET 등) 오류</a:t>
            </a:r>
          </a:p>
          <a:p>
            <a:pPr algn="l">
              <a:spcAft>
                <a:spcPts val="1000"/>
              </a:spcAft>
            </a:pPr>
            <a:r>
              <a:rPr sz="1700" b="0">
                <a:solidFill>
                  <a:srgbClr val="222222"/>
                </a:solidFill>
                <a:latin typeface="맑은 고딕"/>
                <a:ea typeface="맑은 고딕"/>
              </a:rPr>
              <a:t>•  판정: '자동'을 두 번 켜지 말고 한 방식을 고른다</a:t>
            </a:r>
          </a:p>
          <a:p>
            <a:pPr algn="l">
              <a:spcAft>
                <a:spcPts val="1000"/>
              </a:spcAft>
            </a:pPr>
            <a:r>
              <a:rPr sz="1700" b="0">
                <a:solidFill>
                  <a:srgbClr val="222222"/>
                </a:solidFill>
                <a:latin typeface="맑은 고딕"/>
                <a:ea typeface="맑은 고딕"/>
              </a:rPr>
              <a:t>•  ASMM이면 MEMORY_TARGET=0 + SGA_TARGET만 설정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SGA 동적 구성과 조정 이력</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파라미터=지시, 실제 배분=결과</a:t>
            </a:r>
          </a:p>
          <a:p>
            <a:pPr algn="l">
              <a:spcAft>
                <a:spcPts val="600"/>
              </a:spcAft>
            </a:pPr>
            <a:r>
              <a:rPr sz="1600" b="0">
                <a:solidFill>
                  <a:srgbClr val="FFFFFF"/>
                </a:solidFill>
                <a:latin typeface="맑은 고딕"/>
                <a:ea typeface="맑은 고딕"/>
              </a:rPr>
              <a:t>•  그래뉼(16MB) 단위 조정</a:t>
            </a:r>
          </a:p>
          <a:p>
            <a:pPr algn="l">
              <a:spcAft>
                <a:spcPts val="600"/>
              </a:spcAft>
            </a:pPr>
            <a:r>
              <a:rPr sz="1600" b="0">
                <a:solidFill>
                  <a:srgbClr val="FFFFFF"/>
                </a:solidFill>
                <a:latin typeface="맑은 고딕"/>
                <a:ea typeface="맑은 고딕"/>
              </a:rPr>
              <a:t>•  GROW/SHRINK는 짝을 이룬다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SGA 구성 (V$SGAINFO)</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실제로 어떻게 쪼개졌는가</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NAME                              MB    RESIZEABLE</a:t>
            </a:r>
          </a:p>
          <a:p>
            <a:pPr>
              <a:lnSpc>
                <a:spcPct val="100000"/>
              </a:lnSpc>
              <a:spcAft>
                <a:spcPts val="0"/>
              </a:spcAft>
            </a:pPr>
            <a:r>
              <a:rPr sz="1250" b="0">
                <a:solidFill>
                  <a:srgbClr val="F2F2F2"/>
                </a:solidFill>
                <a:latin typeface="Consolas"/>
                <a:ea typeface="Consolas"/>
              </a:rPr>
              <a:t>-------------------------------- ------ ----------</a:t>
            </a:r>
          </a:p>
          <a:p>
            <a:pPr>
              <a:lnSpc>
                <a:spcPct val="100000"/>
              </a:lnSpc>
              <a:spcAft>
                <a:spcPts val="0"/>
              </a:spcAft>
            </a:pPr>
            <a:r>
              <a:rPr sz="1250" b="0">
                <a:solidFill>
                  <a:srgbClr val="F2F2F2"/>
                </a:solidFill>
                <a:latin typeface="Consolas"/>
                <a:ea typeface="Consolas"/>
              </a:rPr>
              <a:t>Maximum SGA Size                 2048   No</a:t>
            </a:r>
          </a:p>
          <a:p>
            <a:pPr>
              <a:lnSpc>
                <a:spcPct val="100000"/>
              </a:lnSpc>
              <a:spcAft>
                <a:spcPts val="0"/>
              </a:spcAft>
            </a:pPr>
            <a:r>
              <a:rPr sz="1250" b="0">
                <a:solidFill>
                  <a:srgbClr val="F2F2F2"/>
                </a:solidFill>
                <a:latin typeface="Consolas"/>
                <a:ea typeface="Consolas"/>
              </a:rPr>
              <a:t>Buffer Cache Size                1024   Yes</a:t>
            </a:r>
          </a:p>
          <a:p>
            <a:pPr>
              <a:lnSpc>
                <a:spcPct val="100000"/>
              </a:lnSpc>
              <a:spcAft>
                <a:spcPts val="0"/>
              </a:spcAft>
            </a:pPr>
            <a:r>
              <a:rPr sz="1250" b="0">
                <a:solidFill>
                  <a:srgbClr val="F2F2F2"/>
                </a:solidFill>
                <a:latin typeface="Consolas"/>
                <a:ea typeface="Consolas"/>
              </a:rPr>
              <a:t>Free SGA Memory Available         544</a:t>
            </a:r>
          </a:p>
          <a:p>
            <a:pPr>
              <a:lnSpc>
                <a:spcPct val="100000"/>
              </a:lnSpc>
              <a:spcAft>
                <a:spcPts val="0"/>
              </a:spcAft>
            </a:pPr>
            <a:r>
              <a:rPr sz="1250" b="0">
                <a:solidFill>
                  <a:srgbClr val="F2F2F2"/>
                </a:solidFill>
                <a:latin typeface="Consolas"/>
                <a:ea typeface="Consolas"/>
              </a:rPr>
              <a:t>Shared Pool Size                  416   Yes</a:t>
            </a:r>
          </a:p>
          <a:p>
            <a:pPr>
              <a:lnSpc>
                <a:spcPct val="100000"/>
              </a:lnSpc>
              <a:spcAft>
                <a:spcPts val="0"/>
              </a:spcAft>
            </a:pPr>
            <a:r>
              <a:rPr sz="1250" b="0">
                <a:solidFill>
                  <a:srgbClr val="F2F2F2"/>
                </a:solidFill>
                <a:latin typeface="Consolas"/>
                <a:ea typeface="Consolas"/>
              </a:rPr>
              <a:t>Startup overhead in Shared Pool   249.3 No</a:t>
            </a:r>
          </a:p>
          <a:p>
            <a:pPr>
              <a:lnSpc>
                <a:spcPct val="100000"/>
              </a:lnSpc>
              <a:spcAft>
                <a:spcPts val="0"/>
              </a:spcAft>
            </a:pPr>
            <a:r>
              <a:rPr sz="1250" b="0">
                <a:solidFill>
                  <a:srgbClr val="F2F2F2"/>
                </a:solidFill>
                <a:latin typeface="Consolas"/>
                <a:ea typeface="Consolas"/>
              </a:rPr>
              <a:t>Shared IO Pool Size                64   Yes</a:t>
            </a:r>
          </a:p>
          <a:p>
            <a:pPr>
              <a:lnSpc>
                <a:spcPct val="100000"/>
              </a:lnSpc>
              <a:spcAft>
                <a:spcPts val="0"/>
              </a:spcAft>
            </a:pPr>
            <a:r>
              <a:rPr sz="1250" b="0">
                <a:solidFill>
                  <a:srgbClr val="F2F2F2"/>
                </a:solidFill>
                <a:latin typeface="Consolas"/>
                <a:ea typeface="Consolas"/>
              </a:rPr>
              <a:t>Granule Size                       16   No</a:t>
            </a:r>
          </a:p>
          <a:p>
            <a:pPr>
              <a:lnSpc>
                <a:spcPct val="100000"/>
              </a:lnSpc>
              <a:spcAft>
                <a:spcPts val="0"/>
              </a:spcAft>
            </a:pPr>
            <a:r>
              <a:rPr sz="1250" b="0">
                <a:solidFill>
                  <a:srgbClr val="F2F2F2"/>
                </a:solidFill>
                <a:latin typeface="Consolas"/>
                <a:ea typeface="Consolas"/>
              </a:rPr>
              <a:t>Large Pool Size                    16   Yes</a:t>
            </a:r>
          </a:p>
          <a:p>
            <a:pPr>
              <a:lnSpc>
                <a:spcPct val="100000"/>
              </a:lnSpc>
              <a:spcAft>
                <a:spcPts val="0"/>
              </a:spcAft>
            </a:pPr>
            <a:r>
              <a:rPr sz="1250" b="0">
                <a:solidFill>
                  <a:srgbClr val="F2F2F2"/>
                </a:solidFill>
                <a:latin typeface="Consolas"/>
                <a:ea typeface="Consolas"/>
              </a:rPr>
              <a:t>Fixed SGA Size                      8.5 No</a:t>
            </a:r>
          </a:p>
          <a:p>
            <a:pPr>
              <a:lnSpc>
                <a:spcPct val="100000"/>
              </a:lnSpc>
              <a:spcAft>
                <a:spcPts val="0"/>
              </a:spcAft>
            </a:pPr>
            <a:r>
              <a:rPr sz="1250" b="0">
                <a:solidFill>
                  <a:srgbClr val="F2F2F2"/>
                </a:solidFill>
                <a:latin typeface="Consolas"/>
                <a:ea typeface="Consolas"/>
              </a:rPr>
              <a:t>In-Memory Area Size                 0   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그래뉼과 Free SGA 해석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숫자가 무엇의 합인지 확인한다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그래뉼=16MB (SGA&gt;1GB이므로) — 모든 조정은 16MB 배수</a:t>
            </a:r>
          </a:p>
          <a:p>
            <a:pPr algn="l">
              <a:spcAft>
                <a:spcPts val="1000"/>
              </a:spcAft>
            </a:pPr>
            <a:r>
              <a:rPr sz="1700" b="0">
                <a:solidFill>
                  <a:srgbClr val="222222"/>
                </a:solidFill>
                <a:latin typeface="맑은 고딕"/>
                <a:ea typeface="맑은 고딕"/>
              </a:rPr>
              <a:t>•  그래뉼은 기동 시 계산되어 수명 동안 불변</a:t>
            </a:r>
          </a:p>
          <a:p>
            <a:pPr algn="l">
              <a:spcAft>
                <a:spcPts val="1000"/>
              </a:spcAft>
            </a:pPr>
            <a:r>
              <a:rPr sz="1700" b="0">
                <a:solidFill>
                  <a:srgbClr val="222222"/>
                </a:solidFill>
                <a:latin typeface="맑은 고딕"/>
                <a:ea typeface="맑은 고딕"/>
              </a:rPr>
              <a:t>•  Buffer Cache Size 1024 = DEFAULT+KEEP+4K 등의 합</a:t>
            </a:r>
          </a:p>
          <a:p>
            <a:pPr algn="l">
              <a:spcAft>
                <a:spcPts val="1000"/>
              </a:spcAft>
            </a:pPr>
            <a:r>
              <a:rPr sz="1700" b="0">
                <a:solidFill>
                  <a:srgbClr val="222222"/>
                </a:solidFill>
                <a:latin typeface="맑은 고딕"/>
                <a:ea typeface="맑은 고딕"/>
              </a:rPr>
              <a:t>•  그중 DEFAULT buffer cache는 864MB(뒤 화면과 대조)</a:t>
            </a:r>
          </a:p>
          <a:p>
            <a:pPr algn="l">
              <a:spcAft>
                <a:spcPts val="1000"/>
              </a:spcAft>
            </a:pPr>
            <a:r>
              <a:rPr sz="1700" b="0">
                <a:solidFill>
                  <a:srgbClr val="222222"/>
                </a:solidFill>
                <a:latin typeface="맑은 고딕"/>
                <a:ea typeface="맑은 고딕"/>
              </a:rPr>
              <a:t>•  뷰마다 '이 숫자가 무엇의 합인가'를 확인하는 습관</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동적 구성 (V$SGA_DYNAMIC_COMPONENTS)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현재·최소·최대로 움직인 범위를 본다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COMPONENT                CUR_MB  MIN_MB  MAX_MB</a:t>
            </a:r>
          </a:p>
          <a:p>
            <a:pPr>
              <a:lnSpc>
                <a:spcPct val="100000"/>
              </a:lnSpc>
              <a:spcAft>
                <a:spcPts val="0"/>
              </a:spcAft>
            </a:pPr>
            <a:r>
              <a:rPr sz="1250" b="0">
                <a:solidFill>
                  <a:srgbClr val="F2F2F2"/>
                </a:solidFill>
                <a:latin typeface="Consolas"/>
                <a:ea typeface="Consolas"/>
              </a:rPr>
              <a:t>------------------------ ------- ------- -------</a:t>
            </a:r>
          </a:p>
          <a:p>
            <a:pPr>
              <a:lnSpc>
                <a:spcPct val="100000"/>
              </a:lnSpc>
              <a:spcAft>
                <a:spcPts val="0"/>
              </a:spcAft>
            </a:pPr>
            <a:r>
              <a:rPr sz="1250" b="0">
                <a:solidFill>
                  <a:srgbClr val="F2F2F2"/>
                </a:solidFill>
                <a:latin typeface="Consolas"/>
                <a:ea typeface="Consolas"/>
              </a:rPr>
              <a:t>DEFAULT buffer cache      864     832     864</a:t>
            </a:r>
          </a:p>
          <a:p>
            <a:pPr>
              <a:lnSpc>
                <a:spcPct val="100000"/>
              </a:lnSpc>
              <a:spcAft>
                <a:spcPts val="0"/>
              </a:spcAft>
            </a:pPr>
            <a:r>
              <a:rPr sz="1250" b="0">
                <a:solidFill>
                  <a:srgbClr val="F2F2F2"/>
                </a:solidFill>
                <a:latin typeface="Consolas"/>
                <a:ea typeface="Consolas"/>
              </a:rPr>
              <a:t>shared pool               416     416     416</a:t>
            </a:r>
          </a:p>
          <a:p>
            <a:pPr>
              <a:lnSpc>
                <a:spcPct val="100000"/>
              </a:lnSpc>
              <a:spcAft>
                <a:spcPts val="0"/>
              </a:spcAft>
            </a:pPr>
            <a:r>
              <a:rPr sz="1250" b="0">
                <a:solidFill>
                  <a:srgbClr val="F2F2F2"/>
                </a:solidFill>
                <a:latin typeface="Consolas"/>
                <a:ea typeface="Consolas"/>
              </a:rPr>
              <a:t>Shared IO Pool             64      64      64</a:t>
            </a:r>
          </a:p>
          <a:p>
            <a:pPr>
              <a:lnSpc>
                <a:spcPct val="100000"/>
              </a:lnSpc>
              <a:spcAft>
                <a:spcPts val="0"/>
              </a:spcAft>
            </a:pPr>
            <a:r>
              <a:rPr sz="1250" b="0">
                <a:solidFill>
                  <a:srgbClr val="F2F2F2"/>
                </a:solidFill>
                <a:latin typeface="Consolas"/>
                <a:ea typeface="Consolas"/>
              </a:rPr>
              <a:t>KEEP buffer cache          48      48      48</a:t>
            </a:r>
          </a:p>
          <a:p>
            <a:pPr>
              <a:lnSpc>
                <a:spcPct val="100000"/>
              </a:lnSpc>
              <a:spcAft>
                <a:spcPts val="0"/>
              </a:spcAft>
            </a:pPr>
            <a:r>
              <a:rPr sz="1250" b="0">
                <a:solidFill>
                  <a:srgbClr val="F2F2F2"/>
                </a:solidFill>
                <a:latin typeface="Consolas"/>
                <a:ea typeface="Consolas"/>
              </a:rPr>
              <a:t>DEFAULT 4K buffer cache    48      48      48</a:t>
            </a:r>
          </a:p>
          <a:p>
            <a:pPr>
              <a:lnSpc>
                <a:spcPct val="100000"/>
              </a:lnSpc>
              <a:spcAft>
                <a:spcPts val="0"/>
              </a:spcAft>
            </a:pPr>
            <a:r>
              <a:rPr sz="1250" b="0">
                <a:solidFill>
                  <a:srgbClr val="F2F2F2"/>
                </a:solidFill>
                <a:latin typeface="Consolas"/>
                <a:ea typeface="Consolas"/>
              </a:rPr>
              <a:t>streams pool               32      32      32</a:t>
            </a:r>
          </a:p>
          <a:p>
            <a:pPr>
              <a:lnSpc>
                <a:spcPct val="100000"/>
              </a:lnSpc>
              <a:spcAft>
                <a:spcPts val="0"/>
              </a:spcAft>
            </a:pPr>
            <a:r>
              <a:rPr sz="1250" b="0">
                <a:solidFill>
                  <a:srgbClr val="F2F2F2"/>
                </a:solidFill>
                <a:latin typeface="Consolas"/>
                <a:ea typeface="Consolas"/>
              </a:rPr>
              <a:t>large pool                 16      16      48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조정 이력 (V$SGA_RESIZE_OPS)</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GROW/SHRINK가 짝을 이룬다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COMPONENT             OPER   FROM  TO   T</a:t>
            </a:r>
          </a:p>
          <a:p>
            <a:pPr>
              <a:lnSpc>
                <a:spcPct val="100000"/>
              </a:lnSpc>
              <a:spcAft>
                <a:spcPts val="0"/>
              </a:spcAft>
            </a:pPr>
            <a:r>
              <a:rPr sz="1250" b="0">
                <a:solidFill>
                  <a:srgbClr val="F2F2F2"/>
                </a:solidFill>
                <a:latin typeface="Consolas"/>
                <a:ea typeface="Consolas"/>
              </a:rPr>
              <a:t>--------------------- ------ ----- ---- -----------</a:t>
            </a:r>
          </a:p>
          <a:p>
            <a:pPr>
              <a:lnSpc>
                <a:spcPct val="100000"/>
              </a:lnSpc>
              <a:spcAft>
                <a:spcPts val="0"/>
              </a:spcAft>
            </a:pPr>
            <a:r>
              <a:rPr sz="1250" b="0">
                <a:solidFill>
                  <a:srgbClr val="F2F2F2"/>
                </a:solidFill>
                <a:latin typeface="Consolas"/>
                <a:ea typeface="Consolas"/>
              </a:rPr>
              <a:t>large pool            GROW    16    32  08-25 17:28</a:t>
            </a:r>
          </a:p>
          <a:p>
            <a:pPr>
              <a:lnSpc>
                <a:spcPct val="100000"/>
              </a:lnSpc>
              <a:spcAft>
                <a:spcPts val="0"/>
              </a:spcAft>
            </a:pPr>
            <a:r>
              <a:rPr sz="1250" b="0">
                <a:solidFill>
                  <a:srgbClr val="F2F2F2"/>
                </a:solidFill>
                <a:latin typeface="Consolas"/>
                <a:ea typeface="Consolas"/>
              </a:rPr>
              <a:t>DEFAULT buffer cache  SHRINK 864   848  08-25 17:28</a:t>
            </a:r>
          </a:p>
          <a:p>
            <a:pPr>
              <a:lnSpc>
                <a:spcPct val="100000"/>
              </a:lnSpc>
              <a:spcAft>
                <a:spcPts val="0"/>
              </a:spcAft>
            </a:pPr>
            <a:r>
              <a:rPr sz="1250" b="0">
                <a:solidFill>
                  <a:srgbClr val="F2F2F2"/>
                </a:solidFill>
                <a:latin typeface="Consolas"/>
                <a:ea typeface="Consolas"/>
              </a:rPr>
              <a:t>large pool            SHRINK  32    16  08-25 17:28</a:t>
            </a:r>
          </a:p>
          <a:p>
            <a:pPr>
              <a:lnSpc>
                <a:spcPct val="100000"/>
              </a:lnSpc>
              <a:spcAft>
                <a:spcPts val="0"/>
              </a:spcAft>
            </a:pPr>
            <a:r>
              <a:rPr sz="1250" b="0">
                <a:solidFill>
                  <a:srgbClr val="F2F2F2"/>
                </a:solidFill>
                <a:latin typeface="Consolas"/>
                <a:ea typeface="Consolas"/>
              </a:rPr>
              <a:t>DEFAULT buffer cache  GROW   848   864  08-25 17:28</a:t>
            </a:r>
          </a:p>
          <a:p>
            <a:pPr>
              <a:lnSpc>
                <a:spcPct val="100000"/>
              </a:lnSpc>
              <a:spcAft>
                <a:spcPts val="0"/>
              </a:spcAft>
            </a:pPr>
            <a:r>
              <a:rPr sz="1250" b="0">
                <a:solidFill>
                  <a:srgbClr val="F2F2F2"/>
                </a:solidFill>
                <a:latin typeface="Consolas"/>
                <a:ea typeface="Consolas"/>
              </a:rPr>
              <a:t>large pool            SHRINK  48    16  08-25 14:34</a:t>
            </a:r>
          </a:p>
          <a:p>
            <a:pPr>
              <a:lnSpc>
                <a:spcPct val="100000"/>
              </a:lnSpc>
              <a:spcAft>
                <a:spcPts val="0"/>
              </a:spcAft>
            </a:pPr>
            <a:r>
              <a:rPr sz="1250" b="0">
                <a:solidFill>
                  <a:srgbClr val="F2F2F2"/>
                </a:solidFill>
                <a:latin typeface="Consolas"/>
                <a:ea typeface="Consolas"/>
              </a:rPr>
              <a:t>DEFAULT buffer cache  GROW   832   864  08-25 14:34</a:t>
            </a:r>
          </a:p>
          <a:p>
            <a:pPr>
              <a:lnSpc>
                <a:spcPct val="100000"/>
              </a:lnSpc>
              <a:spcAft>
                <a:spcPts val="0"/>
              </a:spcAft>
            </a:pPr>
            <a:r>
              <a:rPr sz="1250" b="0">
                <a:solidFill>
                  <a:srgbClr val="F2F2F2"/>
                </a:solidFill>
                <a:latin typeface="Consolas"/>
                <a:ea typeface="Consolas"/>
              </a:rPr>
              <a:t>-- 총량(SGA_TARGET) 고정 → 한 풀이 커지면 다른 풀이 내놓는다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조정 이력 해석 — 정상과 신호</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GROW/SHRINK가 잦다고 다 나쁜 것은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짧은 왕복(thrashing 없이) = 건강한 자동 조정</a:t>
            </a:r>
          </a:p>
          <a:p>
            <a:pPr algn="l">
              <a:spcAft>
                <a:spcPts val="1000"/>
              </a:spcAft>
            </a:pPr>
            <a:r>
              <a:rPr sz="1700" b="0">
                <a:solidFill>
                  <a:srgbClr val="222222"/>
                </a:solidFill>
                <a:latin typeface="맑은 고딕"/>
                <a:ea typeface="맑은 고딕"/>
              </a:rPr>
              <a:t>•  문제 신호 ① 한 풀이 한 방향으로 계속 밀림 → 하한 검토</a:t>
            </a:r>
          </a:p>
          <a:p>
            <a:pPr algn="l">
              <a:spcAft>
                <a:spcPts val="1000"/>
              </a:spcAft>
            </a:pPr>
            <a:r>
              <a:rPr sz="1700" b="0">
                <a:solidFill>
                  <a:srgbClr val="222222"/>
                </a:solidFill>
                <a:latin typeface="맑은 고딕"/>
                <a:ea typeface="맑은 고딕"/>
              </a:rPr>
              <a:t>•  문제 신호 ② 조정이 지나치게 잦아 오버헤드 발생</a:t>
            </a:r>
          </a:p>
          <a:p>
            <a:pPr algn="l">
              <a:spcAft>
                <a:spcPts val="1000"/>
              </a:spcAft>
            </a:pPr>
            <a:r>
              <a:rPr sz="1700" b="0">
                <a:solidFill>
                  <a:srgbClr val="222222"/>
                </a:solidFill>
                <a:latin typeface="맑은 고딕"/>
                <a:ea typeface="맑은 고딕"/>
              </a:rPr>
              <a:t>•  문제 신호 ③ 조정에도 특정 풀에서 ORA-04031 반복</a:t>
            </a:r>
          </a:p>
          <a:p>
            <a:pPr algn="l">
              <a:spcAft>
                <a:spcPts val="1000"/>
              </a:spcAft>
            </a:pPr>
            <a:r>
              <a:rPr sz="1700" b="0">
                <a:solidFill>
                  <a:srgbClr val="222222"/>
                </a:solidFill>
                <a:latin typeface="맑은 고딕"/>
                <a:ea typeface="맑은 고딕"/>
              </a:rPr>
              <a:t>•  조정 이력은 '판정 근거'이지 그 자체가 '문제'는 아니다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어느 뷰가 언제 채워지나</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방식에 맞는 뷰를 고른다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V$SGA_RESIZE_OPS: SGA 풀 조정(ASMM·AMM 공통)</a:t>
            </a:r>
          </a:p>
          <a:p>
            <a:pPr algn="l">
              <a:spcAft>
                <a:spcPts val="1000"/>
              </a:spcAft>
            </a:pPr>
            <a:r>
              <a:rPr sz="1700" b="0">
                <a:solidFill>
                  <a:srgbClr val="222222"/>
                </a:solidFill>
                <a:latin typeface="맑은 고딕"/>
                <a:ea typeface="맑은 고딕"/>
              </a:rPr>
              <a:t>•  V$MEMORY_RESIZE_OPS: SGA+PGA 통합 조정(주로 AMM)</a:t>
            </a:r>
          </a:p>
          <a:p>
            <a:pPr algn="l">
              <a:spcAft>
                <a:spcPts val="1000"/>
              </a:spcAft>
            </a:pPr>
            <a:r>
              <a:rPr sz="1700" b="0">
                <a:solidFill>
                  <a:srgbClr val="222222"/>
                </a:solidFill>
                <a:latin typeface="맑은 고딕"/>
                <a:ea typeface="맑은 고딕"/>
              </a:rPr>
              <a:t>•  ASMM(실습 DB)에서는 SGA_RESIZE_OPS가 자연스럽다</a:t>
            </a:r>
          </a:p>
          <a:p>
            <a:pPr algn="l">
              <a:spcAft>
                <a:spcPts val="1000"/>
              </a:spcAft>
            </a:pPr>
            <a:r>
              <a:rPr sz="1700" b="0">
                <a:solidFill>
                  <a:srgbClr val="222222"/>
                </a:solidFill>
                <a:latin typeface="맑은 고딕"/>
                <a:ea typeface="맑은 고딕"/>
              </a:rPr>
              <a:t>•  V$MEMORY_RESIZE_OPS는 AMM에서 SGA↔PGA 이동까지 포함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실무 시나리오 · '특정 시간대만 느리다'</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메모리 관점으로 좁히기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1단계 판별: V$PARAMETER로 MEMORY_TARGET=0·SGA_TARGET=1504M → ASMM</a:t>
            </a:r>
          </a:p>
          <a:p>
            <a:pPr algn="l">
              <a:spcAft>
                <a:spcPts val="1000"/>
              </a:spcAft>
            </a:pPr>
            <a:r>
              <a:rPr sz="1700" b="0">
                <a:solidFill>
                  <a:srgbClr val="222222"/>
                </a:solidFill>
                <a:latin typeface="맑은 고딕"/>
                <a:ea typeface="맑은 고딕"/>
              </a:rPr>
              <a:t>•  2단계 이력: V$SGA_RESIZE_OPS를 그 시간대로 필터 — 어느 풀이 압력?</a:t>
            </a:r>
          </a:p>
          <a:p>
            <a:pPr algn="l">
              <a:spcAft>
                <a:spcPts val="1000"/>
              </a:spcAft>
            </a:pPr>
            <a:r>
              <a:rPr sz="1700" b="0">
                <a:solidFill>
                  <a:srgbClr val="222222"/>
                </a:solidFill>
                <a:latin typeface="맑은 고딕"/>
                <a:ea typeface="맑은 고딕"/>
              </a:rPr>
              <a:t>•  3단계 어드바이저: 곡선이 평평하면 SGA 증설 요구를 근거로 기각</a:t>
            </a:r>
          </a:p>
          <a:p>
            <a:pPr algn="l">
              <a:spcAft>
                <a:spcPts val="1000"/>
              </a:spcAft>
            </a:pPr>
            <a:r>
              <a:rPr sz="1700" b="0">
                <a:solidFill>
                  <a:srgbClr val="222222"/>
                </a:solidFill>
                <a:latin typeface="맑은 고딕"/>
                <a:ea typeface="맑은 고딕"/>
              </a:rPr>
              <a:t>•  4단계 진짜 원인: 대량 정렬이면 PGA(ch33), 리터럴이면 공유 풀(29.7)</a:t>
            </a:r>
          </a:p>
          <a:p>
            <a:pPr algn="l">
              <a:spcAft>
                <a:spcPts val="1000"/>
              </a:spcAft>
            </a:pPr>
            <a:r>
              <a:rPr sz="1700" b="0">
                <a:solidFill>
                  <a:srgbClr val="222222"/>
                </a:solidFill>
                <a:latin typeface="맑은 고딕"/>
                <a:ea typeface="맑은 고딕"/>
              </a:rPr>
              <a:t>•  판정: '늘리자'는 감이 아니라 판별→이력→어드바이저→진단으로 답한다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메모리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감이 아니라 곡선으로 결정</a:t>
            </a:r>
          </a:p>
          <a:p>
            <a:pPr algn="l">
              <a:spcAft>
                <a:spcPts val="600"/>
              </a:spcAft>
            </a:pPr>
            <a:r>
              <a:rPr sz="1600" b="0">
                <a:solidFill>
                  <a:srgbClr val="FFFFFF"/>
                </a:solidFill>
                <a:latin typeface="맑은 고딕"/>
                <a:ea typeface="맑은 고딕"/>
              </a:rPr>
              <a:t>•  무릎(knee)과 절벽(cliff)</a:t>
            </a:r>
          </a:p>
          <a:p>
            <a:pPr algn="l">
              <a:spcAft>
                <a:spcPts val="600"/>
              </a:spcAft>
            </a:pPr>
            <a:r>
              <a:rPr sz="1600" b="0">
                <a:solidFill>
                  <a:srgbClr val="FFFFFF"/>
                </a:solidFill>
                <a:latin typeface="맑은 고딕"/>
                <a:ea typeface="맑은 고딕"/>
              </a:rPr>
              <a:t>•  라이선스 무관 기본 기능</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실측 — SGA 어드바이저 (V$SGA_TARGET_ADVICE)</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크기 배수 대 예상 DB Time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lnSpc>
                <a:spcPct val="100000"/>
              </a:lnSpc>
              <a:spcAft>
                <a:spcPts val="0"/>
              </a:spcAft>
            </a:pPr>
            <a:r>
              <a:rPr sz="1250" b="0">
                <a:solidFill>
                  <a:srgbClr val="F2F2F2"/>
                </a:solidFill>
                <a:latin typeface="Consolas"/>
                <a:ea typeface="Consolas"/>
              </a:rPr>
              <a:t>SGA_MB  FACTOR  ESTD_DB_TIME</a:t>
            </a:r>
          </a:p>
          <a:p>
            <a:pPr>
              <a:lnSpc>
                <a:spcPct val="100000"/>
              </a:lnSpc>
              <a:spcAft>
                <a:spcPts val="0"/>
              </a:spcAft>
            </a:pPr>
            <a:r>
              <a:rPr sz="1250" b="0">
                <a:solidFill>
                  <a:srgbClr val="F2F2F2"/>
                </a:solidFill>
                <a:latin typeface="Consolas"/>
                <a:ea typeface="Consolas"/>
              </a:rPr>
              <a:t>------  ------  ------------</a:t>
            </a:r>
          </a:p>
          <a:p>
            <a:pPr>
              <a:lnSpc>
                <a:spcPct val="100000"/>
              </a:lnSpc>
              <a:spcAft>
                <a:spcPts val="0"/>
              </a:spcAft>
            </a:pPr>
            <a:r>
              <a:rPr sz="1250" b="0">
                <a:solidFill>
                  <a:srgbClr val="F2F2F2"/>
                </a:solidFill>
                <a:latin typeface="Consolas"/>
                <a:ea typeface="Consolas"/>
              </a:rPr>
              <a:t>  752    0.5        2213</a:t>
            </a:r>
          </a:p>
          <a:p>
            <a:pPr>
              <a:lnSpc>
                <a:spcPct val="100000"/>
              </a:lnSpc>
              <a:spcAft>
                <a:spcPts val="0"/>
              </a:spcAft>
            </a:pPr>
            <a:r>
              <a:rPr sz="1250" b="0">
                <a:solidFill>
                  <a:srgbClr val="F2F2F2"/>
                </a:solidFill>
                <a:latin typeface="Consolas"/>
                <a:ea typeface="Consolas"/>
              </a:rPr>
              <a:t> 1128    0.75       1636</a:t>
            </a:r>
          </a:p>
          <a:p>
            <a:pPr>
              <a:lnSpc>
                <a:spcPct val="100000"/>
              </a:lnSpc>
              <a:spcAft>
                <a:spcPts val="0"/>
              </a:spcAft>
            </a:pPr>
            <a:r>
              <a:rPr sz="1250" b="0">
                <a:solidFill>
                  <a:srgbClr val="F2F2F2"/>
                </a:solidFill>
                <a:latin typeface="Consolas"/>
                <a:ea typeface="Consolas"/>
              </a:rPr>
              <a:t> 1504    1.0        1635    &lt;-- 현재</a:t>
            </a:r>
          </a:p>
          <a:p>
            <a:pPr>
              <a:lnSpc>
                <a:spcPct val="100000"/>
              </a:lnSpc>
              <a:spcAft>
                <a:spcPts val="0"/>
              </a:spcAft>
            </a:pPr>
            <a:r>
              <a:rPr sz="1250" b="0">
                <a:solidFill>
                  <a:srgbClr val="F2F2F2"/>
                </a:solidFill>
                <a:latin typeface="Consolas"/>
                <a:ea typeface="Consolas"/>
              </a:rPr>
              <a:t> 1880    1.25       1635</a:t>
            </a:r>
          </a:p>
          <a:p>
            <a:pPr>
              <a:lnSpc>
                <a:spcPct val="100000"/>
              </a:lnSpc>
              <a:spcAft>
                <a:spcPts val="0"/>
              </a:spcAft>
            </a:pPr>
            <a:r>
              <a:rPr sz="1250" b="0">
                <a:solidFill>
                  <a:srgbClr val="F2F2F2"/>
                </a:solidFill>
                <a:latin typeface="Consolas"/>
                <a:ea typeface="Consolas"/>
              </a:rPr>
              <a:t> 2256    1.5        1635</a:t>
            </a:r>
          </a:p>
          <a:p>
            <a:pPr>
              <a:lnSpc>
                <a:spcPct val="100000"/>
              </a:lnSpc>
              <a:spcAft>
                <a:spcPts val="0"/>
              </a:spcAft>
            </a:pPr>
            <a:r>
              <a:rPr sz="1250" b="0">
                <a:solidFill>
                  <a:srgbClr val="F2F2F2"/>
                </a:solidFill>
                <a:latin typeface="Consolas"/>
                <a:ea typeface="Consolas"/>
              </a:rPr>
              <a:t> 3008    2.0        1635</a:t>
            </a:r>
          </a:p>
          <a:p>
            <a:pPr>
              <a:lnSpc>
                <a:spcPct val="100000"/>
              </a:lnSpc>
              <a:spcAft>
                <a:spcPts val="0"/>
              </a:spcAft>
            </a:pPr>
            <a:r>
              <a:rPr sz="1250" b="0">
                <a:solidFill>
                  <a:srgbClr val="F2F2F2"/>
                </a:solidFill>
                <a:latin typeface="Consolas"/>
                <a:ea typeface="Consolas"/>
              </a:rPr>
              <a:t>-- 늘려도 평평(1635), 1128까지 줄여도 거의 동일(1636)</a:t>
            </a:r>
          </a:p>
          <a:p>
            <a:pPr>
              <a:lnSpc>
                <a:spcPct val="100000"/>
              </a:lnSpc>
              <a:spcAft>
                <a:spcPts val="0"/>
              </a:spcAft>
            </a:pPr>
            <a:r>
              <a:rPr sz="1250" b="0">
                <a:solidFill>
                  <a:srgbClr val="F2F2F2"/>
                </a:solidFill>
                <a:latin typeface="Consolas"/>
                <a:ea typeface="Consolas"/>
              </a:rPr>
              <a:t>-- 752로 반토막 내면 2213으로 급증 (절벽)</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곡선 읽기 — 무릎과 절벽</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두 원칙</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① '더 줘도 평평'하면 늘리지 않는다 → 그 메모리는 PGA로</a:t>
            </a:r>
          </a:p>
          <a:p>
            <a:pPr algn="l">
              <a:spcAft>
                <a:spcPts val="1000"/>
              </a:spcAft>
            </a:pPr>
            <a:r>
              <a:rPr sz="1700" b="0">
                <a:solidFill>
                  <a:srgbClr val="222222"/>
                </a:solidFill>
                <a:latin typeface="맑은 고딕"/>
                <a:ea typeface="맑은 고딕"/>
              </a:rPr>
              <a:t>•  ② '줄이면 급증'하는 절벽 바로 위 + 여유 한 칸이 최적</a:t>
            </a:r>
          </a:p>
          <a:p>
            <a:pPr algn="l">
              <a:spcAft>
                <a:spcPts val="1000"/>
              </a:spcAft>
            </a:pPr>
            <a:r>
              <a:rPr sz="1700" b="0">
                <a:solidFill>
                  <a:srgbClr val="222222"/>
                </a:solidFill>
                <a:latin typeface="맑은 고딕"/>
                <a:ea typeface="맑은 고딕"/>
              </a:rPr>
              <a:t>•  어드바이저는 관측 워크로드 기반 추정 — 대표 구간에서 관측</a:t>
            </a:r>
          </a:p>
          <a:p>
            <a:pPr algn="l">
              <a:spcAft>
                <a:spcPts val="1000"/>
              </a:spcAft>
            </a:pPr>
            <a:r>
              <a:rPr sz="1700" b="0">
                <a:solidFill>
                  <a:srgbClr val="222222"/>
                </a:solidFill>
                <a:latin typeface="맑은 고딕"/>
                <a:ea typeface="맑은 고딕"/>
              </a:rPr>
              <a:t>•  실측: 1128MB까지 줄여도 DB Time 거의 그대로(과대 배정)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어드바이저의 함정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평평하다고 튜닝할 게 없는 건 아니다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값은 STATISTICS_LEVEL=TYPICAL 이상 + 충분한 워크로드에서 수집</a:t>
            </a:r>
          </a:p>
          <a:p>
            <a:pPr algn="l">
              <a:spcAft>
                <a:spcPts val="1000"/>
              </a:spcAft>
            </a:pPr>
            <a:r>
              <a:rPr sz="1700" b="0">
                <a:solidFill>
                  <a:srgbClr val="222222"/>
                </a:solidFill>
                <a:latin typeface="맑은 고딕"/>
                <a:ea typeface="맑은 고딕"/>
              </a:rPr>
              <a:t>•  방금 기동한 인스턴스의 곡선은 표본이 빈약</a:t>
            </a:r>
          </a:p>
          <a:p>
            <a:pPr algn="l">
              <a:spcAft>
                <a:spcPts val="1000"/>
              </a:spcAft>
            </a:pPr>
            <a:r>
              <a:rPr sz="1700" b="0">
                <a:solidFill>
                  <a:srgbClr val="222222"/>
                </a:solidFill>
                <a:latin typeface="맑은 고딕"/>
                <a:ea typeface="맑은 고딕"/>
              </a:rPr>
              <a:t>•  '크기로는' 개선 안 됨 ≠ '튜닝할 게 없음'</a:t>
            </a:r>
          </a:p>
          <a:p>
            <a:pPr algn="l">
              <a:spcAft>
                <a:spcPts val="1000"/>
              </a:spcAft>
            </a:pPr>
            <a:r>
              <a:rPr sz="1700" b="0">
                <a:solidFill>
                  <a:srgbClr val="222222"/>
                </a:solidFill>
                <a:latin typeface="맑은 고딕"/>
                <a:ea typeface="맑은 고딕"/>
              </a:rPr>
              <a:t>•  진짜 병목: 비효율 SQL·하드 파싱·PGA·I/O → ch26~ch30 진단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ORA-04031 — 메모리 부족의 대표 오류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절대 부족 vs 단편화</a:t>
            </a:r>
          </a:p>
          <a:p>
            <a:pPr algn="l">
              <a:spcAft>
                <a:spcPts val="600"/>
              </a:spcAft>
            </a:pPr>
            <a:r>
              <a:rPr sz="1600" b="0">
                <a:solidFill>
                  <a:srgbClr val="FFFFFF"/>
                </a:solidFill>
                <a:latin typeface="맑은 고딕"/>
                <a:ea typeface="맑은 고딕"/>
              </a:rPr>
              <a:t>•  증상과 원인의 구분</a:t>
            </a:r>
          </a:p>
          <a:p>
            <a:pPr algn="l">
              <a:spcAft>
                <a:spcPts val="600"/>
              </a:spcAft>
            </a:pPr>
            <a:r>
              <a:rPr sz="1600" b="0">
                <a:solidFill>
                  <a:srgbClr val="FFFFFF"/>
                </a:solidFill>
                <a:latin typeface="맑은 고딕"/>
                <a:ea typeface="맑은 고딕"/>
              </a:rPr>
              <a:t>•  FLUSH는 임시, 근본은 구성·바인드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ORA-04031이란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공유 메모리 연속 청크 할당 실패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메시지: unable to allocate N bytes of shared memory</a:t>
            </a:r>
          </a:p>
          <a:p>
            <a:pPr algn="l">
              <a:spcAft>
                <a:spcPts val="1000"/>
              </a:spcAft>
            </a:pPr>
            <a:r>
              <a:rPr sz="1700" b="0">
                <a:solidFill>
                  <a:srgbClr val="222222"/>
                </a:solidFill>
                <a:latin typeface="맑은 고딕"/>
                <a:ea typeface="맑은 고딕"/>
              </a:rPr>
              <a:t>•  원인 ① 절대 부족: 풀이 워크로드에 비해 너무 작다</a:t>
            </a:r>
          </a:p>
          <a:p>
            <a:pPr algn="l">
              <a:spcAft>
                <a:spcPts val="1000"/>
              </a:spcAft>
            </a:pPr>
            <a:r>
              <a:rPr sz="1700" b="0">
                <a:solidFill>
                  <a:srgbClr val="222222"/>
                </a:solidFill>
                <a:latin typeface="맑은 고딕"/>
                <a:ea typeface="맑은 고딕"/>
              </a:rPr>
              <a:t>•  원인 ② 단편화: 총량은 있으나 작은 조각으로 흩어짐</a:t>
            </a:r>
          </a:p>
          <a:p>
            <a:pPr algn="l">
              <a:spcAft>
                <a:spcPts val="1000"/>
              </a:spcAft>
            </a:pPr>
            <a:r>
              <a:rPr sz="1700" b="0">
                <a:solidFill>
                  <a:srgbClr val="222222"/>
                </a:solidFill>
                <a:latin typeface="맑은 고딕"/>
                <a:ea typeface="맑은 고딕"/>
              </a:rPr>
              <a:t>•  리터럴 SQL 폭증이 라이브러리 캐시를 잘게 채워 단편화 심화</a:t>
            </a:r>
          </a:p>
          <a:p>
            <a:pPr algn="l">
              <a:spcAft>
                <a:spcPts val="1000"/>
              </a:spcAft>
            </a:pPr>
            <a:r>
              <a:rPr sz="1700" b="0">
                <a:solidFill>
                  <a:srgbClr val="222222"/>
                </a:solidFill>
                <a:latin typeface="맑은 고딕"/>
                <a:ea typeface="맑은 고딕"/>
              </a:rPr>
              <a:t>•  예측 어려움 — 며칠 멀쩡하다 특정 크기 할당에서만 실패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원인 감별과 해소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키울 것인가, 애플리케이션을 고칠 것인가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감별: 메시지의 풀 이름 + 발생 시점(기동 직후=부족, 며칠 뒤=단편화)</a:t>
            </a:r>
          </a:p>
          <a:p>
            <a:pPr algn="l">
              <a:spcAft>
                <a:spcPts val="1000"/>
              </a:spcAft>
            </a:pPr>
            <a:r>
              <a:rPr sz="1700" b="0">
                <a:solidFill>
                  <a:srgbClr val="222222"/>
                </a:solidFill>
                <a:latin typeface="맑은 고딕"/>
                <a:ea typeface="맑은 고딕"/>
              </a:rPr>
              <a:t>•  V$SGASTAT의 free memory가 넉넉한데 실패 → 단편화</a:t>
            </a:r>
          </a:p>
          <a:p>
            <a:pPr algn="l">
              <a:spcAft>
                <a:spcPts val="1000"/>
              </a:spcAft>
            </a:pPr>
            <a:r>
              <a:rPr sz="1700" b="0">
                <a:solidFill>
                  <a:srgbClr val="222222"/>
                </a:solidFill>
                <a:latin typeface="맑은 고딕"/>
                <a:ea typeface="맑은 고딕"/>
              </a:rPr>
              <a:t>•  해소 ① 부족: SGA_TARGET(또는 풀 하한)을 어드바이저 근거로 상향</a:t>
            </a:r>
          </a:p>
          <a:p>
            <a:pPr algn="l">
              <a:spcAft>
                <a:spcPts val="1000"/>
              </a:spcAft>
            </a:pPr>
            <a:r>
              <a:rPr sz="1700" b="0">
                <a:solidFill>
                  <a:srgbClr val="222222"/>
                </a:solidFill>
                <a:latin typeface="맑은 고딕"/>
                <a:ea typeface="맑은 고딕"/>
              </a:rPr>
              <a:t>•  해소 ② 단편화: 바인드 변수·CURSOR_SHARING → 커서 공유 회복</a:t>
            </a:r>
          </a:p>
          <a:p>
            <a:pPr algn="l">
              <a:spcAft>
                <a:spcPts val="1000"/>
              </a:spcAft>
            </a:pPr>
            <a:r>
              <a:rPr sz="1700" b="0">
                <a:solidFill>
                  <a:srgbClr val="222222"/>
                </a:solidFill>
                <a:latin typeface="맑은 고딕"/>
                <a:ea typeface="맑은 고딕"/>
              </a:rPr>
              <a:t>•  FLUSH SHARED_POOL은 임시책(하드 파싱 급증) — 근본 아님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 파라미터 변경·재기동은 개인 환경 전용</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실습 02·03·05 공통 안전 수칙</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SGA_TARGET·MEMORY_TARGET·SHARED_POOL_SIZE 변경과 재기동은 개인 DB만</a:t>
            </a:r>
          </a:p>
          <a:p>
            <a:pPr algn="l">
              <a:spcAft>
                <a:spcPts val="1000"/>
              </a:spcAft>
            </a:pPr>
            <a:r>
              <a:rPr sz="1700" b="0">
                <a:solidFill>
                  <a:srgbClr val="222222"/>
                </a:solidFill>
                <a:latin typeface="맑은 고딕"/>
                <a:ea typeface="맑은 고딕"/>
              </a:rPr>
              <a:t>•  공유 서버에서 잘못 주면 기동 실패(ORA-00838 등)·타 세션 즉시 영향</a:t>
            </a:r>
          </a:p>
          <a:p>
            <a:pPr algn="l">
              <a:spcAft>
                <a:spcPts val="1000"/>
              </a:spcAft>
            </a:pPr>
            <a:r>
              <a:rPr sz="1700" b="0">
                <a:solidFill>
                  <a:srgbClr val="222222"/>
                </a:solidFill>
                <a:latin typeface="맑은 고딕"/>
                <a:ea typeface="맑은 고딕"/>
              </a:rPr>
              <a:t>•  ORA-04031 재현은 격리 환경에서, 재현 후 반드시 원복</a:t>
            </a:r>
          </a:p>
          <a:p>
            <a:pPr algn="l">
              <a:spcAft>
                <a:spcPts val="1000"/>
              </a:spcAft>
            </a:pPr>
            <a:r>
              <a:rPr sz="1700" b="0">
                <a:solidFill>
                  <a:srgbClr val="222222"/>
                </a:solidFill>
                <a:latin typeface="맑은 고딕"/>
                <a:ea typeface="맑은 고딕"/>
              </a:rPr>
              <a:t>•  절대값(1504M 등)은 환경 의존 &lt;환경값&gt; — 외울 것은 절차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ea typeface="맑은 고딕"/>
              </a:rPr>
              <a:t>29.8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ea typeface="맑은 고딕"/>
              </a:rPr>
              <a:t>In-Memory Column Store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ea typeface="맑은 고딕"/>
              </a:rPr>
              <a:t>•  존재와 적용 조건만</a:t>
            </a:r>
          </a:p>
          <a:p>
            <a:pPr algn="l">
              <a:spcAft>
                <a:spcPts val="600"/>
              </a:spcAft>
            </a:pPr>
            <a:r>
              <a:rPr sz="1600" b="0">
                <a:solidFill>
                  <a:srgbClr val="FFFFFF"/>
                </a:solidFill>
                <a:latin typeface="맑은 고딕"/>
                <a:ea typeface="맑은 고딕"/>
              </a:rPr>
              <a:t>•  별도 유상 라이선스 옵션</a:t>
            </a:r>
          </a:p>
          <a:p>
            <a:pPr algn="l">
              <a:spcAft>
                <a:spcPts val="600"/>
              </a:spcAft>
            </a:pPr>
            <a:r>
              <a:rPr sz="1600" b="0">
                <a:solidFill>
                  <a:srgbClr val="FFFFFF"/>
                </a:solidFill>
                <a:latin typeface="맑은 고딕"/>
                <a:ea typeface="맑은 고딕"/>
              </a:rPr>
              <a:t>•  메모리 파라미터·어드바이저는 라이선스 무관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In-Memory와 라이선스 경계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ea typeface="맑은 고딕"/>
              </a:rPr>
              <a:t>이 장은 존재·조건만, 실습 제외</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ea typeface="맑은 고딕"/>
              </a:rPr>
              <a:t>•  IM column store: 테이블을 컬럼 형식으로 SGA에 저장 → 스캔·집계 가속</a:t>
            </a:r>
          </a:p>
          <a:p>
            <a:pPr algn="l">
              <a:spcAft>
                <a:spcPts val="1000"/>
              </a:spcAft>
            </a:pPr>
            <a:r>
              <a:rPr sz="1700" b="0">
                <a:solidFill>
                  <a:srgbClr val="222222"/>
                </a:solidFill>
                <a:latin typeface="맑은 고딕"/>
                <a:ea typeface="맑은 고딕"/>
              </a:rPr>
              <a:t>•  버퍼 캐시를 대체하지 않고 보완(행·컬럼 병존), INMEMORY_SIZE로 설정</a:t>
            </a:r>
          </a:p>
          <a:p>
            <a:pPr algn="l">
              <a:spcAft>
                <a:spcPts val="1000"/>
              </a:spcAft>
            </a:pPr>
            <a:r>
              <a:rPr sz="1700" b="0">
                <a:solidFill>
                  <a:srgbClr val="222222"/>
                </a:solidFill>
                <a:latin typeface="맑은 고딕"/>
                <a:ea typeface="맑은 고딕"/>
              </a:rPr>
              <a:t>•  적합: 분석성 워크로드 / OLTP엔 이득 작고 유지 비용</a:t>
            </a:r>
          </a:p>
          <a:p>
            <a:pPr algn="l">
              <a:spcAft>
                <a:spcPts val="1000"/>
              </a:spcAft>
            </a:pPr>
            <a:r>
              <a:rPr sz="1700" b="0">
                <a:solidFill>
                  <a:srgbClr val="222222"/>
                </a:solidFill>
                <a:latin typeface="맑은 고딕"/>
                <a:ea typeface="맑은 고딕"/>
              </a:rPr>
              <a:t>•  🔒 별도 유상 옵션(Oracle Database In-Memory)</a:t>
            </a:r>
          </a:p>
          <a:p>
            <a:pPr algn="l">
              <a:spcAft>
                <a:spcPts val="1000"/>
              </a:spcAft>
            </a:pPr>
            <a:r>
              <a:rPr sz="1700" b="0">
                <a:solidFill>
                  <a:srgbClr val="222222"/>
                </a:solidFill>
                <a:latin typeface="맑은 고딕"/>
                <a:ea typeface="맑은 고딕"/>
              </a:rPr>
              <a:t>•  메모리 파라미터·어드바이저·V$SGA* 진단 뷰는 라이선스 무관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Q1. MEMORY_TARGET·SGA_TARGET 값으로 AMM·ASMM·수동을 판별하는 규칙과 실측 판정은?</a:t>
            </a:r>
          </a:p>
          <a:p>
            <a:pPr algn="l">
              <a:spcAft>
                <a:spcPts val="900"/>
              </a:spcAft>
            </a:pPr>
            <a:r>
              <a:rPr sz="1600" b="0">
                <a:solidFill>
                  <a:srgbClr val="222222"/>
                </a:solidFill>
                <a:latin typeface="맑은 고딕"/>
                <a:ea typeface="맑은 고딕"/>
              </a:rPr>
              <a:t>•  Q2. ASMM에서 DB_CACHE_SIZE=0이 '메모리가 없다'는 뜻이 아닌 이유는?</a:t>
            </a:r>
          </a:p>
          <a:p>
            <a:pPr algn="l">
              <a:spcAft>
                <a:spcPts val="900"/>
              </a:spcAft>
            </a:pPr>
            <a:r>
              <a:rPr sz="1600" b="0">
                <a:solidFill>
                  <a:srgbClr val="222222"/>
                </a:solidFill>
                <a:latin typeface="맑은 고딕"/>
                <a:ea typeface="맑은 고딕"/>
              </a:rPr>
              <a:t>•  Q3. 목표(target)와 상한(max), 동적/정적의 관계를 SGA_TARGET·SGA_MAX_SIZE로 설명하라.</a:t>
            </a:r>
          </a:p>
          <a:p>
            <a:pPr algn="l">
              <a:spcAft>
                <a:spcPts val="900"/>
              </a:spcAft>
            </a:pPr>
            <a:r>
              <a:rPr sz="1600" b="0">
                <a:solidFill>
                  <a:srgbClr val="222222"/>
                </a:solidFill>
                <a:latin typeface="맑은 고딕"/>
                <a:ea typeface="맑은 고딕"/>
              </a:rPr>
              <a:t>•  Q4. V$SGA_RESIZE_OPS에서 large pool GROW와 buffer cache SHRINK가 짝을 이루는 이유는?</a:t>
            </a:r>
          </a:p>
          <a:p>
            <a:pPr algn="l">
              <a:spcAft>
                <a:spcPts val="900"/>
              </a:spcAft>
            </a:pPr>
            <a:r>
              <a:rPr sz="1600" b="0">
                <a:solidFill>
                  <a:srgbClr val="222222"/>
                </a:solidFill>
                <a:latin typeface="맑은 고딕"/>
                <a:ea typeface="맑은 고딕"/>
              </a:rPr>
              <a:t>•  Q5. SGA 어드바이저 곡선(1504=1635, 3008=1635, 1128=1636, 752=2213)으로 어떤 결정을?</a:t>
            </a:r>
          </a:p>
          <a:p>
            <a:pPr algn="l">
              <a:spcAft>
                <a:spcPts val="900"/>
              </a:spcAft>
            </a:pPr>
            <a:r>
              <a:rPr sz="1600" b="0">
                <a:solidFill>
                  <a:srgbClr val="222222"/>
                </a:solidFill>
                <a:latin typeface="맑은 고딕"/>
                <a:ea typeface="맑은 고딕"/>
              </a:rPr>
              <a:t>•  Q6. ORA-04031의 두 원인(부족·단편화)과 각 해소책, FLUSH가 근본이 아닌 이유는?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메모리 관리는 AMM(MEMORY_TARGET&gt;0)·ASMM(=0, SGA_TARGET&gt;0)·수동(둘 다 0) 세 방식.</a:t>
            </a:r>
          </a:p>
          <a:p>
            <a:pPr algn="l">
              <a:spcAft>
                <a:spcPts val="900"/>
              </a:spcAft>
            </a:pPr>
            <a:r>
              <a:rPr sz="1600" b="0">
                <a:solidFill>
                  <a:srgbClr val="222222"/>
                </a:solidFill>
                <a:latin typeface="맑은 고딕"/>
                <a:ea typeface="맑은 고딕"/>
              </a:rPr>
              <a:t>•  실습 DB는 ASMM — SGA_TARGET=1504M, 개별 풀 0(자동), PGA_AGGREGATE_TARGET=700M.</a:t>
            </a:r>
          </a:p>
          <a:p>
            <a:pPr algn="l">
              <a:spcAft>
                <a:spcPts val="900"/>
              </a:spcAft>
            </a:pPr>
            <a:r>
              <a:rPr sz="1600" b="0">
                <a:solidFill>
                  <a:srgbClr val="222222"/>
                </a:solidFill>
                <a:latin typeface="맑은 고딕"/>
                <a:ea typeface="맑은 고딕"/>
              </a:rPr>
              <a:t>•  파라미터는 목표(동적)·상한(정적)의 짝. MEMORY_TARGET과 SGA_TARGET을 혼동하면 기동 실패.</a:t>
            </a:r>
          </a:p>
          <a:p>
            <a:pPr algn="l">
              <a:spcAft>
                <a:spcPts val="900"/>
              </a:spcAft>
            </a:pPr>
            <a:r>
              <a:rPr sz="1600" b="0">
                <a:solidFill>
                  <a:srgbClr val="222222"/>
                </a:solidFill>
                <a:latin typeface="맑은 고딕"/>
                <a:ea typeface="맑은 고딕"/>
              </a:rPr>
              <a:t>•  V$SGAINFO·동적 구성으로 실제 배분·그래뉼(16MB), V$SGA_RESIZE_OPS로 GROW/SHRINK 짝 추적.</a:t>
            </a:r>
          </a:p>
          <a:p>
            <a:pPr algn="l">
              <a:spcAft>
                <a:spcPts val="900"/>
              </a:spcAft>
            </a:pPr>
            <a:r>
              <a:rPr sz="1600" b="0">
                <a:solidFill>
                  <a:srgbClr val="222222"/>
                </a:solidFill>
                <a:latin typeface="맑은 고딕"/>
                <a:ea typeface="맑은 고딕"/>
              </a:rPr>
              <a:t>•  어드바이저 곡선으로 무릎·절벽 판정 — 실측은 1128MB까지 줄여도 DB Time 거의 그대로.</a:t>
            </a:r>
          </a:p>
          <a:p>
            <a:pPr algn="l">
              <a:spcAft>
                <a:spcPts val="900"/>
              </a:spcAft>
            </a:pPr>
            <a:r>
              <a:rPr sz="1600" b="0">
                <a:solidFill>
                  <a:srgbClr val="222222"/>
                </a:solidFill>
                <a:latin typeface="맑은 고딕"/>
                <a:ea typeface="맑은 고딕"/>
              </a:rPr>
              <a:t>•  ORA-04031은 부족·단편화에서 온다. 구성 조정·바인드 변수화로 해소. In-Memory는 라이선스 옵션.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900"/>
              </a:spcAft>
            </a:pPr>
            <a:r>
              <a:rPr sz="1600" b="0">
                <a:solidFill>
                  <a:srgbClr val="222222"/>
                </a:solidFill>
                <a:latin typeface="맑은 고딕"/>
                <a:ea typeface="맑은 고딕"/>
              </a:rPr>
              <a:t>•  실습 01 — 메모리 관리 방식 판별(AMM/ASMM/수동)과 파라미터 확인(실측=ASMM)</a:t>
            </a:r>
          </a:p>
          <a:p>
            <a:pPr algn="l">
              <a:spcAft>
                <a:spcPts val="900"/>
              </a:spcAft>
            </a:pPr>
            <a:r>
              <a:rPr sz="1600" b="0">
                <a:solidFill>
                  <a:srgbClr val="222222"/>
                </a:solidFill>
                <a:latin typeface="맑은 고딕"/>
                <a:ea typeface="맑은 고딕"/>
              </a:rPr>
              <a:t>•  실습 02 — AMM 구성과 MEMORY_TARGET 조정 후 재기동 확인(개인 환경 전용)</a:t>
            </a:r>
          </a:p>
          <a:p>
            <a:pPr algn="l">
              <a:spcAft>
                <a:spcPts val="900"/>
              </a:spcAft>
            </a:pPr>
            <a:r>
              <a:rPr sz="1600" b="0">
                <a:solidFill>
                  <a:srgbClr val="222222"/>
                </a:solidFill>
                <a:latin typeface="맑은 고딕"/>
                <a:ea typeface="맑은 고딕"/>
              </a:rPr>
              <a:t>•  실습 03 — ASMM 전환과 SGA_TARGET·PGA_AGGREGATE_TARGET 동작 확인(개인 환경 전용)</a:t>
            </a:r>
          </a:p>
          <a:p>
            <a:pPr algn="l">
              <a:spcAft>
                <a:spcPts val="900"/>
              </a:spcAft>
            </a:pPr>
            <a:r>
              <a:rPr sz="1600" b="0">
                <a:solidFill>
                  <a:srgbClr val="222222"/>
                </a:solidFill>
                <a:latin typeface="맑은 고딕"/>
                <a:ea typeface="맑은 고딕"/>
              </a:rPr>
              <a:t>•  실습 04 — 자동 조정 이력 추적(V$SGA_RESIZE_OPS·V$MEMORY_RESIZE_OPS)</a:t>
            </a:r>
          </a:p>
          <a:p>
            <a:pPr algn="l">
              <a:spcAft>
                <a:spcPts val="900"/>
              </a:spcAft>
            </a:pPr>
            <a:r>
              <a:rPr sz="1600" b="0">
                <a:solidFill>
                  <a:srgbClr val="222222"/>
                </a:solidFill>
                <a:latin typeface="맑은 고딕"/>
                <a:ea typeface="맑은 고딕"/>
              </a:rPr>
              <a:t>•  실습 05 — 메모리 부족(ORA-04031) 재현 → 구성 조정으로 해소(개인 환경 전용)</a:t>
            </a:r>
          </a:p>
          <a:p>
            <a:pPr algn="l">
              <a:spcAft>
                <a:spcPts val="900"/>
              </a:spcAft>
            </a:pPr>
            <a:r>
              <a:rPr sz="1600" b="0">
                <a:solidFill>
                  <a:srgbClr val="222222"/>
                </a:solidFill>
                <a:latin typeface="맑은 고딕"/>
                <a:ea typeface="맑은 고딕"/>
              </a:rPr>
              <a:t>•  ※ 모두 non-CDB(orcl 19.3). 파라미터 변경·재기동은 반드시 개인 실습 환경에서만.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
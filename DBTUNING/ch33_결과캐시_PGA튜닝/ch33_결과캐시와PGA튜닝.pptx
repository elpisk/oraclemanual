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캐시(ch31): '데이터 블록' 저장 → 물리 I/O 절감</a:t>
            </a:r>
          </a:p>
          <a:p>
            <a:pPr algn="l">
              <a:spcAft>
                <a:spcPts val="600"/>
              </a:spcAft>
            </a:pPr>
            <a:r>
              <a:rPr sz="1700" b="0">
                <a:solidFill>
                  <a:srgbClr val="222222"/>
                </a:solidFill>
                <a:latin typeface="맑은 고딕"/>
              </a:rPr>
              <a:t>•  라이브러리 캐시(ch32): '실행계획' 저장 → 하드 파싱 절감</a:t>
            </a:r>
          </a:p>
          <a:p>
            <a:pPr algn="l">
              <a:spcAft>
                <a:spcPts val="600"/>
              </a:spcAft>
            </a:pPr>
            <a:r>
              <a:rPr sz="1700" b="0">
                <a:solidFill>
                  <a:srgbClr val="222222"/>
                </a:solidFill>
                <a:latin typeface="맑은 고딕"/>
              </a:rPr>
              <a:t>•  결과 캐시(ch33):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
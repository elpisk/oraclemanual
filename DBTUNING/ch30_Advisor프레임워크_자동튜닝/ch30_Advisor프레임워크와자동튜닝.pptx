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장에는 두 축이 있습니다. 첫째는 자동으로 도는 작업을 통제하는 것이고, 둘째는 어드바이저 권고를 해석하고 채택을 판단하는 것입니다. ADMIN 29·30장이 자동 작업을 설정하는 법이었다면 이 장은 그것이 업무에 주는 영향을 통제하는 관점으로, ADMIN 33장이 어드바이저 소개였다면 이 장은 권고를 해석하고 채택을 판단하는 관점으로 심화합니다. 실측 두 사례가 그 중심입니다.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오라클은 통계 수집·세그먼트 분석·SQL 튜닝을 밤마다 자동으로 수행합니다. 세 작업 중 자동 통계 수집이 계획 품질의 토대라 가장 중요합니다. 자동 SQL 튜닝 어드바이저만 Tuning Pack 기능이므로, 라이선스가 없다면 이 작업은 꺼 두는 것이 맞습니다. 편리하지만 이들도 CPU와 I/O를 쓰는 실제 부하라는 점을 잊지 말아야 합니다. 이 작업들이 언제 도는지 모르면 새벽 배치가 느려진 원인을 엉뚱한 곳에서 찾게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작업 모두 ENABLED 상태입니다. ATTRIBUTES의 SAFE TO KILL은 강제 종료해도 정합성이 안전하다는 뜻이고, sql tuning advisor에만 붙은 ONCE PER WINDOW는 이 무거운 작업이 한 윈도우 안에서 한 번만 돈다는 의미입니다. 통계 수집은 시간이 남으면 대상을 계속 처리하지만 SQL 튜닝 분석은 윈도우당 한 번으로 제한됩니다. STATUS와 ATTRIBUTES를 함께 읽어 각 작업의 성격을 파악하는 것이 첫걸음입니다.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작업은 정해진 유지관리 윈도우에서만 돕니다. 19c는 요일별 7개 윈도우를 갖고, 평일은 밤 10시 4시간, 주말은 오전 6시 20시간이 기본입니다. 제어는 클라이언트 단위(전역)와 윈도우 단위(특정 요일만)로 나뉩니다. 토요일 배치가 있으면 SATURDAY_WINDOW에서만 통계 수집을 끄는 식으로 세밀하게 조정할 수 있습니다. 클라이언트 단위로 끌 때와 윈도우 단위로 끌 때의 차이를 구분해 두어야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유지관리 윈도우가 업무 시간과 겹치는 것이 가장 흔한 사고입니다. 우선 윈도우 시간을 옮기는 것이 안전하고, 그게 어려우면 ORA$AUTOTASK의 자원 배분을 낮춥니다. 변경은 반드시 CREATE_PENDING_AREA → UPDATE → VALIDATE → SUBMIT 순서를 지켜야 하며, 대기 영역 없이 바로 바꾸면 ORA-29371이 납니다. mgmt_p1은 상한이 아니라 경합 시 보장 최소치라는 점을 오해하지 마십시오.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작업이 업무를 방해하면 곧바로 끄는 것이 아니라 순서를 지킵니다. 먼저 윈도우 시각을 확인하고, 겹치면 시간을 옮기고, 못 옮기면 자원을 조이고, 최후에만 끕니다. 통계 수집을 끄면 옵티마이저 통계가 낡아 계획이 나빠지므로, 끈 뒤에는 수동 수집 계획을 반드시 세워야 합니다. 실행 이력은 DBA_AUTOTASK_JOB_HISTORY로 확인합니다. 판단의 기준은 언제나 작업의 편의가 아니라 업무 워크로드의 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작업이 켜져 있는지만큼 중요한 것은 실제로 언제, 얼마나 걸려 돌았는가입니다. DBA_AUTOTASK_JOB_HISTORY로 지난 실행 이력을 봅니다. 시각과 소요 시간은 환경마다 다르므로 환경값으로 둡니다. 성능 신고가 특정 시간대에 몰린다면, 그 시각이 유지관리 윈도우·자동 작업 실행 구간과 겹치는지를 이 이력으로 대조하는 것이 첫 단계입니다. JOB_STATUS가 계속 SUCCEEDED가 아니라면 자동 작업 자체의 실패도 의심해야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설치된 어드바이저는 12종입니다. 이 장이 집중하는 것은 SQL Tuning Advisor, SQL Access Advisor, SQL Performance Analyzer 세 가지이며 모두 Tuning Pack에 속합니다. 반면 Segment·Undo·Statistics Advisor는 관리 팩 없이 쓸 수 있어, 라이선스가 없는 환경에서도 활용할 수 있습니다. 이 조회 자체는 라이선스와 무관합니다.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모든 어드바이저는 태스크를 만들고 대상을 연결해 실행한 뒤 결과를 읽는 같은 수명주기를 따릅니다. 결과는 Finding과 Recommendation으로 나뉘고 DBA_ADVISOR_ 계열 뷰에 남습니다. 조작 패키지만 어드바이저마다 다를 뿐, '태스크를 만들고 실행하고 REPORT로 읽는다'는 절차는 어디서나 반복됩니다. 이 공통성을 알면 어떤 어드바이저든 같은 방식으로 다룰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Tuning Advisor는 통계·프로파일·인덱스·재작성 네 종류를 권고합니다. 통계 권고가 있으면 그것부터 처리하는 것이 가장 안전합니다. 인덱스 권고는 워크로드 전체로 판단할 사안이라 Access Advisor로 넘기고, 재작성 권고는 SQL을 다시 써야 하므로 SQLT 과정으로 이관합니다. 프로파일은 손쉬워 보이지만 가장 신중해야 합니다. 어느 권고든 예상 이득이 실제 워크로드에서 재현되는지 조치 전후 측정으로 검증한 뒤 채택합니다.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프로파일은 오해가 많습니다. SQL 텍스트를 건드리지 않고 옵티마이저에게 카디널리티를 이렇게 보정하라는 힌트 뭉치를 딕셔너리에 저장합니다. 즉시 효과가 나 매력적이지만, 데이터 분포가 바뀌면 보정이 틀어질 수 있고 SQL 자체의 나쁜 구조는 그대로 남습니다. 프로파일은 응급 처치이지 근본 해결이 아니며, 이를 근본 해결로 착각하는 것이 흔한 오류입니다.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고부하 SQL 하나를 대상으로 튜닝 태스크를 돌렸더니 '권고 없음'이 나왔습니다. 이것은 실패가 아닙니다. 이 SQL은 테이블 전체를 집계하므로 어떤 인덱스도 전체 스캔보다 빠를 수 없고, 통계도 최신이라 카디널리티 추정이 정확했습니다. 즉 이미 최적이라는 결론입니다. 어드바이저의 침묵은 '더 손댈 게 없다'는 유효한 답입니다. 권고가 없다고 어드바이저가 쓸모없는 것이 아니라, 오히려 현재 계획이 건강하다는 확인을 얻은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성격이 다른 SQL — 특정 병원·특정 접수일로 소수 행만 찾는 문장입니다. PK 외 인덱스가 없어 전체 스캔하므로, 이번엔 인덱스 권고가 나오고 예상 이득이 99.64%입니다. 권고 인덱스의 앞 두 컬럼은 WHERE 조건, 뒤 두 컬럼은 SELECT 대상이라 테이블 재방문을 없애는 커버링 인덱스입니다. 같은 어드바이저인데 SQL 성격에 따라 결과가 정반대입니다.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대조가 이 장의 핵심입니다. 같은 어드바이저인데 결과가 정반대인 이유는 SQL 성격의 차이입니다. 두 방향의 오판을 모두 경계해야 합니다. 권고 없음은 이미 최적이라는 값진 확인이고, 큰 benefit도 이 한 문장에 대한 예상일 뿐입니다. 인덱스는 쓰기 유지 비용과 공간을 발생시키므로 워크로드 전체로 판단해야 합니다. 권고는 결론이 아니라 검증할 가설이라는 태도가 이 장의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benefit 99.64%만 보고 인덱스를 만들었더니 조회는 빨라졌지만 야간 INSERT 배치가 느려진 사례입니다. 인덱스 유지 비용이 배치에 얹혔기 때문입니다. 어드바이저 스스로도 rationale에서 '단일 문장보다 대표 워크로드로 Access Advisor를 돌리는 편이 낫다'고 조언합니다. 실습에서는 권고를 확인만 하고 인덱스는 만들지 않아 Before 상태를 유지합니다.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수동 실행과 별개로 자동 SQL 튜닝 작업이 밤마다 고부하 SQL을 분석합니다. 핵심 판단은 발견된 프로파일을 자동 채택하게 둘 것인가입니다. 기본값 FALSE, 즉 사람이 검토하기 전에는 적용하지 않는 것이 권장 설정입니다. 자동 채택을 켜면 검토 없는 프로파일이 운영 계획을 바꾸므로 편리하지만 위험합니다. 발견된 프로파일은 리포트로 확인하고 검토를 거쳐 수동으로 채택하는 것이 안전한 운영 방식입니다.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어드바이저는 이름이 비슷하지만 층위가 다릅니다. SQL Tuning Advisor는 문장 하나를, SQL Access Advisor는 워크로드 전체를 놓고 물리 스키마 설계를 봅니다. 앞 절에서 어드바이저가 Access Advisor를 권한 이유가 이것입니다. Access Advisor는 인덱스뿐 아니라 구체화 뷰·파티셔닝까지, 그리고 유지 비용과 공간까지 종합해 권고합니다.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단일 SQL은 QUICK_TUNE 한 번으로, 정식 분석은 태스크에 STS 워크로드를 연결해 실행합니다. GET_TASK_SCRIPT는 권고를 DDL로 뽑아 주며, 여기서도 확인만 하고 적용하지 않습니다. 채택 전에는 기존 인덱스와 겹치지 않는지, 쓰기 빈도는 어떤지, MV라면 갱신 주기와 맞는지, 대표 워크로드로 돌렸는지를 확인하고 테스트 환경에서 먼저 검증합니다.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SPA는 SQL 집합을 놓고 변경 전 before와 변경 후 after를 각각 측정해 비교합니다. 프로덕션에 영향을 주지 않고 분석 태스크 안에서 수행합니다. 실행 유형은 계획만 보는 EXPLAIN PLAN과 실제 실행 통계를 얻는 TEST EXECUTE가 있습니다. 보고서는 개선·회귀·불변 SQL 수를 집계하며, 절대 수치는 환경 의존이라 환경값으로 둡니다. 프로덕션에 실제로 변경을 적용하기 전에 회귀 SQL을 미리 파악하는 것이 SPA의 목적입니다.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변경이 전체적으로 이득이어도 일부 SQL은 회귀할 수 있습니다. SPA의 진짜 가치는 그 회귀를 변경 적용 전에 미리 찾아낸다는 점입니다. 대응은 변경을 통째로 포기하는 것이 아니라, 회귀한 SQL만 SQL Plan Baseline으로 기존 계획에 고정하는 것입니다. 이렇게 하면 전체 이득은 취하면서 회귀만 막을 수 있고, Baseline은 팩 없이 쓸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적응형 계획은 옵티마이저가 실행 시작 시점에 확정하기 애매한 부분, 대표적으로 조인 방식을 실행하면서 결정하게 합니다. 초반에 흘러온 실제 행 수를 세어 예상보다 많으면 해시 조인, 적으면 중첩 루프로 확정합니다. 19c 기본은 계획 적응 ON, 통계 적응 OFF이며 이 조합이 가장 안정적입니다. 대부분의 운영 시스템은 이 기본값을 그대로 둡니다. 계획을 볼 때 FORMAT에 +adaptive를 주면 어떤 부분이 적응 대상이었는지 표시됩니다.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SQL Plan Directive는 옵티마이저가 카디널리티를 크게 잘못 추정했을 때 남기는 메모입니다. 상관관계 있는 두 컬럼을 독립으로 곱해 과소추정하면, '다음부터 이 컬럼들에 동적 샘플링을 하라'는 디렉티브가 생깁니다. 디렉티브는 증상이지 해결이 아닙니다. 진짜 해결은 컬럼 그룹 확장 통계로 옵티마이저가 정확히 추정하게 하는 것이며, 그러면 디렉티브는 SUPERSEDED로 바뀝니다. 디렉티브를 직접 지우기보다 원인을 없애면 자연히 비활성화된다는 점을 기억하십시오.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적응형 기능은 대개 유익하지만 계획이 자꾸 바뀌어 예측 가능성이 떨어지면 문제로 느껴집니다. 어제 빠르던 SQL이 오늘 느린 원인이 동적 샘플링일 때가 있습니다. 무작정 파라미터를 끄기 전에 순서를 지킵니다. 먼저 확장 통계로 근본 원인을 없애고, 그래도 흔들리면 그 SQL만 Baseline으로 고정하며, 전역 비활성화는 최후의 수단입니다. 전역으로 끄면 다른 SQL이 받던 이득까지 함께 사라지기 때문입니다.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Advisor 프레임워크와 자동 튜닝</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자동 유지관리 작업 · SQL Tuning/Access Advisor · SPA · 권고 해석과 채택 판단  (ADMIN 29·30·33장 흡수·심화)</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제ch30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세 가지 자동 유지관리 작업을 구분하고 DBA_AUTOTASK_*로 무엇이 언제 도는지 확인한다.</a:t>
            </a:r>
          </a:p>
          <a:p>
            <a:pPr algn="l">
              <a:spcAft>
                <a:spcPts val="600"/>
              </a:spcAft>
            </a:pPr>
            <a:r>
              <a:rPr sz="1600" b="0">
                <a:solidFill>
                  <a:srgbClr val="222222"/>
                </a:solidFill>
                <a:latin typeface="맑은 고딕"/>
              </a:rPr>
              <a:t>•  유지관리 윈도우가 업무 시간과 겹칠 때 윈도우 조정·리소스 할당으로 통제한다.</a:t>
            </a:r>
          </a:p>
          <a:p>
            <a:pPr algn="l">
              <a:spcAft>
                <a:spcPts val="600"/>
              </a:spcAft>
            </a:pPr>
            <a:r>
              <a:rPr sz="1600" b="0">
                <a:solidFill>
                  <a:srgbClr val="222222"/>
                </a:solidFill>
                <a:latin typeface="맑은 고딕"/>
              </a:rPr>
              <a:t>•  Advisory Framework의 공통 구조(태스크·Finding·Recommendation)와 라이선스 경계를 안다.</a:t>
            </a:r>
          </a:p>
          <a:p>
            <a:pPr algn="l">
              <a:spcAft>
                <a:spcPts val="600"/>
              </a:spcAft>
            </a:pPr>
            <a:r>
              <a:rPr sz="1600" b="0">
                <a:solidFill>
                  <a:srgbClr val="222222"/>
                </a:solidFill>
                <a:latin typeface="맑은 고딕"/>
              </a:rPr>
              <a:t>•  SQL Tuning Advisor 권고를 해석하고, '권고 없음'도 유효한 결과임을 이해한다.</a:t>
            </a:r>
          </a:p>
          <a:p>
            <a:pPr algn="l">
              <a:spcAft>
                <a:spcPts val="600"/>
              </a:spcAft>
            </a:pPr>
            <a:r>
              <a:rPr sz="1600" b="0">
                <a:solidFill>
                  <a:srgbClr val="222222"/>
                </a:solidFill>
                <a:latin typeface="맑은 고딕"/>
              </a:rPr>
              <a:t>•  SQL Access Advisor·SPA로 워크로드 기준 설계·변경 검증을 수행한다.</a:t>
            </a:r>
          </a:p>
          <a:p>
            <a:pPr algn="l">
              <a:spcAft>
                <a:spcPts val="600"/>
              </a:spcAft>
            </a:pPr>
            <a:r>
              <a:rPr sz="1600" b="0">
                <a:solidFill>
                  <a:srgbClr val="222222"/>
                </a:solidFill>
                <a:latin typeface="맑은 고딕"/>
              </a:rPr>
              <a:t>•  SQL Plan Directives·Adaptive Plans를 관찰하고 비활성화 시점을 판단한다.</a:t>
            </a:r>
          </a:p>
          <a:p>
            <a:pPr algn="l">
              <a:spcAft>
                <a:spcPts val="600"/>
              </a:spcAft>
            </a:pPr>
            <a:r>
              <a:rPr sz="1600" b="0">
                <a:solidFill>
                  <a:srgbClr val="222222"/>
                </a:solidFill>
                <a:latin typeface="맑은 고딕"/>
              </a:rPr>
              <a:t>•  어드바이저는 항상 권고하지 않으며, 권고는 검증할 가설임을 체득한다.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15.2  자동 유지관리 작업과 유지관리 윈도우</a:t>
            </a:r>
          </a:p>
          <a:p>
            <a:pPr algn="l">
              <a:spcAft>
                <a:spcPts val="600"/>
              </a:spcAft>
            </a:pPr>
            <a:r>
              <a:rPr sz="1600" b="0">
                <a:solidFill>
                  <a:srgbClr val="222222"/>
                </a:solidFill>
                <a:latin typeface="맑은 고딕"/>
              </a:rPr>
              <a:t>•  15.3  Advisory Framework 전반</a:t>
            </a:r>
          </a:p>
          <a:p>
            <a:pPr algn="l">
              <a:spcAft>
                <a:spcPts val="600"/>
              </a:spcAft>
            </a:pPr>
            <a:r>
              <a:rPr sz="1600" b="0">
                <a:solidFill>
                  <a:srgbClr val="222222"/>
                </a:solidFill>
                <a:latin typeface="맑은 고딕"/>
              </a:rPr>
              <a:t>•  15.4  SQL Tuning Advisor — 두 실측 사례의 대조</a:t>
            </a:r>
          </a:p>
          <a:p>
            <a:pPr algn="l">
              <a:spcAft>
                <a:spcPts val="600"/>
              </a:spcAft>
            </a:pPr>
            <a:r>
              <a:rPr sz="1600" b="0">
                <a:solidFill>
                  <a:srgbClr val="222222"/>
                </a:solidFill>
                <a:latin typeface="맑은 고딕"/>
              </a:rPr>
              <a:t>•  15.5  SQL Access Advisor</a:t>
            </a:r>
          </a:p>
          <a:p>
            <a:pPr algn="l">
              <a:spcAft>
                <a:spcPts val="600"/>
              </a:spcAft>
            </a:pPr>
            <a:r>
              <a:rPr sz="1600" b="0">
                <a:solidFill>
                  <a:srgbClr val="222222"/>
                </a:solidFill>
                <a:latin typeface="맑은 고딕"/>
              </a:rPr>
              <a:t>•  15.6  SQL Performance Analyzer (SPA)</a:t>
            </a:r>
          </a:p>
          <a:p>
            <a:pPr algn="l">
              <a:spcAft>
                <a:spcPts val="600"/>
              </a:spcAft>
            </a:pPr>
            <a:r>
              <a:rPr sz="1600" b="0">
                <a:solidFill>
                  <a:srgbClr val="222222"/>
                </a:solidFill>
                <a:latin typeface="맑은 고딕"/>
              </a:rPr>
              <a:t>•  15.7  SQL Plan Directives와 Adaptive Plans</a:t>
            </a:r>
          </a:p>
          <a:p>
            <a:pPr algn="l">
              <a:spcAft>
                <a:spcPts val="600"/>
              </a:spcAft>
            </a:pPr>
            <a:r>
              <a:rPr sz="1600" b="0">
                <a:solidFill>
                  <a:srgbClr val="222222"/>
                </a:solidFill>
                <a:latin typeface="맑은 고딕"/>
              </a:rPr>
              <a:t>•  요약 · 퀴즈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두 축과 ADMIN 심화</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무엇이 흡수되고 무엇이 더해지나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축 1 — 자동으로 도는 것을 통제한다(자동 작업·윈도우·자원)</a:t>
            </a:r>
          </a:p>
          <a:p>
            <a:pPr algn="l">
              <a:spcAft>
                <a:spcPts val="600"/>
              </a:spcAft>
            </a:pPr>
            <a:r>
              <a:rPr sz="1700" b="0">
                <a:solidFill>
                  <a:srgbClr val="222222"/>
                </a:solidFill>
                <a:latin typeface="맑은 고딕"/>
              </a:rPr>
              <a:t>•  축 2 — 권고를 해석하고 채택을 판단한다(어드바이저)</a:t>
            </a:r>
          </a:p>
          <a:p>
            <a:pPr algn="l">
              <a:spcAft>
                <a:spcPts val="600"/>
              </a:spcAft>
            </a:pPr>
            <a:r>
              <a:rPr sz="1700" b="0">
                <a:solidFill>
                  <a:srgbClr val="222222"/>
                </a:solidFill>
                <a:latin typeface="맑은 고딕"/>
              </a:rPr>
              <a:t>•  ADMIN 29·30장 = 자동 작업 '설정' → 여기선 업무 영향 '통제'</a:t>
            </a:r>
          </a:p>
          <a:p>
            <a:pPr algn="l">
              <a:spcAft>
                <a:spcPts val="600"/>
              </a:spcAft>
            </a:pPr>
            <a:r>
              <a:rPr sz="1700" b="0">
                <a:solidFill>
                  <a:srgbClr val="222222"/>
                </a:solidFill>
                <a:latin typeface="맑은 고딕"/>
              </a:rPr>
              <a:t>•  ADMIN 33장 = 어드바이저 '소개' → 여기선 권고 '해석·채택 판단'</a:t>
            </a:r>
          </a:p>
          <a:p>
            <a:pPr algn="l">
              <a:spcAft>
                <a:spcPts val="600"/>
              </a:spcAft>
            </a:pPr>
            <a:r>
              <a:rPr sz="1700" b="0">
                <a:solidFill>
                  <a:srgbClr val="222222"/>
                </a:solidFill>
                <a:latin typeface="맑은 고딕"/>
              </a:rPr>
              <a:t>•  실측 두 사례로 '권고 맹신 경계'를 가르친다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자동 유지관리 작업과 유지관리 윈도우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세 가지 자동 작업 · 유지관리 윈도우</a:t>
            </a:r>
          </a:p>
          <a:p>
            <a:pPr algn="l">
              <a:spcAft>
                <a:spcPts val="600"/>
              </a:spcAft>
            </a:pPr>
            <a:r>
              <a:rPr sz="1600" b="0">
                <a:solidFill>
                  <a:srgbClr val="FFFFFF"/>
                </a:solidFill>
                <a:latin typeface="맑은 고딕"/>
              </a:rPr>
              <a:t>•  업무 시간 영향 통제 — 윈도우 조정·리소스 할당</a:t>
            </a:r>
          </a:p>
          <a:p>
            <a:pPr algn="l">
              <a:spcAft>
                <a:spcPts val="600"/>
              </a:spcAft>
            </a:pPr>
            <a:r>
              <a:rPr sz="1600" b="0">
                <a:solidFill>
                  <a:srgbClr val="FFFFFF"/>
                </a:solidFill>
                <a:latin typeface="맑은 고딕"/>
              </a:rPr>
              <a:t>•  ADMIN 29·30장 '설정'을 '통제·판단'으로 심화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세 가지 자동 유지관리 작업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사전 예방적 유지관리 인프라</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auto optimizer stats collection — 낡은/없는 통계 자동 수집(가장 중요)</a:t>
            </a:r>
          </a:p>
          <a:p>
            <a:pPr algn="l">
              <a:spcAft>
                <a:spcPts val="600"/>
              </a:spcAft>
            </a:pPr>
            <a:r>
              <a:rPr sz="1700" b="0">
                <a:solidFill>
                  <a:srgbClr val="222222"/>
                </a:solidFill>
                <a:latin typeface="맑은 고딕"/>
              </a:rPr>
              <a:t>•  auto space advisor — 세그먼트 공간 낭비 분석(권고만)</a:t>
            </a:r>
          </a:p>
          <a:p>
            <a:pPr algn="l">
              <a:spcAft>
                <a:spcPts val="600"/>
              </a:spcAft>
            </a:pPr>
            <a:r>
              <a:rPr sz="1700" b="0">
                <a:solidFill>
                  <a:srgbClr val="222222"/>
                </a:solidFill>
                <a:latin typeface="맑은 고딕"/>
              </a:rPr>
              <a:t>•  sql tuning advisor — 고부하 SQL 자동 튜닝 분석  🔒 Tuning Pack</a:t>
            </a:r>
          </a:p>
          <a:p>
            <a:pPr algn="l">
              <a:spcAft>
                <a:spcPts val="600"/>
              </a:spcAft>
            </a:pPr>
            <a:r>
              <a:rPr sz="1700" b="0">
                <a:solidFill>
                  <a:srgbClr val="222222"/>
                </a:solidFill>
                <a:latin typeface="맑은 고딕"/>
              </a:rPr>
              <a:t>•  통계 수집·세그먼트 어드바이저는 팩 불필요 / SQL 튜닝만 Tuning Pack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무엇이 켜져 있나 — DBA_AUTOTASK_CLIENT</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라이선스 무관 조회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client_name, status, attributes</a:t>
            </a:r>
          </a:p>
          <a:p>
            <a:pPr>
              <a:lnSpc>
                <a:spcPct val="100000"/>
              </a:lnSpc>
              <a:spcAft>
                <a:spcPts val="0"/>
              </a:spcAft>
            </a:pPr>
            <a:r>
              <a:rPr sz="1250">
                <a:solidFill>
                  <a:srgbClr val="F2F2F2"/>
                </a:solidFill>
                <a:latin typeface="Consolas"/>
              </a:rPr>
              <a:t>  2       FROM dba_autotask_client ORDER BY client_name;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CLIENT_NAME                       STATUS   ATTRIBUTES</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auto optimizer stats collection   ENABLED  ON BY DEFAULT, ...</a:t>
            </a:r>
          </a:p>
          <a:p>
            <a:pPr>
              <a:lnSpc>
                <a:spcPct val="100000"/>
              </a:lnSpc>
              <a:spcAft>
                <a:spcPts val="0"/>
              </a:spcAft>
            </a:pPr>
            <a:r>
              <a:rPr sz="1250">
                <a:solidFill>
                  <a:srgbClr val="F2F2F2"/>
                </a:solidFill>
                <a:latin typeface="Consolas"/>
              </a:rPr>
              <a:t>auto space advisor                ENABLED  ON BY DEFAULT, ...</a:t>
            </a:r>
          </a:p>
          <a:p>
            <a:pPr>
              <a:lnSpc>
                <a:spcPct val="100000"/>
              </a:lnSpc>
              <a:spcAft>
                <a:spcPts val="0"/>
              </a:spcAft>
            </a:pPr>
            <a:r>
              <a:rPr sz="1250">
                <a:solidFill>
                  <a:srgbClr val="F2F2F2"/>
                </a:solidFill>
                <a:latin typeface="Consolas"/>
              </a:rPr>
              <a:t>sql tuning advisor                ENABLED  ONCE PER WINDOW,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도나 — 유지관리 윈도우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DBA_AUTOTASK_WINDOW_CLIENTS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window_name, optimizer_stats,</a:t>
            </a:r>
          </a:p>
          <a:p>
            <a:pPr>
              <a:lnSpc>
                <a:spcPct val="100000"/>
              </a:lnSpc>
              <a:spcAft>
                <a:spcPts val="0"/>
              </a:spcAft>
            </a:pPr>
            <a:r>
              <a:rPr sz="1250">
                <a:solidFill>
                  <a:srgbClr val="F2F2F2"/>
                </a:solidFill>
                <a:latin typeface="Consolas"/>
              </a:rPr>
              <a:t>  2         sql_tune_advisor, autotask_status</a:t>
            </a:r>
          </a:p>
          <a:p>
            <a:pPr>
              <a:lnSpc>
                <a:spcPct val="100000"/>
              </a:lnSpc>
              <a:spcAft>
                <a:spcPts val="0"/>
              </a:spcAft>
            </a:pPr>
            <a:r>
              <a:rPr sz="1250">
                <a:solidFill>
                  <a:srgbClr val="F2F2F2"/>
                </a:solidFill>
                <a:latin typeface="Consolas"/>
              </a:rPr>
              <a:t>  3       FROM dba_autotask_window_clients WHERE rownum&lt;=8;</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WINDOW_NAME       OPTIMIZER_STATS  SQL_TUNE_ADVISOR  AUTOTASK</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MONDAY_WINDOW     ENABLED          ENABLED           ENABLED</a:t>
            </a:r>
          </a:p>
          <a:p>
            <a:pPr>
              <a:lnSpc>
                <a:spcPct val="100000"/>
              </a:lnSpc>
              <a:spcAft>
                <a:spcPts val="0"/>
              </a:spcAft>
            </a:pPr>
            <a:r>
              <a:rPr sz="1250">
                <a:solidFill>
                  <a:srgbClr val="F2F2F2"/>
                </a:solidFill>
                <a:latin typeface="Consolas"/>
              </a:rPr>
              <a:t>...(요일별 7개)   ENABLED          ENABLED           ENABLED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업무 시간 영향 통제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윈도우가 업무·배치와 겹칠 때</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방법 1 — 윈도우 시간을 옮긴다(DBMS_SCHEDULER.SET_ATTRIBUTE)</a:t>
            </a:r>
          </a:p>
          <a:p>
            <a:pPr algn="l">
              <a:spcAft>
                <a:spcPts val="600"/>
              </a:spcAft>
            </a:pPr>
            <a:r>
              <a:rPr sz="1700" b="0">
                <a:solidFill>
                  <a:srgbClr val="222222"/>
                </a:solidFill>
                <a:latin typeface="맑은 고딕"/>
              </a:rPr>
              <a:t>•  방법 2 — 자원을 조인다: DEFAULT_MAINTENANCE_PLAN의 ORA$AUTOTASK</a:t>
            </a:r>
          </a:p>
          <a:p>
            <a:pPr algn="l">
              <a:spcAft>
                <a:spcPts val="600"/>
              </a:spcAft>
            </a:pPr>
            <a:r>
              <a:rPr sz="1700" b="0">
                <a:solidFill>
                  <a:srgbClr val="222222"/>
                </a:solidFill>
                <a:latin typeface="맑은 고딕"/>
              </a:rPr>
              <a:t>•  기본 배분: ORA$AUTOTASK 25 / ORA$DIAGNOSTICS 5 / OTHER_GROUPS 70</a:t>
            </a:r>
          </a:p>
          <a:p>
            <a:pPr algn="l">
              <a:spcAft>
                <a:spcPts val="600"/>
              </a:spcAft>
            </a:pPr>
            <a:r>
              <a:rPr sz="1700" b="0">
                <a:solidFill>
                  <a:srgbClr val="222222"/>
                </a:solidFill>
                <a:latin typeface="맑은 고딕"/>
              </a:rPr>
              <a:t>•  리소스 변경은 대기 영역(Pending Area) 4단계 워크플로우 필수</a:t>
            </a:r>
          </a:p>
          <a:p>
            <a:pPr algn="l">
              <a:spcAft>
                <a:spcPts val="600"/>
              </a:spcAft>
            </a:pPr>
            <a:r>
              <a:rPr sz="1700" b="0">
                <a:solidFill>
                  <a:srgbClr val="222222"/>
                </a:solidFill>
                <a:latin typeface="맑은 고딕"/>
              </a:rPr>
              <a:t>•  mgmt_p1은 상한이 아니라 '경합 시 보장 최소치'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작업이 업무를 방해할 때의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끄기 전에 확인·조정·조임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① 확인 — 윈도우가 언제 열리고 업무·배치와 겹치는가</a:t>
            </a:r>
          </a:p>
          <a:p>
            <a:pPr algn="l">
              <a:spcAft>
                <a:spcPts val="600"/>
              </a:spcAft>
            </a:pPr>
            <a:r>
              <a:rPr sz="1700" b="0">
                <a:solidFill>
                  <a:srgbClr val="222222"/>
                </a:solidFill>
                <a:latin typeface="맑은 고딕"/>
              </a:rPr>
              <a:t>•  ② 조정 — 겹치면 윈도우 시간을 옮긴다(통계는 계속 최신)</a:t>
            </a:r>
          </a:p>
          <a:p>
            <a:pPr algn="l">
              <a:spcAft>
                <a:spcPts val="600"/>
              </a:spcAft>
            </a:pPr>
            <a:r>
              <a:rPr sz="1700" b="0">
                <a:solidFill>
                  <a:srgbClr val="222222"/>
                </a:solidFill>
                <a:latin typeface="맑은 고딕"/>
              </a:rPr>
              <a:t>•  ③ 조임 — 못 옮기면 ORA$AUTOTASK 배분을 낮춘다</a:t>
            </a:r>
          </a:p>
          <a:p>
            <a:pPr algn="l">
              <a:spcAft>
                <a:spcPts val="600"/>
              </a:spcAft>
            </a:pPr>
            <a:r>
              <a:rPr sz="1700" b="0">
                <a:solidFill>
                  <a:srgbClr val="222222"/>
                </a:solidFill>
                <a:latin typeface="맑은 고딕"/>
              </a:rPr>
              <a:t>•  ④ 최후에만 끈다 — 끄면 통계가 낡아 계획 품질 저하</a:t>
            </a:r>
          </a:p>
          <a:p>
            <a:pPr algn="l">
              <a:spcAft>
                <a:spcPts val="600"/>
              </a:spcAft>
            </a:pPr>
            <a:r>
              <a:rPr sz="1700" b="0">
                <a:solidFill>
                  <a:srgbClr val="222222"/>
                </a:solidFill>
                <a:latin typeface="맑은 고딕"/>
              </a:rPr>
              <a:t>•  DBA_AUTOTASK_JOB_HISTORY로 실행 시각·소요를 대조한다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언제 얼마나 돌았나 — 실행 이력</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DBA_AUTOTASK_JOB_HISTORY</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client_name,</a:t>
            </a:r>
          </a:p>
          <a:p>
            <a:pPr>
              <a:lnSpc>
                <a:spcPct val="100000"/>
              </a:lnSpc>
              <a:spcAft>
                <a:spcPts val="0"/>
              </a:spcAft>
            </a:pPr>
            <a:r>
              <a:rPr sz="1250">
                <a:solidFill>
                  <a:srgbClr val="F2F2F2"/>
                </a:solidFill>
                <a:latin typeface="Consolas"/>
              </a:rPr>
              <a:t>  2         TO_CHAR(window_start_time,'MM-DD HH24:MI') started,</a:t>
            </a:r>
          </a:p>
          <a:p>
            <a:pPr>
              <a:lnSpc>
                <a:spcPct val="100000"/>
              </a:lnSpc>
              <a:spcAft>
                <a:spcPts val="0"/>
              </a:spcAft>
            </a:pPr>
            <a:r>
              <a:rPr sz="1250">
                <a:solidFill>
                  <a:srgbClr val="F2F2F2"/>
                </a:solidFill>
                <a:latin typeface="Consolas"/>
              </a:rPr>
              <a:t>  3         job_status, job_duration</a:t>
            </a:r>
          </a:p>
          <a:p>
            <a:pPr>
              <a:lnSpc>
                <a:spcPct val="100000"/>
              </a:lnSpc>
              <a:spcAft>
                <a:spcPts val="0"/>
              </a:spcAft>
            </a:pPr>
            <a:r>
              <a:rPr sz="1250">
                <a:solidFill>
                  <a:srgbClr val="F2F2F2"/>
                </a:solidFill>
                <a:latin typeface="Consolas"/>
              </a:rPr>
              <a:t>  4       FROM dba_autotask_job_history</a:t>
            </a:r>
          </a:p>
          <a:p>
            <a:pPr>
              <a:lnSpc>
                <a:spcPct val="100000"/>
              </a:lnSpc>
              <a:spcAft>
                <a:spcPts val="0"/>
              </a:spcAft>
            </a:pPr>
            <a:r>
              <a:rPr sz="1250">
                <a:solidFill>
                  <a:srgbClr val="F2F2F2"/>
                </a:solidFill>
                <a:latin typeface="Consolas"/>
              </a:rPr>
              <a:t>  5       WHERE window_start_time &gt; SYSTIMESTAMP - 7</a:t>
            </a:r>
          </a:p>
          <a:p>
            <a:pPr>
              <a:lnSpc>
                <a:spcPct val="100000"/>
              </a:lnSpc>
              <a:spcAft>
                <a:spcPts val="0"/>
              </a:spcAft>
            </a:pPr>
            <a:r>
              <a:rPr sz="1250">
                <a:solidFill>
                  <a:srgbClr val="F2F2F2"/>
                </a:solidFill>
                <a:latin typeface="Consolas"/>
              </a:rPr>
              <a:t>  6       ORDER BY window_start_time DESC FETCH FIRST 5 ROWS ONLY;</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auto optimizer stats collection  &lt;환경값&gt;  SUCCEEDED  +000 00:0X</a:t>
            </a:r>
          </a:p>
          <a:p>
            <a:pPr>
              <a:lnSpc>
                <a:spcPct val="100000"/>
              </a:lnSpc>
              <a:spcAft>
                <a:spcPts val="0"/>
              </a:spcAft>
            </a:pPr>
            <a:r>
              <a:rPr sz="1250">
                <a:solidFill>
                  <a:srgbClr val="F2F2F2"/>
                </a:solidFill>
                <a:latin typeface="Consolas"/>
              </a:rPr>
              <a:t>sql tuning advisor               &lt;환경값&gt;  SUCCEEDED  +000 00:0X</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Advisory Framework 전반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어드바이저 종류 — DBA_ADVISOR_DEFINITIONS</a:t>
            </a:r>
          </a:p>
          <a:p>
            <a:pPr algn="l">
              <a:spcAft>
                <a:spcPts val="600"/>
              </a:spcAft>
            </a:pPr>
            <a:r>
              <a:rPr sz="1600" b="0">
                <a:solidFill>
                  <a:srgbClr val="FFFFFF"/>
                </a:solidFill>
                <a:latin typeface="맑은 고딕"/>
              </a:rPr>
              <a:t>•  공통 구조 — 태스크·Finding·Recommendation</a:t>
            </a:r>
          </a:p>
          <a:p>
            <a:pPr algn="l">
              <a:spcAft>
                <a:spcPts val="600"/>
              </a:spcAft>
            </a:pPr>
            <a:r>
              <a:rPr sz="1600" b="0">
                <a:solidFill>
                  <a:srgbClr val="FFFFFF"/>
                </a:solidFill>
                <a:latin typeface="맑은 고딕"/>
              </a:rPr>
              <a:t>•  라이선스 경계 — 무엇이 Tuning Pack인가</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어드바이저 종류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DBA_ADVISOR_DEFINITIONS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advisor_name FROM dba_advisor_definitions</a:t>
            </a:r>
          </a:p>
          <a:p>
            <a:pPr>
              <a:lnSpc>
                <a:spcPct val="100000"/>
              </a:lnSpc>
              <a:spcAft>
                <a:spcPts val="0"/>
              </a:spcAft>
            </a:pPr>
            <a:r>
              <a:rPr sz="1250">
                <a:solidFill>
                  <a:srgbClr val="F2F2F2"/>
                </a:solidFill>
                <a:latin typeface="Consolas"/>
              </a:rPr>
              <a:t>  2       ORDER BY advisor_name;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ADDM                       SQL Tuning Advisor</a:t>
            </a:r>
          </a:p>
          <a:p>
            <a:pPr>
              <a:lnSpc>
                <a:spcPct val="100000"/>
              </a:lnSpc>
              <a:spcAft>
                <a:spcPts val="0"/>
              </a:spcAft>
            </a:pPr>
            <a:r>
              <a:rPr sz="1250">
                <a:solidFill>
                  <a:srgbClr val="F2F2F2"/>
                </a:solidFill>
                <a:latin typeface="Consolas"/>
              </a:rPr>
              <a:t>Compression Advisor        SQL Workload Manager</a:t>
            </a:r>
          </a:p>
          <a:p>
            <a:pPr>
              <a:lnSpc>
                <a:spcPct val="100000"/>
              </a:lnSpc>
              <a:spcAft>
                <a:spcPts val="0"/>
              </a:spcAft>
            </a:pPr>
            <a:r>
              <a:rPr sz="1250">
                <a:solidFill>
                  <a:srgbClr val="F2F2F2"/>
                </a:solidFill>
                <a:latin typeface="Consolas"/>
              </a:rPr>
              <a:t>SPM Evolve Advisor         Segment Advisor</a:t>
            </a:r>
          </a:p>
          <a:p>
            <a:pPr>
              <a:lnSpc>
                <a:spcPct val="100000"/>
              </a:lnSpc>
              <a:spcAft>
                <a:spcPts val="0"/>
              </a:spcAft>
            </a:pPr>
            <a:r>
              <a:rPr sz="1250">
                <a:solidFill>
                  <a:srgbClr val="F2F2F2"/>
                </a:solidFill>
                <a:latin typeface="Consolas"/>
              </a:rPr>
              <a:t>SQL Access Advisor         Statistics Advisor</a:t>
            </a:r>
          </a:p>
          <a:p>
            <a:pPr>
              <a:lnSpc>
                <a:spcPct val="100000"/>
              </a:lnSpc>
              <a:spcAft>
                <a:spcPts val="0"/>
              </a:spcAft>
            </a:pPr>
            <a:r>
              <a:rPr sz="1250">
                <a:solidFill>
                  <a:srgbClr val="F2F2F2"/>
                </a:solidFill>
                <a:latin typeface="Consolas"/>
              </a:rPr>
              <a:t>SQL Performance Analyzer   Tune MView</a:t>
            </a:r>
          </a:p>
          <a:p>
            <a:pPr>
              <a:lnSpc>
                <a:spcPct val="100000"/>
              </a:lnSpc>
              <a:spcAft>
                <a:spcPts val="0"/>
              </a:spcAft>
            </a:pPr>
            <a:r>
              <a:rPr sz="1250">
                <a:solidFill>
                  <a:srgbClr val="F2F2F2"/>
                </a:solidFill>
                <a:latin typeface="Consolas"/>
              </a:rPr>
              <a:t>SQL Repair Advisor         Undo Advisor</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12 rows selected.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공통 아키텍처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모든 어드바이저가 같은 수명주기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① 태스크 생성 → ② 대상(SQL/워크로드) 연결 → ③ 실행 → ④ 결과 조회</a:t>
            </a:r>
          </a:p>
          <a:p>
            <a:pPr algn="l">
              <a:spcAft>
                <a:spcPts val="600"/>
              </a:spcAft>
            </a:pPr>
            <a:r>
              <a:rPr sz="1700" b="0">
                <a:solidFill>
                  <a:srgbClr val="222222"/>
                </a:solidFill>
                <a:latin typeface="맑은 고딕"/>
              </a:rPr>
              <a:t>•  결과 = Finding(무엇을 발견) + Recommendation(무엇을 하라)</a:t>
            </a:r>
          </a:p>
          <a:p>
            <a:pPr algn="l">
              <a:spcAft>
                <a:spcPts val="600"/>
              </a:spcAft>
            </a:pPr>
            <a:r>
              <a:rPr sz="1700" b="0">
                <a:solidFill>
                  <a:srgbClr val="222222"/>
                </a:solidFill>
                <a:latin typeface="맑은 고딕"/>
              </a:rPr>
              <a:t>•  DBA_ADVISOR_TASKS / FINDINGS / RECOMMENDATIONS / ACTIONS / RATIONALE</a:t>
            </a:r>
          </a:p>
          <a:p>
            <a:pPr algn="l">
              <a:spcAft>
                <a:spcPts val="600"/>
              </a:spcAft>
            </a:pPr>
            <a:r>
              <a:rPr sz="1700" b="0">
                <a:solidFill>
                  <a:srgbClr val="222222"/>
                </a:solidFill>
                <a:latin typeface="맑은 고딕"/>
              </a:rPr>
              <a:t>•  패키지만 다름: DBMS_SQLTUNE · DBMS_ADVISOR · DBMS_SQLPA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 라이선스 경계</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700" b="0">
                <a:solidFill>
                  <a:srgbClr val="222222"/>
                </a:solidFill>
                <a:latin typeface="맑은 고딕"/>
              </a:rPr>
              <a:t>•  SQL Tuning/Access Advisor · SPA → Tuning Pack(Diagnostics 선행)</a:t>
            </a:r>
          </a:p>
          <a:p>
            <a:pPr algn="l">
              <a:spcAft>
                <a:spcPts val="600"/>
              </a:spcAft>
            </a:pPr>
            <a:r>
              <a:rPr sz="1700" b="0">
                <a:solidFill>
                  <a:srgbClr val="222222"/>
                </a:solidFill>
                <a:latin typeface="맑은 고딕"/>
              </a:rPr>
              <a:t>•  자동 SQL 튜닝 어드바이저 결과 조회 → Tuning Pack 경계</a:t>
            </a:r>
          </a:p>
          <a:p>
            <a:pPr algn="l">
              <a:spcAft>
                <a:spcPts val="600"/>
              </a:spcAft>
            </a:pPr>
            <a:r>
              <a:rPr sz="1700" b="0">
                <a:solidFill>
                  <a:srgbClr val="222222"/>
                </a:solidFill>
                <a:latin typeface="맑은 고딕"/>
              </a:rPr>
              <a:t>•  DBA_AUTOTASK_* 조회 · 윈도우 조정 · 리소스 변경 → 팩 무관</a:t>
            </a:r>
          </a:p>
          <a:p>
            <a:pPr algn="l">
              <a:spcAft>
                <a:spcPts val="600"/>
              </a:spcAft>
            </a:pPr>
            <a:r>
              <a:rPr sz="1700" b="0">
                <a:solidFill>
                  <a:srgbClr val="222222"/>
                </a:solidFill>
                <a:latin typeface="맑은 고딕"/>
              </a:rPr>
              <a:t>•  대안: 인덱스 설계는 실행계획 분석, 계획 안정은 SQL Plan Baseline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Tuning Advisor — 두 실측 사례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권고 종류: 통계·프로파일·인덱스·재작성</a:t>
            </a:r>
          </a:p>
          <a:p>
            <a:pPr algn="l">
              <a:spcAft>
                <a:spcPts val="600"/>
              </a:spcAft>
            </a:pPr>
            <a:r>
              <a:rPr sz="1600" b="0">
                <a:solidFill>
                  <a:srgbClr val="FFFFFF"/>
                </a:solidFill>
                <a:latin typeface="맑은 고딕"/>
              </a:rPr>
              <a:t>•  사례 1: '권고 없음'(이미 최적) / 사례 2: benefit 99.64%</a:t>
            </a:r>
          </a:p>
          <a:p>
            <a:pPr algn="l">
              <a:spcAft>
                <a:spcPts val="600"/>
              </a:spcAft>
            </a:pPr>
            <a:r>
              <a:rPr sz="1600" b="0">
                <a:solidFill>
                  <a:srgbClr val="FFFFFF"/>
                </a:solidFill>
                <a:latin typeface="맑은 고딕"/>
              </a:rPr>
              <a:t>•  핵심 — 어드바이저는 항상 권고하지 않는다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무엇을 권고하는가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종류, 우선순위로 읽는다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통계 — 가장 먼저, 가장 안전 (통계만 바꿔도 계획 개선)</a:t>
            </a:r>
          </a:p>
          <a:p>
            <a:pPr algn="l">
              <a:spcAft>
                <a:spcPts val="600"/>
              </a:spcAft>
            </a:pPr>
            <a:r>
              <a:rPr sz="1700" b="0">
                <a:solidFill>
                  <a:srgbClr val="222222"/>
                </a:solidFill>
                <a:latin typeface="맑은 고딕"/>
              </a:rPr>
              <a:t>•  SQL 프로파일 — SQL 안 고치고 계획만 보정 (근본 해결 아님)</a:t>
            </a:r>
          </a:p>
          <a:p>
            <a:pPr algn="l">
              <a:spcAft>
                <a:spcPts val="600"/>
              </a:spcAft>
            </a:pPr>
            <a:r>
              <a:rPr sz="1700" b="0">
                <a:solidFill>
                  <a:srgbClr val="222222"/>
                </a:solidFill>
                <a:latin typeface="맑은 고딕"/>
              </a:rPr>
              <a:t>•  인덱스 — 단일 문장 기준, 워크로드 전체는 Access Advisor로</a:t>
            </a:r>
          </a:p>
          <a:p>
            <a:pPr algn="l">
              <a:spcAft>
                <a:spcPts val="600"/>
              </a:spcAft>
            </a:pPr>
            <a:r>
              <a:rPr sz="1700" b="0">
                <a:solidFill>
                  <a:srgbClr val="222222"/>
                </a:solidFill>
                <a:latin typeface="맑은 고딕"/>
              </a:rPr>
              <a:t>•  재작성 — 개발 협의 필요, 이 과정의 종착점(SQLT로 이관)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프로파일 — 매력과 함정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가장 손쉬워 보이지만 가장 신중히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SQL 텍스트를 안 고치고 카디널리티 보정 힌트를 딕셔너리에 저장</a:t>
            </a:r>
          </a:p>
          <a:p>
            <a:pPr algn="l">
              <a:spcAft>
                <a:spcPts val="600"/>
              </a:spcAft>
            </a:pPr>
            <a:r>
              <a:rPr sz="1700" b="0">
                <a:solidFill>
                  <a:srgbClr val="222222"/>
                </a:solidFill>
                <a:latin typeface="맑은 고딕"/>
              </a:rPr>
              <a:t>•  즉시 효과 → 매력적. 그러나 데이터 분포 바뀌면 보정이 틀어짐</a:t>
            </a:r>
          </a:p>
          <a:p>
            <a:pPr algn="l">
              <a:spcAft>
                <a:spcPts val="600"/>
              </a:spcAft>
            </a:pPr>
            <a:r>
              <a:rPr sz="1700" b="0">
                <a:solidFill>
                  <a:srgbClr val="222222"/>
                </a:solidFill>
                <a:latin typeface="맑은 고딕"/>
              </a:rPr>
              <a:t>•  SQL 자체의 나쁜 구조는 그대로 남는다 → 근본 해결 아님</a:t>
            </a:r>
          </a:p>
          <a:p>
            <a:pPr algn="l">
              <a:spcAft>
                <a:spcPts val="600"/>
              </a:spcAft>
            </a:pPr>
            <a:r>
              <a:rPr sz="1700" b="0">
                <a:solidFill>
                  <a:srgbClr val="222222"/>
                </a:solidFill>
                <a:latin typeface="맑은 고딕"/>
              </a:rPr>
              <a:t>•  Common Error: SQL 프로파일을 근본 해결로 착각</a:t>
            </a:r>
          </a:p>
          <a:p>
            <a:pPr algn="l">
              <a:spcAft>
                <a:spcPts val="600"/>
              </a:spcAft>
            </a:pPr>
            <a:r>
              <a:rPr sz="1700" b="0">
                <a:solidFill>
                  <a:srgbClr val="222222"/>
                </a:solidFill>
                <a:latin typeface="맑은 고딕"/>
              </a:rPr>
              <a:t>•  응급 처치로 쓰고 근본 원인(통계·인덱스·구조)은 별도 추적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1 — 권고가 없는 경우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SQL 9vmszgd1ft9x0 (전체 집계) 실측</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t := DBMS_SQLTUNE.CREATE_TUNING_TASK(</a:t>
            </a:r>
          </a:p>
          <a:p>
            <a:pPr>
              <a:lnSpc>
                <a:spcPct val="100000"/>
              </a:lnSpc>
              <a:spcAft>
                <a:spcPts val="0"/>
              </a:spcAft>
            </a:pPr>
            <a:r>
              <a:rPr sz="1250">
                <a:solidFill>
                  <a:srgbClr val="F2F2F2"/>
                </a:solidFill>
                <a:latin typeface="Consolas"/>
              </a:rPr>
              <a:t>            sql_id=&gt;'9vmszgd1ft9x0', scope=&gt;'COMPREHENSIVE');</a:t>
            </a:r>
          </a:p>
          <a:p>
            <a:pPr>
              <a:lnSpc>
                <a:spcPct val="100000"/>
              </a:lnSpc>
              <a:spcAft>
                <a:spcPts val="0"/>
              </a:spcAft>
            </a:pPr>
            <a:r>
              <a:rPr sz="1250">
                <a:solidFill>
                  <a:srgbClr val="F2F2F2"/>
                </a:solidFill>
                <a:latin typeface="Consolas"/>
              </a:rPr>
              <a:t>SYS@orcl&gt; DBMS_SQLTUNE.EXECUTE_TUNING_TASK(...);</a:t>
            </a:r>
          </a:p>
          <a:p>
            <a:pPr>
              <a:lnSpc>
                <a:spcPct val="100000"/>
              </a:lnSpc>
              <a:spcAft>
                <a:spcPts val="0"/>
              </a:spcAft>
            </a:pPr>
            <a:r>
              <a:rPr sz="1250">
                <a:solidFill>
                  <a:srgbClr val="F2F2F2"/>
                </a:solidFill>
                <a:latin typeface="Consolas"/>
              </a:rPr>
              <a:t>SYS@orcl&gt; SELECT DBMS_SQLTUNE.REPORT_TUNING_TASK(...) FROM dual;</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SQL Text : select /*+ full(d) */ count(*), sum(d.amt)</a:t>
            </a:r>
          </a:p>
          <a:p>
            <a:pPr>
              <a:lnSpc>
                <a:spcPct val="100000"/>
              </a:lnSpc>
              <a:spcAft>
                <a:spcPts val="0"/>
              </a:spcAft>
            </a:pPr>
            <a:r>
              <a:rPr sz="1250">
                <a:solidFill>
                  <a:srgbClr val="F2F2F2"/>
                </a:solidFill>
                <a:latin typeface="Consolas"/>
              </a:rPr>
              <a:t>           from claim_details d</a:t>
            </a:r>
          </a:p>
          <a:p>
            <a:pPr>
              <a:lnSpc>
                <a:spcPct val="100000"/>
              </a:lnSpc>
              <a:spcAft>
                <a:spcPts val="0"/>
              </a:spcAft>
            </a:pPr>
            <a:r>
              <a:rPr sz="1250">
                <a:solidFill>
                  <a:srgbClr val="F2F2F2"/>
                </a:solidFill>
                <a:latin typeface="Consolas"/>
              </a:rPr>
              <a:t>----------------------------------------------------------</a:t>
            </a:r>
          </a:p>
          <a:p>
            <a:pPr>
              <a:lnSpc>
                <a:spcPct val="100000"/>
              </a:lnSpc>
              <a:spcAft>
                <a:spcPts val="0"/>
              </a:spcAft>
            </a:pPr>
            <a:r>
              <a:rPr sz="1250">
                <a:solidFill>
                  <a:srgbClr val="F2F2F2"/>
                </a:solidFill>
                <a:latin typeface="Consolas"/>
              </a:rPr>
              <a:t>There are no recommendations to improve the statement.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사례 2 — 인덱스 권고 (benefit 99.64%)</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선택 조건 SQL, PK만 있어 전체 스캔</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FINDINGS SECTION (1 finding)</a:t>
            </a:r>
          </a:p>
          <a:p>
            <a:pPr>
              <a:lnSpc>
                <a:spcPct val="100000"/>
              </a:lnSpc>
              <a:spcAft>
                <a:spcPts val="0"/>
              </a:spcAft>
            </a:pPr>
            <a:r>
              <a:rPr sz="1250">
                <a:solidFill>
                  <a:srgbClr val="F2F2F2"/>
                </a:solidFill>
                <a:latin typeface="Consolas"/>
              </a:rPr>
              <a:t>1- Index Finding</a:t>
            </a:r>
          </a:p>
          <a:p>
            <a:pPr>
              <a:lnSpc>
                <a:spcPct val="100000"/>
              </a:lnSpc>
              <a:spcAft>
                <a:spcPts val="0"/>
              </a:spcAft>
            </a:pPr>
            <a:r>
              <a:rPr sz="1250">
                <a:solidFill>
                  <a:srgbClr val="F2F2F2"/>
                </a:solidFill>
                <a:latin typeface="Consolas"/>
              </a:rPr>
              <a:t>  Recommendation (estimated benefit: 99.64%)</a:t>
            </a:r>
          </a:p>
          <a:p>
            <a:pPr>
              <a:lnSpc>
                <a:spcPct val="100000"/>
              </a:lnSpc>
              <a:spcAft>
                <a:spcPts val="0"/>
              </a:spcAft>
            </a:pPr>
            <a:r>
              <a:rPr sz="1250">
                <a:solidFill>
                  <a:srgbClr val="F2F2F2"/>
                </a:solidFill>
                <a:latin typeface="Consolas"/>
              </a:rPr>
              <a:t>  create index SQLT.IDX$$_02860001 on SQLT.MEDICAL_CLAIMS</a:t>
            </a:r>
          </a:p>
          <a:p>
            <a:pPr>
              <a:lnSpc>
                <a:spcPct val="100000"/>
              </a:lnSpc>
              <a:spcAft>
                <a:spcPts val="0"/>
              </a:spcAft>
            </a:pPr>
            <a:r>
              <a:rPr sz="1250">
                <a:solidFill>
                  <a:srgbClr val="F2F2F2"/>
                </a:solidFill>
                <a:latin typeface="Consolas"/>
              </a:rPr>
              <a:t>   ("HOSP_ID","RECEIPT_DATE","CLAIM_ID","TOTAL_AMT");</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EXPLAIN PLANS SECTION — 1- Original</a:t>
            </a:r>
          </a:p>
          <a:p>
            <a:pPr>
              <a:lnSpc>
                <a:spcPct val="100000"/>
              </a:lnSpc>
              <a:spcAft>
                <a:spcPts val="0"/>
              </a:spcAft>
            </a:pPr>
            <a:r>
              <a:rPr sz="1250">
                <a:solidFill>
                  <a:srgbClr val="F2F2F2"/>
                </a:solidFill>
                <a:latin typeface="Consolas"/>
              </a:rPr>
              <a:t>|*  1 |  TABLE ACCESS FULL| MEDICAL_CLAIMS | cost 856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사례의 대조 — 핵심 교훈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어드바이저는 항상 권고하지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같은 어드바이저·같은 실행 → 한쪽은 침묵, 한쪽은 99.64%</a:t>
            </a:r>
          </a:p>
          <a:p>
            <a:pPr algn="l">
              <a:spcAft>
                <a:spcPts val="600"/>
              </a:spcAft>
            </a:pPr>
            <a:r>
              <a:rPr sz="1700" b="0">
                <a:solidFill>
                  <a:srgbClr val="222222"/>
                </a:solidFill>
                <a:latin typeface="맑은 고딕"/>
              </a:rPr>
              <a:t>•  차이는 SQL 성격 — 전체 집계는 인덱스 무익, 소수 조회는 결정적</a:t>
            </a:r>
          </a:p>
          <a:p>
            <a:pPr algn="l">
              <a:spcAft>
                <a:spcPts val="600"/>
              </a:spcAft>
            </a:pPr>
            <a:r>
              <a:rPr sz="1700" b="0">
                <a:solidFill>
                  <a:srgbClr val="222222"/>
                </a:solidFill>
                <a:latin typeface="맑은 고딕"/>
              </a:rPr>
              <a:t>•  오판 1: '권고 없음 = 쓸모없음' (아니다, 이미 최적의 확인)</a:t>
            </a:r>
          </a:p>
          <a:p>
            <a:pPr algn="l">
              <a:spcAft>
                <a:spcPts val="600"/>
              </a:spcAft>
            </a:pPr>
            <a:r>
              <a:rPr sz="1700" b="0">
                <a:solidFill>
                  <a:srgbClr val="222222"/>
                </a:solidFill>
                <a:latin typeface="맑은 고딕"/>
              </a:rPr>
              <a:t>•  오판 2: 'benefit 99.64% = 무조건 생성' (단일 문장 기준일 뿐)</a:t>
            </a:r>
          </a:p>
          <a:p>
            <a:pPr algn="l">
              <a:spcAft>
                <a:spcPts val="600"/>
              </a:spcAft>
            </a:pPr>
            <a:r>
              <a:rPr sz="1700" b="0">
                <a:solidFill>
                  <a:srgbClr val="222222"/>
                </a:solidFill>
                <a:latin typeface="맑은 고딕"/>
              </a:rPr>
              <a:t>•  권고는 결론이 아니라 검증할 가설이다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benefit을 그대로 믿었다가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실무 시나리오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개발팀이 benefit 99.64%만 보고 인덱스를 운영에 생성</a:t>
            </a:r>
          </a:p>
          <a:p>
            <a:pPr algn="l">
              <a:spcAft>
                <a:spcPts val="600"/>
              </a:spcAft>
            </a:pPr>
            <a:r>
              <a:rPr sz="1700" b="0">
                <a:solidFill>
                  <a:srgbClr val="222222"/>
                </a:solidFill>
                <a:latin typeface="맑은 고딕"/>
              </a:rPr>
              <a:t>•  조회는 빨라졌으나 대량 INSERT 배치가 20% 느려짐</a:t>
            </a:r>
          </a:p>
          <a:p>
            <a:pPr algn="l">
              <a:spcAft>
                <a:spcPts val="600"/>
              </a:spcAft>
            </a:pPr>
            <a:r>
              <a:rPr sz="1700" b="0">
                <a:solidFill>
                  <a:srgbClr val="222222"/>
                </a:solidFill>
                <a:latin typeface="맑은 고딕"/>
              </a:rPr>
              <a:t>•  빠진 것: 인덱스 유지 비용(쓰기)을 보지 않음</a:t>
            </a:r>
          </a:p>
          <a:p>
            <a:pPr algn="l">
              <a:spcAft>
                <a:spcPts val="600"/>
              </a:spcAft>
            </a:pPr>
            <a:r>
              <a:rPr sz="1700" b="0">
                <a:solidFill>
                  <a:srgbClr val="222222"/>
                </a:solidFill>
                <a:latin typeface="맑은 고딕"/>
              </a:rPr>
              <a:t>•  어드바이저 rationale: '대표 워크로드로 Access Advisor를 돌려라'</a:t>
            </a:r>
          </a:p>
          <a:p>
            <a:pPr algn="l">
              <a:spcAft>
                <a:spcPts val="600"/>
              </a:spcAft>
            </a:pPr>
            <a:r>
              <a:rPr sz="1700" b="0">
                <a:solidFill>
                  <a:srgbClr val="222222"/>
                </a:solidFill>
                <a:latin typeface="맑은 고딕"/>
              </a:rPr>
              <a:t>•  실습은 권고 확인까지만 — 인덱스 미생성(Before 상태 유지)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자동 SQL 튜닝과 자동 채택</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밤마다 도는 SYS_AUTO_SQL_TUNING_TASK</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자동 작업이 고부하 SQL을 골라 같은 분석 수행</a:t>
            </a:r>
          </a:p>
          <a:p>
            <a:pPr algn="l">
              <a:spcAft>
                <a:spcPts val="600"/>
              </a:spcAft>
            </a:pPr>
            <a:r>
              <a:rPr sz="1700" b="0">
                <a:solidFill>
                  <a:srgbClr val="222222"/>
                </a:solidFill>
                <a:latin typeface="맑은 고딕"/>
              </a:rPr>
              <a:t>•  REPORT_AUTO_TUNING_TASK로 결과 조회 (🔒 Tuning Pack)</a:t>
            </a:r>
          </a:p>
          <a:p>
            <a:pPr algn="l">
              <a:spcAft>
                <a:spcPts val="600"/>
              </a:spcAft>
            </a:pPr>
            <a:r>
              <a:rPr sz="1700" b="0">
                <a:solidFill>
                  <a:srgbClr val="222222"/>
                </a:solidFill>
                <a:latin typeface="맑은 고딕"/>
              </a:rPr>
              <a:t>•  ACCEPT_SQL_PROFILES 기본 FALSE — 자동 채택 꺼짐(권장)</a:t>
            </a:r>
          </a:p>
          <a:p>
            <a:pPr algn="l">
              <a:spcAft>
                <a:spcPts val="600"/>
              </a:spcAft>
            </a:pPr>
            <a:r>
              <a:rPr sz="1700" b="0">
                <a:solidFill>
                  <a:srgbClr val="222222"/>
                </a:solidFill>
                <a:latin typeface="맑은 고딕"/>
              </a:rPr>
              <a:t>•  발견된 프로파일은 검토 후 수동 ACCEPT — 그래도 응급 처치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Access Advisor</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SQL Tuning Advisor와의 차이 — 단일 vs 워크로드</a:t>
            </a:r>
          </a:p>
          <a:p>
            <a:pPr algn="l">
              <a:spcAft>
                <a:spcPts val="600"/>
              </a:spcAft>
            </a:pPr>
            <a:r>
              <a:rPr sz="1600" b="0">
                <a:solidFill>
                  <a:srgbClr val="FFFFFF"/>
                </a:solidFill>
                <a:latin typeface="맑은 고딕"/>
              </a:rPr>
              <a:t>•  인덱스·구체화 뷰 권고와 DDL 스크립트</a:t>
            </a:r>
          </a:p>
          <a:p>
            <a:pPr algn="l">
              <a:spcAft>
                <a:spcPts val="600"/>
              </a:spcAft>
            </a:pPr>
            <a:r>
              <a:rPr sz="1600" b="0">
                <a:solidFill>
                  <a:srgbClr val="FFFFFF"/>
                </a:solidFill>
                <a:latin typeface="맑은 고딕"/>
              </a:rPr>
              <a:t>•  채택 판단 — 유지 비용·공간·중복</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Tuning Advisor와 무엇이 다른가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층위가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SQL Tuning: SQL 한 문장을 어떻게 잘 돌게 할까</a:t>
            </a:r>
          </a:p>
          <a:p>
            <a:pPr algn="l">
              <a:spcAft>
                <a:spcPts val="600"/>
              </a:spcAft>
            </a:pPr>
            <a:r>
              <a:rPr sz="1700" b="0">
                <a:solidFill>
                  <a:srgbClr val="222222"/>
                </a:solidFill>
                <a:latin typeface="맑은 고딕"/>
              </a:rPr>
              <a:t>•  SQL Access: 워크로드 전체에 어떤 물리 구조가 최적일까</a:t>
            </a:r>
          </a:p>
          <a:p>
            <a:pPr algn="l">
              <a:spcAft>
                <a:spcPts val="600"/>
              </a:spcAft>
            </a:pPr>
            <a:r>
              <a:rPr sz="1700" b="0">
                <a:solidFill>
                  <a:srgbClr val="222222"/>
                </a:solidFill>
                <a:latin typeface="맑은 고딕"/>
              </a:rPr>
              <a:t>•  권고: 인덱스 + 구체화 뷰(MV) + MV 로그 + 파티셔닝</a:t>
            </a:r>
          </a:p>
          <a:p>
            <a:pPr algn="l">
              <a:spcAft>
                <a:spcPts val="600"/>
              </a:spcAft>
            </a:pPr>
            <a:r>
              <a:rPr sz="1700" b="0">
                <a:solidFill>
                  <a:srgbClr val="222222"/>
                </a:solidFill>
                <a:latin typeface="맑은 고딕"/>
              </a:rPr>
              <a:t>•  인덱스 유지 비용·공간까지 종합 고려 (DBMS_ADVISOR)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실행 흐름과 채택 판단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QUICK_TUNE / GET_TASK_SCRIPT (🔒 Tuning Pack)</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EXEC DBMS_ADVISOR.QUICK_TUNE(</a:t>
            </a:r>
          </a:p>
          <a:p>
            <a:pPr>
              <a:lnSpc>
                <a:spcPct val="100000"/>
              </a:lnSpc>
              <a:spcAft>
                <a:spcPts val="0"/>
              </a:spcAft>
            </a:pPr>
            <a:r>
              <a:rPr sz="1250">
                <a:solidFill>
                  <a:srgbClr val="F2F2F2"/>
                </a:solidFill>
                <a:latin typeface="Consolas"/>
              </a:rPr>
              <a:t>&gt;   advisor_name=&gt;DBMS_ADVISOR.SQLACCESS_ADVISOR,</a:t>
            </a:r>
          </a:p>
          <a:p>
            <a:pPr>
              <a:lnSpc>
                <a:spcPct val="100000"/>
              </a:lnSpc>
              <a:spcAft>
                <a:spcPts val="0"/>
              </a:spcAft>
            </a:pPr>
            <a:r>
              <a:rPr sz="1250">
                <a:solidFill>
                  <a:srgbClr val="F2F2F2"/>
                </a:solidFill>
                <a:latin typeface="Consolas"/>
              </a:rPr>
              <a:t>&gt;   task_name=&gt;'QT_CLAIMS', attr1=&gt;:sql);</a:t>
            </a:r>
          </a:p>
          <a:p>
            <a:pPr>
              <a:lnSpc>
                <a:spcPct val="100000"/>
              </a:lnSpc>
              <a:spcAft>
                <a:spcPts val="0"/>
              </a:spcAft>
            </a:pPr>
            <a:r>
              <a:rPr sz="1250">
                <a:solidFill>
                  <a:srgbClr val="F2F2F2"/>
                </a:solidFill>
                <a:latin typeface="Consolas"/>
              </a:rPr>
              <a:t>SYS@orcl&gt; SELECT DBMS_ADVISOR.GET_TASK_SCRIPT('QT_CLAIMS')</a:t>
            </a:r>
          </a:p>
          <a:p>
            <a:pPr>
              <a:lnSpc>
                <a:spcPct val="100000"/>
              </a:lnSpc>
              <a:spcAft>
                <a:spcPts val="0"/>
              </a:spcAft>
            </a:pPr>
            <a:r>
              <a:rPr sz="1250">
                <a:solidFill>
                  <a:srgbClr val="F2F2F2"/>
                </a:solidFill>
                <a:latin typeface="Consolas"/>
              </a:rPr>
              <a:t>  2       FROM dual;   -- 권고 DDL 확인(적용 안 함)</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채택 판단: 기존 인덱스와 중복? 쓰기 빈도? MV 갱신 주기?</a:t>
            </a:r>
          </a:p>
          <a:p>
            <a:pPr>
              <a:lnSpc>
                <a:spcPct val="100000"/>
              </a:lnSpc>
              <a:spcAft>
                <a:spcPts val="0"/>
              </a:spcAft>
            </a:pPr>
            <a:r>
              <a:rPr sz="1250">
                <a:solidFill>
                  <a:srgbClr val="F2F2F2"/>
                </a:solidFill>
                <a:latin typeface="Consolas"/>
              </a:rPr>
              <a:t>         대표 워크로드로 돌렸나? 테스트 후 before/after 판정</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Performance Analyzer (SPA)</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변경 전후를 SQL 집합으로 비교</a:t>
            </a:r>
          </a:p>
          <a:p>
            <a:pPr algn="l">
              <a:spcAft>
                <a:spcPts val="600"/>
              </a:spcAft>
            </a:pPr>
            <a:r>
              <a:rPr sz="1600" b="0">
                <a:solidFill>
                  <a:srgbClr val="FFFFFF"/>
                </a:solidFill>
                <a:latin typeface="맑은 고딕"/>
              </a:rPr>
              <a:t>•  before / after / COMPARE PERFORMANCE</a:t>
            </a:r>
          </a:p>
          <a:p>
            <a:pPr algn="l">
              <a:spcAft>
                <a:spcPts val="600"/>
              </a:spcAft>
            </a:pPr>
            <a:r>
              <a:rPr sz="1600" b="0">
                <a:solidFill>
                  <a:srgbClr val="FFFFFF"/>
                </a:solidFill>
                <a:latin typeface="맑은 고딕"/>
              </a:rPr>
              <a:t>•  회귀 SQL만 골라 대응</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변경 전후 비교 흐름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DBMS_SQLPA, STS 기반 (🔒 Tuning Pack)</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 (1) 분석 태스크 생성 (STS 기반)</a:t>
            </a:r>
          </a:p>
          <a:p>
            <a:pPr>
              <a:lnSpc>
                <a:spcPct val="100000"/>
              </a:lnSpc>
              <a:spcAft>
                <a:spcPts val="0"/>
              </a:spcAft>
            </a:pPr>
            <a:r>
              <a:rPr sz="1250">
                <a:solidFill>
                  <a:srgbClr val="F2F2F2"/>
                </a:solidFill>
                <a:latin typeface="Consolas"/>
              </a:rPr>
              <a:t>EXEC :t:=DBMS_SQLPA.CREATE_ANALYSIS_TASK(sqlset_name=&gt;'CLAIMS_STS',...);</a:t>
            </a:r>
          </a:p>
          <a:p>
            <a:pPr>
              <a:lnSpc>
                <a:spcPct val="100000"/>
              </a:lnSpc>
              <a:spcAft>
                <a:spcPts val="0"/>
              </a:spcAft>
            </a:pPr>
            <a:r>
              <a:rPr sz="1250">
                <a:solidFill>
                  <a:srgbClr val="F2F2F2"/>
                </a:solidFill>
                <a:latin typeface="Consolas"/>
              </a:rPr>
              <a:t>-- (2) before 측정  execution_type=&gt;'TEST EXECUTE'</a:t>
            </a:r>
          </a:p>
          <a:p>
            <a:pPr>
              <a:lnSpc>
                <a:spcPct val="100000"/>
              </a:lnSpc>
              <a:spcAft>
                <a:spcPts val="0"/>
              </a:spcAft>
            </a:pPr>
            <a:r>
              <a:rPr sz="1250">
                <a:solidFill>
                  <a:srgbClr val="F2F2F2"/>
                </a:solidFill>
                <a:latin typeface="Consolas"/>
              </a:rPr>
              <a:t>-- (3) 환경 변경   ALTER SESSION SET optimizer_index_cost_adj=20;</a:t>
            </a:r>
          </a:p>
          <a:p>
            <a:pPr>
              <a:lnSpc>
                <a:spcPct val="100000"/>
              </a:lnSpc>
              <a:spcAft>
                <a:spcPts val="0"/>
              </a:spcAft>
            </a:pPr>
            <a:r>
              <a:rPr sz="1250">
                <a:solidFill>
                  <a:srgbClr val="F2F2F2"/>
                </a:solidFill>
                <a:latin typeface="Consolas"/>
              </a:rPr>
              <a:t>-- (4) after 측정</a:t>
            </a:r>
          </a:p>
          <a:p>
            <a:pPr>
              <a:lnSpc>
                <a:spcPct val="100000"/>
              </a:lnSpc>
              <a:spcAft>
                <a:spcPts val="0"/>
              </a:spcAft>
            </a:pPr>
            <a:r>
              <a:rPr sz="1250">
                <a:solidFill>
                  <a:srgbClr val="F2F2F2"/>
                </a:solidFill>
                <a:latin typeface="Consolas"/>
              </a:rPr>
              <a:t>-- (5) COMPARE PERFORMANCE (comparison_metric=elapsed_time)</a:t>
            </a:r>
          </a:p>
          <a:p>
            <a:pPr>
              <a:lnSpc>
                <a:spcPct val="100000"/>
              </a:lnSpc>
              <a:spcAft>
                <a:spcPts val="0"/>
              </a:spcAft>
            </a:pPr>
            <a:r>
              <a:rPr sz="1250">
                <a:solidFill>
                  <a:srgbClr val="F2F2F2"/>
                </a:solidFill>
                <a:latin typeface="Consolas"/>
              </a:rPr>
              <a:t>-- (6) REPORT_ANALYSIS_TASK(type=&gt;'TEXT', section=&gt;'SUMMARY')</a:t>
            </a:r>
          </a:p>
          <a:p>
            <a:pPr>
              <a:lnSpc>
                <a:spcPct val="100000"/>
              </a:lnSpc>
              <a:spcAft>
                <a:spcPts val="0"/>
              </a:spcAft>
            </a:pPr>
            <a:r>
              <a:rPr sz="1250">
                <a:solidFill>
                  <a:srgbClr val="F2F2F2"/>
                </a:solidFill>
                <a:latin typeface="Consolas"/>
              </a:rPr>
              <a:t>  Improved:&lt;환경값&gt;  Regressed:&lt;환경값&gt;  Unchanged:&lt;환경값&gt;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회귀 SQL 대응</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전체 이득은 취하고 회귀만 막는다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변경이 전체 이득이어도 몇몇 SQL은 느려질 수 있다</a:t>
            </a:r>
          </a:p>
          <a:p>
            <a:pPr algn="l">
              <a:spcAft>
                <a:spcPts val="600"/>
              </a:spcAft>
            </a:pPr>
            <a:r>
              <a:rPr sz="1700" b="0">
                <a:solidFill>
                  <a:srgbClr val="222222"/>
                </a:solidFill>
                <a:latin typeface="맑은 고딕"/>
              </a:rPr>
              <a:t>•  SPA의 가치: 변경 적용 전에 회귀 SQL을 미리 골라냄</a:t>
            </a:r>
          </a:p>
          <a:p>
            <a:pPr algn="l">
              <a:spcAft>
                <a:spcPts val="600"/>
              </a:spcAft>
            </a:pPr>
            <a:r>
              <a:rPr sz="1700" b="0">
                <a:solidFill>
                  <a:srgbClr val="222222"/>
                </a:solidFill>
                <a:latin typeface="맑은 고딕"/>
              </a:rPr>
              <a:t>•  대응: 회귀 SQL만 SQL Plan Baseline으로 기존 계획 고정</a:t>
            </a:r>
          </a:p>
          <a:p>
            <a:pPr algn="l">
              <a:spcAft>
                <a:spcPts val="600"/>
              </a:spcAft>
            </a:pPr>
            <a:r>
              <a:rPr sz="1700" b="0">
                <a:solidFill>
                  <a:srgbClr val="222222"/>
                </a:solidFill>
                <a:latin typeface="맑은 고딕"/>
              </a:rPr>
              <a:t>•  Baseline은 SQL Plan Management 기능 — 팩 불필요</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15.7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SQL Plan Directives와 Adaptive Plans</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600"/>
              </a:spcAft>
            </a:pPr>
            <a:r>
              <a:rPr sz="1600" b="0">
                <a:solidFill>
                  <a:srgbClr val="FFFFFF"/>
                </a:solidFill>
                <a:latin typeface="맑은 고딕"/>
              </a:rPr>
              <a:t>•  옵티마이저의 자기 보정 — 실행 중/이후</a:t>
            </a:r>
          </a:p>
          <a:p>
            <a:pPr algn="l">
              <a:spcAft>
                <a:spcPts val="600"/>
              </a:spcAft>
            </a:pPr>
            <a:r>
              <a:rPr sz="1600" b="0">
                <a:solidFill>
                  <a:srgbClr val="FFFFFF"/>
                </a:solidFill>
                <a:latin typeface="맑은 고딕"/>
              </a:rPr>
              <a:t>•  Adaptive Plans(19c 기본 ON) · Directives</a:t>
            </a:r>
          </a:p>
          <a:p>
            <a:pPr algn="l">
              <a:spcAft>
                <a:spcPts val="600"/>
              </a:spcAft>
            </a:pPr>
            <a:r>
              <a:rPr sz="1600" b="0">
                <a:solidFill>
                  <a:srgbClr val="FFFFFF"/>
                </a:solidFill>
                <a:latin typeface="맑은 고딕"/>
              </a:rPr>
              <a:t>•  계획이 흔들릴 때의 대응 순서</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Adaptive Plans — 실행 중 결정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19c 기본값 확인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SHOW PARAMETER optimizer_adaptive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NAME                             TYPE      VALUE</a:t>
            </a:r>
          </a:p>
          <a:p>
            <a:pPr>
              <a:lnSpc>
                <a:spcPct val="100000"/>
              </a:lnSpc>
              <a:spcAft>
                <a:spcPts val="0"/>
              </a:spcAft>
            </a:pPr>
            <a:r>
              <a:rPr sz="1250">
                <a:solidFill>
                  <a:srgbClr val="F2F2F2"/>
                </a:solidFill>
                <a:latin typeface="Consolas"/>
              </a:rPr>
              <a:t>-------------------------------- --------- -------</a:t>
            </a:r>
          </a:p>
          <a:p>
            <a:pPr>
              <a:lnSpc>
                <a:spcPct val="100000"/>
              </a:lnSpc>
              <a:spcAft>
                <a:spcPts val="0"/>
              </a:spcAft>
            </a:pPr>
            <a:r>
              <a:rPr sz="1250">
                <a:solidFill>
                  <a:srgbClr val="F2F2F2"/>
                </a:solidFill>
                <a:latin typeface="Consolas"/>
              </a:rPr>
              <a:t>optimizer_adaptive_plans         boolean   TRUE</a:t>
            </a:r>
          </a:p>
          <a:p>
            <a:pPr>
              <a:lnSpc>
                <a:spcPct val="100000"/>
              </a:lnSpc>
              <a:spcAft>
                <a:spcPts val="0"/>
              </a:spcAft>
            </a:pPr>
            <a:r>
              <a:rPr sz="1250">
                <a:solidFill>
                  <a:srgbClr val="F2F2F2"/>
                </a:solidFill>
                <a:latin typeface="Consolas"/>
              </a:rPr>
              <a:t>optimizer_adaptive_statistics    boolean   FALSE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계획(PLANS) ON / 통계(STATISTICS) OFF = 권장 기본</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SQL Plan Directives — 다음 실행 메모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DBA_SQL_PLAN_DIRECTIVES</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lnSpc>
                <a:spcPct val="100000"/>
              </a:lnSpc>
              <a:spcAft>
                <a:spcPts val="0"/>
              </a:spcAft>
            </a:pPr>
            <a:r>
              <a:rPr sz="1250">
                <a:solidFill>
                  <a:srgbClr val="F2F2F2"/>
                </a:solidFill>
                <a:latin typeface="Consolas"/>
              </a:rPr>
              <a:t>SYS@orcl&gt; SELECT directive_id, type, state, reason</a:t>
            </a:r>
          </a:p>
          <a:p>
            <a:pPr>
              <a:lnSpc>
                <a:spcPct val="100000"/>
              </a:lnSpc>
              <a:spcAft>
                <a:spcPts val="0"/>
              </a:spcAft>
            </a:pPr>
            <a:r>
              <a:rPr sz="1250">
                <a:solidFill>
                  <a:srgbClr val="F2F2F2"/>
                </a:solidFill>
                <a:latin typeface="Consolas"/>
              </a:rPr>
              <a:t>  2       FROM dba_sql_plan_directives WHERE ... MEDICAL_CLAIMS;</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DIRECTIVE_ID  TYPE             STATE   REASON</a:t>
            </a:r>
          </a:p>
          <a:p>
            <a:pPr>
              <a:lnSpc>
                <a:spcPct val="100000"/>
              </a:lnSpc>
              <a:spcAft>
                <a:spcPts val="0"/>
              </a:spcAft>
            </a:pPr>
            <a:r>
              <a:rPr sz="1250">
                <a:solidFill>
                  <a:srgbClr val="F2F2F2"/>
                </a:solidFill>
                <a:latin typeface="Consolas"/>
              </a:rPr>
              <a:t>------------  ---------------- ------- ----------------------</a:t>
            </a:r>
          </a:p>
          <a:p>
            <a:pPr>
              <a:lnSpc>
                <a:spcPct val="100000"/>
              </a:lnSpc>
              <a:spcAft>
                <a:spcPts val="0"/>
              </a:spcAft>
            </a:pPr>
            <a:r>
              <a:rPr sz="1250">
                <a:solidFill>
                  <a:srgbClr val="F2F2F2"/>
                </a:solidFill>
                <a:latin typeface="Consolas"/>
              </a:rPr>
              <a:t>&lt;환경값&gt;      DYNAMIC_SAMPLING USABLE  SINGLE TABLE CARDINALITY</a:t>
            </a:r>
          </a:p>
          <a:p>
            <a:pPr>
              <a:lnSpc>
                <a:spcPct val="100000"/>
              </a:lnSpc>
              <a:spcAft>
                <a:spcPts val="0"/>
              </a:spcAft>
            </a:pPr>
            <a:r>
              <a:rPr sz="1250">
                <a:solidFill>
                  <a:srgbClr val="F2F2F2"/>
                </a:solidFill>
                <a:latin typeface="Consolas"/>
              </a:rPr>
              <a:t>                                       MISESTIMATE</a:t>
            </a:r>
          </a:p>
          <a:p>
            <a:pPr>
              <a:lnSpc>
                <a:spcPct val="100000"/>
              </a:lnSpc>
              <a:spcAft>
                <a:spcPts val="0"/>
              </a:spcAft>
            </a:pPr>
            <a:r>
              <a:rPr sz="1250">
                <a:solidFill>
                  <a:srgbClr val="F2F2F2"/>
                </a:solidFill>
                <a:latin typeface="Consolas"/>
              </a:rPr>
              <a:t> </a:t>
            </a:r>
          </a:p>
          <a:p>
            <a:pPr>
              <a:lnSpc>
                <a:spcPct val="100000"/>
              </a:lnSpc>
              <a:spcAft>
                <a:spcPts val="0"/>
              </a:spcAft>
            </a:pPr>
            <a:r>
              <a:rPr sz="1250">
                <a:solidFill>
                  <a:srgbClr val="F2F2F2"/>
                </a:solidFill>
                <a:latin typeface="Consolas"/>
              </a:rPr>
              <a:t>근본 해결 = 상관관계 컬럼에 컬럼 그룹 확장 통계(ch21)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계획이 흔들릴 때의 대응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전역 비활성화는 최후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600"/>
              </a:spcAft>
            </a:pPr>
            <a:r>
              <a:rPr sz="1700" b="0">
                <a:solidFill>
                  <a:srgbClr val="222222"/>
                </a:solidFill>
                <a:latin typeface="맑은 고딕"/>
              </a:rPr>
              <a:t>•  ① 근본 해소 — 확장 통계·통계 재수집으로 원인 제거</a:t>
            </a:r>
          </a:p>
          <a:p>
            <a:pPr algn="l">
              <a:spcAft>
                <a:spcPts val="600"/>
              </a:spcAft>
            </a:pPr>
            <a:r>
              <a:rPr sz="1700" b="0">
                <a:solidFill>
                  <a:srgbClr val="222222"/>
                </a:solidFill>
                <a:latin typeface="맑은 고딕"/>
              </a:rPr>
              <a:t>•  ② 특정 SQL만 고정 — SQL Plan Baseline(팩 불필요)</a:t>
            </a:r>
          </a:p>
          <a:p>
            <a:pPr algn="l">
              <a:spcAft>
                <a:spcPts val="600"/>
              </a:spcAft>
            </a:pPr>
            <a:r>
              <a:rPr sz="1700" b="0">
                <a:solidFill>
                  <a:srgbClr val="222222"/>
                </a:solidFill>
                <a:latin typeface="맑은 고딕"/>
              </a:rPr>
              <a:t>•  ③ 전역 비활성화는 최후 — 끄면 다른 SQL 이득도 사라짐</a:t>
            </a:r>
          </a:p>
          <a:p>
            <a:pPr algn="l">
              <a:spcAft>
                <a:spcPts val="600"/>
              </a:spcAft>
            </a:pPr>
            <a:r>
              <a:rPr sz="1700" b="0">
                <a:solidFill>
                  <a:srgbClr val="222222"/>
                </a:solidFill>
                <a:latin typeface="맑은 고딕"/>
              </a:rPr>
              <a:t>•  판단 기준은 언제나 '한 SQL 편의'가 아니라 '워크로드 전체'</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Q1. 세 자동 유지관리 작업과 그중 Tuning Pack이 필요한 것은?</a:t>
            </a:r>
          </a:p>
          <a:p>
            <a:pPr algn="l">
              <a:spcAft>
                <a:spcPts val="600"/>
              </a:spcAft>
            </a:pPr>
            <a:r>
              <a:rPr sz="1600" b="0">
                <a:solidFill>
                  <a:srgbClr val="222222"/>
                </a:solidFill>
                <a:latin typeface="맑은 고딕"/>
              </a:rPr>
              <a:t>•  Q2. 윈도우가 업무와 겹칠 때 대응 두 방향과 ORA$AUTOTASK 기본 배분값은?</a:t>
            </a:r>
          </a:p>
          <a:p>
            <a:pPr algn="l">
              <a:spcAft>
                <a:spcPts val="600"/>
              </a:spcAft>
            </a:pPr>
            <a:r>
              <a:rPr sz="1600" b="0">
                <a:solidFill>
                  <a:srgbClr val="222222"/>
                </a:solidFill>
                <a:latin typeface="맑은 고딕"/>
              </a:rPr>
              <a:t>•  Q3. 'no recommendations'와 benefit 99.64%의 차이가 왜 생기나?</a:t>
            </a:r>
          </a:p>
          <a:p>
            <a:pPr algn="l">
              <a:spcAft>
                <a:spcPts val="600"/>
              </a:spcAft>
            </a:pPr>
            <a:r>
              <a:rPr sz="1600" b="0">
                <a:solidFill>
                  <a:srgbClr val="222222"/>
                </a:solidFill>
                <a:latin typeface="맑은 고딕"/>
              </a:rPr>
              <a:t>•  Q4. benefit 99.64%를 곧바로 인덱스로 만들면 안 되는 이유는?</a:t>
            </a:r>
          </a:p>
          <a:p>
            <a:pPr algn="l">
              <a:spcAft>
                <a:spcPts val="600"/>
              </a:spcAft>
            </a:pPr>
            <a:r>
              <a:rPr sz="1600" b="0">
                <a:solidFill>
                  <a:srgbClr val="222222"/>
                </a:solidFill>
                <a:latin typeface="맑은 고딕"/>
              </a:rPr>
              <a:t>•  Q5. SQL Tuning Advisor와 SQL Access Advisor의 입력·관점 차이는?</a:t>
            </a:r>
          </a:p>
          <a:p>
            <a:pPr algn="l">
              <a:spcAft>
                <a:spcPts val="600"/>
              </a:spcAft>
            </a:pPr>
            <a:r>
              <a:rPr sz="1600" b="0">
                <a:solidFill>
                  <a:srgbClr val="222222"/>
                </a:solidFill>
                <a:latin typeface="맑은 고딕"/>
              </a:rPr>
              <a:t>•  Q6. SQL 프로파일이 근본 해결이 아닌 이유와 ACCEPT_SQL_PROFILES 권장값은?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600" b="0">
                <a:solidFill>
                  <a:srgbClr val="222222"/>
                </a:solidFill>
                <a:latin typeface="맑은 고딕"/>
              </a:rPr>
              <a:t>•  자동 작업 셋은 DBA_AUTOTASK_*로 무엇이 언제 도는지 먼저 확인한다.</a:t>
            </a:r>
          </a:p>
          <a:p>
            <a:pPr algn="l">
              <a:spcAft>
                <a:spcPts val="600"/>
              </a:spcAft>
            </a:pPr>
            <a:r>
              <a:rPr sz="1600" b="0">
                <a:solidFill>
                  <a:srgbClr val="222222"/>
                </a:solidFill>
                <a:latin typeface="맑은 고딕"/>
              </a:rPr>
              <a:t>•  업무와 겹치면 윈도우 조정→자원 조임→최후에 끄기(대기 영역 4단계).</a:t>
            </a:r>
          </a:p>
          <a:p>
            <a:pPr algn="l">
              <a:spcAft>
                <a:spcPts val="600"/>
              </a:spcAft>
            </a:pPr>
            <a:r>
              <a:rPr sz="1600" b="0">
                <a:solidFill>
                  <a:srgbClr val="222222"/>
                </a:solidFill>
                <a:latin typeface="맑은 고딕"/>
              </a:rPr>
              <a:t>•  Advisory Framework는 태스크→Finding→Recommendation 공통 구조.</a:t>
            </a:r>
          </a:p>
          <a:p>
            <a:pPr algn="l">
              <a:spcAft>
                <a:spcPts val="600"/>
              </a:spcAft>
            </a:pPr>
            <a:r>
              <a:rPr sz="1600" b="0">
                <a:solidFill>
                  <a:srgbClr val="222222"/>
                </a:solidFill>
                <a:latin typeface="맑은 고딕"/>
              </a:rPr>
              <a:t>•  실측: 전체 집계 SQL은 '권고 없음', 선택 조건 SQL은 인덱스 99.64%.</a:t>
            </a:r>
          </a:p>
          <a:p>
            <a:pPr algn="l">
              <a:spcAft>
                <a:spcPts val="600"/>
              </a:spcAft>
            </a:pPr>
            <a:r>
              <a:rPr sz="1600" b="0">
                <a:solidFill>
                  <a:srgbClr val="222222"/>
                </a:solidFill>
                <a:latin typeface="맑은 고딕"/>
              </a:rPr>
              <a:t>•  권고 없음도 결과, 큰 benefit도 단일 문장 기준 — 워크로드로 판단.</a:t>
            </a:r>
          </a:p>
          <a:p>
            <a:pPr algn="l">
              <a:spcAft>
                <a:spcPts val="600"/>
              </a:spcAft>
            </a:pPr>
            <a:r>
              <a:rPr sz="1600" b="0">
                <a:solidFill>
                  <a:srgbClr val="222222"/>
                </a:solidFill>
                <a:latin typeface="맑은 고딕"/>
              </a:rPr>
              <a:t>•  Access Advisor=워크로드 설계 / SPA=변경 검증·회귀 탐지.</a:t>
            </a:r>
          </a:p>
          <a:p>
            <a:pPr algn="l">
              <a:spcAft>
                <a:spcPts val="600"/>
              </a:spcAft>
            </a:pPr>
            <a:r>
              <a:rPr sz="1600" b="0">
                <a:solidFill>
                  <a:srgbClr val="222222"/>
                </a:solidFill>
                <a:latin typeface="맑은 고딕"/>
              </a:rPr>
              <a:t>•  Adaptive/Directives는 자기 보정 — 확장 통계→Baseline→전역 끄기 순.</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600"/>
              </a:spcAft>
            </a:pPr>
            <a:r>
              <a:rPr sz="1500" b="0">
                <a:solidFill>
                  <a:srgbClr val="222222"/>
                </a:solidFill>
                <a:latin typeface="맑은 고딕"/>
              </a:rPr>
              <a:t>•  실습 01 — 자동 유지관리 작업 구성 확인(DBA_AUTOTASK_*)</a:t>
            </a:r>
          </a:p>
          <a:p>
            <a:pPr algn="l">
              <a:spcAft>
                <a:spcPts val="600"/>
              </a:spcAft>
            </a:pPr>
            <a:r>
              <a:rPr sz="1500" b="0">
                <a:solidFill>
                  <a:srgbClr val="222222"/>
                </a:solidFill>
                <a:latin typeface="맑은 고딕"/>
              </a:rPr>
              <a:t>•  실습 02 — 유지관리 윈도우 조정·리소스 할당 변경</a:t>
            </a:r>
          </a:p>
          <a:p>
            <a:pPr algn="l">
              <a:spcAft>
                <a:spcPts val="600"/>
              </a:spcAft>
            </a:pPr>
            <a:r>
              <a:rPr sz="1500" b="0">
                <a:solidFill>
                  <a:srgbClr val="222222"/>
                </a:solidFill>
                <a:latin typeface="맑은 고딕"/>
              </a:rPr>
              <a:t>•  실습 03 — Advisory Framework 전반(DBA_ADVISOR_DEFINITIONS)</a:t>
            </a:r>
          </a:p>
          <a:p>
            <a:pPr algn="l">
              <a:spcAft>
                <a:spcPts val="600"/>
              </a:spcAft>
            </a:pPr>
            <a:r>
              <a:rPr sz="1500" b="0">
                <a:solidFill>
                  <a:srgbClr val="222222"/>
                </a:solidFill>
                <a:latin typeface="맑은 고딕"/>
              </a:rPr>
              <a:t>•  실습 04 — SQL Tuning Advisor ① '권고 없음' 확인 🔒</a:t>
            </a:r>
          </a:p>
          <a:p>
            <a:pPr algn="l">
              <a:spcAft>
                <a:spcPts val="600"/>
              </a:spcAft>
            </a:pPr>
            <a:r>
              <a:rPr sz="1500" b="0">
                <a:solidFill>
                  <a:srgbClr val="222222"/>
                </a:solidFill>
                <a:latin typeface="맑은 고딕"/>
              </a:rPr>
              <a:t>•  실습 05 — SQL Tuning Advisor ② 인덱스 권고(99.64%) 🔒</a:t>
            </a:r>
          </a:p>
          <a:p>
            <a:pPr algn="l">
              <a:spcAft>
                <a:spcPts val="600"/>
              </a:spcAft>
            </a:pPr>
            <a:r>
              <a:rPr sz="1500" b="0">
                <a:solidFill>
                  <a:srgbClr val="222222"/>
                </a:solidFill>
                <a:latin typeface="맑은 고딕"/>
              </a:rPr>
              <a:t>•  실습 06 — 자동 SQL 튜닝 결과·채택 정책 🔒</a:t>
            </a:r>
          </a:p>
          <a:p>
            <a:pPr algn="l">
              <a:spcAft>
                <a:spcPts val="600"/>
              </a:spcAft>
            </a:pPr>
            <a:r>
              <a:rPr sz="1500" b="0">
                <a:solidFill>
                  <a:srgbClr val="222222"/>
                </a:solidFill>
                <a:latin typeface="맑은 고딕"/>
              </a:rPr>
              <a:t>•  실습 07 — SQL Access Advisor / SPA 🔒</a:t>
            </a:r>
          </a:p>
          <a:p>
            <a:pPr algn="l">
              <a:spcAft>
                <a:spcPts val="600"/>
              </a:spcAft>
            </a:pPr>
            <a:r>
              <a:rPr sz="1500" b="0">
                <a:solidFill>
                  <a:srgbClr val="222222"/>
                </a:solidFill>
                <a:latin typeface="맑은 고딕"/>
              </a:rPr>
              <a:t>•  실습 08 — SQL Plan Directives·Adaptive Plans 관찰</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
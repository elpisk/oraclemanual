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ch30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30.2  자동 유지관리 작업과 유지관리 윈도우</a:t>
            </a:r>
          </a:p>
          <a:p>
            <a:pPr algn="l">
              <a:spcAft>
                <a:spcPts val="600"/>
              </a:spcAft>
            </a:pPr>
            <a:r>
              <a:rPr sz="1600" b="0">
                <a:solidFill>
                  <a:srgbClr val="222222"/>
                </a:solidFill>
                <a:latin typeface="맑은 고딕"/>
              </a:rPr>
              <a:t>•  30.3  Advisory Framework 전반</a:t>
            </a:r>
          </a:p>
          <a:p>
            <a:pPr algn="l">
              <a:spcAft>
                <a:spcPts val="600"/>
              </a:spcAft>
            </a:pPr>
            <a:r>
              <a:rPr sz="1600" b="0">
                <a:solidFill>
                  <a:srgbClr val="222222"/>
                </a:solidFill>
                <a:latin typeface="맑은 고딕"/>
              </a:rPr>
              <a:t>•  30.4  SQL Tuning Advisor — 두 실측 사례의 대조</a:t>
            </a:r>
          </a:p>
          <a:p>
            <a:pPr algn="l">
              <a:spcAft>
                <a:spcPts val="600"/>
              </a:spcAft>
            </a:pPr>
            <a:r>
              <a:rPr sz="1600" b="0">
                <a:solidFill>
                  <a:srgbClr val="222222"/>
                </a:solidFill>
                <a:latin typeface="맑은 고딕"/>
              </a:rPr>
              <a:t>•  30.5  SQL Access Advisor</a:t>
            </a:r>
          </a:p>
          <a:p>
            <a:pPr algn="l">
              <a:spcAft>
                <a:spcPts val="600"/>
              </a:spcAft>
            </a:pPr>
            <a:r>
              <a:rPr sz="1600" b="0">
                <a:solidFill>
                  <a:srgbClr val="222222"/>
                </a:solidFill>
                <a:latin typeface="맑은 고딕"/>
              </a:rPr>
              <a:t>•  30.6  SQL Performance Analyzer (SPA)</a:t>
            </a:r>
          </a:p>
          <a:p>
            <a:pPr algn="l">
              <a:spcAft>
                <a:spcPts val="600"/>
              </a:spcAft>
            </a:pPr>
            <a:r>
              <a:rPr sz="1600" b="0">
                <a:solidFill>
                  <a:srgbClr val="222222"/>
                </a:solidFill>
                <a:latin typeface="맑은 고딕"/>
              </a:rPr>
              <a:t>•  30.7  SQL Plan Directives와 Adaptive Plans</a:t>
            </a:r>
          </a:p>
          <a:p>
            <a:pPr algn="l">
              <a:spcAft>
                <a:spcPts val="600"/>
              </a:spcAft>
            </a:pPr>
            <a:r>
              <a:rPr sz="1600" b="0">
                <a:solidFill>
                  <a:srgbClr val="222222"/>
                </a:solidFill>
                <a:latin typeface="맑은 고딕"/>
              </a:rPr>
              <a:t>•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통계(ch21)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
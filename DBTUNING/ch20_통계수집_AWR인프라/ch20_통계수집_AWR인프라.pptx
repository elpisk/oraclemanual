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 뷰는 인스턴스 기동 이후의 누적값이거나 최근 몇 초의 순간값이라 두 가지 한계가 있습니다. 재기동하면 초기화되어 과거가 사라지고, 살아 있는 동안에도 특정 과거 시점을 되짚을 수 없습니다. 성능 문제는 대개 사후에 신고되므로 지나간 시점을 재구성할 수 있어야 진단이 됩니다. AWR은 주기적으로 V$의 핵심을 떠서 디스크에 남기므로 이 두 한계를 메운다는 점을 강조합니다.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AWR은 오브젝트 통계, 시간 모델, 시스템·세션 통계 일부, 상위 부하 SQL, ASH를 담습니다. 세션 수준을 제외한 대부분 통계의 누적값과 델타값을 함께 보존하는데, 델타는 한 스냅샷과 앞 스냅샷 사이의 변화량입니다. ch19에서 손으로 계산하던 뒤 값 빼기 앞 값을 AWR이 스냅샷을 뜰 때마다 자동으로 저장해 둔다는 점, 그래서 보고서가 구간을 지정하면 델타로 값이 나온다는 점을 설명합니다.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개념을 시간 축으로 그리면 이해가 쉽습니다. 스냅샷은 시간 선 위에 60분마다 찍히는 점입니다. 이동 윈도우 베이스라인은 지금으로부터 8일 전이라는 왼쪽 끝이 시간과 함께 계속 오른쪽으로 밀려가는, 항상 최근 8일을 덮는 구간입니다. 고정 베이스라인은 사람이 여기서 여기까지 못을 박아 둔 구간이라 시간이 흘러도 움직이지 않고, 그 안의 스냅샷은 자동 삭제에서 제외된다는 것을 강조합니다.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저장된 AWR 데이터는 보통 보고서로 보지만 DBA_HIST_ 접두어 뷰로 직접 조회할 수도 있습니다. 이 뷰들은 SYS 소유이며 Diagnostics Pack 대상입니다. 이 장에서는 스냅샷 목록의 DBA_HIST_SNAPSHOT, 설정의 DBA_HIST_WR_CONTROL, 베이스라인의 DBA_HIST_BASELINE을 씁니다. 이 뷰 이름들은 V$와 짝을 이뤄 V$SYSSTAT의 역사가 DBA_HIST_SYSSTAT에 쌓입니다. V$로 지금을 보고 DBA_HIST_로 과거를 본다가 ch19과 이 장을 잇는 한 줄 요약이며, 라이선스가 없어 못 쓸 때 V$ 델타 계산이 대안의 뿌리임을 강조합니다.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무엇을 바꾸기 전에 지금 값을 봅니다. DBA_HIST_WR_CONTROL이 현재 주기·보존을 인터벌 형식으로 보여 줍니다. 플러스 0일 1시간은 60분, 플러스 8일은 8일이므로 이 실습 환경은 기본값을 그대로 쓰고 있음을 확인했습니다. 조회는 인터벌 형식이지만 변경은 분 단위 정수라는 점을 미리 짚어 혼동을 막습니다. TOPNSQL DEFAULT는 스냅샷마다 각 기준별 상위 SQL을 시스템 기본 개수만 담는다는 뜻입니다.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주기·보존·TOPNSQL은 MODIFY_SNAPSHOT_SETTINGS로 바꾸며 인자는 분 단위입니다. retention은 보존, interval은 주기, topnsql은 각 기준별 상위 SQL 개수입니다. 필요한 인자만 골라 넘길 수 있고, 변경 뒤에는 반드시 다시 조회해 의도대로 바뀌었는지 확인하는 3단 습관을 강조합니다. interval을 0으로 두면 자동 수집이 멈추고 수동 스냅샷조차 못 만들며 자가 관리 기능이 꺼지므로 오라클이 강력히 권고하지 않는다는 함정도 함께 짚습니다.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보존 기간은 감이 아니라 워크로드 주기에서 나옵니다. 오라클 권고는 최소한 하나의 완전한 워크로드 주기를 담을 만큼입니다. 주 단위로 도는 시스템은 기본 8일이면 한 주기를 덮고, 월말 결산처럼 월 단위 피크가 있으면 한 달로 늘려야 다음 달과 비교할 수 있습니다. 보존을 줄이면 AWR에 의존하는 여러 어드바이저의 정확도가 떨어지므로, 주기·보존·이동 윈도우를 한 세트로 설계해야 한다는 점을 강조합니다.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예외적 상황에서 주기를 0으로 두면 자동 스냅샷 수집이 멈춥니다. 이때는 워크로드와 통계의 자동 수집이 중단되고 대부분의 자가 관리 기능이 동작하지 않으며, 수동 스냅샷조차 만들 수 없습니다. 그래서 오라클은 자동 수집 비활성화를 강력히 권고하지 않습니다. 현장에서 스냅샷을 잠깐 끄자는 요청이 오면 공간을 아끼려다 진단 능력을 통째로 잃는 부작용부터 설명해야 한다는 점을 강조합니다. 공간 문제는 주기를 늘리거나 보존을 줄이는 정공법으로 풀어야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자동 스냅샷은 정시에 찍히므로 내가 만든 부하가 두 정시에 걸치면 따로 떼어 볼 수 없습니다. 특정 작업의 성능을 정확히 재려면 그 앞뒤에 CREATE_SNAPSHOT으로 스냅샷을 손으로 찍어 구간을 감싸야 합니다. 실습에서는 시작이 295, 부하 실행 후 종료가 296으로 찍혔습니다. 이 295에서 296 구간이 ch22 보고서, ch24 ADDM, ch25 ASH의 공통 재료가 된다는 점, 즉 이 장이 뒤 장의 실습 데이터를 만든다는 점을 강조합니다.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수동 스냅샷에서 흔히 놓치는 것이 정말 새 스냅샷이 생겼는가의 확인입니다. CREATE_SNAPSHOT을 실행하고도 MAX(snap_id)가 그대로라면 STATISTICS_LEVEL이 BASIC이거나 CONTROL_MANAGEMENT_PACK_ACCESS가 NONE이라 AWR이 꺼져 있을 수 있습니다. 프로시저가 오류 없이 끝나도 스냅샷이 안 남을 수 있으므로, 뜬 직후 DBA_HIST_SNAPSHOT의 번호가 늘었는지 눈으로 확인하는 습관을 강조합니다. 이 흐름이 실습의 이상 징후 대응 시나리오입니다.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295에서 296 구간은 7개 세션이 100초 동안 리터럴 파싱·대량 스캔·정렬·잦은 커밋을 섞어 만든 종합 부하입니다. 같은 사건을 ch22 AWR은 DB CPU 95.7퍼센트로, ch24 ADDM은 리터럴 사용으로 인한 하드 파싱이라는 진단으로, ch25 ASH는 ON CPU 90.7퍼센트로 보여 줍니다. 세 수치가 어긋나지 않는 것은 모두 같은 스냅샷 구간, 같은 부하를 원천으로 하기 때문이며, 구간을 어떻게 잡았는가가 진단의 질을 좌우한다는 점을 강조합니다.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베이스라인은 특정 기간의 스냅샷 집합을 문제 발생 시 비교용으로 보존해 둔 것입니다. 핵심은 베이스라인에 포함된 스냅샷이 자동 퍼지에서 제외되어 무기한 보존된다는 점입니다. 고정 베이스라인은 사람이 지정한 정상 구간이고, 이동 윈도우는 보존 기간 안 전체를 시스템이 자동 유지하는 것으로 적응형 임계값 계산에 쓰입니다. 정상 구간을 잘못 고르면 나빠진 것을 정상으로 착각하므로 대표성 있는 평상시를 골라야 한다는 함정도 짚습니다.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고정 베이스라인은 시작·끝 스냅샷 ID와 이름으로 만듭니다. 실습에서는 앞서 확보한 295~296 구간을 TUNING_CH6_DEMO로 보호했고, expiration 30일을 주어 30일 뒤 자동 만료되게 했습니다. start/end는 이미 존재하는 스냅샷 번호여야 하므로 수동 스냅샷으로 구간을 먼저 확보한 뒤 만드는 순서가 자연스럽습니다. 조회하면 시스템 이동 윈도우와 방금 만든 STATIC 베이스라인이 함께 보이며, 이제 295~296은 8일이 지나도 지워지지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베이스라인은 RENAME_BASELINE으로 이름을 바꾸고 DROP_BASELINE으로 삭제합니다. cascade를 FALSE로 두면 베이스라인 표식만 사라지고 딸린 스냅샷은 보존되며, TRUE면 스냅샷까지 함께 지워집니다. 실습에서는 스냅샷을 뒤 장에서 계속 쓰므로 cascade FALSE로 베이스라인만 해제했고, 조회 결과 0건으로 정리를 확인했습니다. 다 쓴 고정 베이스라인은 디스크 절약을 위해 주기적으로 지우는 습관을 강조합니다.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이미 지나간 구간이 아니라 앞으로 올 구간을 자동으로 베이스라인화하려면 베이스라인 템플릿을 씁니다. 단일 템플릿은 미래의 한 번의 고정 구간을, 반복 템플릿은 매주 월요일 오전처럼 되풀이되는 구간을 대상으로 합니다. CREATE_BASELINE_TEMPLATE에 시작·종료 시각과 이름을 주면 그 구간이 도래할 때 오라클이 자동으로 베이스라인을 만듭니다. 월초·분기말처럼 반드시 남겨야 하는 시각이 정해져 있으면 사람이 매번 챙기는 대신 예약해 두는 편이 안전하다는 점을 강조합니다.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AWR 데이터는 기본적으로 SYSAUX에 저장되고, 스냅샷이 쌓일수록 커지므로 점유를 주기적으로 봐야 합니다. SYSAUX는 AWR만의 공간이 아니라 여러 구성 요소가 공유하므로, 원인이 AWR인지 가르는 것이 V$SYSAUX_OCCUPANTS입니다. AWR은 SM/AWR이라는 이름으로 나타나며, 실측은 281.9MB로 오라클이 말하는 전형적 200~300MB 범위 안이었습니다. 이 값을 절대 기준으로 외우기보다 전보다 유난히 커졌는가를 판단하는 관찰 습관을 강조합니다.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AWR 공간을 줄이는 정공법은 주기를 늘리거나 보존을 줄이는 것입니다. 보존을 줄이면 자가 관리 기능 정확도가 떨어지니 신중해야 합니다. 급히 공간을 회수해야 하면 DROP_SNAPSHOT_RANGE에 시작·끝 snap_id를 주어 오래된 구간을 지웁니다. 단 베이스라인에 포함된 스냅샷은 이 방법으로도 안 지워지는데, 이는 보호가 곧 자동 정리 면제라는 정상 동작입니다. 자동 퍼지에 맡겨도 보존이 지나면 정리되므로 수동 삭제는 응급 수단임을 강조합니다.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SM/AWR 점유가 예상보다 크면 원인을 순서대로 좁힙니다. 첫째 주기가 짧아졌는지, 둘째 보존이 길어졌는지, 셋째 topnsql이 MAXIMUM이거나 큰 값인지, 넷째 활성 세션이 많은 바쁜 시스템인지 봅니다. 이 네 가지를 DBA_HIST_WR_CONTROL과 실제 설정으로 확인하면 대부분 원인이 잡힙니다. AWR이 SYSAUX를 지나치게 점유하면 19c부터는 다른 테이블스페이스로 옮길 수도 있지만, 일상 대응은 주기·보존 조정과 오래된 구간 삭제로 충분한 경우가 많다는 점을 덧붙입니다.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절은 이 장에서 가장 실무적인 교훈입니다. 보존이 8일이면 그보다 오래된 스냅샷은 자동 퍼지로 사라지는데, 이는 버그가 아니라 설계입니다. 문제는 사고 조사가 늦어질 때입니다. 금요일 밤 사고를 다음 주에 조사하면 그 사이 원본이 사라질 수 있습니다. 해결은 단순합니다. 사고를 인지한 즉시, 조사에 착수하기 전에 사고 구간을 베이스라인으로 지정합니다. 지금 얼려 둔다가 원칙이며, 이것이 이 장의 Common Error인 사고 데이터 소실을 막는 0번 단계임을 강조합니다.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보존 기간을 넘긴 스냅샷을 조회하면 데이터가 없어 보고서가 비거나 구간을 지정할 수 없습니다. 왜 어제 데이터가 없지라고 당황하기 전에 두 가지를 확인합니다. 첫째 보존 기간, 둘째 가장 오래된 스냅샷의 번호와 시각입니다. 가장 오래된 스냅샷이 사고 시각보다 뒤라면 원본은 이미 퍼지된 것입니다. 이 확인 절차를 알면 데이터 소실이 사고가 아니라 예정된 동작임을 이해하게 되고, 다음부터는 베이스라인으로 미리 막게 된다는 점을 강조합니다.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Statspack은 AWR의 전신이자 무상 대안으로, 라이선스 없이 스냅샷을 뜨고 보고서를 만듭니다. SYSDBA로 spcreate.sql을 실행해 PERFSTAT 계정에 설치하고, STATSPACK.SNAP으로 부하 앞뒤에 스냅샷을 떠 구간을 감싼 뒤 spreport.sql로 보고서를 만듭니다. 보고서의 Load Profile·Top 5 Timed Events·SQL 섹션은 AWR과 읽는 법이 거의 같습니다. 레벨로 상세도를 정하고 spauto로 자동 수집, sppurge로 정리하는 등 AWR의 자동화를 스크립트로 손수 갖춘다는 점을 설명합니다.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Statspack은 AWR 이전 시대의 표준 진단 도구였고, 10g에서 AWR·ADDM·ASH가 Diagnostics Pack으로 묶이면서 무상으로 남아 라이선스 미보유 환경의 정식 대안이 되었습니다. 따라서 Statspack을 쓴다는 것은 옛날 방식으로 후퇴한다가 아니라 라이선스 경계 안에서 진단을 계속한다는 뜻입니다. 다만 ADDM 자동 진단·ASH·베이스라인 같은 기능이 없어 보고서를 사람이 읽어야 하므로, Statspack 환경일수록 ch22에서 배울 보고서 판독 능력이 더 중요해진다는 점을 강조합니다.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AWR과 Statspack은 같은 목적의 도구지만 결이 다릅니다. AWR은 Diagnostics Pack이 필요하고 SYSAUX에 저장하며 ADDM·ASH·베이스라인과 통합됩니다. Statspack은 무상이고 PERFSTAT 스키마에 저장하지만 자동 진단이 없어 사람이 보고서를 읽어야 합니다. 선택 기준은 라이선스가 있으면 AWR, 없고 정기 이력이 필요하면 Statspack, 한 구간만 재면 V$ 델타입니다. 세 경로 모두 두 시점의 차이를 부하로 읽는다는 ch19의 원리는 같다는 점으로 마무리합니다.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2194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394960"/>
            <a:ext cx="12188952"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57200"/>
            <a:ext cx="10698480" cy="548640"/>
          </a:xfrm>
          <a:prstGeom prst="rect">
            <a:avLst/>
          </a:prstGeom>
          <a:noFill/>
        </p:spPr>
        <p:txBody>
          <a:bodyPr wrap="square" anchor="t">
            <a:spAutoFit/>
          </a:bodyPr>
          <a:lstStyle/>
          <a:p>
            <a:pPr algn="l"/>
            <a:r>
              <a:rPr sz="1600" b="1">
                <a:solidFill>
                  <a:srgbClr val="FFFFFF"/>
                </a:solidFill>
                <a:latin typeface="맑은 고딕"/>
              </a:rPr>
              <a:t>Oracle Database 19c 성능 튜닝 실무 과정</a:t>
            </a:r>
          </a:p>
        </p:txBody>
      </p:sp>
      <p:sp>
        <p:nvSpPr>
          <p:cNvPr id="6" name="TextBox 5"/>
          <p:cNvSpPr txBox="1"/>
          <p:nvPr/>
        </p:nvSpPr>
        <p:spPr>
          <a:xfrm>
            <a:off x="731520" y="2377440"/>
            <a:ext cx="10698480" cy="1554480"/>
          </a:xfrm>
          <a:prstGeom prst="rect">
            <a:avLst/>
          </a:prstGeom>
          <a:noFill/>
        </p:spPr>
        <p:txBody>
          <a:bodyPr wrap="square" anchor="t">
            <a:spAutoFit/>
          </a:bodyPr>
          <a:lstStyle/>
          <a:p>
            <a:pPr algn="l"/>
            <a:r>
              <a:rPr sz="3400" b="1">
                <a:solidFill>
                  <a:srgbClr val="C0392B"/>
                </a:solidFill>
                <a:latin typeface="맑은 고딕"/>
              </a:rPr>
              <a:t>통계 수집 ① 자동 수집과 AWR 인프라</a:t>
            </a:r>
          </a:p>
          <a:p>
            <a:pPr algn="l"/>
            <a:r>
              <a:rPr sz="2000" b="0">
                <a:solidFill>
                  <a:srgbClr val="5A6672"/>
                </a:solidFill>
                <a:latin typeface="맑은 고딕"/>
              </a:rPr>
              <a:t>Gathering Database Statistics — 무엇을 얼마나 오래 기억할 것인가</a:t>
            </a:r>
          </a:p>
        </p:txBody>
      </p:sp>
      <p:sp>
        <p:nvSpPr>
          <p:cNvPr id="7" name="TextBox 6"/>
          <p:cNvSpPr txBox="1"/>
          <p:nvPr/>
        </p:nvSpPr>
        <p:spPr>
          <a:xfrm>
            <a:off x="731520" y="4114800"/>
            <a:ext cx="10698480" cy="1097280"/>
          </a:xfrm>
          <a:prstGeom prst="rect">
            <a:avLst/>
          </a:prstGeom>
          <a:noFill/>
        </p:spPr>
        <p:txBody>
          <a:bodyPr wrap="square" anchor="t">
            <a:spAutoFit/>
          </a:bodyPr>
          <a:lstStyle/>
          <a:p>
            <a:pPr algn="l"/>
            <a:r>
              <a:rPr sz="1500" b="0">
                <a:solidFill>
                  <a:srgbClr val="5A6672"/>
                </a:solidFill>
                <a:latin typeface="맑은 고딕"/>
              </a:rPr>
              <a:t>AWR 스냅샷 주기·보존 · 베이스라인 · SYSAUX 용량 · Statspack 대안  🔒 Diagnostics Pack</a:t>
            </a:r>
          </a:p>
        </p:txBody>
      </p:sp>
      <p:sp>
        <p:nvSpPr>
          <p:cNvPr id="8" name="TextBox 7"/>
          <p:cNvSpPr txBox="1"/>
          <p:nvPr/>
        </p:nvSpPr>
        <p:spPr>
          <a:xfrm>
            <a:off x="731520" y="5577840"/>
            <a:ext cx="10698480" cy="914400"/>
          </a:xfrm>
          <a:prstGeom prst="rect">
            <a:avLst/>
          </a:prstGeom>
          <a:noFill/>
        </p:spPr>
        <p:txBody>
          <a:bodyPr wrap="square" anchor="t">
            <a:spAutoFit/>
          </a:bodyPr>
          <a:lstStyle/>
          <a:p>
            <a:pPr algn="l"/>
            <a:r>
              <a:rPr sz="2000" b="1">
                <a:solidFill>
                  <a:srgbClr val="C0392B"/>
                </a:solidFill>
                <a:latin typeface="맑은 고딕"/>
              </a:rPr>
              <a:t>ch20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학습 목표 (Objectives)</a:t>
            </a:r>
          </a:p>
        </p:txBody>
      </p:sp>
      <p:sp>
        <p:nvSpPr>
          <p:cNvPr id="4" name="TextBox 3"/>
          <p:cNvSpPr txBox="1"/>
          <p:nvPr/>
        </p:nvSpPr>
        <p:spPr>
          <a:xfrm>
            <a:off x="640080" y="1371600"/>
            <a:ext cx="10881360" cy="5120640"/>
          </a:xfrm>
          <a:prstGeom prst="rect">
            <a:avLst/>
          </a:prstGeom>
          <a:noFill/>
        </p:spPr>
        <p:txBody>
          <a:bodyPr wrap="square" anchor="t">
            <a:spAutoFit/>
          </a:bodyPr>
          <a:lstStyle/>
          <a:p>
            <a:pPr algn="l">
              <a:spcAft>
                <a:spcPts val="600"/>
              </a:spcAft>
            </a:pPr>
            <a:r>
              <a:rPr sz="1600" b="0">
                <a:solidFill>
                  <a:srgbClr val="222222"/>
                </a:solidFill>
                <a:latin typeface="맑은 고딕"/>
              </a:rPr>
              <a:t>•  AWR이 무엇을 수집해 어디에 저장하는지, 스냅샷·베이스라인·이동 윈도우의 관계를 그린다.</a:t>
            </a:r>
          </a:p>
          <a:p>
            <a:pPr algn="l">
              <a:spcAft>
                <a:spcPts val="600"/>
              </a:spcAft>
            </a:pPr>
            <a:r>
              <a:rPr sz="1600" b="0">
                <a:solidFill>
                  <a:srgbClr val="222222"/>
                </a:solidFill>
                <a:latin typeface="맑은 고딕"/>
              </a:rPr>
              <a:t>•  DBA_HIST_WR_CONTROL로 주기·보존을 확인하고 MODIFY_SNAPSHOT_SETTINGS로 변경한다.</a:t>
            </a:r>
          </a:p>
          <a:p>
            <a:pPr algn="l">
              <a:spcAft>
                <a:spcPts val="600"/>
              </a:spcAft>
            </a:pPr>
            <a:r>
              <a:rPr sz="1600" b="0">
                <a:solidFill>
                  <a:srgbClr val="222222"/>
                </a:solidFill>
                <a:latin typeface="맑은 고딕"/>
              </a:rPr>
              <a:t>•  CREATE_SNAPSHOT으로 부하 구간 앞뒤에 수동 스냅샷 쌍을 확보한다(실습: 295~296).</a:t>
            </a:r>
          </a:p>
          <a:p>
            <a:pPr algn="l">
              <a:spcAft>
                <a:spcPts val="600"/>
              </a:spcAft>
            </a:pPr>
            <a:r>
              <a:rPr sz="1600" b="0">
                <a:solidFill>
                  <a:srgbClr val="222222"/>
                </a:solidFill>
                <a:latin typeface="맑은 고딕"/>
              </a:rPr>
              <a:t>•  고정·이동 윈도우 베이스라인을 구분하고 필요한 구간을 보호·조회·삭제한다.</a:t>
            </a:r>
          </a:p>
          <a:p>
            <a:pPr algn="l">
              <a:spcAft>
                <a:spcPts val="600"/>
              </a:spcAft>
            </a:pPr>
            <a:r>
              <a:rPr sz="1600" b="0">
                <a:solidFill>
                  <a:srgbClr val="222222"/>
                </a:solidFill>
                <a:latin typeface="맑은 고딕"/>
              </a:rPr>
              <a:t>•  V$SYSAUX_OCCUPANTS로 SM/AWR 점유(281.9MB)를 추적하고 안전하게 정리한다.</a:t>
            </a:r>
          </a:p>
          <a:p>
            <a:pPr algn="l">
              <a:spcAft>
                <a:spcPts val="600"/>
              </a:spcAft>
            </a:pPr>
            <a:r>
              <a:rPr sz="1600" b="0">
                <a:solidFill>
                  <a:srgbClr val="222222"/>
                </a:solidFill>
                <a:latin typeface="맑은 고딕"/>
              </a:rPr>
              <a:t>•  보존 초과로 데이터가 사라지기 전에 사고 구간을 베이스라인으로 얼려 둔다.</a:t>
            </a:r>
          </a:p>
          <a:p>
            <a:pPr algn="l">
              <a:spcAft>
                <a:spcPts val="600"/>
              </a:spcAft>
            </a:pPr>
            <a:r>
              <a:rPr sz="1600" b="0">
                <a:solidFill>
                  <a:srgbClr val="222222"/>
                </a:solidFill>
                <a:latin typeface="맑은 고딕"/>
              </a:rPr>
              <a:t>•  라이선스가 없으면 Statspack·V$ 델타로 같은 것을 본다.  🔒 이 장 전체가 Diagnostics Pack 대상.</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이 장의 구성 (Agenda)</a:t>
            </a:r>
          </a:p>
        </p:txBody>
      </p:sp>
      <p:sp>
        <p:nvSpPr>
          <p:cNvPr id="4" name="TextBox 3"/>
          <p:cNvSpPr txBox="1"/>
          <p:nvPr/>
        </p:nvSpPr>
        <p:spPr>
          <a:xfrm>
            <a:off x="640080" y="1371600"/>
            <a:ext cx="10881360" cy="5120640"/>
          </a:xfrm>
          <a:prstGeom prst="rect">
            <a:avLst/>
          </a:prstGeom>
          <a:noFill/>
        </p:spPr>
        <p:txBody>
          <a:bodyPr wrap="square" anchor="t">
            <a:spAutoFit/>
          </a:bodyPr>
          <a:lstStyle/>
          <a:p>
            <a:pPr algn="l">
              <a:spcAft>
                <a:spcPts val="600"/>
              </a:spcAft>
            </a:pPr>
            <a:r>
              <a:rPr sz="1600" b="0">
                <a:solidFill>
                  <a:srgbClr val="222222"/>
                </a:solidFill>
                <a:latin typeface="맑은 고딕"/>
              </a:rPr>
              <a:t>•  6.2  AWR 인프라 개요 — 무엇을 기억하는가</a:t>
            </a:r>
          </a:p>
          <a:p>
            <a:pPr algn="l">
              <a:spcAft>
                <a:spcPts val="600"/>
              </a:spcAft>
            </a:pPr>
            <a:r>
              <a:rPr sz="1600" b="0">
                <a:solidFill>
                  <a:srgbClr val="222222"/>
                </a:solidFill>
                <a:latin typeface="맑은 고딕"/>
              </a:rPr>
              <a:t>•  6.3  스냅샷 — 주기와 보존을 정한다</a:t>
            </a:r>
          </a:p>
          <a:p>
            <a:pPr algn="l">
              <a:spcAft>
                <a:spcPts val="600"/>
              </a:spcAft>
            </a:pPr>
            <a:r>
              <a:rPr sz="1600" b="0">
                <a:solidFill>
                  <a:srgbClr val="222222"/>
                </a:solidFill>
                <a:latin typeface="맑은 고딕"/>
              </a:rPr>
              <a:t>•  6.4  수동 스냅샷 — 부하 구간을 손으로 감싼다</a:t>
            </a:r>
          </a:p>
          <a:p>
            <a:pPr algn="l">
              <a:spcAft>
                <a:spcPts val="600"/>
              </a:spcAft>
            </a:pPr>
            <a:r>
              <a:rPr sz="1600" b="0">
                <a:solidFill>
                  <a:srgbClr val="222222"/>
                </a:solidFill>
                <a:latin typeface="맑은 고딕"/>
              </a:rPr>
              <a:t>•  6.5  AWR 베이스라인 — 필요한 구간을 보호한다</a:t>
            </a:r>
          </a:p>
          <a:p>
            <a:pPr algn="l">
              <a:spcAft>
                <a:spcPts val="600"/>
              </a:spcAft>
            </a:pPr>
            <a:r>
              <a:rPr sz="1600" b="0">
                <a:solidFill>
                  <a:srgbClr val="222222"/>
                </a:solidFill>
                <a:latin typeface="맑은 고딕"/>
              </a:rPr>
              <a:t>•  6.6  SYSAUX 용량 관리 — AWR이 차지하는 공간</a:t>
            </a:r>
          </a:p>
          <a:p>
            <a:pPr algn="l">
              <a:spcAft>
                <a:spcPts val="600"/>
              </a:spcAft>
            </a:pPr>
            <a:r>
              <a:rPr sz="1600" b="0">
                <a:solidFill>
                  <a:srgbClr val="222222"/>
                </a:solidFill>
                <a:latin typeface="맑은 고딕"/>
              </a:rPr>
              <a:t>•  6.7  보존 기간 초과와 데이터 소실</a:t>
            </a:r>
          </a:p>
          <a:p>
            <a:pPr algn="l">
              <a:spcAft>
                <a:spcPts val="600"/>
              </a:spcAft>
            </a:pPr>
            <a:r>
              <a:rPr sz="1600" b="0">
                <a:solidFill>
                  <a:srgbClr val="222222"/>
                </a:solidFill>
                <a:latin typeface="맑은 고딕"/>
              </a:rPr>
              <a:t>•  6.8  Statspack — 라이선스 없는 환경의 대안</a:t>
            </a:r>
          </a:p>
          <a:p>
            <a:pPr algn="l">
              <a:spcAft>
                <a:spcPts val="600"/>
              </a:spcAft>
            </a:pPr>
            <a:r>
              <a:rPr sz="1600" b="0">
                <a:solidFill>
                  <a:srgbClr val="222222"/>
                </a:solidFill>
                <a:latin typeface="맑은 고딕"/>
              </a:rPr>
              <a:t>•  ※ ADMIN 31장의 AWR·스냅샷 개념 소개를 인프라 운영으로 확장</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rPr>
              <a:t>6.2</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1">
                <a:solidFill>
                  <a:srgbClr val="FFFFFF"/>
                </a:solidFill>
                <a:latin typeface="맑은 고딕"/>
              </a:rPr>
              <a:t>AWR 인프라 개요</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nchor="t">
            <a:spAutoFit/>
          </a:bodyPr>
          <a:lstStyle/>
          <a:p>
            <a:pPr algn="l"/>
            <a:r>
              <a:rPr sz="1600" b="0">
                <a:solidFill>
                  <a:srgbClr val="FFFFFF"/>
                </a:solidFill>
                <a:latin typeface="맑은 고딕"/>
              </a:rPr>
              <a:t>•  V$는 휘발성 · AWR은 영구 기억</a:t>
            </a:r>
          </a:p>
          <a:p>
            <a:pPr algn="l"/>
            <a:r>
              <a:rPr sz="1600" b="0">
                <a:solidFill>
                  <a:srgbClr val="FFFFFF"/>
                </a:solidFill>
                <a:latin typeface="맑은 고딕"/>
              </a:rPr>
              <a:t>•  무엇을 수집해 어디에 저장하는가</a:t>
            </a:r>
          </a:p>
          <a:p>
            <a:pPr algn="l"/>
            <a:r>
              <a:rPr sz="1600" b="0">
                <a:solidFill>
                  <a:srgbClr val="FFFFFF"/>
                </a:solidFill>
                <a:latin typeface="맑은 고딕"/>
              </a:rPr>
              <a:t>•  누적값과 델타</a:t>
            </a:r>
          </a:p>
          <a:p>
            <a:pPr algn="l"/>
            <a:r>
              <a:rPr sz="1600" b="0">
                <a:solidFill>
                  <a:srgbClr val="FFFFFF"/>
                </a:solidFill>
                <a:latin typeface="맑은 고딕"/>
              </a:rPr>
              <a:t>•  스냅샷·베이스라인·이동 윈도우</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왜 V$만으로는 부족한가</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AWR이 메우는 두 한계</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600"/>
              </a:spcAft>
            </a:pPr>
            <a:r>
              <a:rPr sz="1700" b="0">
                <a:solidFill>
                  <a:srgbClr val="222222"/>
                </a:solidFill>
                <a:latin typeface="맑은 고딕"/>
              </a:rPr>
              <a:t>•  V$ 뷰 = 지금 이 순간(누적 또는 최근 몇 초)의 상태</a:t>
            </a:r>
          </a:p>
          <a:p>
            <a:pPr algn="l">
              <a:spcAft>
                <a:spcPts val="600"/>
              </a:spcAft>
            </a:pPr>
            <a:r>
              <a:rPr sz="1700" b="0">
                <a:solidFill>
                  <a:srgbClr val="222222"/>
                </a:solidFill>
                <a:latin typeface="맑은 고딕"/>
              </a:rPr>
              <a:t>•  한계1: 재기동하면 0으로 초기화 → 과거 소실</a:t>
            </a:r>
          </a:p>
          <a:p>
            <a:pPr algn="l">
              <a:spcAft>
                <a:spcPts val="600"/>
              </a:spcAft>
            </a:pPr>
            <a:r>
              <a:rPr sz="1700" b="0">
                <a:solidFill>
                  <a:srgbClr val="222222"/>
                </a:solidFill>
                <a:latin typeface="맑은 고딕"/>
              </a:rPr>
              <a:t>•  한계2: 살아 있어도 '지난 화요일 3시'를 되짚을 수 없다</a:t>
            </a:r>
          </a:p>
          <a:p>
            <a:pPr algn="l">
              <a:spcAft>
                <a:spcPts val="600"/>
              </a:spcAft>
            </a:pPr>
            <a:r>
              <a:rPr sz="1700" b="0">
                <a:solidFill>
                  <a:srgbClr val="222222"/>
                </a:solidFill>
                <a:latin typeface="맑은 고딕"/>
              </a:rPr>
              <a:t>•  AWR: 주기적으로 V$ 핵심을 떠 디스크에 영구 저장</a:t>
            </a:r>
          </a:p>
          <a:p>
            <a:pPr algn="l">
              <a:spcAft>
                <a:spcPts val="600"/>
              </a:spcAft>
            </a:pPr>
            <a:r>
              <a:rPr sz="1700" b="0">
                <a:solidFill>
                  <a:srgbClr val="222222"/>
                </a:solidFill>
                <a:latin typeface="맑은 고딕"/>
              </a:rPr>
              <a:t>•  재기동에도 살아남고, 과거 구간을 스냅샷 쌍으로 재구성</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AWR이 담는 것 — 누적값과 델타</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스냅샷이라는 봉투</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600"/>
              </a:spcAft>
            </a:pPr>
            <a:r>
              <a:rPr sz="1700" b="0">
                <a:solidFill>
                  <a:srgbClr val="222222"/>
                </a:solidFill>
                <a:latin typeface="맑은 고딕"/>
              </a:rPr>
              <a:t>•  오브젝트·시간 모델·시스템/세션 통계·상위 SQL·ASH</a:t>
            </a:r>
          </a:p>
          <a:p>
            <a:pPr algn="l">
              <a:spcAft>
                <a:spcPts val="600"/>
              </a:spcAft>
            </a:pPr>
            <a:r>
              <a:rPr sz="1700" b="0">
                <a:solidFill>
                  <a:srgbClr val="222222"/>
                </a:solidFill>
                <a:latin typeface="맑은 고딕"/>
              </a:rPr>
              <a:t>•  세션 수준 제외 대부분 통계의 누적값+델타를 보존</a:t>
            </a:r>
          </a:p>
          <a:p>
            <a:pPr algn="l">
              <a:spcAft>
                <a:spcPts val="600"/>
              </a:spcAft>
            </a:pPr>
            <a:r>
              <a:rPr sz="1700" b="0">
                <a:solidFill>
                  <a:srgbClr val="222222"/>
                </a:solidFill>
                <a:latin typeface="맑은 고딕"/>
              </a:rPr>
              <a:t>•  누적값=기동 이후 계속 증가 / 델타=앞 스냅샷과의 차이</a:t>
            </a:r>
          </a:p>
          <a:p>
            <a:pPr algn="l">
              <a:spcAft>
                <a:spcPts val="600"/>
              </a:spcAft>
            </a:pPr>
            <a:r>
              <a:rPr sz="1700" b="0">
                <a:solidFill>
                  <a:srgbClr val="222222"/>
                </a:solidFill>
                <a:latin typeface="맑은 고딕"/>
              </a:rPr>
              <a:t>•  ch19의 '뒤 값-앞 값'을 AWR이 스냅샷마다 자동 저장</a:t>
            </a:r>
          </a:p>
          <a:p>
            <a:pPr algn="l">
              <a:spcAft>
                <a:spcPts val="600"/>
              </a:spcAft>
            </a:pPr>
            <a:r>
              <a:rPr sz="1700" b="0">
                <a:solidFill>
                  <a:srgbClr val="222222"/>
                </a:solidFill>
                <a:latin typeface="맑은 고딕"/>
              </a:rPr>
              <a:t>•  보고서가 '구간'을 지정하면 값이 나오는 이유</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스냅샷 · 베이스라인 · 이동 윈도우</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세 개념을 시간 축으로</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600"/>
              </a:spcAft>
            </a:pPr>
            <a:r>
              <a:rPr sz="1700" b="0">
                <a:solidFill>
                  <a:srgbClr val="222222"/>
                </a:solidFill>
                <a:latin typeface="맑은 고딕"/>
              </a:rPr>
              <a:t>•  스냅샷 = 시간 선 위에 60분마다 찍히는 점</a:t>
            </a:r>
          </a:p>
          <a:p>
            <a:pPr algn="l">
              <a:spcAft>
                <a:spcPts val="600"/>
              </a:spcAft>
            </a:pPr>
            <a:r>
              <a:rPr sz="1700" b="0">
                <a:solidFill>
                  <a:srgbClr val="222222"/>
                </a:solidFill>
                <a:latin typeface="맑은 고딕"/>
              </a:rPr>
              <a:t>•  이동 윈도우 = 항상 최근 8일을 덮는(왼쪽 끝이 밀려가는) 구간</a:t>
            </a:r>
          </a:p>
          <a:p>
            <a:pPr algn="l">
              <a:spcAft>
                <a:spcPts val="600"/>
              </a:spcAft>
            </a:pPr>
            <a:r>
              <a:rPr sz="1700" b="0">
                <a:solidFill>
                  <a:srgbClr val="222222"/>
                </a:solidFill>
                <a:latin typeface="맑은 고딕"/>
              </a:rPr>
              <a:t>•  고정 베이스라인 = 사람이 못 박은, 움직이지 않는 구간</a:t>
            </a:r>
          </a:p>
          <a:p>
            <a:pPr algn="l">
              <a:spcAft>
                <a:spcPts val="600"/>
              </a:spcAft>
            </a:pPr>
            <a:r>
              <a:rPr sz="1700" b="0">
                <a:solidFill>
                  <a:srgbClr val="222222"/>
                </a:solidFill>
                <a:latin typeface="맑은 고딕"/>
              </a:rPr>
              <a:t>•  이동 윈도우가 지나가며 오래된 점을 지워도…</a:t>
            </a:r>
          </a:p>
          <a:p>
            <a:pPr algn="l">
              <a:spcAft>
                <a:spcPts val="600"/>
              </a:spcAft>
            </a:pPr>
            <a:r>
              <a:rPr sz="1700" b="0">
                <a:solidFill>
                  <a:srgbClr val="222222"/>
                </a:solidFill>
                <a:latin typeface="맑은 고딕"/>
              </a:rPr>
              <a:t>•  고정 베이스라인이 감싼 점은 못이 박혀 지워지지 않는다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AWR 데이터를 읽는 뷰 — DBA_HIST_*</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V$로 지금을, DBA_HIST_로 과거를</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600"/>
              </a:spcAft>
            </a:pPr>
            <a:r>
              <a:rPr sz="1700" b="0">
                <a:solidFill>
                  <a:srgbClr val="222222"/>
                </a:solidFill>
                <a:latin typeface="맑은 고딕"/>
              </a:rPr>
              <a:t>•  DBA_HIST_SNAPSHOT — 스냅샷 목록</a:t>
            </a:r>
          </a:p>
          <a:p>
            <a:pPr algn="l">
              <a:spcAft>
                <a:spcPts val="600"/>
              </a:spcAft>
            </a:pPr>
            <a:r>
              <a:rPr sz="1700" b="0">
                <a:solidFill>
                  <a:srgbClr val="222222"/>
                </a:solidFill>
                <a:latin typeface="맑은 고딕"/>
              </a:rPr>
              <a:t>•  DBA_HIST_WR_CONTROL — 현재 주기·보존 설정</a:t>
            </a:r>
          </a:p>
          <a:p>
            <a:pPr algn="l">
              <a:spcAft>
                <a:spcPts val="600"/>
              </a:spcAft>
            </a:pPr>
            <a:r>
              <a:rPr sz="1700" b="0">
                <a:solidFill>
                  <a:srgbClr val="222222"/>
                </a:solidFill>
                <a:latin typeface="맑은 고딕"/>
              </a:rPr>
              <a:t>•  DBA_HIST_BASELINE / _DETAILS / _TEMPLATE — 베이스라인</a:t>
            </a:r>
          </a:p>
          <a:p>
            <a:pPr algn="l">
              <a:spcAft>
                <a:spcPts val="600"/>
              </a:spcAft>
            </a:pPr>
            <a:r>
              <a:rPr sz="1700" b="0">
                <a:solidFill>
                  <a:srgbClr val="222222"/>
                </a:solidFill>
                <a:latin typeface="맑은 고딕"/>
              </a:rPr>
              <a:t>•  V$SYSSTAT ↔ DBA_HIST_SYSSTAT (역사가 짝을 이룬다)</a:t>
            </a:r>
          </a:p>
          <a:p>
            <a:pPr algn="l">
              <a:spcAft>
                <a:spcPts val="600"/>
              </a:spcAft>
            </a:pPr>
            <a:r>
              <a:rPr sz="1700" b="0">
                <a:solidFill>
                  <a:srgbClr val="222222"/>
                </a:solidFill>
                <a:latin typeface="맑은 고딕"/>
              </a:rPr>
              <a:t>•  라이선스 없어 못 쓰면 → V$를 두 번 찍어 델타 계산</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rPr>
              <a:t>6.3</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1">
                <a:solidFill>
                  <a:srgbClr val="FFFFFF"/>
                </a:solidFill>
                <a:latin typeface="맑은 고딕"/>
              </a:rPr>
              <a:t>스냅샷 — 주기와 보존</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nchor="t">
            <a:spAutoFit/>
          </a:bodyPr>
          <a:lstStyle/>
          <a:p>
            <a:pPr algn="l"/>
            <a:r>
              <a:rPr sz="1600" b="0">
                <a:solidFill>
                  <a:srgbClr val="FFFFFF"/>
                </a:solidFill>
                <a:latin typeface="맑은 고딕"/>
              </a:rPr>
              <a:t>•  기본 60분 주기 · 8일 보존</a:t>
            </a:r>
          </a:p>
          <a:p>
            <a:pPr algn="l"/>
            <a:r>
              <a:rPr sz="1600" b="0">
                <a:solidFill>
                  <a:srgbClr val="FFFFFF"/>
                </a:solidFill>
                <a:latin typeface="맑은 고딕"/>
              </a:rPr>
              <a:t>•  DBA_HIST_WR_CONTROL로 확인</a:t>
            </a:r>
          </a:p>
          <a:p>
            <a:pPr algn="l"/>
            <a:r>
              <a:rPr sz="1600" b="0">
                <a:solidFill>
                  <a:srgbClr val="FFFFFF"/>
                </a:solidFill>
                <a:latin typeface="맑은 고딕"/>
              </a:rPr>
              <a:t>•  MODIFY_SNAPSHOT_SETTINGS(분 단위)</a:t>
            </a:r>
          </a:p>
          <a:p>
            <a:pPr algn="l"/>
            <a:r>
              <a:rPr sz="1600" b="0">
                <a:solidFill>
                  <a:srgbClr val="FFFFFF"/>
                </a:solidFill>
                <a:latin typeface="맑은 고딕"/>
              </a:rPr>
              <a:t>•  보존은 워크로드 주기에서 나온다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현재 설정 확인</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DBA_HIST_WR_CONTROL (실측)</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ctr">
              <a:spcBef>
                <a:spcPts val="0"/>
              </a:spcBef>
              <a:spcAft>
                <a:spcPts val="0"/>
              </a:spcAft>
            </a:pPr>
            <a:r>
              <a:rPr sz="1250">
                <a:solidFill>
                  <a:srgbClr val="F2F2F2"/>
                </a:solidFill>
                <a:latin typeface="Consolas"/>
              </a:rPr>
              <a:t>SYS@orcl&gt; SELECT snap_interval, retention, topnsql</a:t>
            </a:r>
          </a:p>
          <a:p>
            <a:pPr>
              <a:spcBef>
                <a:spcPts val="0"/>
              </a:spcBef>
              <a:spcAft>
                <a:spcPts val="0"/>
              </a:spcAft>
            </a:pPr>
            <a:r>
              <a:rPr sz="1250">
                <a:solidFill>
                  <a:srgbClr val="F2F2F2"/>
                </a:solidFill>
                <a:latin typeface="Consolas"/>
              </a:rPr>
              <a:t>  2       FROM dba_hist_wr_control;</a:t>
            </a:r>
          </a:p>
          <a:p>
            <a:pPr>
              <a:spcBef>
                <a:spcPts val="0"/>
              </a:spcBef>
              <a:spcAft>
                <a:spcPts val="0"/>
              </a:spcAft>
            </a:pPr>
            <a:r>
              <a:rPr sz="1250">
                <a:solidFill>
                  <a:srgbClr val="F2F2F2"/>
                </a:solidFill>
                <a:latin typeface="Consolas"/>
              </a:rPr>
              <a:t> </a:t>
            </a:r>
          </a:p>
          <a:p>
            <a:pPr>
              <a:spcBef>
                <a:spcPts val="0"/>
              </a:spcBef>
              <a:spcAft>
                <a:spcPts val="0"/>
              </a:spcAft>
            </a:pPr>
            <a:r>
              <a:rPr sz="1250">
                <a:solidFill>
                  <a:srgbClr val="F2F2F2"/>
                </a:solidFill>
                <a:latin typeface="Consolas"/>
              </a:rPr>
              <a:t>SNAP_INTERVAL         RETENTION             TOPNSQL</a:t>
            </a:r>
          </a:p>
          <a:p>
            <a:pPr>
              <a:spcBef>
                <a:spcPts val="0"/>
              </a:spcBef>
              <a:spcAft>
                <a:spcPts val="0"/>
              </a:spcAft>
            </a:pPr>
            <a:r>
              <a:rPr sz="1250">
                <a:solidFill>
                  <a:srgbClr val="F2F2F2"/>
                </a:solidFill>
                <a:latin typeface="Consolas"/>
              </a:rPr>
              <a:t>--------------------  --------------------  --------</a:t>
            </a:r>
          </a:p>
          <a:p>
            <a:pPr>
              <a:spcBef>
                <a:spcPts val="0"/>
              </a:spcBef>
              <a:spcAft>
                <a:spcPts val="0"/>
              </a:spcAft>
            </a:pPr>
            <a:r>
              <a:rPr sz="1250">
                <a:solidFill>
                  <a:srgbClr val="F2F2F2"/>
                </a:solidFill>
                <a:latin typeface="Consolas"/>
              </a:rPr>
              <a:t>+00000 01:00:00.0     +00008 00:00:00.0     DEFAULT</a:t>
            </a:r>
          </a:p>
          <a:p>
            <a:pPr>
              <a:spcBef>
                <a:spcPts val="0"/>
              </a:spcBef>
              <a:spcAft>
                <a:spcPts val="0"/>
              </a:spcAft>
            </a:pPr>
            <a:r>
              <a:rPr sz="1250">
                <a:solidFill>
                  <a:srgbClr val="F2F2F2"/>
                </a:solidFill>
                <a:latin typeface="Consolas"/>
              </a:rPr>
              <a:t> </a:t>
            </a:r>
          </a:p>
          <a:p>
            <a:pPr>
              <a:spcBef>
                <a:spcPts val="0"/>
              </a:spcBef>
              <a:spcAft>
                <a:spcPts val="0"/>
              </a:spcAft>
            </a:pPr>
            <a:r>
              <a:rPr sz="1250">
                <a:solidFill>
                  <a:srgbClr val="F2F2F2"/>
                </a:solidFill>
                <a:latin typeface="Consolas"/>
              </a:rPr>
              <a:t>-- +00000 01:00:00.0 = 60분 (주기)</a:t>
            </a:r>
          </a:p>
          <a:p>
            <a:pPr>
              <a:spcBef>
                <a:spcPts val="0"/>
              </a:spcBef>
              <a:spcAft>
                <a:spcPts val="0"/>
              </a:spcAft>
            </a:pPr>
            <a:r>
              <a:rPr sz="1250">
                <a:solidFill>
                  <a:srgbClr val="F2F2F2"/>
                </a:solidFill>
                <a:latin typeface="Consolas"/>
              </a:rPr>
              <a:t>-- +00008 00:00:00.0 = 8일  (보존)  → 기본값 그대로</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설정 변경</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MODIFY_SNAPSHOT_SETTINGS (분 단위)</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ctr">
              <a:spcBef>
                <a:spcPts val="0"/>
              </a:spcBef>
              <a:spcAft>
                <a:spcPts val="0"/>
              </a:spcAft>
            </a:pPr>
            <a:r>
              <a:rPr sz="1250">
                <a:solidFill>
                  <a:srgbClr val="F2F2F2"/>
                </a:solidFill>
                <a:latin typeface="Consolas"/>
              </a:rPr>
              <a:t>SYS@orcl&gt; BEGIN</a:t>
            </a:r>
          </a:p>
          <a:p>
            <a:pPr>
              <a:spcBef>
                <a:spcPts val="0"/>
              </a:spcBef>
              <a:spcAft>
                <a:spcPts val="0"/>
              </a:spcAft>
            </a:pPr>
            <a:r>
              <a:rPr sz="1250">
                <a:solidFill>
                  <a:srgbClr val="F2F2F2"/>
                </a:solidFill>
                <a:latin typeface="Consolas"/>
              </a:rPr>
              <a:t>  2    DBMS_WORKLOAD_REPOSITORY.MODIFY_SNAPSHOT_SETTINGS(</a:t>
            </a:r>
          </a:p>
          <a:p>
            <a:pPr>
              <a:spcBef>
                <a:spcPts val="0"/>
              </a:spcBef>
              <a:spcAft>
                <a:spcPts val="0"/>
              </a:spcAft>
            </a:pPr>
            <a:r>
              <a:rPr sz="1250">
                <a:solidFill>
                  <a:srgbClr val="F2F2F2"/>
                </a:solidFill>
                <a:latin typeface="Consolas"/>
              </a:rPr>
              <a:t>  3        retention =&gt; 43200,  -- 분. 30일</a:t>
            </a:r>
          </a:p>
          <a:p>
            <a:pPr>
              <a:spcBef>
                <a:spcPts val="0"/>
              </a:spcBef>
              <a:spcAft>
                <a:spcPts val="0"/>
              </a:spcAft>
            </a:pPr>
            <a:r>
              <a:rPr sz="1250">
                <a:solidFill>
                  <a:srgbClr val="F2F2F2"/>
                </a:solidFill>
                <a:latin typeface="Consolas"/>
              </a:rPr>
              <a:t>  4        interval  =&gt; 30,     -- 분. 30분마다</a:t>
            </a:r>
          </a:p>
          <a:p>
            <a:pPr>
              <a:spcBef>
                <a:spcPts val="0"/>
              </a:spcBef>
              <a:spcAft>
                <a:spcPts val="0"/>
              </a:spcAft>
            </a:pPr>
            <a:r>
              <a:rPr sz="1250">
                <a:solidFill>
                  <a:srgbClr val="F2F2F2"/>
                </a:solidFill>
                <a:latin typeface="Consolas"/>
              </a:rPr>
              <a:t>  5        topnsql   =&gt; 100);   -- 상위 SQL 100개</a:t>
            </a:r>
          </a:p>
          <a:p>
            <a:pPr>
              <a:spcBef>
                <a:spcPts val="0"/>
              </a:spcBef>
              <a:spcAft>
                <a:spcPts val="0"/>
              </a:spcAft>
            </a:pPr>
            <a:r>
              <a:rPr sz="1250">
                <a:solidFill>
                  <a:srgbClr val="F2F2F2"/>
                </a:solidFill>
                <a:latin typeface="Consolas"/>
              </a:rPr>
              <a:t>  6  END;</a:t>
            </a:r>
          </a:p>
          <a:p>
            <a:pPr>
              <a:spcBef>
                <a:spcPts val="0"/>
              </a:spcBef>
              <a:spcAft>
                <a:spcPts val="0"/>
              </a:spcAft>
            </a:pPr>
            <a:r>
              <a:rPr sz="1250">
                <a:solidFill>
                  <a:srgbClr val="F2F2F2"/>
                </a:solidFill>
                <a:latin typeface="Consolas"/>
              </a:rPr>
              <a:t>  7  /</a:t>
            </a:r>
          </a:p>
          <a:p>
            <a:pPr>
              <a:spcBef>
                <a:spcPts val="0"/>
              </a:spcBef>
              <a:spcAft>
                <a:spcPts val="0"/>
              </a:spcAft>
            </a:pPr>
            <a:r>
              <a:rPr sz="1250">
                <a:solidFill>
                  <a:srgbClr val="F2F2F2"/>
                </a:solidFill>
                <a:latin typeface="Consolas"/>
              </a:rPr>
              <a:t>PL/SQL procedure successfully completed.</a:t>
            </a:r>
          </a:p>
          <a:p>
            <a:pPr>
              <a:spcBef>
                <a:spcPts val="0"/>
              </a:spcBef>
              <a:spcAft>
                <a:spcPts val="0"/>
              </a:spcAft>
            </a:pPr>
            <a:r>
              <a:rPr sz="1250">
                <a:solidFill>
                  <a:srgbClr val="F2F2F2"/>
                </a:solidFill>
                <a:latin typeface="Consolas"/>
              </a:rPr>
              <a:t> </a:t>
            </a:r>
          </a:p>
          <a:p>
            <a:pPr>
              <a:spcBef>
                <a:spcPts val="0"/>
              </a:spcBef>
              <a:spcAft>
                <a:spcPts val="0"/>
              </a:spcAft>
            </a:pPr>
            <a:r>
              <a:rPr sz="1250">
                <a:solidFill>
                  <a:srgbClr val="F2F2F2"/>
                </a:solidFill>
                <a:latin typeface="Consolas"/>
              </a:rPr>
              <a:t>-- 필요한 인자만 골라 넘길 수 있다(예: retention만)</a:t>
            </a:r>
          </a:p>
          <a:p>
            <a:pPr>
              <a:spcBef>
                <a:spcPts val="0"/>
              </a:spcBef>
              <a:spcAft>
                <a:spcPts val="0"/>
              </a:spcAft>
            </a:pPr>
            <a:r>
              <a:rPr sz="1250">
                <a:solidFill>
                  <a:srgbClr val="F2F2F2"/>
                </a:solidFill>
                <a:latin typeface="Consolas"/>
              </a:rPr>
              <a:t>-- 변경 후 반드시 DBA_HIST_WR_CONTROL 재조회로 확인</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보존 기간을 얼마로 잡을 것인가</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감이 아니라 워크로드 주기에서</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600"/>
              </a:spcAft>
            </a:pPr>
            <a:r>
              <a:rPr sz="1700" b="0">
                <a:solidFill>
                  <a:srgbClr val="222222"/>
                </a:solidFill>
                <a:latin typeface="맑은 고딕"/>
              </a:rPr>
              <a:t>•  원칙: 최소한 하나의 완전한 워크로드 주기를 담을 만큼</a:t>
            </a:r>
          </a:p>
          <a:p>
            <a:pPr algn="l">
              <a:spcAft>
                <a:spcPts val="600"/>
              </a:spcAft>
            </a:pPr>
            <a:r>
              <a:rPr sz="1700" b="0">
                <a:solidFill>
                  <a:srgbClr val="222222"/>
                </a:solidFill>
                <a:latin typeface="맑은 고딕"/>
              </a:rPr>
              <a:t>•  주중 OLTP·주말 배치 = 주 단위 → 기본 8일이면 충분</a:t>
            </a:r>
          </a:p>
          <a:p>
            <a:pPr algn="l">
              <a:spcAft>
                <a:spcPts val="600"/>
              </a:spcAft>
            </a:pPr>
            <a:r>
              <a:rPr sz="1700" b="0">
                <a:solidFill>
                  <a:srgbClr val="222222"/>
                </a:solidFill>
                <a:latin typeface="맑은 고딕"/>
              </a:rPr>
              <a:t>•  월말 결산 = 월 단위 피크 → 보존을 한 달로</a:t>
            </a:r>
          </a:p>
          <a:p>
            <a:pPr algn="l">
              <a:spcAft>
                <a:spcPts val="600"/>
              </a:spcAft>
            </a:pPr>
            <a:r>
              <a:rPr sz="1700" b="0">
                <a:solidFill>
                  <a:srgbClr val="222222"/>
                </a:solidFill>
                <a:latin typeface="맑은 고딕"/>
              </a:rPr>
              <a:t>•  보존↓ 주의: ADDM·SQL/Undo/Segment Advisor 정확도 저하</a:t>
            </a:r>
          </a:p>
          <a:p>
            <a:pPr algn="l">
              <a:spcAft>
                <a:spcPts val="600"/>
              </a:spcAft>
            </a:pPr>
            <a:r>
              <a:rPr sz="1700" b="0">
                <a:solidFill>
                  <a:srgbClr val="222222"/>
                </a:solidFill>
                <a:latin typeface="맑은 고딕"/>
              </a:rPr>
              <a:t>•  주기·보존·이동윈도우는 한 세트로 설계한다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interval = 0 의 함정</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자동 수집을 끄면 무슨 일이</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600"/>
              </a:spcAft>
            </a:pPr>
            <a:r>
              <a:rPr sz="1700" b="0">
                <a:solidFill>
                  <a:srgbClr val="222222"/>
                </a:solidFill>
                <a:latin typeface="맑은 고딕"/>
              </a:rPr>
              <a:t>•  주기를 0으로 두면 자동 스냅샷 수집이 멈춘다</a:t>
            </a:r>
          </a:p>
          <a:p>
            <a:pPr algn="l">
              <a:spcAft>
                <a:spcPts val="600"/>
              </a:spcAft>
            </a:pPr>
            <a:r>
              <a:rPr sz="1700" b="0">
                <a:solidFill>
                  <a:srgbClr val="222222"/>
                </a:solidFill>
                <a:latin typeface="맑은 고딕"/>
              </a:rPr>
              <a:t>•  워크로드·통계 자동 수집 중단 → 자가 관리 기능 대부분 정지</a:t>
            </a:r>
          </a:p>
          <a:p>
            <a:pPr algn="l">
              <a:spcAft>
                <a:spcPts val="600"/>
              </a:spcAft>
            </a:pPr>
            <a:r>
              <a:rPr sz="1700" b="0">
                <a:solidFill>
                  <a:srgbClr val="222222"/>
                </a:solidFill>
                <a:latin typeface="맑은 고딕"/>
              </a:rPr>
              <a:t>•  수동 스냅샷조차 만들 수 없다</a:t>
            </a:r>
          </a:p>
          <a:p>
            <a:pPr algn="l">
              <a:spcAft>
                <a:spcPts val="600"/>
              </a:spcAft>
            </a:pPr>
            <a:r>
              <a:rPr sz="1700" b="0">
                <a:solidFill>
                  <a:srgbClr val="222222"/>
                </a:solidFill>
                <a:latin typeface="맑은 고딕"/>
              </a:rPr>
              <a:t>•  그래서 오라클은 자동 수집 비활성화를 강력히 권고하지 않음</a:t>
            </a:r>
          </a:p>
          <a:p>
            <a:pPr algn="l">
              <a:spcAft>
                <a:spcPts val="600"/>
              </a:spcAft>
            </a:pPr>
            <a:r>
              <a:rPr sz="1700" b="0">
                <a:solidFill>
                  <a:srgbClr val="222222"/>
                </a:solidFill>
                <a:latin typeface="맑은 고딕"/>
              </a:rPr>
              <a:t>•  '스냅샷 잠깐 끄자' 요청엔 이 부작용부터 설명한다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rPr>
              <a:t>6.4</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1">
                <a:solidFill>
                  <a:srgbClr val="FFFFFF"/>
                </a:solidFill>
                <a:latin typeface="맑은 고딕"/>
              </a:rPr>
              <a:t>수동 스냅샷</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nchor="t">
            <a:spAutoFit/>
          </a:bodyPr>
          <a:lstStyle/>
          <a:p>
            <a:pPr algn="l"/>
            <a:r>
              <a:rPr sz="1600" b="0">
                <a:solidFill>
                  <a:srgbClr val="FFFFFF"/>
                </a:solidFill>
                <a:latin typeface="맑은 고딕"/>
              </a:rPr>
              <a:t>•  부하 구간을 앞뒤로 감싼다</a:t>
            </a:r>
          </a:p>
          <a:p>
            <a:pPr algn="l"/>
            <a:r>
              <a:rPr sz="1600" b="0">
                <a:solidFill>
                  <a:srgbClr val="FFFFFF"/>
                </a:solidFill>
                <a:latin typeface="맑은 고딕"/>
              </a:rPr>
              <a:t>•  CREATE_SNAPSHOT</a:t>
            </a:r>
          </a:p>
          <a:p>
            <a:pPr algn="l"/>
            <a:r>
              <a:rPr sz="1600" b="0">
                <a:solidFill>
                  <a:srgbClr val="FFFFFF"/>
                </a:solidFill>
                <a:latin typeface="맑은 고딕"/>
              </a:rPr>
              <a:t>•  실습: 295 → 부하 → 296</a:t>
            </a:r>
          </a:p>
          <a:p>
            <a:pPr algn="l"/>
            <a:r>
              <a:rPr sz="1600" b="0">
                <a:solidFill>
                  <a:srgbClr val="FFFFFF"/>
                </a:solidFill>
                <a:latin typeface="맑은 고딕"/>
              </a:rPr>
              <a:t>•  한 부하, 세 도구의 일관성</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부하 구간 감싸기</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CREATE_SNAPSHOT (실습 295~296)</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ctr">
              <a:spcBef>
                <a:spcPts val="0"/>
              </a:spcBef>
              <a:spcAft>
                <a:spcPts val="0"/>
              </a:spcAft>
            </a:pPr>
            <a:r>
              <a:rPr sz="1250">
                <a:solidFill>
                  <a:srgbClr val="F2F2F2"/>
                </a:solidFill>
                <a:latin typeface="Consolas"/>
              </a:rPr>
              <a:t>SYS@orcl&gt; EXEC DBMS_WORKLOAD_REPOSITORY.CREATE_SNAPSHOT;   -- 시작</a:t>
            </a:r>
          </a:p>
          <a:p>
            <a:pPr>
              <a:spcBef>
                <a:spcPts val="0"/>
              </a:spcBef>
              <a:spcAft>
                <a:spcPts val="0"/>
              </a:spcAft>
            </a:pPr>
            <a:r>
              <a:rPr sz="1250">
                <a:solidFill>
                  <a:srgbClr val="F2F2F2"/>
                </a:solidFill>
                <a:latin typeface="Consolas"/>
              </a:rPr>
              <a:t>SYS@orcl&gt; SELECT MAX(snap_id) FROM dba_hist_snapshot;  --&gt;  295</a:t>
            </a:r>
          </a:p>
          <a:p>
            <a:pPr>
              <a:spcBef>
                <a:spcPts val="0"/>
              </a:spcBef>
              <a:spcAft>
                <a:spcPts val="0"/>
              </a:spcAft>
            </a:pPr>
            <a:r>
              <a:rPr sz="1250">
                <a:solidFill>
                  <a:srgbClr val="F2F2F2"/>
                </a:solidFill>
                <a:latin typeface="Consolas"/>
              </a:rPr>
              <a:t> </a:t>
            </a:r>
          </a:p>
          <a:p>
            <a:pPr>
              <a:spcBef>
                <a:spcPts val="0"/>
              </a:spcBef>
              <a:spcAft>
                <a:spcPts val="0"/>
              </a:spcAft>
            </a:pPr>
            <a:r>
              <a:rPr sz="1250">
                <a:solidFill>
                  <a:srgbClr val="F2F2F2"/>
                </a:solidFill>
                <a:latin typeface="Consolas"/>
              </a:rPr>
              <a:t>-- (SQLT 세션) @WL_06_mixed.sql  ... 종합 부하 ...</a:t>
            </a:r>
          </a:p>
          <a:p>
            <a:pPr>
              <a:spcBef>
                <a:spcPts val="0"/>
              </a:spcBef>
              <a:spcAft>
                <a:spcPts val="0"/>
              </a:spcAft>
            </a:pPr>
            <a:r>
              <a:rPr sz="1250">
                <a:solidFill>
                  <a:srgbClr val="F2F2F2"/>
                </a:solidFill>
                <a:latin typeface="Consolas"/>
              </a:rPr>
              <a:t> </a:t>
            </a:r>
          </a:p>
          <a:p>
            <a:pPr>
              <a:spcBef>
                <a:spcPts val="0"/>
              </a:spcBef>
              <a:spcAft>
                <a:spcPts val="0"/>
              </a:spcAft>
            </a:pPr>
            <a:r>
              <a:rPr sz="1250">
                <a:solidFill>
                  <a:srgbClr val="F2F2F2"/>
                </a:solidFill>
                <a:latin typeface="Consolas"/>
              </a:rPr>
              <a:t>SYS@orcl&gt; EXEC DBMS_WORKLOAD_REPOSITORY.CREATE_SNAPSHOT;   -- 종료</a:t>
            </a:r>
          </a:p>
          <a:p>
            <a:pPr>
              <a:spcBef>
                <a:spcPts val="0"/>
              </a:spcBef>
              <a:spcAft>
                <a:spcPts val="0"/>
              </a:spcAft>
            </a:pPr>
            <a:r>
              <a:rPr sz="1250">
                <a:solidFill>
                  <a:srgbClr val="F2F2F2"/>
                </a:solidFill>
                <a:latin typeface="Consolas"/>
              </a:rPr>
              <a:t> </a:t>
            </a:r>
          </a:p>
          <a:p>
            <a:pPr>
              <a:spcBef>
                <a:spcPts val="0"/>
              </a:spcBef>
              <a:spcAft>
                <a:spcPts val="0"/>
              </a:spcAft>
            </a:pPr>
            <a:r>
              <a:rPr sz="1250">
                <a:solidFill>
                  <a:srgbClr val="F2F2F2"/>
                </a:solidFill>
                <a:latin typeface="Consolas"/>
              </a:rPr>
              <a:t>   SNAP_ID BEGIN_T      END_T</a:t>
            </a:r>
          </a:p>
          <a:p>
            <a:pPr>
              <a:spcBef>
                <a:spcPts val="0"/>
              </a:spcBef>
              <a:spcAft>
                <a:spcPts val="0"/>
              </a:spcAft>
            </a:pPr>
            <a:r>
              <a:rPr sz="1250">
                <a:solidFill>
                  <a:srgbClr val="F2F2F2"/>
                </a:solidFill>
                <a:latin typeface="Consolas"/>
              </a:rPr>
              <a:t>---------- -----------  -----------</a:t>
            </a:r>
          </a:p>
          <a:p>
            <a:pPr>
              <a:spcBef>
                <a:spcPts val="0"/>
              </a:spcBef>
              <a:spcAft>
                <a:spcPts val="0"/>
              </a:spcAft>
            </a:pPr>
            <a:r>
              <a:rPr sz="1250">
                <a:solidFill>
                  <a:srgbClr val="F2F2F2"/>
                </a:solidFill>
                <a:latin typeface="Consolas"/>
              </a:rPr>
              <a:t>       295 08-25 12:00  08-25 12:15</a:t>
            </a:r>
          </a:p>
          <a:p>
            <a:pPr>
              <a:spcBef>
                <a:spcPts val="0"/>
              </a:spcBef>
              <a:spcAft>
                <a:spcPts val="0"/>
              </a:spcAft>
            </a:pPr>
            <a:r>
              <a:rPr sz="1250">
                <a:solidFill>
                  <a:srgbClr val="F2F2F2"/>
                </a:solidFill>
                <a:latin typeface="Consolas"/>
              </a:rPr>
              <a:t>       296 08-25 12:15  08-25 12:17</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정말 스냅샷이 생겼는가 — 확인 습관</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이상 징후 → 원인 → 조치</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ctr">
              <a:spcBef>
                <a:spcPts val="0"/>
              </a:spcBef>
              <a:spcAft>
                <a:spcPts val="0"/>
              </a:spcAft>
            </a:pPr>
            <a:r>
              <a:rPr sz="1250">
                <a:solidFill>
                  <a:srgbClr val="F2F2F2"/>
                </a:solidFill>
                <a:latin typeface="Consolas"/>
              </a:rPr>
              <a:t>-- 이상: CREATE_SNAPSHOT 후에도 MAX(snap_id)가 그대로</a:t>
            </a:r>
          </a:p>
          <a:p>
            <a:pPr>
              <a:spcBef>
                <a:spcPts val="0"/>
              </a:spcBef>
              <a:spcAft>
                <a:spcPts val="0"/>
              </a:spcAft>
            </a:pPr>
            <a:r>
              <a:rPr sz="1250">
                <a:solidFill>
                  <a:srgbClr val="F2F2F2"/>
                </a:solidFill>
                <a:latin typeface="Consolas"/>
              </a:rPr>
              <a:t>SYS@orcl&gt; EXEC DBMS_WORKLOAD_REPOSITORY.CREATE_SNAPSHOT;</a:t>
            </a:r>
          </a:p>
          <a:p>
            <a:pPr>
              <a:spcBef>
                <a:spcPts val="0"/>
              </a:spcBef>
              <a:spcAft>
                <a:spcPts val="0"/>
              </a:spcAft>
            </a:pPr>
            <a:r>
              <a:rPr sz="1250">
                <a:solidFill>
                  <a:srgbClr val="F2F2F2"/>
                </a:solidFill>
                <a:latin typeface="Consolas"/>
              </a:rPr>
              <a:t>SYS@orcl&gt; SELECT MAX(snap_id) FROM dba_hist_snapshot;  --&gt; 그대로?</a:t>
            </a:r>
          </a:p>
          <a:p>
            <a:pPr>
              <a:spcBef>
                <a:spcPts val="0"/>
              </a:spcBef>
              <a:spcAft>
                <a:spcPts val="0"/>
              </a:spcAft>
            </a:pPr>
            <a:r>
              <a:rPr sz="1250">
                <a:solidFill>
                  <a:srgbClr val="F2F2F2"/>
                </a:solidFill>
                <a:latin typeface="Consolas"/>
              </a:rPr>
              <a:t> </a:t>
            </a:r>
          </a:p>
          <a:p>
            <a:pPr>
              <a:spcBef>
                <a:spcPts val="0"/>
              </a:spcBef>
              <a:spcAft>
                <a:spcPts val="0"/>
              </a:spcAft>
            </a:pPr>
            <a:r>
              <a:rPr sz="1250">
                <a:solidFill>
                  <a:srgbClr val="F2F2F2"/>
                </a:solidFill>
                <a:latin typeface="Consolas"/>
              </a:rPr>
              <a:t>-- 원인: STATISTICS_LEVEL=BASIC 또는</a:t>
            </a:r>
          </a:p>
          <a:p>
            <a:pPr>
              <a:spcBef>
                <a:spcPts val="0"/>
              </a:spcBef>
              <a:spcAft>
                <a:spcPts val="0"/>
              </a:spcAft>
            </a:pPr>
            <a:r>
              <a:rPr sz="1250">
                <a:solidFill>
                  <a:srgbClr val="F2F2F2"/>
                </a:solidFill>
                <a:latin typeface="Consolas"/>
              </a:rPr>
              <a:t>--       CONTROL_MANAGEMENT_PACK_ACCESS=NONE → AWR 꺼짐</a:t>
            </a:r>
          </a:p>
          <a:p>
            <a:pPr>
              <a:spcBef>
                <a:spcPts val="0"/>
              </a:spcBef>
              <a:spcAft>
                <a:spcPts val="0"/>
              </a:spcAft>
            </a:pPr>
            <a:r>
              <a:rPr sz="1250">
                <a:solidFill>
                  <a:srgbClr val="F2F2F2"/>
                </a:solidFill>
                <a:latin typeface="Consolas"/>
              </a:rPr>
              <a:t>SYS@orcl&gt; SHOW PARAMETER statistics_level</a:t>
            </a:r>
          </a:p>
          <a:p>
            <a:pPr>
              <a:spcBef>
                <a:spcPts val="0"/>
              </a:spcBef>
              <a:spcAft>
                <a:spcPts val="0"/>
              </a:spcAft>
            </a:pPr>
            <a:r>
              <a:rPr sz="1250">
                <a:solidFill>
                  <a:srgbClr val="F2F2F2"/>
                </a:solidFill>
                <a:latin typeface="Consolas"/>
              </a:rPr>
              <a:t>SYS@orcl&gt; SHOW PARAMETER control_management_pack_access</a:t>
            </a:r>
          </a:p>
          <a:p>
            <a:pPr>
              <a:spcBef>
                <a:spcPts val="0"/>
              </a:spcBef>
              <a:spcAft>
                <a:spcPts val="0"/>
              </a:spcAft>
            </a:pPr>
            <a:r>
              <a:rPr sz="1250">
                <a:solidFill>
                  <a:srgbClr val="F2F2F2"/>
                </a:solidFill>
                <a:latin typeface="Consolas"/>
              </a:rPr>
              <a:t> </a:t>
            </a:r>
          </a:p>
          <a:p>
            <a:pPr>
              <a:spcBef>
                <a:spcPts val="0"/>
              </a:spcBef>
              <a:spcAft>
                <a:spcPts val="0"/>
              </a:spcAft>
            </a:pPr>
            <a:r>
              <a:rPr sz="1250">
                <a:solidFill>
                  <a:srgbClr val="F2F2F2"/>
                </a:solidFill>
                <a:latin typeface="Consolas"/>
              </a:rPr>
              <a:t>-- 조치: TYPICAL / DIAGNOSTIC(+TUNING) 로 되돌린 뒤 재시도</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한 부하, 세 도구의 일관성</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295~296 = 7세션 100초 종합 부하</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600"/>
              </a:spcAft>
            </a:pPr>
            <a:r>
              <a:rPr sz="1700" b="0">
                <a:solidFill>
                  <a:srgbClr val="222222"/>
                </a:solidFill>
                <a:latin typeface="맑은 고딕"/>
              </a:rPr>
              <a:t>•  같은 사건을 세 도구가 다른 언어로, 일관되게 기록</a:t>
            </a:r>
          </a:p>
          <a:p>
            <a:pPr algn="l">
              <a:spcAft>
                <a:spcPts val="600"/>
              </a:spcAft>
            </a:pPr>
            <a:r>
              <a:rPr sz="1700" b="0">
                <a:solidFill>
                  <a:srgbClr val="222222"/>
                </a:solidFill>
                <a:latin typeface="맑은 고딕"/>
              </a:rPr>
              <a:t>•  ch22 AWR: DB CPU 95.7% · log file sync · 하드 파싱</a:t>
            </a:r>
          </a:p>
          <a:p>
            <a:pPr algn="l">
              <a:spcAft>
                <a:spcPts val="600"/>
              </a:spcAft>
            </a:pPr>
            <a:r>
              <a:rPr sz="1700" b="0">
                <a:solidFill>
                  <a:srgbClr val="222222"/>
                </a:solidFill>
                <a:latin typeface="맑은 고딕"/>
              </a:rPr>
              <a:t>•  ch24 ADDM: 'Hard Parse Due to Literal Usage' 진단</a:t>
            </a:r>
          </a:p>
          <a:p>
            <a:pPr algn="l">
              <a:spcAft>
                <a:spcPts val="600"/>
              </a:spcAft>
            </a:pPr>
            <a:r>
              <a:rPr sz="1700" b="0">
                <a:solidFill>
                  <a:srgbClr val="222222"/>
                </a:solidFill>
                <a:latin typeface="맑은 고딕"/>
              </a:rPr>
              <a:t>•  ch25 ASH: ON CPU 90.7%</a:t>
            </a:r>
          </a:p>
          <a:p>
            <a:pPr algn="l">
              <a:spcAft>
                <a:spcPts val="600"/>
              </a:spcAft>
            </a:pPr>
            <a:r>
              <a:rPr sz="1700" b="0">
                <a:solidFill>
                  <a:srgbClr val="222222"/>
                </a:solidFill>
                <a:latin typeface="맑은 고딕"/>
              </a:rPr>
              <a:t>•  구간을 어떻게 잡았는가가 진단의 질을 좌우한다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rPr>
              <a:t>6.5</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1">
                <a:solidFill>
                  <a:srgbClr val="FFFFFF"/>
                </a:solidFill>
                <a:latin typeface="맑은 고딕"/>
              </a:rPr>
              <a:t>AWR 베이스라인</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nchor="t">
            <a:spAutoFit/>
          </a:bodyPr>
          <a:lstStyle/>
          <a:p>
            <a:pPr algn="l"/>
            <a:r>
              <a:rPr sz="1600" b="0">
                <a:solidFill>
                  <a:srgbClr val="FFFFFF"/>
                </a:solidFill>
                <a:latin typeface="맑은 고딕"/>
              </a:rPr>
              <a:t>•  필요한 구간을 보호한다</a:t>
            </a:r>
          </a:p>
          <a:p>
            <a:pPr algn="l"/>
            <a:r>
              <a:rPr sz="1600" b="0">
                <a:solidFill>
                  <a:srgbClr val="FFFFFF"/>
                </a:solidFill>
                <a:latin typeface="맑은 고딕"/>
              </a:rPr>
              <a:t>•  고정 vs 이동 윈도우</a:t>
            </a:r>
          </a:p>
          <a:p>
            <a:pPr algn="l"/>
            <a:r>
              <a:rPr sz="1600" b="0">
                <a:solidFill>
                  <a:srgbClr val="FFFFFF"/>
                </a:solidFill>
                <a:latin typeface="맑은 고딕"/>
              </a:rPr>
              <a:t>•  CREATE/DROP/RENAME_BASELINE</a:t>
            </a:r>
          </a:p>
          <a:p>
            <a:pPr algn="l"/>
            <a:r>
              <a:rPr sz="1600" b="0">
                <a:solidFill>
                  <a:srgbClr val="FFFFFF"/>
                </a:solidFill>
                <a:latin typeface="맑은 고딕"/>
              </a:rPr>
              <a:t>•  DBA Point: 보호해야 살아남는다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베이스라인이란</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포함된 스냅샷은 무기한 보존</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600"/>
              </a:spcAft>
            </a:pPr>
            <a:r>
              <a:rPr sz="1700" b="0">
                <a:solidFill>
                  <a:srgbClr val="222222"/>
                </a:solidFill>
                <a:latin typeface="맑은 고딕"/>
              </a:rPr>
              <a:t>•  특정 기간 스냅샷 집합을 비교용으로 보존</a:t>
            </a:r>
          </a:p>
          <a:p>
            <a:pPr algn="l">
              <a:spcAft>
                <a:spcPts val="600"/>
              </a:spcAft>
            </a:pPr>
            <a:r>
              <a:rPr sz="1700" b="0">
                <a:solidFill>
                  <a:srgbClr val="222222"/>
                </a:solidFill>
                <a:latin typeface="맑은 고딕"/>
              </a:rPr>
              <a:t>•  핵심: 포함된 스냅샷은 자동 퍼지에서 제외 → 무기한</a:t>
            </a:r>
          </a:p>
          <a:p>
            <a:pPr algn="l">
              <a:spcAft>
                <a:spcPts val="600"/>
              </a:spcAft>
            </a:pPr>
            <a:r>
              <a:rPr sz="1700" b="0">
                <a:solidFill>
                  <a:srgbClr val="222222"/>
                </a:solidFill>
                <a:latin typeface="맑은 고딕"/>
              </a:rPr>
              <a:t>•  고정: 사람이 지정한 과거의 '정상' 연속 구간</a:t>
            </a:r>
          </a:p>
          <a:p>
            <a:pPr algn="l">
              <a:spcAft>
                <a:spcPts val="600"/>
              </a:spcAft>
            </a:pPr>
            <a:r>
              <a:rPr sz="1700" b="0">
                <a:solidFill>
                  <a:srgbClr val="222222"/>
                </a:solidFill>
                <a:latin typeface="맑은 고딕"/>
              </a:rPr>
              <a:t>•  이동 윈도우: 보존 기간 안 전체(시스템 자동, 적응형 임계값용)</a:t>
            </a:r>
          </a:p>
          <a:p>
            <a:pPr algn="l">
              <a:spcAft>
                <a:spcPts val="600"/>
              </a:spcAft>
            </a:pPr>
            <a:r>
              <a:rPr sz="1700" b="0">
                <a:solidFill>
                  <a:srgbClr val="222222"/>
                </a:solidFill>
                <a:latin typeface="맑은 고딕"/>
              </a:rPr>
              <a:t>•  DBA Point — 필요한 구간은 베이스라인으로 보호해야 살아남는다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생성·조회</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CREATE_BASELINE / DBA_HIST_BASELINE</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ctr">
              <a:spcBef>
                <a:spcPts val="0"/>
              </a:spcBef>
              <a:spcAft>
                <a:spcPts val="0"/>
              </a:spcAft>
            </a:pPr>
            <a:r>
              <a:rPr sz="1250">
                <a:solidFill>
                  <a:srgbClr val="F2F2F2"/>
                </a:solidFill>
                <a:latin typeface="Consolas"/>
              </a:rPr>
              <a:t>SYS@orcl&gt; BEGIN</a:t>
            </a:r>
          </a:p>
          <a:p>
            <a:pPr>
              <a:spcBef>
                <a:spcPts val="0"/>
              </a:spcBef>
              <a:spcAft>
                <a:spcPts val="0"/>
              </a:spcAft>
            </a:pPr>
            <a:r>
              <a:rPr sz="1250">
                <a:solidFill>
                  <a:srgbClr val="F2F2F2"/>
                </a:solidFill>
                <a:latin typeface="Consolas"/>
              </a:rPr>
              <a:t>  2    DBMS_WORKLOAD_REPOSITORY.CREATE_BASELINE(</a:t>
            </a:r>
          </a:p>
          <a:p>
            <a:pPr>
              <a:spcBef>
                <a:spcPts val="0"/>
              </a:spcBef>
              <a:spcAft>
                <a:spcPts val="0"/>
              </a:spcAft>
            </a:pPr>
            <a:r>
              <a:rPr sz="1250">
                <a:solidFill>
                  <a:srgbClr val="F2F2F2"/>
                </a:solidFill>
                <a:latin typeface="Consolas"/>
              </a:rPr>
              <a:t>  3        start_snap_id =&gt; 295, end_snap_id =&gt; 296,</a:t>
            </a:r>
          </a:p>
          <a:p>
            <a:pPr>
              <a:spcBef>
                <a:spcPts val="0"/>
              </a:spcBef>
              <a:spcAft>
                <a:spcPts val="0"/>
              </a:spcAft>
            </a:pPr>
            <a:r>
              <a:rPr sz="1250">
                <a:solidFill>
                  <a:srgbClr val="F2F2F2"/>
                </a:solidFill>
                <a:latin typeface="Consolas"/>
              </a:rPr>
              <a:t>  4        baseline_name =&gt; 'TUNING_CH6_DEMO',</a:t>
            </a:r>
          </a:p>
          <a:p>
            <a:pPr>
              <a:spcBef>
                <a:spcPts val="0"/>
              </a:spcBef>
              <a:spcAft>
                <a:spcPts val="0"/>
              </a:spcAft>
            </a:pPr>
            <a:r>
              <a:rPr sz="1250">
                <a:solidFill>
                  <a:srgbClr val="F2F2F2"/>
                </a:solidFill>
                <a:latin typeface="Consolas"/>
              </a:rPr>
              <a:t>  5        expiration    =&gt; 30);   -- 30일 뒤 만료</a:t>
            </a:r>
          </a:p>
          <a:p>
            <a:pPr>
              <a:spcBef>
                <a:spcPts val="0"/>
              </a:spcBef>
              <a:spcAft>
                <a:spcPts val="0"/>
              </a:spcAft>
            </a:pPr>
            <a:r>
              <a:rPr sz="1250">
                <a:solidFill>
                  <a:srgbClr val="F2F2F2"/>
                </a:solidFill>
                <a:latin typeface="Consolas"/>
              </a:rPr>
              <a:t>  6  END;</a:t>
            </a:r>
          </a:p>
          <a:p>
            <a:pPr>
              <a:spcBef>
                <a:spcPts val="0"/>
              </a:spcBef>
              <a:spcAft>
                <a:spcPts val="0"/>
              </a:spcAft>
            </a:pPr>
            <a:r>
              <a:rPr sz="1250">
                <a:solidFill>
                  <a:srgbClr val="F2F2F2"/>
                </a:solidFill>
                <a:latin typeface="Consolas"/>
              </a:rPr>
              <a:t>  7  /</a:t>
            </a:r>
          </a:p>
          <a:p>
            <a:pPr>
              <a:spcBef>
                <a:spcPts val="0"/>
              </a:spcBef>
              <a:spcAft>
                <a:spcPts val="0"/>
              </a:spcAft>
            </a:pPr>
            <a:r>
              <a:rPr sz="1250">
                <a:solidFill>
                  <a:srgbClr val="F2F2F2"/>
                </a:solidFill>
                <a:latin typeface="Consolas"/>
              </a:rPr>
              <a:t>SYS@orcl&gt; SELECT baseline_name, baseline_type,</a:t>
            </a:r>
          </a:p>
          <a:p>
            <a:pPr>
              <a:spcBef>
                <a:spcPts val="0"/>
              </a:spcBef>
              <a:spcAft>
                <a:spcPts val="0"/>
              </a:spcAft>
            </a:pPr>
            <a:r>
              <a:rPr sz="1250">
                <a:solidFill>
                  <a:srgbClr val="F2F2F2"/>
                </a:solidFill>
                <a:latin typeface="Consolas"/>
              </a:rPr>
              <a:t>                 start_snap_id, end_snap_id FROM dba_hist_baseline;</a:t>
            </a:r>
          </a:p>
          <a:p>
            <a:pPr>
              <a:spcBef>
                <a:spcPts val="0"/>
              </a:spcBef>
              <a:spcAft>
                <a:spcPts val="0"/>
              </a:spcAft>
            </a:pPr>
            <a:r>
              <a:rPr sz="1250">
                <a:solidFill>
                  <a:srgbClr val="F2F2F2"/>
                </a:solidFill>
                <a:latin typeface="Consolas"/>
              </a:rPr>
              <a:t>SYSTEM_MOVING_WINDOW  MOVING_WINDOW   288  296</a:t>
            </a:r>
          </a:p>
          <a:p>
            <a:pPr>
              <a:spcBef>
                <a:spcPts val="0"/>
              </a:spcBef>
              <a:spcAft>
                <a:spcPts val="0"/>
              </a:spcAft>
            </a:pPr>
            <a:r>
              <a:rPr sz="1250">
                <a:solidFill>
                  <a:srgbClr val="F2F2F2"/>
                </a:solidFill>
                <a:latin typeface="Consolas"/>
              </a:rPr>
              <a:t>TUNING_CH6_DEMO       STATIC          295  296</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삭제 — 실습 후 정리</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DROP_BASELINE (cascade FALSE)</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ctr">
              <a:spcBef>
                <a:spcPts val="0"/>
              </a:spcBef>
              <a:spcAft>
                <a:spcPts val="0"/>
              </a:spcAft>
            </a:pPr>
            <a:r>
              <a:rPr sz="1250">
                <a:solidFill>
                  <a:srgbClr val="F2F2F2"/>
                </a:solidFill>
                <a:latin typeface="Consolas"/>
              </a:rPr>
              <a:t>SYS@orcl&gt; BEGIN</a:t>
            </a:r>
          </a:p>
          <a:p>
            <a:pPr>
              <a:spcBef>
                <a:spcPts val="0"/>
              </a:spcBef>
              <a:spcAft>
                <a:spcPts val="0"/>
              </a:spcAft>
            </a:pPr>
            <a:r>
              <a:rPr sz="1250">
                <a:solidFill>
                  <a:srgbClr val="F2F2F2"/>
                </a:solidFill>
                <a:latin typeface="Consolas"/>
              </a:rPr>
              <a:t>  2    DBMS_WORKLOAD_REPOSITORY.DROP_BASELINE(</a:t>
            </a:r>
          </a:p>
          <a:p>
            <a:pPr>
              <a:spcBef>
                <a:spcPts val="0"/>
              </a:spcBef>
              <a:spcAft>
                <a:spcPts val="0"/>
              </a:spcAft>
            </a:pPr>
            <a:r>
              <a:rPr sz="1250">
                <a:solidFill>
                  <a:srgbClr val="F2F2F2"/>
                </a:solidFill>
                <a:latin typeface="Consolas"/>
              </a:rPr>
              <a:t>  3        baseline_name =&gt; 'TUNING_CH6_DEMO',</a:t>
            </a:r>
          </a:p>
          <a:p>
            <a:pPr>
              <a:spcBef>
                <a:spcPts val="0"/>
              </a:spcBef>
              <a:spcAft>
                <a:spcPts val="0"/>
              </a:spcAft>
            </a:pPr>
            <a:r>
              <a:rPr sz="1250">
                <a:solidFill>
                  <a:srgbClr val="F2F2F2"/>
                </a:solidFill>
                <a:latin typeface="Consolas"/>
              </a:rPr>
              <a:t>  4        cascade       =&gt; FALSE);  -- 딸린 스냅샷은 보존</a:t>
            </a:r>
          </a:p>
          <a:p>
            <a:pPr>
              <a:spcBef>
                <a:spcPts val="0"/>
              </a:spcBef>
              <a:spcAft>
                <a:spcPts val="0"/>
              </a:spcAft>
            </a:pPr>
            <a:r>
              <a:rPr sz="1250">
                <a:solidFill>
                  <a:srgbClr val="F2F2F2"/>
                </a:solidFill>
                <a:latin typeface="Consolas"/>
              </a:rPr>
              <a:t>  5  END;</a:t>
            </a:r>
          </a:p>
          <a:p>
            <a:pPr>
              <a:spcBef>
                <a:spcPts val="0"/>
              </a:spcBef>
              <a:spcAft>
                <a:spcPts val="0"/>
              </a:spcAft>
            </a:pPr>
            <a:r>
              <a:rPr sz="1250">
                <a:solidFill>
                  <a:srgbClr val="F2F2F2"/>
                </a:solidFill>
                <a:latin typeface="Consolas"/>
              </a:rPr>
              <a:t>  6  /</a:t>
            </a:r>
          </a:p>
          <a:p>
            <a:pPr>
              <a:spcBef>
                <a:spcPts val="0"/>
              </a:spcBef>
              <a:spcAft>
                <a:spcPts val="0"/>
              </a:spcAft>
            </a:pPr>
            <a:r>
              <a:rPr sz="1250">
                <a:solidFill>
                  <a:srgbClr val="F2F2F2"/>
                </a:solidFill>
                <a:latin typeface="Consolas"/>
              </a:rPr>
              <a:t>SYS@orcl&gt; SELECT COUNT(*) FROM dba_hist_baseline</a:t>
            </a:r>
          </a:p>
          <a:p>
            <a:pPr>
              <a:spcBef>
                <a:spcPts val="0"/>
              </a:spcBef>
              <a:spcAft>
                <a:spcPts val="0"/>
              </a:spcAft>
            </a:pPr>
            <a:r>
              <a:rPr sz="1250">
                <a:solidFill>
                  <a:srgbClr val="F2F2F2"/>
                </a:solidFill>
                <a:latin typeface="Consolas"/>
              </a:rPr>
              <a:t>  2       WHERE baseline_name='TUNING_CH6_DEMO';  --&gt; 0</a:t>
            </a:r>
          </a:p>
          <a:p>
            <a:pPr>
              <a:spcBef>
                <a:spcPts val="0"/>
              </a:spcBef>
              <a:spcAft>
                <a:spcPts val="0"/>
              </a:spcAft>
            </a:pPr>
            <a:r>
              <a:rPr sz="1250">
                <a:solidFill>
                  <a:srgbClr val="F2F2F2"/>
                </a:solidFill>
                <a:latin typeface="Consolas"/>
              </a:rPr>
              <a:t> </a:t>
            </a:r>
          </a:p>
          <a:p>
            <a:pPr>
              <a:spcBef>
                <a:spcPts val="0"/>
              </a:spcBef>
              <a:spcAft>
                <a:spcPts val="0"/>
              </a:spcAft>
            </a:pPr>
            <a:r>
              <a:rPr sz="1250">
                <a:solidFill>
                  <a:srgbClr val="F2F2F2"/>
                </a:solidFill>
                <a:latin typeface="Consolas"/>
              </a:rPr>
              <a:t>-- cascade FALSE: 베이스라인만 해제, 스냅샷 보존</a:t>
            </a:r>
          </a:p>
          <a:p>
            <a:pPr>
              <a:spcBef>
                <a:spcPts val="0"/>
              </a:spcBef>
              <a:spcAft>
                <a:spcPts val="0"/>
              </a:spcAft>
            </a:pPr>
            <a:r>
              <a:rPr sz="1250">
                <a:solidFill>
                  <a:srgbClr val="F2F2F2"/>
                </a:solidFill>
                <a:latin typeface="Consolas"/>
              </a:rPr>
              <a:t>-- cascade TRUE : 딸린 스냅샷까지 함께 삭제</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베이스라인 템플릿</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미래 구간을 예약한다</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600"/>
              </a:spcAft>
            </a:pPr>
            <a:r>
              <a:rPr sz="1700" b="0">
                <a:solidFill>
                  <a:srgbClr val="222222"/>
                </a:solidFill>
                <a:latin typeface="맑은 고딕"/>
              </a:rPr>
              <a:t>•  지나간 구간이 아니라 앞으로 올 구간을 자동 베이스라인화</a:t>
            </a:r>
          </a:p>
          <a:p>
            <a:pPr algn="l">
              <a:spcAft>
                <a:spcPts val="600"/>
              </a:spcAft>
            </a:pPr>
            <a:r>
              <a:rPr sz="1700" b="0">
                <a:solidFill>
                  <a:srgbClr val="222222"/>
                </a:solidFill>
                <a:latin typeface="맑은 고딕"/>
              </a:rPr>
              <a:t>•  단일 템플릿: 미래의 한 번의 고정 구간</a:t>
            </a:r>
          </a:p>
          <a:p>
            <a:pPr algn="l">
              <a:spcAft>
                <a:spcPts val="600"/>
              </a:spcAft>
            </a:pPr>
            <a:r>
              <a:rPr sz="1700" b="0">
                <a:solidFill>
                  <a:srgbClr val="222222"/>
                </a:solidFill>
                <a:latin typeface="맑은 고딕"/>
              </a:rPr>
              <a:t>•  반복 템플릿: 매주 월요일 오전처럼 되풀이되는 구간</a:t>
            </a:r>
          </a:p>
          <a:p>
            <a:pPr algn="l">
              <a:spcAft>
                <a:spcPts val="600"/>
              </a:spcAft>
            </a:pPr>
            <a:r>
              <a:rPr sz="1700" b="0">
                <a:solidFill>
                  <a:srgbClr val="222222"/>
                </a:solidFill>
                <a:latin typeface="맑은 고딕"/>
              </a:rPr>
              <a:t>•  CREATE_BASELINE_TEMPLATE (start/end_time, 이름, 만료)</a:t>
            </a:r>
          </a:p>
          <a:p>
            <a:pPr algn="l">
              <a:spcAft>
                <a:spcPts val="600"/>
              </a:spcAft>
            </a:pPr>
            <a:r>
              <a:rPr sz="1700" b="0">
                <a:solidFill>
                  <a:srgbClr val="222222"/>
                </a:solidFill>
                <a:latin typeface="맑은 고딕"/>
              </a:rPr>
              <a:t>•  월초·분기말 등 반드시 남길 시각을 미리 예약</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rPr>
              <a:t>6.6</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1">
                <a:solidFill>
                  <a:srgbClr val="FFFFFF"/>
                </a:solidFill>
                <a:latin typeface="맑은 고딕"/>
              </a:rPr>
              <a:t>SYSAUX 용량 관리</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nchor="t">
            <a:spAutoFit/>
          </a:bodyPr>
          <a:lstStyle/>
          <a:p>
            <a:pPr algn="l"/>
            <a:r>
              <a:rPr sz="1600" b="0">
                <a:solidFill>
                  <a:srgbClr val="FFFFFF"/>
                </a:solidFill>
                <a:latin typeface="맑은 고딕"/>
              </a:rPr>
              <a:t>•  AWR = 기본 SYSAUX 저장</a:t>
            </a:r>
          </a:p>
          <a:p>
            <a:pPr algn="l"/>
            <a:r>
              <a:rPr sz="1600" b="0">
                <a:solidFill>
                  <a:srgbClr val="FFFFFF"/>
                </a:solidFill>
                <a:latin typeface="맑은 고딕"/>
              </a:rPr>
              <a:t>•  V$SYSAUX_OCCUPANTS의 SM/AWR</a:t>
            </a:r>
          </a:p>
          <a:p>
            <a:pPr algn="l"/>
            <a:r>
              <a:rPr sz="1600" b="0">
                <a:solidFill>
                  <a:srgbClr val="FFFFFF"/>
                </a:solidFill>
                <a:latin typeface="맑은 고딕"/>
              </a:rPr>
              <a:t>•  실측 281.9MB (전형적 200~300MB)</a:t>
            </a:r>
          </a:p>
          <a:p>
            <a:pPr algn="l"/>
            <a:r>
              <a:rPr sz="1600" b="0">
                <a:solidFill>
                  <a:srgbClr val="FFFFFF"/>
                </a:solidFill>
                <a:latin typeface="맑은 고딕"/>
              </a:rPr>
              <a:t>•  주기↑·보존↓·DROP_SNAPSHOT_RANGE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점유 확인</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V$SYSAUX_OCCUPANTS (실측)</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ctr">
              <a:spcBef>
                <a:spcPts val="0"/>
              </a:spcBef>
              <a:spcAft>
                <a:spcPts val="0"/>
              </a:spcAft>
            </a:pPr>
            <a:r>
              <a:rPr sz="1250">
                <a:solidFill>
                  <a:srgbClr val="F2F2F2"/>
                </a:solidFill>
                <a:latin typeface="Consolas"/>
              </a:rPr>
              <a:t>SYS@orcl&gt; SELECT occupant_name,</a:t>
            </a:r>
          </a:p>
          <a:p>
            <a:pPr>
              <a:spcBef>
                <a:spcPts val="0"/>
              </a:spcBef>
              <a:spcAft>
                <a:spcPts val="0"/>
              </a:spcAft>
            </a:pPr>
            <a:r>
              <a:rPr sz="1250">
                <a:solidFill>
                  <a:srgbClr val="F2F2F2"/>
                </a:solidFill>
                <a:latin typeface="Consolas"/>
              </a:rPr>
              <a:t>  2         ROUND(space_usage_kbytes/1024,1) mb</a:t>
            </a:r>
          </a:p>
          <a:p>
            <a:pPr>
              <a:spcBef>
                <a:spcPts val="0"/>
              </a:spcBef>
              <a:spcAft>
                <a:spcPts val="0"/>
              </a:spcAft>
            </a:pPr>
            <a:r>
              <a:rPr sz="1250">
                <a:solidFill>
                  <a:srgbClr val="F2F2F2"/>
                </a:solidFill>
                <a:latin typeface="Consolas"/>
              </a:rPr>
              <a:t>  3       FROM v$sysaux_occupants</a:t>
            </a:r>
          </a:p>
          <a:p>
            <a:pPr>
              <a:spcBef>
                <a:spcPts val="0"/>
              </a:spcBef>
              <a:spcAft>
                <a:spcPts val="0"/>
              </a:spcAft>
            </a:pPr>
            <a:r>
              <a:rPr sz="1250">
                <a:solidFill>
                  <a:srgbClr val="F2F2F2"/>
                </a:solidFill>
                <a:latin typeface="Consolas"/>
              </a:rPr>
              <a:t>  4       WHERE occupant_name = 'SM/AWR';</a:t>
            </a:r>
          </a:p>
          <a:p>
            <a:pPr>
              <a:spcBef>
                <a:spcPts val="0"/>
              </a:spcBef>
              <a:spcAft>
                <a:spcPts val="0"/>
              </a:spcAft>
            </a:pPr>
            <a:r>
              <a:rPr sz="1250">
                <a:solidFill>
                  <a:srgbClr val="F2F2F2"/>
                </a:solidFill>
                <a:latin typeface="Consolas"/>
              </a:rPr>
              <a:t> </a:t>
            </a:r>
          </a:p>
          <a:p>
            <a:pPr>
              <a:spcBef>
                <a:spcPts val="0"/>
              </a:spcBef>
              <a:spcAft>
                <a:spcPts val="0"/>
              </a:spcAft>
            </a:pPr>
            <a:r>
              <a:rPr sz="1250">
                <a:solidFill>
                  <a:srgbClr val="F2F2F2"/>
                </a:solidFill>
                <a:latin typeface="Consolas"/>
              </a:rPr>
              <a:t>OCCUPANT_NAME          MB</a:t>
            </a:r>
          </a:p>
          <a:p>
            <a:pPr>
              <a:spcBef>
                <a:spcPts val="0"/>
              </a:spcBef>
              <a:spcAft>
                <a:spcPts val="0"/>
              </a:spcAft>
            </a:pPr>
            <a:r>
              <a:rPr sz="1250">
                <a:solidFill>
                  <a:srgbClr val="F2F2F2"/>
                </a:solidFill>
                <a:latin typeface="Consolas"/>
              </a:rPr>
              <a:t>---------------- ----------</a:t>
            </a:r>
          </a:p>
          <a:p>
            <a:pPr>
              <a:spcBef>
                <a:spcPts val="0"/>
              </a:spcBef>
              <a:spcAft>
                <a:spcPts val="0"/>
              </a:spcAft>
            </a:pPr>
            <a:r>
              <a:rPr sz="1250">
                <a:solidFill>
                  <a:srgbClr val="F2F2F2"/>
                </a:solidFill>
                <a:latin typeface="Consolas"/>
              </a:rPr>
              <a:t>SM/AWR              281.9</a:t>
            </a:r>
          </a:p>
          <a:p>
            <a:pPr>
              <a:spcBef>
                <a:spcPts val="0"/>
              </a:spcBef>
              <a:spcAft>
                <a:spcPts val="0"/>
              </a:spcAft>
            </a:pPr>
            <a:r>
              <a:rPr sz="1250">
                <a:solidFill>
                  <a:srgbClr val="F2F2F2"/>
                </a:solidFill>
                <a:latin typeface="Consolas"/>
              </a:rPr>
              <a:t> </a:t>
            </a:r>
          </a:p>
          <a:p>
            <a:pPr>
              <a:spcBef>
                <a:spcPts val="0"/>
              </a:spcBef>
              <a:spcAft>
                <a:spcPts val="0"/>
              </a:spcAft>
            </a:pPr>
            <a:r>
              <a:rPr sz="1250">
                <a:solidFill>
                  <a:srgbClr val="F2F2F2"/>
                </a:solidFill>
                <a:latin typeface="Consolas"/>
              </a:rPr>
              <a:t>-- 오라클 기준: 평균 10 활성세션 시스템 ≈ 200~300MB</a:t>
            </a:r>
          </a:p>
          <a:p>
            <a:pPr>
              <a:spcBef>
                <a:spcPts val="0"/>
              </a:spcBef>
              <a:spcAft>
                <a:spcPts val="0"/>
              </a:spcAft>
            </a:pPr>
            <a:r>
              <a:rPr sz="1250">
                <a:solidFill>
                  <a:srgbClr val="F2F2F2"/>
                </a:solidFill>
                <a:latin typeface="Consolas"/>
              </a:rPr>
              <a:t>-- 281.9MB = 전형적 범위 안</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공간을 줄이는 두 축과 수동 정리</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DROP_SNAPSHOT_RANGE</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600"/>
              </a:spcAft>
            </a:pPr>
            <a:r>
              <a:rPr sz="1700" b="0">
                <a:solidFill>
                  <a:srgbClr val="222222"/>
                </a:solidFill>
                <a:latin typeface="맑은 고딕"/>
              </a:rPr>
              <a:t>•  정공법1: 주기를 늘린다(덜 자주 찍는다)</a:t>
            </a:r>
          </a:p>
          <a:p>
            <a:pPr algn="l">
              <a:spcAft>
                <a:spcPts val="600"/>
              </a:spcAft>
            </a:pPr>
            <a:r>
              <a:rPr sz="1700" b="0">
                <a:solidFill>
                  <a:srgbClr val="222222"/>
                </a:solidFill>
                <a:latin typeface="맑은 고딕"/>
              </a:rPr>
              <a:t>•  정공법2: 보존을 줄인다(덜 오래 남긴다) — 정확도 주의</a:t>
            </a:r>
          </a:p>
          <a:p>
            <a:pPr algn="l">
              <a:spcAft>
                <a:spcPts val="600"/>
              </a:spcAft>
            </a:pPr>
            <a:r>
              <a:rPr sz="1700" b="0">
                <a:solidFill>
                  <a:srgbClr val="222222"/>
                </a:solidFill>
                <a:latin typeface="맑은 고딕"/>
              </a:rPr>
              <a:t>•  급히 회수: DROP_SNAPSHOT_RANGE(low, high)</a:t>
            </a:r>
          </a:p>
          <a:p>
            <a:pPr algn="l">
              <a:spcAft>
                <a:spcPts val="600"/>
              </a:spcAft>
            </a:pPr>
            <a:r>
              <a:rPr sz="1700" b="0">
                <a:solidFill>
                  <a:srgbClr val="222222"/>
                </a:solidFill>
                <a:latin typeface="맑은 고딕"/>
              </a:rPr>
              <a:t>•  단, 베이스라인에 묶인 스냅샷은 이 방법으로도 안 지워짐</a:t>
            </a:r>
          </a:p>
          <a:p>
            <a:pPr algn="l">
              <a:spcAft>
                <a:spcPts val="600"/>
              </a:spcAft>
            </a:pPr>
            <a:r>
              <a:rPr sz="1700" b="0">
                <a:solidFill>
                  <a:srgbClr val="222222"/>
                </a:solidFill>
                <a:latin typeface="맑은 고딕"/>
              </a:rPr>
              <a:t>•  자동 퍼지에 맡겨도 보존 지나면 정리됨 → 수동은 응급 수단</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SM/AWR이 유난히 커졌다면</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원인을 순서대로 좁힌다</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600"/>
              </a:spcAft>
            </a:pPr>
            <a:r>
              <a:rPr sz="1700" b="0">
                <a:solidFill>
                  <a:srgbClr val="222222"/>
                </a:solidFill>
                <a:latin typeface="맑은 고딕"/>
              </a:rPr>
              <a:t>•  ① 주기가 짧아졌는가 (60분 → 10분이면 6배)</a:t>
            </a:r>
          </a:p>
          <a:p>
            <a:pPr algn="l">
              <a:spcAft>
                <a:spcPts val="600"/>
              </a:spcAft>
            </a:pPr>
            <a:r>
              <a:rPr sz="1700" b="0">
                <a:solidFill>
                  <a:srgbClr val="222222"/>
                </a:solidFill>
                <a:latin typeface="맑은 고딕"/>
              </a:rPr>
              <a:t>•  ② 보존이 길어졌는가 (8일 → 60일)</a:t>
            </a:r>
          </a:p>
          <a:p>
            <a:pPr algn="l">
              <a:spcAft>
                <a:spcPts val="600"/>
              </a:spcAft>
            </a:pPr>
            <a:r>
              <a:rPr sz="1700" b="0">
                <a:solidFill>
                  <a:srgbClr val="222222"/>
                </a:solidFill>
                <a:latin typeface="맑은 고딕"/>
              </a:rPr>
              <a:t>•  ③ topnsql이 MAXIMUM 등 큰 값인가</a:t>
            </a:r>
          </a:p>
          <a:p>
            <a:pPr algn="l">
              <a:spcAft>
                <a:spcPts val="600"/>
              </a:spcAft>
            </a:pPr>
            <a:r>
              <a:rPr sz="1700" b="0">
                <a:solidFill>
                  <a:srgbClr val="222222"/>
                </a:solidFill>
                <a:latin typeface="맑은 고딕"/>
              </a:rPr>
              <a:t>•  ④ 활성 세션이 많은 바쁜 시스템인가</a:t>
            </a:r>
          </a:p>
          <a:p>
            <a:pPr algn="l">
              <a:spcAft>
                <a:spcPts val="600"/>
              </a:spcAft>
            </a:pPr>
            <a:r>
              <a:rPr sz="1700" b="0">
                <a:solidFill>
                  <a:srgbClr val="222222"/>
                </a:solidFill>
                <a:latin typeface="맑은 고딕"/>
              </a:rPr>
              <a:t>•  DBA_HIST_WR_CONTROL과 실제 설정으로 확인</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rPr>
              <a:t>6.7</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1">
                <a:solidFill>
                  <a:srgbClr val="FFFFFF"/>
                </a:solidFill>
                <a:latin typeface="맑은 고딕"/>
              </a:rPr>
              <a:t>보존 초과와 데이터 소실</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nchor="t">
            <a:spAutoFit/>
          </a:bodyPr>
          <a:lstStyle/>
          <a:p>
            <a:pPr algn="l"/>
            <a:r>
              <a:rPr sz="1600" b="0">
                <a:solidFill>
                  <a:srgbClr val="FFFFFF"/>
                </a:solidFill>
                <a:latin typeface="맑은 고딕"/>
              </a:rPr>
              <a:t>•  8일 지난 스냅샷은 자동 퍼지</a:t>
            </a:r>
          </a:p>
          <a:p>
            <a:pPr algn="l"/>
            <a:r>
              <a:rPr sz="1600" b="0">
                <a:solidFill>
                  <a:srgbClr val="FFFFFF"/>
                </a:solidFill>
                <a:latin typeface="맑은 고딕"/>
              </a:rPr>
              <a:t>•  사고 조사가 늦으면 원본 소실</a:t>
            </a:r>
          </a:p>
          <a:p>
            <a:pPr algn="l"/>
            <a:r>
              <a:rPr sz="1600" b="0">
                <a:solidFill>
                  <a:srgbClr val="FFFFFF"/>
                </a:solidFill>
                <a:latin typeface="맑은 고딕"/>
              </a:rPr>
              <a:t>•  조사 전에 사고 구간을 베이스라인으로</a:t>
            </a:r>
          </a:p>
          <a:p>
            <a:pPr algn="l"/>
            <a:r>
              <a:rPr sz="1600" b="0">
                <a:solidFill>
                  <a:srgbClr val="FFFFFF"/>
                </a:solidFill>
                <a:latin typeface="맑은 고딕"/>
              </a:rPr>
              <a:t>•  Common Error를 막는 0번 단계</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사고 구간을 즉시 보호하라</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조사 전에 얼려 둔다</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ctr">
              <a:spcBef>
                <a:spcPts val="0"/>
              </a:spcBef>
              <a:spcAft>
                <a:spcPts val="0"/>
              </a:spcAft>
            </a:pPr>
            <a:r>
              <a:rPr sz="1250">
                <a:solidFill>
                  <a:srgbClr val="F2F2F2"/>
                </a:solidFill>
                <a:latin typeface="Consolas"/>
              </a:rPr>
              <a:t>-- (사고 인지 직후) 사고 시각을 포함하는 구간을 찾는다</a:t>
            </a:r>
          </a:p>
          <a:p>
            <a:pPr>
              <a:spcBef>
                <a:spcPts val="0"/>
              </a:spcBef>
              <a:spcAft>
                <a:spcPts val="0"/>
              </a:spcAft>
            </a:pPr>
            <a:r>
              <a:rPr sz="1250">
                <a:solidFill>
                  <a:srgbClr val="F2F2F2"/>
                </a:solidFill>
                <a:latin typeface="Consolas"/>
              </a:rPr>
              <a:t>SYS@orcl&gt; SELECT snap_id, TO_CHAR(end_interval_time,'MM-DD HH24:MI')</a:t>
            </a:r>
          </a:p>
          <a:p>
            <a:pPr>
              <a:spcBef>
                <a:spcPts val="0"/>
              </a:spcBef>
              <a:spcAft>
                <a:spcPts val="0"/>
              </a:spcAft>
            </a:pPr>
            <a:r>
              <a:rPr sz="1250">
                <a:solidFill>
                  <a:srgbClr val="F2F2F2"/>
                </a:solidFill>
                <a:latin typeface="Consolas"/>
              </a:rPr>
              <a:t>  2       FROM dba_hist_snapshot</a:t>
            </a:r>
          </a:p>
          <a:p>
            <a:pPr>
              <a:spcBef>
                <a:spcPts val="0"/>
              </a:spcBef>
              <a:spcAft>
                <a:spcPts val="0"/>
              </a:spcAft>
            </a:pPr>
            <a:r>
              <a:rPr sz="1250">
                <a:solidFill>
                  <a:srgbClr val="F2F2F2"/>
                </a:solidFill>
                <a:latin typeface="Consolas"/>
              </a:rPr>
              <a:t>  3       WHERE end_interval_time BETWEEN :t1 AND :t2</a:t>
            </a:r>
          </a:p>
          <a:p>
            <a:pPr>
              <a:spcBef>
                <a:spcPts val="0"/>
              </a:spcBef>
              <a:spcAft>
                <a:spcPts val="0"/>
              </a:spcAft>
            </a:pPr>
            <a:r>
              <a:rPr sz="1250">
                <a:solidFill>
                  <a:srgbClr val="F2F2F2"/>
                </a:solidFill>
                <a:latin typeface="Consolas"/>
              </a:rPr>
              <a:t>  4       ORDER BY snap_id;   --&gt;  295, 296</a:t>
            </a:r>
          </a:p>
          <a:p>
            <a:pPr>
              <a:spcBef>
                <a:spcPts val="0"/>
              </a:spcBef>
              <a:spcAft>
                <a:spcPts val="0"/>
              </a:spcAft>
            </a:pPr>
            <a:r>
              <a:rPr sz="1250">
                <a:solidFill>
                  <a:srgbClr val="F2F2F2"/>
                </a:solidFill>
                <a:latin typeface="Consolas"/>
              </a:rPr>
              <a:t> </a:t>
            </a:r>
          </a:p>
          <a:p>
            <a:pPr>
              <a:spcBef>
                <a:spcPts val="0"/>
              </a:spcBef>
              <a:spcAft>
                <a:spcPts val="0"/>
              </a:spcAft>
            </a:pPr>
            <a:r>
              <a:rPr sz="1250">
                <a:solidFill>
                  <a:srgbClr val="F2F2F2"/>
                </a:solidFill>
                <a:latin typeface="Consolas"/>
              </a:rPr>
              <a:t>-- 그 구간을 즉시 베이스라인으로 보호 (조사 전에!)</a:t>
            </a:r>
          </a:p>
          <a:p>
            <a:pPr>
              <a:spcBef>
                <a:spcPts val="0"/>
              </a:spcBef>
              <a:spcAft>
                <a:spcPts val="0"/>
              </a:spcAft>
            </a:pPr>
            <a:r>
              <a:rPr sz="1250">
                <a:solidFill>
                  <a:srgbClr val="F2F2F2"/>
                </a:solidFill>
                <a:latin typeface="Consolas"/>
              </a:rPr>
              <a:t>SYS@orcl&gt; EXEC DBMS_WORKLOAD_REPOSITORY.CREATE_BASELINE(</a:t>
            </a:r>
          </a:p>
          <a:p>
            <a:pPr>
              <a:spcBef>
                <a:spcPts val="0"/>
              </a:spcBef>
              <a:spcAft>
                <a:spcPts val="0"/>
              </a:spcAft>
            </a:pPr>
            <a:r>
              <a:rPr sz="1250">
                <a:solidFill>
                  <a:srgbClr val="F2F2F2"/>
                </a:solidFill>
                <a:latin typeface="Consolas"/>
              </a:rPr>
              <a:t>             295, 296, 'INCIDENT_0825');</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'어제 데이터가 없다'고 당황하기 전에</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소실은 사고가 아니라 예정된 동작</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600"/>
              </a:spcAft>
            </a:pPr>
            <a:r>
              <a:rPr sz="1700" b="0">
                <a:solidFill>
                  <a:srgbClr val="222222"/>
                </a:solidFill>
                <a:latin typeface="맑은 고딕"/>
              </a:rPr>
              <a:t>•  보존 넘긴 구간은 보고서가 비거나 지정 불가</a:t>
            </a:r>
          </a:p>
          <a:p>
            <a:pPr algn="l">
              <a:spcAft>
                <a:spcPts val="600"/>
              </a:spcAft>
            </a:pPr>
            <a:r>
              <a:rPr sz="1700" b="0">
                <a:solidFill>
                  <a:srgbClr val="222222"/>
                </a:solidFill>
                <a:latin typeface="맑은 고딕"/>
              </a:rPr>
              <a:t>•  확인1: DBA_HIST_WR_CONTROL의 보존 기간</a:t>
            </a:r>
          </a:p>
          <a:p>
            <a:pPr algn="l">
              <a:spcAft>
                <a:spcPts val="600"/>
              </a:spcAft>
            </a:pPr>
            <a:r>
              <a:rPr sz="1700" b="0">
                <a:solidFill>
                  <a:srgbClr val="222222"/>
                </a:solidFill>
                <a:latin typeface="맑은 고딕"/>
              </a:rPr>
              <a:t>•  확인2: DBA_HIST_SNAPSHOT의 가장 오래된 snap_id·시각</a:t>
            </a:r>
          </a:p>
          <a:p>
            <a:pPr algn="l">
              <a:spcAft>
                <a:spcPts val="600"/>
              </a:spcAft>
            </a:pPr>
            <a:r>
              <a:rPr sz="1700" b="0">
                <a:solidFill>
                  <a:srgbClr val="222222"/>
                </a:solidFill>
                <a:latin typeface="맑은 고딕"/>
              </a:rPr>
              <a:t>•  가장 오래된 스냅샷이 사고보다 뒤면 → 이미 퍼지됨</a:t>
            </a:r>
          </a:p>
          <a:p>
            <a:pPr algn="l">
              <a:spcAft>
                <a:spcPts val="600"/>
              </a:spcAft>
            </a:pPr>
            <a:r>
              <a:rPr sz="1700" b="0">
                <a:solidFill>
                  <a:srgbClr val="222222"/>
                </a:solidFill>
                <a:latin typeface="맑은 고딕"/>
              </a:rPr>
              <a:t>•  이해하면 다음부터 베이스라인으로 미리 막게 된다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rPr>
              <a:t>6.8</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1">
                <a:solidFill>
                  <a:srgbClr val="FFFFFF"/>
                </a:solidFill>
                <a:latin typeface="맑은 고딕"/>
              </a:rPr>
              <a:t>Statspack — 무상 대안</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nchor="t">
            <a:spAutoFit/>
          </a:bodyPr>
          <a:lstStyle/>
          <a:p>
            <a:pPr algn="l"/>
            <a:r>
              <a:rPr sz="1600" b="0">
                <a:solidFill>
                  <a:srgbClr val="FFFFFF"/>
                </a:solidFill>
                <a:latin typeface="맑은 고딕"/>
              </a:rPr>
              <a:t>•  🔒 이 장 전체가 Diagnostics Pack</a:t>
            </a:r>
          </a:p>
          <a:p>
            <a:pPr algn="l"/>
            <a:r>
              <a:rPr sz="1600" b="0">
                <a:solidFill>
                  <a:srgbClr val="FFFFFF"/>
                </a:solidFill>
                <a:latin typeface="맑은 고딕"/>
              </a:rPr>
              <a:t>•  라이선스 없으면 Statspack</a:t>
            </a:r>
          </a:p>
          <a:p>
            <a:pPr algn="l"/>
            <a:r>
              <a:rPr sz="1600" b="0">
                <a:solidFill>
                  <a:srgbClr val="FFFFFF"/>
                </a:solidFill>
                <a:latin typeface="맑은 고딕"/>
              </a:rPr>
              <a:t>•  spcreate · STATSPACK.SNAP · spreport</a:t>
            </a:r>
          </a:p>
          <a:p>
            <a:pPr algn="l"/>
            <a:r>
              <a:rPr sz="1600" b="0">
                <a:solidFill>
                  <a:srgbClr val="FFFFFF"/>
                </a:solidFill>
                <a:latin typeface="맑은 고딕"/>
              </a:rPr>
              <a:t>•  AWR과의 차이를 안다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설치·수집·보고</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spcreate.sql / STATSPACK.SNAP / spreport.sql</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ctr">
              <a:spcBef>
                <a:spcPts val="0"/>
              </a:spcBef>
              <a:spcAft>
                <a:spcPts val="0"/>
              </a:spcAft>
            </a:pPr>
            <a:r>
              <a:rPr sz="1250">
                <a:solidFill>
                  <a:srgbClr val="F2F2F2"/>
                </a:solidFill>
                <a:latin typeface="Consolas"/>
              </a:rPr>
              <a:t>SYS@orcl&gt; @?/rdbms/admin/spcreate.sql   -- PERFSTAT 설치</a:t>
            </a:r>
          </a:p>
          <a:p>
            <a:pPr>
              <a:spcBef>
                <a:spcPts val="0"/>
              </a:spcBef>
              <a:spcAft>
                <a:spcPts val="0"/>
              </a:spcAft>
            </a:pPr>
            <a:r>
              <a:rPr sz="1250">
                <a:solidFill>
                  <a:srgbClr val="F2F2F2"/>
                </a:solidFill>
                <a:latin typeface="Consolas"/>
              </a:rPr>
              <a:t> </a:t>
            </a:r>
          </a:p>
          <a:p>
            <a:pPr>
              <a:spcBef>
                <a:spcPts val="0"/>
              </a:spcBef>
              <a:spcAft>
                <a:spcPts val="0"/>
              </a:spcAft>
            </a:pPr>
            <a:r>
              <a:rPr sz="1250">
                <a:solidFill>
                  <a:srgbClr val="F2F2F2"/>
                </a:solidFill>
                <a:latin typeface="Consolas"/>
              </a:rPr>
              <a:t>PERFSTAT@orcl&gt; EXEC STATSPACK.SNAP;    -- 시작 스냅샷</a:t>
            </a:r>
          </a:p>
          <a:p>
            <a:pPr>
              <a:spcBef>
                <a:spcPts val="0"/>
              </a:spcBef>
              <a:spcAft>
                <a:spcPts val="0"/>
              </a:spcAft>
            </a:pPr>
            <a:r>
              <a:rPr sz="1250">
                <a:solidFill>
                  <a:srgbClr val="F2F2F2"/>
                </a:solidFill>
                <a:latin typeface="Consolas"/>
              </a:rPr>
              <a:t>PERFSTAT@orcl&gt; -- ... WL_06_mixed.sql 부하 ...</a:t>
            </a:r>
          </a:p>
          <a:p>
            <a:pPr>
              <a:spcBef>
                <a:spcPts val="0"/>
              </a:spcBef>
              <a:spcAft>
                <a:spcPts val="0"/>
              </a:spcAft>
            </a:pPr>
            <a:r>
              <a:rPr sz="1250">
                <a:solidFill>
                  <a:srgbClr val="F2F2F2"/>
                </a:solidFill>
                <a:latin typeface="Consolas"/>
              </a:rPr>
              <a:t>PERFSTAT@orcl&gt; EXEC STATSPACK.SNAP;    -- 종료 스냅샷</a:t>
            </a:r>
          </a:p>
          <a:p>
            <a:pPr>
              <a:spcBef>
                <a:spcPts val="0"/>
              </a:spcBef>
              <a:spcAft>
                <a:spcPts val="0"/>
              </a:spcAft>
            </a:pPr>
            <a:r>
              <a:rPr sz="1250">
                <a:solidFill>
                  <a:srgbClr val="F2F2F2"/>
                </a:solidFill>
                <a:latin typeface="Consolas"/>
              </a:rPr>
              <a:t>PERFSTAT@orcl&gt; @?/rdbms/admin/spreport.sql   -- 보고서</a:t>
            </a:r>
          </a:p>
          <a:p>
            <a:pPr>
              <a:spcBef>
                <a:spcPts val="0"/>
              </a:spcBef>
              <a:spcAft>
                <a:spcPts val="0"/>
              </a:spcAft>
            </a:pPr>
            <a:r>
              <a:rPr sz="1250">
                <a:solidFill>
                  <a:srgbClr val="F2F2F2"/>
                </a:solidFill>
                <a:latin typeface="Consolas"/>
              </a:rPr>
              <a:t> </a:t>
            </a:r>
          </a:p>
          <a:p>
            <a:pPr>
              <a:spcBef>
                <a:spcPts val="0"/>
              </a:spcBef>
              <a:spcAft>
                <a:spcPts val="0"/>
              </a:spcAft>
            </a:pPr>
            <a:r>
              <a:rPr sz="1250">
                <a:solidFill>
                  <a:srgbClr val="F2F2F2"/>
                </a:solidFill>
                <a:latin typeface="Consolas"/>
              </a:rPr>
              <a:t>-- 레벨 5(기본)/6(계획)/7(세그먼트) · spauto(자동) · sppurge(정리)</a:t>
            </a:r>
          </a:p>
          <a:p>
            <a:pPr>
              <a:spcBef>
                <a:spcPts val="0"/>
              </a:spcBef>
              <a:spcAft>
                <a:spcPts val="0"/>
              </a:spcAft>
            </a:pPr>
            <a:r>
              <a:rPr sz="1250">
                <a:solidFill>
                  <a:srgbClr val="F2F2F2"/>
                </a:solidFill>
                <a:latin typeface="Consolas"/>
              </a:rPr>
              <a:t>-- 라이선스 불필요</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Statspack의 위치와 한계</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후퇴가 아니라 라이선스 경계 안의 진단</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600"/>
              </a:spcAft>
            </a:pPr>
            <a:r>
              <a:rPr sz="1700" b="0">
                <a:solidFill>
                  <a:srgbClr val="222222"/>
                </a:solidFill>
                <a:latin typeface="맑은 고딕"/>
              </a:rPr>
              <a:t>•  AWR 이전(9i 이전) 시대의 표준 진단 도구</a:t>
            </a:r>
          </a:p>
          <a:p>
            <a:pPr algn="l">
              <a:spcAft>
                <a:spcPts val="600"/>
              </a:spcAft>
            </a:pPr>
            <a:r>
              <a:rPr sz="1700" b="0">
                <a:solidFill>
                  <a:srgbClr val="222222"/>
                </a:solidFill>
                <a:latin typeface="맑은 고딕"/>
              </a:rPr>
              <a:t>•  10g에서 AWR·ADDM·ASH가 Diagnostics Pack으로 묶임</a:t>
            </a:r>
          </a:p>
          <a:p>
            <a:pPr algn="l">
              <a:spcAft>
                <a:spcPts val="600"/>
              </a:spcAft>
            </a:pPr>
            <a:r>
              <a:rPr sz="1700" b="0">
                <a:solidFill>
                  <a:srgbClr val="222222"/>
                </a:solidFill>
                <a:latin typeface="맑은 고딕"/>
              </a:rPr>
              <a:t>•  Statspack은 무상으로 남아 미보유 환경의 정식 대안</a:t>
            </a:r>
          </a:p>
          <a:p>
            <a:pPr algn="l">
              <a:spcAft>
                <a:spcPts val="600"/>
              </a:spcAft>
            </a:pPr>
            <a:r>
              <a:rPr sz="1700" b="0">
                <a:solidFill>
                  <a:srgbClr val="222222"/>
                </a:solidFill>
                <a:latin typeface="맑은 고딕"/>
              </a:rPr>
              <a:t>•  한계: ADDM 자동 진단·ASH·베이스라인 없음</a:t>
            </a:r>
          </a:p>
          <a:p>
            <a:pPr algn="l">
              <a:spcAft>
                <a:spcPts val="600"/>
              </a:spcAft>
            </a:pPr>
            <a:r>
              <a:rPr sz="1700" b="0">
                <a:solidFill>
                  <a:srgbClr val="222222"/>
                </a:solidFill>
                <a:latin typeface="맑은 고딕"/>
              </a:rPr>
              <a:t>•  → 보고서를 사람이 읽어야 함 = ch22 판독력이 더 중요</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AWR vs Statspack</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무엇을 언제 쓰는가</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600"/>
              </a:spcAft>
            </a:pPr>
            <a:r>
              <a:rPr sz="1700" b="0">
                <a:solidFill>
                  <a:srgbClr val="222222"/>
                </a:solidFill>
                <a:latin typeface="맑은 고딕"/>
              </a:rPr>
              <a:t>•  AWR: Diagnostics Pack 필요 / SYSAUX·DBA_HIST_*</a:t>
            </a:r>
          </a:p>
          <a:p>
            <a:pPr algn="l">
              <a:spcAft>
                <a:spcPts val="600"/>
              </a:spcAft>
            </a:pPr>
            <a:r>
              <a:rPr sz="1700" b="0">
                <a:solidFill>
                  <a:srgbClr val="222222"/>
                </a:solidFill>
                <a:latin typeface="맑은 고딕"/>
              </a:rPr>
              <a:t>•  Statspack: 무상 / PERFSTAT 스키마 STATS$*</a:t>
            </a:r>
          </a:p>
          <a:p>
            <a:pPr algn="l">
              <a:spcAft>
                <a:spcPts val="600"/>
              </a:spcAft>
            </a:pPr>
            <a:r>
              <a:rPr sz="1700" b="0">
                <a:solidFill>
                  <a:srgbClr val="222222"/>
                </a:solidFill>
                <a:latin typeface="맑은 고딕"/>
              </a:rPr>
              <a:t>•  ADDM 자동 진단·ASH·베이스라인 = AWR만</a:t>
            </a:r>
          </a:p>
          <a:p>
            <a:pPr algn="l">
              <a:spcAft>
                <a:spcPts val="600"/>
              </a:spcAft>
            </a:pPr>
            <a:r>
              <a:rPr sz="1700" b="0">
                <a:solidFill>
                  <a:srgbClr val="222222"/>
                </a:solidFill>
                <a:latin typeface="맑은 고딕"/>
              </a:rPr>
              <a:t>•  라이선스 있으면 AWR, 없으면 Statspack, 한 구간만이면 V$ 델타</a:t>
            </a:r>
          </a:p>
          <a:p>
            <a:pPr algn="l">
              <a:spcAft>
                <a:spcPts val="600"/>
              </a:spcAft>
            </a:pPr>
            <a:r>
              <a:rPr sz="1700" b="0">
                <a:solidFill>
                  <a:srgbClr val="222222"/>
                </a:solidFill>
                <a:latin typeface="맑은 고딕"/>
              </a:rPr>
              <a:t>•  세 경로 공통 원리: 두 시점의 차이를 부하로 읽는다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퀴즈 (Quiz)</a:t>
            </a:r>
          </a:p>
        </p:txBody>
      </p:sp>
      <p:sp>
        <p:nvSpPr>
          <p:cNvPr id="4" name="TextBox 3"/>
          <p:cNvSpPr txBox="1"/>
          <p:nvPr/>
        </p:nvSpPr>
        <p:spPr>
          <a:xfrm>
            <a:off x="640080" y="1371600"/>
            <a:ext cx="10881360" cy="5120640"/>
          </a:xfrm>
          <a:prstGeom prst="rect">
            <a:avLst/>
          </a:prstGeom>
          <a:noFill/>
        </p:spPr>
        <p:txBody>
          <a:bodyPr wrap="square" anchor="t">
            <a:spAutoFit/>
          </a:bodyPr>
          <a:lstStyle/>
          <a:p>
            <a:pPr algn="l">
              <a:spcAft>
                <a:spcPts val="600"/>
              </a:spcAft>
            </a:pPr>
            <a:r>
              <a:rPr sz="1600" b="0">
                <a:solidFill>
                  <a:srgbClr val="222222"/>
                </a:solidFill>
                <a:latin typeface="맑은 고딕"/>
              </a:rPr>
              <a:t>•  Q1. AWR 스냅샷은 어디에 저장되고 조회 뷰 접두어는? 담는 통계 다섯 중 셋은?</a:t>
            </a:r>
          </a:p>
          <a:p>
            <a:pPr algn="l">
              <a:spcAft>
                <a:spcPts val="600"/>
              </a:spcAft>
            </a:pPr>
            <a:r>
              <a:rPr sz="1600" b="0">
                <a:solidFill>
                  <a:srgbClr val="222222"/>
                </a:solidFill>
                <a:latin typeface="맑은 고딕"/>
              </a:rPr>
              <a:t>•  Q2. 실측 주기·보존은 각각 얼마? MODIFY_SNAPSHOT_SETTINGS의 interval·retention 단위는?</a:t>
            </a:r>
          </a:p>
          <a:p>
            <a:pPr algn="l">
              <a:spcAft>
                <a:spcPts val="600"/>
              </a:spcAft>
            </a:pPr>
            <a:r>
              <a:rPr sz="1600" b="0">
                <a:solidFill>
                  <a:srgbClr val="222222"/>
                </a:solidFill>
                <a:latin typeface="맑은 고딕"/>
              </a:rPr>
              <a:t>•  Q3. 자동 스냅샷이 있는데도 CREATE_SNAPSHOT을 쓰는 이유는(부하 구간 관점)?</a:t>
            </a:r>
          </a:p>
          <a:p>
            <a:pPr algn="l">
              <a:spcAft>
                <a:spcPts val="600"/>
              </a:spcAft>
            </a:pPr>
            <a:r>
              <a:rPr sz="1600" b="0">
                <a:solidFill>
                  <a:srgbClr val="222222"/>
                </a:solidFill>
                <a:latin typeface="맑은 고딕"/>
              </a:rPr>
              <a:t>•  Q4. 고정 vs 이동 윈도우 베이스라인 차이는? 자동 퍼지 제외가 왜 중요한가?</a:t>
            </a:r>
          </a:p>
          <a:p>
            <a:pPr algn="l">
              <a:spcAft>
                <a:spcPts val="600"/>
              </a:spcAft>
            </a:pPr>
            <a:r>
              <a:rPr sz="1600" b="0">
                <a:solidFill>
                  <a:srgbClr val="222222"/>
                </a:solidFill>
                <a:latin typeface="맑은 고딕"/>
              </a:rPr>
              <a:t>•  Q5. AWR의 occupant_name은? 실측 점유·전형적 범위? 공간 줄이는 두 정공법은?</a:t>
            </a:r>
          </a:p>
          <a:p>
            <a:pPr algn="l">
              <a:spcAft>
                <a:spcPts val="600"/>
              </a:spcAft>
            </a:pPr>
            <a:r>
              <a:rPr sz="1600" b="0">
                <a:solidFill>
                  <a:srgbClr val="222222"/>
                </a:solidFill>
                <a:latin typeface="맑은 고딕"/>
              </a:rPr>
              <a:t>•  Q6. 라이선스 없을 때 두 대안은? Statspack 스냅샷·보고서 명령과 AWR과의 차이 하나는?</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요약 (Summary)</a:t>
            </a:r>
          </a:p>
        </p:txBody>
      </p:sp>
      <p:sp>
        <p:nvSpPr>
          <p:cNvPr id="4" name="TextBox 3"/>
          <p:cNvSpPr txBox="1"/>
          <p:nvPr/>
        </p:nvSpPr>
        <p:spPr>
          <a:xfrm>
            <a:off x="640080" y="1371600"/>
            <a:ext cx="10881360" cy="5120640"/>
          </a:xfrm>
          <a:prstGeom prst="rect">
            <a:avLst/>
          </a:prstGeom>
          <a:noFill/>
        </p:spPr>
        <p:txBody>
          <a:bodyPr wrap="square" anchor="t">
            <a:spAutoFit/>
          </a:bodyPr>
          <a:lstStyle/>
          <a:p>
            <a:pPr algn="l">
              <a:spcAft>
                <a:spcPts val="600"/>
              </a:spcAft>
            </a:pPr>
            <a:r>
              <a:rPr sz="1600" b="0">
                <a:solidFill>
                  <a:srgbClr val="222222"/>
                </a:solidFill>
                <a:latin typeface="맑은 고딕"/>
              </a:rPr>
              <a:t>•  AWR = 휘발성 V$를 스냅샷으로 SYSAUX에 영구 저장 · ch22~ch23의 토대</a:t>
            </a:r>
          </a:p>
          <a:p>
            <a:pPr algn="l">
              <a:spcAft>
                <a:spcPts val="600"/>
              </a:spcAft>
            </a:pPr>
            <a:r>
              <a:rPr sz="1600" b="0">
                <a:solidFill>
                  <a:srgbClr val="222222"/>
                </a:solidFill>
                <a:latin typeface="맑은 고딕"/>
              </a:rPr>
              <a:t>•  주기·보존 확인=DBA_HIST_WR_CONTROL(실측 60분·8일) / 변경=MODIFY_SNAPSHOT_SETTINGS(분)</a:t>
            </a:r>
          </a:p>
          <a:p>
            <a:pPr algn="l">
              <a:spcAft>
                <a:spcPts val="600"/>
              </a:spcAft>
            </a:pPr>
            <a:r>
              <a:rPr sz="1600" b="0">
                <a:solidFill>
                  <a:srgbClr val="222222"/>
                </a:solidFill>
                <a:latin typeface="맑은 고딕"/>
              </a:rPr>
              <a:t>•  CREATE_SNAPSHOT으로 부하 앞뒤를 감싼다 (실습 295~296, 7세션 100초)</a:t>
            </a:r>
          </a:p>
          <a:p>
            <a:pPr algn="l">
              <a:spcAft>
                <a:spcPts val="600"/>
              </a:spcAft>
            </a:pPr>
            <a:r>
              <a:rPr sz="1600" b="0">
                <a:solidFill>
                  <a:srgbClr val="222222"/>
                </a:solidFill>
                <a:latin typeface="맑은 고딕"/>
              </a:rPr>
              <a:t>•  베이스라인 스냅샷은 무기한 보존 — 필요한 구간은 보호해야 살아남는다</a:t>
            </a:r>
          </a:p>
          <a:p>
            <a:pPr algn="l">
              <a:spcAft>
                <a:spcPts val="600"/>
              </a:spcAft>
            </a:pPr>
            <a:r>
              <a:rPr sz="1600" b="0">
                <a:solidFill>
                  <a:srgbClr val="222222"/>
                </a:solidFill>
                <a:latin typeface="맑은 고딕"/>
              </a:rPr>
              <a:t>•  SM/AWR 점유=V$SYSAUX_OCCUPANTS(실측 281.9MB) / 주기↑·보존↓·DROP_SNAPSHOT_RANGE</a:t>
            </a:r>
          </a:p>
          <a:p>
            <a:pPr algn="l">
              <a:spcAft>
                <a:spcPts val="600"/>
              </a:spcAft>
            </a:pPr>
            <a:r>
              <a:rPr sz="1600" b="0">
                <a:solidFill>
                  <a:srgbClr val="222222"/>
                </a:solidFill>
                <a:latin typeface="맑은 고딕"/>
              </a:rPr>
              <a:t>•  사고 구간은 조사 전 즉시 베이스라인으로 · 이 장 전체 Diagnostics Pack, 대안=Statspack/V$ 델타</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실습 개요 (Practice Overview)</a:t>
            </a:r>
          </a:p>
        </p:txBody>
      </p:sp>
      <p:sp>
        <p:nvSpPr>
          <p:cNvPr id="4" name="TextBox 3"/>
          <p:cNvSpPr txBox="1"/>
          <p:nvPr/>
        </p:nvSpPr>
        <p:spPr>
          <a:xfrm>
            <a:off x="640080" y="1371600"/>
            <a:ext cx="10881360" cy="5120640"/>
          </a:xfrm>
          <a:prstGeom prst="rect">
            <a:avLst/>
          </a:prstGeom>
          <a:noFill/>
        </p:spPr>
        <p:txBody>
          <a:bodyPr wrap="square" anchor="t">
            <a:spAutoFit/>
          </a:bodyPr>
          <a:lstStyle/>
          <a:p>
            <a:pPr algn="l">
              <a:spcAft>
                <a:spcPts val="600"/>
              </a:spcAft>
            </a:pPr>
            <a:r>
              <a:rPr sz="1600" b="0">
                <a:solidFill>
                  <a:srgbClr val="222222"/>
                </a:solidFill>
                <a:latin typeface="맑은 고딕"/>
              </a:rPr>
              <a:t>•  실습 01 — 스냅샷 주기·보존 확인과 변경 (🔒 DBA_HIST_WR_CONTROL)</a:t>
            </a:r>
          </a:p>
          <a:p>
            <a:pPr algn="l">
              <a:spcAft>
                <a:spcPts val="600"/>
              </a:spcAft>
            </a:pPr>
            <a:r>
              <a:rPr sz="1600" b="0">
                <a:solidFill>
                  <a:srgbClr val="222222"/>
                </a:solidFill>
                <a:latin typeface="맑은 고딕"/>
              </a:rPr>
              <a:t>•  실습 02 — 수동 스냅샷 쌍 확보 (🔒 WL_06 사이 295~296)</a:t>
            </a:r>
          </a:p>
          <a:p>
            <a:pPr algn="l">
              <a:spcAft>
                <a:spcPts val="600"/>
              </a:spcAft>
            </a:pPr>
            <a:r>
              <a:rPr sz="1600" b="0">
                <a:solidFill>
                  <a:srgbClr val="222222"/>
                </a:solidFill>
                <a:latin typeface="맑은 고딕"/>
              </a:rPr>
              <a:t>•  실습 03 — 베이스라인 생성·조회·삭제 (🔒 TUNING_CH6_DEMO)</a:t>
            </a:r>
          </a:p>
          <a:p>
            <a:pPr algn="l">
              <a:spcAft>
                <a:spcPts val="600"/>
              </a:spcAft>
            </a:pPr>
            <a:r>
              <a:rPr sz="1600" b="0">
                <a:solidFill>
                  <a:srgbClr val="222222"/>
                </a:solidFill>
                <a:latin typeface="맑은 고딕"/>
              </a:rPr>
              <a:t>•  실습 04 — 보존 초과와 베이스라인 보호 (🔒)</a:t>
            </a:r>
          </a:p>
          <a:p>
            <a:pPr algn="l">
              <a:spcAft>
                <a:spcPts val="600"/>
              </a:spcAft>
            </a:pPr>
            <a:r>
              <a:rPr sz="1600" b="0">
                <a:solidFill>
                  <a:srgbClr val="222222"/>
                </a:solidFill>
                <a:latin typeface="맑은 고딕"/>
              </a:rPr>
              <a:t>•  실습 05 — SYSAUX 사용량 추적 (🔒 SM/AWR 281.9MB)</a:t>
            </a:r>
          </a:p>
          <a:p>
            <a:pPr algn="l">
              <a:spcAft>
                <a:spcPts val="600"/>
              </a:spcAft>
            </a:pPr>
            <a:r>
              <a:rPr sz="1600" b="0">
                <a:solidFill>
                  <a:srgbClr val="222222"/>
                </a:solidFill>
                <a:latin typeface="맑은 고딕"/>
              </a:rPr>
              <a:t>•  실습 06 — Statspack 대안 경로 (라이선스 불필요)</a:t>
            </a:r>
          </a:p>
          <a:p>
            <a:pPr algn="l">
              <a:spcAft>
                <a:spcPts val="600"/>
              </a:spcAft>
            </a:pPr>
            <a:r>
              <a:rPr sz="1600" b="0">
                <a:solidFill>
                  <a:srgbClr val="222222"/>
                </a:solidFill>
                <a:latin typeface="맑은 고딕"/>
              </a:rPr>
              <a:t>•  ※ 환경: non-CDB orcl 19.3 · SYS@orcl&gt; / SQLT@orcl&gt; · '조치 전→조치→해석'+'이상→원인→조치→재확인'</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
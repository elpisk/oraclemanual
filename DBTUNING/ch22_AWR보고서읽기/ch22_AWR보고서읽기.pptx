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보고서는 두 스냅샷 사이의 인스턴스 활동을 한 장으로 요약한 것입니다. ch19에서 배운 DB Time, 시간 모델, 대기 클래스가 이 보고서 안에 모두 들어 있고, ch20에서 만든 스냅샷 인프라가 그 원천입니다. ch22은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 판독의 대전제는 이것이 델타 보고서라는 점입니다. ch19에서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ch19의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ch22이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ch26·ch27이 이 V$ 경로를 정면으로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판독한 부하는 ch24 ADDM과 ch25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ch24~ch27에서도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제ch22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8.2  AWR 보고서 생성 — awrrpt.sql과 섹션 구조</a:t>
            </a:r>
          </a:p>
          <a:p>
            <a:pPr algn="l">
              <a:spcAft>
                <a:spcPts val="600"/>
              </a:spcAft>
            </a:pPr>
            <a:r>
              <a:rPr sz="1600" b="0">
                <a:solidFill>
                  <a:srgbClr val="222222"/>
                </a:solidFill>
                <a:latin typeface="맑은 고딕"/>
              </a:rPr>
              <a:t>•  8.3  머리말 — DB Time / Elapsed = 평균 활성 세션</a:t>
            </a:r>
          </a:p>
          <a:p>
            <a:pPr algn="l">
              <a:spcAft>
                <a:spcPts val="600"/>
              </a:spcAft>
            </a:pPr>
            <a:r>
              <a:rPr sz="1600" b="0">
                <a:solidFill>
                  <a:srgbClr val="222222"/>
                </a:solidFill>
                <a:latin typeface="맑은 고딕"/>
              </a:rPr>
              <a:t>•  8.4  Load Profile — 초당 얼마나 일했는가</a:t>
            </a:r>
          </a:p>
          <a:p>
            <a:pPr algn="l">
              <a:spcAft>
                <a:spcPts val="600"/>
              </a:spcAft>
            </a:pPr>
            <a:r>
              <a:rPr sz="1600" b="0">
                <a:solidFill>
                  <a:srgbClr val="222222"/>
                </a:solidFill>
                <a:latin typeface="맑은 고딕"/>
              </a:rPr>
              <a:t>•  8.5  Top 10 Foreground Events — 상위 대기와 DB Time 비중</a:t>
            </a:r>
          </a:p>
          <a:p>
            <a:pPr algn="l">
              <a:spcAft>
                <a:spcPts val="600"/>
              </a:spcAft>
            </a:pPr>
            <a:r>
              <a:rPr sz="1600" b="0">
                <a:solidFill>
                  <a:srgbClr val="222222"/>
                </a:solidFill>
                <a:latin typeface="맑은 고딕"/>
              </a:rPr>
              <a:t>•  8.6  Instance Efficiency — 비율의 함정</a:t>
            </a:r>
          </a:p>
          <a:p>
            <a:pPr algn="l">
              <a:spcAft>
                <a:spcPts val="600"/>
              </a:spcAft>
            </a:pPr>
            <a:r>
              <a:rPr sz="1600" b="0">
                <a:solidFill>
                  <a:srgbClr val="222222"/>
                </a:solidFill>
                <a:latin typeface="맑은 고딕"/>
              </a:rPr>
              <a:t>•  8.7  SQL 정렬 섹션 — 대상 SQL 선별</a:t>
            </a:r>
          </a:p>
          <a:p>
            <a:pPr algn="l">
              <a:spcAft>
                <a:spcPts val="600"/>
              </a:spcAft>
            </a:pPr>
            <a:r>
              <a:rPr sz="1600" b="0">
                <a:solidFill>
                  <a:srgbClr val="222222"/>
                </a:solidFill>
                <a:latin typeface="맑은 고딕"/>
              </a:rPr>
              <a:t>•  8.8~8.9  Instance Activity / Advisory 판독</a:t>
            </a:r>
          </a:p>
          <a:p>
            <a:pPr algn="l">
              <a:spcAft>
                <a:spcPts val="600"/>
              </a:spcAft>
            </a:pPr>
            <a:r>
              <a:rPr sz="1600" b="0">
                <a:solidFill>
                  <a:srgbClr val="222222"/>
                </a:solidFill>
                <a:latin typeface="맑은 고딕"/>
              </a:rPr>
              <a:t>•  8.10~8.13  체크리스트 · 부하 없는 구간 · 라이선스 · 도구 연결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ch22의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ch19 DB Time·시간모델·대기클래스가 이 보고서 안에 다 있다</a:t>
            </a:r>
          </a:p>
          <a:p>
            <a:pPr algn="l">
              <a:spcAft>
                <a:spcPts val="600"/>
              </a:spcAft>
            </a:pPr>
            <a:r>
              <a:rPr sz="1700" b="0">
                <a:solidFill>
                  <a:srgbClr val="222222"/>
                </a:solidFill>
                <a:latin typeface="맑은 고딕"/>
              </a:rPr>
              <a:t>•  ch22은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누적값(ch19)</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ch19의 오판을 자동 교정</a:t>
            </a:r>
          </a:p>
          <a:p>
            <a:pPr algn="l">
              <a:spcAft>
                <a:spcPts val="600"/>
              </a:spcAft>
            </a:pPr>
            <a:r>
              <a:rPr sz="1700" b="0">
                <a:solidFill>
                  <a:srgbClr val="222222"/>
                </a:solidFill>
                <a:latin typeface="맑은 고딕"/>
              </a:rPr>
              <a:t>•  전제: 두 스냅샷 사이 재기동 없음(있으면 델타 음수)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(ch31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여지(ch33)</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ch34으로 연결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AWR(ch22): DB CPU 95.7%, 하드파싱 319/s, 논리읽기 1위 SQL</a:t>
            </a:r>
          </a:p>
          <a:p>
            <a:pPr algn="l">
              <a:spcAft>
                <a:spcPts val="600"/>
              </a:spcAft>
            </a:pPr>
            <a:r>
              <a:rPr sz="1700" b="0">
                <a:solidFill>
                  <a:srgbClr val="222222"/>
                </a:solidFill>
                <a:latin typeface="맑은 고딕"/>
              </a:rPr>
              <a:t>•  ADDM(ch24): 'Hard Parse Due to Literal Usage' 자동 진단</a:t>
            </a:r>
          </a:p>
          <a:p>
            <a:pPr algn="l">
              <a:spcAft>
                <a:spcPts val="600"/>
              </a:spcAft>
            </a:pPr>
            <a:r>
              <a:rPr sz="1700" b="0">
                <a:solidFill>
                  <a:srgbClr val="222222"/>
                </a:solidFill>
                <a:latin typeface="맑은 고딕"/>
              </a:rPr>
              <a:t>•  ASH(ch25):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
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ch22과 ch27에서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ch16에서 다룬 바인드 변수를 이 장은 공유 풀 점유라는 결과 쪽에서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어드바이저는 ch31의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제ch32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18.2  공유 풀은 무엇으로 차 있는가 — V$SGASTAT</a:t>
            </a:r>
          </a:p>
          <a:p>
            <a:pPr algn="l">
              <a:spcAft>
                <a:spcPts val="600"/>
              </a:spcAft>
            </a:pPr>
            <a:r>
              <a:rPr sz="1600" b="0">
                <a:solidFill>
                  <a:srgbClr val="222222"/>
                </a:solidFill>
                <a:latin typeface="맑은 고딕"/>
              </a:rPr>
              <a:t>•  18.3  라이브러리 캐시 판독 — V$LIBRARYCACHE</a:t>
            </a:r>
          </a:p>
          <a:p>
            <a:pPr algn="l">
              <a:spcAft>
                <a:spcPts val="600"/>
              </a:spcAft>
            </a:pPr>
            <a:r>
              <a:rPr sz="1600" b="0">
                <a:solidFill>
                  <a:srgbClr val="222222"/>
                </a:solidFill>
                <a:latin typeface="맑은 고딕"/>
              </a:rPr>
              <a:t>•  18.4  하드 파싱 — 공유 풀 부족의 진짜 원인</a:t>
            </a:r>
          </a:p>
          <a:p>
            <a:pPr algn="l">
              <a:spcAft>
                <a:spcPts val="600"/>
              </a:spcAft>
            </a:pPr>
            <a:r>
              <a:rPr sz="1600" b="0">
                <a:solidFill>
                  <a:srgbClr val="222222"/>
                </a:solidFill>
                <a:latin typeface="맑은 고딕"/>
              </a:rPr>
              <a:t>•  18.5  커서 공유 — CURSOR_SHARING</a:t>
            </a:r>
          </a:p>
          <a:p>
            <a:pPr algn="l">
              <a:spcAft>
                <a:spcPts val="600"/>
              </a:spcAft>
            </a:pPr>
            <a:r>
              <a:rPr sz="1600" b="0">
                <a:solidFill>
                  <a:srgbClr val="222222"/>
                </a:solidFill>
                <a:latin typeface="맑은 고딕"/>
              </a:rPr>
              <a:t>•  18.6  공유 풀 어드바이저 — V$SHARED_POOL_ADVICE</a:t>
            </a:r>
          </a:p>
          <a:p>
            <a:pPr algn="l">
              <a:spcAft>
                <a:spcPts val="600"/>
              </a:spcAft>
            </a:pPr>
            <a:r>
              <a:rPr sz="1600" b="0">
                <a:solidFill>
                  <a:srgbClr val="222222"/>
                </a:solidFill>
                <a:latin typeface="맑은 고딕"/>
              </a:rPr>
              <a:t>•  18.7  ORA-04031 재현과 해소</a:t>
            </a:r>
          </a:p>
          <a:p>
            <a:pPr algn="l">
              <a:spcAft>
                <a:spcPts val="600"/>
              </a:spcAft>
            </a:pPr>
            <a:r>
              <a:rPr sz="1600" b="0">
                <a:solidFill>
                  <a:srgbClr val="222222"/>
                </a:solidFill>
                <a:latin typeface="맑은 고딕"/>
              </a:rPr>
              <a:t>•  18.8  라지 풀 분리 — 공유 풀을 지키는 방벽</a:t>
            </a:r>
          </a:p>
          <a:p>
            <a:pPr algn="l">
              <a:spcAft>
                <a:spcPts val="600"/>
              </a:spcAft>
            </a:pPr>
            <a:r>
              <a:rPr sz="1600" b="0">
                <a:solidFill>
                  <a:srgbClr val="222222"/>
                </a:solidFill>
                <a:latin typeface="맑은 고딕"/>
              </a:rPr>
              <a:t>•  18.9~18.13  체크리스트 · 오판 · 라이선스 · 요약</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ch29~ch32 SGA 3부작의 마지막 · 다음은 ch33 결과캐시·PGA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ch16 바인드 변수를 '공유 풀 점유' 관점에서 다시 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(ch31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계산(ch26·ch27 경로)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
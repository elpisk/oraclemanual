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풀은 SQL 문장과 실행 계획, 데이터 사전을 담는 SGA 영역입니다. 버퍼 캐시가 데이터를 캐싱한다면 공유 풀은 그 데이터를 다루는 방법을 캐싱합니다. 그래서 공유 풀이 아프면 증상이 다릅니다. 디스크가 느린 게 아니라 같은 SQL을 매번 새로 파싱하느라 CPU를 태우고 래치와 뮤텍스에서 부딪칩니다. 초심자는 ORA-04031을 보면 반사적으로 크기를 키우지만, 근본 원인이 하드 파싱이면 더 큰 크기에서 다시 터집니다. 이 장은 크기가 아니라 파싱을 보는 진단 순서를 익힙니다.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항목이 진단 정보입니다. SQLA는 파싱된 SQL과 실행 계획이 사는 공유 SQL 영역이고, KGLH0와 KGLS는 커서와 객체 핸들이 사는 라이브러리 캐시 힙입니다. row cache mutex는 데이터 사전 캐시를 보호하는 구조입니다. free memory 67MB는 아직 할당되지 않은 여유입니다. 여기서 흔한 오해는 free memory가 넉넉하면 공유 풀이 충분하다고 보는 것입니다. 그러나 ORA-04031은 총량이 아니라 연속된 큰 덩어리가 없을 때도 납니다. 리터럴 커서가 공유 풀을 잘게 쪼개면 합계로는 여유가 있어도 작은 연속 공간 하나를 못 찾아 오류가 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운영에서 공유 풀 free memory가 60MB 넘게 남는데도 ORA-04031이 반복되는 사례가 흔합니다. 원인은 총량 부족이 아니라 리터럴 SQL이 만든 수만 개의 작은 커서가 공유 풀을 파편화한 것입니다. 크기를 키우면 며칠은 잠잠하지만 다시 터집니다. 근본 조치는 애플리케이션의 바인드 변수 전환이고, 임시로는 CURSOR_SHARING과 예약 풀 조정으로 버팁니다. 교훈은 명확합니다. free memory 총량은 ORA-04031을 배제하는 근거가 되지 못하며, 파편화와 파싱을 함께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먼저 볼 줄은 SQL AREA입니다. GET_HIT가 13.9%밖에 안 됩니다. 라이브러리 캐시에서 SQL을 찾으려 했지만 열 번 중 아홉 번은 이미 있는 커서를 못 찾았다는 뜻이고, 못 찾으면 새로 파싱합니다. 즉 하드 파싱입니다. 대비되는 줄이 TABLE/PROCEDURE로 GET_HIT 95.2%입니다. 테이블과 프로시저 정의는 잘 재사용되는데 유독 SQL 커서만 재사용이 안 됩니다. 리터럴 SQL의 전형적 지문입니다. 이 값들은 기동 이후 누적값이라, 실제 진단은 두 시점의 값을 빼는 델타로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RELOADS와 INVALIDATIONS는 비슷해 보이지만 원인이 다릅니다. RELOADS는 공간 압박 지표로, 파싱해 둔 커서가 LRU에 밀려 제거됐다가 다시 필요해 재파싱된 것입니다. 델타로 증가하면 공유 풀이 좁거나 리터럴 커서가 유효 커서를 밀어내고 있다는 뜻입니다. INVALIDATIONS는 변경 지표로, 커서가 참조하는 객체가 DDL이나 통계 재수집으로 바뀌어 무효화된 것입니다. 잦으면 업무 시간에 통계를 수집하거나 DDL을 남발하지 않는지 봅니다. 네임스페이스는 어느 종류의 객체가 압박받는지 좁혀 줍니다.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GET과 PIN의 차이를 알면 판독이 정확해집니다. GET은 객체 핸들을 찾는 동작이고 PIN은 그것을 실제로 쓰려고 고정하는 동작입니다. PINS가 GETS보다 큰 것은 자연스럽습니다. 한 번 찾은 커서를 여러 번 고정해 실행하기 때문입니다. GET_HIT가 낮으면 찾기 자체가 실패한 것이고, 새 SQL이라 공유 풀에 없다는 뜻입니다. PIN_HIT가 낮으면 찾긴 했는데 재파싱이 필요한 것이고, 밀려났다 왔거나 무효화됐다는 뜻입니다. 실측은 둘 다 낮아 리터럴로 새 커서가 계속 생기고 기존 커서도 밀려나는 이중고를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계산은 하드 파싱 비율입니다. hard 134042를 total 218056으로 나누면 약 0.615, 즉 61.5%입니다. 정상 OLTP라면 이 값은 0에 수렴해야 합니다. 애플리케이션이 같은 SQL을 바인드 변수로 반복하므로 첫 파싱만 하드이고 나머지는 소프트여야 하기 때문입니다. 그런데 61.5%가 하드라는 것은 매번 문장 텍스트가 조금씩 달라 재사용할 커서를 못 찾는다는 뜻입니다. parse time cpu 6804는 파싱에만 쓴 CPU로, 이 값이 크면 CPU가 일이 아니라 일 준비에 낭비되고 있다는 신호입니다. 앞의 SQL AREA GET_HIT 13.9%와 같은 이야기를 다른 각도에서 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하드 파싱이 공유 풀을 갉는 과정을 그림으로 정리합니다. 애플리케이션이 리터럴만 바꿔 수만 번 실행하면 오라클은 이들을 전부 다른 SQL로 보고 각각 하드 파싱해 각각의 커서를 만듭니다. 그 결과 첫째 CPU가 파싱에 낭비되고, 둘째 공유 풀이 일회용 커서로 부풀며, 셋째 새 커서 공간을 만드느라 유효한 커서를 밀어내 재파싱을 더 유발하는 악순환이 돕니다. 이 악순환의 종착역이 ORA-04031입니다. 크기를 키우면 악순환의 속도만 늦출 뿐, 리터럴이 계속 새 커서를 만드는 한 방향은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하드 파싱이 왜 비싼지 알면 조치의 근거가 단단해집니다. 하드 파싱은 구문 분석, 의미 분석, 공유 풀에서 동일 커서 탐색, 최적화, 커서 할당의 다섯 단계를 거칩니다. 마지막 할당 단계에서 라이브러리 캐시 뮤텍스와 shared pool 래치를 잡는데, 이 직렬화 장치는 한 번에 한 세션만 통과시킵니다. 여러 세션이 동시에 하드 파싱하면 여기서 줄을 섭니다. 그 줄서기가 8장과 14장에서 본 library cache mutex X, cursor pin S wait on X 대기로 나타납니다. 공유 풀 문제는 낮은 히트율, 높은 하드 파싱 비율, 뮤텍스·래치 경합의 세 얼굴로 드러나며, 셋이 같은 방향이면 진단은 확정입니다.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커서 공유를 이해하려면 바인드 변수 자체와 CURSOR_SHARING을 구분해야 합니다. 바인드 변수는 애플리케이션이 SQL을 작성할 때 값을 자리표시자로 넘기는 것으로, 처음부터 커서가 하나만 생깁니다. 이것이 정공법입니다. CURSOR_SHARING=FORCE는 애플리케이션이 리터럴을 그대로 박아 넣었을 때 오라클이 실행 시점에 그것을 바인드로 바꿔치기하는 것으로 사후 보정에 가깝습니다. 그래서 FORCE는 앱을 못 고칠 때의 차선책이고 성능과 계획 품질 면에서 앱 수정만 못합니다. 2장에서 다룬 바인드 변수를 이 장은 공유 풀 점유라는 결과 쪽에서 다시 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CURSOR_SHARING=FORCE로 바꾸면 오라클이 리터럴을 SYS_B_0 형태의 시스템 바인드로 치환합니다. EXACT에서 patient_id=101과 patient_id=102는 서로 다른 SQL이라 각각 하드 파싱되고 각각의 커서가 쌓이지만, FORCE에서는 두 문장이 하나의 커서를 공유해 하드 파싱이 한 번으로 줄고 공유 풀 점유도 급감합니다. 실습 3은 같은 리터럴 부하를 EXACT와 FORCE에서 각각 돌려 V$SGASTAT의 SQLA 증가분과 V$SQLAREA의 커서 개수를 대조합니다. 이 실습도 세션 수준으로만 바꿔 접속을 끊으면 원복되게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CURSOR_SHARING=FORCE는 만능이 아닙니다. 하드 파싱과 공유 풀 점유를 줄이는 강력한 임시방편이지만, 리터럴이 서로 다른 최적 계획을 요구하는 편중 컬럼에서는 하나의 계획을 공유해 성능이 나빠질 수 있습니다. 예를 들어 HOSP_ID처럼 값마다 건수가 크게 다른 컬럼은 리터럴별 히스토그램 기반 계획이 유리한데 FORCE가 이를 뭉갤 수 있습니다. 원칙은 이렇습니다. FORCE는 급한 불을 끄는 세션·시스템 임시 조치이고 근본 해법은 애플리케이션의 바인드 변수 전환입니다. 적용한 뒤에는 반드시 주요 SQL의 계획을 재검증해야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FACTOR 1.0인 416MB가 현재 크기입니다. SAVED는 현재 대비 라이브러리 캐시가 절약해 주는 파싱 시간의 상대 비율로 1.0이 현재 수준입니다. 아래쪽 축소를 보면 400MB에서 0.9363, 384MB에서 0.8626, 368MB에서 0.6424로 급락합니다. 지금보다 줄이면 파싱 절약이 빠르게 나빠지니 현재 크기가 이 부하에 필요하다는 뜻입니다. 위쪽 확대를 보면 464, 560MB로 아무리 키워도 SAVED가 1.0에 머물고 608MB에서 겨우 1.0007입니다. 즉 공유 풀을 키워도 파싱은 더 줄지 않습니다. 곡선이 평평하다는 것은 못 아끼는 파싱이 크기가 아니라 리터럴 때문이라는 결정적 단서입니다.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어드바이저는 17장의 V$DB_CACHE_ADVICE와 읽는 방식이 같습니다. 크기를 바꾸면 효과가 얼마나 변하는가의 곡선을 주고, 요령은 기울기가 꺾여 평평해지는 무릎을 찾는 것입니다. 무릎 이전은 확대가 유효하고 이후는 낭비입니다. 우리 실측은 416MB가 이미 무릎을 지난 지점이라 확대 곡선이 처음부터 평평합니다. 이 어드바이저가 이 장에서 특별한 이유는, ORA-04031을 만나 크기를 키우고 싶을 때 확대 곡선이 평평하면 그것이 크기를 키워도 소용없다는 정량적 증거이기 때문입니다. 곡선이 가파르면 확대, 평평하면 파싱 제거로 방향을 틉니다.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ORA-04031은 요청한 크기의 연속 메모리를 할당하지 못했다는 오류입니다. 메시지 괄호 안 네 조각이 원인을 말해 줍니다. 첫째 shared pool은 실패한 영역이 공유 풀이라는 뜻이고 라지 풀이면 large pool로 나옵니다. 둘째는 실패를 유발한 대상으로 여기서는 WL01_LIT 리터럴 커서입니다. 셋째 SQLA는 공유 SQL 영역 하위에서 할당하려 했다는 것이고, 넷째 kkscsAddChildNode는 자식 커서를 추가하는 함수입니다. 이 조합이 곧바로 원인을 말합니다. 리터럴 SQL이 자식 커서를 계속 추가하다 공유 SQL 영역에서 연속 공간을 못 찾았다, 즉 하드 파싱이 범인입니다.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ORA-04031을 만났을 때 조치의 순서가 이 장의 결론입니다. 급한 순서가 아니라 근본 순서입니다. 1순위는 하드 파싱 제거로 애플리케이션 바인드 변수 전환입니다. 원인을 없애지만 앱 수정이라 시간이 걸립니다. 2순위는 CURSOR_SHARING=FORCE로 리터럴을 바인드로 치환해 커서 폭증을 막습니다. 3순위는 예약 풀 조정으로 큰 연속 청크를 예약해 대형 할당 실패를 줄이지만 파편화 자체는 그대로입니다. 4순위가 크기 확대인데 어드바이저가 확대 유효를 보일 때만입니다. 크기를 먼저 키우는 것은 이 절차의 정반대입니다. ORA-04031 재현은 반드시 개인 실습 환경에서만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PX msg pool 15MB는 병렬 실행이 세션 간 데이터를 주고받는 메시지 버퍼입니다. 이것이 라지 풀에 있다는 사실 자체가 병렬 메시지 버퍼가 공유 풀을 침범하지 않고 라지 풀에 분리돼 있다는 증거입니다. 만약 라지 풀이 없었다면 이 15MB가 공유 풀에서 나왔을 것이고 그만큼 커서가 살 공간이 줄어 파싱 압박이 커졌을 것입니다. 라지 풀은 공유 풀과 달리 LRU 관리가 없습니다. 큰 버퍼는 잠깐 쓰고 통째로 반납되는 수명이라 LRU가 오히려 방해가 되기 때문입니다. 이 성질 덕분에 라지 풀에서 큰 할당은 파편화 걱정이 적습니다. 라지 풀을 분리하는 진짜 이유는 성격이 다른 메모리를 섞지 않는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라지 풀이 특히 중요한 세 사용처가 있습니다. 첫째 병렬 실행으로, PX 서버들이 데이터를 교환하는 메시지 버퍼가 라지 풀에서 나옵니다. 둘째 RMAN 백업·복구로, 디스크·테이프와 주고받는 대형 I/O 버퍼가 라지 풀을 씁니다. 셋째 공유 서버 구성으로, 세션의 UGA가 라지 풀에 놓이므로 없으면 세션 메모리가 공유 풀을 잠식합니다. 구성은 LARGE_POOL_SIZE로 하는데 ASMM에서는 이 값을 하한으로 잡으면 자동 조정이 그 아래로 내리지 않으면서 필요 시 위로 키웁니다. 병렬·RMAN 부하가 큰 시스템에서 이 하한을 명시하면 자동 조정 전 순간에도 공유 풀이 흔들리지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체크리스트의 핵심은 4단계에서 방향이 갈린다는 점입니다. 어드바이저 확대 곡선이 가파르면 크기 확대가 유효하고, 평평하면 5단계에서 파싱 제거로 방향을 틉니다. 이 실측 환경은 후자입니다. 1에서 3단계가 모두 하드 파싱 과다를 가리키고 4단계가 크기로는 해결 안 됨을 뒷받침하므로 결론은 바인드 변수 전환입니다. 측정 없이 크기부터 바꾸지 않고, ORA-04031을 크기로 봉합하지 않으며, 조치 순위를 지키고, 병렬·RMAN이 있으면 라지 풀을 분리합니다. 서로 다른 뷰의 숫자가 한 원인으로 수렴할 때 진단은 비로소 신뢰할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18.2부터 18.8까지의 판독을 하나로 모읍니다. V$SGASTAT의 SQLA와 KGLH0가 커서로 공유 풀을 점유하고, V$LIBRARYCACHE의 SQL AREA GET_HIT 13.9%와 RELOADS 2441이 커서 재사용 실패를 보이며, 파싱 통계의 하드 파싱 비율 61.5%가 리터럴을 확증하고, 어드바이저의 평평한 확대 곡선이 크기로는 해결이 안 됨을 증명합니다. 한편 라지 풀의 PX msg pool 15MB는 병렬 버퍼가 공유 풀을 침범하지 않게 분리돼 있음을 보여 줍니다. 서로 다른 뷰의 숫자가 모두 한 곳, 리터럴 하드 파싱을 가리킵니다. 공유 풀 튜닝은 큰 숫자를 키우는 일이 아니라 왜 커서가 재사용되지 않는가를 추적하는 일입니다. 답은 바인드 변수입니다.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장이 반복해 경계하는 오판은 넷입니다. 첫째 ORA-04031을 크기만 키워 봉합하는 것으로, 원인이 파싱이면 더 큰 크기에서 재발합니다. 둘째 free memory가 넉넉하니 공유 풀이 충분하다고 보는 것으로, 파편화를 무시한 판단입니다. 셋째 라이브러리 캐시 히트율이 낮으니 무조건 확대하는 것으로, 어드바이저로 확대가 유효한지부터 봐야 합니다. 넷째 CURSOR_SHARING=FORCE면 만사형통이라 여기는 것으로, 편중 컬럼에서 계획이 저하될 수 있습니다. 네 오판의 공통 처방은 오류 메시지로 원인 영역을 식별하고, 어드바이저로 크기 효과를 판정하고, 조치 순위를 지키는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쓰는 진단 도구는 대부분 라이선스와 무관합니다. V$LIBRARYCACHE, V$SGASTAT, V$SYSSTAT, V$SQLAREA, V$SQL은 기본 동적 성능 뷰이고 V$SHARED_POOL_ADVICE 같은 어드바이저 뷰도 Diagnostics나 Tuning Pack 없이 조회할 수 있습니다. 즉 공유 풀과 라지 풀 튜닝의 핵심 진단은 어떤 에디션에서도 그대로 수행됩니다. Diagnostics Pack이 필요한 경우는 이 지표들의 이력을 볼 때뿐입니다. DBA_HIST_LIBRARYCACHE 같은 AWR 이력 뷰나 AWR 보고서의 공유 풀 어드바이저 섹션을 볼 때입니다. 라이선스가 없으면 실시간 V$ 뷰를 두 시점에 조회해 델타를 계산하는 것으로 충분히 대체됩니다.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r>
              <a:rPr sz="3400" b="1">
                <a:solidFill>
                  <a:srgbClr val="C0392B"/>
                </a:solidFill>
                <a:latin typeface="맑은 고딕"/>
              </a:rPr>
              <a:t>SGA 튜닝 ② 공유 풀과 라지 풀</a:t>
            </a:r>
          </a:p>
          <a:p>
            <a:pPr algn="l"/>
            <a:r>
              <a:rPr sz="2000" b="0">
                <a:solidFill>
                  <a:srgbClr val="5A6672"/>
                </a:solidFill>
                <a:latin typeface="맑은 고딕"/>
              </a:rPr>
              <a:t>Shared Pool &amp; Large Pool — 부족의 진짜 원인은 파싱이다</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라이브러리 캐시 · 하드 파싱 · CURSOR_SHARING · V$SHARED_POOL_ADVICE · ORA-04031 · 라지 풀 분리</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제18장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V$SGASTAT으로 공유 풀 구성을 읽고 파편화·부풀림을 판별한다.</a:t>
            </a:r>
          </a:p>
          <a:p>
            <a:pPr algn="l">
              <a:spcAft>
                <a:spcPts val="600"/>
              </a:spcAft>
            </a:pPr>
            <a:r>
              <a:rPr sz="1600" b="0">
                <a:solidFill>
                  <a:srgbClr val="222222"/>
                </a:solidFill>
                <a:latin typeface="맑은 고딕"/>
              </a:rPr>
              <a:t>•  V$LIBRARYCACHE의 히트율·RELOADS·INVALIDATIONS로 커서 재사용을 진단한다.</a:t>
            </a:r>
          </a:p>
          <a:p>
            <a:pPr algn="l">
              <a:spcAft>
                <a:spcPts val="600"/>
              </a:spcAft>
            </a:pPr>
            <a:r>
              <a:rPr sz="1600" b="0">
                <a:solidFill>
                  <a:srgbClr val="222222"/>
                </a:solidFill>
                <a:latin typeface="맑은 고딕"/>
              </a:rPr>
              <a:t>•  파싱 통계로 하드 파싱 비율을 계산하고 리터럴 SQL을 지목한다.</a:t>
            </a:r>
          </a:p>
          <a:p>
            <a:pPr algn="l">
              <a:spcAft>
                <a:spcPts val="600"/>
              </a:spcAft>
            </a:pPr>
            <a:r>
              <a:rPr sz="1600" b="0">
                <a:solidFill>
                  <a:srgbClr val="222222"/>
                </a:solidFill>
                <a:latin typeface="맑은 고딕"/>
              </a:rPr>
              <a:t>•  CURSOR_SHARING이 공유 풀 점유를 어떻게 바꾸는지 이해하고 한계를 안다.</a:t>
            </a:r>
          </a:p>
          <a:p>
            <a:pPr algn="l">
              <a:spcAft>
                <a:spcPts val="600"/>
              </a:spcAft>
            </a:pPr>
            <a:r>
              <a:rPr sz="1600" b="0">
                <a:solidFill>
                  <a:srgbClr val="222222"/>
                </a:solidFill>
                <a:latin typeface="맑은 고딕"/>
              </a:rPr>
              <a:t>•  V$SHARED_POOL_ADVICE로 '크기 확대가 유효한가'를 판정한다.</a:t>
            </a:r>
          </a:p>
          <a:p>
            <a:pPr algn="l">
              <a:spcAft>
                <a:spcPts val="600"/>
              </a:spcAft>
            </a:pPr>
            <a:r>
              <a:rPr sz="1600" b="0">
                <a:solidFill>
                  <a:srgbClr val="222222"/>
                </a:solidFill>
                <a:latin typeface="맑은 고딕"/>
              </a:rPr>
              <a:t>•  ORA-04031을 메시지로 원인 영역부터 식별하고 순서대로 해소한다.</a:t>
            </a:r>
          </a:p>
          <a:p>
            <a:pPr algn="l">
              <a:spcAft>
                <a:spcPts val="600"/>
              </a:spcAft>
            </a:pPr>
            <a:r>
              <a:rPr sz="1600" b="0">
                <a:solidFill>
                  <a:srgbClr val="222222"/>
                </a:solidFill>
                <a:latin typeface="맑은 고딕"/>
              </a:rPr>
              <a:t>•  라지 풀을 분리해 병렬·RMAN 버퍼가 공유 풀을 침범하지 않게 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18.2  공유 풀은 무엇으로 차 있는가 — V$SGASTAT</a:t>
            </a:r>
          </a:p>
          <a:p>
            <a:pPr algn="l">
              <a:spcAft>
                <a:spcPts val="600"/>
              </a:spcAft>
            </a:pPr>
            <a:r>
              <a:rPr sz="1600" b="0">
                <a:solidFill>
                  <a:srgbClr val="222222"/>
                </a:solidFill>
                <a:latin typeface="맑은 고딕"/>
              </a:rPr>
              <a:t>•  18.3  라이브러리 캐시 판독 — V$LIBRARYCACHE</a:t>
            </a:r>
          </a:p>
          <a:p>
            <a:pPr algn="l">
              <a:spcAft>
                <a:spcPts val="600"/>
              </a:spcAft>
            </a:pPr>
            <a:r>
              <a:rPr sz="1600" b="0">
                <a:solidFill>
                  <a:srgbClr val="222222"/>
                </a:solidFill>
                <a:latin typeface="맑은 고딕"/>
              </a:rPr>
              <a:t>•  18.4  하드 파싱 — 공유 풀 부족의 진짜 원인</a:t>
            </a:r>
          </a:p>
          <a:p>
            <a:pPr algn="l">
              <a:spcAft>
                <a:spcPts val="600"/>
              </a:spcAft>
            </a:pPr>
            <a:r>
              <a:rPr sz="1600" b="0">
                <a:solidFill>
                  <a:srgbClr val="222222"/>
                </a:solidFill>
                <a:latin typeface="맑은 고딕"/>
              </a:rPr>
              <a:t>•  18.5  커서 공유 — CURSOR_SHARING</a:t>
            </a:r>
          </a:p>
          <a:p>
            <a:pPr algn="l">
              <a:spcAft>
                <a:spcPts val="600"/>
              </a:spcAft>
            </a:pPr>
            <a:r>
              <a:rPr sz="1600" b="0">
                <a:solidFill>
                  <a:srgbClr val="222222"/>
                </a:solidFill>
                <a:latin typeface="맑은 고딕"/>
              </a:rPr>
              <a:t>•  18.6  공유 풀 어드바이저 — V$SHARED_POOL_ADVICE</a:t>
            </a:r>
          </a:p>
          <a:p>
            <a:pPr algn="l">
              <a:spcAft>
                <a:spcPts val="600"/>
              </a:spcAft>
            </a:pPr>
            <a:r>
              <a:rPr sz="1600" b="0">
                <a:solidFill>
                  <a:srgbClr val="222222"/>
                </a:solidFill>
                <a:latin typeface="맑은 고딕"/>
              </a:rPr>
              <a:t>•  18.7  ORA-04031 재현과 해소</a:t>
            </a:r>
          </a:p>
          <a:p>
            <a:pPr algn="l">
              <a:spcAft>
                <a:spcPts val="600"/>
              </a:spcAft>
            </a:pPr>
            <a:r>
              <a:rPr sz="1600" b="0">
                <a:solidFill>
                  <a:srgbClr val="222222"/>
                </a:solidFill>
                <a:latin typeface="맑은 고딕"/>
              </a:rPr>
              <a:t>•  18.8  라지 풀 분리 — 공유 풀을 지키는 방벽</a:t>
            </a:r>
          </a:p>
          <a:p>
            <a:pPr algn="l">
              <a:spcAft>
                <a:spcPts val="600"/>
              </a:spcAft>
            </a:pPr>
            <a:r>
              <a:rPr sz="1600" b="0">
                <a:solidFill>
                  <a:srgbClr val="222222"/>
                </a:solidFill>
                <a:latin typeface="맑은 고딕"/>
              </a:rPr>
              <a:t>•  18.9~18.13  체크리스트 · 오판 · 라이선스 · 요약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공유 풀을 왜 따로 보는가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18장의 한 문장</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버퍼 캐시=데이터, 공유 풀=데이터를 다루는 '방법'(SQL·커서)</a:t>
            </a:r>
          </a:p>
          <a:p>
            <a:pPr algn="l">
              <a:spcAft>
                <a:spcPts val="600"/>
              </a:spcAft>
            </a:pPr>
            <a:r>
              <a:rPr sz="1700" b="0">
                <a:solidFill>
                  <a:srgbClr val="222222"/>
                </a:solidFill>
                <a:latin typeface="맑은 고딕"/>
              </a:rPr>
              <a:t>•  공유 풀이 아프면 디스크가 아니라 파싱이 CPU를 태운다</a:t>
            </a:r>
          </a:p>
          <a:p>
            <a:pPr algn="l">
              <a:spcAft>
                <a:spcPts val="600"/>
              </a:spcAft>
            </a:pPr>
            <a:r>
              <a:rPr sz="1700" b="0">
                <a:solidFill>
                  <a:srgbClr val="222222"/>
                </a:solidFill>
                <a:latin typeface="맑은 고딕"/>
              </a:rPr>
              <a:t>•  핵심: 공유 풀 부족의 진짜 원인은 대개 크기가 아니라 파싱</a:t>
            </a:r>
          </a:p>
          <a:p>
            <a:pPr algn="l">
              <a:spcAft>
                <a:spcPts val="600"/>
              </a:spcAft>
            </a:pPr>
            <a:r>
              <a:rPr sz="1700" b="0">
                <a:solidFill>
                  <a:srgbClr val="222222"/>
                </a:solidFill>
                <a:latin typeface="맑은 고딕"/>
              </a:rPr>
              <a:t>•  ORA-04031을 크기만 키워 임시 봉합하지 않는다</a:t>
            </a:r>
          </a:p>
          <a:p>
            <a:pPr algn="l">
              <a:spcAft>
                <a:spcPts val="600"/>
              </a:spcAft>
            </a:pPr>
            <a:r>
              <a:rPr sz="1700" b="0">
                <a:solidFill>
                  <a:srgbClr val="222222"/>
                </a:solidFill>
                <a:latin typeface="맑은 고딕"/>
              </a:rPr>
              <a:t>•  도구 3층: V$SGASTAT → V$LIBRARYCACHE·파싱통계 → 어드바이저</a:t>
            </a:r>
          </a:p>
          <a:p>
            <a:pPr algn="l">
              <a:spcAft>
                <a:spcPts val="600"/>
              </a:spcAft>
            </a:pPr>
            <a:r>
              <a:rPr sz="1700" b="0">
                <a:solidFill>
                  <a:srgbClr val="222222"/>
                </a:solidFill>
                <a:latin typeface="맑은 고딕"/>
              </a:rPr>
              <a:t>•  16~18장 SGA 3부작의 마지막 · 다음은 19장 결과캐시·PGA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18.2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공유 풀 구성 — V$SGASTAT</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공유 풀을 구성 요소 단위로 쪼개 본다</a:t>
            </a:r>
          </a:p>
          <a:p>
            <a:pPr algn="l">
              <a:spcAft>
                <a:spcPts val="400"/>
              </a:spcAft>
            </a:pPr>
            <a:r>
              <a:rPr sz="1600" b="0">
                <a:solidFill>
                  <a:srgbClr val="FFFFFF"/>
                </a:solidFill>
                <a:latin typeface="맑은 고딕"/>
              </a:rPr>
              <a:t>•  SQLA=공유 SQL, KGLH0/KGLS=라이브러리 캐시 힙</a:t>
            </a:r>
          </a:p>
          <a:p>
            <a:pPr algn="l">
              <a:spcAft>
                <a:spcPts val="400"/>
              </a:spcAft>
            </a:pPr>
            <a:r>
              <a:rPr sz="1600" b="0">
                <a:solidFill>
                  <a:srgbClr val="FFFFFF"/>
                </a:solidFill>
                <a:latin typeface="맑은 고딕"/>
              </a:rPr>
              <a:t>•  free memory 총량이 넉넉해도 파편화로 ORA-04031</a:t>
            </a:r>
          </a:p>
          <a:p>
            <a:pPr algn="l">
              <a:spcAft>
                <a:spcPts val="400"/>
              </a:spcAft>
            </a:pPr>
            <a:r>
              <a:rPr sz="1600" b="0">
                <a:solidFill>
                  <a:srgbClr val="FFFFFF"/>
                </a:solidFill>
                <a:latin typeface="맑은 고딕"/>
              </a:rPr>
              <a:t>•  row cache=데이터 사전 캐시도 공유 풀에 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공유 풀 구성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V$SGASTAT (pool='shared pool' 상위)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NAME                          MB</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free memory                67.22</a:t>
            </a:r>
          </a:p>
          <a:p>
            <a:pPr>
              <a:spcBef>
                <a:spcPts val="0"/>
              </a:spcBef>
              <a:spcAft>
                <a:spcPts val="0"/>
              </a:spcAft>
            </a:pPr>
            <a:r>
              <a:rPr sz="1250">
                <a:solidFill>
                  <a:srgbClr val="F2F2F2"/>
                </a:solidFill>
                <a:latin typeface="Consolas"/>
              </a:rPr>
              <a:t>SQLA                       30.71</a:t>
            </a:r>
          </a:p>
          <a:p>
            <a:pPr>
              <a:spcBef>
                <a:spcPts val="0"/>
              </a:spcBef>
              <a:spcAft>
                <a:spcPts val="0"/>
              </a:spcAft>
            </a:pPr>
            <a:r>
              <a:rPr sz="1250">
                <a:solidFill>
                  <a:srgbClr val="F2F2F2"/>
                </a:solidFill>
                <a:latin typeface="Consolas"/>
              </a:rPr>
              <a:t>KGLH0                      25.82</a:t>
            </a:r>
          </a:p>
          <a:p>
            <a:pPr>
              <a:spcBef>
                <a:spcPts val="0"/>
              </a:spcBef>
              <a:spcAft>
                <a:spcPts val="0"/>
              </a:spcAft>
            </a:pPr>
            <a:r>
              <a:rPr sz="1250">
                <a:solidFill>
                  <a:srgbClr val="F2F2F2"/>
                </a:solidFill>
                <a:latin typeface="Consolas"/>
              </a:rPr>
              <a:t>ksunfy_meta 1              19.74</a:t>
            </a:r>
          </a:p>
          <a:p>
            <a:pPr>
              <a:spcBef>
                <a:spcPts val="0"/>
              </a:spcBef>
              <a:spcAft>
                <a:spcPts val="0"/>
              </a:spcAft>
            </a:pPr>
            <a:r>
              <a:rPr sz="1250">
                <a:solidFill>
                  <a:srgbClr val="F2F2F2"/>
                </a:solidFill>
                <a:latin typeface="Consolas"/>
              </a:rPr>
              <a:t>ASH buffers                16.00</a:t>
            </a:r>
          </a:p>
          <a:p>
            <a:pPr>
              <a:spcBef>
                <a:spcPts val="0"/>
              </a:spcBef>
              <a:spcAft>
                <a:spcPts val="0"/>
              </a:spcAft>
            </a:pPr>
            <a:r>
              <a:rPr sz="1250">
                <a:solidFill>
                  <a:srgbClr val="F2F2F2"/>
                </a:solidFill>
                <a:latin typeface="Consolas"/>
              </a:rPr>
              <a:t>SO private sga             13.49</a:t>
            </a:r>
          </a:p>
          <a:p>
            <a:pPr>
              <a:spcBef>
                <a:spcPts val="0"/>
              </a:spcBef>
              <a:spcAft>
                <a:spcPts val="0"/>
              </a:spcAft>
            </a:pPr>
            <a:r>
              <a:rPr sz="1250">
                <a:solidFill>
                  <a:srgbClr val="F2F2F2"/>
                </a:solidFill>
                <a:latin typeface="Consolas"/>
              </a:rPr>
              <a:t>row cache mutex             8.60</a:t>
            </a:r>
          </a:p>
          <a:p>
            <a:pPr>
              <a:spcBef>
                <a:spcPts val="0"/>
              </a:spcBef>
              <a:spcAft>
                <a:spcPts val="0"/>
              </a:spcAft>
            </a:pPr>
            <a:r>
              <a:rPr sz="1250">
                <a:solidFill>
                  <a:srgbClr val="F2F2F2"/>
                </a:solidFill>
                <a:latin typeface="Consolas"/>
              </a:rPr>
              <a:t>KGLS                        7.49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free memory가 넉넉한데 ORA-04031?</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총량이 아니라 파편화가 문제</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ORA-04031 = 요청한 크기의 '연속' 공간 할당 실패</a:t>
            </a:r>
          </a:p>
          <a:p>
            <a:pPr algn="l">
              <a:spcAft>
                <a:spcPts val="600"/>
              </a:spcAft>
            </a:pPr>
            <a:r>
              <a:rPr sz="1700" b="0">
                <a:solidFill>
                  <a:srgbClr val="222222"/>
                </a:solidFill>
                <a:latin typeface="맑은 고딕"/>
              </a:rPr>
              <a:t>•  리터럴 커서 수만 개 → 공유 풀을 잘게 파편화</a:t>
            </a:r>
          </a:p>
          <a:p>
            <a:pPr algn="l">
              <a:spcAft>
                <a:spcPts val="600"/>
              </a:spcAft>
            </a:pPr>
            <a:r>
              <a:rPr sz="1700" b="0">
                <a:solidFill>
                  <a:srgbClr val="222222"/>
                </a:solidFill>
                <a:latin typeface="맑은 고딕"/>
              </a:rPr>
              <a:t>•  합계 여유 60MB인데 5KB 연속 청크 하나가 없다</a:t>
            </a:r>
          </a:p>
          <a:p>
            <a:pPr algn="l">
              <a:spcAft>
                <a:spcPts val="600"/>
              </a:spcAft>
            </a:pPr>
            <a:r>
              <a:rPr sz="1700" b="0">
                <a:solidFill>
                  <a:srgbClr val="222222"/>
                </a:solidFill>
                <a:latin typeface="맑은 고딕"/>
              </a:rPr>
              <a:t>•  → free memory 총량은 ORA-04031을 배제하지 못한다</a:t>
            </a:r>
          </a:p>
          <a:p>
            <a:pPr algn="l">
              <a:spcAft>
                <a:spcPts val="600"/>
              </a:spcAft>
            </a:pPr>
            <a:r>
              <a:rPr sz="1700" b="0">
                <a:solidFill>
                  <a:srgbClr val="222222"/>
                </a:solidFill>
                <a:latin typeface="맑은 고딕"/>
              </a:rPr>
              <a:t>•  크기 확대는 며칠 봉합, 근본은 바인드 변수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18.3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라이브러리 캐시 판독</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GET_HIT/PIN_HIT=커서 재사용 성공률</a:t>
            </a:r>
          </a:p>
          <a:p>
            <a:pPr algn="l">
              <a:spcAft>
                <a:spcPts val="400"/>
              </a:spcAft>
            </a:pPr>
            <a:r>
              <a:rPr sz="1600" b="0">
                <a:solidFill>
                  <a:srgbClr val="FFFFFF"/>
                </a:solidFill>
                <a:latin typeface="맑은 고딕"/>
              </a:rPr>
              <a:t>•  RELOADS=공간 압박, INVALIDATIONS=객체 변경</a:t>
            </a:r>
          </a:p>
          <a:p>
            <a:pPr algn="l">
              <a:spcAft>
                <a:spcPts val="400"/>
              </a:spcAft>
            </a:pPr>
            <a:r>
              <a:rPr sz="1600" b="0">
                <a:solidFill>
                  <a:srgbClr val="FFFFFF"/>
                </a:solidFill>
                <a:latin typeface="맑은 고딕"/>
              </a:rPr>
              <a:t>•  SQL AREA 낮고 TABLE/PROCEDURE 높으면 리터럴 신호</a:t>
            </a:r>
          </a:p>
          <a:p>
            <a:pPr algn="l">
              <a:spcAft>
                <a:spcPts val="400"/>
              </a:spcAft>
            </a:pPr>
            <a:r>
              <a:rPr sz="1600" b="0">
                <a:solidFill>
                  <a:srgbClr val="FFFFFF"/>
                </a:solidFill>
                <a:latin typeface="맑은 고딕"/>
              </a:rPr>
              <a:t>•  누적값이므로 델타로 진단한다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라이브러리 캐시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V$LIBRARYCACHE (gets 상위)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NAMESPACE          GETS  GET_HIT  PIN_HIT RELOADS INVALID</a:t>
            </a:r>
          </a:p>
          <a:p>
            <a:pPr>
              <a:spcBef>
                <a:spcPts val="0"/>
              </a:spcBef>
              <a:spcAft>
                <a:spcPts val="0"/>
              </a:spcAft>
            </a:pPr>
            <a:r>
              <a:rPr sz="1250">
                <a:solidFill>
                  <a:srgbClr val="F2F2F2"/>
                </a:solidFill>
                <a:latin typeface="Consolas"/>
              </a:rPr>
              <a:t>--------------- ------- -------- -------- ------- -------</a:t>
            </a:r>
          </a:p>
          <a:p>
            <a:pPr>
              <a:spcBef>
                <a:spcPts val="0"/>
              </a:spcBef>
              <a:spcAft>
                <a:spcPts val="0"/>
              </a:spcAft>
            </a:pPr>
            <a:r>
              <a:rPr sz="1250">
                <a:solidFill>
                  <a:srgbClr val="F2F2F2"/>
                </a:solidFill>
                <a:latin typeface="Consolas"/>
              </a:rPr>
              <a:t>SQL AREA         304311     13.9     44.6    2441     699</a:t>
            </a:r>
          </a:p>
          <a:p>
            <a:pPr>
              <a:spcBef>
                <a:spcPts val="0"/>
              </a:spcBef>
              <a:spcAft>
                <a:spcPts val="0"/>
              </a:spcAft>
            </a:pPr>
            <a:r>
              <a:rPr sz="1250">
                <a:solidFill>
                  <a:srgbClr val="F2F2F2"/>
                </a:solidFill>
                <a:latin typeface="Consolas"/>
              </a:rPr>
              <a:t>TABLE/PROCEDURE  163666     95.2     97.2    4318       0</a:t>
            </a:r>
          </a:p>
          <a:p>
            <a:pPr>
              <a:spcBef>
                <a:spcPts val="0"/>
              </a:spcBef>
              <a:spcAft>
                <a:spcPts val="0"/>
              </a:spcAft>
            </a:pPr>
            <a:r>
              <a:rPr sz="1250">
                <a:solidFill>
                  <a:srgbClr val="F2F2F2"/>
                </a:solidFill>
                <a:latin typeface="Consolas"/>
              </a:rPr>
              <a:t>SCHEMA            10179     99.7    100.0       0       0</a:t>
            </a:r>
          </a:p>
          <a:p>
            <a:pPr>
              <a:spcBef>
                <a:spcPts val="0"/>
              </a:spcBef>
              <a:spcAft>
                <a:spcPts val="0"/>
              </a:spcAft>
            </a:pPr>
            <a:r>
              <a:rPr sz="1250">
                <a:solidFill>
                  <a:srgbClr val="F2F2F2"/>
                </a:solidFill>
                <a:latin typeface="Consolas"/>
              </a:rPr>
              <a:t>BODY               2174     93.6     97.1     106       0</a:t>
            </a:r>
          </a:p>
          <a:p>
            <a:pPr>
              <a:spcBef>
                <a:spcPts val="0"/>
              </a:spcBef>
              <a:spcAft>
                <a:spcPts val="0"/>
              </a:spcAft>
            </a:pPr>
            <a:r>
              <a:rPr sz="1250">
                <a:solidFill>
                  <a:srgbClr val="F2F2F2"/>
                </a:solidFill>
                <a:latin typeface="Consolas"/>
              </a:rPr>
              <a:t>INDEX              1216     84.4     70.8     163       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RELOADS와 INVALIDATIONS는 다르다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원인이 다르니 조치도 갈린다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RELOADS = 공간 압박: 커서가 밀려났다 재적재(재파싱)</a:t>
            </a:r>
          </a:p>
          <a:p>
            <a:pPr algn="l">
              <a:spcAft>
                <a:spcPts val="600"/>
              </a:spcAft>
            </a:pPr>
            <a:r>
              <a:rPr sz="1700" b="0">
                <a:solidFill>
                  <a:srgbClr val="222222"/>
                </a:solidFill>
                <a:latin typeface="맑은 고딕"/>
              </a:rPr>
              <a:t>•    → 공유 풀이 좁거나 리터럴이 유효 커서를 밀어냄</a:t>
            </a:r>
          </a:p>
          <a:p>
            <a:pPr algn="l">
              <a:spcAft>
                <a:spcPts val="600"/>
              </a:spcAft>
            </a:pPr>
            <a:r>
              <a:rPr sz="1700" b="0">
                <a:solidFill>
                  <a:srgbClr val="222222"/>
                </a:solidFill>
                <a:latin typeface="맑은 고딕"/>
              </a:rPr>
              <a:t>•  INVALIDATIONS = 변경: DDL·통계 재수집으로 커서 무효화</a:t>
            </a:r>
          </a:p>
          <a:p>
            <a:pPr algn="l">
              <a:spcAft>
                <a:spcPts val="600"/>
              </a:spcAft>
            </a:pPr>
            <a:r>
              <a:rPr sz="1700" b="0">
                <a:solidFill>
                  <a:srgbClr val="222222"/>
                </a:solidFill>
                <a:latin typeface="맑은 고딕"/>
              </a:rPr>
              <a:t>•    → 업무 시간 통계수집·DDL 남발 점검</a:t>
            </a:r>
          </a:p>
          <a:p>
            <a:pPr algn="l">
              <a:spcAft>
                <a:spcPts val="600"/>
              </a:spcAft>
            </a:pPr>
            <a:r>
              <a:rPr sz="1700" b="0">
                <a:solidFill>
                  <a:srgbClr val="222222"/>
                </a:solidFill>
                <a:latin typeface="맑은 고딕"/>
              </a:rPr>
              <a:t>•  네임스페이스로 '어느 종류 객체가 압박받나' 좁힘</a:t>
            </a:r>
          </a:p>
          <a:p>
            <a:pPr algn="l">
              <a:spcAft>
                <a:spcPts val="600"/>
              </a:spcAft>
            </a:pPr>
            <a:r>
              <a:rPr sz="1700" b="0">
                <a:solidFill>
                  <a:srgbClr val="222222"/>
                </a:solidFill>
                <a:latin typeface="맑은 고딕"/>
              </a:rPr>
              <a:t>•  BODY RELOADS 튀면 → 대형 패키지 KEEP 고정 검토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GET과 PIN, 그리고 낮은 값의 의미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이중고: 새 커서 + 밀려남</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GET=핸들 찾기, PIN=실행하려 고정하기</a:t>
            </a:r>
          </a:p>
          <a:p>
            <a:pPr algn="l">
              <a:spcAft>
                <a:spcPts val="600"/>
              </a:spcAft>
            </a:pPr>
            <a:r>
              <a:rPr sz="1700" b="0">
                <a:solidFill>
                  <a:srgbClr val="222222"/>
                </a:solidFill>
                <a:latin typeface="맑은 고딕"/>
              </a:rPr>
              <a:t>•  PINS(70만) &gt; GETS(30만): 한 번 찾아 여러 번 실행 (자연)</a:t>
            </a:r>
          </a:p>
          <a:p>
            <a:pPr algn="l">
              <a:spcAft>
                <a:spcPts val="600"/>
              </a:spcAft>
            </a:pPr>
            <a:r>
              <a:rPr sz="1700" b="0">
                <a:solidFill>
                  <a:srgbClr val="222222"/>
                </a:solidFill>
                <a:latin typeface="맑은 고딕"/>
              </a:rPr>
              <a:t>•  GET_HIT 낮음 = 찾기 자체 실패(새 SQL이라 없음)</a:t>
            </a:r>
          </a:p>
          <a:p>
            <a:pPr algn="l">
              <a:spcAft>
                <a:spcPts val="600"/>
              </a:spcAft>
            </a:pPr>
            <a:r>
              <a:rPr sz="1700" b="0">
                <a:solidFill>
                  <a:srgbClr val="222222"/>
                </a:solidFill>
                <a:latin typeface="맑은 고딕"/>
              </a:rPr>
              <a:t>•  PIN_HIT 낮음 = 찾았는데 재파싱 필요(밀려났다/무효화)</a:t>
            </a:r>
          </a:p>
          <a:p>
            <a:pPr algn="l">
              <a:spcAft>
                <a:spcPts val="600"/>
              </a:spcAft>
            </a:pPr>
            <a:r>
              <a:rPr sz="1700" b="0">
                <a:solidFill>
                  <a:srgbClr val="222222"/>
                </a:solidFill>
                <a:latin typeface="맑은 고딕"/>
              </a:rPr>
              <a:t>•  실측은 둘 다 낮음 → 리터럴+밀려남 이중고</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18.4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하드 파싱 — 진짜 원인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소프트=커서 재사용, 하드=처음부터 파싱</a:t>
            </a:r>
          </a:p>
          <a:p>
            <a:pPr algn="l">
              <a:spcAft>
                <a:spcPts val="400"/>
              </a:spcAft>
            </a:pPr>
            <a:r>
              <a:rPr sz="1600" b="0">
                <a:solidFill>
                  <a:srgbClr val="FFFFFF"/>
                </a:solidFill>
                <a:latin typeface="맑은 고딕"/>
              </a:rPr>
              <a:t>•  하드 파싱 비율 = hard/total, 정상은 0에 수렴</a:t>
            </a:r>
          </a:p>
          <a:p>
            <a:pPr algn="l">
              <a:spcAft>
                <a:spcPts val="400"/>
              </a:spcAft>
            </a:pPr>
            <a:r>
              <a:rPr sz="1600" b="0">
                <a:solidFill>
                  <a:srgbClr val="FFFFFF"/>
                </a:solidFill>
                <a:latin typeface="맑은 고딕"/>
              </a:rPr>
              <a:t>•  실측 134042/218056 ≈ 61.5% → 리터럴 폭증</a:t>
            </a:r>
          </a:p>
          <a:p>
            <a:pPr algn="l">
              <a:spcAft>
                <a:spcPts val="400"/>
              </a:spcAft>
            </a:pPr>
            <a:r>
              <a:rPr sz="1600" b="0">
                <a:solidFill>
                  <a:srgbClr val="FFFFFF"/>
                </a:solidFill>
                <a:latin typeface="맑은 고딕"/>
              </a:rPr>
              <a:t>•  악순환의 종착역이 ORA-04031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파싱 통계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V$SYSSTAT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NAME                             VALUE</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parse count (hard)              134042</a:t>
            </a:r>
          </a:p>
          <a:p>
            <a:pPr>
              <a:spcBef>
                <a:spcPts val="0"/>
              </a:spcBef>
              <a:spcAft>
                <a:spcPts val="0"/>
              </a:spcAft>
            </a:pPr>
            <a:r>
              <a:rPr sz="1250">
                <a:solidFill>
                  <a:srgbClr val="F2F2F2"/>
                </a:solidFill>
                <a:latin typeface="Consolas"/>
              </a:rPr>
              <a:t>parse count (total)             218056</a:t>
            </a:r>
          </a:p>
          <a:p>
            <a:pPr>
              <a:spcBef>
                <a:spcPts val="0"/>
              </a:spcBef>
              <a:spcAft>
                <a:spcPts val="0"/>
              </a:spcAft>
            </a:pPr>
            <a:r>
              <a:rPr sz="1250">
                <a:solidFill>
                  <a:srgbClr val="F2F2F2"/>
                </a:solidFill>
                <a:latin typeface="Consolas"/>
              </a:rPr>
              <a:t>parse time cpu                    6804</a:t>
            </a:r>
          </a:p>
          <a:p>
            <a:pPr>
              <a:spcBef>
                <a:spcPts val="0"/>
              </a:spcBef>
              <a:spcAft>
                <a:spcPts val="0"/>
              </a:spcAft>
            </a:pPr>
            <a:r>
              <a:rPr sz="1250">
                <a:solidFill>
                  <a:srgbClr val="F2F2F2"/>
                </a:solidFill>
                <a:latin typeface="Consolas"/>
              </a:rPr>
              <a:t>session cursor cache hits       179634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하드 파싱이 공유 풀을 갉는 악순환</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리터럴 → 일회용 커서 → 파편화 → 재파싱</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리터럴 'id=1','id=2',… → 전부 다른 SQL로 각각 하드파싱</a:t>
            </a:r>
          </a:p>
          <a:p>
            <a:pPr algn="l">
              <a:spcAft>
                <a:spcPts val="600"/>
              </a:spcAft>
            </a:pPr>
            <a:r>
              <a:rPr sz="1700" b="0">
                <a:solidFill>
                  <a:srgbClr val="222222"/>
                </a:solidFill>
                <a:latin typeface="맑은 고딕"/>
              </a:rPr>
              <a:t>•  ① CPU가 파싱에 낭비 (parse time cpu ↑)</a:t>
            </a:r>
          </a:p>
          <a:p>
            <a:pPr algn="l">
              <a:spcAft>
                <a:spcPts val="600"/>
              </a:spcAft>
            </a:pPr>
            <a:r>
              <a:rPr sz="1700" b="0">
                <a:solidFill>
                  <a:srgbClr val="222222"/>
                </a:solidFill>
                <a:latin typeface="맑은 고딕"/>
              </a:rPr>
              <a:t>•  ② 공유 풀이 일회용 커서로 부풀음 (SQLA·KGLH0 ↑)</a:t>
            </a:r>
          </a:p>
          <a:p>
            <a:pPr algn="l">
              <a:spcAft>
                <a:spcPts val="600"/>
              </a:spcAft>
            </a:pPr>
            <a:r>
              <a:rPr sz="1700" b="0">
                <a:solidFill>
                  <a:srgbClr val="222222"/>
                </a:solidFill>
                <a:latin typeface="맑은 고딕"/>
              </a:rPr>
              <a:t>•  ③ 새 커서 공간 위해 유효 커서 밀어냄 (RELOADS ↑)</a:t>
            </a:r>
          </a:p>
          <a:p>
            <a:pPr algn="l">
              <a:spcAft>
                <a:spcPts val="600"/>
              </a:spcAft>
            </a:pPr>
            <a:r>
              <a:rPr sz="1700" b="0">
                <a:solidFill>
                  <a:srgbClr val="222222"/>
                </a:solidFill>
                <a:latin typeface="맑은 고딕"/>
              </a:rPr>
              <a:t>•  → 밀려난 커서 재파싱 → 악순환 → 종착역 ORA-04031</a:t>
            </a:r>
          </a:p>
          <a:p>
            <a:pPr algn="l">
              <a:spcAft>
                <a:spcPts val="600"/>
              </a:spcAft>
            </a:pPr>
            <a:r>
              <a:rPr sz="1700" b="0">
                <a:solidFill>
                  <a:srgbClr val="222222"/>
                </a:solidFill>
                <a:latin typeface="맑은 고딕"/>
              </a:rPr>
              <a:t>•  크기 확대는 악순환 속도만 늦출 뿐, 방향은 그대로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파싱 단계와 경합 지점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공유 풀 문제의 세 얼굴</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하드 파싱 5단계: 구문→의미→커서탐색(실패)→최적화→할당</a:t>
            </a:r>
          </a:p>
          <a:p>
            <a:pPr algn="l">
              <a:spcAft>
                <a:spcPts val="600"/>
              </a:spcAft>
            </a:pPr>
            <a:r>
              <a:rPr sz="1700" b="0">
                <a:solidFill>
                  <a:srgbClr val="222222"/>
                </a:solidFill>
                <a:latin typeface="맑은 고딕"/>
              </a:rPr>
              <a:t>•  할당 단계에서 라이브러리 캐시 뮤텍스·shared pool 래치 잡음</a:t>
            </a:r>
          </a:p>
          <a:p>
            <a:pPr algn="l">
              <a:spcAft>
                <a:spcPts val="600"/>
              </a:spcAft>
            </a:pPr>
            <a:r>
              <a:rPr sz="1700" b="0">
                <a:solidFill>
                  <a:srgbClr val="222222"/>
                </a:solidFill>
                <a:latin typeface="맑은 고딕"/>
              </a:rPr>
              <a:t>•  여러 세션 동시 하드파싱 → 이 직렬화 지점에서 줄서기</a:t>
            </a:r>
          </a:p>
          <a:p>
            <a:pPr algn="l">
              <a:spcAft>
                <a:spcPts val="600"/>
              </a:spcAft>
            </a:pPr>
            <a:r>
              <a:rPr sz="1700" b="0">
                <a:solidFill>
                  <a:srgbClr val="222222"/>
                </a:solidFill>
                <a:latin typeface="맑은 고딕"/>
              </a:rPr>
              <a:t>•  대기로 나타남: library cache: mutex X / cursor: pin S wait on X</a:t>
            </a:r>
          </a:p>
          <a:p>
            <a:pPr algn="l">
              <a:spcAft>
                <a:spcPts val="600"/>
              </a:spcAft>
            </a:pPr>
            <a:r>
              <a:rPr sz="1700" b="0">
                <a:solidFill>
                  <a:srgbClr val="222222"/>
                </a:solidFill>
                <a:latin typeface="맑은 고딕"/>
              </a:rPr>
              <a:t>•  세 얼굴: 낮은 히트율 + 높은 하드파싱% + 뮤텍스·래치 경합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18.5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커서 공유 — CURSOR_SHARING</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EXACT(기본): 텍스트 다르면 다른 커서 → 하드파싱</a:t>
            </a:r>
          </a:p>
          <a:p>
            <a:pPr algn="l">
              <a:spcAft>
                <a:spcPts val="400"/>
              </a:spcAft>
            </a:pPr>
            <a:r>
              <a:rPr sz="1600" b="0">
                <a:solidFill>
                  <a:srgbClr val="FFFFFF"/>
                </a:solidFill>
                <a:latin typeface="맑은 고딕"/>
              </a:rPr>
              <a:t>•  FORCE: 리터럴을 시스템 바인드로 치환 → 하드파싱 급감</a:t>
            </a:r>
          </a:p>
          <a:p>
            <a:pPr algn="l">
              <a:spcAft>
                <a:spcPts val="400"/>
              </a:spcAft>
            </a:pPr>
            <a:r>
              <a:rPr sz="1600" b="0">
                <a:solidFill>
                  <a:srgbClr val="FFFFFF"/>
                </a:solidFill>
                <a:latin typeface="맑은 고딕"/>
              </a:rPr>
              <a:t>•  SIMILAR: 12c부터 폐기, 쓰지 않는다</a:t>
            </a:r>
          </a:p>
          <a:p>
            <a:pPr algn="l">
              <a:spcAft>
                <a:spcPts val="400"/>
              </a:spcAft>
            </a:pPr>
            <a:r>
              <a:rPr sz="1600" b="0">
                <a:solidFill>
                  <a:srgbClr val="FFFFFF"/>
                </a:solidFill>
                <a:latin typeface="맑은 고딕"/>
              </a:rPr>
              <a:t>•  FORCE는 임시방편, 근본은 앱의 바인드 변수</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바인드 변수 vs CURSOR_SHARING</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정공법과 사후 보정</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바인드 변수 = 앱이 값을 :id로 넘김 → 커서 하나만 생김(정공법)</a:t>
            </a:r>
          </a:p>
          <a:p>
            <a:pPr algn="l">
              <a:spcAft>
                <a:spcPts val="600"/>
              </a:spcAft>
            </a:pPr>
            <a:r>
              <a:rPr sz="1700" b="0">
                <a:solidFill>
                  <a:srgbClr val="222222"/>
                </a:solidFill>
                <a:latin typeface="맑은 고딕"/>
              </a:rPr>
              <a:t>•  CURSOR_SHARING=FORCE = 오라클이 실행 시점에 바꿔치기(사후 보정)</a:t>
            </a:r>
          </a:p>
          <a:p>
            <a:pPr algn="l">
              <a:spcAft>
                <a:spcPts val="600"/>
              </a:spcAft>
            </a:pPr>
            <a:r>
              <a:rPr sz="1700" b="0">
                <a:solidFill>
                  <a:srgbClr val="222222"/>
                </a:solidFill>
                <a:latin typeface="맑은 고딕"/>
              </a:rPr>
              <a:t>•  FORCE는 '앱 못 고칠 때'의 차선책</a:t>
            </a:r>
          </a:p>
          <a:p>
            <a:pPr algn="l">
              <a:spcAft>
                <a:spcPts val="600"/>
              </a:spcAft>
            </a:pPr>
            <a:r>
              <a:rPr sz="1700" b="0">
                <a:solidFill>
                  <a:srgbClr val="222222"/>
                </a:solidFill>
                <a:latin typeface="맑은 고딕"/>
              </a:rPr>
              <a:t>•  성능·계획 품질은 앱 수정 &gt; FORCE</a:t>
            </a:r>
          </a:p>
          <a:p>
            <a:pPr algn="l">
              <a:spcAft>
                <a:spcPts val="600"/>
              </a:spcAft>
            </a:pPr>
            <a:r>
              <a:rPr sz="1700" b="0">
                <a:solidFill>
                  <a:srgbClr val="222222"/>
                </a:solidFill>
                <a:latin typeface="맑은 고딕"/>
              </a:rPr>
              <a:t>•  2장 바인드 변수를 '공유 풀 점유' 관점에서 다시 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CURSOR_SHARING=FORCE 치환 확인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리터럴이 시스템 바인드로 바뀐 흔적</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SYS@orcl&gt; ALTER SESSION SET cursor_sharing=FORCE;</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SQLT@orcl&gt; SELECT sql_text FROM v$sql</a:t>
            </a:r>
          </a:p>
          <a:p>
            <a:pPr>
              <a:spcBef>
                <a:spcPts val="0"/>
              </a:spcBef>
              <a:spcAft>
                <a:spcPts val="0"/>
              </a:spcAft>
            </a:pPr>
            <a:r>
              <a:rPr sz="1250">
                <a:solidFill>
                  <a:srgbClr val="F2F2F2"/>
                </a:solidFill>
                <a:latin typeface="Consolas"/>
              </a:rPr>
              <a:t>  2       WHERE sql_text LIKE '%patient_id=%' AND ROWNUM&lt;=1;</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SQL_TEXT</a:t>
            </a:r>
          </a:p>
          <a:p>
            <a:pPr>
              <a:spcBef>
                <a:spcPts val="0"/>
              </a:spcBef>
              <a:spcAft>
                <a:spcPts val="0"/>
              </a:spcAft>
            </a:pPr>
            <a:r>
              <a:rPr sz="1250">
                <a:solidFill>
                  <a:srgbClr val="F2F2F2"/>
                </a:solidFill>
                <a:latin typeface="Consolas"/>
              </a:rPr>
              <a:t>----------------------------------------</a:t>
            </a:r>
          </a:p>
          <a:p>
            <a:pPr>
              <a:spcBef>
                <a:spcPts val="0"/>
              </a:spcBef>
              <a:spcAft>
                <a:spcPts val="0"/>
              </a:spcAft>
            </a:pPr>
            <a:r>
              <a:rPr sz="1250">
                <a:solidFill>
                  <a:srgbClr val="F2F2F2"/>
                </a:solidFill>
                <a:latin typeface="Consolas"/>
              </a:rPr>
              <a:t>SELECT ... WHERE patient_id=:"SYS_B_0"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FORCE의 함정 — 편중 컬럼</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급한 불은 끄되 계획을 재검증</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FORCE는 하드파싱·공유풀 점유를 줄이는 강력한 임시방편</a:t>
            </a:r>
          </a:p>
          <a:p>
            <a:pPr algn="l">
              <a:spcAft>
                <a:spcPts val="600"/>
              </a:spcAft>
            </a:pPr>
            <a:r>
              <a:rPr sz="1700" b="0">
                <a:solidFill>
                  <a:srgbClr val="222222"/>
                </a:solidFill>
                <a:latin typeface="맑은 고딕"/>
              </a:rPr>
              <a:t>•  그러나 편중(skew) 컬럼에선 하나의 계획 공유 → 성능 저하 가능</a:t>
            </a:r>
          </a:p>
          <a:p>
            <a:pPr algn="l">
              <a:spcAft>
                <a:spcPts val="600"/>
              </a:spcAft>
            </a:pPr>
            <a:r>
              <a:rPr sz="1700" b="0">
                <a:solidFill>
                  <a:srgbClr val="222222"/>
                </a:solidFill>
                <a:latin typeface="맑은 고딕"/>
              </a:rPr>
              <a:t>•  예: HOSP_ID처럼 값마다 건수 다른 컬럼</a:t>
            </a:r>
          </a:p>
          <a:p>
            <a:pPr algn="l">
              <a:spcAft>
                <a:spcPts val="600"/>
              </a:spcAft>
            </a:pPr>
            <a:r>
              <a:rPr sz="1700" b="0">
                <a:solidFill>
                  <a:srgbClr val="222222"/>
                </a:solidFill>
                <a:latin typeface="맑은 고딕"/>
              </a:rPr>
              <a:t>•  원칙: FORCE는 세션·시스템 임시조치, 근본은 바인드 전환</a:t>
            </a:r>
          </a:p>
          <a:p>
            <a:pPr algn="l">
              <a:spcAft>
                <a:spcPts val="600"/>
              </a:spcAft>
            </a:pPr>
            <a:r>
              <a:rPr sz="1700" b="0">
                <a:solidFill>
                  <a:srgbClr val="222222"/>
                </a:solidFill>
                <a:latin typeface="맑은 고딕"/>
              </a:rPr>
              <a:t>•  적용 후 반드시 주요 SQL 계획 재검증</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18.6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공유 풀 어드바이저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크기를 바꾸면 파싱 절약이 얼마나 변할지 시뮬레이션</a:t>
            </a:r>
          </a:p>
          <a:p>
            <a:pPr algn="l">
              <a:spcAft>
                <a:spcPts val="400"/>
              </a:spcAft>
            </a:pPr>
            <a:r>
              <a:rPr sz="1600" b="0">
                <a:solidFill>
                  <a:srgbClr val="FFFFFF"/>
                </a:solidFill>
                <a:latin typeface="맑은 고딕"/>
              </a:rPr>
              <a:t>•  SAVED 곡선의 무릎(knee)을 찾는다</a:t>
            </a:r>
          </a:p>
          <a:p>
            <a:pPr algn="l">
              <a:spcAft>
                <a:spcPts val="400"/>
              </a:spcAft>
            </a:pPr>
            <a:r>
              <a:rPr sz="1600" b="0">
                <a:solidFill>
                  <a:srgbClr val="FFFFFF"/>
                </a:solidFill>
                <a:latin typeface="맑은 고딕"/>
              </a:rPr>
              <a:t>•  실측: 416MB에서 무릎 — 줄이면 손해, 늘려도 이득 없음</a:t>
            </a:r>
          </a:p>
          <a:p>
            <a:pPr algn="l">
              <a:spcAft>
                <a:spcPts val="400"/>
              </a:spcAft>
            </a:pPr>
            <a:r>
              <a:rPr sz="1600" b="0">
                <a:solidFill>
                  <a:srgbClr val="FFFFFF"/>
                </a:solidFill>
                <a:latin typeface="맑은 고딕"/>
              </a:rPr>
              <a:t>•  '크기로 풀 문제가 아니다'를 숫자로 증명</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공유 풀 어드바이저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V$SHARED_POOL_ADVICE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   SP_MB   FACTOR    SAVED</a:t>
            </a:r>
          </a:p>
          <a:p>
            <a:pPr>
              <a:spcBef>
                <a:spcPts val="0"/>
              </a:spcBef>
              <a:spcAft>
                <a:spcPts val="0"/>
              </a:spcAft>
            </a:pPr>
            <a:r>
              <a:rPr sz="1250">
                <a:solidFill>
                  <a:srgbClr val="F2F2F2"/>
                </a:solidFill>
                <a:latin typeface="Consolas"/>
              </a:rPr>
              <a:t>-------- -------- --------</a:t>
            </a:r>
          </a:p>
          <a:p>
            <a:pPr>
              <a:spcBef>
                <a:spcPts val="0"/>
              </a:spcBef>
              <a:spcAft>
                <a:spcPts val="0"/>
              </a:spcAft>
            </a:pPr>
            <a:r>
              <a:rPr sz="1250">
                <a:solidFill>
                  <a:srgbClr val="F2F2F2"/>
                </a:solidFill>
                <a:latin typeface="Consolas"/>
              </a:rPr>
              <a:t>     368   0.8846   0.6424</a:t>
            </a:r>
          </a:p>
          <a:p>
            <a:pPr>
              <a:spcBef>
                <a:spcPts val="0"/>
              </a:spcBef>
              <a:spcAft>
                <a:spcPts val="0"/>
              </a:spcAft>
            </a:pPr>
            <a:r>
              <a:rPr sz="1250">
                <a:solidFill>
                  <a:srgbClr val="F2F2F2"/>
                </a:solidFill>
                <a:latin typeface="Consolas"/>
              </a:rPr>
              <a:t>     384   0.9231   0.8626</a:t>
            </a:r>
          </a:p>
          <a:p>
            <a:pPr>
              <a:spcBef>
                <a:spcPts val="0"/>
              </a:spcBef>
              <a:spcAft>
                <a:spcPts val="0"/>
              </a:spcAft>
            </a:pPr>
            <a:r>
              <a:rPr sz="1250">
                <a:solidFill>
                  <a:srgbClr val="F2F2F2"/>
                </a:solidFill>
                <a:latin typeface="Consolas"/>
              </a:rPr>
              <a:t>     400   0.9615   0.9363</a:t>
            </a:r>
          </a:p>
          <a:p>
            <a:pPr>
              <a:spcBef>
                <a:spcPts val="0"/>
              </a:spcBef>
              <a:spcAft>
                <a:spcPts val="0"/>
              </a:spcAft>
            </a:pPr>
            <a:r>
              <a:rPr sz="1250">
                <a:solidFill>
                  <a:srgbClr val="F2F2F2"/>
                </a:solidFill>
                <a:latin typeface="Consolas"/>
              </a:rPr>
              <a:t>     416   1.0000   1.0000   &lt;-- 현재</a:t>
            </a:r>
          </a:p>
          <a:p>
            <a:pPr>
              <a:spcBef>
                <a:spcPts val="0"/>
              </a:spcBef>
              <a:spcAft>
                <a:spcPts val="0"/>
              </a:spcAft>
            </a:pPr>
            <a:r>
              <a:rPr sz="1250">
                <a:solidFill>
                  <a:srgbClr val="F2F2F2"/>
                </a:solidFill>
                <a:latin typeface="Consolas"/>
              </a:rPr>
              <a:t>     464   1.1154   1.0000</a:t>
            </a:r>
          </a:p>
          <a:p>
            <a:pPr>
              <a:spcBef>
                <a:spcPts val="0"/>
              </a:spcBef>
              <a:spcAft>
                <a:spcPts val="0"/>
              </a:spcAft>
            </a:pPr>
            <a:r>
              <a:rPr sz="1250">
                <a:solidFill>
                  <a:srgbClr val="F2F2F2"/>
                </a:solidFill>
                <a:latin typeface="Consolas"/>
              </a:rPr>
              <a:t>     560   1.3462   1.0000</a:t>
            </a:r>
          </a:p>
          <a:p>
            <a:pPr>
              <a:spcBef>
                <a:spcPts val="0"/>
              </a:spcBef>
              <a:spcAft>
                <a:spcPts val="0"/>
              </a:spcAft>
            </a:pPr>
            <a:r>
              <a:rPr sz="1250">
                <a:solidFill>
                  <a:srgbClr val="F2F2F2"/>
                </a:solidFill>
                <a:latin typeface="Consolas"/>
              </a:rPr>
              <a:t>     608   1.4615   1.0007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어드바이저가 말하는 것과 아닌 것</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곡선의 모양이 방향을 정한다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말하는 것: 416MB 적정 — 줄이면 손해, 늘려도 이득 없음</a:t>
            </a:r>
          </a:p>
          <a:p>
            <a:pPr algn="l">
              <a:spcAft>
                <a:spcPts val="600"/>
              </a:spcAft>
            </a:pPr>
            <a:r>
              <a:rPr sz="1700" b="0">
                <a:solidFill>
                  <a:srgbClr val="222222"/>
                </a:solidFill>
                <a:latin typeface="맑은 고딕"/>
              </a:rPr>
              <a:t>•  말 안 하는 것: 왜 파싱이 많은지(리터럴)는 모름</a:t>
            </a:r>
          </a:p>
          <a:p>
            <a:pPr algn="l">
              <a:spcAft>
                <a:spcPts val="600"/>
              </a:spcAft>
            </a:pPr>
            <a:r>
              <a:rPr sz="1700" b="0">
                <a:solidFill>
                  <a:srgbClr val="222222"/>
                </a:solidFill>
                <a:latin typeface="맑은 고딕"/>
              </a:rPr>
              <a:t>•  무릎 이전=확대 유효, 무릎 이후=낭비 (17장 V$DB_CACHE_ADVICE와 동일)</a:t>
            </a:r>
          </a:p>
          <a:p>
            <a:pPr algn="l">
              <a:spcAft>
                <a:spcPts val="600"/>
              </a:spcAft>
            </a:pPr>
            <a:r>
              <a:rPr sz="1700" b="0">
                <a:solidFill>
                  <a:srgbClr val="222222"/>
                </a:solidFill>
                <a:latin typeface="맑은 고딕"/>
              </a:rPr>
              <a:t>•  곡선 가파르면 확대, 평평하면 파싱 제거 — 데이터가 방향 결정</a:t>
            </a:r>
          </a:p>
          <a:p>
            <a:pPr algn="l">
              <a:spcAft>
                <a:spcPts val="600"/>
              </a:spcAft>
            </a:pPr>
            <a:r>
              <a:rPr sz="1700" b="0">
                <a:solidFill>
                  <a:srgbClr val="222222"/>
                </a:solidFill>
                <a:latin typeface="맑은 고딕"/>
              </a:rPr>
              <a:t>•  ORA-04031 대응의 관문: 확대가 유효한지부터 판정</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18.7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ORA-04031 재현과 해소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성능 저하가 아니라 '기능 실패' — SQL이 못 돎</a:t>
            </a:r>
          </a:p>
          <a:p>
            <a:pPr algn="l">
              <a:spcAft>
                <a:spcPts val="400"/>
              </a:spcAft>
            </a:pPr>
            <a:r>
              <a:rPr sz="1600" b="0">
                <a:solidFill>
                  <a:srgbClr val="FFFFFF"/>
                </a:solidFill>
                <a:latin typeface="맑은 고딕"/>
              </a:rPr>
              <a:t>•  메시지가 영역·대상·하위영역·함수를 담는다</a:t>
            </a:r>
          </a:p>
          <a:p>
            <a:pPr algn="l">
              <a:spcAft>
                <a:spcPts val="400"/>
              </a:spcAft>
            </a:pPr>
            <a:r>
              <a:rPr sz="1600" b="0">
                <a:solidFill>
                  <a:srgbClr val="FFFFFF"/>
                </a:solidFill>
                <a:latin typeface="맑은 고딕"/>
              </a:rPr>
              <a:t>•  원인 영역부터 식별 → 어드바이저로 확대 유효성 판정</a:t>
            </a:r>
          </a:p>
          <a:p>
            <a:pPr algn="l">
              <a:spcAft>
                <a:spcPts val="400"/>
              </a:spcAft>
            </a:pPr>
            <a:r>
              <a:rPr sz="1600" b="0">
                <a:solidFill>
                  <a:srgbClr val="FFFFFF"/>
                </a:solidFill>
                <a:latin typeface="맑은 고딕"/>
              </a:rPr>
              <a:t>•  순위: 바인드 → CURSOR_SHARING → 예약풀 → 크기(최후)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ORA-04031 메시지 해부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괄호 네 조각을 읽는다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ORA-04031: unable to allocate 4160 bytes of shared memory</a:t>
            </a:r>
          </a:p>
          <a:p>
            <a:pPr>
              <a:spcBef>
                <a:spcPts val="0"/>
              </a:spcBef>
              <a:spcAft>
                <a:spcPts val="0"/>
              </a:spcAft>
            </a:pPr>
            <a:r>
              <a:rPr sz="1250">
                <a:solidFill>
                  <a:srgbClr val="F2F2F2"/>
                </a:solidFill>
                <a:latin typeface="Consolas"/>
              </a:rPr>
              <a:t>  ("shared pool","SELECT ... WL01_LIT ...",</a:t>
            </a:r>
          </a:p>
          <a:p>
            <a:pPr>
              <a:spcBef>
                <a:spcPts val="0"/>
              </a:spcBef>
              <a:spcAft>
                <a:spcPts val="0"/>
              </a:spcAft>
            </a:pPr>
            <a:r>
              <a:rPr sz="1250">
                <a:solidFill>
                  <a:srgbClr val="F2F2F2"/>
                </a:solidFill>
                <a:latin typeface="Consolas"/>
              </a:rPr>
              <a:t>   "SQLA","kkscsAddChildNode")</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shared pool  = 실패한 영역 (large pool이면 라지 풀)</a:t>
            </a:r>
          </a:p>
          <a:p>
            <a:pPr>
              <a:spcBef>
                <a:spcPts val="0"/>
              </a:spcBef>
              <a:spcAft>
                <a:spcPts val="0"/>
              </a:spcAft>
            </a:pPr>
            <a:r>
              <a:rPr sz="1250">
                <a:solidFill>
                  <a:srgbClr val="F2F2F2"/>
                </a:solidFill>
                <a:latin typeface="Consolas"/>
              </a:rPr>
              <a:t>   SELECT WL01  = 실패 유발 대상 (리터럴 커서)</a:t>
            </a:r>
          </a:p>
          <a:p>
            <a:pPr>
              <a:spcBef>
                <a:spcPts val="0"/>
              </a:spcBef>
              <a:spcAft>
                <a:spcPts val="0"/>
              </a:spcAft>
            </a:pPr>
            <a:r>
              <a:rPr sz="1250">
                <a:solidFill>
                  <a:srgbClr val="F2F2F2"/>
                </a:solidFill>
                <a:latin typeface="Consolas"/>
              </a:rPr>
              <a:t>   SQLA         = 공유 SQL 영역 하위에서 할당 시도</a:t>
            </a:r>
          </a:p>
          <a:p>
            <a:pPr>
              <a:spcBef>
                <a:spcPts val="0"/>
              </a:spcBef>
              <a:spcAft>
                <a:spcPts val="0"/>
              </a:spcAft>
            </a:pPr>
            <a:r>
              <a:rPr sz="1250">
                <a:solidFill>
                  <a:srgbClr val="F2F2F2"/>
                </a:solidFill>
                <a:latin typeface="Consolas"/>
              </a:rPr>
              <a:t>   kkscsAdd...  = 자식 커서 추가 함수</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해소 순서 — 근본부터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크기 확대는 최후, 처음이 아니다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1(근본) 하드파싱 제거 — 앱 바인드 변수 전환</a:t>
            </a:r>
          </a:p>
          <a:p>
            <a:pPr algn="l">
              <a:spcAft>
                <a:spcPts val="600"/>
              </a:spcAft>
            </a:pPr>
            <a:r>
              <a:rPr sz="1700" b="0">
                <a:solidFill>
                  <a:srgbClr val="222222"/>
                </a:solidFill>
                <a:latin typeface="맑은 고딕"/>
              </a:rPr>
              <a:t>•  2(완화) CURSOR_SHARING=FORCE — 커서 폭증 차단</a:t>
            </a:r>
          </a:p>
          <a:p>
            <a:pPr algn="l">
              <a:spcAft>
                <a:spcPts val="600"/>
              </a:spcAft>
            </a:pPr>
            <a:r>
              <a:rPr sz="1700" b="0">
                <a:solidFill>
                  <a:srgbClr val="222222"/>
                </a:solidFill>
                <a:latin typeface="맑은 고딕"/>
              </a:rPr>
              <a:t>•  3(완충) 예약 풀(SHARED_POOL_RESERVED_SIZE) 조정</a:t>
            </a:r>
          </a:p>
          <a:p>
            <a:pPr algn="l">
              <a:spcAft>
                <a:spcPts val="600"/>
              </a:spcAft>
            </a:pPr>
            <a:r>
              <a:rPr sz="1700" b="0">
                <a:solidFill>
                  <a:srgbClr val="222222"/>
                </a:solidFill>
                <a:latin typeface="맑은 고딕"/>
              </a:rPr>
              <a:t>•  4(최후) SHARED_POOL_SIZE/SGA_TARGET 확대 — 어드바이저가 유효 보일 때만</a:t>
            </a:r>
          </a:p>
          <a:p>
            <a:pPr algn="l">
              <a:spcAft>
                <a:spcPts val="600"/>
              </a:spcAft>
            </a:pPr>
            <a:r>
              <a:rPr sz="1700" b="0">
                <a:solidFill>
                  <a:srgbClr val="222222"/>
                </a:solidFill>
                <a:latin typeface="맑은 고딕"/>
              </a:rPr>
              <a:t>•  재현→원인영역 식별→확증→해소→재확인이 실습5의 뼈대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18.8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라지 풀 분리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병렬·RMAN·공유서버의 큰 버퍼 담당</a:t>
            </a:r>
          </a:p>
          <a:p>
            <a:pPr algn="l">
              <a:spcAft>
                <a:spcPts val="400"/>
              </a:spcAft>
            </a:pPr>
            <a:r>
              <a:rPr sz="1600" b="0">
                <a:solidFill>
                  <a:srgbClr val="FFFFFF"/>
                </a:solidFill>
                <a:latin typeface="맑은 고딕"/>
              </a:rPr>
              <a:t>•  없으면 큰 할당이 공유 풀 침범 → 커서 밀어냄</a:t>
            </a:r>
          </a:p>
          <a:p>
            <a:pPr algn="l">
              <a:spcAft>
                <a:spcPts val="400"/>
              </a:spcAft>
            </a:pPr>
            <a:r>
              <a:rPr sz="1600" b="0">
                <a:solidFill>
                  <a:srgbClr val="FFFFFF"/>
                </a:solidFill>
                <a:latin typeface="맑은 고딕"/>
              </a:rPr>
              <a:t>•  라지 풀엔 LRU 없음 — 큰 할당에 파편화 적음</a:t>
            </a:r>
          </a:p>
          <a:p>
            <a:pPr algn="l">
              <a:spcAft>
                <a:spcPts val="400"/>
              </a:spcAft>
            </a:pPr>
            <a:r>
              <a:rPr sz="1600" b="0">
                <a:solidFill>
                  <a:srgbClr val="FFFFFF"/>
                </a:solidFill>
                <a:latin typeface="맑은 고딕"/>
              </a:rPr>
              <a:t>•  PX msg pool이 라지 풀에 있다 = 공유 풀 보호 중</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라지 풀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V$SGASTAT (pool='large pool')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NAME               MB</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PX msg pool     15.00</a:t>
            </a:r>
          </a:p>
          <a:p>
            <a:pPr>
              <a:spcBef>
                <a:spcPts val="0"/>
              </a:spcBef>
              <a:spcAft>
                <a:spcPts val="0"/>
              </a:spcAft>
            </a:pPr>
            <a:r>
              <a:rPr sz="1250">
                <a:solidFill>
                  <a:srgbClr val="F2F2F2"/>
                </a:solidFill>
                <a:latin typeface="Consolas"/>
              </a:rPr>
              <a:t>free memory      0.69</a:t>
            </a:r>
          </a:p>
          <a:p>
            <a:pPr>
              <a:spcBef>
                <a:spcPts val="0"/>
              </a:spcBef>
              <a:spcAft>
                <a:spcPts val="0"/>
              </a:spcAft>
            </a:pPr>
            <a:r>
              <a:rPr sz="1250">
                <a:solidFill>
                  <a:srgbClr val="F2F2F2"/>
                </a:solidFill>
                <a:latin typeface="Consolas"/>
              </a:rPr>
              <a:t>session heap     0.31</a:t>
            </a:r>
          </a:p>
          <a:p>
            <a:pPr>
              <a:spcBef>
                <a:spcPts val="0"/>
              </a:spcBef>
              <a:spcAft>
                <a:spcPts val="0"/>
              </a:spcAft>
            </a:pPr>
            <a:r>
              <a:rPr sz="1250">
                <a:solidFill>
                  <a:srgbClr val="F2F2F2"/>
                </a:solidFill>
                <a:latin typeface="Consolas"/>
              </a:rPr>
              <a:t>miscellaneous    0.06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라지 풀을 언제 명시적으로 구성하나</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병렬·RMAN·공유서버가 있으면</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병렬 실행: PX 메시지 버퍼 → 없으면 공유 풀 점유</a:t>
            </a:r>
          </a:p>
          <a:p>
            <a:pPr algn="l">
              <a:spcAft>
                <a:spcPts val="600"/>
              </a:spcAft>
            </a:pPr>
            <a:r>
              <a:rPr sz="1700" b="0">
                <a:solidFill>
                  <a:srgbClr val="222222"/>
                </a:solidFill>
                <a:latin typeface="맑은 고딕"/>
              </a:rPr>
              <a:t>•  RMAN: 백업·복구 I/O 버퍼 → 없으면 백업시간대 파편화·ORA-04031</a:t>
            </a:r>
          </a:p>
          <a:p>
            <a:pPr algn="l">
              <a:spcAft>
                <a:spcPts val="600"/>
              </a:spcAft>
            </a:pPr>
            <a:r>
              <a:rPr sz="1700" b="0">
                <a:solidFill>
                  <a:srgbClr val="222222"/>
                </a:solidFill>
                <a:latin typeface="맑은 고딕"/>
              </a:rPr>
              <a:t>•  공유 서버: 세션 UGA → 없으면 세션 메모리가 공유 풀 잠식</a:t>
            </a:r>
          </a:p>
          <a:p>
            <a:pPr algn="l">
              <a:spcAft>
                <a:spcPts val="600"/>
              </a:spcAft>
            </a:pPr>
            <a:r>
              <a:rPr sz="1700" b="0">
                <a:solidFill>
                  <a:srgbClr val="222222"/>
                </a:solidFill>
                <a:latin typeface="맑은 고딕"/>
              </a:rPr>
              <a:t>•  ASMM: LARGE_POOL_SIZE를 하한으로 잡으면 자동조정이 그 위에서</a:t>
            </a:r>
          </a:p>
          <a:p>
            <a:pPr algn="l">
              <a:spcAft>
                <a:spcPts val="600"/>
              </a:spcAft>
            </a:pPr>
            <a:r>
              <a:rPr sz="1700" b="0">
                <a:solidFill>
                  <a:srgbClr val="222222"/>
                </a:solidFill>
                <a:latin typeface="맑은 고딕"/>
              </a:rPr>
              <a:t>•  순수 OLTP(병렬·백업 없음)면 라지 풀 작아도 무방</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공유 풀 진단 체크리스트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각 단계가 앞 가설을 이어받아 좁힌다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1. V$SGASTAT — SQLA·KGLH0 부풀고 free 조각났나(free 67MB나 파편화)</a:t>
            </a:r>
          </a:p>
          <a:p>
            <a:pPr algn="l">
              <a:spcAft>
                <a:spcPts val="600"/>
              </a:spcAft>
            </a:pPr>
            <a:r>
              <a:rPr sz="1700" b="0">
                <a:solidFill>
                  <a:srgbClr val="222222"/>
                </a:solidFill>
                <a:latin typeface="맑은 고딕"/>
              </a:rPr>
              <a:t>•  2. V$LIBRARYCACHE — GET/PIN_HIT 낮은가(13.9%/44.6%)</a:t>
            </a:r>
          </a:p>
          <a:p>
            <a:pPr algn="l">
              <a:spcAft>
                <a:spcPts val="600"/>
              </a:spcAft>
            </a:pPr>
            <a:r>
              <a:rPr sz="1700" b="0">
                <a:solidFill>
                  <a:srgbClr val="222222"/>
                </a:solidFill>
                <a:latin typeface="맑은 고딕"/>
              </a:rPr>
              <a:t>•  3. 파싱 통계 — 하드파싱 비율 높은가(61.5%)</a:t>
            </a:r>
          </a:p>
          <a:p>
            <a:pPr algn="l">
              <a:spcAft>
                <a:spcPts val="600"/>
              </a:spcAft>
            </a:pPr>
            <a:r>
              <a:rPr sz="1700" b="0">
                <a:solidFill>
                  <a:srgbClr val="222222"/>
                </a:solidFill>
                <a:latin typeface="맑은 고딕"/>
              </a:rPr>
              <a:t>•  4. V$SHARED_POOL_ADVICE — 확대 유효한가(곡선 평평→아님)</a:t>
            </a:r>
          </a:p>
          <a:p>
            <a:pPr algn="l">
              <a:spcAft>
                <a:spcPts val="600"/>
              </a:spcAft>
            </a:pPr>
            <a:r>
              <a:rPr sz="1700" b="0">
                <a:solidFill>
                  <a:srgbClr val="222222"/>
                </a:solidFill>
                <a:latin typeface="맑은 고딕"/>
              </a:rPr>
              <a:t>•  5. 원인 조치 — 바인드→CURSOR_SHARING→예약풀→크기</a:t>
            </a:r>
          </a:p>
          <a:p>
            <a:pPr algn="l">
              <a:spcAft>
                <a:spcPts val="600"/>
              </a:spcAft>
            </a:pPr>
            <a:r>
              <a:rPr sz="1700" b="0">
                <a:solidFill>
                  <a:srgbClr val="222222"/>
                </a:solidFill>
                <a:latin typeface="맑은 고딕"/>
              </a:rPr>
              <a:t>•  6. V$SGASTAT(large) — 병렬·RMAN 버퍼 분리됐나(PX msg 15MB)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실측 한눈에 — 하나의 원인으로 수렴</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서로 다른 뷰의 숫자가 한 곳을 가리킨다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V$SGASTAT: SQLA 30.71MB·KGLH0 25.82MB로 커서가 공유 풀 점유</a:t>
            </a:r>
          </a:p>
          <a:p>
            <a:pPr algn="l">
              <a:spcAft>
                <a:spcPts val="600"/>
              </a:spcAft>
            </a:pPr>
            <a:r>
              <a:rPr sz="1700" b="0">
                <a:solidFill>
                  <a:srgbClr val="222222"/>
                </a:solidFill>
                <a:latin typeface="맑은 고딕"/>
              </a:rPr>
              <a:t>•  V$LIBRARYCACHE: SQL AREA GET_HIT 13.9%, RELOADS 2441</a:t>
            </a:r>
          </a:p>
          <a:p>
            <a:pPr algn="l">
              <a:spcAft>
                <a:spcPts val="600"/>
              </a:spcAft>
            </a:pPr>
            <a:r>
              <a:rPr sz="1700" b="0">
                <a:solidFill>
                  <a:srgbClr val="222222"/>
                </a:solidFill>
                <a:latin typeface="맑은 고딕"/>
              </a:rPr>
              <a:t>•  파싱 통계: 하드파싱 비율 61.5% (134042/218056)</a:t>
            </a:r>
          </a:p>
          <a:p>
            <a:pPr algn="l">
              <a:spcAft>
                <a:spcPts val="600"/>
              </a:spcAft>
            </a:pPr>
            <a:r>
              <a:rPr sz="1700" b="0">
                <a:solidFill>
                  <a:srgbClr val="222222"/>
                </a:solidFill>
                <a:latin typeface="맑은 고딕"/>
              </a:rPr>
              <a:t>•  V$SHARED_POOL_ADVICE: 확대 곡선 평평(SAVED 1.0 고정)</a:t>
            </a:r>
          </a:p>
          <a:p>
            <a:pPr algn="l">
              <a:spcAft>
                <a:spcPts val="600"/>
              </a:spcAft>
            </a:pPr>
            <a:r>
              <a:rPr sz="1700" b="0">
                <a:solidFill>
                  <a:srgbClr val="222222"/>
                </a:solidFill>
                <a:latin typeface="맑은 고딕"/>
              </a:rPr>
              <a:t>•  V$SGASTAT(large): PX msg pool 15MB 분리로 공유 풀 보호</a:t>
            </a:r>
          </a:p>
          <a:p>
            <a:pPr algn="l">
              <a:spcAft>
                <a:spcPts val="600"/>
              </a:spcAft>
            </a:pPr>
            <a:r>
              <a:rPr sz="1700" b="0">
                <a:solidFill>
                  <a:srgbClr val="222222"/>
                </a:solidFill>
                <a:latin typeface="맑은 고딕"/>
              </a:rPr>
              <a:t>•  → 결론: 리터럴 하드파싱이 공유 풀을 압박 · 답은 바인드 변수</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장이 경계하는 오판 넷</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공유 풀 튜닝의 함정</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① ORA-04031을 크기만 키워 봉합 → 원인이 파싱이면 재발</a:t>
            </a:r>
          </a:p>
          <a:p>
            <a:pPr algn="l">
              <a:spcAft>
                <a:spcPts val="600"/>
              </a:spcAft>
            </a:pPr>
            <a:r>
              <a:rPr sz="1700" b="0">
                <a:solidFill>
                  <a:srgbClr val="222222"/>
                </a:solidFill>
                <a:latin typeface="맑은 고딕"/>
              </a:rPr>
              <a:t>•  ② free memory 넉넉하니 공유 풀 충분 → 파편화 무시</a:t>
            </a:r>
          </a:p>
          <a:p>
            <a:pPr algn="l">
              <a:spcAft>
                <a:spcPts val="600"/>
              </a:spcAft>
            </a:pPr>
            <a:r>
              <a:rPr sz="1700" b="0">
                <a:solidFill>
                  <a:srgbClr val="222222"/>
                </a:solidFill>
                <a:latin typeface="맑은 고딕"/>
              </a:rPr>
              <a:t>•  ③ 라이브러리 캐시 히트율 낮으니 무조건 확대 → 어드바이저부터</a:t>
            </a:r>
          </a:p>
          <a:p>
            <a:pPr algn="l">
              <a:spcAft>
                <a:spcPts val="600"/>
              </a:spcAft>
            </a:pPr>
            <a:r>
              <a:rPr sz="1700" b="0">
                <a:solidFill>
                  <a:srgbClr val="222222"/>
                </a:solidFill>
                <a:latin typeface="맑은 고딕"/>
              </a:rPr>
              <a:t>•  ④ CURSOR_SHARING=FORCE면 만사형통 → 편중 컬럼 계획 저하</a:t>
            </a:r>
          </a:p>
          <a:p>
            <a:pPr algn="l">
              <a:spcAft>
                <a:spcPts val="600"/>
              </a:spcAft>
            </a:pPr>
            <a:r>
              <a:rPr sz="1700" b="0">
                <a:solidFill>
                  <a:srgbClr val="222222"/>
                </a:solidFill>
                <a:latin typeface="맑은 고딕"/>
              </a:rPr>
              <a:t>•  공통 처방: 원인 영역 식별 + 어드바이저 판정 + 순서 준수</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라이선스 노트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공유 풀 진단은 대부분 라이선스 무관</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무관: V$LIBRARYCACHE·V$SGASTAT·V$SYSSTAT·V$SQLAREA</a:t>
            </a:r>
          </a:p>
          <a:p>
            <a:pPr algn="l">
              <a:spcAft>
                <a:spcPts val="600"/>
              </a:spcAft>
            </a:pPr>
            <a:r>
              <a:rPr sz="1700" b="0">
                <a:solidFill>
                  <a:srgbClr val="222222"/>
                </a:solidFill>
                <a:latin typeface="맑은 고딕"/>
              </a:rPr>
              <a:t>•  무관: V$SHARED_POOL_ADVICE 어드바이저 뷰도 조회 가능</a:t>
            </a:r>
          </a:p>
          <a:p>
            <a:pPr algn="l">
              <a:spcAft>
                <a:spcPts val="600"/>
              </a:spcAft>
            </a:pPr>
            <a:r>
              <a:rPr sz="1700" b="0">
                <a:solidFill>
                  <a:srgbClr val="222222"/>
                </a:solidFill>
                <a:latin typeface="맑은 고딕"/>
              </a:rPr>
              <a:t>•  무관: CURSOR_SHARING·LARGE_POOL_SIZE 조정</a:t>
            </a:r>
          </a:p>
          <a:p>
            <a:pPr algn="l">
              <a:spcAft>
                <a:spcPts val="600"/>
              </a:spcAft>
            </a:pPr>
            <a:r>
              <a:rPr sz="1700" b="0">
                <a:solidFill>
                  <a:srgbClr val="222222"/>
                </a:solidFill>
                <a:latin typeface="맑은 고딕"/>
              </a:rPr>
              <a:t>•  🔒 Diagnostics Pack 필요: DBA_HIST_* 이력, AWR 어드바이저 섹션</a:t>
            </a:r>
          </a:p>
          <a:p>
            <a:pPr algn="l">
              <a:spcAft>
                <a:spcPts val="600"/>
              </a:spcAft>
            </a:pPr>
            <a:r>
              <a:rPr sz="1700" b="0">
                <a:solidFill>
                  <a:srgbClr val="222222"/>
                </a:solidFill>
                <a:latin typeface="맑은 고딕"/>
              </a:rPr>
              <a:t>•  대안: V$ 뷰를 두 시점에 조회해 델타 계산(13·14장 경로)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Q1. free memory 67MB나 남았는데 ORA-04031. 총량이 충분한데 왜?</a:t>
            </a:r>
          </a:p>
          <a:p>
            <a:pPr algn="l">
              <a:spcAft>
                <a:spcPts val="600"/>
              </a:spcAft>
            </a:pPr>
            <a:r>
              <a:rPr sz="1500" b="0">
                <a:solidFill>
                  <a:srgbClr val="222222"/>
                </a:solidFill>
                <a:latin typeface="맑은 고딕"/>
              </a:rPr>
              <a:t>•  Q2. SQL AREA GET_HIT 13.9% vs TABLE/PROCEDURE 95.2%. 이 차이가 가리키는 원인은?</a:t>
            </a:r>
          </a:p>
          <a:p>
            <a:pPr algn="l">
              <a:spcAft>
                <a:spcPts val="600"/>
              </a:spcAft>
            </a:pPr>
            <a:r>
              <a:rPr sz="1500" b="0">
                <a:solidFill>
                  <a:srgbClr val="222222"/>
                </a:solidFill>
                <a:latin typeface="맑은 고딕"/>
              </a:rPr>
              <a:t>•  Q3. 하드파싱 비율 61.5%. 정상은 어디에 수렴해야 하고 61.5%는 무엇을 뜻하나?</a:t>
            </a:r>
          </a:p>
          <a:p>
            <a:pPr algn="l">
              <a:spcAft>
                <a:spcPts val="600"/>
              </a:spcAft>
            </a:pPr>
            <a:r>
              <a:rPr sz="1500" b="0">
                <a:solidFill>
                  <a:srgbClr val="222222"/>
                </a:solidFill>
                <a:latin typeface="맑은 고딕"/>
              </a:rPr>
              <a:t>•  Q4. 어드바이저 SAVED가 416·512·560MB에서 모두 1.0. ORA-04031에 크기를 키워야 하나?</a:t>
            </a:r>
          </a:p>
          <a:p>
            <a:pPr algn="l">
              <a:spcAft>
                <a:spcPts val="600"/>
              </a:spcAft>
            </a:pPr>
            <a:r>
              <a:rPr sz="1500" b="0">
                <a:solidFill>
                  <a:srgbClr val="222222"/>
                </a:solidFill>
                <a:latin typeface="맑은 고딕"/>
              </a:rPr>
              <a:t>•  Q5. ORA-04031 메시지에 shared pool/SQLA/kkscsAddChildNode. 원인 영역과 진짜 원인은?</a:t>
            </a:r>
          </a:p>
          <a:p>
            <a:pPr algn="l">
              <a:spcAft>
                <a:spcPts val="600"/>
              </a:spcAft>
            </a:pPr>
            <a:r>
              <a:rPr sz="1500" b="0">
                <a:solidFill>
                  <a:srgbClr val="222222"/>
                </a:solidFill>
                <a:latin typeface="맑은 고딕"/>
              </a:rPr>
              <a:t>•  Q6. FORCE로 하드파싱 급감했는데 일부 SQL이 느려졌다. 무엇을 확인·대응하나?</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공유 풀=SQL·커서·실행계획·데이터사전. 부족의 진짜 원인은 대개 파싱</a:t>
            </a:r>
          </a:p>
          <a:p>
            <a:pPr algn="l">
              <a:spcAft>
                <a:spcPts val="600"/>
              </a:spcAft>
            </a:pPr>
            <a:r>
              <a:rPr sz="1500" b="0">
                <a:solidFill>
                  <a:srgbClr val="222222"/>
                </a:solidFill>
                <a:latin typeface="맑은 고딕"/>
              </a:rPr>
              <a:t>•  V$SGASTAT: free 67MB여도 파편화로 ORA-04031 가능</a:t>
            </a:r>
          </a:p>
          <a:p>
            <a:pPr algn="l">
              <a:spcAft>
                <a:spcPts val="600"/>
              </a:spcAft>
            </a:pPr>
            <a:r>
              <a:rPr sz="1500" b="0">
                <a:solidFill>
                  <a:srgbClr val="222222"/>
                </a:solidFill>
                <a:latin typeface="맑은 고딕"/>
              </a:rPr>
              <a:t>•  V$LIBRARYCACHE: SQL AREA GET_HIT 13.9%=커서 재사용 실패(하드파싱)</a:t>
            </a:r>
          </a:p>
          <a:p>
            <a:pPr algn="l">
              <a:spcAft>
                <a:spcPts val="600"/>
              </a:spcAft>
            </a:pPr>
            <a:r>
              <a:rPr sz="1500" b="0">
                <a:solidFill>
                  <a:srgbClr val="222222"/>
                </a:solidFill>
                <a:latin typeface="맑은 고딕"/>
              </a:rPr>
              <a:t>•  파싱 통계: 하드 61.5%=리터럴. CURSOR_SHARING=FORCE는 임시방편</a:t>
            </a:r>
          </a:p>
          <a:p>
            <a:pPr algn="l">
              <a:spcAft>
                <a:spcPts val="600"/>
              </a:spcAft>
            </a:pPr>
            <a:r>
              <a:rPr sz="1500" b="0">
                <a:solidFill>
                  <a:srgbClr val="222222"/>
                </a:solidFill>
                <a:latin typeface="맑은 고딕"/>
              </a:rPr>
              <a:t>•  V$SHARED_POOL_ADVICE: 416MB 무릎, 확대 평평→크기론 해결 안 됨</a:t>
            </a:r>
          </a:p>
          <a:p>
            <a:pPr algn="l">
              <a:spcAft>
                <a:spcPts val="600"/>
              </a:spcAft>
            </a:pPr>
            <a:r>
              <a:rPr sz="1500" b="0">
                <a:solidFill>
                  <a:srgbClr val="222222"/>
                </a:solidFill>
                <a:latin typeface="맑은 고딕"/>
              </a:rPr>
              <a:t>•  ORA-04031: 메시지로 영역 식별, 바인드→FORCE→예약풀→크기(최후)</a:t>
            </a:r>
          </a:p>
          <a:p>
            <a:pPr algn="l">
              <a:spcAft>
                <a:spcPts val="600"/>
              </a:spcAft>
            </a:pPr>
            <a:r>
              <a:rPr sz="1500" b="0">
                <a:solidFill>
                  <a:srgbClr val="222222"/>
                </a:solidFill>
                <a:latin typeface="맑은 고딕"/>
              </a:rPr>
              <a:t>•  라지 풀: PX msg 15MB 분리로 공유 풀 보호. 진단은 라이선스 무관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non-CDB orcl 19.3(ASMM) · SYS@orcl / SQLT@orcl</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500" b="0">
                <a:solidFill>
                  <a:srgbClr val="222222"/>
                </a:solidFill>
                <a:latin typeface="맑은 고딕"/>
              </a:rPr>
              <a:t>•  실습 01 — 라이브러리 캐시(V$LIBRARYCACHE)와 재파싱 지표 판독</a:t>
            </a:r>
          </a:p>
          <a:p>
            <a:pPr algn="l">
              <a:spcAft>
                <a:spcPts val="600"/>
              </a:spcAft>
            </a:pPr>
            <a:r>
              <a:rPr sz="1500" b="0">
                <a:solidFill>
                  <a:srgbClr val="222222"/>
                </a:solidFill>
                <a:latin typeface="맑은 고딕"/>
              </a:rPr>
              <a:t>•  실습 02 — WL_01_parse로 하드 파싱 유발 후 공유 풀 변화 관찰</a:t>
            </a:r>
          </a:p>
          <a:p>
            <a:pPr algn="l">
              <a:spcAft>
                <a:spcPts val="600"/>
              </a:spcAft>
            </a:pPr>
            <a:r>
              <a:rPr sz="1500" b="0">
                <a:solidFill>
                  <a:srgbClr val="222222"/>
                </a:solidFill>
                <a:latin typeface="맑은 고딕"/>
              </a:rPr>
              <a:t>•  실습 03 — 커서 공유(EXACT/FORCE)별 공유 풀 점유·커서 개수 비교</a:t>
            </a:r>
          </a:p>
          <a:p>
            <a:pPr algn="l">
              <a:spcAft>
                <a:spcPts val="600"/>
              </a:spcAft>
            </a:pPr>
            <a:r>
              <a:rPr sz="1500" b="0">
                <a:solidFill>
                  <a:srgbClr val="222222"/>
                </a:solidFill>
                <a:latin typeface="맑은 고딕"/>
              </a:rPr>
              <a:t>•  실습 04 — 공유 풀 어드바이저(V$SHARED_POOL_ADVICE) 판독</a:t>
            </a:r>
          </a:p>
          <a:p>
            <a:pPr algn="l">
              <a:spcAft>
                <a:spcPts val="600"/>
              </a:spcAft>
            </a:pPr>
            <a:r>
              <a:rPr sz="1500" b="0">
                <a:solidFill>
                  <a:srgbClr val="222222"/>
                </a:solidFill>
                <a:latin typeface="맑은 고딕"/>
              </a:rPr>
              <a:t>•  실습 05 — ORA-04031 재현·원인 영역 식별·예약풀/크기 조정(개인환경 전용)</a:t>
            </a:r>
          </a:p>
          <a:p>
            <a:pPr algn="l">
              <a:spcAft>
                <a:spcPts val="600"/>
              </a:spcAft>
            </a:pPr>
            <a:r>
              <a:rPr sz="1500" b="0">
                <a:solidFill>
                  <a:srgbClr val="222222"/>
                </a:solidFill>
                <a:latin typeface="맑은 고딕"/>
              </a:rPr>
              <a:t>•  실습 06 — 라지 풀 구성과 병렬·RMAN 버퍼 분리 확인</a:t>
            </a:r>
          </a:p>
          <a:p>
            <a:pPr algn="l">
              <a:spcAft>
                <a:spcPts val="600"/>
              </a:spcAft>
            </a:pPr>
            <a:r>
              <a:rPr sz="1500" b="0">
                <a:solidFill>
                  <a:srgbClr val="222222"/>
                </a:solidFill>
                <a:latin typeface="맑은 고딕"/>
              </a:rPr>
              <a:t>•  ※ 각 실습: 조치 전→조회·조치→해석 + 이상→원인→조치→재확인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
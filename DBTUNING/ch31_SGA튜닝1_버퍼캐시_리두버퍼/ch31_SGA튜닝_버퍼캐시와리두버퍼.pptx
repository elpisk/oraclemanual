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SGA는 인스턴스의 모든 세션이 공유하는 메모리로, 버퍼 캐시·공유 풀·라지 풀·자바 풀·스트림 풀·리두 로그 버퍼로 구성됩니다. 이 가운데 버퍼 캐시와 공유 풀이 대개 가장 큽니다. 자동 공유 메모리 관리가 크기를 조정하더라도 각 구조의 동작 원리를 알아야 왜 그 크기를 골랐는지 판단할 수 있습니다. 이 장은 그중 읽기 쪽의 버퍼 캐시와 쓰기 쪽의 리두 로그 버퍼를 다룹니다. ch29에서 확인한 ASMM 환경 위에서 각 구조를 깊게 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버퍼 캐시는 SGA 안에서 데이터 블록의 사본을 담아 두는 영역입니다. 서버 프로세스는 블록이 필요하면 먼저 캐시를 뒤지고, 있으면 메모리에서 바로 읽습니다. 이것이 논리 읽기입니다. 없으면 데이터 파일에서 읽어 캐시에 올리며, 이때 동반되는 디스크 접근이 물리 읽기입니다. 물리 읽기는 논리 읽기의 부분집합이며 수백 배 비쌉니다. 캐시의 목적은 자주 쓰는 블록을 상주시켜 이 비싼 물리 I/O를 줄이는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논리 읽기는 블록을 달라는 요청의 총량이고, 물리 읽기는 그중 캐시에 없어 디스크까지 내려간 부분입니다. 둘의 차이가 캐시가 막아 준 I/O입니다. 여기에 이 장의 함정의 씨앗이 있습니다. 캐시가 물리 읽기를 잘 막을수록 히트율은 오르지만, 그 이면에서 논리 읽기 자체가 얼마나 낭비되는지는 히트율이 전혀 말해 주지 않습니다. 이 비대칭이 이 장 내내 반복되는 주제입니다.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캐시가 가득 차면 어떤 블록을 남길지 정해야 합니다. 오라클은 LRU를 변형한 접촉 횟수 기반 관리를 씁니다. 자주 접근된 블록은 앞쪽에 남고 오래 안 쓴 블록은 뒤로 밀려 재사용됩니다. 변경된 더티 블록은 곧바로 버려지지 않고 데이터베이스 라이터가 데이터 파일에 기록한 뒤에야 재사용됩니다. 이때 WAL 원칙에 따라 변경의 리두가 반드시 먼저 리두 로그에 기록되므로, 버퍼 캐시와 리두 로그 버퍼는 한 쌍으로 움직입니다.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실측이 이 장의 출발점입니다. DEFAULT 풀이 두 줄인 것은 여러 작업 세트로 버퍼를 관리하기 때문이고, 합치면 약 870MB입니다. 별도로 KEEP 풀이 약 46MB 잡혀 있습니다. 세 줄 모두 히트율이 99.98에서 100퍼센트입니다. 얼핏 완벽해 보입니다. 그러나 이 숫자를 액면대로 믿는 순간 이 장의 첫 함정에 빠집니다. 참고로 첫 질의는 buffers 별칭이 예약 식별자로 충돌해 ORA-00904가 났고, 별칭을 바꿔 재조회했습니다.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결론을 먼저 말합니다. 히트율이 100퍼센트에 가까워도 시스템은 얼마든지 나쁜 상태일 수 있고, 심지어 나쁜 SQL일수록 히트율은 더 높아집니다. 히트율은 성능의 결과 지표가 아니라, 잘못 읽으면 문제를 가려 버리는 지표입니다. 앞 절 실측의 99.98퍼센트를 건강의 증거로 삼는 순간 진짜 문제를 놓칩니다. 이 역설을 정확히 이해하는 것이 이 장에서 가장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V$SYSSTAT 원자료로 직접 계산하면 히트율은 99.98퍼센트입니다. 교과서적으로 아주 좋은 값입니다. 그런데 같은 표의 다른 숫자를 보십시오. 세션 논리 읽기가 3억 7천만 회를 넘고 물리 읽기는 7만 5천여 회에 불과합니다. 디스크는 거의 안 건드렸지만 메모리 안에서 블록을 3억 7천만 번 읽었습니다. 물어야 할 질문은 히트율이 높은가가 아니라, 왜 이렇게 많은 논리 읽기가 필요했는가입니다.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산수로 확인합니다. 100개 블록을 한 번씩만 읽으면 논리 100, 물리 100, 히트율 0퍼센트입니다. 같은 100블록을 천 번 반복하면 논리 읽기는 10만으로 폭증하지만 물리 읽기는 여전히 100입니다. 이때 히트율은 99.9퍼센트로 치솟습니다. 논리 읽기가 천 배 늘고 CPU도 그만큼 태웠는데 히트율은 오히려 개선된 것처럼 보입니다. 반복이 심할수록 히트율은 100퍼센트에 수렴합니다. 이것이 나쁜 SQL이 히트율을 끌어올린다의 정확한 메커니즘입니다.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대량 논리 읽기가 응답을 나쁘게 만들까요. 논리 읽기 한 번도 공짜가 아니기 때문입니다. 캐시에서 블록을 찾는 데 CPU가 들고, 블록을 보호하는 버퍼 래치를 잡았다 놓는 비용이 듭니다. 초당 수십만 논리 읽기가 되면 CPU가 여기에 묶이고, 여러 세션이 같은 인기 블록을 동시에 읽으면 래치나 버퍼 핀에서 경합이 생깁니다. 물리 I/O가 없어도 CPU와 래치 경합으로 응답이 나빠집니다. 히트율 100퍼센트가 디스크를 안 쓴다는 뜻이지 빠르다는 뜻은 아닌 이유입니다.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히트율 신앙이 끈질긴 이유는 둘입니다. 하나는 단 하나의 숫자로 나와 직관적이고 보고하기 편하다는 것, 다른 하나는 메모리가 귀하던 시절에는 물리 I/O가 실제로 지배적 병목이어서 쓸모가 있었다는 것입니다. 그러나 지금은 대부분의 OLTP가 이미 99퍼센트를 넘어 변별력을 잃었습니다. 그래서 히트율은 반드시 세 가지와 함께 봐야 합니다. 논리 읽기의 총량과 추세, 상위 buffer_gets SQL, 그리고 DB Time에서 CPU가 차지하는 비중입니다.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 시나리오입니다. 야간 배치 뒤에도 특정 조회 화면이 느립니다. DBA가 히트율을 보니 99.99퍼센트라 캐시는 완벽하니 애플리케이션 문제라고 결론 냈습니다. 무엇을 놓쳤을까요. 히트율은 물리 I/O 회피율일 뿐입니다. 이 화면 SQL은 실행당 논리 읽기가 수십만이었고, 같은 블록을 반복해 읽는 비효율 실행계획 때문에 논리 읽기가 폭증했으며 그 대부분이 캐시에서 처리되니 히트율은 100퍼센트에 수렴했습니다. 조치는 캐시 확장이 아니라 실행계획 수정입니다.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히트율 대신 물리 읽기 예측일까요. 히트율은 지금 이 크기에서 얼마나 적중했나라는 결과값 하나일 뿐, 크기를 바꾸면 어떻게 될까라는 인과를 담지 못합니다. 반면 어드바이스는 크기를 축으로 물리 읽기를 함수로 보여 줍니다. 튜닝은 본질적으로 무엇을 바꾸면 무엇이 달라지는가를 다루므로 함수형 데이터가 훨씬 유용합니다. 버퍼를 늘려도 캐시 히트에 기여하지 않는 구간이 반드시 있고 그 버퍼는 낭비입니다. 어드바이스는 그 지점을 짚어 줍니다.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히트율이 크기 판단의 근거가 못 된다면 무엇으로 판단할까요. V$DB_CACHE_ADVICE입니다. 이 뷰는 캐시를 여러 크기로 가정했을 때 물리 읽기가 얼마일지를 시뮬레이션합니다. 핵심 컬럼은 물리 읽기 계수로, 현재를 1로 볼 때 각 크기에서 물리 읽기가 몇 배가 될지를 나타냅니다. 80MB에서는 447배로 폭증하는 위험 구간이고, 160에서 400 사이는 가파르게 떨어지며, 480MB 이상은 계수가 1로 완전히 수렴합니다.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표는 세 구간으로 읽습니다. 첫째 아주 작은 구간은 물리 읽기가 폭증하는 위험 구간입니다. 둘째 중간 구간은 캐시를 늘릴수록 물리 읽기가 빠르게 주는 개선 구간입니다. 셋째 480MB 이상은 계수가 1에 수렴해 더 키워도 물리 읽기가 안 주는 구간입니다. 이 워크로드의 충분한 크기는 약 480MB이고 현재 864MB는 이미 수렴 구간을 넘었습니다. 다른 구조가 메모리를 필요로 하면 이 캐시에서 회수해도 물리 읽기에 영향이 없다는 판단을 이 표가 뒷받침합니다. 히트율만 봤다면 못 내릴 결론입니다.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모든 객체를 하나의 DEFAULT 풀에서 경쟁시키면, 아주 큰 세그먼트를 넓게 스캔할 때 그 블록들이 캐시를 대량 차지하며 다른 객체의 따뜻한 블록을 밀어냅니다. 정작 그 큰 세그먼트는 캐시 덕을 못 보는데도 말입니다. 가이드는 어떤 세그먼트가 비순차 물리 읽기의 10퍼센트를 넘게 차지하면 아주 크다고 보고 분리를 권합니다. 다중 버퍼 풀이 이 갈등을 물리적으로 분리해 해결합니다.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풀의 역할은 이렇습니다. KEEP은 작고 자주 쓰는 코드·마스터·참조 테이블을 항상 상주시켜 미스를 최소화합니다. RECYCLE은 대량 스캔 대상 대형 세그먼트를 담아 빨리 버림으로써 다른 풀을 오염시키지 않게 격리합니다. DEFAULT는 나머지입니다. 실습 DB는 db_keep_cache_size가 48M로 이미 설정돼 있고 recycle은 0입니다. KEEP·RECYCLE은 ASMM 자동 조정 대상이 아니라 이렇게 명시적으로 크기를 줍니다.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풀 구성 파라미터입니다. db_cache_size가 0인 것은 자동 공유 메모리 관리가 DEFAULT 풀을 자동으로 정하기 때문입니다. 반면 db_keep_cache_size는 48M로 명시돼 있습니다. KEEP과 RECYCLE 풀은 ASMM의 자동 조정 대상이 아니므로 이렇게 명시적으로 크기를 줍니다. KEEP 풀 크기는 담을 객체들의 블록 합계보다 조금 여유 있게 잡습니다. 목적이 미스를 0에 가깝게 만드는 것이기 때문입니다. 너무 크게 잡으면 DEFAULT에서 메모리를 빼앗아 손해이므로 필요한 만큼만이 핵심입니다.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소형 참조 테이블 DRUG_MASTER를 KEEP 풀에 배치합니다. 건수가 적고 거의 모든 청구 조회에서 참조되는 전형적인 KEEP 후보입니다. 주의할 점은 STORAGE로 풀을 바꿔도 이미 다른 풀에 있던 블록이 즉시 옮겨지지 않는다는 것입니다. 새로 읽히는 블록부터 새 풀에 놓입니다. 그래서 배치 직후 전체 스캔으로 블록을 KEEP에 예열해 둡니다. 이렇게 하지 않으면 풀을 바꿨는데 왜 그대로냐는 오해가 생깁니다. 반대로 대량 스캔 세그먼트는 RECYCLE로 격리합니다.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KEEP과 대칭으로, 대량 스캔만 하는 대형 세그먼트는 RECYCLE 풀로 격리합니다. 목적은 반대입니다. KEEP은 오래 남겨 미스를 없애는 것이고 RECYCLE은 빨리 버려 다른 블록을 밀어내지 않는 것입니다. 인덱스도 필요하면 함께 지정합니다. RECYCLE 풀은 DEFAULT보다 작게 잡아 버퍼를 빠르게 재사용하게 합니다. 조치 전후로 DEFAULT 풀 히트율과 상위 SQL의 물리 읽기를 비교해, 이 세그먼트의 넓은 스캔이 다른 객체의 따뜻한 블록을 밀어내던 현상이 사라지는지 관찰합니다.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풀 배치 기준을 정리합니다. KEEP은 작고 자주 참조되는 코드·마스터 테이블, 예측 가능한 응답시간이 필요할 때 씁니다. RECYCLE은 비순차 물리 읽기의 10퍼센트를 넘게 차지하는 대형 세그먼트에 씁니다. 그러나 순서가 중요합니다. 다중 버퍼 풀은 만능이 아니고, 가이드가 먼저 강조하는 것은 SQL 자체의 튜닝입니다. 비선택적 인덱스는 더 선택적인 인덱스로 바꾸는 것이 풀 분리보다 우선입니다. 순서가 뒤바뀌면 나쁜 SQL은 그대로 둔 채 관리 복잡도만 키웁니다.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캐싱 모드는 한 풀 안에서 블록을 얼마나 오래 남길지를 정하는 손잡이입니다. CACHE로 지정하면 전체 스캔 블록도 LRU 앞쪽에 놓아 오래 남기고, 기본인 NOCACHE면 대형 스캔 블록을 LRU 꼬리에 놓아 빨리 밀어냅니다. 같은 100퍼센트라도 의미가 다릅니다. DEFAULT의 99.98은 반복 스캔으로 부풀려졌을 수 있고, KEEP의 100은 설계된 정상 결과입니다. 큰 테이블 스캔은 직접 경로 읽기로 캐시를 우회하기도 해 히트율에 아예 안 잡힙니다. 상주가 필요하면 CACHE보다 KEEP 풀이 명확합니다.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버퍼 캐시가 읽기 쪽이라면 리두 로그 버퍼는 쓰기 쪽의 짝입니다. 데이터 블록을 변경하면 그 리두가 리두 로그 버퍼에 기록되고, 로그 라이터가 온라인 리두 로그 파일로 내려보냅니다. LGWR는 버퍼가 3분의 1 이상 찼을 때, 커밋이나 롤백 시, DBWR가 요청할 때 기록합니다. 이 구조 덕분에 리두 로그 버퍼는 대개 크게 잡을 필요가 없습니다. 서버 프로세스가 리두를 쓰려는데 공간이 없으면 log buffer space 이벤트로 대기합니다.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지표는 redo buffer allocation retries입니다. 서버 프로세스가 리두 버퍼에 공간을 확보하려다 실패해 재시도한 횟수입니다. 이 값이 redo entries 대비 무시할 만큼 작아야 정상입니다. 실측은 재시도 3회, 리두 항목 24만 9천여 회로 비율이 0.0012퍼센트에 불과합니다. 즉 이 인스턴스의 7360K 버퍼는 충분합니다. 절대값을 외워 판단하지 않고 재시도를 리두 항목과 비교해 판정합니다. 재시도가 거의 없는데 log_buffer를 키우는 것은 근거 없는 조치입니다.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대량 스캔의 캐시 동작을 더 봅니다. 소형 테이블 임계는 버퍼 캐시의 2퍼센트와 20블록 중 큰 값입니다. 이보다 큰 테이블을 전체 스캔하면 블록이 LRU 꼬리에 놓이거나, 버퍼 캐시를 우회해 PGA로 직접 읽는 직접 경로 읽기가 일어납니다. 19c의 적응적 직접 경로 읽기는 세그먼트 크기와 캐시 상태에 따라 경로를 그때그때 고릅니다. 그래서 어제는 버퍼 캐시로 빠르던 스캔이 오늘 직접 경로로 바뀌며 갑자기 느려질 수 있습니다. 실행계획은 그대로인데 느려졌다는 신고의 원인이 이 경로 전환일 때가 있고, 판정의 출발점은 히트율이 아니라 물리 읽기와 대기의 변화입니다.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리두 로그 버퍼 판정의 규율입니다. 절대 크기가 아니라 재시도를 리두 항목과 비교한 비율로 충분성을 봅니다. 경험칙으로 1퍼센트 미만이면 충분합니다. log buffer space가 상위 대기면 LGWR의 디스크 기록 시간인 log file parallel write를 함께 봅니다. 후자가 높으면 병목은 버퍼가 아니라 리두 I/O입니다. 이때는 버퍼만 키워선 근본이 안 풀리고, 리두 로그 파일을 빠른 디스크로 옮기거나 커밋 빈도를 조정해야 합니다. 명확한 근거 없이 log_buffer를 키우는 것은 근거 없는 조치입니다.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nchor="t">
            <a:spAutoFit/>
          </a:bodyPr>
          <a:lstStyle/>
          <a:p>
            <a:pPr algn="l"/>
            <a:r>
              <a:rPr sz="1600" b="1">
                <a:solidFill>
                  <a:srgbClr val="FFFFFF"/>
                </a:solidFill>
                <a:latin typeface="맑은 고딕"/>
                <a:ea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r>
              <a:rPr sz="3400" b="1">
                <a:solidFill>
                  <a:srgbClr val="C0392B"/>
                </a:solidFill>
                <a:latin typeface="맑은 고딕"/>
                <a:ea typeface="맑은 고딕"/>
              </a:rPr>
              <a:t>SGA 튜닝 ① 버퍼 캐시와 리두 로그 버퍼</a:t>
            </a:r>
          </a:p>
          <a:p>
            <a:pPr algn="l"/>
            <a:r>
              <a:rPr sz="3400" b="1">
                <a:solidFill>
                  <a:srgbClr val="C0392B"/>
                </a:solidFill>
                <a:latin typeface="맑은 고딕"/>
                <a:ea typeface="맑은 고딕"/>
              </a:rPr>
              <a:t>Tuning the Database Buffer Cache — 히트율의 함정</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r>
              <a:rPr sz="1500" b="0">
                <a:solidFill>
                  <a:srgbClr val="5A6672"/>
                </a:solidFill>
                <a:latin typeface="맑은 고딕"/>
                <a:ea typeface="맑은 고딕"/>
              </a:rPr>
              <a:t>버퍼 캐시 구조 · 히트율의 함정 · V$DB_CACHE_ADVICE · KEEP/RECYCLE 풀 · 리두 로그 버퍼</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r>
              <a:rPr sz="2000" b="1">
                <a:solidFill>
                  <a:srgbClr val="C0392B"/>
                </a:solidFill>
                <a:latin typeface="맑은 고딕"/>
                <a:ea typeface="맑은 고딕"/>
              </a:rPr>
              <a:t>ch31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800"/>
              </a:spcAft>
            </a:pPr>
            <a:r>
              <a:rPr sz="1600" b="0">
                <a:solidFill>
                  <a:srgbClr val="222222"/>
                </a:solidFill>
                <a:latin typeface="맑은 고딕"/>
                <a:ea typeface="맑은 고딕"/>
              </a:rPr>
              <a:t>•  버퍼 캐시 구조(DEFAULT·KEEP·RECYCLE, LRU, DBWR)와 논리·물리 읽기를 구분한다.</a:t>
            </a:r>
          </a:p>
          <a:p>
            <a:pPr algn="l">
              <a:spcAft>
                <a:spcPts val="800"/>
              </a:spcAft>
            </a:pPr>
            <a:r>
              <a:rPr sz="1600" b="0">
                <a:solidFill>
                  <a:srgbClr val="222222"/>
                </a:solidFill>
                <a:latin typeface="맑은 고딕"/>
                <a:ea typeface="맑은 고딕"/>
              </a:rPr>
              <a:t>•  히트율의 함정 — 100%에 가까워도 좋은 상태가 아닐 수 있음을 실측으로 설명한다.</a:t>
            </a:r>
          </a:p>
          <a:p>
            <a:pPr algn="l">
              <a:spcAft>
                <a:spcPts val="800"/>
              </a:spcAft>
            </a:pPr>
            <a:r>
              <a:rPr sz="1600" b="0">
                <a:solidFill>
                  <a:srgbClr val="222222"/>
                </a:solidFill>
                <a:latin typeface="맑은 고딕"/>
                <a:ea typeface="맑은 고딕"/>
              </a:rPr>
              <a:t>•  반복 스캔이 히트율을 부풀리는 원리와 대량 논리 읽기의 비효율을 판별한다.</a:t>
            </a:r>
          </a:p>
          <a:p>
            <a:pPr algn="l">
              <a:spcAft>
                <a:spcPts val="800"/>
              </a:spcAft>
            </a:pPr>
            <a:r>
              <a:rPr sz="1600" b="0">
                <a:solidFill>
                  <a:srgbClr val="222222"/>
                </a:solidFill>
                <a:latin typeface="맑은 고딕"/>
                <a:ea typeface="맑은 고딕"/>
              </a:rPr>
              <a:t>•  V$DB_CACHE_ADVICE로 크기 변경 효과를 예측하고 수렴 구간을 읽는다.</a:t>
            </a:r>
          </a:p>
          <a:p>
            <a:pPr algn="l">
              <a:spcAft>
                <a:spcPts val="800"/>
              </a:spcAft>
            </a:pPr>
            <a:r>
              <a:rPr sz="1600" b="0">
                <a:solidFill>
                  <a:srgbClr val="222222"/>
                </a:solidFill>
                <a:latin typeface="맑은 고딕"/>
                <a:ea typeface="맑은 고딕"/>
              </a:rPr>
              <a:t>•  다중 버퍼 풀(KEEP=소형 참조, RECYCLE=대량 스캔) 배치 기준을 세운다.</a:t>
            </a:r>
          </a:p>
          <a:p>
            <a:pPr algn="l">
              <a:spcAft>
                <a:spcPts val="800"/>
              </a:spcAft>
            </a:pPr>
            <a:r>
              <a:rPr sz="1600" b="0">
                <a:solidFill>
                  <a:srgbClr val="222222"/>
                </a:solidFill>
                <a:latin typeface="맑은 고딕"/>
                <a:ea typeface="맑은 고딕"/>
              </a:rPr>
              <a:t>•  리두 로그 버퍼 동작과 log buffer space 대기·재시도 비율을 판독한다.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800"/>
              </a:spcAft>
            </a:pPr>
            <a:r>
              <a:rPr sz="1600" b="0">
                <a:solidFill>
                  <a:srgbClr val="222222"/>
                </a:solidFill>
                <a:latin typeface="맑은 고딕"/>
                <a:ea typeface="맑은 고딕"/>
              </a:rPr>
              <a:t>•  17.2  버퍼 캐시 구조 — 무엇을, 왜 캐싱하는가</a:t>
            </a:r>
          </a:p>
          <a:p>
            <a:pPr algn="l">
              <a:spcAft>
                <a:spcPts val="800"/>
              </a:spcAft>
            </a:pPr>
            <a:r>
              <a:rPr sz="1600" b="0">
                <a:solidFill>
                  <a:srgbClr val="222222"/>
                </a:solidFill>
                <a:latin typeface="맑은 고딕"/>
                <a:ea typeface="맑은 고딕"/>
              </a:rPr>
              <a:t>•  17.3  히트율의 함정 — 이 장의 핵심</a:t>
            </a:r>
          </a:p>
          <a:p>
            <a:pPr algn="l">
              <a:spcAft>
                <a:spcPts val="800"/>
              </a:spcAft>
            </a:pPr>
            <a:r>
              <a:rPr sz="1600" b="0">
                <a:solidFill>
                  <a:srgbClr val="222222"/>
                </a:solidFill>
                <a:latin typeface="맑은 고딕"/>
                <a:ea typeface="맑은 고딕"/>
              </a:rPr>
              <a:t>•  17.4  V$DB_CACHE_ADVICE — 크기 변경 효과 예측</a:t>
            </a:r>
          </a:p>
          <a:p>
            <a:pPr algn="l">
              <a:spcAft>
                <a:spcPts val="800"/>
              </a:spcAft>
            </a:pPr>
            <a:r>
              <a:rPr sz="1600" b="0">
                <a:solidFill>
                  <a:srgbClr val="222222"/>
                </a:solidFill>
                <a:latin typeface="맑은 고딕"/>
                <a:ea typeface="맑은 고딕"/>
              </a:rPr>
              <a:t>•  17.5  다중 버퍼 풀 — KEEP과 RECYCLE</a:t>
            </a:r>
          </a:p>
          <a:p>
            <a:pPr algn="l">
              <a:spcAft>
                <a:spcPts val="800"/>
              </a:spcAft>
            </a:pPr>
            <a:r>
              <a:rPr sz="1600" b="0">
                <a:solidFill>
                  <a:srgbClr val="222222"/>
                </a:solidFill>
                <a:latin typeface="맑은 고딕"/>
                <a:ea typeface="맑은 고딕"/>
              </a:rPr>
              <a:t>•  17.6  캐싱 모드와 대량 스캔의 캐시 동작</a:t>
            </a:r>
          </a:p>
          <a:p>
            <a:pPr algn="l">
              <a:spcAft>
                <a:spcPts val="800"/>
              </a:spcAft>
            </a:pPr>
            <a:r>
              <a:rPr sz="1600" b="0">
                <a:solidFill>
                  <a:srgbClr val="222222"/>
                </a:solidFill>
                <a:latin typeface="맑은 고딕"/>
                <a:ea typeface="맑은 고딕"/>
              </a:rPr>
              <a:t>•  17.7  리두 로그 버퍼 — log buffer space 대기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ea typeface="맑은 고딕"/>
              </a:rPr>
              <a:t>17.2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ea typeface="맑은 고딕"/>
              </a:rPr>
              <a:t>버퍼 캐시 구조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논리 읽기 vs 물리 읽기</a:t>
            </a:r>
          </a:p>
          <a:p>
            <a:pPr algn="l">
              <a:spcAft>
                <a:spcPts val="600"/>
              </a:spcAft>
            </a:pPr>
            <a:r>
              <a:rPr sz="1600" b="0">
                <a:solidFill>
                  <a:srgbClr val="FFFFFF"/>
                </a:solidFill>
                <a:latin typeface="맑은 고딕"/>
                <a:ea typeface="맑은 고딕"/>
              </a:rPr>
              <a:t>•  LRU·touch count·DBWR</a:t>
            </a:r>
          </a:p>
          <a:p>
            <a:pPr algn="l">
              <a:spcAft>
                <a:spcPts val="600"/>
              </a:spcAft>
            </a:pPr>
            <a:r>
              <a:rPr sz="1600" b="0">
                <a:solidFill>
                  <a:srgbClr val="FFFFFF"/>
                </a:solidFill>
                <a:latin typeface="맑은 고딕"/>
                <a:ea typeface="맑은 고딕"/>
              </a:rPr>
              <a:t>•  DEFAULT/KEEP/RECYCLE 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SGA 안에서 버퍼 캐시의 자리</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이 장이 다루는 두 구조</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SGA = 버퍼 캐시 + 공유 풀 + 라지/자바/스트림 풀 + 리두 버퍼</a:t>
            </a:r>
          </a:p>
          <a:p>
            <a:pPr algn="l">
              <a:spcAft>
                <a:spcPts val="1000"/>
              </a:spcAft>
            </a:pPr>
            <a:r>
              <a:rPr sz="1700" b="0">
                <a:solidFill>
                  <a:srgbClr val="222222"/>
                </a:solidFill>
                <a:latin typeface="맑은 고딕"/>
                <a:ea typeface="맑은 고딕"/>
              </a:rPr>
              <a:t>•  버퍼 캐시와 공유 풀이 대개 가장 큰 비중</a:t>
            </a:r>
          </a:p>
          <a:p>
            <a:pPr algn="l">
              <a:spcAft>
                <a:spcPts val="1000"/>
              </a:spcAft>
            </a:pPr>
            <a:r>
              <a:rPr sz="1700" b="0">
                <a:solidFill>
                  <a:srgbClr val="222222"/>
                </a:solidFill>
                <a:latin typeface="맑은 고딕"/>
                <a:ea typeface="맑은 고딕"/>
              </a:rPr>
              <a:t>•  ASMM/AMM가 자동 조정해도 각 구조의 원리는 알아야 판단 가능</a:t>
            </a:r>
          </a:p>
          <a:p>
            <a:pPr algn="l">
              <a:spcAft>
                <a:spcPts val="1000"/>
              </a:spcAft>
            </a:pPr>
            <a:r>
              <a:rPr sz="1700" b="0">
                <a:solidFill>
                  <a:srgbClr val="222222"/>
                </a:solidFill>
                <a:latin typeface="맑은 고딕"/>
                <a:ea typeface="맑은 고딕"/>
              </a:rPr>
              <a:t>•  이 장: 버퍼 캐시(읽기) + 리두 로그 버퍼(쓰기)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무엇을, 왜 캐싱하는가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버퍼 캐시의 목적</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버퍼 캐시 = SGA 안 데이터 블록의 사본 저장소</a:t>
            </a:r>
          </a:p>
          <a:p>
            <a:pPr algn="l">
              <a:spcAft>
                <a:spcPts val="1000"/>
              </a:spcAft>
            </a:pPr>
            <a:r>
              <a:rPr sz="1700" b="0">
                <a:solidFill>
                  <a:srgbClr val="222222"/>
                </a:solidFill>
                <a:latin typeface="맑은 고딕"/>
                <a:ea typeface="맑은 고딕"/>
              </a:rPr>
              <a:t>•  캐시 히트 → 메모리에서 바로(논리 읽기)</a:t>
            </a:r>
          </a:p>
          <a:p>
            <a:pPr algn="l">
              <a:spcAft>
                <a:spcPts val="1000"/>
              </a:spcAft>
            </a:pPr>
            <a:r>
              <a:rPr sz="1700" b="0">
                <a:solidFill>
                  <a:srgbClr val="222222"/>
                </a:solidFill>
                <a:latin typeface="맑은 고딕"/>
                <a:ea typeface="맑은 고딕"/>
              </a:rPr>
              <a:t>•  캐시 미스 → 데이터 파일에서 읽어 올림(물리 읽기)</a:t>
            </a:r>
          </a:p>
          <a:p>
            <a:pPr algn="l">
              <a:spcAft>
                <a:spcPts val="1000"/>
              </a:spcAft>
            </a:pPr>
            <a:r>
              <a:rPr sz="1700" b="0">
                <a:solidFill>
                  <a:srgbClr val="222222"/>
                </a:solidFill>
                <a:latin typeface="맑은 고딕"/>
                <a:ea typeface="맑은 고딕"/>
              </a:rPr>
              <a:t>•  목적: 자주 쓰는 블록을 잡아 둬 물리 I/O를 줄인다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논리 읽기와 물리 읽기</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이 장의 토대가 되는 구분</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논리 읽기 = db block gets + consistent gets (요청 총량)</a:t>
            </a:r>
          </a:p>
          <a:p>
            <a:pPr algn="l">
              <a:spcAft>
                <a:spcPts val="1000"/>
              </a:spcAft>
            </a:pPr>
            <a:r>
              <a:rPr sz="1700" b="0">
                <a:solidFill>
                  <a:srgbClr val="222222"/>
                </a:solidFill>
                <a:latin typeface="맑은 고딕"/>
                <a:ea typeface="맑은 고딕"/>
              </a:rPr>
              <a:t>•  물리 읽기 = 캐시에 없어 디스크까지 내려간 부분</a:t>
            </a:r>
          </a:p>
          <a:p>
            <a:pPr algn="l">
              <a:spcAft>
                <a:spcPts val="1000"/>
              </a:spcAft>
            </a:pPr>
            <a:r>
              <a:rPr sz="1700" b="0">
                <a:solidFill>
                  <a:srgbClr val="222222"/>
                </a:solidFill>
                <a:latin typeface="맑은 고딕"/>
                <a:ea typeface="맑은 고딕"/>
              </a:rPr>
              <a:t>•  물리 읽기는 언제나 논리 읽기의 부분집합</a:t>
            </a:r>
          </a:p>
          <a:p>
            <a:pPr algn="l">
              <a:spcAft>
                <a:spcPts val="1000"/>
              </a:spcAft>
            </a:pPr>
            <a:r>
              <a:rPr sz="1700" b="0">
                <a:solidFill>
                  <a:srgbClr val="222222"/>
                </a:solidFill>
                <a:latin typeface="맑은 고딕"/>
                <a:ea typeface="맑은 고딕"/>
              </a:rPr>
              <a:t>•  히트율은 '물리 회피율'만 말할 뿐, 논리 읽기 낭비는 못 본다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LRU와 DBWR</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누구를 캐시에 남길 것인가</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LRU + 접촉 횟수(touch count)로 남길 블록을 결정</a:t>
            </a:r>
          </a:p>
          <a:p>
            <a:pPr algn="l">
              <a:spcAft>
                <a:spcPts val="1000"/>
              </a:spcAft>
            </a:pPr>
            <a:r>
              <a:rPr sz="1700" b="0">
                <a:solidFill>
                  <a:srgbClr val="222222"/>
                </a:solidFill>
                <a:latin typeface="맑은 고딕"/>
                <a:ea typeface="맑은 고딕"/>
              </a:rPr>
              <a:t>•  자주 쓰면 앞(MRU), 오래 안 쓰면 뒤(LRU)로 밀려 재사용</a:t>
            </a:r>
          </a:p>
          <a:p>
            <a:pPr algn="l">
              <a:spcAft>
                <a:spcPts val="1000"/>
              </a:spcAft>
            </a:pPr>
            <a:r>
              <a:rPr sz="1700" b="0">
                <a:solidFill>
                  <a:srgbClr val="222222"/>
                </a:solidFill>
                <a:latin typeface="맑은 고딕"/>
                <a:ea typeface="맑은 고딕"/>
              </a:rPr>
              <a:t>•  변경 블록(dirty)은 DBWR가 데이터 파일에 쓴 뒤 재사용</a:t>
            </a:r>
          </a:p>
          <a:p>
            <a:pPr algn="l">
              <a:spcAft>
                <a:spcPts val="1000"/>
              </a:spcAft>
            </a:pPr>
            <a:r>
              <a:rPr sz="1700" b="0">
                <a:solidFill>
                  <a:srgbClr val="222222"/>
                </a:solidFill>
                <a:latin typeface="맑은 고딕"/>
                <a:ea typeface="맑은 고딕"/>
              </a:rPr>
              <a:t>•  WAL 원칙: 리두를 먼저 기록하고 블록을 나중에 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풀별 크기·히트율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V$BUFFER_POOL_STATISTICS (별칭 충돌 수정 후)</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lnSpc>
                <a:spcPct val="100000"/>
              </a:lnSpc>
              <a:spcAft>
                <a:spcPts val="0"/>
              </a:spcAft>
            </a:pPr>
            <a:r>
              <a:rPr sz="1250" b="0">
                <a:solidFill>
                  <a:srgbClr val="F2F2F2"/>
                </a:solidFill>
                <a:latin typeface="Consolas"/>
                <a:ea typeface="Consolas"/>
              </a:rPr>
              <a:t>SYS@orcl&gt; SELECT name, set_msize buf_cnt,</a:t>
            </a:r>
          </a:p>
          <a:p>
            <a:pPr>
              <a:lnSpc>
                <a:spcPct val="100000"/>
              </a:lnSpc>
              <a:spcAft>
                <a:spcPts val="0"/>
              </a:spcAft>
            </a:pPr>
            <a:r>
              <a:rPr sz="1250" b="0">
                <a:solidFill>
                  <a:srgbClr val="F2F2F2"/>
                </a:solidFill>
                <a:latin typeface="Consolas"/>
                <a:ea typeface="Consolas"/>
              </a:rPr>
              <a:t>  2    ROUND(set_msize*block_size/1024/1024,1) mb,</a:t>
            </a:r>
          </a:p>
          <a:p>
            <a:pPr>
              <a:lnSpc>
                <a:spcPct val="100000"/>
              </a:lnSpc>
              <a:spcAft>
                <a:spcPts val="0"/>
              </a:spcAft>
            </a:pPr>
            <a:r>
              <a:rPr sz="1250" b="0">
                <a:solidFill>
                  <a:srgbClr val="F2F2F2"/>
                </a:solidFill>
                <a:latin typeface="Consolas"/>
                <a:ea typeface="Consolas"/>
              </a:rPr>
              <a:t>  3    ROUND(100*(1-physical_reads/</a:t>
            </a:r>
          </a:p>
          <a:p>
            <a:pPr>
              <a:lnSpc>
                <a:spcPct val="100000"/>
              </a:lnSpc>
              <a:spcAft>
                <a:spcPts val="0"/>
              </a:spcAft>
            </a:pPr>
            <a:r>
              <a:rPr sz="1250" b="0">
                <a:solidFill>
                  <a:srgbClr val="F2F2F2"/>
                </a:solidFill>
                <a:latin typeface="Consolas"/>
                <a:ea typeface="Consolas"/>
              </a:rPr>
              <a:t>  4      GREATEST(db_block_gets+consistent_gets,1)),2) hit_pct</a:t>
            </a:r>
          </a:p>
          <a:p>
            <a:pPr>
              <a:lnSpc>
                <a:spcPct val="100000"/>
              </a:lnSpc>
              <a:spcAft>
                <a:spcPts val="0"/>
              </a:spcAft>
            </a:pPr>
            <a:r>
              <a:rPr sz="1250" b="0">
                <a:solidFill>
                  <a:srgbClr val="F2F2F2"/>
                </a:solidFill>
                <a:latin typeface="Consolas"/>
                <a:ea typeface="Consolas"/>
              </a:rPr>
              <a:t>  5  FROM v$buffer_pool_statistics WHERE set_msize&gt;0;</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NAME       BUF_CNT     MB    HIT_PCT</a:t>
            </a:r>
          </a:p>
          <a:p>
            <a:pPr>
              <a:lnSpc>
                <a:spcPct val="100000"/>
              </a:lnSpc>
              <a:spcAft>
                <a:spcPts val="0"/>
              </a:spcAft>
            </a:pPr>
            <a:r>
              <a:rPr sz="1250" b="0">
                <a:solidFill>
                  <a:srgbClr val="F2F2F2"/>
                </a:solidFill>
                <a:latin typeface="Consolas"/>
                <a:ea typeface="Consolas"/>
              </a:rPr>
              <a:t>-------- --------- ------ ----------</a:t>
            </a:r>
          </a:p>
          <a:p>
            <a:pPr>
              <a:lnSpc>
                <a:spcPct val="100000"/>
              </a:lnSpc>
              <a:spcAft>
                <a:spcPts val="0"/>
              </a:spcAft>
            </a:pPr>
            <a:r>
              <a:rPr sz="1250" b="0">
                <a:solidFill>
                  <a:srgbClr val="F2F2F2"/>
                </a:solidFill>
                <a:latin typeface="Consolas"/>
                <a:ea typeface="Consolas"/>
              </a:rPr>
              <a:t>DEFAULT     11268     44        100</a:t>
            </a:r>
          </a:p>
          <a:p>
            <a:pPr>
              <a:lnSpc>
                <a:spcPct val="100000"/>
              </a:lnSpc>
              <a:spcAft>
                <a:spcPts val="0"/>
              </a:spcAft>
            </a:pPr>
            <a:r>
              <a:rPr sz="1250" b="0">
                <a:solidFill>
                  <a:srgbClr val="F2F2F2"/>
                </a:solidFill>
                <a:latin typeface="Consolas"/>
                <a:ea typeface="Consolas"/>
              </a:rPr>
              <a:t>DEFAULT    105732    826      99.98</a:t>
            </a:r>
          </a:p>
          <a:p>
            <a:pPr>
              <a:lnSpc>
                <a:spcPct val="100000"/>
              </a:lnSpc>
              <a:spcAft>
                <a:spcPts val="0"/>
              </a:spcAft>
            </a:pPr>
            <a:r>
              <a:rPr sz="1250" b="0">
                <a:solidFill>
                  <a:srgbClr val="F2F2F2"/>
                </a:solidFill>
                <a:latin typeface="Consolas"/>
                <a:ea typeface="Consolas"/>
              </a:rPr>
              <a:t>KEEP         5874   45.9        100</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 첫 시도는 별칭 buffers가 예약어 충돌로 ORA-00904 → buf_cnt로 수정.</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ea typeface="맑은 고딕"/>
              </a:rPr>
              <a:t>17.3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ea typeface="맑은 고딕"/>
              </a:rPr>
              <a:t>히트율의 함정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100%인데 나쁠 수 있다</a:t>
            </a:r>
          </a:p>
          <a:p>
            <a:pPr algn="l">
              <a:spcAft>
                <a:spcPts val="600"/>
              </a:spcAft>
            </a:pPr>
            <a:r>
              <a:rPr sz="1600" b="0">
                <a:solidFill>
                  <a:srgbClr val="FFFFFF"/>
                </a:solidFill>
                <a:latin typeface="맑은 고딕"/>
                <a:ea typeface="맑은 고딕"/>
              </a:rPr>
              <a:t>•  나쁜 SQL이 히트율을 올린다</a:t>
            </a:r>
          </a:p>
          <a:p>
            <a:pPr algn="l">
              <a:spcAft>
                <a:spcPts val="600"/>
              </a:spcAft>
            </a:pPr>
            <a:r>
              <a:rPr sz="1600" b="0">
                <a:solidFill>
                  <a:srgbClr val="FFFFFF"/>
                </a:solidFill>
                <a:latin typeface="맑은 고딕"/>
                <a:ea typeface="맑은 고딕"/>
              </a:rPr>
              <a:t>•  실측 99.98% / 논리 3.7억</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히트율의 역설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이 장에서 가장 중요한 것</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히트율 = 1 − 물리 읽기 / 논리 읽기</a:t>
            </a:r>
          </a:p>
          <a:p>
            <a:pPr algn="l">
              <a:spcAft>
                <a:spcPts val="1000"/>
              </a:spcAft>
            </a:pPr>
            <a:r>
              <a:rPr sz="1700" b="0">
                <a:solidFill>
                  <a:srgbClr val="222222"/>
                </a:solidFill>
                <a:latin typeface="맑은 고딕"/>
                <a:ea typeface="맑은 고딕"/>
              </a:rPr>
              <a:t>•  100%에 가까워도 시스템은 나쁜 상태일 수 있다</a:t>
            </a:r>
          </a:p>
          <a:p>
            <a:pPr algn="l">
              <a:spcAft>
                <a:spcPts val="1000"/>
              </a:spcAft>
            </a:pPr>
            <a:r>
              <a:rPr sz="1700" b="0">
                <a:solidFill>
                  <a:srgbClr val="222222"/>
                </a:solidFill>
                <a:latin typeface="맑은 고딕"/>
                <a:ea typeface="맑은 고딕"/>
              </a:rPr>
              <a:t>•  심지어 나쁜 SQL일수록 히트율은 더 높아진다</a:t>
            </a:r>
          </a:p>
          <a:p>
            <a:pPr algn="l">
              <a:spcAft>
                <a:spcPts val="1000"/>
              </a:spcAft>
            </a:pPr>
            <a:r>
              <a:rPr sz="1700" b="0">
                <a:solidFill>
                  <a:srgbClr val="222222"/>
                </a:solidFill>
                <a:latin typeface="맑은 고딕"/>
                <a:ea typeface="맑은 고딕"/>
              </a:rPr>
              <a:t>•  히트율은 잘못 읽으면 문제를 가려 버리는 지표</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실측으로 계산하기</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V$SYSSTAT 원자료 → 99.98%</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lnSpc>
                <a:spcPct val="100000"/>
              </a:lnSpc>
              <a:spcAft>
                <a:spcPts val="0"/>
              </a:spcAft>
            </a:pPr>
            <a:r>
              <a:rPr sz="1250" b="0">
                <a:solidFill>
                  <a:srgbClr val="F2F2F2"/>
                </a:solidFill>
                <a:latin typeface="Consolas"/>
                <a:ea typeface="Consolas"/>
              </a:rPr>
              <a:t>SYS@orcl&gt; SELECT name, value FROM v$sysstat</a:t>
            </a:r>
          </a:p>
          <a:p>
            <a:pPr>
              <a:lnSpc>
                <a:spcPct val="100000"/>
              </a:lnSpc>
              <a:spcAft>
                <a:spcPts val="0"/>
              </a:spcAft>
            </a:pPr>
            <a:r>
              <a:rPr sz="1250" b="0">
                <a:solidFill>
                  <a:srgbClr val="F2F2F2"/>
                </a:solidFill>
                <a:latin typeface="Consolas"/>
                <a:ea typeface="Consolas"/>
              </a:rPr>
              <a:t>  2  WHERE name IN ('db block gets','consistent gets',</a:t>
            </a:r>
          </a:p>
          <a:p>
            <a:pPr>
              <a:lnSpc>
                <a:spcPct val="100000"/>
              </a:lnSpc>
              <a:spcAft>
                <a:spcPts val="0"/>
              </a:spcAft>
            </a:pPr>
            <a:r>
              <a:rPr sz="1250" b="0">
                <a:solidFill>
                  <a:srgbClr val="F2F2F2"/>
                </a:solidFill>
                <a:latin typeface="Consolas"/>
                <a:ea typeface="Consolas"/>
              </a:rPr>
              <a:t>  3                 'physical reads','session logical reads');</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NAME                      VALUE</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consistent gets       374267229</a:t>
            </a:r>
          </a:p>
          <a:p>
            <a:pPr>
              <a:lnSpc>
                <a:spcPct val="100000"/>
              </a:lnSpc>
              <a:spcAft>
                <a:spcPts val="0"/>
              </a:spcAft>
            </a:pPr>
            <a:r>
              <a:rPr sz="1250" b="0">
                <a:solidFill>
                  <a:srgbClr val="F2F2F2"/>
                </a:solidFill>
                <a:latin typeface="Consolas"/>
                <a:ea typeface="Consolas"/>
              </a:rPr>
              <a:t>db block gets            618971</a:t>
            </a:r>
          </a:p>
          <a:p>
            <a:pPr>
              <a:lnSpc>
                <a:spcPct val="100000"/>
              </a:lnSpc>
              <a:spcAft>
                <a:spcPts val="0"/>
              </a:spcAft>
            </a:pPr>
            <a:r>
              <a:rPr sz="1250" b="0">
                <a:solidFill>
                  <a:srgbClr val="F2F2F2"/>
                </a:solidFill>
                <a:latin typeface="Consolas"/>
                <a:ea typeface="Consolas"/>
              </a:rPr>
              <a:t>physical reads            75765</a:t>
            </a:r>
          </a:p>
          <a:p>
            <a:pPr>
              <a:lnSpc>
                <a:spcPct val="100000"/>
              </a:lnSpc>
              <a:spcAft>
                <a:spcPts val="0"/>
              </a:spcAft>
            </a:pPr>
            <a:r>
              <a:rPr sz="1250" b="0">
                <a:solidFill>
                  <a:srgbClr val="F2F2F2"/>
                </a:solidFill>
                <a:latin typeface="Consolas"/>
                <a:ea typeface="Consolas"/>
              </a:rPr>
              <a:t>session logical reads 374886200</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 히트율 = 1 - 75,765 / (618,971 + 374,267,229) = 99.98%</a:t>
            </a:r>
          </a:p>
          <a:p>
            <a:pPr>
              <a:lnSpc>
                <a:spcPct val="100000"/>
              </a:lnSpc>
              <a:spcAft>
                <a:spcPts val="0"/>
              </a:spcAft>
            </a:pPr>
            <a:r>
              <a:rPr sz="1250" b="0">
                <a:solidFill>
                  <a:srgbClr val="F2F2F2"/>
                </a:solidFill>
                <a:latin typeface="Consolas"/>
                <a:ea typeface="Consolas"/>
              </a:rPr>
              <a:t>-- 그런데 논리 읽기가 3.7억 회! 물리는 7.5만. 무엇이 문제인가?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나쁜 SQL이 히트율을 올린다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반복 스캔의 산수</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100블록을 1번 읽으면: 논리 100, 물리 100, 히트율 0%</a:t>
            </a:r>
          </a:p>
          <a:p>
            <a:pPr algn="l">
              <a:spcAft>
                <a:spcPts val="1000"/>
              </a:spcAft>
            </a:pPr>
            <a:r>
              <a:rPr sz="1700" b="0">
                <a:solidFill>
                  <a:srgbClr val="222222"/>
                </a:solidFill>
                <a:latin typeface="맑은 고딕"/>
                <a:ea typeface="맑은 고딕"/>
              </a:rPr>
              <a:t>•  같은 100블록을 1,000번 읽으면: 논리 100,000, 물리 100</a:t>
            </a:r>
          </a:p>
          <a:p>
            <a:pPr algn="l">
              <a:spcAft>
                <a:spcPts val="1000"/>
              </a:spcAft>
            </a:pPr>
            <a:r>
              <a:rPr sz="1700" b="0">
                <a:solidFill>
                  <a:srgbClr val="222222"/>
                </a:solidFill>
                <a:latin typeface="맑은 고딕"/>
                <a:ea typeface="맑은 고딕"/>
              </a:rPr>
              <a:t>•  → 히트율 = 1 − 100/100,000 = 99.9%로 치솟음</a:t>
            </a:r>
          </a:p>
          <a:p>
            <a:pPr algn="l">
              <a:spcAft>
                <a:spcPts val="1000"/>
              </a:spcAft>
            </a:pPr>
            <a:r>
              <a:rPr sz="1700" b="0">
                <a:solidFill>
                  <a:srgbClr val="222222"/>
                </a:solidFill>
                <a:latin typeface="맑은 고딕"/>
                <a:ea typeface="맑은 고딕"/>
              </a:rPr>
              <a:t>•  반복이 심할수록 히트율은 100%에 수렴한다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왜 대량 논리 읽기가 느린가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물리 I/O가 없어도 느리다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논리 읽기 한 번도 CPU와 버퍼 래치 비용이 든다</a:t>
            </a:r>
          </a:p>
          <a:p>
            <a:pPr algn="l">
              <a:spcAft>
                <a:spcPts val="1000"/>
              </a:spcAft>
            </a:pPr>
            <a:r>
              <a:rPr sz="1700" b="0">
                <a:solidFill>
                  <a:srgbClr val="222222"/>
                </a:solidFill>
                <a:latin typeface="맑은 고딕"/>
                <a:ea typeface="맑은 고딕"/>
              </a:rPr>
              <a:t>•  초당 수십만 논리 읽기 → CPU가 묶인다</a:t>
            </a:r>
          </a:p>
          <a:p>
            <a:pPr algn="l">
              <a:spcAft>
                <a:spcPts val="1000"/>
              </a:spcAft>
            </a:pPr>
            <a:r>
              <a:rPr sz="1700" b="0">
                <a:solidFill>
                  <a:srgbClr val="222222"/>
                </a:solidFill>
                <a:latin typeface="맑은 고딕"/>
                <a:ea typeface="맑은 고딕"/>
              </a:rPr>
              <a:t>•  인기 블록 동시 접근 → cache buffers chains·buffer busy</a:t>
            </a:r>
          </a:p>
          <a:p>
            <a:pPr algn="l">
              <a:spcAft>
                <a:spcPts val="1000"/>
              </a:spcAft>
            </a:pPr>
            <a:r>
              <a:rPr sz="1700" b="0">
                <a:solidFill>
                  <a:srgbClr val="222222"/>
                </a:solidFill>
                <a:latin typeface="맑은 고딕"/>
                <a:ea typeface="맑은 고딕"/>
              </a:rPr>
              <a:t>•  히트율 100% = 디스크를 안 쓴다 ≠ 빠르다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히트율 신앙은 왜 끈질긴가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그리고 함께 봐야 할 것</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이유1: 단 하나의 숫자라 직관적이고 보고하기 쉽다</a:t>
            </a:r>
          </a:p>
          <a:p>
            <a:pPr algn="l">
              <a:spcAft>
                <a:spcPts val="1000"/>
              </a:spcAft>
            </a:pPr>
            <a:r>
              <a:rPr sz="1700" b="0">
                <a:solidFill>
                  <a:srgbClr val="222222"/>
                </a:solidFill>
                <a:latin typeface="맑은 고딕"/>
                <a:ea typeface="맑은 고딕"/>
              </a:rPr>
              <a:t>•  이유2: 메모리가 귀하던 시절엔 물리 I/O가 지배적 병목이었다</a:t>
            </a:r>
          </a:p>
          <a:p>
            <a:pPr algn="l">
              <a:spcAft>
                <a:spcPts val="1000"/>
              </a:spcAft>
            </a:pPr>
            <a:r>
              <a:rPr sz="1700" b="0">
                <a:solidFill>
                  <a:srgbClr val="222222"/>
                </a:solidFill>
                <a:latin typeface="맑은 고딕"/>
                <a:ea typeface="맑은 고딕"/>
              </a:rPr>
              <a:t>•  지금은 대부분 OLTP가 이미 99%+ → 변별력 상실</a:t>
            </a:r>
          </a:p>
          <a:p>
            <a:pPr algn="l">
              <a:spcAft>
                <a:spcPts val="1000"/>
              </a:spcAft>
            </a:pPr>
            <a:r>
              <a:rPr sz="1700" b="0">
                <a:solidFill>
                  <a:srgbClr val="222222"/>
                </a:solidFill>
                <a:latin typeface="맑은 고딕"/>
                <a:ea typeface="맑은 고딕"/>
              </a:rPr>
              <a:t>•  함께 볼 것: 논리 읽기 총량·추세 / 상위 buffer_gets SQL / CPU 비중</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실무 시나리오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히트율 99.99%인데 화면이 느리다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상황: 히트율 99.99% 확인 후 '애플리케이션 문제'로 결론</a:t>
            </a:r>
          </a:p>
          <a:p>
            <a:pPr algn="l">
              <a:spcAft>
                <a:spcPts val="1000"/>
              </a:spcAft>
            </a:pPr>
            <a:r>
              <a:rPr sz="1700" b="0">
                <a:solidFill>
                  <a:srgbClr val="222222"/>
                </a:solidFill>
                <a:latin typeface="맑은 고딕"/>
                <a:ea typeface="맑은 고딕"/>
              </a:rPr>
              <a:t>•  놓친 것: 이 SQL의 실행당 논리 읽기가 수십만</a:t>
            </a:r>
          </a:p>
          <a:p>
            <a:pPr algn="l">
              <a:spcAft>
                <a:spcPts val="1000"/>
              </a:spcAft>
            </a:pPr>
            <a:r>
              <a:rPr sz="1700" b="0">
                <a:solidFill>
                  <a:srgbClr val="222222"/>
                </a:solidFill>
                <a:latin typeface="맑은 고딕"/>
                <a:ea typeface="맑은 고딕"/>
              </a:rPr>
              <a:t>•  반복 읽는 비효율 실행계획 → 논리 폭증, 히트율은 100% 수렴</a:t>
            </a:r>
          </a:p>
          <a:p>
            <a:pPr algn="l">
              <a:spcAft>
                <a:spcPts val="1000"/>
              </a:spcAft>
            </a:pPr>
            <a:r>
              <a:rPr sz="1700" b="0">
                <a:solidFill>
                  <a:srgbClr val="222222"/>
                </a:solidFill>
                <a:latin typeface="맑은 고딕"/>
                <a:ea typeface="맑은 고딕"/>
              </a:rPr>
              <a:t>•  조치: 캐시 확장이 아니라 실행계획을 고친다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ea typeface="맑은 고딕"/>
              </a:rPr>
              <a:t>17.4</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ea typeface="맑은 고딕"/>
              </a:rPr>
              <a:t>버퍼 캐시 어드바이저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크기→물리 읽기를 함수로</a:t>
            </a:r>
          </a:p>
          <a:p>
            <a:pPr algn="l">
              <a:spcAft>
                <a:spcPts val="600"/>
              </a:spcAft>
            </a:pPr>
            <a:r>
              <a:rPr sz="1600" b="0">
                <a:solidFill>
                  <a:srgbClr val="FFFFFF"/>
                </a:solidFill>
                <a:latin typeface="맑은 고딕"/>
                <a:ea typeface="맑은 고딕"/>
              </a:rPr>
              <a:t>•  물리 읽기 계수</a:t>
            </a:r>
          </a:p>
          <a:p>
            <a:pPr algn="l">
              <a:spcAft>
                <a:spcPts val="600"/>
              </a:spcAft>
            </a:pPr>
            <a:r>
              <a:rPr sz="1600" b="0">
                <a:solidFill>
                  <a:srgbClr val="FFFFFF"/>
                </a:solidFill>
                <a:latin typeface="맑은 고딕"/>
                <a:ea typeface="맑은 고딕"/>
              </a:rPr>
              <a:t>•  480MB에서 수렴</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왜 히트율이 아니라 예측인가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결과값 vs 함수형 데이터</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히트율: '지금 이 크기에서 얼마나 적중했나' — 결과값 하나</a:t>
            </a:r>
          </a:p>
          <a:p>
            <a:pPr algn="l">
              <a:spcAft>
                <a:spcPts val="1000"/>
              </a:spcAft>
            </a:pPr>
            <a:r>
              <a:rPr sz="1700" b="0">
                <a:solidFill>
                  <a:srgbClr val="222222"/>
                </a:solidFill>
                <a:latin typeface="맑은 고딕"/>
                <a:ea typeface="맑은 고딕"/>
              </a:rPr>
              <a:t>•  어드바이스: '크기를 바꾸면 어떻게 될까' — 크기의 함수</a:t>
            </a:r>
          </a:p>
          <a:p>
            <a:pPr algn="l">
              <a:spcAft>
                <a:spcPts val="1000"/>
              </a:spcAft>
            </a:pPr>
            <a:r>
              <a:rPr sz="1700" b="0">
                <a:solidFill>
                  <a:srgbClr val="222222"/>
                </a:solidFill>
                <a:latin typeface="맑은 고딕"/>
                <a:ea typeface="맑은 고딕"/>
              </a:rPr>
              <a:t>•  튜닝은 '무엇을 바꾸면 무엇이 달라지나'를 다루는 일</a:t>
            </a:r>
          </a:p>
          <a:p>
            <a:pPr algn="l">
              <a:spcAft>
                <a:spcPts val="1000"/>
              </a:spcAft>
            </a:pPr>
            <a:r>
              <a:rPr sz="1700" b="0">
                <a:solidFill>
                  <a:srgbClr val="222222"/>
                </a:solidFill>
                <a:latin typeface="맑은 고딕"/>
                <a:ea typeface="맑은 고딕"/>
              </a:rPr>
              <a:t>•  기여하지 않는 버퍼는 낭비 — 그 구간을 어드바이스가 보여준다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V$DB_CACHE_ADVICE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크기별 물리 읽기 예측 (DEFAULT 8K)</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lnSpc>
                <a:spcPct val="100000"/>
              </a:lnSpc>
              <a:spcAft>
                <a:spcPts val="0"/>
              </a:spcAft>
            </a:pPr>
            <a:r>
              <a:rPr sz="1250" b="0">
                <a:solidFill>
                  <a:srgbClr val="F2F2F2"/>
                </a:solidFill>
                <a:latin typeface="Consolas"/>
                <a:ea typeface="Consolas"/>
              </a:rPr>
              <a:t>SYS@orcl&gt; SELECT ROUND(size_for_estimate) cache_mb,</a:t>
            </a:r>
          </a:p>
          <a:p>
            <a:pPr>
              <a:lnSpc>
                <a:spcPct val="100000"/>
              </a:lnSpc>
              <a:spcAft>
                <a:spcPts val="0"/>
              </a:spcAft>
            </a:pPr>
            <a:r>
              <a:rPr sz="1250" b="0">
                <a:solidFill>
                  <a:srgbClr val="F2F2F2"/>
                </a:solidFill>
                <a:latin typeface="Consolas"/>
                <a:ea typeface="Consolas"/>
              </a:rPr>
              <a:t>  2    size_factor factor, estd_physical_read_factor rd_factor,</a:t>
            </a:r>
          </a:p>
          <a:p>
            <a:pPr>
              <a:lnSpc>
                <a:spcPct val="100000"/>
              </a:lnSpc>
              <a:spcAft>
                <a:spcPts val="0"/>
              </a:spcAft>
            </a:pPr>
            <a:r>
              <a:rPr sz="1250" b="0">
                <a:solidFill>
                  <a:srgbClr val="F2F2F2"/>
                </a:solidFill>
                <a:latin typeface="Consolas"/>
                <a:ea typeface="Consolas"/>
              </a:rPr>
              <a:t>  3    estd_physical_reads</a:t>
            </a:r>
          </a:p>
          <a:p>
            <a:pPr>
              <a:lnSpc>
                <a:spcPct val="100000"/>
              </a:lnSpc>
              <a:spcAft>
                <a:spcPts val="0"/>
              </a:spcAft>
            </a:pPr>
            <a:r>
              <a:rPr sz="1250" b="0">
                <a:solidFill>
                  <a:srgbClr val="F2F2F2"/>
                </a:solidFill>
                <a:latin typeface="Consolas"/>
                <a:ea typeface="Consolas"/>
              </a:rPr>
              <a:t>  4  FROM v$db_cache_advice</a:t>
            </a:r>
          </a:p>
          <a:p>
            <a:pPr>
              <a:lnSpc>
                <a:spcPct val="100000"/>
              </a:lnSpc>
              <a:spcAft>
                <a:spcPts val="0"/>
              </a:spcAft>
            </a:pPr>
            <a:r>
              <a:rPr sz="1250" b="0">
                <a:solidFill>
                  <a:srgbClr val="F2F2F2"/>
                </a:solidFill>
                <a:latin typeface="Consolas"/>
                <a:ea typeface="Consolas"/>
              </a:rPr>
              <a:t>  5  WHERE name='DEFAULT' AND block_size=8192</a:t>
            </a:r>
          </a:p>
          <a:p>
            <a:pPr>
              <a:lnSpc>
                <a:spcPct val="100000"/>
              </a:lnSpc>
              <a:spcAft>
                <a:spcPts val="0"/>
              </a:spcAft>
            </a:pPr>
            <a:r>
              <a:rPr sz="1250" b="0">
                <a:solidFill>
                  <a:srgbClr val="F2F2F2"/>
                </a:solidFill>
                <a:latin typeface="Consolas"/>
                <a:ea typeface="Consolas"/>
              </a:rPr>
              <a:t>  6  ORDER BY size_for_estimate;</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 CACHE_MB   FACTOR  RD_FACTOR  ESTD_PHYSICAL_READS</a:t>
            </a:r>
          </a:p>
          <a:p>
            <a:pPr>
              <a:lnSpc>
                <a:spcPct val="100000"/>
              </a:lnSpc>
              <a:spcAft>
                <a:spcPts val="0"/>
              </a:spcAft>
            </a:pPr>
            <a:r>
              <a:rPr sz="1250" b="0">
                <a:solidFill>
                  <a:srgbClr val="F2F2F2"/>
                </a:solidFill>
                <a:latin typeface="Consolas"/>
                <a:ea typeface="Consolas"/>
              </a:rPr>
              <a:t>--------- -------- ---------- --------------------</a:t>
            </a:r>
          </a:p>
          <a:p>
            <a:pPr>
              <a:lnSpc>
                <a:spcPct val="100000"/>
              </a:lnSpc>
              <a:spcAft>
                <a:spcPts val="0"/>
              </a:spcAft>
            </a:pPr>
            <a:r>
              <a:rPr sz="1250" b="0">
                <a:solidFill>
                  <a:srgbClr val="F2F2F2"/>
                </a:solidFill>
                <a:latin typeface="Consolas"/>
                <a:ea typeface="Consolas"/>
              </a:rPr>
              <a:t>       80   0.0926   446.8807             33631793</a:t>
            </a:r>
          </a:p>
          <a:p>
            <a:pPr>
              <a:lnSpc>
                <a:spcPct val="100000"/>
              </a:lnSpc>
              <a:spcAft>
                <a:spcPts val="0"/>
              </a:spcAft>
            </a:pPr>
            <a:r>
              <a:rPr sz="1250" b="0">
                <a:solidFill>
                  <a:srgbClr val="F2F2F2"/>
                </a:solidFill>
                <a:latin typeface="Consolas"/>
                <a:ea typeface="Consolas"/>
              </a:rPr>
              <a:t>      160   0.1852     2.6614               200293</a:t>
            </a:r>
          </a:p>
          <a:p>
            <a:pPr>
              <a:lnSpc>
                <a:spcPct val="100000"/>
              </a:lnSpc>
              <a:spcAft>
                <a:spcPts val="0"/>
              </a:spcAft>
            </a:pPr>
            <a:r>
              <a:rPr sz="1250" b="0">
                <a:solidFill>
                  <a:srgbClr val="F2F2F2"/>
                </a:solidFill>
                <a:latin typeface="Consolas"/>
                <a:ea typeface="Consolas"/>
              </a:rPr>
              <a:t>      320   0.3704     1.1634                87559</a:t>
            </a:r>
          </a:p>
          <a:p>
            <a:pPr>
              <a:lnSpc>
                <a:spcPct val="100000"/>
              </a:lnSpc>
              <a:spcAft>
                <a:spcPts val="0"/>
              </a:spcAft>
            </a:pPr>
            <a:r>
              <a:rPr sz="1250" b="0">
                <a:solidFill>
                  <a:srgbClr val="F2F2F2"/>
                </a:solidFill>
                <a:latin typeface="Consolas"/>
                <a:ea typeface="Consolas"/>
              </a:rPr>
              <a:t>      480   0.5556     1.0000                75259  &lt;= 수렴</a:t>
            </a:r>
          </a:p>
          <a:p>
            <a:pPr>
              <a:lnSpc>
                <a:spcPct val="100000"/>
              </a:lnSpc>
              <a:spcAft>
                <a:spcPts val="0"/>
              </a:spcAft>
            </a:pPr>
            <a:r>
              <a:rPr sz="1250" b="0">
                <a:solidFill>
                  <a:srgbClr val="F2F2F2"/>
                </a:solidFill>
                <a:latin typeface="Consolas"/>
                <a:ea typeface="Consolas"/>
              </a:rPr>
              <a:t>      864   1.0000     1.0000                75259  (현재)</a:t>
            </a:r>
          </a:p>
          <a:p>
            <a:pPr>
              <a:lnSpc>
                <a:spcPct val="100000"/>
              </a:lnSpc>
              <a:spcAft>
                <a:spcPts val="0"/>
              </a:spcAft>
            </a:pPr>
            <a:r>
              <a:rPr sz="1250" b="0">
                <a:solidFill>
                  <a:srgbClr val="F2F2F2"/>
                </a:solidFill>
                <a:latin typeface="Consolas"/>
                <a:ea typeface="Consolas"/>
              </a:rPr>
              <a:t>     1600   1.8519     1.0000                75259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어드바이스를 읽는 법</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세 구간으로 나눠 읽는다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위험 구간(80MB): 계수 447배 — 절대 줄이면 안 됨</a:t>
            </a:r>
          </a:p>
          <a:p>
            <a:pPr algn="l">
              <a:spcAft>
                <a:spcPts val="1000"/>
              </a:spcAft>
            </a:pPr>
            <a:r>
              <a:rPr sz="1700" b="0">
                <a:solidFill>
                  <a:srgbClr val="222222"/>
                </a:solidFill>
                <a:latin typeface="맑은 고딕"/>
                <a:ea typeface="맑은 고딕"/>
              </a:rPr>
              <a:t>•  개선 구간(160~400MB): 계수 2.66→1.0, 키우면 물리 읽기 감소</a:t>
            </a:r>
          </a:p>
          <a:p>
            <a:pPr algn="l">
              <a:spcAft>
                <a:spcPts val="1000"/>
              </a:spcAft>
            </a:pPr>
            <a:r>
              <a:rPr sz="1700" b="0">
                <a:solidFill>
                  <a:srgbClr val="222222"/>
                </a:solidFill>
                <a:latin typeface="맑은 고딕"/>
                <a:ea typeface="맑은 고딕"/>
              </a:rPr>
              <a:t>•  수렴 구간(480MB↑): 계수 1.0, 더 키워도 소용없음</a:t>
            </a:r>
          </a:p>
          <a:p>
            <a:pPr algn="l">
              <a:spcAft>
                <a:spcPts val="1000"/>
              </a:spcAft>
            </a:pPr>
            <a:r>
              <a:rPr sz="1700" b="0">
                <a:solidFill>
                  <a:srgbClr val="222222"/>
                </a:solidFill>
                <a:latin typeface="맑은 고딕"/>
                <a:ea typeface="맑은 고딕"/>
              </a:rPr>
              <a:t>•  결론: 현재 864MB는 이미 충분. 회수해도 물리 읽기 불변</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ea typeface="맑은 고딕"/>
              </a:rPr>
              <a:t>17.5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ea typeface="맑은 고딕"/>
              </a:rPr>
              <a:t>다중 버퍼 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KEEP=소형 참조 상주</a:t>
            </a:r>
          </a:p>
          <a:p>
            <a:pPr algn="l">
              <a:spcAft>
                <a:spcPts val="600"/>
              </a:spcAft>
            </a:pPr>
            <a:r>
              <a:rPr sz="1600" b="0">
                <a:solidFill>
                  <a:srgbClr val="FFFFFF"/>
                </a:solidFill>
                <a:latin typeface="맑은 고딕"/>
                <a:ea typeface="맑은 고딕"/>
              </a:rPr>
              <a:t>•  RECYCLE=대량 스캔 격리</a:t>
            </a:r>
          </a:p>
          <a:p>
            <a:pPr algn="l">
              <a:spcAft>
                <a:spcPts val="600"/>
              </a:spcAft>
            </a:pPr>
            <a:r>
              <a:rPr sz="1600" b="0">
                <a:solidFill>
                  <a:srgbClr val="FFFFFF"/>
                </a:solidFill>
                <a:latin typeface="맑은 고딕"/>
                <a:ea typeface="맑은 고딕"/>
              </a:rPr>
              <a:t>•  DRUG_MASTER 사례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왜 풀을 나누는가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대형 스캔이 따뜻한 블록을 밀어낸다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하나의 풀 → 성격 반대인 객체가 같은 LRU에서 경쟁</a:t>
            </a:r>
          </a:p>
          <a:p>
            <a:pPr algn="l">
              <a:spcAft>
                <a:spcPts val="1000"/>
              </a:spcAft>
            </a:pPr>
            <a:r>
              <a:rPr sz="1700" b="0">
                <a:solidFill>
                  <a:srgbClr val="222222"/>
                </a:solidFill>
                <a:latin typeface="맑은 고딕"/>
                <a:ea typeface="맑은 고딕"/>
              </a:rPr>
              <a:t>•  대형 세그먼트 스캔이 소형 마스터의 따뜻한 블록을 축출</a:t>
            </a:r>
          </a:p>
          <a:p>
            <a:pPr algn="l">
              <a:spcAft>
                <a:spcPts val="1000"/>
              </a:spcAft>
            </a:pPr>
            <a:r>
              <a:rPr sz="1700" b="0">
                <a:solidFill>
                  <a:srgbClr val="222222"/>
                </a:solidFill>
                <a:latin typeface="맑은 고딕"/>
                <a:ea typeface="맑은 고딕"/>
              </a:rPr>
              <a:t>•  비순차 물리 읽기의 10% 초과 세그먼트 = '아주 크다'</a:t>
            </a:r>
          </a:p>
          <a:p>
            <a:pPr algn="l">
              <a:spcAft>
                <a:spcPts val="1000"/>
              </a:spcAft>
            </a:pPr>
            <a:r>
              <a:rPr sz="1700" b="0">
                <a:solidFill>
                  <a:srgbClr val="222222"/>
                </a:solidFill>
                <a:latin typeface="맑은 고딕"/>
                <a:ea typeface="맑은 고딕"/>
              </a:rPr>
              <a:t>•  해법: KEEP·RECYCLE로 물리적 분리</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KEEP / RECYCLE / DEFAULT</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각 풀의 역할</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KEEP: 항상 상주, 미스 최소화 — 소형 코드·마스터 테이블</a:t>
            </a:r>
          </a:p>
          <a:p>
            <a:pPr algn="l">
              <a:spcAft>
                <a:spcPts val="1000"/>
              </a:spcAft>
            </a:pPr>
            <a:r>
              <a:rPr sz="1700" b="0">
                <a:solidFill>
                  <a:srgbClr val="222222"/>
                </a:solidFill>
                <a:latin typeface="맑은 고딕"/>
                <a:ea typeface="맑은 고딕"/>
              </a:rPr>
              <a:t>•  RECYCLE: 빨리 버림, 격리 — 대량 스캔 대형 세그먼트</a:t>
            </a:r>
          </a:p>
          <a:p>
            <a:pPr algn="l">
              <a:spcAft>
                <a:spcPts val="1000"/>
              </a:spcAft>
            </a:pPr>
            <a:r>
              <a:rPr sz="1700" b="0">
                <a:solidFill>
                  <a:srgbClr val="222222"/>
                </a:solidFill>
                <a:latin typeface="맑은 고딕"/>
                <a:ea typeface="맑은 고딕"/>
              </a:rPr>
              <a:t>•  DEFAULT: 나머지 일반 객체</a:t>
            </a:r>
          </a:p>
          <a:p>
            <a:pPr algn="l">
              <a:spcAft>
                <a:spcPts val="1000"/>
              </a:spcAft>
            </a:pPr>
            <a:r>
              <a:rPr sz="1700" b="0">
                <a:solidFill>
                  <a:srgbClr val="222222"/>
                </a:solidFill>
                <a:latin typeface="맑은 고딕"/>
                <a:ea typeface="맑은 고딕"/>
              </a:rPr>
              <a:t>•  실측: db_keep_cache_size=48M 이미 설정, recycle=0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풀 파라미터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KEEP은 명시, DEFAULT는 ASMM 자동</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lnSpc>
                <a:spcPct val="100000"/>
              </a:lnSpc>
              <a:spcAft>
                <a:spcPts val="0"/>
              </a:spcAft>
            </a:pPr>
            <a:r>
              <a:rPr sz="1250" b="0">
                <a:solidFill>
                  <a:srgbClr val="F2F2F2"/>
                </a:solidFill>
                <a:latin typeface="Consolas"/>
                <a:ea typeface="Consolas"/>
              </a:rPr>
              <a:t>SYS@orcl&gt; SELECT name, display_value FROM v$parameter</a:t>
            </a:r>
          </a:p>
          <a:p>
            <a:pPr>
              <a:lnSpc>
                <a:spcPct val="100000"/>
              </a:lnSpc>
              <a:spcAft>
                <a:spcPts val="0"/>
              </a:spcAft>
            </a:pPr>
            <a:r>
              <a:rPr sz="1250" b="0">
                <a:solidFill>
                  <a:srgbClr val="F2F2F2"/>
                </a:solidFill>
                <a:latin typeface="Consolas"/>
                <a:ea typeface="Consolas"/>
              </a:rPr>
              <a:t>  2  WHERE name IN ('db_cache_size','db_keep_cache_size',</a:t>
            </a:r>
          </a:p>
          <a:p>
            <a:pPr>
              <a:lnSpc>
                <a:spcPct val="100000"/>
              </a:lnSpc>
              <a:spcAft>
                <a:spcPts val="0"/>
              </a:spcAft>
            </a:pPr>
            <a:r>
              <a:rPr sz="1250" b="0">
                <a:solidFill>
                  <a:srgbClr val="F2F2F2"/>
                </a:solidFill>
                <a:latin typeface="Consolas"/>
                <a:ea typeface="Consolas"/>
              </a:rPr>
              <a:t>  3                 'db_recycle_cache_size') ORDER BY name;</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NAME                     DISPLAY_VALUE</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db_cache_size           0</a:t>
            </a:r>
          </a:p>
          <a:p>
            <a:pPr>
              <a:lnSpc>
                <a:spcPct val="100000"/>
              </a:lnSpc>
              <a:spcAft>
                <a:spcPts val="0"/>
              </a:spcAft>
            </a:pPr>
            <a:r>
              <a:rPr sz="1250" b="0">
                <a:solidFill>
                  <a:srgbClr val="F2F2F2"/>
                </a:solidFill>
                <a:latin typeface="Consolas"/>
                <a:ea typeface="Consolas"/>
              </a:rPr>
              <a:t>db_keep_cache_size      48M</a:t>
            </a:r>
          </a:p>
          <a:p>
            <a:pPr>
              <a:lnSpc>
                <a:spcPct val="100000"/>
              </a:lnSpc>
              <a:spcAft>
                <a:spcPts val="0"/>
              </a:spcAft>
            </a:pPr>
            <a:r>
              <a:rPr sz="1250" b="0">
                <a:solidFill>
                  <a:srgbClr val="F2F2F2"/>
                </a:solidFill>
                <a:latin typeface="Consolas"/>
                <a:ea typeface="Consolas"/>
              </a:rPr>
              <a:t>db_recycle_cache_size   0</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 db_cache_size=0 → ASMM가 DEFAULT를 자동 관리(sga_target&gt;0)</a:t>
            </a:r>
          </a:p>
          <a:p>
            <a:pPr>
              <a:lnSpc>
                <a:spcPct val="100000"/>
              </a:lnSpc>
              <a:spcAft>
                <a:spcPts val="0"/>
              </a:spcAft>
            </a:pPr>
            <a:r>
              <a:rPr sz="1250" b="0">
                <a:solidFill>
                  <a:srgbClr val="F2F2F2"/>
                </a:solidFill>
                <a:latin typeface="Consolas"/>
                <a:ea typeface="Consolas"/>
              </a:rPr>
              <a:t>-- KEEP/RECYCLE은 자동 대상이 아니라 명시적으로 크기를 준다.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DRUG_MASTER를 KEEP에</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조치 전 → 조치 → 조치 후 예열</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lnSpc>
                <a:spcPct val="100000"/>
              </a:lnSpc>
              <a:spcAft>
                <a:spcPts val="0"/>
              </a:spcAft>
            </a:pPr>
            <a:r>
              <a:rPr sz="1250" b="0">
                <a:solidFill>
                  <a:srgbClr val="F2F2F2"/>
                </a:solidFill>
                <a:latin typeface="Consolas"/>
                <a:ea typeface="Consolas"/>
              </a:rPr>
              <a:t>SYS@orcl&gt; -- (조치 전) 현재 풀 확인</a:t>
            </a:r>
          </a:p>
          <a:p>
            <a:pPr>
              <a:lnSpc>
                <a:spcPct val="100000"/>
              </a:lnSpc>
              <a:spcAft>
                <a:spcPts val="0"/>
              </a:spcAft>
            </a:pPr>
            <a:r>
              <a:rPr sz="1250" b="0">
                <a:solidFill>
                  <a:srgbClr val="F2F2F2"/>
                </a:solidFill>
                <a:latin typeface="Consolas"/>
                <a:ea typeface="Consolas"/>
              </a:rPr>
              <a:t>SYS@orcl&gt; SELECT buffer_pool FROM dba_tables</a:t>
            </a:r>
          </a:p>
          <a:p>
            <a:pPr>
              <a:lnSpc>
                <a:spcPct val="100000"/>
              </a:lnSpc>
              <a:spcAft>
                <a:spcPts val="0"/>
              </a:spcAft>
            </a:pPr>
            <a:r>
              <a:rPr sz="1250" b="0">
                <a:solidFill>
                  <a:srgbClr val="F2F2F2"/>
                </a:solidFill>
                <a:latin typeface="Consolas"/>
                <a:ea typeface="Consolas"/>
              </a:rPr>
              <a:t>  2  WHERE owner='SQLT' AND table_name='DRUG_MASTER';</a:t>
            </a:r>
          </a:p>
          <a:p>
            <a:pPr>
              <a:lnSpc>
                <a:spcPct val="100000"/>
              </a:lnSpc>
              <a:spcAft>
                <a:spcPts val="0"/>
              </a:spcAft>
            </a:pPr>
            <a:r>
              <a:rPr sz="1250" b="0">
                <a:solidFill>
                  <a:srgbClr val="F2F2F2"/>
                </a:solidFill>
                <a:latin typeface="Consolas"/>
                <a:ea typeface="Consolas"/>
              </a:rPr>
              <a:t>BUFFER_POOL --&gt; DEFAULT</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SYS@orcl&gt; -- (조치) KEEP 풀로 지정</a:t>
            </a:r>
          </a:p>
          <a:p>
            <a:pPr>
              <a:lnSpc>
                <a:spcPct val="100000"/>
              </a:lnSpc>
              <a:spcAft>
                <a:spcPts val="0"/>
              </a:spcAft>
            </a:pPr>
            <a:r>
              <a:rPr sz="1250" b="0">
                <a:solidFill>
                  <a:srgbClr val="F2F2F2"/>
                </a:solidFill>
                <a:latin typeface="Consolas"/>
                <a:ea typeface="Consolas"/>
              </a:rPr>
              <a:t>SYS@orcl&gt; ALTER TABLE sqlt.drug_master</a:t>
            </a:r>
          </a:p>
          <a:p>
            <a:pPr>
              <a:lnSpc>
                <a:spcPct val="100000"/>
              </a:lnSpc>
              <a:spcAft>
                <a:spcPts val="0"/>
              </a:spcAft>
            </a:pPr>
            <a:r>
              <a:rPr sz="1250" b="0">
                <a:solidFill>
                  <a:srgbClr val="F2F2F2"/>
                </a:solidFill>
                <a:latin typeface="Consolas"/>
                <a:ea typeface="Consolas"/>
              </a:rPr>
              <a:t>  2         STORAGE (BUFFER_POOL KEEP);</a:t>
            </a:r>
          </a:p>
          <a:p>
            <a:pPr>
              <a:lnSpc>
                <a:spcPct val="100000"/>
              </a:lnSpc>
              <a:spcAft>
                <a:spcPts val="0"/>
              </a:spcAft>
            </a:pPr>
            <a:r>
              <a:rPr sz="1250" b="0">
                <a:solidFill>
                  <a:srgbClr val="F2F2F2"/>
                </a:solidFill>
                <a:latin typeface="Consolas"/>
                <a:ea typeface="Consolas"/>
              </a:rPr>
              <a:t>Table altered.</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SYS@orcl&gt; -- (조치 후) 재확인 + 전체 스캔으로 예열</a:t>
            </a:r>
          </a:p>
          <a:p>
            <a:pPr>
              <a:lnSpc>
                <a:spcPct val="100000"/>
              </a:lnSpc>
              <a:spcAft>
                <a:spcPts val="0"/>
              </a:spcAft>
            </a:pPr>
            <a:r>
              <a:rPr sz="1250" b="0">
                <a:solidFill>
                  <a:srgbClr val="F2F2F2"/>
                </a:solidFill>
                <a:latin typeface="Consolas"/>
                <a:ea typeface="Consolas"/>
              </a:rPr>
              <a:t>SYS@orcl&gt; SELECT /*+ FULL(d) */ COUNT(*) FROM sqlt.drug_master 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RECYCLE로 대량 스캔 격리</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DEFAULT 풀 오염 방지</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lnSpc>
                <a:spcPct val="100000"/>
              </a:lnSpc>
              <a:spcAft>
                <a:spcPts val="0"/>
              </a:spcAft>
            </a:pPr>
            <a:r>
              <a:rPr sz="1250" b="0">
                <a:solidFill>
                  <a:srgbClr val="F2F2F2"/>
                </a:solidFill>
                <a:latin typeface="Consolas"/>
                <a:ea typeface="Consolas"/>
              </a:rPr>
              <a:t>SYS@orcl&gt; -- 대량 스캔 대형 세그먼트를 RECYCLE로 격리</a:t>
            </a:r>
          </a:p>
          <a:p>
            <a:pPr>
              <a:lnSpc>
                <a:spcPct val="100000"/>
              </a:lnSpc>
              <a:spcAft>
                <a:spcPts val="0"/>
              </a:spcAft>
            </a:pPr>
            <a:r>
              <a:rPr sz="1250" b="0">
                <a:solidFill>
                  <a:srgbClr val="F2F2F2"/>
                </a:solidFill>
                <a:latin typeface="Consolas"/>
                <a:ea typeface="Consolas"/>
              </a:rPr>
              <a:t>SYS@orcl&gt; ALTER TABLE sqlt.claim_detail_archive</a:t>
            </a:r>
          </a:p>
          <a:p>
            <a:pPr>
              <a:lnSpc>
                <a:spcPct val="100000"/>
              </a:lnSpc>
              <a:spcAft>
                <a:spcPts val="0"/>
              </a:spcAft>
            </a:pPr>
            <a:r>
              <a:rPr sz="1250" b="0">
                <a:solidFill>
                  <a:srgbClr val="F2F2F2"/>
                </a:solidFill>
                <a:latin typeface="Consolas"/>
                <a:ea typeface="Consolas"/>
              </a:rPr>
              <a:t>  2         STORAGE (BUFFER_POOL RECYCLE);</a:t>
            </a:r>
          </a:p>
          <a:p>
            <a:pPr>
              <a:lnSpc>
                <a:spcPct val="100000"/>
              </a:lnSpc>
              <a:spcAft>
                <a:spcPts val="0"/>
              </a:spcAft>
            </a:pPr>
            <a:r>
              <a:rPr sz="1250" b="0">
                <a:solidFill>
                  <a:srgbClr val="F2F2F2"/>
                </a:solidFill>
                <a:latin typeface="Consolas"/>
                <a:ea typeface="Consolas"/>
              </a:rPr>
              <a:t>Table altered.</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SYS@orcl&gt; ALTER INDEX sqlt.ix_claim_arch_dt</a:t>
            </a:r>
          </a:p>
          <a:p>
            <a:pPr>
              <a:lnSpc>
                <a:spcPct val="100000"/>
              </a:lnSpc>
              <a:spcAft>
                <a:spcPts val="0"/>
              </a:spcAft>
            </a:pPr>
            <a:r>
              <a:rPr sz="1250" b="0">
                <a:solidFill>
                  <a:srgbClr val="F2F2F2"/>
                </a:solidFill>
                <a:latin typeface="Consolas"/>
                <a:ea typeface="Consolas"/>
              </a:rPr>
              <a:t>  2         STORAGE (BUFFER_POOL RECYCLE);</a:t>
            </a:r>
          </a:p>
          <a:p>
            <a:pPr>
              <a:lnSpc>
                <a:spcPct val="100000"/>
              </a:lnSpc>
              <a:spcAft>
                <a:spcPts val="0"/>
              </a:spcAft>
            </a:pPr>
            <a:r>
              <a:rPr sz="1250" b="0">
                <a:solidFill>
                  <a:srgbClr val="F2F2F2"/>
                </a:solidFill>
                <a:latin typeface="Consolas"/>
                <a:ea typeface="Consolas"/>
              </a:rPr>
              <a:t>Index altered.</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 판정: 이 세그먼트의 넓은 스캔이 DEFAULT의 '따뜻한' 블록을</a:t>
            </a:r>
          </a:p>
          <a:p>
            <a:pPr>
              <a:lnSpc>
                <a:spcPct val="100000"/>
              </a:lnSpc>
              <a:spcAft>
                <a:spcPts val="0"/>
              </a:spcAft>
            </a:pPr>
            <a:r>
              <a:rPr sz="1250" b="0">
                <a:solidFill>
                  <a:srgbClr val="F2F2F2"/>
                </a:solidFill>
                <a:latin typeface="Consolas"/>
                <a:ea typeface="Consolas"/>
              </a:rPr>
              <a:t>--   밀어내는 현상이 사라지는지 관찰(상위 SQL 물리 읽기 비교).</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풀 배치 기준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Best Practice</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KEEP: 작고 자주 참조되는 코드·마스터, 예측 가능한 응답시간</a:t>
            </a:r>
          </a:p>
          <a:p>
            <a:pPr algn="l">
              <a:spcAft>
                <a:spcPts val="1000"/>
              </a:spcAft>
            </a:pPr>
            <a:r>
              <a:rPr sz="1700" b="0">
                <a:solidFill>
                  <a:srgbClr val="222222"/>
                </a:solidFill>
                <a:latin typeface="맑은 고딕"/>
                <a:ea typeface="맑은 고딕"/>
              </a:rPr>
              <a:t>•  RECYCLE: 비순차 물리 읽기 10% 초과 대형 세그먼트</a:t>
            </a:r>
          </a:p>
          <a:p>
            <a:pPr algn="l">
              <a:spcAft>
                <a:spcPts val="1000"/>
              </a:spcAft>
            </a:pPr>
            <a:r>
              <a:rPr sz="1700" b="0">
                <a:solidFill>
                  <a:srgbClr val="222222"/>
                </a:solidFill>
                <a:latin typeface="맑은 고딕"/>
                <a:ea typeface="맑은 고딕"/>
              </a:rPr>
              <a:t>•  먼저 SQL 튜닝 — 비선택적 인덱스는 선택적 인덱스로</a:t>
            </a:r>
          </a:p>
          <a:p>
            <a:pPr algn="l">
              <a:spcAft>
                <a:spcPts val="1000"/>
              </a:spcAft>
            </a:pPr>
            <a:r>
              <a:rPr sz="1700" b="0">
                <a:solidFill>
                  <a:srgbClr val="222222"/>
                </a:solidFill>
                <a:latin typeface="맑은 고딕"/>
                <a:ea typeface="맑은 고딕"/>
              </a:rPr>
              <a:t>•  풀 크기는 각 풀에 대해 V$DB_CACHE_ADVICE로 따로 산정</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ea typeface="맑은 고딕"/>
              </a:rPr>
              <a:t>17.6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ea typeface="맑은 고딕"/>
              </a:rPr>
              <a:t>캐싱 모드와 대량 스캔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CACHE / NOCACHE</a:t>
            </a:r>
          </a:p>
          <a:p>
            <a:pPr algn="l">
              <a:spcAft>
                <a:spcPts val="600"/>
              </a:spcAft>
            </a:pPr>
            <a:r>
              <a:rPr sz="1600" b="0">
                <a:solidFill>
                  <a:srgbClr val="FFFFFF"/>
                </a:solidFill>
                <a:latin typeface="맑은 고딕"/>
                <a:ea typeface="맑은 고딕"/>
              </a:rPr>
              <a:t>•  LRU 꼬리 배치</a:t>
            </a:r>
          </a:p>
          <a:p>
            <a:pPr algn="l">
              <a:spcAft>
                <a:spcPts val="600"/>
              </a:spcAft>
            </a:pPr>
            <a:r>
              <a:rPr sz="1600" b="0">
                <a:solidFill>
                  <a:srgbClr val="FFFFFF"/>
                </a:solidFill>
                <a:latin typeface="맑은 고딕"/>
                <a:ea typeface="맑은 고딕"/>
              </a:rPr>
              <a:t>•  직접 경로 읽기</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같은 100%, 다른 의미</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맥락이 해석을 바꾼다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DEFAULT 풀 99.98%: 반복 스캔으로 부풀려졌을 수 있다</a:t>
            </a:r>
          </a:p>
          <a:p>
            <a:pPr algn="l">
              <a:spcAft>
                <a:spcPts val="1000"/>
              </a:spcAft>
            </a:pPr>
            <a:r>
              <a:rPr sz="1700" b="0">
                <a:solidFill>
                  <a:srgbClr val="222222"/>
                </a:solidFill>
                <a:latin typeface="맑은 고딕"/>
                <a:ea typeface="맑은 고딕"/>
              </a:rPr>
              <a:t>•  KEEP 풀 100%: 작고 자주 쓰는 것만 담아 항상 적중(정상)</a:t>
            </a:r>
          </a:p>
          <a:p>
            <a:pPr algn="l">
              <a:spcAft>
                <a:spcPts val="1000"/>
              </a:spcAft>
            </a:pPr>
            <a:r>
              <a:rPr sz="1700" b="0">
                <a:solidFill>
                  <a:srgbClr val="222222"/>
                </a:solidFill>
                <a:latin typeface="맑은 고딕"/>
                <a:ea typeface="맑은 고딕"/>
              </a:rPr>
              <a:t>•  직접 경로 읽기 대형 스캔: 히트율에 아예 안 잡힘</a:t>
            </a:r>
          </a:p>
          <a:p>
            <a:pPr algn="l">
              <a:spcAft>
                <a:spcPts val="1000"/>
              </a:spcAft>
            </a:pPr>
            <a:r>
              <a:rPr sz="1700" b="0">
                <a:solidFill>
                  <a:srgbClr val="222222"/>
                </a:solidFill>
                <a:latin typeface="맑은 고딕"/>
                <a:ea typeface="맑은 고딕"/>
              </a:rPr>
              <a:t>•  CACHE는 LRU 위치만 바꿈 / KEEP은 전용 풀로 격리</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ea typeface="맑은 고딕"/>
              </a:rPr>
              <a:t>17.7</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ea typeface="맑은 고딕"/>
              </a:rPr>
              <a:t>리두 로그 버퍼</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LGWR 기록 조건</a:t>
            </a:r>
          </a:p>
          <a:p>
            <a:pPr algn="l">
              <a:spcAft>
                <a:spcPts val="600"/>
              </a:spcAft>
            </a:pPr>
            <a:r>
              <a:rPr sz="1600" b="0">
                <a:solidFill>
                  <a:srgbClr val="FFFFFF"/>
                </a:solidFill>
                <a:latin typeface="맑은 고딕"/>
                <a:ea typeface="맑은 고딕"/>
              </a:rPr>
              <a:t>•  log buffer space 대기</a:t>
            </a:r>
          </a:p>
          <a:p>
            <a:pPr algn="l">
              <a:spcAft>
                <a:spcPts val="600"/>
              </a:spcAft>
            </a:pPr>
            <a:r>
              <a:rPr sz="1600" b="0">
                <a:solidFill>
                  <a:srgbClr val="FFFFFF"/>
                </a:solidFill>
                <a:latin typeface="맑은 고딕"/>
                <a:ea typeface="맑은 고딕"/>
              </a:rPr>
              <a:t>•  재시도 비율로 판단</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리두 로그 버퍼 동작</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LGWR는 언제 쓰는가</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데이터 블록 변경 → 리두가 리두 로그 버퍼에 기록됨</a:t>
            </a:r>
          </a:p>
          <a:p>
            <a:pPr algn="l">
              <a:spcAft>
                <a:spcPts val="1000"/>
              </a:spcAft>
            </a:pPr>
            <a:r>
              <a:rPr sz="1700" b="0">
                <a:solidFill>
                  <a:srgbClr val="222222"/>
                </a:solidFill>
                <a:latin typeface="맑은 고딕"/>
                <a:ea typeface="맑은 고딕"/>
              </a:rPr>
              <a:t>•  LGWR 기록 조건: ①버퍼 1/3 참 ②COMMIT/ROLLBACK ③DBWR 요청</a:t>
            </a:r>
          </a:p>
          <a:p>
            <a:pPr algn="l">
              <a:spcAft>
                <a:spcPts val="1000"/>
              </a:spcAft>
            </a:pPr>
            <a:r>
              <a:rPr sz="1700" b="0">
                <a:solidFill>
                  <a:srgbClr val="222222"/>
                </a:solidFill>
                <a:latin typeface="맑은 고딕"/>
                <a:ea typeface="맑은 고딕"/>
              </a:rPr>
              <a:t>•  공간 없으면 서버 프로세스가 log buffer space로 대기</a:t>
            </a:r>
          </a:p>
          <a:p>
            <a:pPr algn="l">
              <a:spcAft>
                <a:spcPts val="1000"/>
              </a:spcAft>
            </a:pPr>
            <a:r>
              <a:rPr sz="1700" b="0">
                <a:solidFill>
                  <a:srgbClr val="222222"/>
                </a:solidFill>
                <a:latin typeface="맑은 고딕"/>
                <a:ea typeface="맑은 고딕"/>
              </a:rPr>
              <a:t>•  버퍼 캐시와 반대: 대개 작아도 충분, 키우면 손해일 수도</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리두 지표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재시도를 리두 항목과 비교</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lnSpc>
                <a:spcPct val="100000"/>
              </a:lnSpc>
              <a:spcAft>
                <a:spcPts val="0"/>
              </a:spcAft>
            </a:pPr>
            <a:r>
              <a:rPr sz="1250" b="0">
                <a:solidFill>
                  <a:srgbClr val="F2F2F2"/>
                </a:solidFill>
                <a:latin typeface="Consolas"/>
                <a:ea typeface="Consolas"/>
              </a:rPr>
              <a:t>SYS@orcl&gt; SELECT 'log_buffer' name, display_value val</a:t>
            </a:r>
          </a:p>
          <a:p>
            <a:pPr>
              <a:lnSpc>
                <a:spcPct val="100000"/>
              </a:lnSpc>
              <a:spcAft>
                <a:spcPts val="0"/>
              </a:spcAft>
            </a:pPr>
            <a:r>
              <a:rPr sz="1250" b="0">
                <a:solidFill>
                  <a:srgbClr val="F2F2F2"/>
                </a:solidFill>
                <a:latin typeface="Consolas"/>
                <a:ea typeface="Consolas"/>
              </a:rPr>
              <a:t>  2  FROM v$parameter WHERE name='log_buffer'</a:t>
            </a:r>
          </a:p>
          <a:p>
            <a:pPr>
              <a:lnSpc>
                <a:spcPct val="100000"/>
              </a:lnSpc>
              <a:spcAft>
                <a:spcPts val="0"/>
              </a:spcAft>
            </a:pPr>
            <a:r>
              <a:rPr sz="1250" b="0">
                <a:solidFill>
                  <a:srgbClr val="F2F2F2"/>
                </a:solidFill>
                <a:latin typeface="Consolas"/>
                <a:ea typeface="Consolas"/>
              </a:rPr>
              <a:t>  3  UNION ALL</a:t>
            </a:r>
          </a:p>
          <a:p>
            <a:pPr>
              <a:lnSpc>
                <a:spcPct val="100000"/>
              </a:lnSpc>
              <a:spcAft>
                <a:spcPts val="0"/>
              </a:spcAft>
            </a:pPr>
            <a:r>
              <a:rPr sz="1250" b="0">
                <a:solidFill>
                  <a:srgbClr val="F2F2F2"/>
                </a:solidFill>
                <a:latin typeface="Consolas"/>
                <a:ea typeface="Consolas"/>
              </a:rPr>
              <a:t>  4  SELECT stat.name, TO_CHAR(stat.value) FROM v$sysstat stat</a:t>
            </a:r>
          </a:p>
          <a:p>
            <a:pPr>
              <a:lnSpc>
                <a:spcPct val="100000"/>
              </a:lnSpc>
              <a:spcAft>
                <a:spcPts val="0"/>
              </a:spcAft>
            </a:pPr>
            <a:r>
              <a:rPr sz="1250" b="0">
                <a:solidFill>
                  <a:srgbClr val="F2F2F2"/>
                </a:solidFill>
                <a:latin typeface="Consolas"/>
                <a:ea typeface="Consolas"/>
              </a:rPr>
              <a:t>  5  WHERE stat.name IN ('redo size','redo entries',</a:t>
            </a:r>
          </a:p>
          <a:p>
            <a:pPr>
              <a:lnSpc>
                <a:spcPct val="100000"/>
              </a:lnSpc>
              <a:spcAft>
                <a:spcPts val="0"/>
              </a:spcAft>
            </a:pPr>
            <a:r>
              <a:rPr sz="1250" b="0">
                <a:solidFill>
                  <a:srgbClr val="F2F2F2"/>
                </a:solidFill>
                <a:latin typeface="Consolas"/>
                <a:ea typeface="Consolas"/>
              </a:rPr>
              <a:t>  6                      'redo buffer allocation retries');</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NAME                             VAL</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log_buffer                     7360K</a:t>
            </a:r>
          </a:p>
          <a:p>
            <a:pPr>
              <a:lnSpc>
                <a:spcPct val="100000"/>
              </a:lnSpc>
              <a:spcAft>
                <a:spcPts val="0"/>
              </a:spcAft>
            </a:pPr>
            <a:r>
              <a:rPr sz="1250" b="0">
                <a:solidFill>
                  <a:srgbClr val="F2F2F2"/>
                </a:solidFill>
                <a:latin typeface="Consolas"/>
                <a:ea typeface="Consolas"/>
              </a:rPr>
              <a:t>redo size                      129961816</a:t>
            </a:r>
          </a:p>
          <a:p>
            <a:pPr>
              <a:lnSpc>
                <a:spcPct val="100000"/>
              </a:lnSpc>
              <a:spcAft>
                <a:spcPts val="0"/>
              </a:spcAft>
            </a:pPr>
            <a:r>
              <a:rPr sz="1250" b="0">
                <a:solidFill>
                  <a:srgbClr val="F2F2F2"/>
                </a:solidFill>
                <a:latin typeface="Consolas"/>
                <a:ea typeface="Consolas"/>
              </a:rPr>
              <a:t>redo entries                   249457</a:t>
            </a:r>
          </a:p>
          <a:p>
            <a:pPr>
              <a:lnSpc>
                <a:spcPct val="100000"/>
              </a:lnSpc>
              <a:spcAft>
                <a:spcPts val="0"/>
              </a:spcAft>
            </a:pPr>
            <a:r>
              <a:rPr sz="1250" b="0">
                <a:solidFill>
                  <a:srgbClr val="F2F2F2"/>
                </a:solidFill>
                <a:latin typeface="Consolas"/>
                <a:ea typeface="Consolas"/>
              </a:rPr>
              <a:t>redo buffer allocation retries 3</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 retries 3 / entries 249,457 = 0.0012% → 버퍼 충분!</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직접 경로 읽기와 소형 테이블 임계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실행계획은 그대로인데 느려졌다면</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소형 테이블 임계 = max(버퍼 캐시의 2%, 20블록)</a:t>
            </a:r>
          </a:p>
          <a:p>
            <a:pPr algn="l">
              <a:spcAft>
                <a:spcPts val="1000"/>
              </a:spcAft>
            </a:pPr>
            <a:r>
              <a:rPr sz="1700" b="0">
                <a:solidFill>
                  <a:srgbClr val="222222"/>
                </a:solidFill>
                <a:latin typeface="맑은 고딕"/>
                <a:ea typeface="맑은 고딕"/>
              </a:rPr>
              <a:t>•  임계 초과 대형 스캔 → LRU 꼬리 or 직접 경로(PGA)로 우회</a:t>
            </a:r>
          </a:p>
          <a:p>
            <a:pPr algn="l">
              <a:spcAft>
                <a:spcPts val="1000"/>
              </a:spcAft>
            </a:pPr>
            <a:r>
              <a:rPr sz="1700" b="0">
                <a:solidFill>
                  <a:srgbClr val="222222"/>
                </a:solidFill>
                <a:latin typeface="맑은 고딕"/>
                <a:ea typeface="맑은 고딕"/>
              </a:rPr>
              <a:t>•  19c 적응적 직접 경로 읽기: 상황 따라 경로 전환</a:t>
            </a:r>
          </a:p>
          <a:p>
            <a:pPr algn="l">
              <a:spcAft>
                <a:spcPts val="1000"/>
              </a:spcAft>
            </a:pPr>
            <a:r>
              <a:rPr sz="1700" b="0">
                <a:solidFill>
                  <a:srgbClr val="222222"/>
                </a:solidFill>
                <a:latin typeface="맑은 고딕"/>
                <a:ea typeface="맑은 고딕"/>
              </a:rPr>
              <a:t>•  경로 전환 시 물리 읽기·direct path read 대기가 갑자기 증가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리두 버퍼 판정 규율</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ea typeface="맑은 고딕"/>
              </a:rPr>
              <a:t>버퍼냐 I/O냐를 가른다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retries / entries 비율로 충분성 판단(경험칙 1% 미만이면 충분)</a:t>
            </a:r>
          </a:p>
          <a:p>
            <a:pPr algn="l">
              <a:spcAft>
                <a:spcPts val="1000"/>
              </a:spcAft>
            </a:pPr>
            <a:r>
              <a:rPr sz="1700" b="0">
                <a:solidFill>
                  <a:srgbClr val="222222"/>
                </a:solidFill>
                <a:latin typeface="맑은 고딕"/>
                <a:ea typeface="맑은 고딕"/>
              </a:rPr>
              <a:t>•  log buffer space 상위 → log file parallel write도 함께 확인</a:t>
            </a:r>
          </a:p>
          <a:p>
            <a:pPr algn="l">
              <a:spcAft>
                <a:spcPts val="1000"/>
              </a:spcAft>
            </a:pPr>
            <a:r>
              <a:rPr sz="1700" b="0">
                <a:solidFill>
                  <a:srgbClr val="222222"/>
                </a:solidFill>
                <a:latin typeface="맑은 고딕"/>
                <a:ea typeface="맑은 고딕"/>
              </a:rPr>
              <a:t>•  후자가 높으면 병목은 버퍼가 아니라 리두 I/O(디스크)</a:t>
            </a:r>
          </a:p>
          <a:p>
            <a:pPr algn="l">
              <a:spcAft>
                <a:spcPts val="1000"/>
              </a:spcAft>
            </a:pPr>
            <a:r>
              <a:rPr sz="1700" b="0">
                <a:solidFill>
                  <a:srgbClr val="222222"/>
                </a:solidFill>
                <a:latin typeface="맑은 고딕"/>
                <a:ea typeface="맑은 고딕"/>
              </a:rPr>
              <a:t>•  근거 없이 log_buffer 키우지 않는다 / 커밋 빈도 최적화 우선</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퀴즈 (Quiz)</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800"/>
              </a:spcAft>
            </a:pPr>
            <a:r>
              <a:rPr sz="1500" b="0">
                <a:solidFill>
                  <a:srgbClr val="222222"/>
                </a:solidFill>
                <a:latin typeface="맑은 고딕"/>
                <a:ea typeface="맑은 고딕"/>
              </a:rPr>
              <a:t>•  Q1. 히트율 공식을 쓰고, 99.98%인데도 좋은 상태가 아닐 수 있는 이유를 실측으로 설명하라.</a:t>
            </a:r>
          </a:p>
          <a:p>
            <a:pPr algn="l">
              <a:spcAft>
                <a:spcPts val="800"/>
              </a:spcAft>
            </a:pPr>
            <a:r>
              <a:rPr sz="1500" b="0">
                <a:solidFill>
                  <a:srgbClr val="222222"/>
                </a:solidFill>
                <a:latin typeface="맑은 고딕"/>
                <a:ea typeface="맑은 고딕"/>
              </a:rPr>
              <a:t>•  Q2. 비효율 SQL의 반복 스캔이 히트율을 '오히려 올리는' 원리를 설명하라.</a:t>
            </a:r>
          </a:p>
          <a:p>
            <a:pPr algn="l">
              <a:spcAft>
                <a:spcPts val="800"/>
              </a:spcAft>
            </a:pPr>
            <a:r>
              <a:rPr sz="1500" b="0">
                <a:solidFill>
                  <a:srgbClr val="222222"/>
                </a:solidFill>
                <a:latin typeface="맑은 고딕"/>
                <a:ea typeface="맑은 고딕"/>
              </a:rPr>
              <a:t>•  Q3. V$DB_CACHE_ADVICE 계수가 480MB에서 1.0으로 수렴했다. 어떤 결론을 내릴 수 있는가?</a:t>
            </a:r>
          </a:p>
          <a:p>
            <a:pPr algn="l">
              <a:spcAft>
                <a:spcPts val="800"/>
              </a:spcAft>
            </a:pPr>
            <a:r>
              <a:rPr sz="1500" b="0">
                <a:solidFill>
                  <a:srgbClr val="222222"/>
                </a:solidFill>
                <a:latin typeface="맑은 고딕"/>
                <a:ea typeface="맑은 고딕"/>
              </a:rPr>
              <a:t>•  Q4. KEEP과 RECYCLE의 용도를 쓰고, DRUG_MASTER를 어느 풀에 둘지 이유와 함께 답하라.</a:t>
            </a:r>
          </a:p>
          <a:p>
            <a:pPr algn="l">
              <a:spcAft>
                <a:spcPts val="800"/>
              </a:spcAft>
            </a:pPr>
            <a:r>
              <a:rPr sz="1500" b="0">
                <a:solidFill>
                  <a:srgbClr val="222222"/>
                </a:solidFill>
                <a:latin typeface="맑은 고딕"/>
                <a:ea typeface="맑은 고딕"/>
              </a:rPr>
              <a:t>•  Q5. BUFFER_POOL KEEP 지정 직후 전체 스캔으로 예열하는 이유는?</a:t>
            </a:r>
          </a:p>
          <a:p>
            <a:pPr algn="l">
              <a:spcAft>
                <a:spcPts val="800"/>
              </a:spcAft>
            </a:pPr>
            <a:r>
              <a:rPr sz="1500" b="0">
                <a:solidFill>
                  <a:srgbClr val="222222"/>
                </a:solidFill>
                <a:latin typeface="맑은 고딕"/>
                <a:ea typeface="맑은 고딕"/>
              </a:rPr>
              <a:t>•  Q6. redo buffer allocation retries를 무엇과 비교해 리두 버퍼 크기를 판단하는가?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요약 (Summary)</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800"/>
              </a:spcAft>
            </a:pPr>
            <a:r>
              <a:rPr sz="1600" b="0">
                <a:solidFill>
                  <a:srgbClr val="222222"/>
                </a:solidFill>
                <a:latin typeface="맑은 고딕"/>
                <a:ea typeface="맑은 고딕"/>
              </a:rPr>
              <a:t>•  히트율 = 1 − 물리/논리. 물리 회피율일 뿐, 논리 읽기 낭비는 못 본다.</a:t>
            </a:r>
          </a:p>
          <a:p>
            <a:pPr algn="l">
              <a:spcAft>
                <a:spcPts val="800"/>
              </a:spcAft>
            </a:pPr>
            <a:r>
              <a:rPr sz="1600" b="0">
                <a:solidFill>
                  <a:srgbClr val="222222"/>
                </a:solidFill>
                <a:latin typeface="맑은 고딕"/>
                <a:ea typeface="맑은 고딕"/>
              </a:rPr>
              <a:t>•  실측 99.98%지만 논리 읽기 3.7억. 나쁜 SQL이 히트율을 오히려 올린다.</a:t>
            </a:r>
          </a:p>
          <a:p>
            <a:pPr algn="l">
              <a:spcAft>
                <a:spcPts val="800"/>
              </a:spcAft>
            </a:pPr>
            <a:r>
              <a:rPr sz="1600" b="0">
                <a:solidFill>
                  <a:srgbClr val="222222"/>
                </a:solidFill>
                <a:latin typeface="맑은 고딕"/>
                <a:ea typeface="맑은 고딕"/>
              </a:rPr>
              <a:t>•  크기 판단은 히트율이 아니라 V$DB_CACHE_ADVICE로. 480MB에서 수렴.</a:t>
            </a:r>
          </a:p>
          <a:p>
            <a:pPr algn="l">
              <a:spcAft>
                <a:spcPts val="800"/>
              </a:spcAft>
            </a:pPr>
            <a:r>
              <a:rPr sz="1600" b="0">
                <a:solidFill>
                  <a:srgbClr val="222222"/>
                </a:solidFill>
                <a:latin typeface="맑은 고딕"/>
                <a:ea typeface="맑은 고딕"/>
              </a:rPr>
              <a:t>•  다중 풀: 소형 참조는 KEEP(48M 설정), 대량 스캔은 RECYCLE로 격리.</a:t>
            </a:r>
          </a:p>
          <a:p>
            <a:pPr algn="l">
              <a:spcAft>
                <a:spcPts val="800"/>
              </a:spcAft>
            </a:pPr>
            <a:r>
              <a:rPr sz="1600" b="0">
                <a:solidFill>
                  <a:srgbClr val="222222"/>
                </a:solidFill>
                <a:latin typeface="맑은 고딕"/>
                <a:ea typeface="맑은 고딕"/>
              </a:rPr>
              <a:t>•  같은 100%도 KEEP과 DEFAULT는 의미가 다르다. 직접 경로는 히트율에 안 잡힌다.</a:t>
            </a:r>
          </a:p>
          <a:p>
            <a:pPr algn="l">
              <a:spcAft>
                <a:spcPts val="800"/>
              </a:spcAft>
            </a:pPr>
            <a:r>
              <a:rPr sz="1600" b="0">
                <a:solidFill>
                  <a:srgbClr val="222222"/>
                </a:solidFill>
                <a:latin typeface="맑은 고딕"/>
                <a:ea typeface="맑은 고딕"/>
              </a:rPr>
              <a:t>•  리두 버퍼: retries/entries 비율(실측 3/249,457)로 충분성을 판단한다.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800"/>
              </a:spcAft>
            </a:pPr>
            <a:r>
              <a:rPr sz="1500" b="0">
                <a:solidFill>
                  <a:srgbClr val="222222"/>
                </a:solidFill>
                <a:latin typeface="맑은 고딕"/>
                <a:ea typeface="맑은 고딕"/>
              </a:rPr>
              <a:t>•  실습 01 — 버퍼 캐시 구성·크기·사용률 확인(V$BUFFER_POOL_STATISTICS, ORA-00904 수정)</a:t>
            </a:r>
          </a:p>
          <a:p>
            <a:pPr algn="l">
              <a:spcAft>
                <a:spcPts val="800"/>
              </a:spcAft>
            </a:pPr>
            <a:r>
              <a:rPr sz="1500" b="0">
                <a:solidFill>
                  <a:srgbClr val="222222"/>
                </a:solidFill>
                <a:latin typeface="맑은 고딕"/>
                <a:ea typeface="맑은 고딕"/>
              </a:rPr>
              <a:t>•  실습 02 — 히트율의 함정 재현(WL_02_io, 조치 전후 히트율·논리 읽기 비교)</a:t>
            </a:r>
          </a:p>
          <a:p>
            <a:pPr algn="l">
              <a:spcAft>
                <a:spcPts val="800"/>
              </a:spcAft>
            </a:pPr>
            <a:r>
              <a:rPr sz="1500" b="0">
                <a:solidFill>
                  <a:srgbClr val="222222"/>
                </a:solidFill>
                <a:latin typeface="맑은 고딕"/>
                <a:ea typeface="맑은 고딕"/>
              </a:rPr>
              <a:t>•  실습 03 — 버퍼 캐시 어드바이저 판독(V$DB_CACHE_ADVICE, 수렴 구간)</a:t>
            </a:r>
          </a:p>
          <a:p>
            <a:pPr algn="l">
              <a:spcAft>
                <a:spcPts val="800"/>
              </a:spcAft>
            </a:pPr>
            <a:r>
              <a:rPr sz="1500" b="0">
                <a:solidFill>
                  <a:srgbClr val="222222"/>
                </a:solidFill>
                <a:latin typeface="맑은 고딕"/>
                <a:ea typeface="맑은 고딕"/>
              </a:rPr>
              <a:t>•  실습 04 — 다중 버퍼 풀 KEEP 구성(DRUG_MASTER 배치·예열)</a:t>
            </a:r>
          </a:p>
          <a:p>
            <a:pPr algn="l">
              <a:spcAft>
                <a:spcPts val="800"/>
              </a:spcAft>
            </a:pPr>
            <a:r>
              <a:rPr sz="1500" b="0">
                <a:solidFill>
                  <a:srgbClr val="222222"/>
                </a:solidFill>
                <a:latin typeface="맑은 고딕"/>
                <a:ea typeface="맑은 고딕"/>
              </a:rPr>
              <a:t>•  실습 05 — RECYCLE 풀과 대량 스캔 분리</a:t>
            </a:r>
          </a:p>
          <a:p>
            <a:pPr algn="l">
              <a:spcAft>
                <a:spcPts val="800"/>
              </a:spcAft>
            </a:pPr>
            <a:r>
              <a:rPr sz="1500" b="0">
                <a:solidFill>
                  <a:srgbClr val="222222"/>
                </a:solidFill>
                <a:latin typeface="맑은 고딕"/>
                <a:ea typeface="맑은 고딕"/>
              </a:rPr>
              <a:t>•  실습 06 — 리두 로그 버퍼와 log buffer space 대기(재시도 비율)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
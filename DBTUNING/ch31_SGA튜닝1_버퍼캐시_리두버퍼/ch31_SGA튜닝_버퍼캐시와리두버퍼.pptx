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ch29에서 확인한 ASMM 환경 위에서 각 구조를 깊게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제ch31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17.2  버퍼 캐시 구조 — 무엇을, 왜 캐싱하는가</a:t>
            </a:r>
          </a:p>
          <a:p>
            <a:pPr algn="l">
              <a:spcAft>
                <a:spcPts val="800"/>
              </a:spcAft>
            </a:pPr>
            <a:r>
              <a:rPr sz="1600" b="0">
                <a:solidFill>
                  <a:srgbClr val="222222"/>
                </a:solidFill>
                <a:latin typeface="맑은 고딕"/>
                <a:ea typeface="맑은 고딕"/>
              </a:rPr>
              <a:t>•  17.3  히트율의 함정 — 이 장의 핵심</a:t>
            </a:r>
          </a:p>
          <a:p>
            <a:pPr algn="l">
              <a:spcAft>
                <a:spcPts val="800"/>
              </a:spcAft>
            </a:pPr>
            <a:r>
              <a:rPr sz="1600" b="0">
                <a:solidFill>
                  <a:srgbClr val="222222"/>
                </a:solidFill>
                <a:latin typeface="맑은 고딕"/>
                <a:ea typeface="맑은 고딕"/>
              </a:rPr>
              <a:t>•  17.4  V$DB_CACHE_ADVICE — 크기 변경 효과 예측</a:t>
            </a:r>
          </a:p>
          <a:p>
            <a:pPr algn="l">
              <a:spcAft>
                <a:spcPts val="800"/>
              </a:spcAft>
            </a:pPr>
            <a:r>
              <a:rPr sz="1600" b="0">
                <a:solidFill>
                  <a:srgbClr val="222222"/>
                </a:solidFill>
                <a:latin typeface="맑은 고딕"/>
                <a:ea typeface="맑은 고딕"/>
              </a:rPr>
              <a:t>•  17.5  다중 버퍼 풀 — KEEP과 RECYCLE</a:t>
            </a:r>
          </a:p>
          <a:p>
            <a:pPr algn="l">
              <a:spcAft>
                <a:spcPts val="800"/>
              </a:spcAft>
            </a:pPr>
            <a:r>
              <a:rPr sz="1600" b="0">
                <a:solidFill>
                  <a:srgbClr val="222222"/>
                </a:solidFill>
                <a:latin typeface="맑은 고딕"/>
                <a:ea typeface="맑은 고딕"/>
              </a:rPr>
              <a:t>•  17.6  캐싱 모드와 대량 스캔의 캐시 동작</a:t>
            </a:r>
          </a:p>
          <a:p>
            <a:pPr algn="l">
              <a:spcAft>
                <a:spcPts val="800"/>
              </a:spcAft>
            </a:pPr>
            <a:r>
              <a:rPr sz="1600" b="0">
                <a:solidFill>
                  <a:srgbClr val="222222"/>
                </a:solidFill>
                <a:latin typeface="맑은 고딕"/>
                <a:ea typeface="맑은 고딕"/>
              </a:rPr>
              <a:t>•  17.7  리두 로그 버퍼 — log buffer space 대기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
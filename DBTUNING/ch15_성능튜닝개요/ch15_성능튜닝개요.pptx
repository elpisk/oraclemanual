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응답시간은 하나의 요청이 처리되는 데 걸린 시간으로, 오라클 내부에서는 CPU를 실제로 쓴 서비스 시간과 자원을 기다린 대기 시간의 합으로 나뉩니다. 사용자가 느끼는 성능은 거의 응답시간이며, 인스턴스 튜닝의 대부분은 대기 시간을 줄이는 작업입니다. 목표를 세울 때 평균을 쓰면 소수의 느린 요청이 숨겨지므로, 95·99 백분위수로 표현해야 실제 사용자 경험에 가깝다는 점을 강조합니다. 평균 0.2초라도 95퍼센타일이 3초라면 스무 명 중 한 명은 매번 3초를 기다린다는 뜻이며, 이 함정을 학습자에게 반드시 짚어 줍니다.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처리량은 단위 시간당 완료한 작업의 양으로, 초당 트랜잭션 수나 시간당 처리 건수로 표현합니다. 개별 요청의 속도보다 정해진 시간 안에 얼마나 많이 처리하느냐가 중요한 배치나 데이터 웨어하우스 워크로드에서 핵심 지표가 됩니다. V$SYSMETRIC의 User Transaction Per Sec와 Executions Per Sec가 대표적인 처리량 메트릭이며, 이 값들은 부하가 있어야 의미 있는 숫자로 나타납니다.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응답시간과 처리량은 자주 반대로 움직입니다. 배열 크기를 키워 한 번에 많이 처리하면 처리량은 오르지만 개별 요청의 응답시간은 길어질 수 있고, 반대로 한 세션에 자원을 몰아주면 그 요청은 빨라져도 전체 처리량은 떨어집니다. 그래서 목표는 워크로드 성격에 맞춰 우선순위를 정해야 합니다. 온라인 트랜잭션은 응답시간을, 배치와 DW는 처리량을 우선으로 잡는 것이 일반적입니다. 둘 다 최고로 만들 수는 없다는 점을 인정하고, 무엇을 우선할지 먼저 합의하는 것이 목표 설정의 출발점임을 강조합니다.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실측에서 대부분의 값이 0인 것은 오류가 아니라 캡처 순간 부하가 없었기 때문입니다. Average Active Sessions가 0이면 활성 세션이 사실상 없다는 뜻이고, 그러니 Response Time Per Txn도 0으로 나옵니다. 여기서 ch15의 핵심 교육 포인트를 짚어야 합니다. 성능 지표는 부하가 있어야 나타나며, 조회만 하는 실습으로는 성능 데이터를 만들 수 없습니다. 그래서 ch19부터 공용 부하 스크립트로 실제 부하를 유발한 뒤 지표를 측정합니다.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사전 예방적 모니터링은 정해진 주기로 성능 통계를 관찰해 시스템 동작과 자원 사용이 달라졌는지 확인하는 활동으로, 대개 구성 변경으로 이어지지 않고 심각한 징후가 보일 때만 개입합니다. 반드시 경계할 것은 성능 저하가 없는데도 더 빨라지지 않을까 하며 파라미터를 만지작거리는 행위입니다. 이는 사전 예방이 아니라 위험한 도박이며, 근거 없이 건드리면 오히려 성능이 떨어질 수 있습니다. 모니터링은 대개 용량 계획의 일부로, 추세를 읽어 미래의 병목을 미리 대비하는 것이 본래 목적임을 함께 설명합니다.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성능 문제는 대개 특정 자원의 과다 사용에서 오고, 그 자원이 병목입니다. 병목 제거형 튜닝은 가장 큰 병목 하나를 찾아 영향을 줄이거나 없애는 일이며, 핵심은 한 번에 하나만 건드리는 것입니다. 여러 병목을 동시에 손대면 무엇이 효과였는지 알 수 없습니다. 병목은 애플리케이션, 오라클 구성, 호스트 하드웨어 세 곳 중 하나에서 고칠 수 있으며, 가장 효과적인 해법은 대개 애플리케이션을 바꾸는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성능 튜닝에서 가장 흔한 함정은 증상을 문제 자체로 착각하는 것입니다. 물리 I/O가 느린 것은 디스크 탓일 수도 있지만 나쁜 SQL이 불필요한 I/O를 대량 유발한 결과일 수도 있고, 래치 경합은 인스턴스 재구성보다 애플리케이션 변경으로 풀리는 경우가 많습니다. 증상만 보고 조치하면 엉뚱한 곳을 고치게 됩니다. 그래서 이 과정은 대기 이벤트에서 출발해 세그먼트·세션·SQL로 원인을 좁혀 들어가는 절차를 반복 훈련합니다.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사전 예방적 모니터링은 대개 용량 계획의 일부이고, 그 바탕에 확장성 개념이 있습니다. 확장성은 자원을 늘린 만큼 처리 능력이 비례해 느는 성질인데, 내부 경합 때문에 워크로드를 두 배로 늘리면 자원 사용이 두 배를 넘기도 합니다. 확장성을 떨어뜨리는 가장 큰 원인은 애플리케이션 설계이며, 설계 단계에서 심어진 한계는 나중에 하드웨어를 붙여도 넘지 못합니다. 그래서 병목이 DB 안인지 밖인지부터 가르는 진단이 중요합니다.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 Time은 데이터베이스가 사용자 요청을 처리하기 위해 소비한 총 시간으로, 모든 활성 세션이 CPU와 대기에 쓴 시간을 합한 값입니다. 벽시계 시간이 아니라 세션 시간의 합이라는 점이 중요합니다. 성능을 개선한다는 것은 결국 같은 워크로드 처리에 드는 DB Time을 줄이는 것과 같고, 느린 SQL·잠금 경합·I/O 지연처럼 성격이 다른 문제도 DB Time의 몇 퍼센트라는 하나의 척도로 환산되므로 비교하고 우선순위를 매길 수 있습니다. 그래서 공통 화폐라 부릅니다.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실측이 DB Time = DB CPU + 대기라는 등식의 근거입니다. DB time 49,551,722를 DB CPU 8,662,345로 나누면 CPU가 약 17.5퍼센트이고, 나머지 82.5퍼센트는 무언가를 기다린 대기 시간입니다. 만약 이 인스턴스에 성능 문제가 있었다면 82.5퍼센트를 차지하는 대기가 어느 대기 클래스에 속하는지부터 파고들어야 합니다. 단위는 마이크로초 누적값이며, 실제 판단은 두 시점의 델타로 해야 한다는 점을 함께 강조합니다. 상세는 ch19에서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Average Active Sessions는 어떤 구간의 DB Time을 그 구간의 벽시계 경과 시간으로 나눈 값으로, 평균적으로 몇 개의 세션이 동시에 데이터베이스 안에서 일하고 있었는지를 뜻합니다. 이 값을 호스트의 CPU 코어 수와 비교하면 시스템이 얼마나 붐비는지 직관적으로 알 수 있습니다. 코어가 4개인데 값이 8이면 CPU 감당량의 두 배가 경쟁하고 있다는 신호입니다. 앞서 실측에서 이 값이 0이었던 것은 캡처 순간 아무도 일하지 않았다는 의미입니다.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 뷰는 모든 오라클 성능 도구가 참조하는 원천 정보로, 인스턴스 기동 시 초기화되는 메모리 구조를 그대로 보여 줍니다. 라이선스가 필요 없고 실시간 진단에 강합니다. 실시간 진단은 활성 세션에서 출발해 무엇을 기다리는지, 어떤 SQL을 돌리는지, 어느 세그먼트를 건드리는지로 좁혀 가는 세션-대기-SQL-세그먼트 경로를 따릅니다. 약점은 과거를 못 본다는 것과 값이 대부분 누적이라 두 시점의 델타로 봐야 의미가 있다는 점입니다.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AWR은 휘발성인 V$ 통계를 주기적으로 스냅샷으로 떠서 SYSAUX에 영구 저장하는 성능의 기억 장치입니다. 기본 60분마다 스냅샷을 만들고 8일간 보존하며, 두 스냅샷 사이 구간의 성능을 요약해 보고서로 뽑습니다. 실습 DB에는 스냅샷 153개가 쌓여 있었습니다. 보존 구간 안의 문제는 사후에 재구성할 수 있지만 그 밖의 과거는 진단할 수 없어 중요한 구간은 베이스라인으로 보호해야 합니다. AWR과 DBA_HIST 뷰는 Diagnostics Pack 라이선스가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ADDM은 AWR이 모은 데이터를 자동 분석해 병목을 진단하고 개선안을 제시하는 자가 진단 엔진으로, DB Time을 하향식으로 분해하며 근본 원인을 좁혀 갑니다. 결과는 발견 사항, 권고, 근거로 구조화되고 각 발견에 예상 이득이 DB Time 비율로 표시됩니다. 무엇을 봐야 할지 모를 때 출발점으로 쓰지만, 권고는 결론이 아니라 가설이라는 점을 강조합니다. 영향도가 큰 발견부터 처리하고 근거를 확인한 뒤 채택해야 하며, 이는 이 과정이 경계하는 권고 맹신과 직결됩니다.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ASH는 활성 세션의 상태를 기본 1초 주기로 샘플링해 순환 버퍼에 저장합니다. AWR이 60분 단위의 거시적 요약이라면 ASH는 초 단위의 미시적 순간 포착으로, AWR 보고서의 평균에 묻혀 보이지 않는 짧은 스파이크성 문제를 잡아낼 때 결정적입니다. 특정 10분 구간을 세션·SQL·대기 축으로 재구성할 수 있습니다. ASH와 V$ACTIVE_SESSION_HISTORY, 보존본인 DBA_HIST_ACTIVE_SESS_HISTORY도 Diagnostics Pack 라이선스가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ADDM이 무엇이 문제인가를 진단한다면 어드바이저는 어떻게 고칠 것인가를 구체적으로 제시합니다. SQL Tuning Advisor는 개별 SQL을 분석해 프로파일·인덱스·재작성을 권고하고, SQL Access Advisor는 인덱스와 구체화 뷰를 권고합니다. 실습 DB에는 열두 개 어드바이저가 등록돼 있었습니다. 이 중 SQL Tuning·Access Advisor와 SQL Performance Analyzer는 Tuning Pack이 필요하고, Segment·Undo·Statistics 어드바이저는 별도 팩 없이 쓸 수 있습니다. 어드바이저 프레임워크는 ch30에서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다섯 도구는 경쟁 관계가 아니라 층위가 다른 협력 관계입니다. V$가 실시간 원천을 주고, AWR이 보존하며, ADDM이 자동 분석하고, ASH가 초 단위 빈틈을 메우고, 어드바이저가 조치를 제안합니다. 그래서 어떤 도구가 제일 좋은가가 아니라 지금 내 문제의 성격에 맞는 도구가 무엇인가를 물어야 합니다. 상시 문제는 AWR, 실시간은 V$, 스파이크는 ASH라는 대응을 반사적으로 떠올릴 수 있어야 하며, SQL 한 문장 수정으로 결론 나면 SQL 튜닝 과정으로 넘깁니다.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라이선스 경계를 아는 것은 기술이 아니라 직업 윤리이자 법적 리스크 관리의 문제입니다. AWR·ADDM·ASH는 Diagnostics Pack, SQL Tuning·Access Advisor와 SPA는 Tuning Pack에 속하며 Tuning Pack은 Diagnostics Pack을 선행 조건으로 합니다. V$ 뷰와 Statspack, 그리고 Segment·Undo·Statistics 어드바이저는 별도 팩이 필요 없습니다. 오라클은 사용량 감사를 수행하며 그때 기능 사용 통계 뷰가 근거가 되므로, 무심코 실행한 awrrpt.sql 한 번이 유상 기능 사용으로 잡힐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초기화 파라미터는 인스턴스에서 어떤 관리 팩 기능을 쓸 수 있는지 선언하며 값은 NONE, DIAGNOSTIC, DIAGNOSTIC+TUNING 세 가지입니다. 실습 DB는 DIAGNOSTIC+TUNING이라 두 팩 기능을 모두 쓸 수 있게 선언돼 있습니다. 반드시 주의할 점은 이 값이 켜져 있다는 사실이 곧 라이선스를 보유했다는 뜻은 아니라는 것입니다. 파라미터는 사용 여부를 선언할 뿐이고 실제 계약은 별개이므로, 실무에서는 계약한 팩과 이 값이 일치하는지 대조해야 합니다. 라이선스가 없으면 NONE으로 두는 것이 안전합니다.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이미 어떤 관리 팩 기능을 실제로 썼는지는 DBA_FEATURE_USAGE_STATISTICS로 확인합니다. 오라클이 기본 주 1회 사용 여부를 감지해 기록하는 뷰로, 라이선스 준수 점검에서 자주 쓰입니다. 실측에서는 Automatic SQL Tuning Advisor만 2회 감지됐고 마지막 사용이 2026-08-21이었습니다. 이 기능은 Tuning Pack에 속하므로 만약 이 환경에 Tuning Pack 라이선스가 없었다면 이 두 번의 감지가 위반의 증거가 됩니다. 나머지는 0으로 아직 사용 이력이 없습니다. 무심코 쓴 유상 기능을 사후에 드러내는 첫 조회입니다.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Diagnostics Pack이 없다고 진단을 포기할 필요는 없습니다. 원천 데이터는 언제나 V$에 있기 때문입니다. AWR 대신 무상 도구인 Statspack으로 스냅샷과 보고서를 얻을 수 있고, ADDM·ASH가 보여 주는 것도 V$ 뷰를 직접 조회하면 상당 부분 재현됩니다. 핵심은 무엇과 무엇을 비교해 무엇을 판정하는가입니다. 누적값인 V$SYS_TIME_MODEL이나 V$SYSSTAT을 구간 시작과 끝에서 두 번 조회해 델타를 계산하면 AWR과 같은 구간 값이 됩니다. 라이선스 유무는 얼마나 편하게 자동으로 보느냐의 차이일 뿐 원리와 원천은 같습니다.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튜닝 대상을 고르려면 어떤 SQL이 부하를 많이 쓰는지부터 봐야 합니다. 맨 위 SQL은 200회 실행되며 총 618,000개 블록을 읽었고 실행당 3,090개를 읽습니다. 이것을 대상으로 삼는다면 목표는 실행당 논리 읽기를 3,090에서 목표값으로 줄인다처럼 씁니다. 절대 수치를 그대로 목표로 박지 않는 이유는 실행 횟수·데이터량·캐시 상태가 환경마다 다르기 때문입니다. 그래서 무엇을, 무엇과 비교해, 어느 수준으로 낮춘다는 구조로 서술하고 재측정 때 같은 방식으로 계산해 판정합니다.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튜닝 목표는 대상 업무 선정, 현재값 측정, 목표값 설정, 판정 기준 명시의 네 단계로 수치화합니다. 목표는 반드시 응답시간이나 처리량 같은 측정 가능한 양으로 표현해야 하며 빠르게나 개선처럼 판정 불가능한 표현을 쓰면 안 됩니다. 목표에는 기준선이 함께 있어야 합니다. 정상일 때 값을 모르면 느려졌다도 개선됐다도 증명할 수 없기 때문입니다. 한 가지 경계선은 SQL 한 문장을 어떻게 고쳐 쓸 것인가로 결론 나면 거기서 멈추고 SQL 튜닝 과정으로 넘긴다는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버퍼 캐시 히트율이 99퍼센트라고 시스템이 건강한 것은 아닙니다. 비효율적인 SQL이 같은 블록을 몇 번이고 다시 읽으면 논리 읽기가 폭증하고 그 대부분이 캐시에서 처리되어 히트율은 오히려 올라갑니다. 히트율이 높은데 응답시간이 나쁜 상황을 ch31에서 직접 만들어 봅니다. 히트율은 목표가 아니라 하나의 참고 지표일 뿐이며, 단일 지표 하나로 결론 내지 말고 항상 DB Time 비중과 함께 봐야 한다는 것이 이 과정의 태도입니다.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ADDM이나 어드바이저의 권고는 결론이 아니라 가설입니다. 영향도가 낮은 권고에 시간을 쓰거나 맥락을 무시하고 그대로 적용하면 오히려 해가 됩니다. 권고를 그대로 따르면 안 되는 사례를 ch24과 ch30에서 판별합니다. 권고는 왜 이 권고가 나왔는가라는 근거와 이 권고가 내 상황에 맞는가를 검토한 뒤에만 채택해야 합니다. 어드바이저는 강력한 도구지만 최종 판단의 책임은 언제나 사람에게 있다는 점을 첫 장부터 분명히 해 둡니다.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조치 전 상태를 캡처하지 않은 튜닝은 성공도 실패도 증명할 수 없습니다. 이 과정의 모든 실습 트랜스크립트는 조치 전 상태, 조치, 조치 후 상태의 3단 캡처를 강제합니다. 성능 실습은 전후 비교가 없으면 학습이 성립하지 않기 때문입니다. 세 가지 경계는 서로 다른 얼굴을 하고 있지만 뿌리는 같습니다. 모두 내가 직접 측정하고 판정하지 않고 단일 지표나 남의 결론에 기댄다는 하나의 잘못입니다. 한 번에 하나만 바꾸고 같은 지표를 같은 방식으로 재측정하는 규율이 답입니다.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r>
              <a:rPr sz="1600" b="1">
                <a:solidFill>
                  <a:srgbClr val="FFFFFF"/>
                </a:solidFill>
                <a:latin typeface="맑은 고딕"/>
                <a:ea typeface="맑은 고딕"/>
              </a:rPr>
              <a:t>Oracle Database 19c 성능 튜닝 실무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r>
              <a:rPr sz="3400" b="1">
                <a:solidFill>
                  <a:srgbClr val="C0392B"/>
                </a:solidFill>
                <a:latin typeface="맑은 고딕"/>
                <a:ea typeface="맑은 고딕"/>
              </a:rPr>
              <a:t>성능 튜닝 개요</a:t>
            </a:r>
          </a:p>
          <a:p>
            <a:pPr algn="l"/>
            <a:r>
              <a:rPr sz="2000" b="0">
                <a:solidFill>
                  <a:srgbClr val="5A6672"/>
                </a:solidFill>
                <a:latin typeface="맑은 고딕"/>
                <a:ea typeface="맑은 고딕"/>
              </a:rPr>
              <a:t>Performance Tuning Overview — 무엇을 튜닝이라 부르는가</a:t>
            </a:r>
          </a:p>
        </p:txBody>
      </p:sp>
      <p:sp>
        <p:nvSpPr>
          <p:cNvPr id="7" name="TextBox 6"/>
          <p:cNvSpPr txBox="1"/>
          <p:nvPr/>
        </p:nvSpPr>
        <p:spPr>
          <a:xfrm>
            <a:off x="731520" y="4114800"/>
            <a:ext cx="10698480" cy="1097280"/>
          </a:xfrm>
          <a:prstGeom prst="rect">
            <a:avLst/>
          </a:prstGeom>
          <a:noFill/>
        </p:spPr>
        <p:txBody>
          <a:bodyPr wrap="square">
            <a:spAutoFit/>
          </a:bodyPr>
          <a:lstStyle/>
          <a:p>
            <a:pPr algn="l"/>
            <a:r>
              <a:rPr sz="1500" b="0">
                <a:solidFill>
                  <a:srgbClr val="5A6672"/>
                </a:solidFill>
                <a:latin typeface="맑은 고딕"/>
                <a:ea typeface="맑은 고딕"/>
              </a:rPr>
              <a:t>응답시간 vs 처리량 · DB Time · 도구 지도(V$·AWR·ADDM·ASH·Advisor) · 관리 팩 라이선스</a:t>
            </a:r>
          </a:p>
        </p:txBody>
      </p:sp>
      <p:sp>
        <p:nvSpPr>
          <p:cNvPr id="8" name="TextBox 7"/>
          <p:cNvSpPr txBox="1"/>
          <p:nvPr/>
        </p:nvSpPr>
        <p:spPr>
          <a:xfrm>
            <a:off x="731520" y="5577840"/>
            <a:ext cx="10698480" cy="914400"/>
          </a:xfrm>
          <a:prstGeom prst="rect">
            <a:avLst/>
          </a:prstGeom>
          <a:noFill/>
        </p:spPr>
        <p:txBody>
          <a:bodyPr wrap="square">
            <a:spAutoFit/>
          </a:bodyPr>
          <a:lstStyle/>
          <a:p>
            <a:pPr algn="l"/>
            <a:r>
              <a:rPr sz="2000" b="1">
                <a:solidFill>
                  <a:srgbClr val="C0392B"/>
                </a:solidFill>
                <a:latin typeface="맑은 고딕"/>
                <a:ea typeface="맑은 고딕"/>
              </a:rPr>
              <a:t>ch15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600"/>
              </a:spcAft>
            </a:pPr>
            <a:r>
              <a:rPr sz="1600" b="0">
                <a:solidFill>
                  <a:srgbClr val="222222"/>
                </a:solidFill>
                <a:latin typeface="맑은 고딕"/>
                <a:ea typeface="맑은 고딕"/>
              </a:rPr>
              <a:t>•  응답시간과 처리량을 구분하고, 성능 목표를 정성 표현이 아니라 수치로 정의한다.</a:t>
            </a:r>
          </a:p>
          <a:p>
            <a:pPr algn="l">
              <a:spcAft>
                <a:spcPts val="600"/>
              </a:spcAft>
            </a:pPr>
            <a:r>
              <a:rPr sz="1600" b="0">
                <a:solidFill>
                  <a:srgbClr val="222222"/>
                </a:solidFill>
                <a:latin typeface="맑은 고딕"/>
                <a:ea typeface="맑은 고딕"/>
              </a:rPr>
              <a:t>•  튜닝이 필요한 시점을 사전 예방적 모니터링과 병목 제거로 판단한다.</a:t>
            </a:r>
          </a:p>
          <a:p>
            <a:pPr algn="l">
              <a:spcAft>
                <a:spcPts val="600"/>
              </a:spcAft>
            </a:pPr>
            <a:r>
              <a:rPr sz="1600" b="0">
                <a:solidFill>
                  <a:srgbClr val="222222"/>
                </a:solidFill>
                <a:latin typeface="맑은 고딕"/>
                <a:ea typeface="맑은 고딕"/>
              </a:rPr>
              <a:t>•  증상과 원인을 혼동하지 않고, 대기 이벤트에서 원인으로 좁혀 들어간다.</a:t>
            </a:r>
          </a:p>
          <a:p>
            <a:pPr algn="l">
              <a:spcAft>
                <a:spcPts val="600"/>
              </a:spcAft>
            </a:pPr>
            <a:r>
              <a:rPr sz="1600" b="0">
                <a:solidFill>
                  <a:srgbClr val="222222"/>
                </a:solidFill>
                <a:latin typeface="맑은 고딕"/>
                <a:ea typeface="맑은 고딕"/>
              </a:rPr>
              <a:t>•  DB Time이 이 과정의 공통 화폐임을 이해하고 실측으로 확인한다.</a:t>
            </a:r>
          </a:p>
          <a:p>
            <a:pPr algn="l">
              <a:spcAft>
                <a:spcPts val="600"/>
              </a:spcAft>
            </a:pPr>
            <a:r>
              <a:rPr sz="1600" b="0">
                <a:solidFill>
                  <a:srgbClr val="222222"/>
                </a:solidFill>
                <a:latin typeface="맑은 고딕"/>
                <a:ea typeface="맑은 고딕"/>
              </a:rPr>
              <a:t>•  성능 도구 지도(V$·AWR·ADDM·ASH·Advisor)를 그리고 상황별로 고른다.</a:t>
            </a:r>
          </a:p>
          <a:p>
            <a:pPr algn="l">
              <a:spcAft>
                <a:spcPts val="600"/>
              </a:spcAft>
            </a:pPr>
            <a:r>
              <a:rPr sz="1600" b="0">
                <a:solidFill>
                  <a:srgbClr val="222222"/>
                </a:solidFill>
                <a:latin typeface="맑은 고딕"/>
                <a:ea typeface="맑은 고딕"/>
              </a:rPr>
              <a:t>•  관리 팩 라이선스(Diagnostics/Tuning Pack)의 경계와 확인 방법을 안다.</a:t>
            </a:r>
          </a:p>
          <a:p>
            <a:pPr algn="l">
              <a:spcAft>
                <a:spcPts val="600"/>
              </a:spcAft>
            </a:pPr>
            <a:r>
              <a:rPr sz="1600" b="0">
                <a:solidFill>
                  <a:srgbClr val="222222"/>
                </a:solidFill>
                <a:latin typeface="맑은 고딕"/>
                <a:ea typeface="맑은 고딕"/>
              </a:rPr>
              <a:t>•  라이선스가 없을 때의 대안 경로(V$ 직접 조회·Statspack)를 안다.</a:t>
            </a:r>
          </a:p>
          <a:p>
            <a:pPr algn="l">
              <a:spcAft>
                <a:spcPts val="600"/>
              </a:spcAft>
            </a:pPr>
            <a:r>
              <a:rPr sz="1600" b="0">
                <a:solidFill>
                  <a:srgbClr val="222222"/>
                </a:solidFill>
                <a:latin typeface="맑은 고딕"/>
                <a:ea typeface="맑은 고딕"/>
              </a:rPr>
              <a:t>•  히트율 신앙·권고 맹신·근거 없는 조치의 세 함정을 경계한다.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600"/>
              </a:spcAft>
            </a:pPr>
            <a:r>
              <a:rPr sz="1600" b="0">
                <a:solidFill>
                  <a:srgbClr val="222222"/>
                </a:solidFill>
                <a:latin typeface="맑은 고딕"/>
                <a:ea typeface="맑은 고딕"/>
              </a:rPr>
              <a:t>•  1.2  응답시간과 처리량 — 성능을 무엇으로 재는가</a:t>
            </a:r>
          </a:p>
          <a:p>
            <a:pPr algn="l">
              <a:spcAft>
                <a:spcPts val="600"/>
              </a:spcAft>
            </a:pPr>
            <a:r>
              <a:rPr sz="1600" b="0">
                <a:solidFill>
                  <a:srgbClr val="222222"/>
                </a:solidFill>
                <a:latin typeface="맑은 고딕"/>
                <a:ea typeface="맑은 고딕"/>
              </a:rPr>
              <a:t>•  1.3  튜닝이 필요한 시점 — 언제 손대는가</a:t>
            </a:r>
          </a:p>
          <a:p>
            <a:pPr algn="l">
              <a:spcAft>
                <a:spcPts val="600"/>
              </a:spcAft>
            </a:pPr>
            <a:r>
              <a:rPr sz="1600" b="0">
                <a:solidFill>
                  <a:srgbClr val="222222"/>
                </a:solidFill>
                <a:latin typeface="맑은 고딕"/>
                <a:ea typeface="맑은 고딕"/>
              </a:rPr>
              <a:t>•  1.4  DB Time — 이 과정의 공통 화폐</a:t>
            </a:r>
          </a:p>
          <a:p>
            <a:pPr algn="l">
              <a:spcAft>
                <a:spcPts val="600"/>
              </a:spcAft>
            </a:pPr>
            <a:r>
              <a:rPr sz="1600" b="0">
                <a:solidFill>
                  <a:srgbClr val="222222"/>
                </a:solidFill>
                <a:latin typeface="맑은 고딕"/>
                <a:ea typeface="맑은 고딕"/>
              </a:rPr>
              <a:t>•  1.5  성능 도구 지도 — 무엇을 언제 쓰는가</a:t>
            </a:r>
          </a:p>
          <a:p>
            <a:pPr algn="l">
              <a:spcAft>
                <a:spcPts val="600"/>
              </a:spcAft>
            </a:pPr>
            <a:r>
              <a:rPr sz="1600" b="0">
                <a:solidFill>
                  <a:srgbClr val="222222"/>
                </a:solidFill>
                <a:latin typeface="맑은 고딕"/>
                <a:ea typeface="맑은 고딕"/>
              </a:rPr>
              <a:t>•  1.6  관리 팩 라이선스 — 무심코 쓰면 위반이다</a:t>
            </a:r>
          </a:p>
          <a:p>
            <a:pPr algn="l">
              <a:spcAft>
                <a:spcPts val="600"/>
              </a:spcAft>
            </a:pPr>
            <a:r>
              <a:rPr sz="1600" b="0">
                <a:solidFill>
                  <a:srgbClr val="222222"/>
                </a:solidFill>
                <a:latin typeface="맑은 고딕"/>
                <a:ea typeface="맑은 고딕"/>
              </a:rPr>
              <a:t>•  1.7  튜닝 목표를 수치로 정의하는 법</a:t>
            </a:r>
          </a:p>
          <a:p>
            <a:pPr algn="l">
              <a:spcAft>
                <a:spcPts val="600"/>
              </a:spcAft>
            </a:pPr>
            <a:r>
              <a:rPr sz="1600" b="0">
                <a:solidFill>
                  <a:srgbClr val="222222"/>
                </a:solidFill>
                <a:latin typeface="맑은 고딕"/>
                <a:ea typeface="맑은 고딕"/>
              </a:rPr>
              <a:t>•  1.8  세 가지 경계 — 이 과정의 태도</a:t>
            </a:r>
          </a:p>
          <a:p>
            <a:pPr algn="l">
              <a:spcAft>
                <a:spcPts val="600"/>
              </a:spcAft>
            </a:pPr>
            <a:r>
              <a:rPr sz="1600" b="0">
                <a:solidFill>
                  <a:srgbClr val="222222"/>
                </a:solidFill>
                <a:latin typeface="맑은 고딕"/>
                <a:ea typeface="맑은 고딕"/>
              </a:rPr>
              <a:t>•  ※ ADMIN 31장의 AWR·ADDM 개념 소개를 판독·실무 적용으로 확장한다(non-CDB orcl 19.3).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r>
              <a:rPr sz="4000" b="1">
                <a:solidFill>
                  <a:srgbClr val="FFFFFF"/>
                </a:solidFill>
                <a:latin typeface="맑은 고딕"/>
                <a:ea typeface="맑은 고딕"/>
              </a:rPr>
              <a:t>1.2</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rPr>
              <a:t>응답시간과 처리량</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400"/>
              </a:spcAft>
            </a:pPr>
            <a:r>
              <a:rPr sz="1600" b="0">
                <a:solidFill>
                  <a:srgbClr val="FFFFFF"/>
                </a:solidFill>
                <a:latin typeface="맑은 고딕"/>
                <a:ea typeface="맑은 고딕"/>
              </a:rPr>
              <a:t>•  성능을 재는 두 축</a:t>
            </a:r>
          </a:p>
          <a:p>
            <a:pPr algn="l">
              <a:spcAft>
                <a:spcPts val="400"/>
              </a:spcAft>
            </a:pPr>
            <a:r>
              <a:rPr sz="1600" b="0">
                <a:solidFill>
                  <a:srgbClr val="FFFFFF"/>
                </a:solidFill>
                <a:latin typeface="맑은 고딕"/>
                <a:ea typeface="맑은 고딕"/>
              </a:rPr>
              <a:t>•  응답시간=서비스+대기 / 처리량=단위시간당 작업</a:t>
            </a:r>
          </a:p>
          <a:p>
            <a:pPr algn="l">
              <a:spcAft>
                <a:spcPts val="400"/>
              </a:spcAft>
            </a:pPr>
            <a:r>
              <a:rPr sz="1600" b="0">
                <a:solidFill>
                  <a:srgbClr val="FFFFFF"/>
                </a:solidFill>
                <a:latin typeface="맑은 고딕"/>
                <a:ea typeface="맑은 고딕"/>
              </a:rPr>
              <a:t>•  둘은 종종 상충한다</a:t>
            </a:r>
          </a:p>
          <a:p>
            <a:pPr algn="l">
              <a:spcAft>
                <a:spcPts val="400"/>
              </a:spcAft>
            </a:pPr>
            <a:r>
              <a:rPr sz="1600" b="0">
                <a:solidFill>
                  <a:srgbClr val="FFFFFF"/>
                </a:solidFill>
                <a:latin typeface="맑은 고딕"/>
                <a:ea typeface="맑은 고딕"/>
              </a:rPr>
              <a:t>•  V$SYSMETRIC 실측</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응답시간(Response Time)</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한 요청이 시작되어 끝날 때까지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rPr>
              <a:t>•  응답시간 = 서비스 시간(CPU) + 대기 시간(자원을 기다린 시간)</a:t>
            </a:r>
          </a:p>
          <a:p>
            <a:pPr algn="l">
              <a:spcAft>
                <a:spcPts val="800"/>
              </a:spcAft>
            </a:pPr>
            <a:r>
              <a:rPr sz="1700" b="0">
                <a:solidFill>
                  <a:srgbClr val="222222"/>
                </a:solidFill>
                <a:latin typeface="맑은 고딕"/>
                <a:ea typeface="맑은 고딕"/>
              </a:rPr>
              <a:t>•  사용자 체감 성능은 대부분 응답시간으로 나타난다</a:t>
            </a:r>
          </a:p>
          <a:p>
            <a:pPr algn="l">
              <a:spcAft>
                <a:spcPts val="800"/>
              </a:spcAft>
            </a:pPr>
            <a:r>
              <a:rPr sz="1700" b="0">
                <a:solidFill>
                  <a:srgbClr val="222222"/>
                </a:solidFill>
                <a:latin typeface="맑은 고딕"/>
                <a:ea typeface="맑은 고딕"/>
              </a:rPr>
              <a:t>•  인스턴스 튜닝은 대개 대기 시간을 줄이는 데 집중한다</a:t>
            </a:r>
          </a:p>
          <a:p>
            <a:pPr algn="l">
              <a:spcAft>
                <a:spcPts val="800"/>
              </a:spcAft>
            </a:pPr>
            <a:r>
              <a:rPr sz="1700" b="0">
                <a:solidFill>
                  <a:srgbClr val="222222"/>
                </a:solidFill>
                <a:latin typeface="맑은 고딕"/>
                <a:ea typeface="맑은 고딕"/>
              </a:rPr>
              <a:t>•  목표는 평균이 아니라 백분위수(95/99퍼센타일)로 표현한다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처리량(Throughput)</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단위 시간당 완료한 작업의 양</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rPr>
              <a:t>•  초당 트랜잭션 수(TPS)·초당 실행 수·시간당 처리 건수로 표현</a:t>
            </a:r>
          </a:p>
          <a:p>
            <a:pPr algn="l">
              <a:spcAft>
                <a:spcPts val="800"/>
              </a:spcAft>
            </a:pPr>
            <a:r>
              <a:rPr sz="1700" b="0">
                <a:solidFill>
                  <a:srgbClr val="222222"/>
                </a:solidFill>
                <a:latin typeface="맑은 고딕"/>
                <a:ea typeface="맑은 고딕"/>
              </a:rPr>
              <a:t>•  배치·데이터 웨어하우스에서 핵심 지표가 된다</a:t>
            </a:r>
          </a:p>
          <a:p>
            <a:pPr algn="l">
              <a:spcAft>
                <a:spcPts val="800"/>
              </a:spcAft>
            </a:pPr>
            <a:r>
              <a:rPr sz="1700" b="0">
                <a:solidFill>
                  <a:srgbClr val="222222"/>
                </a:solidFill>
                <a:latin typeface="맑은 고딕"/>
                <a:ea typeface="맑은 고딕"/>
              </a:rPr>
              <a:t>•  V$SYSMETRIC의 User Transaction Per Sec·Executions Per Sec</a:t>
            </a:r>
          </a:p>
          <a:p>
            <a:pPr algn="l">
              <a:spcAft>
                <a:spcPts val="800"/>
              </a:spcAft>
            </a:pPr>
            <a:r>
              <a:rPr sz="1700" b="0">
                <a:solidFill>
                  <a:srgbClr val="222222"/>
                </a:solidFill>
                <a:latin typeface="맑은 고딕"/>
                <a:ea typeface="맑은 고딕"/>
              </a:rPr>
              <a:t>•  '한 건이 빠른가'가 아니라 '정해진 시간에 얼마나 많이'가 관건</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두 지표는 종종 상충한다</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워크로드 성격에 따라 우선순위</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rPr>
              <a:t>•  배열 크기를 키우면 처리량↑ 응답시간↑(개별 요청은 느려질 수 있음)</a:t>
            </a:r>
          </a:p>
          <a:p>
            <a:pPr algn="l">
              <a:spcAft>
                <a:spcPts val="800"/>
              </a:spcAft>
            </a:pPr>
            <a:r>
              <a:rPr sz="1700" b="0">
                <a:solidFill>
                  <a:srgbClr val="222222"/>
                </a:solidFill>
                <a:latin typeface="맑은 고딕"/>
                <a:ea typeface="맑은 고딕"/>
              </a:rPr>
              <a:t>•  특정 세션에 자원을 몰면 응답시간↓ 전체 처리량↓</a:t>
            </a:r>
          </a:p>
          <a:p>
            <a:pPr algn="l">
              <a:spcAft>
                <a:spcPts val="800"/>
              </a:spcAft>
            </a:pPr>
            <a:r>
              <a:rPr sz="1700" b="0">
                <a:solidFill>
                  <a:srgbClr val="222222"/>
                </a:solidFill>
                <a:latin typeface="맑은 고딕"/>
                <a:ea typeface="맑은 고딕"/>
              </a:rPr>
              <a:t>•  OLTP는 응답시간 우선, 배치·DW는 처리량 우선</a:t>
            </a:r>
          </a:p>
          <a:p>
            <a:pPr algn="l">
              <a:spcAft>
                <a:spcPts val="800"/>
              </a:spcAft>
            </a:pPr>
            <a:r>
              <a:rPr sz="1700" b="0">
                <a:solidFill>
                  <a:srgbClr val="222222"/>
                </a:solidFill>
                <a:latin typeface="맑은 고딕"/>
                <a:ea typeface="맑은 고딕"/>
              </a:rPr>
              <a:t>•  목표는 워크로드별로 우선순위를 정해 세운다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V$SYSMETRIC 실측 — 무부하 시 0</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응답시간·처리량 대표 메트릭 (최근 60초)</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l"/>
            <a:r>
              <a:rPr sz="1250">
                <a:solidFill>
                  <a:srgbClr val="F2F2F2"/>
                </a:solidFill>
                <a:latin typeface="Consolas"/>
                <a:ea typeface="Consolas"/>
              </a:rPr>
              <a:t>SYS@orcl&gt; SELECT metric_name, ROUND(value,2) value, metric_unit</a:t>
            </a:r>
          </a:p>
          <a:p>
            <a:pPr algn="l"/>
            <a:r>
              <a:rPr sz="1250">
                <a:solidFill>
                  <a:srgbClr val="F2F2F2"/>
                </a:solidFill>
                <a:latin typeface="Consolas"/>
                <a:ea typeface="Consolas"/>
              </a:rPr>
              <a:t>  2       FROM v$sysmetric WHERE intsize_csec BETWEEN 5900 AND 6100</a:t>
            </a:r>
          </a:p>
          <a:p>
            <a:pPr algn="l"/>
            <a:r>
              <a:rPr sz="1250">
                <a:solidFill>
                  <a:srgbClr val="F2F2F2"/>
                </a:solidFill>
                <a:latin typeface="Consolas"/>
                <a:ea typeface="Consolas"/>
              </a:rPr>
              <a:t>  3         AND metric_name IN ('Average Active Sessions',</a:t>
            </a:r>
          </a:p>
          <a:p>
            <a:pPr algn="l"/>
            <a:r>
              <a:rPr sz="1250">
                <a:solidFill>
                  <a:srgbClr val="F2F2F2"/>
                </a:solidFill>
                <a:latin typeface="Consolas"/>
                <a:ea typeface="Consolas"/>
              </a:rPr>
              <a:t>  4         'Executions Per Sec','Response Time Per Txn', ...);</a:t>
            </a:r>
          </a:p>
          <a:p>
            <a:pPr algn="l"/>
            <a:r>
              <a:rPr sz="1250">
                <a:solidFill>
                  <a:srgbClr val="F2F2F2"/>
                </a:solidFill>
                <a:latin typeface="Consolas"/>
                <a:ea typeface="Consolas"/>
              </a:rPr>
              <a:t> </a:t>
            </a:r>
          </a:p>
          <a:p>
            <a:pPr algn="l"/>
            <a:r>
              <a:rPr sz="1250">
                <a:solidFill>
                  <a:srgbClr val="F2F2F2"/>
                </a:solidFill>
                <a:latin typeface="Consolas"/>
                <a:ea typeface="Consolas"/>
              </a:rPr>
              <a:t>METRIC_NAME                    VALUE METRIC_UNIT</a:t>
            </a:r>
          </a:p>
          <a:p>
            <a:pPr algn="l"/>
            <a:r>
              <a:rPr sz="1250">
                <a:solidFill>
                  <a:srgbClr val="F2F2F2"/>
                </a:solidFill>
                <a:latin typeface="Consolas"/>
                <a:ea typeface="Consolas"/>
              </a:rPr>
              <a:t>------------------------------ ----- ----------------------</a:t>
            </a:r>
          </a:p>
          <a:p>
            <a:pPr algn="l"/>
            <a:r>
              <a:rPr sz="1250">
                <a:solidFill>
                  <a:srgbClr val="F2F2F2"/>
                </a:solidFill>
                <a:latin typeface="Consolas"/>
                <a:ea typeface="Consolas"/>
              </a:rPr>
              <a:t>Average Active Sessions            0 Active Sessions</a:t>
            </a:r>
          </a:p>
          <a:p>
            <a:pPr algn="l"/>
            <a:r>
              <a:rPr sz="1250">
                <a:solidFill>
                  <a:srgbClr val="F2F2F2"/>
                </a:solidFill>
                <a:latin typeface="Consolas"/>
                <a:ea typeface="Consolas"/>
              </a:rPr>
              <a:t>Database Time Per Sec              0 CentiSeconds Per Second</a:t>
            </a:r>
          </a:p>
          <a:p>
            <a:pPr algn="l"/>
            <a:r>
              <a:rPr sz="1250">
                <a:solidFill>
                  <a:srgbClr val="F2F2F2"/>
                </a:solidFill>
                <a:latin typeface="Consolas"/>
                <a:ea typeface="Consolas"/>
              </a:rPr>
              <a:t>Executions Per Sec              0.36 Executes Per Second</a:t>
            </a:r>
          </a:p>
          <a:p>
            <a:pPr algn="l"/>
            <a:r>
              <a:rPr sz="1250">
                <a:solidFill>
                  <a:srgbClr val="F2F2F2"/>
                </a:solidFill>
                <a:latin typeface="Consolas"/>
                <a:ea typeface="Consolas"/>
              </a:rPr>
              <a:t>Response Time Per Txn              0 CentiSeconds Per Txn</a:t>
            </a:r>
          </a:p>
          <a:p>
            <a:pPr algn="l"/>
            <a:r>
              <a:rPr sz="1250">
                <a:solidFill>
                  <a:srgbClr val="F2F2F2"/>
                </a:solidFill>
                <a:latin typeface="Consolas"/>
                <a:ea typeface="Consolas"/>
              </a:rPr>
              <a:t>User Transaction Per Sec           0 Transactions Per Second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r>
              <a:rPr sz="4000" b="1">
                <a:solidFill>
                  <a:srgbClr val="FFFFFF"/>
                </a:solidFill>
                <a:latin typeface="맑은 고딕"/>
                <a:ea typeface="맑은 고딕"/>
              </a:rPr>
              <a:t>1.3</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rPr>
              <a:t>튜닝이 필요한 시점</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400"/>
              </a:spcAft>
            </a:pPr>
            <a:r>
              <a:rPr sz="1600" b="0">
                <a:solidFill>
                  <a:srgbClr val="FFFFFF"/>
                </a:solidFill>
                <a:latin typeface="맑은 고딕"/>
                <a:ea typeface="맑은 고딕"/>
              </a:rPr>
              <a:t>•  사전 예방적 모니터링</a:t>
            </a:r>
          </a:p>
          <a:p>
            <a:pPr algn="l">
              <a:spcAft>
                <a:spcPts val="400"/>
              </a:spcAft>
            </a:pPr>
            <a:r>
              <a:rPr sz="1600" b="0">
                <a:solidFill>
                  <a:srgbClr val="FFFFFF"/>
                </a:solidFill>
                <a:latin typeface="맑은 고딕"/>
                <a:ea typeface="맑은 고딕"/>
              </a:rPr>
              <a:t>•  병목 제거</a:t>
            </a:r>
          </a:p>
          <a:p>
            <a:pPr algn="l">
              <a:spcAft>
                <a:spcPts val="400"/>
              </a:spcAft>
            </a:pPr>
            <a:r>
              <a:rPr sz="1600" b="0">
                <a:solidFill>
                  <a:srgbClr val="FFFFFF"/>
                </a:solidFill>
                <a:latin typeface="맑은 고딕"/>
                <a:ea typeface="맑은 고딕"/>
              </a:rPr>
              <a:t>•  증상과 원인의 구분</a:t>
            </a:r>
          </a:p>
          <a:p>
            <a:pPr algn="l">
              <a:spcAft>
                <a:spcPts val="400"/>
              </a:spcAft>
            </a:pPr>
            <a:r>
              <a:rPr sz="1600" b="0">
                <a:solidFill>
                  <a:srgbClr val="FFFFFF"/>
                </a:solidFill>
                <a:latin typeface="맑은 고딕"/>
                <a:ea typeface="맑은 고딕"/>
              </a:rPr>
              <a:t>•  확장성과 용량 계획</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사전 예방적 모니터링</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Proactive Monitoring</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rPr>
              <a:t>•  정해진 주기로 통계를 관찰해 동작·자원 사용 변화를 확인</a:t>
            </a:r>
          </a:p>
          <a:p>
            <a:pPr algn="l">
              <a:spcAft>
                <a:spcPts val="800"/>
              </a:spcAft>
            </a:pPr>
            <a:r>
              <a:rPr sz="1700" b="0">
                <a:solidFill>
                  <a:srgbClr val="222222"/>
                </a:solidFill>
                <a:latin typeface="맑은 고딕"/>
                <a:ea typeface="맑은 고딕"/>
              </a:rPr>
              <a:t>•  대개 구성 변경으로 이어지지 않는다</a:t>
            </a:r>
          </a:p>
          <a:p>
            <a:pPr algn="l">
              <a:spcAft>
                <a:spcPts val="800"/>
              </a:spcAft>
            </a:pPr>
            <a:r>
              <a:rPr sz="1700" b="0">
                <a:solidFill>
                  <a:srgbClr val="222222"/>
                </a:solidFill>
                <a:latin typeface="맑은 고딕"/>
                <a:ea typeface="맑은 고딕"/>
              </a:rPr>
              <a:t>•  성능 저하가 없는데 근거 없이 만지는 것은 위험한 도박</a:t>
            </a:r>
          </a:p>
          <a:p>
            <a:pPr algn="l">
              <a:spcAft>
                <a:spcPts val="800"/>
              </a:spcAft>
            </a:pPr>
            <a:r>
              <a:rPr sz="1700" b="0">
                <a:solidFill>
                  <a:srgbClr val="222222"/>
                </a:solidFill>
                <a:latin typeface="맑은 고딕"/>
                <a:ea typeface="맑은 고딕"/>
              </a:rPr>
              <a:t>•  그런 조작은 사후 대응의 규율(캡처→조치→재측정)을 따라야 한다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병목 제거</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Bottleneck Elimination</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rPr>
              <a:t>•  성능 문제는 특정 자원의 과다 사용에서 온다 = 병목</a:t>
            </a:r>
          </a:p>
          <a:p>
            <a:pPr algn="l">
              <a:spcAft>
                <a:spcPts val="800"/>
              </a:spcAft>
            </a:pPr>
            <a:r>
              <a:rPr sz="1700" b="0">
                <a:solidFill>
                  <a:srgbClr val="222222"/>
                </a:solidFill>
                <a:latin typeface="맑은 고딕"/>
                <a:ea typeface="맑은 고딕"/>
              </a:rPr>
              <a:t>•  가장 큰 병목 '하나'를 찾아 그 영향을 줄인다</a:t>
            </a:r>
          </a:p>
          <a:p>
            <a:pPr algn="l">
              <a:spcAft>
                <a:spcPts val="800"/>
              </a:spcAft>
            </a:pPr>
            <a:r>
              <a:rPr sz="1700" b="0">
                <a:solidFill>
                  <a:srgbClr val="222222"/>
                </a:solidFill>
                <a:latin typeface="맑은 고딕"/>
                <a:ea typeface="맑은 고딕"/>
              </a:rPr>
              <a:t>•  여러 개를 동시에 건드리면 인과를 잃는다</a:t>
            </a:r>
          </a:p>
          <a:p>
            <a:pPr algn="l">
              <a:spcAft>
                <a:spcPts val="800"/>
              </a:spcAft>
            </a:pPr>
            <a:r>
              <a:rPr sz="1700" b="0">
                <a:solidFill>
                  <a:srgbClr val="222222"/>
                </a:solidFill>
                <a:latin typeface="맑은 고딕"/>
                <a:ea typeface="맑은 고딕"/>
              </a:rPr>
              <a:t>•  고칠 곳은 셋: 애플리케이션 / 오라클 구성 / 호스트 하드웨어</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증상과 원인을 혼동하지 않기</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The Symptoms and the Problems</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rPr>
              <a:t>•  많은 성능 통계는 원인이 아니라 증상을 가리킨다</a:t>
            </a:r>
          </a:p>
          <a:p>
            <a:pPr algn="l">
              <a:spcAft>
                <a:spcPts val="800"/>
              </a:spcAft>
            </a:pPr>
            <a:r>
              <a:rPr sz="1700" b="0">
                <a:solidFill>
                  <a:srgbClr val="222222"/>
                </a:solidFill>
                <a:latin typeface="맑은 고딕"/>
                <a:ea typeface="맑은 고딕"/>
              </a:rPr>
              <a:t>•  물리 I/O 느림 → 디스크? 아니면 나쁜 SQL의 과다 I/O?</a:t>
            </a:r>
          </a:p>
          <a:p>
            <a:pPr algn="l">
              <a:spcAft>
                <a:spcPts val="800"/>
              </a:spcAft>
            </a:pPr>
            <a:r>
              <a:rPr sz="1700" b="0">
                <a:solidFill>
                  <a:srgbClr val="222222"/>
                </a:solidFill>
                <a:latin typeface="맑은 고딕"/>
                <a:ea typeface="맑은 고딕"/>
              </a:rPr>
              <a:t>•  래치 경합은 대개 애플리케이션 변경으로 해소</a:t>
            </a:r>
          </a:p>
          <a:p>
            <a:pPr algn="l">
              <a:spcAft>
                <a:spcPts val="800"/>
              </a:spcAft>
            </a:pPr>
            <a:r>
              <a:rPr sz="1700" b="0">
                <a:solidFill>
                  <a:srgbClr val="222222"/>
                </a:solidFill>
                <a:latin typeface="맑은 고딕"/>
                <a:ea typeface="맑은 고딕"/>
              </a:rPr>
              <a:t>•  증상(대기)에서 원인(세그먼트·세션·SQL)으로 좁혀 들어간다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확장성과 용량 계획</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튜닝의 배경</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rPr>
              <a:t>•  확장성: 자원을 늘린 만큼 처리 능력이 비례해 느는 성질</a:t>
            </a:r>
          </a:p>
          <a:p>
            <a:pPr algn="l">
              <a:spcAft>
                <a:spcPts val="800"/>
              </a:spcAft>
            </a:pPr>
            <a:r>
              <a:rPr sz="1700" b="0">
                <a:solidFill>
                  <a:srgbClr val="222222"/>
                </a:solidFill>
                <a:latin typeface="맑은 고딕"/>
                <a:ea typeface="맑은 고딕"/>
              </a:rPr>
              <a:t>•  경합 때문에 자원 사용이 두 배를 넘는 경우가 많다</a:t>
            </a:r>
          </a:p>
          <a:p>
            <a:pPr algn="l">
              <a:spcAft>
                <a:spcPts val="800"/>
              </a:spcAft>
            </a:pPr>
            <a:r>
              <a:rPr sz="1700" b="0">
                <a:solidFill>
                  <a:srgbClr val="222222"/>
                </a:solidFill>
                <a:latin typeface="맑은 고딕"/>
                <a:ea typeface="맑은 고딕"/>
              </a:rPr>
              <a:t>•  확장성을 떨어뜨리는 최대 원인은 애플리케이션 설계</a:t>
            </a:r>
          </a:p>
          <a:p>
            <a:pPr algn="l">
              <a:spcAft>
                <a:spcPts val="800"/>
              </a:spcAft>
            </a:pPr>
            <a:r>
              <a:rPr sz="1700" b="0">
                <a:solidFill>
                  <a:srgbClr val="222222"/>
                </a:solidFill>
                <a:latin typeface="맑은 고딕"/>
                <a:ea typeface="맑은 고딕"/>
              </a:rPr>
              <a:t>•  설계에서 심어진 한계는 하드웨어로 넘지 못한다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r>
              <a:rPr sz="4000" b="1">
                <a:solidFill>
                  <a:srgbClr val="FFFFFF"/>
                </a:solidFill>
                <a:latin typeface="맑은 고딕"/>
                <a:ea typeface="맑은 고딕"/>
              </a:rPr>
              <a:t>1.4</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rPr>
              <a:t>DB Time — 공통 화폐</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400"/>
              </a:spcAft>
            </a:pPr>
            <a:r>
              <a:rPr sz="1600" b="0">
                <a:solidFill>
                  <a:srgbClr val="FFFFFF"/>
                </a:solidFill>
                <a:latin typeface="맑은 고딕"/>
                <a:ea typeface="맑은 고딕"/>
              </a:rPr>
              <a:t>•  이질적 문제를 하나의 저울로</a:t>
            </a:r>
          </a:p>
          <a:p>
            <a:pPr algn="l">
              <a:spcAft>
                <a:spcPts val="400"/>
              </a:spcAft>
            </a:pPr>
            <a:r>
              <a:rPr sz="1600" b="0">
                <a:solidFill>
                  <a:srgbClr val="FFFFFF"/>
                </a:solidFill>
                <a:latin typeface="맑은 고딕"/>
                <a:ea typeface="맑은 고딕"/>
              </a:rPr>
              <a:t>•  DB Time = DB CPU + 대기</a:t>
            </a:r>
          </a:p>
          <a:p>
            <a:pPr algn="l">
              <a:spcAft>
                <a:spcPts val="400"/>
              </a:spcAft>
            </a:pPr>
            <a:r>
              <a:rPr sz="1600" b="0">
                <a:solidFill>
                  <a:srgbClr val="FFFFFF"/>
                </a:solidFill>
                <a:latin typeface="맑은 고딕"/>
                <a:ea typeface="맑은 고딕"/>
              </a:rPr>
              <a:t>•  실측: CPU 약 17.5%</a:t>
            </a:r>
          </a:p>
          <a:p>
            <a:pPr algn="l">
              <a:spcAft>
                <a:spcPts val="400"/>
              </a:spcAft>
            </a:pPr>
            <a:r>
              <a:rPr sz="1600" b="0">
                <a:solidFill>
                  <a:srgbClr val="FFFFFF"/>
                </a:solidFill>
                <a:latin typeface="맑은 고딕"/>
                <a:ea typeface="맑은 고딕"/>
              </a:rPr>
              <a:t>•  Average Active Sessions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DB Time이란 무엇인가</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AWR·ADDM이 성능을 재는 공통 화폐</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rPr>
              <a:t>•  DB Time = 모든 활성 세션의 CPU 시간 + 대기 시간의 합</a:t>
            </a:r>
          </a:p>
          <a:p>
            <a:pPr algn="l">
              <a:spcAft>
                <a:spcPts val="800"/>
              </a:spcAft>
            </a:pPr>
            <a:r>
              <a:rPr sz="1700" b="0">
                <a:solidFill>
                  <a:srgbClr val="222222"/>
                </a:solidFill>
                <a:latin typeface="맑은 고딕"/>
                <a:ea typeface="맑은 고딕"/>
              </a:rPr>
              <a:t>•  벽시계 시간이 아니라 세션 시간의 합(세션 10개×1초=10초)</a:t>
            </a:r>
          </a:p>
          <a:p>
            <a:pPr algn="l">
              <a:spcAft>
                <a:spcPts val="800"/>
              </a:spcAft>
            </a:pPr>
            <a:r>
              <a:rPr sz="1700" b="0">
                <a:solidFill>
                  <a:srgbClr val="222222"/>
                </a:solidFill>
                <a:latin typeface="맑은 고딕"/>
                <a:ea typeface="맑은 고딕"/>
              </a:rPr>
              <a:t>•  성능 개선 = 같은 워크로드의 DB Time을 줄이는 것</a:t>
            </a:r>
          </a:p>
          <a:p>
            <a:pPr algn="l">
              <a:spcAft>
                <a:spcPts val="800"/>
              </a:spcAft>
            </a:pPr>
            <a:r>
              <a:rPr sz="1700" b="0">
                <a:solidFill>
                  <a:srgbClr val="222222"/>
                </a:solidFill>
                <a:latin typeface="맑은 고딕"/>
                <a:ea typeface="맑은 고딕"/>
              </a:rPr>
              <a:t>•  이질적 문제도 'DB Time의 몇 %'로 환산해 비교·우선순위</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DB Time 구성 실측</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V$SYS_TIME_MODEL (누적, 마이크로초)</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l"/>
            <a:r>
              <a:rPr sz="1250">
                <a:solidFill>
                  <a:srgbClr val="F2F2F2"/>
                </a:solidFill>
                <a:latin typeface="Consolas"/>
                <a:ea typeface="Consolas"/>
              </a:rPr>
              <a:t>SYS@orcl&gt; SELECT stat_name, value FROM v$sys_time_model</a:t>
            </a:r>
          </a:p>
          <a:p>
            <a:pPr algn="l"/>
            <a:r>
              <a:rPr sz="1250">
                <a:solidFill>
                  <a:srgbClr val="F2F2F2"/>
                </a:solidFill>
                <a:latin typeface="Consolas"/>
                <a:ea typeface="Consolas"/>
              </a:rPr>
              <a:t>  2       WHERE stat_name IN ('DB time','DB CPU',</a:t>
            </a:r>
          </a:p>
          <a:p>
            <a:pPr algn="l"/>
            <a:r>
              <a:rPr sz="1250">
                <a:solidFill>
                  <a:srgbClr val="F2F2F2"/>
                </a:solidFill>
                <a:latin typeface="Consolas"/>
                <a:ea typeface="Consolas"/>
              </a:rPr>
              <a:t>  3         'sql execute elapsed time','parse time elapsed')</a:t>
            </a:r>
          </a:p>
          <a:p>
            <a:pPr algn="l"/>
            <a:r>
              <a:rPr sz="1250">
                <a:solidFill>
                  <a:srgbClr val="F2F2F2"/>
                </a:solidFill>
                <a:latin typeface="Consolas"/>
                <a:ea typeface="Consolas"/>
              </a:rPr>
              <a:t>  4       ORDER BY value DESC;</a:t>
            </a:r>
          </a:p>
          <a:p>
            <a:pPr algn="l"/>
            <a:r>
              <a:rPr sz="1250">
                <a:solidFill>
                  <a:srgbClr val="F2F2F2"/>
                </a:solidFill>
                <a:latin typeface="Consolas"/>
                <a:ea typeface="Consolas"/>
              </a:rPr>
              <a:t> </a:t>
            </a:r>
          </a:p>
          <a:p>
            <a:pPr algn="l"/>
            <a:r>
              <a:rPr sz="1250">
                <a:solidFill>
                  <a:srgbClr val="F2F2F2"/>
                </a:solidFill>
                <a:latin typeface="Consolas"/>
                <a:ea typeface="Consolas"/>
              </a:rPr>
              <a:t>STAT_NAME                          VALUE</a:t>
            </a:r>
          </a:p>
          <a:p>
            <a:pPr algn="l"/>
            <a:r>
              <a:rPr sz="1250">
                <a:solidFill>
                  <a:srgbClr val="F2F2F2"/>
                </a:solidFill>
                <a:latin typeface="Consolas"/>
                <a:ea typeface="Consolas"/>
              </a:rPr>
              <a:t>------------------------------ ----------</a:t>
            </a:r>
          </a:p>
          <a:p>
            <a:pPr algn="l"/>
            <a:r>
              <a:rPr sz="1250">
                <a:solidFill>
                  <a:srgbClr val="F2F2F2"/>
                </a:solidFill>
                <a:latin typeface="Consolas"/>
                <a:ea typeface="Consolas"/>
              </a:rPr>
              <a:t>DB time                          49551722</a:t>
            </a:r>
          </a:p>
          <a:p>
            <a:pPr algn="l"/>
            <a:r>
              <a:rPr sz="1250">
                <a:solidFill>
                  <a:srgbClr val="F2F2F2"/>
                </a:solidFill>
                <a:latin typeface="Consolas"/>
                <a:ea typeface="Consolas"/>
              </a:rPr>
              <a:t>sql execute elapsed time         12277777</a:t>
            </a:r>
          </a:p>
          <a:p>
            <a:pPr algn="l"/>
            <a:r>
              <a:rPr sz="1250">
                <a:solidFill>
                  <a:srgbClr val="F2F2F2"/>
                </a:solidFill>
                <a:latin typeface="Consolas"/>
                <a:ea typeface="Consolas"/>
              </a:rPr>
              <a:t>DB CPU                            8662345</a:t>
            </a:r>
          </a:p>
          <a:p>
            <a:pPr algn="l"/>
            <a:r>
              <a:rPr sz="1250">
                <a:solidFill>
                  <a:srgbClr val="F2F2F2"/>
                </a:solidFill>
                <a:latin typeface="Consolas"/>
                <a:ea typeface="Consolas"/>
              </a:rPr>
              <a:t>parse time elapsed               1935695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Average Active Sessions</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DB Time에서 파생되는 동시성 지표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rPr>
              <a:t>•  AAS = 구간 DB Time ÷ 구간 벽시계 경과 시간</a:t>
            </a:r>
          </a:p>
          <a:p>
            <a:pPr algn="l">
              <a:spcAft>
                <a:spcPts val="800"/>
              </a:spcAft>
            </a:pPr>
            <a:r>
              <a:rPr sz="1700" b="0">
                <a:solidFill>
                  <a:srgbClr val="222222"/>
                </a:solidFill>
                <a:latin typeface="맑은 고딕"/>
                <a:ea typeface="맑은 고딕"/>
              </a:rPr>
              <a:t>•  '평균 몇 개 세션이 동시에 일하고 있었는가'</a:t>
            </a:r>
          </a:p>
          <a:p>
            <a:pPr algn="l">
              <a:spcAft>
                <a:spcPts val="800"/>
              </a:spcAft>
            </a:pPr>
            <a:r>
              <a:rPr sz="1700" b="0">
                <a:solidFill>
                  <a:srgbClr val="222222"/>
                </a:solidFill>
                <a:latin typeface="맑은 고딕"/>
                <a:ea typeface="맑은 고딕"/>
              </a:rPr>
              <a:t>•  호스트 CPU 코어 수와 비교하면 붐빔을 직관적으로 파악</a:t>
            </a:r>
          </a:p>
          <a:p>
            <a:pPr algn="l">
              <a:spcAft>
                <a:spcPts val="800"/>
              </a:spcAft>
            </a:pPr>
            <a:r>
              <a:rPr sz="1700" b="0">
                <a:solidFill>
                  <a:srgbClr val="222222"/>
                </a:solidFill>
                <a:latin typeface="맑은 고딕"/>
                <a:ea typeface="맑은 고딕"/>
              </a:rPr>
              <a:t>•  코어 4개인데 AAS 8이면 감당량의 두 배가 경쟁 중</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r>
              <a:rPr sz="4000" b="1">
                <a:solidFill>
                  <a:srgbClr val="FFFFFF"/>
                </a:solidFill>
                <a:latin typeface="맑은 고딕"/>
                <a:ea typeface="맑은 고딕"/>
              </a:rPr>
              <a:t>1.5</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rPr>
              <a:t>성능 도구 지도</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400"/>
              </a:spcAft>
            </a:pPr>
            <a:r>
              <a:rPr sz="1600" b="0">
                <a:solidFill>
                  <a:srgbClr val="FFFFFF"/>
                </a:solidFill>
                <a:latin typeface="맑은 고딕"/>
                <a:ea typeface="맑은 고딕"/>
              </a:rPr>
              <a:t>•  V$ · AWR · ADDM · ASH · Advisor</a:t>
            </a:r>
          </a:p>
          <a:p>
            <a:pPr algn="l">
              <a:spcAft>
                <a:spcPts val="400"/>
              </a:spcAft>
            </a:pPr>
            <a:r>
              <a:rPr sz="1600" b="0">
                <a:solidFill>
                  <a:srgbClr val="FFFFFF"/>
                </a:solidFill>
                <a:latin typeface="맑은 고딕"/>
                <a:ea typeface="맑은 고딕"/>
              </a:rPr>
              <a:t>•  경쟁이 아니라 층위가 다른 협력</a:t>
            </a:r>
          </a:p>
          <a:p>
            <a:pPr algn="l">
              <a:spcAft>
                <a:spcPts val="400"/>
              </a:spcAft>
            </a:pPr>
            <a:r>
              <a:rPr sz="1600" b="0">
                <a:solidFill>
                  <a:srgbClr val="FFFFFF"/>
                </a:solidFill>
                <a:latin typeface="맑은 고딕"/>
                <a:ea typeface="맑은 고딕"/>
              </a:rPr>
              <a:t>•  상황에 따라 무엇을 쓰는가</a:t>
            </a:r>
          </a:p>
          <a:p>
            <a:pPr algn="l">
              <a:spcAft>
                <a:spcPts val="400"/>
              </a:spcAft>
            </a:pPr>
            <a:r>
              <a:rPr sz="1600" b="0">
                <a:solidFill>
                  <a:srgbClr val="FFFFFF"/>
                </a:solidFill>
                <a:latin typeface="맑은 고딕"/>
                <a:ea typeface="맑은 고딕"/>
              </a:rPr>
              <a:t>•  STATISTICS_LEVEL 전제</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V$ 동적 성능 뷰</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모든 도구가 참조하는 원천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rPr>
              <a:t>•  인스턴스 기동 시 초기화되는 메모리 구조 = 지금 이 순간</a:t>
            </a:r>
          </a:p>
          <a:p>
            <a:pPr algn="l">
              <a:spcAft>
                <a:spcPts val="800"/>
              </a:spcAft>
            </a:pPr>
            <a:r>
              <a:rPr sz="1700" b="0">
                <a:solidFill>
                  <a:srgbClr val="222222"/>
                </a:solidFill>
                <a:latin typeface="맑은 고딕"/>
                <a:ea typeface="맑은 고딕"/>
              </a:rPr>
              <a:t>•  라이선스 불필요, 실시간 진단에 강함</a:t>
            </a:r>
          </a:p>
          <a:p>
            <a:pPr algn="l">
              <a:spcAft>
                <a:spcPts val="800"/>
              </a:spcAft>
            </a:pPr>
            <a:r>
              <a:rPr sz="1700" b="0">
                <a:solidFill>
                  <a:srgbClr val="222222"/>
                </a:solidFill>
                <a:latin typeface="맑은 고딕"/>
                <a:ea typeface="맑은 고딕"/>
              </a:rPr>
              <a:t>•  진단 경로: 세션 → 대기 → SQL → 세그먼트 (ch26)</a:t>
            </a:r>
          </a:p>
          <a:p>
            <a:pPr algn="l">
              <a:spcAft>
                <a:spcPts val="800"/>
              </a:spcAft>
            </a:pPr>
            <a:r>
              <a:rPr sz="1700" b="0">
                <a:solidFill>
                  <a:srgbClr val="222222"/>
                </a:solidFill>
                <a:latin typeface="맑은 고딕"/>
                <a:ea typeface="맑은 고딕"/>
              </a:rPr>
              <a:t>•  약점: 과거를 못 본다 / 값은 누적이라 델타로 봐야 함</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AWR (Automatic Workload Repository)</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성능의 기억 장치  🔒 Diagnostics Pack</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rPr>
              <a:t>•  휘발성 V$ 통계를 스냅샷으로 떠 SYSAUX에 영구 저장</a:t>
            </a:r>
          </a:p>
          <a:p>
            <a:pPr algn="l">
              <a:spcAft>
                <a:spcPts val="800"/>
              </a:spcAft>
            </a:pPr>
            <a:r>
              <a:rPr sz="1700" b="0">
                <a:solidFill>
                  <a:srgbClr val="222222"/>
                </a:solidFill>
                <a:latin typeface="맑은 고딕"/>
                <a:ea typeface="맑은 고딕"/>
              </a:rPr>
              <a:t>•  기본 60분 간격·8일 보존 / 두 스냅샷 구간을 요약</a:t>
            </a:r>
          </a:p>
          <a:p>
            <a:pPr algn="l">
              <a:spcAft>
                <a:spcPts val="800"/>
              </a:spcAft>
            </a:pPr>
            <a:r>
              <a:rPr sz="1700" b="0">
                <a:solidFill>
                  <a:srgbClr val="222222"/>
                </a:solidFill>
                <a:latin typeface="맑은 고딕"/>
                <a:ea typeface="맑은 고딕"/>
              </a:rPr>
              <a:t>•  실측: 스냅샷 153개(snap_id 141~293, 08-14~08-25)</a:t>
            </a:r>
          </a:p>
          <a:p>
            <a:pPr algn="l">
              <a:spcAft>
                <a:spcPts val="800"/>
              </a:spcAft>
            </a:pPr>
            <a:r>
              <a:rPr sz="1700" b="0">
                <a:solidFill>
                  <a:srgbClr val="222222"/>
                </a:solidFill>
                <a:latin typeface="맑은 고딕"/>
                <a:ea typeface="맑은 고딕"/>
              </a:rPr>
              <a:t>•  '어제 오후 2시'를 사후 재구성 / Load Profile·Top 10 Events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ADDM (Automatic Database Diagnostic Monitor)</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자가 진단 엔진  🔒 Diagnostics Pack</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rPr>
              <a:t>•  AWR 데이터를 자동 분석해 병목 진단·개선안 제시</a:t>
            </a:r>
          </a:p>
          <a:p>
            <a:pPr algn="l">
              <a:spcAft>
                <a:spcPts val="800"/>
              </a:spcAft>
            </a:pPr>
            <a:r>
              <a:rPr sz="1700" b="0">
                <a:solidFill>
                  <a:srgbClr val="222222"/>
                </a:solidFill>
                <a:latin typeface="맑은 고딕"/>
                <a:ea typeface="맑은 고딕"/>
              </a:rPr>
              <a:t>•  DB Time을 하향식(top-down)으로 분해해 근본 원인 추적</a:t>
            </a:r>
          </a:p>
          <a:p>
            <a:pPr algn="l">
              <a:spcAft>
                <a:spcPts val="800"/>
              </a:spcAft>
            </a:pPr>
            <a:r>
              <a:rPr sz="1700" b="0">
                <a:solidFill>
                  <a:srgbClr val="222222"/>
                </a:solidFill>
                <a:latin typeface="맑은 고딕"/>
                <a:ea typeface="맑은 고딕"/>
              </a:rPr>
              <a:t>•  결과 = Finding(무엇이) · Recommendation(어떻게) · Rationale(왜)</a:t>
            </a:r>
          </a:p>
          <a:p>
            <a:pPr algn="l">
              <a:spcAft>
                <a:spcPts val="800"/>
              </a:spcAft>
            </a:pPr>
            <a:r>
              <a:rPr sz="1700" b="0">
                <a:solidFill>
                  <a:srgbClr val="222222"/>
                </a:solidFill>
                <a:latin typeface="맑은 고딕"/>
                <a:ea typeface="맑은 고딕"/>
              </a:rPr>
              <a:t>•  권고는 결론이 아니라 가설 — 영향도·근거 확인 후 채택(ch24)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ASH (Active Session History)</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초 단위 순간 포착  🔒 Diagnostics Pack</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rPr>
              <a:t>•  활성 세션 상태를 기본 1초 주기로 샘플링(순환 버퍼)</a:t>
            </a:r>
          </a:p>
          <a:p>
            <a:pPr algn="l">
              <a:spcAft>
                <a:spcPts val="800"/>
              </a:spcAft>
            </a:pPr>
            <a:r>
              <a:rPr sz="1700" b="0">
                <a:solidFill>
                  <a:srgbClr val="222222"/>
                </a:solidFill>
                <a:latin typeface="맑은 고딕"/>
                <a:ea typeface="맑은 고딕"/>
              </a:rPr>
              <a:t>•  AWR=60분 거시 요약 ↔ ASH=초 단위 미시 포착</a:t>
            </a:r>
          </a:p>
          <a:p>
            <a:pPr algn="l">
              <a:spcAft>
                <a:spcPts val="800"/>
              </a:spcAft>
            </a:pPr>
            <a:r>
              <a:rPr sz="1700" b="0">
                <a:solidFill>
                  <a:srgbClr val="222222"/>
                </a:solidFill>
                <a:latin typeface="맑은 고딕"/>
                <a:ea typeface="맑은 고딕"/>
              </a:rPr>
              <a:t>•  AWR 평균에 묻힌 짧은 스파이크를 잡아낸다</a:t>
            </a:r>
          </a:p>
          <a:p>
            <a:pPr algn="l">
              <a:spcAft>
                <a:spcPts val="800"/>
              </a:spcAft>
            </a:pPr>
            <a:r>
              <a:rPr sz="1700" b="0">
                <a:solidFill>
                  <a:srgbClr val="222222"/>
                </a:solidFill>
                <a:latin typeface="맑은 고딕"/>
                <a:ea typeface="맑은 고딕"/>
              </a:rPr>
              <a:t>•  진입점: ashrpt.sql, V$ACTIVE_SESSION_HISTORY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어드바이저 — 어떻게 고칠 것인가</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DBA_ADVISOR_DEFINITIONS (실측)</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l"/>
            <a:r>
              <a:rPr sz="1250">
                <a:solidFill>
                  <a:srgbClr val="F2F2F2"/>
                </a:solidFill>
                <a:latin typeface="Consolas"/>
                <a:ea typeface="Consolas"/>
              </a:rPr>
              <a:t>SYS@orcl&gt; SELECT advisor_name FROM dba_advisor_definitions</a:t>
            </a:r>
          </a:p>
          <a:p>
            <a:pPr algn="l"/>
            <a:r>
              <a:rPr sz="1250">
                <a:solidFill>
                  <a:srgbClr val="F2F2F2"/>
                </a:solidFill>
                <a:latin typeface="Consolas"/>
                <a:ea typeface="Consolas"/>
              </a:rPr>
              <a:t>  2       ORDER BY advisor_name;</a:t>
            </a:r>
          </a:p>
          <a:p>
            <a:pPr algn="l"/>
            <a:r>
              <a:rPr sz="1250">
                <a:solidFill>
                  <a:srgbClr val="F2F2F2"/>
                </a:solidFill>
                <a:latin typeface="Consolas"/>
                <a:ea typeface="Consolas"/>
              </a:rPr>
              <a:t> </a:t>
            </a:r>
          </a:p>
          <a:p>
            <a:pPr algn="l"/>
            <a:r>
              <a:rPr sz="1250">
                <a:solidFill>
                  <a:srgbClr val="F2F2F2"/>
                </a:solidFill>
                <a:latin typeface="Consolas"/>
                <a:ea typeface="Consolas"/>
              </a:rPr>
              <a:t>ADDM                       SQL Repair Advisor</a:t>
            </a:r>
          </a:p>
          <a:p>
            <a:pPr algn="l"/>
            <a:r>
              <a:rPr sz="1250">
                <a:solidFill>
                  <a:srgbClr val="F2F2F2"/>
                </a:solidFill>
                <a:latin typeface="Consolas"/>
                <a:ea typeface="Consolas"/>
              </a:rPr>
              <a:t>Compression Advisor        SQL Tuning Advisor      🔒 Tuning Pack</a:t>
            </a:r>
          </a:p>
          <a:p>
            <a:pPr algn="l"/>
            <a:r>
              <a:rPr sz="1250">
                <a:solidFill>
                  <a:srgbClr val="F2F2F2"/>
                </a:solidFill>
                <a:latin typeface="Consolas"/>
                <a:ea typeface="Consolas"/>
              </a:rPr>
              <a:t>SPM Evolve Advisor         SQL Workload Manager</a:t>
            </a:r>
          </a:p>
          <a:p>
            <a:pPr algn="l"/>
            <a:r>
              <a:rPr sz="1250">
                <a:solidFill>
                  <a:srgbClr val="F2F2F2"/>
                </a:solidFill>
                <a:latin typeface="Consolas"/>
                <a:ea typeface="Consolas"/>
              </a:rPr>
              <a:t>SQL Access Advisor  🔒     Segment Advisor</a:t>
            </a:r>
          </a:p>
          <a:p>
            <a:pPr algn="l"/>
            <a:r>
              <a:rPr sz="1250">
                <a:solidFill>
                  <a:srgbClr val="F2F2F2"/>
                </a:solidFill>
                <a:latin typeface="Consolas"/>
                <a:ea typeface="Consolas"/>
              </a:rPr>
              <a:t>SQL Performance Analyzer🔒 Statistics Advisor</a:t>
            </a:r>
          </a:p>
          <a:p>
            <a:pPr algn="l"/>
            <a:r>
              <a:rPr sz="1250">
                <a:solidFill>
                  <a:srgbClr val="F2F2F2"/>
                </a:solidFill>
                <a:latin typeface="Consolas"/>
                <a:ea typeface="Consolas"/>
              </a:rPr>
              <a:t>                           Tune MView / Undo Advisor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도구 선택 — 상황에 따라</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옳은 질문: 지금 내 문제의 성격은?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rPr>
              <a:t>•  지금 이 순간 느리다 → V$ 뷰 (라이선스 불필요)</a:t>
            </a:r>
          </a:p>
          <a:p>
            <a:pPr algn="l">
              <a:spcAft>
                <a:spcPts val="800"/>
              </a:spcAft>
            </a:pPr>
            <a:r>
              <a:rPr sz="1700" b="0">
                <a:solidFill>
                  <a:srgbClr val="222222"/>
                </a:solidFill>
                <a:latin typeface="맑은 고딕"/>
                <a:ea typeface="맑은 고딕"/>
              </a:rPr>
              <a:t>•  어제 그 시간에 무슨 일이 → AWR 🔒</a:t>
            </a:r>
          </a:p>
          <a:p>
            <a:pPr algn="l">
              <a:spcAft>
                <a:spcPts val="800"/>
              </a:spcAft>
            </a:pPr>
            <a:r>
              <a:rPr sz="1700" b="0">
                <a:solidFill>
                  <a:srgbClr val="222222"/>
                </a:solidFill>
                <a:latin typeface="맑은 고딕"/>
                <a:ea typeface="맑은 고딕"/>
              </a:rPr>
              <a:t>•  무엇이 문제인지 모르겠다 → ADDM 🔒</a:t>
            </a:r>
          </a:p>
          <a:p>
            <a:pPr algn="l">
              <a:spcAft>
                <a:spcPts val="800"/>
              </a:spcAft>
            </a:pPr>
            <a:r>
              <a:rPr sz="1700" b="0">
                <a:solidFill>
                  <a:srgbClr val="222222"/>
                </a:solidFill>
                <a:latin typeface="맑은 고딕"/>
                <a:ea typeface="맑은 고딕"/>
              </a:rPr>
              <a:t>•  짧게 튀었다 사라진 스파이크 → ASH 🔒</a:t>
            </a:r>
          </a:p>
          <a:p>
            <a:pPr algn="l">
              <a:spcAft>
                <a:spcPts val="800"/>
              </a:spcAft>
            </a:pPr>
            <a:r>
              <a:rPr sz="1700" b="0">
                <a:solidFill>
                  <a:srgbClr val="222222"/>
                </a:solidFill>
                <a:latin typeface="맑은 고딕"/>
                <a:ea typeface="맑은 고딕"/>
              </a:rPr>
              <a:t>•  특정 SQL을 어떻게 → SQL Tuning Advisor 🔒 (결론 나면 SQL튜닝 과정)</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r>
              <a:rPr sz="4000" b="1">
                <a:solidFill>
                  <a:srgbClr val="FFFFFF"/>
                </a:solidFill>
                <a:latin typeface="맑은 고딕"/>
                <a:ea typeface="맑은 고딕"/>
              </a:rPr>
              <a:t>1.6</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rPr>
              <a:t>관리 팩 라이선스</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400"/>
              </a:spcAft>
            </a:pPr>
            <a:r>
              <a:rPr sz="1600" b="0">
                <a:solidFill>
                  <a:srgbClr val="FFFFFF"/>
                </a:solidFill>
                <a:latin typeface="맑은 고딕"/>
                <a:ea typeface="맑은 고딕"/>
              </a:rPr>
              <a:t>•  Diagnostics / Tuning Pack</a:t>
            </a:r>
          </a:p>
          <a:p>
            <a:pPr algn="l">
              <a:spcAft>
                <a:spcPts val="400"/>
              </a:spcAft>
            </a:pPr>
            <a:r>
              <a:rPr sz="1600" b="0">
                <a:solidFill>
                  <a:srgbClr val="FFFFFF"/>
                </a:solidFill>
                <a:latin typeface="맑은 고딕"/>
                <a:ea typeface="맑은 고딕"/>
              </a:rPr>
              <a:t>•  CONTROL_MANAGEMENT_PACK_ACCESS</a:t>
            </a:r>
          </a:p>
          <a:p>
            <a:pPr algn="l">
              <a:spcAft>
                <a:spcPts val="400"/>
              </a:spcAft>
            </a:pPr>
            <a:r>
              <a:rPr sz="1600" b="0">
                <a:solidFill>
                  <a:srgbClr val="FFFFFF"/>
                </a:solidFill>
                <a:latin typeface="맑은 고딕"/>
                <a:ea typeface="맑은 고딕"/>
              </a:rPr>
              <a:t>•  DBA_FEATURE_USAGE_STATISTICS</a:t>
            </a:r>
          </a:p>
          <a:p>
            <a:pPr algn="l">
              <a:spcAft>
                <a:spcPts val="400"/>
              </a:spcAft>
            </a:pPr>
            <a:r>
              <a:rPr sz="1600" b="0">
                <a:solidFill>
                  <a:srgbClr val="FFFFFF"/>
                </a:solidFill>
                <a:latin typeface="맑은 고딕"/>
                <a:ea typeface="맑은 고딕"/>
              </a:rPr>
              <a:t>•  라이선스 없이 보는 법</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어떤 기능이 어느 팩에 속하는가</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무심코 쓰면 라이선스 위반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rPr>
              <a:t>•  Diagnostics Pack: AWR·ADDM·ASH·DBA_HIST_*·V$ACTIVE_SESSION_HISTORY</a:t>
            </a:r>
          </a:p>
          <a:p>
            <a:pPr algn="l">
              <a:spcAft>
                <a:spcPts val="800"/>
              </a:spcAft>
            </a:pPr>
            <a:r>
              <a:rPr sz="1700" b="0">
                <a:solidFill>
                  <a:srgbClr val="222222"/>
                </a:solidFill>
                <a:latin typeface="맑은 고딕"/>
                <a:ea typeface="맑은 고딕"/>
              </a:rPr>
              <a:t>•  Tuning Pack: SQL Tuning/Access Advisor·SPA (Diagnostics Pack 선행)</a:t>
            </a:r>
          </a:p>
          <a:p>
            <a:pPr algn="l">
              <a:spcAft>
                <a:spcPts val="800"/>
              </a:spcAft>
            </a:pPr>
            <a:r>
              <a:rPr sz="1700" b="0">
                <a:solidFill>
                  <a:srgbClr val="222222"/>
                </a:solidFill>
                <a:latin typeface="맑은 고딕"/>
                <a:ea typeface="맑은 고딕"/>
              </a:rPr>
              <a:t>•  팩 불필요: V$ 뷰·Statspack·Segment/Undo/Statistics Advisor</a:t>
            </a:r>
          </a:p>
          <a:p>
            <a:pPr algn="l">
              <a:spcAft>
                <a:spcPts val="800"/>
              </a:spcAft>
            </a:pPr>
            <a:r>
              <a:rPr sz="1700" b="0">
                <a:solidFill>
                  <a:srgbClr val="222222"/>
                </a:solidFill>
                <a:latin typeface="맑은 고딕"/>
                <a:ea typeface="맑은 고딕"/>
              </a:rPr>
              <a:t>•  LMS 감사에서 DBA_FEATURE_USAGE_STATISTICS가 근거가 된다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CONTROL_MANAGEMENT_PACK_ACCESS</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어떤 팩을 쓸 수 있는지 선언</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l"/>
            <a:r>
              <a:rPr sz="1250">
                <a:solidFill>
                  <a:srgbClr val="F2F2F2"/>
                </a:solidFill>
                <a:latin typeface="Consolas"/>
                <a:ea typeface="Consolas"/>
              </a:rPr>
              <a:t>SYS@orcl&gt; SELECT name, value FROM v$parameter</a:t>
            </a:r>
          </a:p>
          <a:p>
            <a:pPr algn="l"/>
            <a:r>
              <a:rPr sz="1250">
                <a:solidFill>
                  <a:srgbClr val="F2F2F2"/>
                </a:solidFill>
                <a:latin typeface="Consolas"/>
                <a:ea typeface="Consolas"/>
              </a:rPr>
              <a:t>  2       WHERE name = 'control_management_pack_access';</a:t>
            </a:r>
          </a:p>
          <a:p>
            <a:pPr algn="l"/>
            <a:r>
              <a:rPr sz="1250">
                <a:solidFill>
                  <a:srgbClr val="F2F2F2"/>
                </a:solidFill>
                <a:latin typeface="Consolas"/>
                <a:ea typeface="Consolas"/>
              </a:rPr>
              <a:t> </a:t>
            </a:r>
          </a:p>
          <a:p>
            <a:pPr algn="l"/>
            <a:r>
              <a:rPr sz="1250">
                <a:solidFill>
                  <a:srgbClr val="F2F2F2"/>
                </a:solidFill>
                <a:latin typeface="Consolas"/>
                <a:ea typeface="Consolas"/>
              </a:rPr>
              <a:t>NAME                            VALUE</a:t>
            </a:r>
          </a:p>
          <a:p>
            <a:pPr algn="l"/>
            <a:r>
              <a:rPr sz="1250">
                <a:solidFill>
                  <a:srgbClr val="F2F2F2"/>
                </a:solidFill>
                <a:latin typeface="Consolas"/>
                <a:ea typeface="Consolas"/>
              </a:rPr>
              <a:t>------------------------------- -------------------</a:t>
            </a:r>
          </a:p>
          <a:p>
            <a:pPr algn="l"/>
            <a:r>
              <a:rPr sz="1250">
                <a:solidFill>
                  <a:srgbClr val="F2F2F2"/>
                </a:solidFill>
                <a:latin typeface="Consolas"/>
                <a:ea typeface="Consolas"/>
              </a:rPr>
              <a:t>control_management_pack_access  DIAGNOSTIC+TUNING</a:t>
            </a:r>
          </a:p>
          <a:p>
            <a:pPr algn="l"/>
            <a:r>
              <a:rPr sz="1250">
                <a:solidFill>
                  <a:srgbClr val="F2F2F2"/>
                </a:solidFill>
                <a:latin typeface="Consolas"/>
                <a:ea typeface="Consolas"/>
              </a:rPr>
              <a:t> </a:t>
            </a:r>
          </a:p>
          <a:p>
            <a:pPr algn="l"/>
            <a:r>
              <a:rPr sz="1250">
                <a:solidFill>
                  <a:srgbClr val="F2F2F2"/>
                </a:solidFill>
                <a:latin typeface="Consolas"/>
                <a:ea typeface="Consolas"/>
              </a:rPr>
              <a:t>-- 값: NONE / DIAGNOSTIC / DIAGNOSTIC+TUNING</a:t>
            </a:r>
          </a:p>
          <a:p>
            <a:pPr algn="l"/>
            <a:r>
              <a:rPr sz="1250">
                <a:solidFill>
                  <a:srgbClr val="F2F2F2"/>
                </a:solidFill>
                <a:latin typeface="Consolas"/>
                <a:ea typeface="Consolas"/>
              </a:rPr>
              <a:t>-- 라이선스 없으면 NONE 으로 두어 수집을 막는 것이 안전</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사용 이력 확인</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DBA_FEATURE_USAGE_STATISTICS (실측)</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l"/>
            <a:r>
              <a:rPr sz="1250">
                <a:solidFill>
                  <a:srgbClr val="F2F2F2"/>
                </a:solidFill>
                <a:latin typeface="Consolas"/>
                <a:ea typeface="Consolas"/>
              </a:rPr>
              <a:t>SYS@orcl&gt; SELECT name, detected_usages,</a:t>
            </a:r>
          </a:p>
          <a:p>
            <a:pPr algn="l"/>
            <a:r>
              <a:rPr sz="1250">
                <a:solidFill>
                  <a:srgbClr val="F2F2F2"/>
                </a:solidFill>
                <a:latin typeface="Consolas"/>
                <a:ea typeface="Consolas"/>
              </a:rPr>
              <a:t>  2         TO_CHAR(last_usage_date,'YYYY-MM-DD') last_used</a:t>
            </a:r>
          </a:p>
          <a:p>
            <a:pPr algn="l"/>
            <a:r>
              <a:rPr sz="1250">
                <a:solidFill>
                  <a:srgbClr val="F2F2F2"/>
                </a:solidFill>
                <a:latin typeface="Consolas"/>
                <a:ea typeface="Consolas"/>
              </a:rPr>
              <a:t>  3       FROM dba_feature_usage_statistics WHERE name IN (...);</a:t>
            </a:r>
          </a:p>
          <a:p>
            <a:pPr algn="l"/>
            <a:r>
              <a:rPr sz="1250">
                <a:solidFill>
                  <a:srgbClr val="F2F2F2"/>
                </a:solidFill>
                <a:latin typeface="Consolas"/>
                <a:ea typeface="Consolas"/>
              </a:rPr>
              <a:t> </a:t>
            </a:r>
          </a:p>
          <a:p>
            <a:pPr algn="l"/>
            <a:r>
              <a:rPr sz="1250">
                <a:solidFill>
                  <a:srgbClr val="F2F2F2"/>
                </a:solidFill>
                <a:latin typeface="Consolas"/>
                <a:ea typeface="Consolas"/>
              </a:rPr>
              <a:t>NAME                            DETECTED_USAGES LAST_USED</a:t>
            </a:r>
          </a:p>
          <a:p>
            <a:pPr algn="l"/>
            <a:r>
              <a:rPr sz="1250">
                <a:solidFill>
                  <a:srgbClr val="F2F2F2"/>
                </a:solidFill>
                <a:latin typeface="Consolas"/>
                <a:ea typeface="Consolas"/>
              </a:rPr>
              <a:t>------------------------------- --------------- ----------</a:t>
            </a:r>
          </a:p>
          <a:p>
            <a:pPr algn="l"/>
            <a:r>
              <a:rPr sz="1250">
                <a:solidFill>
                  <a:srgbClr val="F2F2F2"/>
                </a:solidFill>
                <a:latin typeface="Consolas"/>
                <a:ea typeface="Consolas"/>
              </a:rPr>
              <a:t>ADDM                                          0</a:t>
            </a:r>
          </a:p>
          <a:p>
            <a:pPr algn="l"/>
            <a:r>
              <a:rPr sz="1250">
                <a:solidFill>
                  <a:srgbClr val="F2F2F2"/>
                </a:solidFill>
                <a:latin typeface="Consolas"/>
                <a:ea typeface="Consolas"/>
              </a:rPr>
              <a:t>Automatic SQL Tuning Advisor                  2 2026-08-21</a:t>
            </a:r>
          </a:p>
          <a:p>
            <a:pPr algn="l"/>
            <a:r>
              <a:rPr sz="1250">
                <a:solidFill>
                  <a:srgbClr val="F2F2F2"/>
                </a:solidFill>
                <a:latin typeface="Consolas"/>
                <a:ea typeface="Consolas"/>
              </a:rPr>
              <a:t>Automatic Workload Repository                 0</a:t>
            </a:r>
          </a:p>
          <a:p>
            <a:pPr algn="l"/>
            <a:r>
              <a:rPr sz="1250">
                <a:solidFill>
                  <a:srgbClr val="F2F2F2"/>
                </a:solidFill>
                <a:latin typeface="Consolas"/>
                <a:ea typeface="Consolas"/>
              </a:rPr>
              <a:t>SQL Tuning Advisor                            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라이선스가 없으면 무엇으로 보는가</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원천 데이터는 언제나 V$에 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rPr>
              <a:t>•  구간 요약: AWR → Statspack 보고서 / V$SYSSTAT 델타</a:t>
            </a:r>
          </a:p>
          <a:p>
            <a:pPr algn="l">
              <a:spcAft>
                <a:spcPts val="800"/>
              </a:spcAft>
            </a:pPr>
            <a:r>
              <a:rPr sz="1700" b="0">
                <a:solidFill>
                  <a:srgbClr val="222222"/>
                </a:solidFill>
                <a:latin typeface="맑은 고딕"/>
                <a:ea typeface="맑은 고딕"/>
              </a:rPr>
              <a:t>•  DB Time·대기: ADDM → V$SYS_TIME_MODEL + V$SYSTEM_WAIT_CLASS</a:t>
            </a:r>
          </a:p>
          <a:p>
            <a:pPr algn="l">
              <a:spcAft>
                <a:spcPts val="800"/>
              </a:spcAft>
            </a:pPr>
            <a:r>
              <a:rPr sz="1700" b="0">
                <a:solidFill>
                  <a:srgbClr val="222222"/>
                </a:solidFill>
                <a:latin typeface="맑은 고딕"/>
                <a:ea typeface="맑은 고딕"/>
              </a:rPr>
              <a:t>•  활성 세션 상태: ASH → V$SESSION+V$SESSION_WAIT 반복 샘플링</a:t>
            </a:r>
          </a:p>
          <a:p>
            <a:pPr algn="l">
              <a:spcAft>
                <a:spcPts val="800"/>
              </a:spcAft>
            </a:pPr>
            <a:r>
              <a:rPr sz="1700" b="0">
                <a:solidFill>
                  <a:srgbClr val="222222"/>
                </a:solidFill>
                <a:latin typeface="맑은 고딕"/>
                <a:ea typeface="맑은 고딕"/>
              </a:rPr>
              <a:t>•  핵심: 누적값을 두 시점 델타로 계산 = 원리는 동일</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r>
              <a:rPr sz="4000" b="1">
                <a:solidFill>
                  <a:srgbClr val="FFFFFF"/>
                </a:solidFill>
                <a:latin typeface="맑은 고딕"/>
                <a:ea typeface="맑은 고딕"/>
              </a:rPr>
              <a:t>1.7</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rPr>
              <a:t>목표를 수치로 정의</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400"/>
              </a:spcAft>
            </a:pPr>
            <a:r>
              <a:rPr sz="1600" b="0">
                <a:solidFill>
                  <a:srgbClr val="FFFFFF"/>
                </a:solidFill>
                <a:latin typeface="맑은 고딕"/>
                <a:ea typeface="맑은 고딕"/>
              </a:rPr>
              <a:t>•  대상 선정 → 현재값 → 목표값 → 판정</a:t>
            </a:r>
          </a:p>
          <a:p>
            <a:pPr algn="l">
              <a:spcAft>
                <a:spcPts val="400"/>
              </a:spcAft>
            </a:pPr>
            <a:r>
              <a:rPr sz="1600" b="0">
                <a:solidFill>
                  <a:srgbClr val="FFFFFF"/>
                </a:solidFill>
                <a:latin typeface="맑은 고딕"/>
                <a:ea typeface="맑은 고딕"/>
              </a:rPr>
              <a:t>•  상위 부하 SQL 실측</a:t>
            </a:r>
          </a:p>
          <a:p>
            <a:pPr algn="l">
              <a:spcAft>
                <a:spcPts val="400"/>
              </a:spcAft>
            </a:pPr>
            <a:r>
              <a:rPr sz="1600" b="0">
                <a:solidFill>
                  <a:srgbClr val="FFFFFF"/>
                </a:solidFill>
                <a:latin typeface="맑은 고딕"/>
                <a:ea typeface="맑은 고딕"/>
              </a:rPr>
              <a:t>•  기준선(baseline)</a:t>
            </a:r>
          </a:p>
          <a:p>
            <a:pPr algn="l">
              <a:spcAft>
                <a:spcPts val="400"/>
              </a:spcAft>
            </a:pPr>
            <a:r>
              <a:rPr sz="1600" b="0">
                <a:solidFill>
                  <a:srgbClr val="FFFFFF"/>
                </a:solidFill>
                <a:latin typeface="맑은 고딕"/>
                <a:ea typeface="맑은 고딕"/>
              </a:rPr>
              <a:t>•  SQL 튜닝 과정과의 경계</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상위 부하 SQL — 대상 선정</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V$SQL 논리읽기(buffer_gets) 기준 (SQLT 계정)</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l"/>
            <a:r>
              <a:rPr sz="1250">
                <a:solidFill>
                  <a:srgbClr val="F2F2F2"/>
                </a:solidFill>
                <a:latin typeface="Consolas"/>
                <a:ea typeface="Consolas"/>
              </a:rPr>
              <a:t>SYS@orcl&gt; SELECT sql_id, executions execs, buffer_gets,</a:t>
            </a:r>
          </a:p>
          <a:p>
            <a:pPr algn="l"/>
            <a:r>
              <a:rPr sz="1250">
                <a:solidFill>
                  <a:srgbClr val="F2F2F2"/>
                </a:solidFill>
                <a:latin typeface="Consolas"/>
                <a:ea typeface="Consolas"/>
              </a:rPr>
              <a:t>  2         ROUND(buffer_gets/GREATEST(executions,1)) gets_per_exec,</a:t>
            </a:r>
          </a:p>
          <a:p>
            <a:pPr algn="l"/>
            <a:r>
              <a:rPr sz="1250">
                <a:solidFill>
                  <a:srgbClr val="F2F2F2"/>
                </a:solidFill>
                <a:latin typeface="Consolas"/>
                <a:ea typeface="Consolas"/>
              </a:rPr>
              <a:t>  3         ROUND(elapsed_time/1e6,2) elapsed_sec, ...</a:t>
            </a:r>
          </a:p>
          <a:p>
            <a:pPr algn="l"/>
            <a:r>
              <a:rPr sz="1250">
                <a:solidFill>
                  <a:srgbClr val="F2F2F2"/>
                </a:solidFill>
                <a:latin typeface="Consolas"/>
                <a:ea typeface="Consolas"/>
              </a:rPr>
              <a:t>  4       FROM v$sql WHERE parsing_schema_name='SQLT'</a:t>
            </a:r>
          </a:p>
          <a:p>
            <a:pPr algn="l"/>
            <a:r>
              <a:rPr sz="1250">
                <a:solidFill>
                  <a:srgbClr val="F2F2F2"/>
                </a:solidFill>
                <a:latin typeface="Consolas"/>
                <a:ea typeface="Consolas"/>
              </a:rPr>
              <a:t>  5       ORDER BY buffer_gets DESC FETCH FIRST 3 ROWS ONLY;</a:t>
            </a:r>
          </a:p>
          <a:p>
            <a:pPr algn="l"/>
            <a:r>
              <a:rPr sz="1250">
                <a:solidFill>
                  <a:srgbClr val="F2F2F2"/>
                </a:solidFill>
                <a:latin typeface="Consolas"/>
                <a:ea typeface="Consolas"/>
              </a:rPr>
              <a:t> </a:t>
            </a:r>
          </a:p>
          <a:p>
            <a:pPr algn="l"/>
            <a:r>
              <a:rPr sz="1250">
                <a:solidFill>
                  <a:srgbClr val="F2F2F2"/>
                </a:solidFill>
                <a:latin typeface="Consolas"/>
                <a:ea typeface="Consolas"/>
              </a:rPr>
              <a:t>SQL_ID         EXECS BUFFER_GETS GETS_PER_EXEC ELAPSED_SEC</a:t>
            </a:r>
          </a:p>
          <a:p>
            <a:pPr algn="l"/>
            <a:r>
              <a:rPr sz="1250">
                <a:solidFill>
                  <a:srgbClr val="F2F2F2"/>
                </a:solidFill>
                <a:latin typeface="Consolas"/>
                <a:ea typeface="Consolas"/>
              </a:rPr>
              <a:t>------------- ------ ----------- ------------- -----------</a:t>
            </a:r>
          </a:p>
          <a:p>
            <a:pPr algn="l"/>
            <a:r>
              <a:rPr sz="1250">
                <a:solidFill>
                  <a:srgbClr val="F2F2F2"/>
                </a:solidFill>
                <a:latin typeface="Consolas"/>
                <a:ea typeface="Consolas"/>
              </a:rPr>
              <a:t>3j9gw8s0v82pc    200      618000          3090        1.23</a:t>
            </a:r>
          </a:p>
          <a:p>
            <a:pPr algn="l"/>
            <a:r>
              <a:rPr sz="1250">
                <a:solidFill>
                  <a:srgbClr val="F2F2F2"/>
                </a:solidFill>
                <a:latin typeface="Consolas"/>
                <a:ea typeface="Consolas"/>
              </a:rPr>
              <a:t>fus9168r58axj      3       19869          6623        0.87</a:t>
            </a:r>
          </a:p>
          <a:p>
            <a:pPr algn="l"/>
            <a:r>
              <a:rPr sz="1250">
                <a:solidFill>
                  <a:srgbClr val="F2F2F2"/>
                </a:solidFill>
                <a:latin typeface="Consolas"/>
                <a:ea typeface="Consolas"/>
              </a:rPr>
              <a:t>axnpq1h1y89da      1        4586          4586        0.50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목표 수치화 4단계와 기준선</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목표 없이 파라미터부터 바꾸지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rPr>
              <a:t>•  ① 대상 업무 선정 → ② 현재값 측정 → ③ 목표값 → ④ 판정 기준</a:t>
            </a:r>
          </a:p>
          <a:p>
            <a:pPr algn="l">
              <a:spcAft>
                <a:spcPts val="800"/>
              </a:spcAft>
            </a:pPr>
            <a:r>
              <a:rPr sz="1700" b="0">
                <a:solidFill>
                  <a:srgbClr val="222222"/>
                </a:solidFill>
                <a:latin typeface="맑은 고딕"/>
                <a:ea typeface="맑은 고딕"/>
              </a:rPr>
              <a:t>•  목표는 응답시간·처리량 같은 측정 가능한 양으로만</a:t>
            </a:r>
          </a:p>
          <a:p>
            <a:pPr algn="l">
              <a:spcAft>
                <a:spcPts val="800"/>
              </a:spcAft>
            </a:pPr>
            <a:r>
              <a:rPr sz="1700" b="0">
                <a:solidFill>
                  <a:srgbClr val="222222"/>
                </a:solidFill>
                <a:latin typeface="맑은 고딕"/>
                <a:ea typeface="맑은 고딕"/>
              </a:rPr>
              <a:t>•  기준선: 정상일 때 값을 모르면 '느려졌다'를 증명 못 한다</a:t>
            </a:r>
          </a:p>
          <a:p>
            <a:pPr algn="l">
              <a:spcAft>
                <a:spcPts val="800"/>
              </a:spcAft>
            </a:pPr>
            <a:r>
              <a:rPr sz="1700" b="0">
                <a:solidFill>
                  <a:srgbClr val="222222"/>
                </a:solidFill>
                <a:latin typeface="맑은 고딕"/>
                <a:ea typeface="맑은 고딕"/>
              </a:rPr>
              <a:t>•  경계: SQL 한 문장 수정으로 결론 나면 SQL 튜닝 과정으로</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r>
              <a:rPr sz="4000" b="1">
                <a:solidFill>
                  <a:srgbClr val="FFFFFF"/>
                </a:solidFill>
                <a:latin typeface="맑은 고딕"/>
                <a:ea typeface="맑은 고딕"/>
              </a:rPr>
              <a:t>1.8</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rPr>
              <a:t>세 가지 경계</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400"/>
              </a:spcAft>
            </a:pPr>
            <a:r>
              <a:rPr sz="1600" b="0">
                <a:solidFill>
                  <a:srgbClr val="FFFFFF"/>
                </a:solidFill>
                <a:latin typeface="맑은 고딕"/>
                <a:ea typeface="맑은 고딕"/>
              </a:rPr>
              <a:t>•  히트율 신앙</a:t>
            </a:r>
          </a:p>
          <a:p>
            <a:pPr algn="l">
              <a:spcAft>
                <a:spcPts val="400"/>
              </a:spcAft>
            </a:pPr>
            <a:r>
              <a:rPr sz="1600" b="0">
                <a:solidFill>
                  <a:srgbClr val="FFFFFF"/>
                </a:solidFill>
                <a:latin typeface="맑은 고딕"/>
                <a:ea typeface="맑은 고딕"/>
              </a:rPr>
              <a:t>•  권고 맹신</a:t>
            </a:r>
          </a:p>
          <a:p>
            <a:pPr algn="l">
              <a:spcAft>
                <a:spcPts val="400"/>
              </a:spcAft>
            </a:pPr>
            <a:r>
              <a:rPr sz="1600" b="0">
                <a:solidFill>
                  <a:srgbClr val="FFFFFF"/>
                </a:solidFill>
                <a:latin typeface="맑은 고딕"/>
                <a:ea typeface="맑은 고딕"/>
              </a:rPr>
              <a:t>•  근거 없는 조치</a:t>
            </a:r>
          </a:p>
          <a:p>
            <a:pPr algn="l">
              <a:spcAft>
                <a:spcPts val="400"/>
              </a:spcAft>
            </a:pPr>
            <a:r>
              <a:rPr sz="1600" b="0">
                <a:solidFill>
                  <a:srgbClr val="FFFFFF"/>
                </a:solidFill>
                <a:latin typeface="맑은 고딕"/>
                <a:ea typeface="맑은 고딕"/>
              </a:rPr>
              <a:t>•  뿌리는 하나 — 직접 측정·판정하지 않음</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히트율 신앙을 경계한다</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단일 지표 하나로 결론 내지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rPr>
              <a:t>•  버퍼 캐시 히트율 99%가 건강을 뜻하지 않는다</a:t>
            </a:r>
          </a:p>
          <a:p>
            <a:pPr algn="l">
              <a:spcAft>
                <a:spcPts val="800"/>
              </a:spcAft>
            </a:pPr>
            <a:r>
              <a:rPr sz="1700" b="0">
                <a:solidFill>
                  <a:srgbClr val="222222"/>
                </a:solidFill>
                <a:latin typeface="맑은 고딕"/>
                <a:ea typeface="맑은 고딕"/>
              </a:rPr>
              <a:t>•  비효율 SQL이 같은 블록을 반복 읽으면 히트율은 오히려 오른다</a:t>
            </a:r>
          </a:p>
          <a:p>
            <a:pPr algn="l">
              <a:spcAft>
                <a:spcPts val="800"/>
              </a:spcAft>
            </a:pPr>
            <a:r>
              <a:rPr sz="1700" b="0">
                <a:solidFill>
                  <a:srgbClr val="222222"/>
                </a:solidFill>
                <a:latin typeface="맑은 고딕"/>
                <a:ea typeface="맑은 고딕"/>
              </a:rPr>
              <a:t>•  히트율이 높은데 응답시간이 나쁜 상황을 ch31에서 직접 재현</a:t>
            </a:r>
          </a:p>
          <a:p>
            <a:pPr algn="l">
              <a:spcAft>
                <a:spcPts val="800"/>
              </a:spcAft>
            </a:pPr>
            <a:r>
              <a:rPr sz="1700" b="0">
                <a:solidFill>
                  <a:srgbClr val="222222"/>
                </a:solidFill>
                <a:latin typeface="맑은 고딕"/>
                <a:ea typeface="맑은 고딕"/>
              </a:rPr>
              <a:t>•  히트율은 목표가 아니라 하나의 참고 지표</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권고 맹신을 경계한다</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권고는 결론이 아니라 가설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rPr>
              <a:t>•  ADDM·어드바이저의 권고는 검토 후 채택할 가설</a:t>
            </a:r>
          </a:p>
          <a:p>
            <a:pPr algn="l">
              <a:spcAft>
                <a:spcPts val="800"/>
              </a:spcAft>
            </a:pPr>
            <a:r>
              <a:rPr sz="1700" b="0">
                <a:solidFill>
                  <a:srgbClr val="222222"/>
                </a:solidFill>
                <a:latin typeface="맑은 고딕"/>
                <a:ea typeface="맑은 고딕"/>
              </a:rPr>
              <a:t>•  영향도 낮은 권고에 시간 쓰거나 맥락 무시하면 해가 된다</a:t>
            </a:r>
          </a:p>
          <a:p>
            <a:pPr algn="l">
              <a:spcAft>
                <a:spcPts val="800"/>
              </a:spcAft>
            </a:pPr>
            <a:r>
              <a:rPr sz="1700" b="0">
                <a:solidFill>
                  <a:srgbClr val="222222"/>
                </a:solidFill>
                <a:latin typeface="맑은 고딕"/>
                <a:ea typeface="맑은 고딕"/>
              </a:rPr>
              <a:t>•  권고를 그대로 따르면 안 되는 사례를 ch24·ch30에서 판별</a:t>
            </a:r>
          </a:p>
          <a:p>
            <a:pPr algn="l">
              <a:spcAft>
                <a:spcPts val="800"/>
              </a:spcAft>
            </a:pPr>
            <a:r>
              <a:rPr sz="1700" b="0">
                <a:solidFill>
                  <a:srgbClr val="222222"/>
                </a:solidFill>
                <a:latin typeface="맑은 고딕"/>
                <a:ea typeface="맑은 고딕"/>
              </a:rPr>
              <a:t>•  '왜 이 권고인가(근거)'와 '내 상황에 맞는가'를 본 뒤 채택</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근거 없는 조치를 경계한다</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조치 전 캡처 없는 튜닝은 도박</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rPr>
              <a:t>•  조치 전 상태를 캡처하지 않으면 성공·실패를 증명 못 한다</a:t>
            </a:r>
          </a:p>
          <a:p>
            <a:pPr algn="l">
              <a:spcAft>
                <a:spcPts val="800"/>
              </a:spcAft>
            </a:pPr>
            <a:r>
              <a:rPr sz="1700" b="0">
                <a:solidFill>
                  <a:srgbClr val="222222"/>
                </a:solidFill>
                <a:latin typeface="맑은 고딕"/>
                <a:ea typeface="맑은 고딕"/>
              </a:rPr>
              <a:t>•  모든 실습 트랜스크립트는 '조치 전 → 조치 → 조치 후' 3단 캡처</a:t>
            </a:r>
          </a:p>
          <a:p>
            <a:pPr algn="l">
              <a:spcAft>
                <a:spcPts val="800"/>
              </a:spcAft>
            </a:pPr>
            <a:r>
              <a:rPr sz="1700" b="0">
                <a:solidFill>
                  <a:srgbClr val="222222"/>
                </a:solidFill>
                <a:latin typeface="맑은 고딕"/>
                <a:ea typeface="맑은 고딕"/>
              </a:rPr>
              <a:t>•  한 번에 하나만 바꾸고 같은 지표를 같은 방식으로 재측정</a:t>
            </a:r>
          </a:p>
          <a:p>
            <a:pPr algn="l">
              <a:spcAft>
                <a:spcPts val="800"/>
              </a:spcAft>
            </a:pPr>
            <a:r>
              <a:rPr sz="1700" b="0">
                <a:solidFill>
                  <a:srgbClr val="222222"/>
                </a:solidFill>
                <a:latin typeface="맑은 고딕"/>
                <a:ea typeface="맑은 고딕"/>
              </a:rPr>
              <a:t>•  채택하지 않은 권고의 이유도 기록한다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퀴즈 (Quiz)</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600"/>
              </a:spcAft>
            </a:pPr>
            <a:r>
              <a:rPr sz="1600" b="0">
                <a:solidFill>
                  <a:srgbClr val="222222"/>
                </a:solidFill>
                <a:latin typeface="맑은 고딕"/>
                <a:ea typeface="맑은 고딕"/>
              </a:rPr>
              <a:t>•  Q1. 응답시간과 처리량의 차이를 각각 한 줄로 설명하고, 상충하는 예를 하나 들어라.</a:t>
            </a:r>
          </a:p>
          <a:p>
            <a:pPr algn="l">
              <a:spcAft>
                <a:spcPts val="600"/>
              </a:spcAft>
            </a:pPr>
            <a:r>
              <a:rPr sz="1600" b="0">
                <a:solidFill>
                  <a:srgbClr val="222222"/>
                </a:solidFill>
                <a:latin typeface="맑은 고딕"/>
                <a:ea typeface="맑은 고딕"/>
              </a:rPr>
              <a:t>•  Q2. 'DB Time = DB CPU + 대기'가 실측(49,551,722 / 8,662,345)에서 어떻게 확인되는가?</a:t>
            </a:r>
          </a:p>
          <a:p>
            <a:pPr algn="l">
              <a:spcAft>
                <a:spcPts val="600"/>
              </a:spcAft>
            </a:pPr>
            <a:r>
              <a:rPr sz="1600" b="0">
                <a:solidFill>
                  <a:srgbClr val="222222"/>
                </a:solidFill>
                <a:latin typeface="맑은 고딕"/>
                <a:ea typeface="맑은 고딕"/>
              </a:rPr>
              <a:t>•  Q3. '지금 느리다'와 '어제 오후 2시'에 각각 V$·AWR·ADDM·ASH 중 무엇을 먼저 쓰는가?</a:t>
            </a:r>
          </a:p>
          <a:p>
            <a:pPr algn="l">
              <a:spcAft>
                <a:spcPts val="600"/>
              </a:spcAft>
            </a:pPr>
            <a:r>
              <a:rPr sz="1600" b="0">
                <a:solidFill>
                  <a:srgbClr val="222222"/>
                </a:solidFill>
                <a:latin typeface="맑은 고딕"/>
                <a:ea typeface="맑은 고딕"/>
              </a:rPr>
              <a:t>•  Q4. AWR·ADDM·ASH의 관리 팩은? 라이선스 없을 때 대안 경로 두 가지는?</a:t>
            </a:r>
          </a:p>
          <a:p>
            <a:pPr algn="l">
              <a:spcAft>
                <a:spcPts val="600"/>
              </a:spcAft>
            </a:pPr>
            <a:r>
              <a:rPr sz="1600" b="0">
                <a:solidFill>
                  <a:srgbClr val="222222"/>
                </a:solidFill>
                <a:latin typeface="맑은 고딕"/>
                <a:ea typeface="맑은 고딕"/>
              </a:rPr>
              <a:t>•  Q5. CONTROL_MANAGEMENT_PACK_ACCESS=DIAGNOSTIC+TUNING이면 곧 라이선스 보유인가?</a:t>
            </a:r>
          </a:p>
          <a:p>
            <a:pPr algn="l">
              <a:spcAft>
                <a:spcPts val="600"/>
              </a:spcAft>
            </a:pPr>
            <a:r>
              <a:rPr sz="1600" b="0">
                <a:solidFill>
                  <a:srgbClr val="222222"/>
                </a:solidFill>
                <a:latin typeface="맑은 고딕"/>
                <a:ea typeface="맑은 고딕"/>
              </a:rPr>
              <a:t>•  Q6. 히트율 99%인데 응답시간이 나쁠 수 있는 이유는?</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요약 (Summary)</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600"/>
              </a:spcAft>
            </a:pPr>
            <a:r>
              <a:rPr sz="1600" b="0">
                <a:solidFill>
                  <a:srgbClr val="222222"/>
                </a:solidFill>
                <a:latin typeface="맑은 고딕"/>
                <a:ea typeface="맑은 고딕"/>
              </a:rPr>
              <a:t>•  성능은 응답시간·처리량 두 축으로 재고, 목표는 수치로 정의해야 판정 가능하다.</a:t>
            </a:r>
          </a:p>
          <a:p>
            <a:pPr algn="l">
              <a:spcAft>
                <a:spcPts val="600"/>
              </a:spcAft>
            </a:pPr>
            <a:r>
              <a:rPr sz="1600" b="0">
                <a:solidFill>
                  <a:srgbClr val="222222"/>
                </a:solidFill>
                <a:latin typeface="맑은 고딕"/>
                <a:ea typeface="맑은 고딕"/>
              </a:rPr>
              <a:t>•  튜닝은 사전 예방적 모니터링과 병목 제거. 근거 없이 만지는 것은 도박이다.</a:t>
            </a:r>
          </a:p>
          <a:p>
            <a:pPr algn="l">
              <a:spcAft>
                <a:spcPts val="600"/>
              </a:spcAft>
            </a:pPr>
            <a:r>
              <a:rPr sz="1600" b="0">
                <a:solidFill>
                  <a:srgbClr val="222222"/>
                </a:solidFill>
                <a:latin typeface="맑은 고딕"/>
                <a:ea typeface="맑은 고딕"/>
              </a:rPr>
              <a:t>•  증상과 원인을 혼동하지 않는다. 대기는 어디를 볼지 알려줄 뿐이다.</a:t>
            </a:r>
          </a:p>
          <a:p>
            <a:pPr algn="l">
              <a:spcAft>
                <a:spcPts val="600"/>
              </a:spcAft>
            </a:pPr>
            <a:r>
              <a:rPr sz="1600" b="0">
                <a:solidFill>
                  <a:srgbClr val="222222"/>
                </a:solidFill>
                <a:latin typeface="맑은 고딕"/>
                <a:ea typeface="맑은 고딕"/>
              </a:rPr>
              <a:t>•  DB Time은 공통 화폐. 실측 CPU 약 17.5%, 나머지가 대기. 모든 진단의 출발점.</a:t>
            </a:r>
          </a:p>
          <a:p>
            <a:pPr algn="l">
              <a:spcAft>
                <a:spcPts val="600"/>
              </a:spcAft>
            </a:pPr>
            <a:r>
              <a:rPr sz="1600" b="0">
                <a:solidFill>
                  <a:srgbClr val="222222"/>
                </a:solidFill>
                <a:latin typeface="맑은 고딕"/>
                <a:ea typeface="맑은 고딕"/>
              </a:rPr>
              <a:t>•  도구: 실시간 V$ / 지나간 구간 AWR / 자동 진단 ADDM / 스파이크 ASH / 조치 Advisor.</a:t>
            </a:r>
          </a:p>
          <a:p>
            <a:pPr algn="l">
              <a:spcAft>
                <a:spcPts val="600"/>
              </a:spcAft>
            </a:pPr>
            <a:r>
              <a:rPr sz="1600" b="0">
                <a:solidFill>
                  <a:srgbClr val="222222"/>
                </a:solidFill>
                <a:latin typeface="맑은 고딕"/>
                <a:ea typeface="맑은 고딕"/>
              </a:rPr>
              <a:t>•  AWR·ADDM·ASH=Diagnostics Pack, Advisor·SPA=Tuning Pack. 없으면 V$·Statspack.</a:t>
            </a:r>
          </a:p>
          <a:p>
            <a:pPr algn="l">
              <a:spcAft>
                <a:spcPts val="600"/>
              </a:spcAft>
            </a:pPr>
            <a:r>
              <a:rPr sz="1600" b="0">
                <a:solidFill>
                  <a:srgbClr val="222222"/>
                </a:solidFill>
                <a:latin typeface="맑은 고딕"/>
                <a:ea typeface="맑은 고딕"/>
              </a:rPr>
              <a:t>•  세 가지 경계: 히트율 신앙 · 권고 맹신 · 근거 없는 조치.</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실습 01 개요 (Practice Overview)</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600"/>
              </a:spcAft>
            </a:pPr>
            <a:r>
              <a:rPr sz="1600" b="0">
                <a:solidFill>
                  <a:srgbClr val="222222"/>
                </a:solidFill>
                <a:latin typeface="맑은 고딕"/>
                <a:ea typeface="맑은 고딕"/>
              </a:rPr>
              <a:t>•  실습 01 — 응답시간과 처리량 지표 확인(V$SYS_TIME_MODEL / V$SYSMETRIC)</a:t>
            </a:r>
          </a:p>
          <a:p>
            <a:pPr algn="l">
              <a:spcAft>
                <a:spcPts val="600"/>
              </a:spcAft>
            </a:pPr>
            <a:r>
              <a:rPr sz="1600" b="0">
                <a:solidFill>
                  <a:srgbClr val="222222"/>
                </a:solidFill>
                <a:latin typeface="맑은 고딕"/>
                <a:ea typeface="맑은 고딕"/>
              </a:rPr>
              <a:t>•  실습 02 — 성능 도구 지도 진입점(V$·AWR·ADDM·ASH·Advisor)</a:t>
            </a:r>
          </a:p>
          <a:p>
            <a:pPr algn="l">
              <a:spcAft>
                <a:spcPts val="600"/>
              </a:spcAft>
            </a:pPr>
            <a:r>
              <a:rPr sz="1600" b="0">
                <a:solidFill>
                  <a:srgbClr val="222222"/>
                </a:solidFill>
                <a:latin typeface="맑은 고딕"/>
                <a:ea typeface="맑은 고딕"/>
              </a:rPr>
              <a:t>•  실습 03 — 라이선스 확인(DBA_FEATURE_USAGE_STATISTICS / CONTROL_MANAGEMENT_PACK_ACCESS)</a:t>
            </a:r>
          </a:p>
          <a:p>
            <a:pPr algn="l">
              <a:spcAft>
                <a:spcPts val="600"/>
              </a:spcAft>
            </a:pPr>
            <a:r>
              <a:rPr sz="1600" b="0">
                <a:solidFill>
                  <a:srgbClr val="222222"/>
                </a:solidFill>
                <a:latin typeface="맑은 고딕"/>
                <a:ea typeface="맑은 고딕"/>
              </a:rPr>
              <a:t>•  실습 04 — 튜닝 목표 수치 정의(상위 부하 SQL 현재값·목표값)</a:t>
            </a:r>
          </a:p>
          <a:p>
            <a:pPr algn="l">
              <a:spcAft>
                <a:spcPts val="600"/>
              </a:spcAft>
            </a:pPr>
            <a:r>
              <a:rPr sz="1600" b="0">
                <a:solidFill>
                  <a:srgbClr val="222222"/>
                </a:solidFill>
                <a:latin typeface="맑은 고딕"/>
                <a:ea typeface="맑은 고딕"/>
              </a:rPr>
              <a:t>•  실습 05 — 진료비 스키마 환경 점검(전 챕터 공통 기준선)</a:t>
            </a:r>
          </a:p>
          <a:p>
            <a:pPr algn="l">
              <a:spcAft>
                <a:spcPts val="600"/>
              </a:spcAft>
            </a:pPr>
            <a:r>
              <a:rPr sz="1600" b="0">
                <a:solidFill>
                  <a:srgbClr val="222222"/>
                </a:solidFill>
                <a:latin typeface="맑은 고딕"/>
                <a:ea typeface="맑은 고딕"/>
              </a:rPr>
              <a:t>•  ※ 환경: non-CDB orcl 19.3, 프롬프트 SYS@orcl&gt; / SQLT@orcl&gt;</a:t>
            </a:r>
          </a:p>
          <a:p>
            <a:pPr algn="l">
              <a:spcAft>
                <a:spcPts val="600"/>
              </a:spcAft>
            </a:pPr>
            <a:r>
              <a:rPr sz="1600" b="0">
                <a:solidFill>
                  <a:srgbClr val="222222"/>
                </a:solidFill>
                <a:latin typeface="맑은 고딕"/>
                <a:ea typeface="맑은 고딕"/>
              </a:rPr>
              <a:t>•  ※ 각 실습에 '조치 전 → 조치·조회 → 결과 해석' + '이상 징후→원인→조치' 흐름 포함</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
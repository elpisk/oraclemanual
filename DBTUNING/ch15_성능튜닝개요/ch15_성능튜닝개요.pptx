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ch15의 핵심 교육 포인트를 짚어야 합니다. 성능 지표는 부하가 있어야 나타나며, 조회만 하는 실습으로는 성능 데이터를 만들 수 없습니다. 그래서 ch19부터 공용 부하 스크립트로 실제 부하를 유발한 뒤 지표를 측정합니다.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ch19에서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ch30에서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ch31에서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ch24과 ch30에서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제ch15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1.2  응답시간과 처리량 — 성능을 무엇으로 재는가</a:t>
            </a:r>
          </a:p>
          <a:p>
            <a:pPr algn="l">
              <a:spcAft>
                <a:spcPts val="600"/>
              </a:spcAft>
            </a:pPr>
            <a:r>
              <a:rPr sz="1600" b="0">
                <a:solidFill>
                  <a:srgbClr val="222222"/>
                </a:solidFill>
                <a:latin typeface="맑은 고딕"/>
                <a:ea typeface="맑은 고딕"/>
              </a:rPr>
              <a:t>•  1.3  튜닝이 필요한 시점 — 언제 손대는가</a:t>
            </a:r>
          </a:p>
          <a:p>
            <a:pPr algn="l">
              <a:spcAft>
                <a:spcPts val="600"/>
              </a:spcAft>
            </a:pPr>
            <a:r>
              <a:rPr sz="1600" b="0">
                <a:solidFill>
                  <a:srgbClr val="222222"/>
                </a:solidFill>
                <a:latin typeface="맑은 고딕"/>
                <a:ea typeface="맑은 고딕"/>
              </a:rPr>
              <a:t>•  1.4  DB Time — 이 과정의 공통 화폐</a:t>
            </a:r>
          </a:p>
          <a:p>
            <a:pPr algn="l">
              <a:spcAft>
                <a:spcPts val="600"/>
              </a:spcAft>
            </a:pPr>
            <a:r>
              <a:rPr sz="1600" b="0">
                <a:solidFill>
                  <a:srgbClr val="222222"/>
                </a:solidFill>
                <a:latin typeface="맑은 고딕"/>
                <a:ea typeface="맑은 고딕"/>
              </a:rPr>
              <a:t>•  1.5  성능 도구 지도 — 무엇을 언제 쓰는가</a:t>
            </a:r>
          </a:p>
          <a:p>
            <a:pPr algn="l">
              <a:spcAft>
                <a:spcPts val="600"/>
              </a:spcAft>
            </a:pPr>
            <a:r>
              <a:rPr sz="1600" b="0">
                <a:solidFill>
                  <a:srgbClr val="222222"/>
                </a:solidFill>
                <a:latin typeface="맑은 고딕"/>
                <a:ea typeface="맑은 고딕"/>
              </a:rPr>
              <a:t>•  1.6  관리 팩 라이선스 — 무심코 쓰면 위반이다</a:t>
            </a:r>
          </a:p>
          <a:p>
            <a:pPr algn="l">
              <a:spcAft>
                <a:spcPts val="600"/>
              </a:spcAft>
            </a:pPr>
            <a:r>
              <a:rPr sz="1600" b="0">
                <a:solidFill>
                  <a:srgbClr val="222222"/>
                </a:solidFill>
                <a:latin typeface="맑은 고딕"/>
                <a:ea typeface="맑은 고딕"/>
              </a:rPr>
              <a:t>•  1.7  튜닝 목표를 수치로 정의하는 법</a:t>
            </a:r>
          </a:p>
          <a:p>
            <a:pPr algn="l">
              <a:spcAft>
                <a:spcPts val="600"/>
              </a:spcAft>
            </a:pPr>
            <a:r>
              <a:rPr sz="1600" b="0">
                <a:solidFill>
                  <a:srgbClr val="222222"/>
                </a:solidFill>
                <a:latin typeface="맑은 고딕"/>
                <a:ea typeface="맑은 고딕"/>
              </a:rPr>
              <a:t>•  1.8  세 가지 경계 — 이 과정의 태도</a:t>
            </a:r>
          </a:p>
          <a:p>
            <a:pPr algn="l">
              <a:spcAft>
                <a:spcPts val="600"/>
              </a:spcAft>
            </a:pPr>
            <a:r>
              <a:rPr sz="1600" b="0">
                <a:solidFill>
                  <a:srgbClr val="222222"/>
                </a:solidFill>
                <a:latin typeface="맑은 고딕"/>
                <a:ea typeface="맑은 고딕"/>
              </a:rPr>
              <a:t>•  ※ ADMIN 31장의 AWR·ADDM 개념 소개를 판독·실무 적용으로 확장한다(non-CDB orcl 19.3).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(ch26)</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채택(ch24)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ch31에서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ch24·ch30에서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
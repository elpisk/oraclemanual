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방법론의 성격을 규정한다. 강조할 점은 방법론이 확정적 규칙이 아니라 사고의 절차라는 것이다. 시스템이 복잡하고 저마다 달라 딱 맞는 규칙이 없으므로, 결국 데이터와 통계를 근거로 판단하는 사람의 사고가 결정적이다. 경험 많은 엔지니어일수록 데이터를 건너뛰고 직관에 기대는 유혹에 빠지는데, 이것이 신화와 민담에 의한 튜닝이며 위험하고 비싸다는 점을 반드시 짚는다. ADDM이 방법론의 일부를 자동화하지만 권고는 결론이 아니라 가설이라는 ch15의 태도를 다시 연결한다.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슬라이드의 핵심은 방법론의 대전제다. 병목이 있다는 것을 확인하기 전에는 시스템을 바꾸지 않는다. 성능 개선이 반복적이라는 점을 강조한다. 첫 병목을 없애도 두 번째 병목이 드러나거나, 직렬화 지점이 더 비효율적인 공유 방식으로 이동하면 성능이 오히려 나빠질 수 있다. 이 불확실성 때문에 한 번에 하나만 바꾸고 그 차이를 측정하는 황금률이 성립한다. 이 규율을 지키려면 조치 전 상태가 기록으로 남아 있어야 한다는 점을 3.7절 근거 캡처와 미리 연결해 둔다.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초기 표준 점검의 세 가지를 설명한다. 첫째, 사용자와 비용을 지불하는 사람의 솔직한 피드백에서 출발해 성공 요인과 종료 기준을 업무 목표로 정의한다. 시스템 통계가 아니라 업무 언어로 목표를 쓰는 것이 관리 가능성을 만든다. 둘째, 성능이 좋을 때와 나쁠 때 모두의 통계를 확보해야 비교가 가능해 진단이 쉬워진다. 통계가 없는 것을 범죄 현장의 증거 부재에 빗댄 비유를 강조한다. 셋째, OS 자원을 점검해 소진된 자원을 나중에 분석할 증상으로 목록화한다. 종료 기준이 없으면 성능 작업이 끝없이 이어져 근거 없는 조치의 온상이 된다는 점도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여섯 단계를 순서대로 설명하되, 마지막 메시지를 강조한다. 인스턴스 튜닝에서 얻는 향상은 대개 10퍼센트 미만이고, 큰 향상은 애플리케이션의 비효율을 잡을 때 나온다. 이 사실이 이 과정 전체의 방향을 결정한다. 파라미터를 만지는 것보다 어느 SQL이 어떤 대기 때문에 DB Time을 얼마나 쓰는지 짚는 것이 훨씬 큰 효과를 낸다. 4단계에서 부득이 여러 변경을 동시에 해야 한다면 각 효과를 독립 검증할 수 있도록 변경을 격리하라는 실무 팁도 함께 전달한다. 반복이 방법론의 본질임을 마무리로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개념 모델을 세 갈래의 판단 흐름으로 제시한다. 이 순서가 중요하다는 점을 강조한다. 단일 사용자 환경에서 이미 느린 애플리케이션을 두고 시스템 자원만 보는 헛수고를 피하려면, 먼저 애플리케이션이 최적인지 확인하고, 다음 CPU가 병목인지 보고, 마지막에 직렬화를 조사해야 한다. 세 번째 갈래, 즉 CPU는 남는데 시스템이 느린 경우가 이 장의 블로킹 세션 추적으로 직접 이어진다. 누군가 자원을 붙잡고 놓지 않아 다른 세션이 줄지어 기다리는 직렬화의 전형이 행 잠금 경합임을 예고한다.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 가지 실수의 앞 다섯 개를 설명한다. 1번 잘못된 커넥션 관리는 무상태 미들웨어에서 흔하며 성능에 두 자릿수 배 영향을 주고 전혀 확장되지 않는다. 2번 커서·공유 풀 오용은 바인드 변수를 쓰지 않아 전면 하드 파싱이 일어나는 경우로 ch16·ch32의 주제다. 3번 나쁜 SQL은 고부하 SQL을 ADDM이 식별하고 SQL Tuning Advisor가 권고한다. 4번 비표준 파라미터는 근거 없는 설정이 검증된 실행계획을 덮을 수 있어, 스키마·통계·옵티마이저 설정을 한 묶음으로 관리해야 한다. 5번 I/O 구성은 ch34에서 깊이 다룬다. 이 목록이 가설의 출발점이라는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열 가지 실수의 나머지 다섯 개를 설명한다. 6번 리두 로그 설정 문제는 log file류 대기로 나타나지만 원인은 로그 구성에 있다. 7번 블록 직렬화는 INSERT 집중 환경에서 free list나 트랜잭션 슬롯 부족으로 생기며 ASSM과 자동 Undo로 해소한다. 8번 긴 전체 스캔은 그 자체가 원인이 아니라 인덱스 누락이나 나쁜 SQL의 결과라는 점을 강조한다. 9번 재귀 SQL은 SYS가 실행하면 공간 관리 신호지만 다른 사용자가 실행하면 정상이라, 같은 통계라도 맥락에 따라 해석이 달라진다는 교훈을 준다. 10번은 ADDM이 직접 탐지하지 않지만 그 결과인 고부하 SQL로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슬라이드는 이 과정의 핵심 태도를 다시 새긴다. 많은 성능 통계는 원인이 아니라 증상을 가리킨다. 물리 I/O가 높은 것은 디스크가 느려서일 수도, 튜닝되지 않은 SQL이 불필요한 I/O를 유발해서일 수도 있다. 증상만 보고 조치하면 엉뚱한 곳을 고친다. 그래서 증상인 대기 이벤트에서 출발해 원인인 세그먼트·세션·SQL로 좁혀 들어가는 절차를 반복 훈련한다. 열 가지 실수 목록은 정답표가 아니라 가설의 출발점이며, 반드시 내 시스템의 통계로 확인해야 신화와 민담에 의한 튜닝을 피할 수 있다는 점을 마무리로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대응의 성격을 규정한다. 긴급 상황은 신뢰할 수 있던 시스템이 갑자기 예측 불가능해지고 사용자 요청을 처리하지 못하는 상태다. 방법은 정공법과 본질적으로 같지만 시급함 때문에 여러 단계에서 지름길을 택한다. 다만 절대 생략하면 안 되는 것이 발견한 사실의 기록이며, 이를 의사가 환자 기록을 남기는 것에 비유한다. 갑작스러운 붕괴는 대개 무언가의 변경에서 오므로 마지막으로 성능이 좋았던 이후 무엇이 바뀌었는지가 가장 값진 질문이다. 격앙된 상황에서는 사람의 증언보다 기록된 데이터를 우선해야 하며, 이것이 평상시 기준선 확보를 강조하는 실질적 이유다.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긴급 대응 다섯 단계를 순서대로 제시한다. 1단계는 증상 수집으로, 처리량 문제인지 응답시간 문제인지 가르고 문제 전후의 기준점을 찾는다. 2단계는 하드웨어 점검으로 어느 계층이 문제인지 식별한다. 3단계는 CPU 병목인지 대기 병목인지 판별하는 것으로 다음 절의 체크리스트로 이어진다. 4단계 응급 조치는 애플리케이션 일부를 오프라인으로 돌리거나 워크로드를 제한하거나 시스템을 재시작하는 등 서비스 수준에 영향을 주는 조치다. 5단계는 안정성 검증으로 기준 통계를 다시 수집하고 정공법으로 돌아가 모든 기능과 사용자를 복귀시킨다. 이 복귀가 때로 상당한 애플리케이션 재설계를 요구한다는 점을 언급한다.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슬라이드가 ch17의 핵심 DBA Point를 담는다. 응급 조치와 근본 원인 분석은 서로 다른 활동이므로 반드시 분리해야 한다. 응급 조치의 목표는 오직 서비스 회복이고, 세션 종료나 재시작은 증상을 멈추는 조치일 뿐 원인을 제거하는 조치가 아니다. 원인 분석은 서비스가 회복된 뒤 캡처해 둔 근거로 수행한다. 두 가지를 섞으면 원인을 따지느라 조치가 늦어 중단이 길어지거나, 조치만 하고 근거를 안 남겨 재발 시 원점에서 헤매게 된다. 그래서 순서가 근거 캡처, 응급 조치, 회복 검증, 원인 분석, 재발 방지가 되며, 캡처가 조치보다 앞선다. 조치를 하는 순간 증거가 사라지기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응급 진단의 갈림길을 설명한다. CPU 병목이면 세션별 DB CPU와 논리 읽기가 많은 문장을 조사하고, 대기 병목이면 세션의 대기 이벤트를 따라간다. 여기서 가장 중요한 것은 대기 클래스가 Idle인 이벤트를 병목에서 제외하는 것이다. SQL*Net message from client는 클라이언트의 다음 요청을 기다리는 유휴 시간이라 상위에 보여도 병목이 아니며, 이것을 병목으로 지목하는 것이 대표적 오판이다. 남은 활성 대기 중 Application 클래스는 잠금 경합을, Concurrency 클래스는 라이브러리 캐시 경합을 가리킨다. 라이브러리 캐시 대규모 경합으로 로그인조차 어려우면 실시간 조회 대신 과거 데이터로 진단해야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CPU 병목을 조사하는 조회를 설명한다. V$SESS_TIME_MODEL의 DB CPU 통계를 세션별로 뽑아 어느 세션이 CPU를 많이 쓰는지 본다. 값은 인스턴스와 부하에 따라 달라지므로 절대치를 단정하지 않고 환경값으로 둔다. DB가 CPU 대부분을 쓴다면 그 세션이 실행하는 SQL을 V$SQLSTATS로 조사해 논리 읽기가 많은 문장을 찾고, DB가 아닌 작업이 CPU를 먹고 있다면 OS 수준에서 백업이나 파일 변환 같은 비DB 작업을 조사한다. 이 조회는 라이선스 없이 쓸 수 있는 V$ 뷰만 사용한다는 점을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대기 병목을 조사하는 조회를 설명한다. 활성 세션의 대기 이벤트를 대기 클래스와 함께 집계하되, wait_class가 Idle인 것은 제외한다. Idle 제외가 핵심인데, SQL*Net message from client 같은 유휴 이벤트를 병목으로 착각하는 오판을 원천 차단하기 때문이다. 집계 결과에서 대기 클래스가 Application이면 애플리케이션 수준의 잠금 경합을, Concurrency이면 latch·mutex·library cache 같은 동시성 구조 경합을 의미한다. 이 분류만으로 다음에 어느 뷰를 볼지가 정해진다. Application이면 3.6절의 블로킹 추적으로, Concurrency이면 원인 SQL과 라이브러리 캐시 조사로 향한다.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행 잠금 경합의 원리를 설명한다. 오라클은 행 수준 잠금을 쓰며, UPDATE로 행을 바꾸면 그 행에 TX 잠금이 배타 모드로 걸리고 커밋 또는 롤백 전까지 유지된다. 그동안 같은 행을 바꾸려는 세션은 잠금을 요청한 채 대기하며 enq: TX - row lock contention 이벤트를 겪는다. 대기 클래스는 Application이다. 여기서 중요한 관점은 잠금 자체가 데이터 일관성을 위한 정상 동작이라는 점이다. 문제는 트랜잭션 설계에 있으며, 잠금 보유 시간이 길수록, 특히 사용자 입력을 기다리며 커밋을 미룰수록 경합이 심해진다. 그래서 근본 예방은 잠금을 없애는 것이 아니라 트랜잭션을 짧게 유지하는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블로킹 추적의 1차 도구인 V$SESSION.BLOCKING_SESSION을 실측값으로 설명한다. BLK 컬럼에 다른 SID가 채워진 행이 대기자이며 그 값이 블로커의 SID다. 실측에서 SID 597이 대기자로, 이벤트가 enq TX row lock contention이고 클래스가 Application이며 BLK가 596이다. 즉 597은 596에 막혀 있다. 여기서 결정적인 오판 포인트를 강조한다. 블로커인 596의 이벤트는 SQL Net message from client이고 클래스가 Idle이다. 블로커가 지금 아무 일도 안 하고 유휴 상태로 잠금만 쥐고 있는 것이다. 가장 바쁜 세션을 범인으로 지목하면 진짜 블로커인 유휴 세션 596을 놓친다. 범인은 바쁜 597이 아니라 잠금을 쥔 채 놀고 있는 596이다.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V$LOCK으로 잠금의 실체를 확인한다. TYPE이 TX인 행에서 BLOCK이 1인 SID가 잠금 보유자이자 블로커이고, REQUEST가 0보다 큰 SID가 대기자다. 실측에서 SID 596은 LMODE 6으로 배타 잠금을 보유하고 BLOCK이 1이라 다른 세션을 막고 있으며 REQUEST가 0이라 자신은 아무것도 기다리지 않는다. SID 597은 LMODE 0으로 보유가 없고 REQUEST 6으로 배타 모드를 요청하며 BLOCK이 0이다. V$SESSION의 BLOCKING_SESSION 596과 V$LOCK의 block 1과 request 6이 정확히 같은 사실을 두 각도에서 확인해 준다. 서로 다른 뷰의 값이 일관되게 한 방향을 가리킬 때 진단을 확신할 수 있다는 점을 강조한다. LMODE와 REQUEST의 6은 배타 모드를 뜻한다.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블로킹 관계를 요약해 주는 뷰를 설명한다. DBA_BLOCKERS는 다른 세션을 막고 있으면서 자신은 막혀 있지 않은 순수 블로커를 나열하고, DBA_WAITERS는 대기자와 그 블로커의 쌍을 보여 준다. 실측 구성에서 DBA_WAITERS에는 블로커 596과 대기자 597의 관계가, DBA_BLOCKERS에는 596이 나타난다. 이 뷰들은 관계를 즉시 요약해 응급 상황에서 편리하지만 내부적으로 잠금 정보를 조합해 채워지고 관련 카탈로그 뷰가 미리 생성되어 있어야 하며 대규모 경합 시 조회가 느려질 수 있다. 그래서 실무에서는 V$SESSION.BLOCKING_SESSION을 1차로, V$LOCK을 2차로, DBA_WAITERS를 보조로 쓰는 조합이 견고하다. 어느 뷰를 쓰든 결론이 같아야 한다.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블로킹과 교착 상태를 구분한다. 블로킹은 A가 B를 기다리는 한 방향 관계로, 시간이 지나 A가 커밋하거나 롤백하면 자연히 풀린다. 즉 블로킹 자체는 오라클이 자동으로 해소하지 않고 무한정 유지될 수 있는 정상적인 대기다. 반면 교착 상태는 A가 B를, 동시에 B가 A를 기다리는 순환 관계라 스스로 풀리지 않는다. 오라클은 이 순환을 자동 탐지해 관련 문장 중 하나를 취소하고 그 세션에 ORA-00060 오류를 던진다. 해당 문장만 롤백되고 트랜잭션 전체가 롤백되는 것은 아니므로 애플리케이션이 오류를 잡아 처리해야 한다. 실습 4의 행 잠금 경합은 한 방향 블로킹이며 교착 상태가 아니라는 점을 분명히 한다.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블로킹 해소 절차를 설명하며 이 장의 가장 중요한 규율을 못 박는다. 해소는 두 갈래다. 정상 경로는 블로커가 커밋 또는 롤백하면 잠금이 즉시 풀리는 것으로 가장 안전하다. 비상 경로는 세션이 응답하지 않을 때 강제 종료하는 것이다. 여기서 규율은 세션을 죽이기 전에 반드시 블로커, 대기자, 잠금 대상, 대기 이벤트를 캡처하는 것이다. 세션을 종료하는 순간 V$SESSION과 V$LOCK의 해당 행이 사라져 무엇이 왜 막혀 있었는지 증거가 함께 사라지기 때문이다. ALTER SYSTEM KILL SESSION은 SID와 SERIAL을 함께 지정하며 IMMEDIATE는 즉시 종료를 시도한다. 종료 후에는 대기자가 풀렸는지 재확인한다. 이것이 조치 전, 조치, 조치 후 3단 캡처를 잠금 해소에 적용한 모습이다.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블로커와 대기자를 지목한 뒤 무엇을 두고 다투는지도 캡처해야 한다는 것을 설명한다. V$SESSION의 ROW_WAIT_OBJ#, ROW_WAIT_FILE#, ROW_WAIT_BLOCK#, ROW_WAIT_ROW# 컬럼은 대기자가 기다리는 행이 어느 객체의 어느 블록과 행인지를 가리킨다. ROW_WAIT_OBJ#를 DBA_OBJECTS와 조인하면 객체 이름이 나온다. 이 정보는 원인 규명에 결정적인데, 어느 테이블의 행이 잠겨 있었는지를 알면 어떤 업무 트랜잭션이 관련됐는지 좁힐 수 있기 때문이다. 실습 4에서는 대기자 597이 REVIEW_LOG_WL의 특정 행을 기다리고 있었음을 이 컬럼들로 확인한다. 세션을 종료하면 이 값들도 함께 사라지므로 반드시 종료 전에 캡처해야 한다는 점을 다시 강조한다.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장을 관통하는 원칙을 최종 정리한다. 조치 전 상태를 캡처하지 않은 튜닝은 도박이다. 이 원칙은 만성적 저하를 다루는 방법론과 긴급 상황을 다루는 긴급 대응 모두에 똑같이 적용된다. 방법론에서는 한 번에 하나만 바꾸고 차이를 측정한다는 황금률의 전제로, 긴급 대응에서는 세션을 죽이기 전에 근거를 남긴다는 규율로 나타난다. 뿌리는 하나로, 조치 전 상태가 없으면 성공과 실패를 증명할 수 없고 원인을 사후에 규명할 수도 없다. 이것은 ch15의 세 가지 경계 중 근거 없는 조치와 정확히 같은 뿌리를 가진다. 히트율 신앙, 권고 맹신, 근거 없는 조치는 모두 내가 직접 측정하고 판정하지 않았다는 하나의 잘못이다.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캡처가 필수인 이유를 성능 데이터의 두 가지 성질로 설명한다. 첫째, 많은 성능 통계는 순간값이거나 누적값이다. V$SESSION과 V$LOCK의 잠금 관계는 세션이 종료되거나 커밋되면 사라지는 순간 상태이고, V$SYSSTAT나 V$SYS_TIME_MODEL은 누적값이라 관심 구간의 시작과 끝에서 두 번 떠 델타를 계산해야 한다. 순간 상태는 조치와 함께 소멸하므로 조치 전에 떠 두지 않으면 영영 잃는다. 둘째, 조치는 되돌릴 수 없는 경우가 많다. 종료된 세션은 되살릴 수 없고 롤백된 작업은 사라진다. 그래서 조치 전 캡처는 나중에 필요할지 모르니 남기는 선택이 아니라 지금 남기지 않으면 영원히 없는 필수다. 형식은 SPOOL로 충분하며 조치 전에 남겼는지가 중요하다.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88952"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r>
              <a:rPr sz="1600" b="1">
                <a:solidFill>
                  <a:srgbClr val="FFFFFF"/>
                </a:solidFill>
                <a:latin typeface="맑은 고딕"/>
                <a:ea typeface="맑은 고딕"/>
              </a:rPr>
              <a:t>Oracle Database 19c 성능 튜닝 실무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r>
              <a:rPr sz="3400" b="1">
                <a:solidFill>
                  <a:srgbClr val="C0392B"/>
                </a:solidFill>
                <a:latin typeface="맑은 고딕"/>
                <a:ea typeface="맑은 고딕"/>
              </a:rPr>
              <a:t>성능 개선 방법론과 긴급 대응</a:t>
            </a:r>
          </a:p>
          <a:p>
            <a:pPr algn="l"/>
            <a:r>
              <a:rPr sz="2000" b="0">
                <a:solidFill>
                  <a:srgbClr val="5A6672"/>
                </a:solidFill>
                <a:latin typeface="맑은 고딕"/>
                <a:ea typeface="맑은 고딕"/>
              </a:rPr>
              <a:t>Performance Improvement Methods — 무엇부터, 어떤 순서로 손대는가</a:t>
            </a:r>
          </a:p>
        </p:txBody>
      </p:sp>
      <p:sp>
        <p:nvSpPr>
          <p:cNvPr id="7" name="TextBox 6"/>
          <p:cNvSpPr txBox="1"/>
          <p:nvPr/>
        </p:nvSpPr>
        <p:spPr>
          <a:xfrm>
            <a:off x="731520" y="4114800"/>
            <a:ext cx="10698480" cy="1097280"/>
          </a:xfrm>
          <a:prstGeom prst="rect">
            <a:avLst/>
          </a:prstGeom>
          <a:noFill/>
        </p:spPr>
        <p:txBody>
          <a:bodyPr wrap="square">
            <a:spAutoFit/>
          </a:bodyPr>
          <a:lstStyle/>
          <a:p>
            <a:pPr algn="l"/>
            <a:r>
              <a:rPr sz="1500" b="0">
                <a:solidFill>
                  <a:srgbClr val="5A6672"/>
                </a:solidFill>
                <a:latin typeface="맑은 고딕"/>
                <a:ea typeface="맑은 고딕"/>
              </a:rPr>
              <a:t>성능 개선 방법론 · 긴급 대응 5단계 · 블로킹 세션 추적 · 조치 전 근거 캡처</a:t>
            </a:r>
          </a:p>
        </p:txBody>
      </p:sp>
      <p:sp>
        <p:nvSpPr>
          <p:cNvPr id="8" name="TextBox 7"/>
          <p:cNvSpPr txBox="1"/>
          <p:nvPr/>
        </p:nvSpPr>
        <p:spPr>
          <a:xfrm>
            <a:off x="731520" y="5577840"/>
            <a:ext cx="10698480" cy="914400"/>
          </a:xfrm>
          <a:prstGeom prst="rect">
            <a:avLst/>
          </a:prstGeom>
          <a:noFill/>
        </p:spPr>
        <p:txBody>
          <a:bodyPr wrap="square">
            <a:spAutoFit/>
          </a:bodyPr>
          <a:lstStyle/>
          <a:p>
            <a:pPr algn="l"/>
            <a:r>
              <a:rPr sz="2000" b="1">
                <a:solidFill>
                  <a:srgbClr val="C0392B"/>
                </a:solidFill>
                <a:latin typeface="맑은 고딕"/>
                <a:ea typeface="맑은 고딕"/>
              </a:rPr>
              <a:t>ch17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오라클 성능 개선 방법론의 여섯 단계를 순서대로 설명하고, '병목을 확인한 뒤에만 바꾼다'는 전제를 지킨다.</a:t>
            </a:r>
          </a:p>
          <a:p>
            <a:pPr algn="l"/>
            <a:r>
              <a:rPr sz="1600" b="0">
                <a:solidFill>
                  <a:srgbClr val="222222"/>
                </a:solidFill>
                <a:latin typeface="맑은 고딕"/>
                <a:ea typeface="맑은 고딕"/>
              </a:rPr>
              <a:t>•  증상과 원인을 혼동하지 않고, 자원 대기(wait events)에서 직렬화 지점과 원인으로 좁혀 들어간다.</a:t>
            </a:r>
          </a:p>
          <a:p>
            <a:pPr algn="l"/>
            <a:r>
              <a:rPr sz="1600" b="0">
                <a:solidFill>
                  <a:srgbClr val="222222"/>
                </a:solidFill>
                <a:latin typeface="맑은 고딕"/>
                <a:ea typeface="맑은 고딕"/>
              </a:rPr>
              <a:t>•  오라클에서 자주 나오는 열 가지 실수를 알고, 눈앞의 증상을 이 목록과 대조해 원인 가설을 세운다.</a:t>
            </a:r>
          </a:p>
          <a:p>
            <a:pPr algn="l"/>
            <a:r>
              <a:rPr sz="1600" b="0">
                <a:solidFill>
                  <a:srgbClr val="222222"/>
                </a:solidFill>
                <a:latin typeface="맑은 고딕"/>
                <a:ea typeface="맑은 고딕"/>
              </a:rPr>
              <a:t>•  긴급 대응 방법의 다섯 단계를 설명하고, 응급 조치와 근본 원인 분석을 분리해 수행한다.</a:t>
            </a:r>
          </a:p>
          <a:p>
            <a:pPr algn="l"/>
            <a:r>
              <a:rPr sz="1600" b="0">
                <a:solidFill>
                  <a:srgbClr val="222222"/>
                </a:solidFill>
                <a:latin typeface="맑은 고딕"/>
                <a:ea typeface="맑은 고딕"/>
              </a:rPr>
              <a:t>•  응급 상황에서 CPU 병목인지 대기 병목인지 V$ 뷰로 판별한다.</a:t>
            </a:r>
          </a:p>
          <a:p>
            <a:pPr algn="l"/>
            <a:r>
              <a:rPr sz="1600" b="0">
                <a:solidFill>
                  <a:srgbClr val="222222"/>
                </a:solidFill>
                <a:latin typeface="맑은 고딕"/>
                <a:ea typeface="맑은 고딕"/>
              </a:rPr>
              <a:t>•  V$SESSION.BLOCKING_SESSION·V$LOCK·DBA_BLOCKERS로 블로커와 대기자를 지목한다.</a:t>
            </a:r>
          </a:p>
          <a:p>
            <a:pPr algn="l"/>
            <a:r>
              <a:rPr sz="1600" b="0">
                <a:solidFill>
                  <a:srgbClr val="222222"/>
                </a:solidFill>
                <a:latin typeface="맑은 고딕"/>
                <a:ea typeface="맑은 고딕"/>
              </a:rPr>
              <a:t>•  근거를 캡처한 뒤에만 세션을 종료한다. 조치 전 캡처 없는 튜닝은 도박임을 안다.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3.2  오라클 성능 개선 방법론 — 일하는 방식과 여섯 단계</a:t>
            </a:r>
          </a:p>
          <a:p>
            <a:pPr algn="l"/>
            <a:r>
              <a:rPr sz="1600" b="0">
                <a:solidFill>
                  <a:srgbClr val="222222"/>
                </a:solidFill>
                <a:latin typeface="맑은 고딕"/>
                <a:ea typeface="맑은 고딕"/>
              </a:rPr>
              <a:t>•  3.3  증상에서 원인으로 — 자주 나오는 열 가지 실수</a:t>
            </a:r>
          </a:p>
          <a:p>
            <a:pPr algn="l"/>
            <a:r>
              <a:rPr sz="1600" b="0">
                <a:solidFill>
                  <a:srgbClr val="222222"/>
                </a:solidFill>
                <a:latin typeface="맑은 고딕"/>
                <a:ea typeface="맑은 고딕"/>
              </a:rPr>
              <a:t>•  3.4  긴급 대응 — 다섯 단계와 '조치·원인 분석 분리'</a:t>
            </a:r>
          </a:p>
          <a:p>
            <a:pPr algn="l"/>
            <a:r>
              <a:rPr sz="1600" b="0">
                <a:solidFill>
                  <a:srgbClr val="222222"/>
                </a:solidFill>
                <a:latin typeface="맑은 고딕"/>
                <a:ea typeface="맑은 고딕"/>
              </a:rPr>
              <a:t>•  3.5  응급 진단 체크리스트 — CPU 병목인가 대기 병목인가</a:t>
            </a:r>
          </a:p>
          <a:p>
            <a:pPr algn="l"/>
            <a:r>
              <a:rPr sz="1600" b="0">
                <a:solidFill>
                  <a:srgbClr val="222222"/>
                </a:solidFill>
                <a:latin typeface="맑은 고딕"/>
                <a:ea typeface="맑은 고딕"/>
              </a:rPr>
              <a:t>•  3.6  블로킹 세션 추적과 해소 (실측 SID 596/597)</a:t>
            </a:r>
          </a:p>
          <a:p>
            <a:pPr algn="l"/>
            <a:r>
              <a:rPr sz="1600" b="0">
                <a:solidFill>
                  <a:srgbClr val="222222"/>
                </a:solidFill>
                <a:latin typeface="맑은 고딕"/>
                <a:ea typeface="맑은 고딕"/>
              </a:rPr>
              <a:t>•  3.7  조치 전 근거 캡처 — 도박이 아니라 튜닝</a:t>
            </a:r>
          </a:p>
          <a:p>
            <a:pPr algn="l"/>
            <a:r>
              <a:rPr sz="1600" b="0">
                <a:solidFill>
                  <a:srgbClr val="222222"/>
                </a:solidFill>
                <a:latin typeface="맑은 고딕"/>
                <a:ea typeface="맑은 고딕"/>
              </a:rPr>
              <a:t>•  3.8~3.10  요약 · 퀴즈 · 실습 개요</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3.2</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오라클 성능 개선 방법론</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일하는 방식이지 규칙의 집합이 아니다</a:t>
            </a:r>
          </a:p>
          <a:p>
            <a:pPr algn="l"/>
            <a:r>
              <a:rPr sz="1600" b="0">
                <a:solidFill>
                  <a:srgbClr val="FFFFFF"/>
                </a:solidFill>
                <a:latin typeface="맑은 고딕"/>
                <a:ea typeface="맑은 고딕"/>
              </a:rPr>
              <a:t>•  병목을 확인한 뒤에만 바꾼다</a:t>
            </a:r>
          </a:p>
          <a:p>
            <a:pPr algn="l"/>
            <a:r>
              <a:rPr sz="1600" b="0">
                <a:solidFill>
                  <a:srgbClr val="FFFFFF"/>
                </a:solidFill>
                <a:latin typeface="맑은 고딕"/>
                <a:ea typeface="맑은 고딕"/>
              </a:rPr>
              <a:t>•  한 번에 하나만 바꿔 차이를 측정한다</a:t>
            </a:r>
          </a:p>
          <a:p>
            <a:pPr algn="l"/>
            <a:r>
              <a:rPr sz="1600" b="0">
                <a:solidFill>
                  <a:srgbClr val="FFFFFF"/>
                </a:solidFill>
                <a:latin typeface="맑은 고딕"/>
                <a:ea typeface="맑은 고딕"/>
              </a:rPr>
              <a:t>•  가장 큰 병목 하나에 집중한다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방법론은 규칙이 아니라 '일하는 방식'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The Oracle Performance Improvement Method</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시스템은 저마다 달라 절대 규칙이 없다 — '규칙은 규칙이 없다는 것'</a:t>
            </a:r>
          </a:p>
          <a:p>
            <a:pPr algn="l"/>
            <a:r>
              <a:rPr sz="1700" b="0">
                <a:solidFill>
                  <a:srgbClr val="222222"/>
                </a:solidFill>
                <a:latin typeface="맑은 고딕"/>
                <a:ea typeface="맑은 고딕"/>
              </a:rPr>
              <a:t>•  데이터를 근거로 측면에서 사고해 병목을 짚는다</a:t>
            </a:r>
          </a:p>
          <a:p>
            <a:pPr algn="l"/>
            <a:r>
              <a:rPr sz="1700" b="0">
                <a:solidFill>
                  <a:srgbClr val="222222"/>
                </a:solidFill>
                <a:latin typeface="맑은 고딕"/>
                <a:ea typeface="맑은 고딕"/>
              </a:rPr>
              <a:t>•  경험만 믿고 데이터를 무시하면 '신화와 민담에 의한 튜닝'에 빠진다</a:t>
            </a:r>
          </a:p>
          <a:p>
            <a:pPr algn="l"/>
            <a:r>
              <a:rPr sz="1700" b="0">
                <a:solidFill>
                  <a:srgbClr val="222222"/>
                </a:solidFill>
                <a:latin typeface="맑은 고딕"/>
                <a:ea typeface="맑은 고딕"/>
              </a:rPr>
              <a:t>•  ADDM은 이 방법론의 일부를 코드로 구현한 것 — 그래도 권고는 가설이다</a:t>
            </a:r>
          </a:p>
          <a:p>
            <a:pPr algn="l"/>
            <a:r>
              <a:rPr sz="1700" b="0">
                <a:solidFill>
                  <a:srgbClr val="222222"/>
                </a:solidFill>
                <a:latin typeface="맑은 고딕"/>
                <a:ea typeface="맑은 고딕"/>
              </a:rPr>
              <a:t>•  성능 개선은 본질적으로 반복적(iterative)이다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병목을 확인한 뒤에만 바꾼다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방법론의 전제</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성능 문제 = 처리량 부족 / 응답시간 불량 / 둘 다</a:t>
            </a:r>
          </a:p>
          <a:p>
            <a:pPr algn="l"/>
            <a:r>
              <a:rPr sz="1700" b="0">
                <a:solidFill>
                  <a:srgbClr val="222222"/>
                </a:solidFill>
                <a:latin typeface="맑은 고딕"/>
                <a:ea typeface="맑은 고딕"/>
              </a:rPr>
              <a:t>•  확인 없는 변경은 방법론이 아니라 도박(ch15 '근거 없는 조치')</a:t>
            </a:r>
          </a:p>
          <a:p>
            <a:pPr algn="l"/>
            <a:r>
              <a:rPr sz="1700" b="0">
                <a:solidFill>
                  <a:srgbClr val="222222"/>
                </a:solidFill>
                <a:latin typeface="맑은 고딕"/>
                <a:ea typeface="맑은 고딕"/>
              </a:rPr>
              <a:t>•  반복적이라 첫 병목 제거가 곧바로 개선으로 이어지지 않을 수 있다</a:t>
            </a:r>
          </a:p>
          <a:p>
            <a:pPr algn="l"/>
            <a:r>
              <a:rPr sz="1700" b="0">
                <a:solidFill>
                  <a:srgbClr val="222222"/>
                </a:solidFill>
                <a:latin typeface="맑은 고딕"/>
                <a:ea typeface="맑은 고딕"/>
              </a:rPr>
              <a:t>•  직렬화 지점이 더 나쁜 방식으로 옮겨 가면 오히려 악화된다</a:t>
            </a:r>
          </a:p>
          <a:p>
            <a:pPr algn="l"/>
            <a:r>
              <a:rPr sz="1700" b="0">
                <a:solidFill>
                  <a:srgbClr val="222222"/>
                </a:solidFill>
                <a:latin typeface="맑은 고딕"/>
                <a:ea typeface="맑은 고딕"/>
              </a:rPr>
              <a:t>•  그래서 '한 번에 하나만 바꾸고 측정'이라는 황금률이 필요하다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초기 표준 점검 — 증거부터 모은다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통계가 없는 것은 범죄 현장에 증거가 없는 것</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사용자 피드백으로 목표·범위·종료 기준을 업무 언어로 확정</a:t>
            </a:r>
          </a:p>
          <a:p>
            <a:pPr algn="l"/>
            <a:r>
              <a:rPr sz="1700" b="0">
                <a:solidFill>
                  <a:srgbClr val="222222"/>
                </a:solidFill>
                <a:latin typeface="맑은 고딕"/>
                <a:ea typeface="맑은 고딕"/>
              </a:rPr>
              <a:t>•  '3시간 안에 100만 건', '피크 시 5초 이내'처럼 수치로</a:t>
            </a:r>
          </a:p>
          <a:p>
            <a:pPr algn="l"/>
            <a:r>
              <a:rPr sz="1700" b="0">
                <a:solidFill>
                  <a:srgbClr val="222222"/>
                </a:solidFill>
                <a:latin typeface="맑은 고딕"/>
                <a:ea typeface="맑은 고딕"/>
              </a:rPr>
              <a:t>•  ② 좋을 때·나쁠 때 OS·DB·앱 통계를 모두 확보 (비교 가능하게)</a:t>
            </a:r>
          </a:p>
          <a:p>
            <a:pPr algn="l"/>
            <a:r>
              <a:rPr sz="1700" b="0">
                <a:solidFill>
                  <a:srgbClr val="222222"/>
                </a:solidFill>
                <a:latin typeface="맑은 고딕"/>
                <a:ea typeface="맑은 고딕"/>
              </a:rPr>
              <a:t>•  ③ 모든 관련 컴퓨터의 OS를 점검 — 소진된 자원을 증상으로 목록화</a:t>
            </a:r>
          </a:p>
          <a:p>
            <a:pPr algn="l"/>
            <a:r>
              <a:rPr sz="1700" b="0">
                <a:solidFill>
                  <a:srgbClr val="222222"/>
                </a:solidFill>
                <a:latin typeface="맑은 고딕"/>
                <a:ea typeface="맑은 고딕"/>
              </a:rPr>
              <a:t>•  성공의 척도는 언제나 사용자가 체감하는 성능이다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방법론의 여섯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확인 → 대조 → 모델 → 조치 → 검증 → 반복</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초기 점검: 목표 확정·통계 확보·OS 점검</a:t>
            </a:r>
          </a:p>
          <a:p>
            <a:pPr algn="l"/>
            <a:r>
              <a:rPr sz="1700" b="0">
                <a:solidFill>
                  <a:srgbClr val="222222"/>
                </a:solidFill>
                <a:latin typeface="맑은 고딕"/>
                <a:ea typeface="맑은 고딕"/>
              </a:rPr>
              <a:t>•  2 흔한 실수 대조: 열 가지 실수와 대조(ADDM이 9개 자동 탐지)</a:t>
            </a:r>
          </a:p>
          <a:p>
            <a:pPr algn="l"/>
            <a:r>
              <a:rPr sz="1700" b="0">
                <a:solidFill>
                  <a:srgbClr val="222222"/>
                </a:solidFill>
                <a:latin typeface="맑은 고딕"/>
                <a:ea typeface="맑은 고딕"/>
              </a:rPr>
              <a:t>•  3 개념 모델: 증상을 단서로 무슨 일이 벌어지는지 가설</a:t>
            </a:r>
          </a:p>
          <a:p>
            <a:pPr algn="l"/>
            <a:r>
              <a:rPr sz="1700" b="0">
                <a:solidFill>
                  <a:srgbClr val="222222"/>
                </a:solidFill>
                <a:latin typeface="맑은 고딕"/>
                <a:ea typeface="맑은 고딕"/>
              </a:rPr>
              <a:t>•  4 조치 제안·적용: 예상 효과와 함께, 한 번에 하나만</a:t>
            </a:r>
          </a:p>
          <a:p>
            <a:pPr algn="l"/>
            <a:r>
              <a:rPr sz="1700" b="0">
                <a:solidFill>
                  <a:srgbClr val="222222"/>
                </a:solidFill>
                <a:latin typeface="맑은 고딕"/>
                <a:ea typeface="맑은 고딕"/>
              </a:rPr>
              <a:t>•  5 효과 검증: 재측정·사용자 체감으로 판정</a:t>
            </a:r>
          </a:p>
          <a:p>
            <a:pPr algn="l"/>
            <a:r>
              <a:rPr sz="1700" b="0">
                <a:solidFill>
                  <a:srgbClr val="222222"/>
                </a:solidFill>
                <a:latin typeface="맑은 고딕"/>
                <a:ea typeface="맑은 고딕"/>
              </a:rPr>
              <a:t>•  6 반복: 목표 달성 또는 불가능해질 때까지</a:t>
            </a:r>
          </a:p>
          <a:p>
            <a:pPr algn="l"/>
            <a:r>
              <a:rPr sz="1700" b="0">
                <a:solidFill>
                  <a:srgbClr val="222222"/>
                </a:solidFill>
                <a:latin typeface="맑은 고딕"/>
                <a:ea typeface="맑은 고딕"/>
              </a:rPr>
              <a:t>•  인스턴스 튜닝 효과는 &lt;10%, 앱 비효율 제거는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개념 모델 — 세 갈래로 좁힌다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A Sample Decision Process</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한가한 시스템에서 단일 사용자도 느린가? → 애플리케이션 문제(설계·SQL)</a:t>
            </a:r>
          </a:p>
          <a:p>
            <a:pPr algn="l"/>
            <a:r>
              <a:rPr sz="1700" b="0">
                <a:solidFill>
                  <a:srgbClr val="222222"/>
                </a:solidFill>
                <a:latin typeface="맑은 고딕"/>
                <a:ea typeface="맑은 고딕"/>
              </a:rPr>
              <a:t>•  ② CPU가 다 쓰이는가? → 고부하 SQL·자원(V$SQL·V$SQLSTATS), OS의 비DB 작업 점검</a:t>
            </a:r>
          </a:p>
          <a:p>
            <a:pPr algn="l"/>
            <a:r>
              <a:rPr sz="1700" b="0">
                <a:solidFill>
                  <a:srgbClr val="222222"/>
                </a:solidFill>
                <a:latin typeface="맑은 고딕"/>
                <a:ea typeface="맑은 고딕"/>
              </a:rPr>
              <a:t>•  ③ CPU는 남는데 느린가? → 직렬화·대기(WAIT_EVENTS). 없으면 DB 밖</a:t>
            </a:r>
          </a:p>
          <a:p>
            <a:pPr algn="l"/>
            <a:r>
              <a:rPr sz="1700" b="0">
                <a:solidFill>
                  <a:srgbClr val="222222"/>
                </a:solidFill>
                <a:latin typeface="맑은 고딕"/>
                <a:ea typeface="맑은 고딕"/>
              </a:rPr>
              <a:t>•  순서가 중요: ①→②→③</a:t>
            </a:r>
          </a:p>
          <a:p>
            <a:pPr algn="l"/>
            <a:r>
              <a:rPr sz="1700" b="0">
                <a:solidFill>
                  <a:srgbClr val="222222"/>
                </a:solidFill>
                <a:latin typeface="맑은 고딕"/>
                <a:ea typeface="맑은 고딕"/>
              </a:rPr>
              <a:t>•  ③이 이 장의 블로킹 세션 실습으로 직접 이어진다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3.3</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증상에서 원인으로</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자주 나오는 열 가지 실수</a:t>
            </a:r>
          </a:p>
          <a:p>
            <a:pPr algn="l"/>
            <a:r>
              <a:rPr sz="1600" b="0">
                <a:solidFill>
                  <a:srgbClr val="FFFFFF"/>
                </a:solidFill>
                <a:latin typeface="맑은 고딕"/>
                <a:ea typeface="맑은 고딕"/>
              </a:rPr>
              <a:t>•  ADDM이 아홉 개를 자동 탐지</a:t>
            </a:r>
          </a:p>
          <a:p>
            <a:pPr algn="l"/>
            <a:r>
              <a:rPr sz="1600" b="0">
                <a:solidFill>
                  <a:srgbClr val="FFFFFF"/>
                </a:solidFill>
                <a:latin typeface="맑은 고딕"/>
                <a:ea typeface="맑은 고딕"/>
              </a:rPr>
              <a:t>•  증상을 원인으로 착각하지 않기</a:t>
            </a:r>
          </a:p>
          <a:p>
            <a:pPr algn="l"/>
            <a:r>
              <a:rPr sz="1600" b="0">
                <a:solidFill>
                  <a:srgbClr val="FFFFFF"/>
                </a:solidFill>
                <a:latin typeface="맑은 고딕"/>
                <a:ea typeface="맑은 고딕"/>
              </a:rPr>
              <a:t>•  가설의 출발점이지 정답표가 아니다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자주 나오는 열 가지 실수 (1~5)</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원인 가설의 체크리스트</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잘못된 커넥션 관리 — 매 상호작용 접속·해제, 비확장적</a:t>
            </a:r>
          </a:p>
          <a:p>
            <a:pPr algn="l"/>
            <a:r>
              <a:rPr sz="1700" b="0">
                <a:solidFill>
                  <a:srgbClr val="222222"/>
                </a:solidFill>
                <a:latin typeface="맑은 고딕"/>
                <a:ea typeface="맑은 고딕"/>
              </a:rPr>
              <a:t>•  2 커서·공유 풀 오용 — 바인드 변수 미사용 = 전면 하드 파싱</a:t>
            </a:r>
          </a:p>
          <a:p>
            <a:pPr algn="l"/>
            <a:r>
              <a:rPr sz="1700" b="0">
                <a:solidFill>
                  <a:srgbClr val="222222"/>
                </a:solidFill>
                <a:latin typeface="맑은 고딕"/>
                <a:ea typeface="맑은 고딕"/>
              </a:rPr>
              <a:t>•  3 나쁜 SQL — 요구 대비 과도한 자원 사용</a:t>
            </a:r>
          </a:p>
          <a:p>
            <a:pPr algn="l"/>
            <a:r>
              <a:rPr sz="1700" b="0">
                <a:solidFill>
                  <a:srgbClr val="222222"/>
                </a:solidFill>
                <a:latin typeface="맑은 고딕"/>
                <a:ea typeface="맑은 고딕"/>
              </a:rPr>
              <a:t>•  4 비표준 초기화 파라미터 — 검증된 계획을 덮어쓸 위험</a:t>
            </a:r>
          </a:p>
          <a:p>
            <a:pPr algn="l"/>
            <a:r>
              <a:rPr sz="1700" b="0">
                <a:solidFill>
                  <a:srgbClr val="222222"/>
                </a:solidFill>
                <a:latin typeface="맑은 고딕"/>
                <a:ea typeface="맑은 고딕"/>
              </a:rPr>
              <a:t>•  5 잘못된 I/O 구성 — 용량 기준 배치, I/O 대역폭 무시</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자주 나오는 열 가지 실수 (6~10)</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증상을 원인으로 착각하지 말 것</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6 온라인 리두 로그 설정 — 너무 적거나 작으면 잦은 체크포인트</a:t>
            </a:r>
          </a:p>
          <a:p>
            <a:pPr algn="l"/>
            <a:r>
              <a:rPr sz="1700" b="0">
                <a:solidFill>
                  <a:srgbClr val="222222"/>
                </a:solidFill>
                <a:latin typeface="맑은 고딕"/>
                <a:ea typeface="맑은 고딕"/>
              </a:rPr>
              <a:t>•  7 버퍼 캐시 블록 직렬화 — free list·INITRANS 부족, ASSM으로 해소</a:t>
            </a:r>
          </a:p>
          <a:p>
            <a:pPr algn="l"/>
            <a:r>
              <a:rPr sz="1700" b="0">
                <a:solidFill>
                  <a:srgbClr val="222222"/>
                </a:solidFill>
                <a:latin typeface="맑은 고딕"/>
                <a:ea typeface="맑은 고딕"/>
              </a:rPr>
              <a:t>•  8 긴 전체 테이블 스캔 — 인덱스 누락·SQL 문제의 신호</a:t>
            </a:r>
          </a:p>
          <a:p>
            <a:pPr algn="l"/>
            <a:r>
              <a:rPr sz="1700" b="0">
                <a:solidFill>
                  <a:srgbClr val="222222"/>
                </a:solidFill>
                <a:latin typeface="맑은 고딕"/>
                <a:ea typeface="맑은 고딕"/>
              </a:rPr>
              <a:t>•  9 과도한 재귀(SYS) SQL — 공간 관리 활동 신호, LMT로 완화</a:t>
            </a:r>
          </a:p>
          <a:p>
            <a:pPr algn="l"/>
            <a:r>
              <a:rPr sz="1700" b="0">
                <a:solidFill>
                  <a:srgbClr val="222222"/>
                </a:solidFill>
                <a:latin typeface="맑은 고딕"/>
                <a:ea typeface="맑은 고딕"/>
              </a:rPr>
              <a:t>•  10 배포·마이그레이션 오류 — 통계·인덱스 이관 실패</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증상은 원인이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통계는 대개 원인이 아니라 증상을 가리킨다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물리 I/O가 높다 → 디스크 탓? 튜닝 안 된 SQL 탓?</a:t>
            </a:r>
          </a:p>
          <a:p>
            <a:pPr algn="l"/>
            <a:r>
              <a:rPr sz="1700" b="0">
                <a:solidFill>
                  <a:srgbClr val="222222"/>
                </a:solidFill>
                <a:latin typeface="맑은 고딕"/>
                <a:ea typeface="맑은 고딕"/>
              </a:rPr>
              <a:t>•  긴 전체 스캔은 결과이지 원인이 아니다</a:t>
            </a:r>
          </a:p>
          <a:p>
            <a:pPr algn="l"/>
            <a:r>
              <a:rPr sz="1700" b="0">
                <a:solidFill>
                  <a:srgbClr val="222222"/>
                </a:solidFill>
                <a:latin typeface="맑은 고딕"/>
                <a:ea typeface="맑은 고딕"/>
              </a:rPr>
              <a:t>•  래치 경합은 대개 애플리케이션 변경으로 해소</a:t>
            </a:r>
          </a:p>
          <a:p>
            <a:pPr algn="l"/>
            <a:r>
              <a:rPr sz="1700" b="0">
                <a:solidFill>
                  <a:srgbClr val="222222"/>
                </a:solidFill>
                <a:latin typeface="맑은 고딕"/>
                <a:ea typeface="맑은 고딕"/>
              </a:rPr>
              <a:t>•  그래서 증상(대기)에서 원인(세그먼트·세션·SQL)으로 좁힌다</a:t>
            </a:r>
          </a:p>
          <a:p>
            <a:pPr algn="l"/>
            <a:r>
              <a:rPr sz="1700" b="0">
                <a:solidFill>
                  <a:srgbClr val="222222"/>
                </a:solidFill>
                <a:latin typeface="맑은 고딕"/>
                <a:ea typeface="맑은 고딕"/>
              </a:rPr>
              <a:t>•  신화·민담에 의한 튜닝을 경계 — 반드시 내 통계로 확인</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3.4</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긴급 대응</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방금 멀쩡하던 시스템이 멈췄을 때</a:t>
            </a:r>
          </a:p>
          <a:p>
            <a:pPr algn="l"/>
            <a:r>
              <a:rPr sz="1600" b="0">
                <a:solidFill>
                  <a:srgbClr val="FFFFFF"/>
                </a:solidFill>
                <a:latin typeface="맑은 고딕"/>
                <a:ea typeface="맑은 고딕"/>
              </a:rPr>
              <a:t>•  빠른 진단 + 즉각 조치</a:t>
            </a:r>
          </a:p>
          <a:p>
            <a:pPr algn="l"/>
            <a:r>
              <a:rPr sz="1600" b="0">
                <a:solidFill>
                  <a:srgbClr val="FFFFFF"/>
                </a:solidFill>
                <a:latin typeface="맑은 고딕"/>
                <a:ea typeface="맑은 고딕"/>
              </a:rPr>
              <a:t>•  그러나 사실 기록은 생략하지 않는다</a:t>
            </a:r>
          </a:p>
          <a:p>
            <a:pPr algn="l"/>
            <a:r>
              <a:rPr sz="1600" b="0">
                <a:solidFill>
                  <a:srgbClr val="FFFFFF"/>
                </a:solidFill>
                <a:latin typeface="맑은 고딕"/>
                <a:ea typeface="맑은 고딕"/>
              </a:rPr>
              <a:t>•  응급 조치와 근본 원인 분석은 분리</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긴급 대응이란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Emergency Performance Methods</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신뢰할 수 있던 시스템이 갑자기 예측 불가·요청 처리 불가로 전환</a:t>
            </a:r>
          </a:p>
          <a:p>
            <a:pPr algn="l"/>
            <a:r>
              <a:rPr sz="1700" b="0">
                <a:solidFill>
                  <a:srgbClr val="222222"/>
                </a:solidFill>
                <a:latin typeface="맑은 고딕"/>
                <a:ea typeface="맑은 고딕"/>
              </a:rPr>
              <a:t>•  무엇이 바뀌었는지 빠르게 판단하고 서비스를 빨리 회복</a:t>
            </a:r>
          </a:p>
          <a:p>
            <a:pPr algn="l"/>
            <a:r>
              <a:rPr sz="1700" b="0">
                <a:solidFill>
                  <a:srgbClr val="222222"/>
                </a:solidFill>
                <a:latin typeface="맑은 고딕"/>
                <a:ea typeface="맑은 고딕"/>
              </a:rPr>
              <a:t>•  방법은 정공법과 같으나 시급함 때문에 지름길을 택한다</a:t>
            </a:r>
          </a:p>
          <a:p>
            <a:pPr algn="l"/>
            <a:r>
              <a:rPr sz="1700" b="0">
                <a:solidFill>
                  <a:srgbClr val="222222"/>
                </a:solidFill>
                <a:latin typeface="맑은 고딕"/>
                <a:ea typeface="맑은 고딕"/>
              </a:rPr>
              <a:t>•  생략 금지: 발견한 사실을 상세히 기록한다(의사의 환자 기록처럼)</a:t>
            </a:r>
          </a:p>
          <a:p>
            <a:pPr algn="l"/>
            <a:r>
              <a:rPr sz="1700" b="0">
                <a:solidFill>
                  <a:srgbClr val="222222"/>
                </a:solidFill>
                <a:latin typeface="맑은 고딕"/>
                <a:ea typeface="맑은 고딕"/>
              </a:rPr>
              <a:t>•  핵심 질문: '마지막으로 성능이 좋았던 이후 무엇이 바뀌었나?'</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긴급 대응의 다섯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지름길을 택하되 기록은 남긴다</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1 증상 수집 — 처리량? 응답시간? 무엇이 바뀌었나? 기준점 확보</a:t>
            </a:r>
          </a:p>
          <a:p>
            <a:pPr algn="l"/>
            <a:r>
              <a:rPr sz="1700" b="0">
                <a:solidFill>
                  <a:srgbClr val="222222"/>
                </a:solidFill>
                <a:latin typeface="맑은 고딕"/>
                <a:ea typeface="맑은 고딕"/>
              </a:rPr>
              <a:t>•  2 하드웨어 점검 — CPU·디스크·메모리·네트워크, 어느 계층인가</a:t>
            </a:r>
          </a:p>
          <a:p>
            <a:pPr algn="l"/>
            <a:r>
              <a:rPr sz="1700" b="0">
                <a:solidFill>
                  <a:srgbClr val="222222"/>
                </a:solidFill>
                <a:latin typeface="맑은 고딕"/>
                <a:ea typeface="맑은 고딕"/>
              </a:rPr>
              <a:t>•  3 CPU vs 대기 판별 — V$SESS_TIME_MODEL / V$SESSION_WAIT</a:t>
            </a:r>
          </a:p>
          <a:p>
            <a:pPr algn="l"/>
            <a:r>
              <a:rPr sz="1700" b="0">
                <a:solidFill>
                  <a:srgbClr val="222222"/>
                </a:solidFill>
                <a:latin typeface="맑은 고딕"/>
                <a:ea typeface="맑은 고딕"/>
              </a:rPr>
              <a:t>•  4 응급 조치 — 오프라인·워크로드 제한·재시작·작업 종료</a:t>
            </a:r>
          </a:p>
          <a:p>
            <a:pPr algn="l"/>
            <a:r>
              <a:rPr sz="1700" b="0">
                <a:solidFill>
                  <a:srgbClr val="222222"/>
                </a:solidFill>
                <a:latin typeface="맑은 고딕"/>
                <a:ea typeface="맑은 고딕"/>
              </a:rPr>
              <a:t>•  5 안정성 검증 — 기준 통계 수집 후 정공법으로 복귀</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응급 조치와 근본 원인 분석을 분리한다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이 장의 핵심 DBA Point</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응급 조치의 목표: 서비스를 빨리 회복 (증상 멈춤)</a:t>
            </a:r>
          </a:p>
          <a:p>
            <a:pPr algn="l"/>
            <a:r>
              <a:rPr sz="1700" b="0">
                <a:solidFill>
                  <a:srgbClr val="222222"/>
                </a:solidFill>
                <a:latin typeface="맑은 고딕"/>
                <a:ea typeface="맑은 고딕"/>
              </a:rPr>
              <a:t>•  근본 원인 분석: 회복 후 캡처를 근거로 차분히 (원인 제거)</a:t>
            </a:r>
          </a:p>
          <a:p>
            <a:pPr algn="l"/>
            <a:r>
              <a:rPr sz="1700" b="0">
                <a:solidFill>
                  <a:srgbClr val="222222"/>
                </a:solidFill>
                <a:latin typeface="맑은 고딕"/>
                <a:ea typeface="맑은 고딕"/>
              </a:rPr>
              <a:t>•  섞으면 둘 다 실패 — 조치가 늦거나, 원인을 못 잡거나</a:t>
            </a:r>
          </a:p>
          <a:p>
            <a:pPr algn="l"/>
            <a:r>
              <a:rPr sz="1700" b="0">
                <a:solidFill>
                  <a:srgbClr val="222222"/>
                </a:solidFill>
                <a:latin typeface="맑은 고딕"/>
                <a:ea typeface="맑은 고딕"/>
              </a:rPr>
              <a:t>•  순서: 근거 캡처 → 응급 조치 → 회복 검증 → 원인 분석 → 재발 방지</a:t>
            </a:r>
          </a:p>
          <a:p>
            <a:pPr algn="l"/>
            <a:r>
              <a:rPr sz="1700" b="0">
                <a:solidFill>
                  <a:srgbClr val="222222"/>
                </a:solidFill>
                <a:latin typeface="맑은 고딕"/>
                <a:ea typeface="맑은 고딕"/>
              </a:rPr>
              <a:t>•  조치를 하는 순간 증거가 사라진다 → 캡처가 조치보다 앞선다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3.5</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응급 진단 체크리스트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CPU 병목인가, 대기 병목인가</a:t>
            </a:r>
          </a:p>
          <a:p>
            <a:pPr algn="l"/>
            <a:r>
              <a:rPr sz="1600" b="0">
                <a:solidFill>
                  <a:srgbClr val="FFFFFF"/>
                </a:solidFill>
                <a:latin typeface="맑은 고딕"/>
                <a:ea typeface="맑은 고딕"/>
              </a:rPr>
              <a:t>•  이 판별이 조사 방향을 결정한다</a:t>
            </a:r>
          </a:p>
          <a:p>
            <a:pPr algn="l"/>
            <a:r>
              <a:rPr sz="1600" b="0">
                <a:solidFill>
                  <a:srgbClr val="FFFFFF"/>
                </a:solidFill>
                <a:latin typeface="맑은 고딕"/>
                <a:ea typeface="맑은 고딕"/>
              </a:rPr>
              <a:t>•  원천은 언제나 V$ 뷰</a:t>
            </a:r>
          </a:p>
          <a:p>
            <a:pPr algn="l"/>
            <a:r>
              <a:rPr sz="1600" b="0">
                <a:solidFill>
                  <a:srgbClr val="FFFFFF"/>
                </a:solidFill>
                <a:latin typeface="맑은 고딕"/>
                <a:ea typeface="맑은 고딕"/>
              </a:rPr>
              <a:t>•  Idle 이벤트를 병목으로 오판하지 않기</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CPU 병목인가 대기 병목인가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긴급 대응 3단계의 갈림길</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CPU 병목: V$SESS_TIME_MODEL(DB CPU), V$SESSTAT·V$SQLSTATS(buffer gets)</a:t>
            </a:r>
          </a:p>
          <a:p>
            <a:pPr algn="l"/>
            <a:r>
              <a:rPr sz="1700" b="0">
                <a:solidFill>
                  <a:srgbClr val="222222"/>
                </a:solidFill>
                <a:latin typeface="맑은 고딕"/>
                <a:ea typeface="맑은 고딕"/>
              </a:rPr>
              <a:t>•  대기 병목: V$SESSION(EVENT·WAIT_CLASS), V$SESSION_WAIT</a:t>
            </a:r>
          </a:p>
          <a:p>
            <a:pPr algn="l"/>
            <a:r>
              <a:rPr sz="1700" b="0">
                <a:solidFill>
                  <a:srgbClr val="222222"/>
                </a:solidFill>
                <a:latin typeface="맑은 고딕"/>
                <a:ea typeface="맑은 고딕"/>
              </a:rPr>
              <a:t>•  Idle 이벤트(SQL*Net message from client)는 병목이 아니다</a:t>
            </a:r>
          </a:p>
          <a:p>
            <a:pPr algn="l"/>
            <a:r>
              <a:rPr sz="1700" b="0">
                <a:solidFill>
                  <a:srgbClr val="222222"/>
                </a:solidFill>
                <a:latin typeface="맑은 고딕"/>
                <a:ea typeface="맑은 고딕"/>
              </a:rPr>
              <a:t>•  Application 클래스 → 잠금 경합(3.6절), Concurrency → 라이브러리 캐시</a:t>
            </a:r>
          </a:p>
          <a:p>
            <a:pPr algn="l"/>
            <a:r>
              <a:rPr sz="1700" b="0">
                <a:solidFill>
                  <a:srgbClr val="222222"/>
                </a:solidFill>
                <a:latin typeface="맑은 고딕"/>
                <a:ea typeface="맑은 고딕"/>
              </a:rPr>
              <a:t>•  로그인조차 어려우면 과거 데이터(ASH🔒/Statspack)로 진단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CPU 병목 조사 — 세션별 DB CPU</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V$SESS_TIME_MODEL</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s.sid, s.username, stm.value/1e6 db_cpu_sec</a:t>
            </a:r>
          </a:p>
          <a:p>
            <a:pPr algn="l"/>
            <a:r>
              <a:rPr sz="1250">
                <a:solidFill>
                  <a:srgbClr val="F2F2F2"/>
                </a:solidFill>
                <a:latin typeface="Consolas"/>
                <a:ea typeface="Consolas"/>
              </a:rPr>
              <a:t>  2       FROM v$sess_time_model stm</a:t>
            </a:r>
          </a:p>
          <a:p>
            <a:pPr algn="l"/>
            <a:r>
              <a:rPr sz="1250">
                <a:solidFill>
                  <a:srgbClr val="F2F2F2"/>
                </a:solidFill>
                <a:latin typeface="Consolas"/>
                <a:ea typeface="Consolas"/>
              </a:rPr>
              <a:t>  3       JOIN v$session s ON s.sid = stm.sid</a:t>
            </a:r>
          </a:p>
          <a:p>
            <a:pPr algn="l"/>
            <a:r>
              <a:rPr sz="1250">
                <a:solidFill>
                  <a:srgbClr val="F2F2F2"/>
                </a:solidFill>
                <a:latin typeface="Consolas"/>
                <a:ea typeface="Consolas"/>
              </a:rPr>
              <a:t>  4       WHERE stm.stat_name = 'DB CPU'</a:t>
            </a:r>
          </a:p>
          <a:p>
            <a:pPr algn="l"/>
            <a:r>
              <a:rPr sz="1250">
                <a:solidFill>
                  <a:srgbClr val="F2F2F2"/>
                </a:solidFill>
                <a:latin typeface="Consolas"/>
                <a:ea typeface="Consolas"/>
              </a:rPr>
              <a:t>  5         AND s.type = 'USER'</a:t>
            </a:r>
          </a:p>
          <a:p>
            <a:pPr algn="l"/>
            <a:r>
              <a:rPr sz="1250">
                <a:solidFill>
                  <a:srgbClr val="F2F2F2"/>
                </a:solidFill>
                <a:latin typeface="Consolas"/>
                <a:ea typeface="Consolas"/>
              </a:rPr>
              <a:t>  6       ORDER BY stm.value DESC FETCH FIRST 5 ROWS ONLY;</a:t>
            </a:r>
          </a:p>
          <a:p>
            <a:pPr algn="l"/>
            <a:r>
              <a:rPr sz="1250">
                <a:solidFill>
                  <a:srgbClr val="F2F2F2"/>
                </a:solidFill>
                <a:latin typeface="Consolas"/>
                <a:ea typeface="Consolas"/>
              </a:rPr>
              <a:t> </a:t>
            </a:r>
          </a:p>
          <a:p>
            <a:pPr algn="l"/>
            <a:r>
              <a:rPr sz="1250">
                <a:solidFill>
                  <a:srgbClr val="F2F2F2"/>
                </a:solidFill>
                <a:latin typeface="Consolas"/>
                <a:ea typeface="Consolas"/>
              </a:rPr>
              <a:t>       SID USERNAME   DB_CPU_SEC</a:t>
            </a:r>
          </a:p>
          <a:p>
            <a:pPr algn="l"/>
            <a:r>
              <a:rPr sz="1250">
                <a:solidFill>
                  <a:srgbClr val="F2F2F2"/>
                </a:solidFill>
                <a:latin typeface="Consolas"/>
                <a:ea typeface="Consolas"/>
              </a:rPr>
              <a:t>---------- ---------- ----------</a:t>
            </a:r>
          </a:p>
          <a:p>
            <a:pPr algn="l"/>
            <a:r>
              <a:rPr sz="1250">
                <a:solidFill>
                  <a:srgbClr val="F2F2F2"/>
                </a:solidFill>
                <a:latin typeface="Consolas"/>
                <a:ea typeface="Consolas"/>
              </a:rPr>
              <a:t>       ...      ...          ...   &lt;- 환경값(부하에 따라 다름)</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대기 병목 조사 — 활성 대기 집계</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V$SESSION, Idle 제외</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event, wait_class, COUNT(*) sessions</a:t>
            </a:r>
          </a:p>
          <a:p>
            <a:pPr algn="l"/>
            <a:r>
              <a:rPr sz="1250">
                <a:solidFill>
                  <a:srgbClr val="F2F2F2"/>
                </a:solidFill>
                <a:latin typeface="Consolas"/>
                <a:ea typeface="Consolas"/>
              </a:rPr>
              <a:t>  2       FROM v$session</a:t>
            </a:r>
          </a:p>
          <a:p>
            <a:pPr algn="l"/>
            <a:r>
              <a:rPr sz="1250">
                <a:solidFill>
                  <a:srgbClr val="F2F2F2"/>
                </a:solidFill>
                <a:latin typeface="Consolas"/>
                <a:ea typeface="Consolas"/>
              </a:rPr>
              <a:t>  3       WHERE type = 'USER' AND status = 'ACTIVE'</a:t>
            </a:r>
          </a:p>
          <a:p>
            <a:pPr algn="l"/>
            <a:r>
              <a:rPr sz="1250">
                <a:solidFill>
                  <a:srgbClr val="F2F2F2"/>
                </a:solidFill>
                <a:latin typeface="Consolas"/>
                <a:ea typeface="Consolas"/>
              </a:rPr>
              <a:t>  4         AND wait_class &lt;&gt; 'Idle'</a:t>
            </a:r>
          </a:p>
          <a:p>
            <a:pPr algn="l"/>
            <a:r>
              <a:rPr sz="1250">
                <a:solidFill>
                  <a:srgbClr val="F2F2F2"/>
                </a:solidFill>
                <a:latin typeface="Consolas"/>
                <a:ea typeface="Consolas"/>
              </a:rPr>
              <a:t>  5       GROUP BY event, wait_class</a:t>
            </a:r>
          </a:p>
          <a:p>
            <a:pPr algn="l"/>
            <a:r>
              <a:rPr sz="1250">
                <a:solidFill>
                  <a:srgbClr val="F2F2F2"/>
                </a:solidFill>
                <a:latin typeface="Consolas"/>
                <a:ea typeface="Consolas"/>
              </a:rPr>
              <a:t>  6       ORDER BY sessions DESC;</a:t>
            </a:r>
          </a:p>
          <a:p>
            <a:pPr algn="l"/>
            <a:r>
              <a:rPr sz="1250">
                <a:solidFill>
                  <a:srgbClr val="F2F2F2"/>
                </a:solidFill>
                <a:latin typeface="Consolas"/>
                <a:ea typeface="Consolas"/>
              </a:rPr>
              <a:t> </a:t>
            </a:r>
          </a:p>
          <a:p>
            <a:pPr algn="l"/>
            <a:r>
              <a:rPr sz="1250">
                <a:solidFill>
                  <a:srgbClr val="F2F2F2"/>
                </a:solidFill>
                <a:latin typeface="Consolas"/>
                <a:ea typeface="Consolas"/>
              </a:rPr>
              <a:t>EVENT                            WAIT_CLASS    SESSIONS</a:t>
            </a:r>
          </a:p>
          <a:p>
            <a:pPr algn="l"/>
            <a:r>
              <a:rPr sz="1250">
                <a:solidFill>
                  <a:srgbClr val="F2F2F2"/>
                </a:solidFill>
                <a:latin typeface="Consolas"/>
                <a:ea typeface="Consolas"/>
              </a:rPr>
              <a:t>-------------------------------- ------------ ---------</a:t>
            </a:r>
          </a:p>
          <a:p>
            <a:pPr algn="l"/>
            <a:r>
              <a:rPr sz="1250">
                <a:solidFill>
                  <a:srgbClr val="F2F2F2"/>
                </a:solidFill>
                <a:latin typeface="Consolas"/>
                <a:ea typeface="Consolas"/>
              </a:rPr>
              <a:t>enq: TX - row lock contention    Application          1</a:t>
            </a:r>
          </a:p>
          <a:p>
            <a:pPr algn="l"/>
            <a:r>
              <a:rPr sz="1250">
                <a:solidFill>
                  <a:srgbClr val="F2F2F2"/>
                </a:solidFill>
                <a:latin typeface="Consolas"/>
                <a:ea typeface="Consolas"/>
              </a:rPr>
              <a: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3.6</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블로킹 세션 추적과 해소</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CPU는 남는데 느린 직렬화의 전형</a:t>
            </a:r>
          </a:p>
          <a:p>
            <a:pPr algn="l"/>
            <a:r>
              <a:rPr sz="1600" b="0">
                <a:solidFill>
                  <a:srgbClr val="FFFFFF"/>
                </a:solidFill>
                <a:latin typeface="맑은 고딕"/>
                <a:ea typeface="맑은 고딕"/>
              </a:rPr>
              <a:t>•  V$SESSION → V$LOCK → DBA_BLOCKERS 세 겹</a:t>
            </a:r>
          </a:p>
          <a:p>
            <a:pPr algn="l"/>
            <a:r>
              <a:rPr sz="1600" b="0">
                <a:solidFill>
                  <a:srgbClr val="FFFFFF"/>
                </a:solidFill>
                <a:latin typeface="맑은 고딕"/>
                <a:ea typeface="맑은 고딕"/>
              </a:rPr>
              <a:t>•  실측: SID 597이 596에 막힘</a:t>
            </a:r>
          </a:p>
          <a:p>
            <a:pPr algn="l"/>
            <a:r>
              <a:rPr sz="1600" b="0">
                <a:solidFill>
                  <a:srgbClr val="FFFFFF"/>
                </a:solidFill>
                <a:latin typeface="맑은 고딕"/>
                <a:ea typeface="맑은 고딕"/>
              </a:rPr>
              <a:t>•  근거를 캡처한 뒤에만 종료한다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행 잠금 경합</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enq: TX - row lock contention</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UPDATE 시 그 행에 TX 잠금이 배타 모드(LMODE=6)로 걸린다</a:t>
            </a:r>
          </a:p>
          <a:p>
            <a:pPr algn="l"/>
            <a:r>
              <a:rPr sz="1700" b="0">
                <a:solidFill>
                  <a:srgbClr val="222222"/>
                </a:solidFill>
                <a:latin typeface="맑은 고딕"/>
                <a:ea typeface="맑은 고딕"/>
              </a:rPr>
              <a:t>•  커밋·롤백 전까지 유지 → 같은 행을 바꾸려는 세션은 대기</a:t>
            </a:r>
          </a:p>
          <a:p>
            <a:pPr algn="l"/>
            <a:r>
              <a:rPr sz="1700" b="0">
                <a:solidFill>
                  <a:srgbClr val="222222"/>
                </a:solidFill>
                <a:latin typeface="맑은 고딕"/>
                <a:ea typeface="맑은 고딕"/>
              </a:rPr>
              <a:t>•  대기 이벤트 = enq: TX - row lock contention, 클래스 = Application</a:t>
            </a:r>
          </a:p>
          <a:p>
            <a:pPr algn="l"/>
            <a:r>
              <a:rPr sz="1700" b="0">
                <a:solidFill>
                  <a:srgbClr val="222222"/>
                </a:solidFill>
                <a:latin typeface="맑은 고딕"/>
                <a:ea typeface="맑은 고딕"/>
              </a:rPr>
              <a:t>•  잠금은 정상 동작 — 문제는 잠금 보유 시간(트랜잭션 설계)</a:t>
            </a:r>
          </a:p>
          <a:p>
            <a:pPr algn="l"/>
            <a:r>
              <a:rPr sz="1700" b="0">
                <a:solidFill>
                  <a:srgbClr val="222222"/>
                </a:solidFill>
                <a:latin typeface="맑은 고딕"/>
                <a:ea typeface="맑은 고딕"/>
              </a:rPr>
              <a:t>•  근본 예방은 짧은 트랜잭션·사용자 대기 중 잠금 미보유(ch16)</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V$SESSION.BLOCKING_SESSION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SID 597이 596에 막힘</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sid, username, event, blocking_session blk, wait_class</a:t>
            </a:r>
          </a:p>
          <a:p>
            <a:pPr algn="l"/>
            <a:r>
              <a:rPr sz="1250">
                <a:solidFill>
                  <a:srgbClr val="F2F2F2"/>
                </a:solidFill>
                <a:latin typeface="Consolas"/>
                <a:ea typeface="Consolas"/>
              </a:rPr>
              <a:t>  2       FROM v$session WHERE username = 'SQLT' ORDER BY sid;</a:t>
            </a:r>
          </a:p>
          <a:p>
            <a:pPr algn="l"/>
            <a:r>
              <a:rPr sz="1250">
                <a:solidFill>
                  <a:srgbClr val="F2F2F2"/>
                </a:solidFill>
                <a:latin typeface="Consolas"/>
                <a:ea typeface="Consolas"/>
              </a:rPr>
              <a:t> </a:t>
            </a:r>
          </a:p>
          <a:p>
            <a:pPr algn="l"/>
            <a:r>
              <a:rPr sz="1250">
                <a:solidFill>
                  <a:srgbClr val="F2F2F2"/>
                </a:solidFill>
                <a:latin typeface="Consolas"/>
                <a:ea typeface="Consolas"/>
              </a:rPr>
              <a:t>       SID USERNAME EVENT                            BLK WAIT_CLASS</a:t>
            </a:r>
          </a:p>
          <a:p>
            <a:pPr algn="l"/>
            <a:r>
              <a:rPr sz="1250">
                <a:solidFill>
                  <a:srgbClr val="F2F2F2"/>
                </a:solidFill>
                <a:latin typeface="Consolas"/>
                <a:ea typeface="Consolas"/>
              </a:rPr>
              <a:t>---------- -------- -------------------------------- --- -----------</a:t>
            </a:r>
          </a:p>
          <a:p>
            <a:pPr algn="l"/>
            <a:r>
              <a:rPr sz="1250">
                <a:solidFill>
                  <a:srgbClr val="F2F2F2"/>
                </a:solidFill>
                <a:latin typeface="Consolas"/>
                <a:ea typeface="Consolas"/>
              </a:rPr>
              <a:t>       596 SQLT     SQL*Net message from client          Idle</a:t>
            </a:r>
          </a:p>
          <a:p>
            <a:pPr algn="l"/>
            <a:r>
              <a:rPr sz="1250">
                <a:solidFill>
                  <a:srgbClr val="F2F2F2"/>
                </a:solidFill>
                <a:latin typeface="Consolas"/>
                <a:ea typeface="Consolas"/>
              </a:rPr>
              <a:t>       597 SQLT     enq: TX - row lock contention    596 Application</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V$LOCK — 누가 보유하고 누가 요청하나 (실측)</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block=1 보유, request=6 대기</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sid, type, lmode, request, block</a:t>
            </a:r>
          </a:p>
          <a:p>
            <a:pPr algn="l"/>
            <a:r>
              <a:rPr sz="1250">
                <a:solidFill>
                  <a:srgbClr val="F2F2F2"/>
                </a:solidFill>
                <a:latin typeface="Consolas"/>
                <a:ea typeface="Consolas"/>
              </a:rPr>
              <a:t>  2       FROM v$lock WHERE type = 'TX' ORDER BY sid;</a:t>
            </a:r>
          </a:p>
          <a:p>
            <a:pPr algn="l"/>
            <a:r>
              <a:rPr sz="1250">
                <a:solidFill>
                  <a:srgbClr val="F2F2F2"/>
                </a:solidFill>
                <a:latin typeface="Consolas"/>
                <a:ea typeface="Consolas"/>
              </a:rPr>
              <a:t> </a:t>
            </a:r>
          </a:p>
          <a:p>
            <a:pPr algn="l"/>
            <a:r>
              <a:rPr sz="1250">
                <a:solidFill>
                  <a:srgbClr val="F2F2F2"/>
                </a:solidFill>
                <a:latin typeface="Consolas"/>
                <a:ea typeface="Consolas"/>
              </a:rPr>
              <a:t>       SID TYPE      LMODE    REQUEST      BLOCK</a:t>
            </a:r>
          </a:p>
          <a:p>
            <a:pPr algn="l"/>
            <a:r>
              <a:rPr sz="1250">
                <a:solidFill>
                  <a:srgbClr val="F2F2F2"/>
                </a:solidFill>
                <a:latin typeface="Consolas"/>
                <a:ea typeface="Consolas"/>
              </a:rPr>
              <a:t>---------- ---- ---------- ---------- ----------</a:t>
            </a:r>
          </a:p>
          <a:p>
            <a:pPr algn="l"/>
            <a:r>
              <a:rPr sz="1250">
                <a:solidFill>
                  <a:srgbClr val="F2F2F2"/>
                </a:solidFill>
                <a:latin typeface="Consolas"/>
                <a:ea typeface="Consolas"/>
              </a:rPr>
              <a:t>       596 TX            6          0          1</a:t>
            </a:r>
          </a:p>
          <a:p>
            <a:pPr algn="l"/>
            <a:r>
              <a:rPr sz="1250">
                <a:solidFill>
                  <a:srgbClr val="F2F2F2"/>
                </a:solidFill>
                <a:latin typeface="Consolas"/>
                <a:ea typeface="Consolas"/>
              </a:rPr>
              <a:t>       597 TX            0          6          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DBA_BLOCKERS · DBA_WAITERS — 요약 뷰</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관계를 즉시 나열</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SYS@orcl&gt; SELECT holding_session blocker, waiting_session waiter</a:t>
            </a:r>
          </a:p>
          <a:p>
            <a:pPr algn="l"/>
            <a:r>
              <a:rPr sz="1250">
                <a:solidFill>
                  <a:srgbClr val="F2F2F2"/>
                </a:solidFill>
                <a:latin typeface="Consolas"/>
                <a:ea typeface="Consolas"/>
              </a:rPr>
              <a:t>  2       FROM dba_waiters;</a:t>
            </a:r>
          </a:p>
          <a:p>
            <a:pPr algn="l"/>
            <a:r>
              <a:rPr sz="1250">
                <a:solidFill>
                  <a:srgbClr val="F2F2F2"/>
                </a:solidFill>
                <a:latin typeface="Consolas"/>
                <a:ea typeface="Consolas"/>
              </a:rPr>
              <a:t> </a:t>
            </a:r>
          </a:p>
          <a:p>
            <a:pPr algn="l"/>
            <a:r>
              <a:rPr sz="1250">
                <a:solidFill>
                  <a:srgbClr val="F2F2F2"/>
                </a:solidFill>
                <a:latin typeface="Consolas"/>
                <a:ea typeface="Consolas"/>
              </a:rPr>
              <a:t>   BLOCKER     WAITER</a:t>
            </a:r>
          </a:p>
          <a:p>
            <a:pPr algn="l"/>
            <a:r>
              <a:rPr sz="1250">
                <a:solidFill>
                  <a:srgbClr val="F2F2F2"/>
                </a:solidFill>
                <a:latin typeface="Consolas"/>
                <a:ea typeface="Consolas"/>
              </a:rPr>
              <a:t>---------- ----------</a:t>
            </a:r>
          </a:p>
          <a:p>
            <a:pPr algn="l"/>
            <a:r>
              <a:rPr sz="1250">
                <a:solidFill>
                  <a:srgbClr val="F2F2F2"/>
                </a:solidFill>
                <a:latin typeface="Consolas"/>
                <a:ea typeface="Consolas"/>
              </a:rPr>
              <a:t>       596        597</a:t>
            </a:r>
          </a:p>
          <a:p>
            <a:pPr algn="l"/>
            <a:r>
              <a:rPr sz="1250">
                <a:solidFill>
                  <a:srgbClr val="F2F2F2"/>
                </a:solidFill>
                <a:latin typeface="Consolas"/>
                <a:ea typeface="Consolas"/>
              </a:rPr>
              <a:t> </a:t>
            </a:r>
          </a:p>
          <a:p>
            <a:pPr algn="l"/>
            <a:r>
              <a:rPr sz="1250">
                <a:solidFill>
                  <a:srgbClr val="F2F2F2"/>
                </a:solidFill>
                <a:latin typeface="Consolas"/>
                <a:ea typeface="Consolas"/>
              </a:rPr>
              <a:t>SYS@orcl&gt; SELECT holding_session FROM dba_blockers;</a:t>
            </a:r>
          </a:p>
          <a:p>
            <a:pPr algn="l"/>
            <a:r>
              <a:rPr sz="1250">
                <a:solidFill>
                  <a:srgbClr val="F2F2F2"/>
                </a:solidFill>
                <a:latin typeface="Consolas"/>
                <a:ea typeface="Consolas"/>
              </a:rPr>
              <a:t> </a:t>
            </a:r>
          </a:p>
          <a:p>
            <a:pPr algn="l"/>
            <a:r>
              <a:rPr sz="1250">
                <a:solidFill>
                  <a:srgbClr val="F2F2F2"/>
                </a:solidFill>
                <a:latin typeface="Consolas"/>
                <a:ea typeface="Consolas"/>
              </a:rPr>
              <a:t>HOLDING_SESSION</a:t>
            </a:r>
          </a:p>
          <a:p>
            <a:pPr algn="l"/>
            <a:r>
              <a:rPr sz="1250">
                <a:solidFill>
                  <a:srgbClr val="F2F2F2"/>
                </a:solidFill>
                <a:latin typeface="Consolas"/>
                <a:ea typeface="Consolas"/>
              </a:rPr>
              <a:t>---------------</a:t>
            </a:r>
          </a:p>
          <a:p>
            <a:pPr algn="l"/>
            <a:r>
              <a:rPr sz="1250">
                <a:solidFill>
                  <a:srgbClr val="F2F2F2"/>
                </a:solidFill>
                <a:latin typeface="Consolas"/>
                <a:ea typeface="Consolas"/>
              </a:rPr>
              <a:t>            596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블로킹과 교착 상태는 다르다</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blocking vs deadlock</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블로킹: A가 B를 기다리는 한 방향 — 시간이 지나 커밋·롤백하면 풀림</a:t>
            </a:r>
          </a:p>
          <a:p>
            <a:pPr algn="l"/>
            <a:r>
              <a:rPr sz="1700" b="0">
                <a:solidFill>
                  <a:srgbClr val="222222"/>
                </a:solidFill>
                <a:latin typeface="맑은 고딕"/>
                <a:ea typeface="맑은 고딕"/>
              </a:rPr>
              <a:t>•  블로킹은 오라클이 자동 해소하지 않는다(무한정 유지 가능)</a:t>
            </a:r>
          </a:p>
          <a:p>
            <a:pPr algn="l"/>
            <a:r>
              <a:rPr sz="1700" b="0">
                <a:solidFill>
                  <a:srgbClr val="222222"/>
                </a:solidFill>
                <a:latin typeface="맑은 고딕"/>
                <a:ea typeface="맑은 고딕"/>
              </a:rPr>
              <a:t>•  교착 상태: A↔B 순환 — 스스로 풀리지 않는다</a:t>
            </a:r>
          </a:p>
          <a:p>
            <a:pPr algn="l"/>
            <a:r>
              <a:rPr sz="1700" b="0">
                <a:solidFill>
                  <a:srgbClr val="222222"/>
                </a:solidFill>
                <a:latin typeface="맑은 고딕"/>
                <a:ea typeface="맑은 고딕"/>
              </a:rPr>
              <a:t>•  오라클이 순환을 자동 탐지 → 한쪽에 ORA-00060, 그 문장만 롤백</a:t>
            </a:r>
          </a:p>
          <a:p>
            <a:pPr algn="l"/>
            <a:r>
              <a:rPr sz="1700" b="0">
                <a:solidFill>
                  <a:srgbClr val="222222"/>
                </a:solidFill>
                <a:latin typeface="맑은 고딕"/>
                <a:ea typeface="맑은 고딕"/>
              </a:rPr>
              <a:t>•  실습 4의 행 잠금 경합은 한 방향 블로킹(교착 아님)</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해소 — 근거를 캡처한 뒤에만 종료</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종료하면 증거가 사라진다</a:t>
            </a:r>
          </a:p>
        </p:txBody>
      </p:sp>
      <p:sp>
        <p:nvSpPr>
          <p:cNvPr id="5" name="Rectangle 4"/>
          <p:cNvSpPr/>
          <p:nvPr/>
        </p:nvSpPr>
        <p:spPr>
          <a:xfrm>
            <a:off x="640080" y="1691640"/>
            <a:ext cx="10881360" cy="4754880"/>
          </a:xfrm>
          <a:prstGeom prst="rect">
            <a:avLst/>
          </a:prstGeom>
          <a:solidFill>
            <a:srgbClr val="1E1E1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tIns="91440"/>
          <a:lstStyle/>
          <a:p>
            <a:pPr algn="l"/>
            <a:r>
              <a:rPr sz="1250">
                <a:solidFill>
                  <a:srgbClr val="F2F2F2"/>
                </a:solidFill>
                <a:latin typeface="Consolas"/>
                <a:ea typeface="Consolas"/>
              </a:rPr>
              <a:t>-- ★ 반드시 먼저: 아래 근거를 캡처해 파일로 남긴다 ★</a:t>
            </a:r>
          </a:p>
          <a:p>
            <a:pPr algn="l"/>
            <a:r>
              <a:rPr sz="1250">
                <a:solidFill>
                  <a:srgbClr val="F2F2F2"/>
                </a:solidFill>
                <a:latin typeface="Consolas"/>
                <a:ea typeface="Consolas"/>
              </a:rPr>
              <a:t>--   1) V$SESSION (블로커·대기자·EVENT·BLOCKING_SESSION)</a:t>
            </a:r>
          </a:p>
          <a:p>
            <a:pPr algn="l"/>
            <a:r>
              <a:rPr sz="1250">
                <a:solidFill>
                  <a:srgbClr val="F2F2F2"/>
                </a:solidFill>
                <a:latin typeface="Consolas"/>
                <a:ea typeface="Consolas"/>
              </a:rPr>
              <a:t>--   2) V$LOCK    (TX 행의 LMODE / REQUEST / BLOCK)</a:t>
            </a:r>
          </a:p>
          <a:p>
            <a:pPr algn="l"/>
            <a:r>
              <a:rPr sz="1250">
                <a:solidFill>
                  <a:srgbClr val="F2F2F2"/>
                </a:solidFill>
                <a:latin typeface="Consolas"/>
                <a:ea typeface="Consolas"/>
              </a:rPr>
              <a:t>--   3) 대상 세그먼트·행 (V$SESSION의 ROW_WAIT_OBJ# 등)</a:t>
            </a:r>
          </a:p>
          <a:p>
            <a:pPr algn="l"/>
            <a:r>
              <a:rPr sz="1250">
                <a:solidFill>
                  <a:srgbClr val="F2F2F2"/>
                </a:solidFill>
                <a:latin typeface="Consolas"/>
                <a:ea typeface="Consolas"/>
              </a:rPr>
              <a:t> </a:t>
            </a:r>
          </a:p>
          <a:p>
            <a:pPr algn="l"/>
            <a:r>
              <a:rPr sz="1250">
                <a:solidFill>
                  <a:srgbClr val="F2F2F2"/>
                </a:solidFill>
                <a:latin typeface="Consolas"/>
                <a:ea typeface="Consolas"/>
              </a:rPr>
              <a:t>-- 캡처가 끝난 뒤에만 실행한다.</a:t>
            </a:r>
          </a:p>
          <a:p>
            <a:pPr algn="l"/>
            <a:r>
              <a:rPr sz="1250">
                <a:solidFill>
                  <a:srgbClr val="F2F2F2"/>
                </a:solidFill>
                <a:latin typeface="Consolas"/>
                <a:ea typeface="Consolas"/>
              </a:rPr>
              <a:t>SYS@orcl&gt; ALTER SYSTEM KILL SESSION '596,&lt;SERIAL#&gt;' IMMEDIATE;</a:t>
            </a:r>
          </a:p>
          <a:p>
            <a:pPr algn="l"/>
            <a:r>
              <a:rPr sz="1250">
                <a:solidFill>
                  <a:srgbClr val="F2F2F2"/>
                </a:solidFill>
                <a:latin typeface="Consolas"/>
                <a:ea typeface="Consolas"/>
              </a:rPr>
              <a:t> </a:t>
            </a:r>
          </a:p>
          <a:p>
            <a:pPr algn="l"/>
            <a:r>
              <a:rPr sz="1250">
                <a:solidFill>
                  <a:srgbClr val="F2F2F2"/>
                </a:solidFill>
                <a:latin typeface="Consolas"/>
                <a:ea typeface="Consolas"/>
              </a:rPr>
              <a:t>System altered.</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어느 세그먼트의 어느 행인가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대상 식별 — V$SESSION.ROW_WAIT_*</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ROW_WAIT_OBJ# / FILE# / BLOCK# / ROW# 로 대기 대상 행을 특정</a:t>
            </a:r>
          </a:p>
          <a:p>
            <a:pPr algn="l"/>
            <a:r>
              <a:rPr sz="1700" b="0">
                <a:solidFill>
                  <a:srgbClr val="222222"/>
                </a:solidFill>
                <a:latin typeface="맑은 고딕"/>
                <a:ea typeface="맑은 고딕"/>
              </a:rPr>
              <a:t>•  ROW_WAIT_OBJ#를 DBA_OBJECTS와 조인하면 객체 이름이 나온다</a:t>
            </a:r>
          </a:p>
          <a:p>
            <a:pPr algn="l"/>
            <a:r>
              <a:rPr sz="1700" b="0">
                <a:solidFill>
                  <a:srgbClr val="222222"/>
                </a:solidFill>
                <a:latin typeface="맑은 고딕"/>
                <a:ea typeface="맑은 고딕"/>
              </a:rPr>
              <a:t>•  '어느 테이블의 행이 잠겼는가' → 관련 업무 트랜잭션 추적</a:t>
            </a:r>
          </a:p>
          <a:p>
            <a:pPr algn="l"/>
            <a:r>
              <a:rPr sz="1700" b="0">
                <a:solidFill>
                  <a:srgbClr val="222222"/>
                </a:solidFill>
                <a:latin typeface="맑은 고딕"/>
                <a:ea typeface="맑은 고딕"/>
              </a:rPr>
              <a:t>•  실습 4: 대기자 597이 REVIEW_LOG_WL의 특정 행을 대기</a:t>
            </a:r>
          </a:p>
          <a:p>
            <a:pPr algn="l"/>
            <a:r>
              <a:rPr sz="1700" b="0">
                <a:solidFill>
                  <a:srgbClr val="222222"/>
                </a:solidFill>
                <a:latin typeface="맑은 고딕"/>
                <a:ea typeface="맑은 고딕"/>
              </a:rPr>
              <a:t>•  세션 종료 시 이 값들도 사라진다 → 종료 전에 캡처</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r>
              <a:rPr sz="4000" b="1">
                <a:solidFill>
                  <a:srgbClr val="FFFFFF"/>
                </a:solidFill>
                <a:latin typeface="맑은 고딕"/>
                <a:ea typeface="맑은 고딕"/>
              </a:rPr>
              <a:t>3.7</a:t>
            </a:r>
          </a:p>
        </p:txBody>
      </p:sp>
      <p:sp>
        <p:nvSpPr>
          <p:cNvPr id="4" name="TextBox 3"/>
          <p:cNvSpPr txBox="1"/>
          <p:nvPr/>
        </p:nvSpPr>
        <p:spPr>
          <a:xfrm>
            <a:off x="822960" y="3017520"/>
            <a:ext cx="10515600" cy="914400"/>
          </a:xfrm>
          <a:prstGeom prst="rect">
            <a:avLst/>
          </a:prstGeom>
          <a:noFill/>
        </p:spPr>
        <p:txBody>
          <a:bodyPr wrap="square">
            <a:spAutoFit/>
          </a:bodyPr>
          <a:lstStyle/>
          <a:p>
            <a:pPr algn="l"/>
            <a:r>
              <a:rPr sz="2800" b="1">
                <a:solidFill>
                  <a:srgbClr val="FFFFFF"/>
                </a:solidFill>
                <a:latin typeface="맑은 고딕"/>
                <a:ea typeface="맑은 고딕"/>
              </a:rPr>
              <a:t>조치 전 근거 캡처</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r>
              <a:rPr sz="1600" b="0">
                <a:solidFill>
                  <a:srgbClr val="FFFFFF"/>
                </a:solidFill>
                <a:latin typeface="맑은 고딕"/>
                <a:ea typeface="맑은 고딕"/>
              </a:rPr>
              <a:t>•  도박이 아니라 튜닝</a:t>
            </a:r>
          </a:p>
          <a:p>
            <a:pPr algn="l"/>
            <a:r>
              <a:rPr sz="1600" b="0">
                <a:solidFill>
                  <a:srgbClr val="FFFFFF"/>
                </a:solidFill>
                <a:latin typeface="맑은 고딕"/>
                <a:ea typeface="맑은 고딕"/>
              </a:rPr>
              <a:t>•  만성 저하와 긴급 상황 모두에 적용</a:t>
            </a:r>
          </a:p>
          <a:p>
            <a:pPr algn="l"/>
            <a:r>
              <a:rPr sz="1600" b="0">
                <a:solidFill>
                  <a:srgbClr val="FFFFFF"/>
                </a:solidFill>
                <a:latin typeface="맑은 고딕"/>
                <a:ea typeface="맑은 고딕"/>
              </a:rPr>
              <a:t>•  순간 상태는 조치와 함께 소멸한다</a:t>
            </a:r>
          </a:p>
          <a:p>
            <a:pPr algn="l"/>
            <a:r>
              <a:rPr sz="1600" b="0">
                <a:solidFill>
                  <a:srgbClr val="FFFFFF"/>
                </a:solidFill>
                <a:latin typeface="맑은 고딕"/>
                <a:ea typeface="맑은 고딕"/>
              </a:rPr>
              <a:t>•  지금 남기지 않으면 영원히 없다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조치 전 근거 캡처 — 도박이 아니라 튜닝</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이 장을 관통하는 원칙</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조치 전 상태를 캡처하지 않은 튜닝은 튜닝이 아니라 도박이다</a:t>
            </a:r>
          </a:p>
          <a:p>
            <a:pPr algn="l"/>
            <a:r>
              <a:rPr sz="1700" b="0">
                <a:solidFill>
                  <a:srgbClr val="222222"/>
                </a:solidFill>
                <a:latin typeface="맑은 고딕"/>
                <a:ea typeface="맑은 고딕"/>
              </a:rPr>
              <a:t>•  방법론: '한 번에 하나만 바꾸고 측정'의 전제</a:t>
            </a:r>
          </a:p>
          <a:p>
            <a:pPr algn="l"/>
            <a:r>
              <a:rPr sz="1700" b="0">
                <a:solidFill>
                  <a:srgbClr val="222222"/>
                </a:solidFill>
                <a:latin typeface="맑은 고딕"/>
                <a:ea typeface="맑은 고딕"/>
              </a:rPr>
              <a:t>•  긴급: '세션을 죽이기 전에 근거를 남긴다'의 규율</a:t>
            </a:r>
          </a:p>
          <a:p>
            <a:pPr algn="l"/>
            <a:r>
              <a:rPr sz="1700" b="0">
                <a:solidFill>
                  <a:srgbClr val="222222"/>
                </a:solidFill>
                <a:latin typeface="맑은 고딕"/>
                <a:ea typeface="맑은 고딕"/>
              </a:rPr>
              <a:t>•  ch15 세 경계 중 '근거 없는 조치'와 같은 뿌리</a:t>
            </a:r>
          </a:p>
          <a:p>
            <a:pPr algn="l"/>
            <a:r>
              <a:rPr sz="1700" b="0">
                <a:solidFill>
                  <a:srgbClr val="222222"/>
                </a:solidFill>
                <a:latin typeface="맑은 고딕"/>
                <a:ea typeface="맑은 고딕"/>
              </a:rPr>
              <a:t>•  V$SESSION·V$LOCK은 순간 상태 — 조치하면 사라진다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캡처가 필수인 이유</a:t>
            </a:r>
          </a:p>
        </p:txBody>
      </p:sp>
      <p:sp>
        <p:nvSpPr>
          <p:cNvPr id="4" name="TextBox 3"/>
          <p:cNvSpPr txBox="1"/>
          <p:nvPr/>
        </p:nvSpPr>
        <p:spPr>
          <a:xfrm>
            <a:off x="640080" y="1078992"/>
            <a:ext cx="10881360" cy="457200"/>
          </a:xfrm>
          <a:prstGeom prst="rect">
            <a:avLst/>
          </a:prstGeom>
          <a:noFill/>
        </p:spPr>
        <p:txBody>
          <a:bodyPr wrap="square">
            <a:spAutoFit/>
          </a:bodyPr>
          <a:lstStyle/>
          <a:p>
            <a:pPr algn="l"/>
            <a:r>
              <a:rPr sz="1500" b="0">
                <a:solidFill>
                  <a:srgbClr val="5A6672"/>
                </a:solidFill>
                <a:latin typeface="맑은 고딕"/>
                <a:ea typeface="맑은 고딕"/>
              </a:rPr>
              <a:t>성능 데이터의 두 가지 성질</a:t>
            </a:r>
          </a:p>
        </p:txBody>
      </p:sp>
      <p:sp>
        <p:nvSpPr>
          <p:cNvPr id="5" name="TextBox 4"/>
          <p:cNvSpPr txBox="1"/>
          <p:nvPr/>
        </p:nvSpPr>
        <p:spPr>
          <a:xfrm>
            <a:off x="640080" y="1737360"/>
            <a:ext cx="10881360" cy="4754880"/>
          </a:xfrm>
          <a:prstGeom prst="rect">
            <a:avLst/>
          </a:prstGeom>
          <a:noFill/>
        </p:spPr>
        <p:txBody>
          <a:bodyPr wrap="square">
            <a:spAutoFit/>
          </a:bodyPr>
          <a:lstStyle/>
          <a:p>
            <a:pPr algn="l"/>
            <a:r>
              <a:rPr sz="1700" b="0">
                <a:solidFill>
                  <a:srgbClr val="222222"/>
                </a:solidFill>
                <a:latin typeface="맑은 고딕"/>
                <a:ea typeface="맑은 고딕"/>
              </a:rPr>
              <a:t>•  ① 순간값·누적값 — 순간 상태는 조치와 함께 소멸</a:t>
            </a:r>
          </a:p>
          <a:p>
            <a:pPr algn="l"/>
            <a:r>
              <a:rPr sz="1700" b="0">
                <a:solidFill>
                  <a:srgbClr val="222222"/>
                </a:solidFill>
                <a:latin typeface="맑은 고딕"/>
                <a:ea typeface="맑은 고딕"/>
              </a:rPr>
              <a:t>•  누적값은 시작·끝 두 번 떠 델타로 계산해야 의미가 생긴다</a:t>
            </a:r>
          </a:p>
          <a:p>
            <a:pPr algn="l"/>
            <a:r>
              <a:rPr sz="1700" b="0">
                <a:solidFill>
                  <a:srgbClr val="222222"/>
                </a:solidFill>
                <a:latin typeface="맑은 고딕"/>
                <a:ea typeface="맑은 고딕"/>
              </a:rPr>
              <a:t>•  ② 조치는 되돌릴 수 없다 — 종료된 세션·롤백된 작업은 복구 불가</a:t>
            </a:r>
          </a:p>
          <a:p>
            <a:pPr algn="l"/>
            <a:r>
              <a:rPr sz="1700" b="0">
                <a:solidFill>
                  <a:srgbClr val="222222"/>
                </a:solidFill>
                <a:latin typeface="맑은 고딕"/>
                <a:ea typeface="맑은 고딕"/>
              </a:rPr>
              <a:t>•  캡처 내용: 블로커·대기자 SID, 잠금 모드·종류, 세그먼트·행, 대기 이벤트</a:t>
            </a:r>
          </a:p>
          <a:p>
            <a:pPr algn="l"/>
            <a:r>
              <a:rPr sz="1700" b="0">
                <a:solidFill>
                  <a:srgbClr val="222222"/>
                </a:solidFill>
                <a:latin typeface="맑은 고딕"/>
                <a:ea typeface="맑은 고딕"/>
              </a:rPr>
              <a:t>•  형식보다 '조치 전에 남겼는가'가 중요 (SPOOL로 충분)</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Q1. 성능 개선 방법론의 '황금률'을 쓰고, 그것을 지키려면 왜 조치 전 캡처가 필요한지 설명하라.</a:t>
            </a:r>
          </a:p>
          <a:p>
            <a:pPr algn="l"/>
            <a:r>
              <a:rPr sz="1600" b="0">
                <a:solidFill>
                  <a:srgbClr val="222222"/>
                </a:solidFill>
                <a:latin typeface="맑은 고딕"/>
                <a:ea typeface="맑은 고딕"/>
              </a:rPr>
              <a:t>•  Q2. 개념 모델 세 갈래에서 각각 먼저 무엇을 의심하는가?</a:t>
            </a:r>
          </a:p>
          <a:p>
            <a:pPr algn="l"/>
            <a:r>
              <a:rPr sz="1600" b="0">
                <a:solidFill>
                  <a:srgbClr val="222222"/>
                </a:solidFill>
                <a:latin typeface="맑은 고딕"/>
                <a:ea typeface="맑은 고딕"/>
              </a:rPr>
              <a:t>•  Q3. 인스턴스 튜닝과 애플리케이션 비효율 제거 중 일반적으로 더 큰 향상을 주는 쪽과 그 이유는?</a:t>
            </a:r>
          </a:p>
          <a:p>
            <a:pPr algn="l"/>
            <a:r>
              <a:rPr sz="1600" b="0">
                <a:solidFill>
                  <a:srgbClr val="222222"/>
                </a:solidFill>
                <a:latin typeface="맑은 고딕"/>
                <a:ea typeface="맑은 고딕"/>
              </a:rPr>
              <a:t>•  Q4. 긴급 대응에서 응급 조치와 근본 원인 분석을 분리해야 하는 이유는?</a:t>
            </a:r>
          </a:p>
          <a:p>
            <a:pPr algn="l"/>
            <a:r>
              <a:rPr sz="1600" b="0">
                <a:solidFill>
                  <a:srgbClr val="222222"/>
                </a:solidFill>
                <a:latin typeface="맑은 고딕"/>
                <a:ea typeface="맑은 고딕"/>
              </a:rPr>
              <a:t>•  Q5. 실측에서 597의 블로커는 596이고 596의 대기 클래스는 Idle이었다. 진짜 블로커와 오판 이유는?</a:t>
            </a:r>
          </a:p>
          <a:p>
            <a:pPr algn="l"/>
            <a:r>
              <a:rPr sz="1600" b="0">
                <a:solidFill>
                  <a:srgbClr val="222222"/>
                </a:solidFill>
                <a:latin typeface="맑은 고딕"/>
                <a:ea typeface="맑은 고딕"/>
              </a:rPr>
              <a:t>•  Q6. V$LOCK의 TX 행에서 block=1과 request=6은 각각 무엇을 뜻하는가? 종료 전 반드시 할 일은?</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방법론은 규칙이 아니라 일하는 방식 — 병목 확인 후에만, 한 번에 하나만, 반복.</a:t>
            </a:r>
          </a:p>
          <a:p>
            <a:pPr algn="l"/>
            <a:r>
              <a:rPr sz="1600" b="0">
                <a:solidFill>
                  <a:srgbClr val="222222"/>
                </a:solidFill>
                <a:latin typeface="맑은 고딕"/>
                <a:ea typeface="맑은 고딕"/>
              </a:rPr>
              <a:t>•  인스턴스 튜닝 효과는 &lt;10%, 큰 효과는 애플리케이션 비효율 제거에서.</a:t>
            </a:r>
          </a:p>
          <a:p>
            <a:pPr algn="l"/>
            <a:r>
              <a:rPr sz="1600" b="0">
                <a:solidFill>
                  <a:srgbClr val="222222"/>
                </a:solidFill>
                <a:latin typeface="맑은 고딕"/>
                <a:ea typeface="맑은 고딕"/>
              </a:rPr>
              <a:t>•  개념 모델 세 갈래: 단일 사용자도 느림=앱 / CPU 소진=자원·SQL / CPU 남음=직렬화.</a:t>
            </a:r>
          </a:p>
          <a:p>
            <a:pPr algn="l"/>
            <a:r>
              <a:rPr sz="1600" b="0">
                <a:solidFill>
                  <a:srgbClr val="222222"/>
                </a:solidFill>
                <a:latin typeface="맑은 고딕"/>
                <a:ea typeface="맑은 고딕"/>
              </a:rPr>
              <a:t>•  긴급 대응은 방법론의 지름길 버전. 5단계를 밟되 사실 기록은 생략하지 않는다.</a:t>
            </a:r>
          </a:p>
          <a:p>
            <a:pPr algn="l"/>
            <a:r>
              <a:rPr sz="1600" b="0">
                <a:solidFill>
                  <a:srgbClr val="222222"/>
                </a:solidFill>
                <a:latin typeface="맑은 고딕"/>
                <a:ea typeface="맑은 고딕"/>
              </a:rPr>
              <a:t>•  응급 조치와 근본 원인 분석은 분리한다. 캡처가 조치보다 앞선다.</a:t>
            </a:r>
          </a:p>
          <a:p>
            <a:pPr algn="l"/>
            <a:r>
              <a:rPr sz="1600" b="0">
                <a:solidFill>
                  <a:srgbClr val="222222"/>
                </a:solidFill>
                <a:latin typeface="맑은 고딕"/>
                <a:ea typeface="맑은 고딕"/>
              </a:rPr>
              <a:t>•  블로킹 실측: 597이 596에 막힘. V$LOCK에서 596 block=1, 597 request=6. 유휴 블로커를 놓치지 않는다.</a:t>
            </a:r>
          </a:p>
          <a:p>
            <a:pPr algn="l"/>
            <a:r>
              <a:rPr sz="1600" b="0">
                <a:solidFill>
                  <a:srgbClr val="222222"/>
                </a:solidFill>
                <a:latin typeface="맑은 고딕"/>
                <a:ea typeface="맑은 고딕"/>
              </a:rPr>
              <a:t>•  조치 전 상태 캡처 없는 튜닝은 도박이다.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88952"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nchor="ctr">
            <a:spAutoFit/>
          </a:bodyPr>
          <a:lstStyle/>
          <a:p>
            <a:pPr algn="l"/>
            <a:r>
              <a:rPr sz="2600" b="1">
                <a:solidFill>
                  <a:srgbClr val="FFFFFF"/>
                </a:solidFill>
                <a:latin typeface="맑은 고딕"/>
                <a:ea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r>
              <a:rPr sz="1600" b="0">
                <a:solidFill>
                  <a:srgbClr val="222222"/>
                </a:solidFill>
                <a:latin typeface="맑은 고딕"/>
                <a:ea typeface="맑은 고딕"/>
              </a:rPr>
              <a:t>•  실습 01 — 성능 개선 방법론 절차로 현재 인스턴스 1회 진단(CPU/대기 비중)</a:t>
            </a:r>
          </a:p>
          <a:p>
            <a:pPr algn="l"/>
            <a:r>
              <a:rPr sz="1600" b="0">
                <a:solidFill>
                  <a:srgbClr val="222222"/>
                </a:solidFill>
                <a:latin typeface="맑은 고딕"/>
                <a:ea typeface="맑은 고딕"/>
              </a:rPr>
              <a:t>•  실습 02 — WL_04_lock으로 응급 상황 재현, 자원 독점 세션 식별·차단</a:t>
            </a:r>
          </a:p>
          <a:p>
            <a:pPr algn="l"/>
            <a:r>
              <a:rPr sz="1600" b="0">
                <a:solidFill>
                  <a:srgbClr val="222222"/>
                </a:solidFill>
                <a:latin typeface="맑은 고딕"/>
                <a:ea typeface="맑은 고딕"/>
              </a:rPr>
              <a:t>•  실습 03 — 라이브러리 캐시 경합에서 원인 SQL 지목(V$SQL·V$SQLSTATS)</a:t>
            </a:r>
          </a:p>
          <a:p>
            <a:pPr algn="l"/>
            <a:r>
              <a:rPr sz="1600" b="0">
                <a:solidFill>
                  <a:srgbClr val="222222"/>
                </a:solidFill>
                <a:latin typeface="맑은 고딕"/>
                <a:ea typeface="맑은 고딕"/>
              </a:rPr>
              <a:t>•  실습 04 — 블로킹 세션 추적과 해소(실측 SID 596/597) — ch17 핵심</a:t>
            </a:r>
          </a:p>
          <a:p>
            <a:pPr algn="l"/>
            <a:r>
              <a:rPr sz="1600" b="0">
                <a:solidFill>
                  <a:srgbClr val="222222"/>
                </a:solidFill>
                <a:latin typeface="맑은 고딕"/>
                <a:ea typeface="맑은 고딕"/>
              </a:rPr>
              <a:t>•  실습 05 — 진단 근거를 남기는 절차(SPOOL·V$ 캡처)</a:t>
            </a:r>
          </a:p>
          <a:p>
            <a:pPr algn="l"/>
            <a:r>
              <a:rPr sz="1600" b="0">
                <a:solidFill>
                  <a:srgbClr val="222222"/>
                </a:solidFill>
                <a:latin typeface="맑은 고딕"/>
                <a:ea typeface="맑은 고딕"/>
              </a:rPr>
              <a:t>•  ※ 환경: non-CDB orcl 19.3, 프롬프트 SYS@orcl&gt; / SQLT@orcl&gt;</a:t>
            </a:r>
          </a:p>
          <a:p>
            <a:pPr algn="l"/>
            <a:r>
              <a:rPr sz="1600" b="0">
                <a:solidFill>
                  <a:srgbClr val="222222"/>
                </a:solidFill>
                <a:latin typeface="맑은 고딕"/>
                <a:ea typeface="맑은 고딕"/>
              </a:rPr>
              <a:t>•  ※ 각 실습에 '조치 전 → 조치·조회 → 결과 해석' + '이상→원인→조치→재확인'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
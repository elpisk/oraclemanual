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장이다. 앞의 열세 장이 "어떻게 빠르게 만들 것인가"였다면 이 장은 "무엇을 근거로 빨라졌다고 말할 것인가"를 다룬다. 측정 도구를 모르면 튜닝의 성과는 결국 체감과 주장이 되고, 체감은 캐시 상태 하나로도 쉽게 뒤집힌다. 이 장의 모든 실행계획과 시간 값은 진료비청구심사 실습 DB에서 버퍼 캐시를 실제로 비우고 캡처한 실측값임을 먼저 밝혀 둔다. 수업 도입에서 "여러분이 튜닝한 SQL이 빨라졌다는 것을 어떻게 증명하겠는가"를 한 번 물어보고 시작하면 몰입도가 크게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도구·지표·판단 세 층으로 읽어 주면 좋다. 도구는 EXPLAIN PLAN과 DISPLAY_CURSOR 두 갈래이고, 지표는 그 도구가 뱉는 값들이며, 판단은 그 값을 근거로 결론을 내리는 능력이다. 이 중 가장 어려운 것은 세 번째다. 값을 읽을 줄 아는 사람은 많아도, 그 값이 측정 환경 때문에 흔들린 값인지 판별하는 사람은 드물다. 마지막 목표는 이 과정 전체를 요약하는 항목이므로 실습 10번 문제와 그대로 이어진다는 점을 미리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흐름은 "도구 정리 → 원리 → 통제된 실험 → 실측 해석 → 실무 적용 → 총정리"다. 14.2에서 도구를 정리하고 14.3에서 왜 그런 차이가 생기는지 원리를 세운 뒤, 14.4와 14.5에서 그 원리를 실험으로 확인하는 순서다. 원리를 먼저 세우고 실험을 보는 배치라서, 14.3을 건너뛰면 14.5의 실측표가 그냥 신기한 숫자로만 보인다. 마지막 절은 이 장뿐 아니라 과정 전체를 되짚는 구간이므로 시간을 넉넉히 남겨 두는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이 장의 존재 이유를 세우는 구간이다. 이 과정은 1장부터 Buffers를 사실상 단일 통화처럼 써 왔는데, 그 통화만으로 계산되지 않는 비용을 이미 여러 번 만났다. 그 미결 항목을 마지막 장에서 정면으로 처리한다는 구성임을 밝혀 주면 학습자가 앞 장들과의 연결을 스스로 떠올린다. 여기서는 결론을 미리 말하지 말고 "왜 같은 계획인데 시간이 다른가"라는 질문만 남겨 두는 편이 좋다. 절 제목을 그대로 학습자에게 던져 놓고 각자 어떤 근거를 대는지 몇 개 받아 적어 두면, 뒤의 실측 결과와 대조할 재료가 생긴다.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강조할 것은 Buffers가 틀린 지표라는 말이 아니라는 점이다. Buffers는 여전히 SQL 자체의 효율을 재는 가장 좋은 단일 지표이고, 그 자리는 이 장 이후에도 변하지 않는다. 다만 Buffers는 "요청 횟수"를 재는 지표이고 사용자가 체감하는 것은 "시간"이라서, 그 사이를 메우는 변수가 하나 더 있다는 것이 이 장의 주제다. 학습자가 여기서 Buffers 무용론으로 오해하지 않도록 초반에 못을 박아 두는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1의 IN과 EXISTS 사례를 다시 꺼내 보여 주면 효과가 크다. 당시 학습자들은 대부분 EXISTS가 원래 빠른 문법이라고 결론을 내렸는데, 실제로는 두 계획이 동일했고 먼저 실행된 쪽이 블록을 캐시에 올려 준 순서 효과였다. 이 장을 마치면 그 현상을 캐시 효과라는 뭉뚱그린 말이 아니라 Logical I/O와 Physical I/O의 차이로 정확히 설명할 수 있게 된다. 해설 6번 문제가 정확히 이 연결을 묻는다는 점도 함께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 설계에서 중요한 것은 변수를 하나만 바꿨다는 점이다. 쿼리도 같고 데이터도 같고 실행계획도 같으며, 오직 버퍼 캐시 상태만 다르다. 그래서 결과 차이의 원인을 캐시로 특정할 수 있다. 강의 중 안전 관련 질문이 반드시 나오는데, 이 명령은 데이터를 지우지 않고 메모리의 사본만 비우므로 데이터 유실은 없다는 점을 분명히 해 준다. 다만 인스턴스 전체가 영향을 받으므로 실습 환경에서만 쓰는 명령이라는 선은 확실히 그어 두어야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절은 과정 전체에서 써 온 측정 도구를 한자리에 모으는 정리 구간이다. 학습자들은 이미 두 도구를 여러 번 사용했지만, 둘의 차이를 말로 설명해 보라고 하면 대부분 막힌다. 여기서 "실행했는가, 실행하지 않았는가"라는 단 하나의 기준으로 정리해 주면 그 뒤의 모든 지표 설명이 자연스럽게 따라온다. 실습 5번 문제가 바로 이 구분을 서술형으로 묻는다. 도구 이름을 외우는 것보다 각 도구가 답할 수 있는 질문의 범위를 아는 것이 실무에서 훨씬 오래 쓰인다는 말로 절을 열면 좋다.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도구를 대립 구도로 가르치면 학습자가 EXPLAIN PLAN을 열등한 도구로 오해한다. 실제로는 용도가 다르다. EXPLAIN PLAN은 실행 부담 없이 계획만 빠르게 확인하므로, 운영 시간대에 돌리기 겁나는 무거운 SQL의 접근 경로를 미리 훑어볼 때 유용하다. 반면 튜닝의 성과를 증명해야 하는 자리에서는 추정치가 아무 근거가 되지 못하므로 반드시 실측 통계를 써야 한다. 실무에서는 이 둘을 순서대로 쓰는 것이 표준 절차다.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PLAN은 계획을 PLAN_TABLE에 저장만 하고 화면에 아무것도 뿌리지 않으므로, 반드시 DISPLAY를 이어서 호출해야 한다는 점을 짚어 준다. 여기서 나오는 Rows는 옵티마이저가 통계정보를 근거로 예상한 값이지 실제로 나온 행 수가 아니다. 학습자가 가장 자주 혼동하는 지점이 바로 이 Rows 컬럼인데, 13장에서 다룬 통계정보가 낡으면 이 값이 크게 어긋난다는 사실과 함께 설명하면 이해가 붙는다. 실측이 필요한 자리에 이 값을 근거로 들이대는 실수는 실무에서도 흔하다.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DISPLAY_CURSOR의 첫 두 인자를 NULL로 두면 현재 세션이 마지막으로 실행한 SQL의 커서를 잡는다. 그래서 측정 대상 SQL을 실행한 직후 바로 호출해야 하고, 중간에 다른 SQL을 끼워 넣으면 엉뚱한 커서를 보게 된다. 실습 중 가장 자주 나오는 실수가 이것이다. ALLSTATS LAST를 빼면 여러 번 실행분이 누적된 값이 나오므로 반복 측정 시 해석이 꼬인다는 점도 함께 알려 준다. 힌트 없이 실행하면 A-Rows 계열 컬럼 자체가 나오지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지표를 외우게 하기보다 각 지표가 답하는 질문 한 문장으로 묶어 주는 편이 오래 남는다. A-Rows는 몇 건을 다뤘는가, Buffers는 몇 번 요청했는가, Reads는 그중 몇 번이 디스크까지 갔는가, A-Time은 결국 얼마나 걸렸는가다. 특히 Reads가 0일 때 컬럼이 아예 사라지는 표시 규칙은 미리 말해 두지 않으면 학습자가 "실행계획 형식이 왜 다르냐"고 당황한다. 이 규칙은 바로 뒤 실측 비교에서 그대로 등장한다.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5번 문제의 핵심이 여기 있다. 캐시 상태는 계획을 만드는 시점의 정보가 아니라 실행하는 시점의 조건이므로, 실행하지 않는 도구로는 원리상 관측할 수 없다. 이 점을 "도구가 부족해서"가 아니라 "구조상 불가능해서"라고 설명해야 한다. 실무에서 리뷰 자리에 EXPLAIN PLAN 결과만 들고 와서 빨라졌다고 주장하는 경우가 실제로 흔한데, 그 자리에서 되물어야 할 질문이 "실행은 해 보셨습니까"라는 것도 덧붙여 준다.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용어가 헷갈리는 이유는 Logical이라는 말이 "가짜"처럼 들리기 때문이다. 논리적 I/O도 실제로 일어나는 작업이며, 다만 그 대상이 디스크가 아니라 메모리일 뿐이라고 정리해 준다. 비유를 쓴다면 책상 위에 있는 책을 펴 보는 것이 논리적 I/O, 서고까지 걸어가 책을 꺼내 오는 것이 물리적 I/O다. 요청 횟수는 같아도 두 경우의 소요 시간은 자릿수가 다르다는 점이 이 장 전체의 축이다. 이 자릿수 차이가 뒤의 실측에서 시간 값으로 그대로 드러나므로, 여기서 미리 감을 잡아 두면 실측표를 볼 때 결과에 놀라지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절은 이 장의 이론적 뼈대다. 실험 결과를 먼저 보여 주고 원리를 설명하는 순서도 가능하지만, 이 주제만큼은 원리를 먼저 세워 두는 편이 낫다. 숫자를 먼저 보면 학습자가 "웜이 빠르다"는 결론만 챙기고 왜 Buffers는 그대로인지를 그냥 넘겨 버리기 때문이다. 여기서 두 지표가 세는 대상 자체가 다르다는 것을 확실히 못 박고 나서 실측으로 넘어간다. 이 절만 제대로 이해하면 나머지 절은 전부 이 원리의 적용 사례로 읽히므로, 시간이 부족하더라도 여기서는 서두르지 않는 편이 낫다.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Buffers가 캐시 상태에 흔들리지 않는다는 성질은 단점이 아니라 장점이다. 측정할 때마다 값이 달라지는 지표로는 개선 여부를 판정할 수 없기 때문이다. 그래서 튜닝 전후 비교표를 만들 때 가장 먼저 적어야 할 값이 Buffers다. 다만 이 안정성이 대가로 잃는 것이 바로 시간 정보이고, 그 잃어버린 정보가 다음 슬라이드의 Reads라는 흐름으로 연결해 준다. 실습 1번 문제가 이 두 지표가 각각 무엇을 재는지를 묻는다.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Buffers ≥ Reads 부등식은 실습 3번의 핵심이다. 학습자에게 그 이유를 물으면 대개 "경험상 그렇다"고 답하는데, 정답은 집합 관계다. Reads는 Buffers라는 전체 요청 중 디스크까지 간 것만 세므로 부분집합이고, 부분이 전체를 넘을 수 없다. 실무에서 이 부등식은 실행계획을 잘못 읽었는지 자가 점검하는 용도로 쓸 수 있다. Reads가 Buffers보다 큰 값으로 보인다면 두 컬럼을 바꿔 읽었거나 다른 통계를 보고 있는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학습자가 앞으로 성능 테스트를 할 때마다 떠올려야 할 내용이다. 같은 쿼리를 세 번 돌려 보고 제일 빠른 값을 채택하는 습관이 실무에 널리 퍼져 있는데, 그렇게 얻은 값은 캐시가 완전히 예열된 최선의 조건이지 평균적인 운영 조건이 아니다. 반대로 첫 실행값만 쓰는 것도 답은 아니어서, 어느 쪽 조건을 재고 있는지 스스로 알고 기록해 두는 것이 핵심이라는 결론으로 이끈다. 실습 4번과 직결된다.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9번 문제가 이것이다. 학습자들은 흔히 콜드 캐시를 실험실에서만 만드는 인위적 조건으로 여기는데, 실제로는 운영 환경에서 훨씬 자주 발생한다. 캐시에 올라갈 자격은 최근에 쓰였는지로 결정되므로, 하루에 한 번 도는 배치나 오래된 데이터 조회는 거의 항상 콜드에서 출발한다. 또 하나 짚을 것은 대량 조회가 캐시를 밀어내는 부작용이다. 무거운 쿼리 하나가 다른 쿼리들의 캐시 적중률까지 떨어뜨리는 일이 실무에서 실제로 벌어진다.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절은 실험 설계 구간이다. 결과 숫자보다 절차 자체가 학습 목표라는 점을 강조해야 한다. 학습자가 현업에 돌아가서 그대로 따라 할 수 있는 측정 절차를 손에 쥐어 주는 것이 이 절의 목적이다. 특히 무엇을 고정하고 무엇을 바꾸는지, 그리고 그 결과를 어떤 형식으로 기록할지까지 한 묶음으로 다룬다. 실습 환경이 준비돼 있다면 강사가 직접 두 세션을 띄워 놓고 시연하는 것이 가장 효과적이고, 여의치 않으면 절차를 칠판에 단계별로 적어 두고 진행한다.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통제 실험의 기본형이다. 하나만 바꾸고 나머지를 고정해야 결과 차이의 원인을 그 하나로 특정할 수 있다. 학습자에게 만약 두 번째 실행에서 조건절 날짜까지 바꿨다면 무엇이 문제인지 물어보면 이해가 빨라진다. 그 경우 차이의 원인이 캐시인지 데이터량인지 구분할 수 없게 된다. 실무에서 튜닝 전후 비교가 신뢰를 못 받는 이유도 대개 여기에 있다. 인덱스도 바꾸고 쿼리도 고치고 시간대도 다른 상태로 비교한 표는 근거가 되지 못한다.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쿼리 자체는 특별할 것이 없는 단순 범위 조회다. 오히려 단순해야 좋은데, 조인이나 정렬이 섞이면 시간 차이의 원인이 캐시인지 다른 연산인지 흐려지기 때문이다. 조건절이 하루치 범위로 좁혀져 있는데도 뒤에서 보듯 테이블 전체를 훑는 계획이 나오는데, 그 이유는 앞선 장들에서 다룬 접근 경로 선택 문제이지 이 장의 주제는 아니다. 학습자가 그 점을 물으면 이 실험에서는 계획이 두 번 모두 동일하다는 사실이 중요하다고 정리해 준다.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교안의 실측값 자체보다 오래 쓰일 내용이다. 실무에서 성능 측정 결과가 신뢰를 잃는 이유는 대개 값이 틀려서가 아니라 조건이 기록되지 않아서다. 몇 번째 실행인지, 그때 계획이 무엇이었는지가 빠진 숫자는 재현할 수 없고, 재현할 수 없는 숫자는 근거가 되지 못한다. 측정 결과를 남길 때 실행계획 원문을 함께 붙여 두는 습관을 권한다. 나중에 다른 사람이 검증할 수 있는 형태로 남기는 것이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절이 이 장의 핵심 실측 구간이다. 두 실행계획을 나란히 놓고 무엇이 같고 무엇이 다른지 학습자에게 먼저 찾게 하면 수업이 살아난다. 대부분은 시간 차이를 먼저 발견하는데, 진짜 봐야 할 것은 Buffers가 같다는 사실이다. 다르다는 것보다 같다는 것이 더 중요한 관찰이라는 점을 이 절에서 확실히 심어 준다. 두 실행계획을 화면에 동시에 띄울 수 없다면 앞뒤로 빠르게 오가며 보여 주기보다, 지표 이름을 하나씩 부르며 값을 비교하는 방식이 훨씬 잘 전달된다.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계획에서 눈여겨볼 것은 Reads 컬럼의 존재 자체다. 웜 캐시 계획에는 이 컬럼이 아예 없어서 두 출력의 컬럼 구성이 달라 보이는데, 그것이 오류가 아니라 표시 규칙이다. 또 하나, TABLE ACCESS FULL이므로 조건절이 하루치로 좁혀져 있어도 테이블 전체 블록을 요청한다. 그래서 Buffers가 크고, 콜드 상태에서는 그 큰 요청이 거의 그대로 물리 I/O로 이어졌다. 이 구조가 뒤에 나올 "Buffers를 줄여야 하는 이유"의 근거가 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출력을 나란히 놓고 비교할 때 학습자에게 반드시 확인시켜야 할 것은 A-Rows가 같다는 점이다. 같은 결과를 냈다는 확인이 없으면 시간 비교 자체가 성립하지 않는다. Reads 컬럼이 사라진 것을 두고 "값을 못 구한 것 아니냐"고 묻는 경우가 있는데, 0이면 컬럼을 생략하는 것이 DBMS_XPLAN의 표시 방식이다. 실습 2번이 정확히 이 컬럼 소멸의 의미를 묻는 문제이므로, 여기서 답을 다 말해 주기보다 질문만 던져 두는 것도 좋다.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세 줄이 이 장 전체의 요약이다. 하나만 강조한다면 첫 줄인데, 학습자 대부분은 세 번째 줄의 배율에 시선을 뺏긴다. Buffers가 같다는 사실이 왜 중요한가 하면, 그것이 바로 이 실험에서 SQL 자체는 아무것도 달라지지 않았다는 증거이기 때문이다. SQL이 그대로인데 체감 속도가 수백 배 달라졌다면 원인은 SQL 밖에 있고, 그 원인이 캐시 상태다. 이 논증 구조를 학습자가 스스로 재구성할 수 있게 만드는 것이 목표다.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3번은 최상 난도로 배치된 추론 문제다. 정확한 원인을 특정하라는 문제가 아니라, 부등식이 왜 성립해야 하는지를 설명하라는 문제라는 점을 짚어 준다. 실무에서도 이런 미세한 차이의 원인을 끝까지 파고들 일은 드물다. 오히려 중요한 것은 값을 봤을 때 이상 여부를 판단할 기준을 갖는 것이다. 두 값이 비슷하면 캐시 적중이 거의 없었다는 뜻이고, Reads가 Buffers보다 훨씬 작으면 캐시가 잘 듣고 있다는 뜻으로 읽으면 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 절은 이 장의 반성 구간이다. 앞 장들에서 Buffers를 성적표로 삼아 온 방식 자체에 어떤 사각지대가 있었는지 정면으로 다룬다. 지표를 부정하는 것이 아니라 지표의 유효 범위를 정하는 작업이라는 틀로 설명해야 학습자가 혼란스러워하지 않는다. 실무 보고 상황을 가정한 사례로 풀면 몰입도가 높다. 이 절의 두 슬라이드는 같은 이야기를 지표 쪽과 사람 쪽에서 각각 본 것이므로, 앞에서 원리를 확인하고 뒤에서 그 원리가 조직 안에서 어떤 모습으로 나타나는지 이어 준다.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학습자가 흔들리기 쉽다. 그동안 Buffers를 믿고 튜닝해 온 것이 헛수고였느냐는 질문이 나오는데, 답은 분명히 아니다. Buffers를 줄이는 튜닝은 여전히 옳고, 오히려 뒤에서 보듯 콜드 상황에서 그 가치가 더 커진다. 문제는 Buffers 하나만으로 성능을 단정한 것이지 Buffers를 본 것 자체가 아니다. 지표는 각자 답할 수 있는 질문의 범위가 있고, 그 범위를 넘겨 쓰면 틀린 결론이 나온다는 정리로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4번 문제가 이 상황을 그대로 낸다. 이 슬라이드를 다룰 때는 개발자를 탓하는 이야기로 흐르지 않게 주의한다. 누구든 같은 환경에서 반복 측정하면 자연히 웜 조건을 재게 되므로 이것은 개인의 부주의가 아니라 측정 설계의 문제다. 해결책은 조건을 명시하는 것이다. "웜 캐시 기준"처럼 조건을 붙여 보고하면 그 숫자는 정직해진다. 조건 없는 숫자가 문제이지 숫자가 문제가 아니라는 결론으로 정리한다. 성능 보고서 양식에 측정 조건 칸을 아예 만들어 두는 것도 현실적인 해법이다.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번째 절은 실험 결과를 현장 판단으로 옮기는 구간이다. 여기서 학습자가 가져가야 할 결론은 두 가지다. 하나는 개발 환경의 측정값을 운영에 그대로 옮기지 말라는 것이고, 다른 하나는 그렇다고 Buffers 튜닝을 소홀히 하면 안 된다는 것이다. 언뜻 반대 방향처럼 보이는 두 결론이 사실은 같은 원리에서 나온다는 점을 마지막에 묶어 준다. 캐시는 이미 발생한 요청의 비용을 낮춰 주는 장치일 뿐이고 요청 자체를 줄이는 일은 여전히 SQL의 몫이라는 한 문장으로 절을 닫으면 정리가 깔끔하다.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 목표를 세울 때 평균만 보고 상한을 안 보는 것이 흔한 실수다. 장애는 평균에서 나지 않고 최악 조건에서 난다. 웜 기준으로 응답 시간 목표를 잡아 두면, 캐시가 듣지 않는 상황이 왔을 때 목표를 몇 배로 초과하면서 타임아웃이 연쇄로 터진다. 그래서 실무에서는 평소값과 최악값을 함께 기록하고, 최악값 기준으로 타임아웃과 재시도 정책을 설계하라고 권한다. 이 장의 실험은 그 최악값을 통제된 형태로 재현하는 방법을 보여 준 셈이다.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8번이 이 상황을 스키마에 맞춰 직접 예로 들라는 문제다. 여기서 학습자에게 자기 회사의 사례를 하나씩 말하게 하면 수업이 살아난다. 거의 모든 조직에 월말 정산이나 야간 집계 배치가 있고, 그 배치가 유독 느리다는 경험도 대부분 갖고 있다. 개발 단계에서 소량 데이터로 웜 상태에서 테스트한 뒤 운영에서 대량·콜드로 돌리면 시간이 크게 벌어진다는 구조를 여기서 확실히 연결해 준다. 야간 배치의 소요 시간이 해마다 조금씩 길어지다가 어느 날 아침 업무 시간까지 넘어가 버리는 사고가 대표적인 사례다.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7번의 논지가 이것이다. 앞 슬라이드에서 캐시 이야기를 하고 나면 학습자가 "그럼 메모리를 늘리면 되는 것 아니냐"는 방향으로 흐르기 쉬운데, 메모리 증설은 한계가 있고 비용도 든다. 반면 Buffers를 줄이는 것은 요청 자체를 없애는 일이라 캐시가 듣든 안 듣든 항상 유효하다. 캐시는 비용을 숨겨 주는 장치이고 튜닝은 비용을 없애는 작업이라는 대비로 정리하면 메시지가 선명해진다. 메모리를 늘려 해결한 문제는 데이터가 늘면 다시 돌아오지만 요청을 줄여 해결한 문제는 돌아오지 않는다는 점도 덧붙일 만하다.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읽는 방향을 두 가지로 안내하면 이해가 깊어진다. 세로로 읽으면 지표별 성질이 보이고, 가로로 읽으면 상황별 체감이 보인다. 배율 행에서 Reads 칸이 비어 있는 이유도 짚어 준다. 웜 쪽 값이 0이므로 배율을 계산할 수 없기 때문이다. 이런 표를 만들 때 계산되지 않는 칸을 억지로 채우지 않는 태도도 함께 가르칠 만하다. 측정 보고서에서 근거 없는 숫자 한 칸이 전체 신뢰를 무너뜨리는 일이 실제로 자주 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체크리스트는 수료 후에도 그대로 쓸 수 있게 만든 것이다. 특히 두 번째 항목인 결과 동일성 확인은 놓치기 쉬운데, 빨라진 것이 아니라 덜 읽은 것이었던 사례가 실무에 정말 많다. 조건절을 잘못 고쳐 놓고 성능이 개선됐다고 보고하는 사고가 대표적이다. A-Rows를 먼저 맞춰 놓고 시간을 비교하는 순서를 몸에 배게 해야 한다. 측정은 튜닝의 마지막 단계가 아니라 처음과 끝에 각각 한 번씩 있는 작업이라는 점도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10번이 이 목록을 스스로 만들라는 문제이므로, 여기서는 정답 표를 외우게 하기보다 순서의 논리를 설명해 주는 편이 좋다. 먼저 옵티마이저가 무엇을 예상했는지 보고, 그 예상이 맞았는지 확인하고, 맞았다면 이 SQL이 효율적인지 보고, 마지막으로 그 효율이 실제 시간으로 이어졌는지 확인하는 흐름이다. 앞 단계에서 문제가 발견되면 뒤 단계를 볼 필요가 없다는 점도 실무에서 시간을 아끼는 요령이다. 다섯 개를 다 볼 시간이 없다면 Buffers와 A-Time 두 개만이라도 반드시 함께 보라고 권한다.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장이므로 과정 전체의 지도를 한 번 펼쳐 보이는 슬라이드다. 세 묶음의 관계를 강조해 주면 좋다. 진단 없이 고치면 헛손질이 되고, 고치기만 하고 재지 않으면 성과를 증명할 수 없다. 세 단계가 한 바퀴를 이루는 순환이라는 그림으로 정리한다. 학습자에게 앞으로 실무에서 튜닝을 맡게 되면 어느 단계가 가장 자주 생략되는지 물어보면 대개 측정이라고 답한다. 그 답이 이 장을 마지막에 배치한 이유다.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요약은 이 장의 정리이자 과정 전체의 마무리다. 다섯 줄 중 마지막 줄에 힘을 주는 편이 좋다. 앞의 네 줄이 측정에 관한 경고라면 마지막 줄은 그 경고에도 불구하고 지금까지 배운 것이 왜 여전히 옳은지를 확인해 주는 문장이기 때문이다. 수업을 닫을 때 학습자가 가져갈 한 문장을 고르라면 "조건 없는 숫자는 근거가 아니다"를 권한다. 도구는 바뀌어도 이 원칙은 남는다. 남은 시간이 있으면 이 다섯 줄을 학습자에게 각자의 문장으로 바꿔 말하게 해 보는 것도 좋은 마무리다.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실습은 전부 서술형이라 채점보다 토론이 어울린다. 특히 10번은 정답이 하나가 아니므로 몇 명의 목록을 칠판에 나란히 적고 왜 그 지표를 골랐는지 비교해 보게 하면 좋다. 3번과 9번은 정확한 원인 특정보다 논리 구조를 요구하는 문제라는 점을 미리 안내해 주어야 학습자가 헤매지 않는다. 시간이 부족하면 1·2·5·10번을 필수로 두고 나머지를 과제로 돌리는 배분을 권한다. 마지막 장의 실습이므로 앞 챕터의 실습 노트를 옆에 펴 놓고 풀게 하면 6번과 10번의 답이 훨씬 풍부해진다.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제14장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SQL 성능 측정</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EXPLAIN PLAN vs DISPLAY_CURSOR · A-Rows / A-Time / Buffers / Reads · Logical I/O vs Physical I/O · 콜드 캐시와 웜 캐시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EXPLAIN PLAN(추정)과 DISPLAY_CURSOR(실측)의 차이를 설명한다</a:t>
            </a:r>
          </a:p>
          <a:p>
            <a:r>
              <a:rPr sz="1600" b="0">
                <a:solidFill>
                  <a:srgbClr val="5A6672"/>
                </a:solidFill>
                <a:latin typeface="Malgun Gothic"/>
              </a:rPr>
              <a:t>    –  DBMS_XPLAN.DISPLAY_CURSOR(...'ALLSTATS LAST')로 실행 통계를 조회한다</a:t>
            </a:r>
          </a:p>
          <a:p>
            <a:r>
              <a:rPr sz="1600" b="0">
                <a:solidFill>
                  <a:srgbClr val="5A6672"/>
                </a:solidFill>
                <a:latin typeface="Malgun Gothic"/>
              </a:rPr>
              <a:t>    –  E-Rows / A-Rows / A-Time / Buffers / Reads가 각각 무엇을 세는지 구분한다</a:t>
            </a:r>
          </a:p>
          <a:p>
            <a:r>
              <a:rPr sz="1600" b="0">
                <a:solidFill>
                  <a:srgbClr val="5A6672"/>
                </a:solidFill>
                <a:latin typeface="Malgun Gothic"/>
              </a:rPr>
              <a:t>    –  Logical I/O와 Physical I/O의 차이를 정의한다</a:t>
            </a:r>
          </a:p>
          <a:p>
            <a:r>
              <a:rPr sz="1600" b="0">
                <a:solidFill>
                  <a:srgbClr val="5A6672"/>
                </a:solidFill>
                <a:latin typeface="Malgun Gothic"/>
              </a:rPr>
              <a:t>    –  Buffers ≥ Reads라는 부등식이 항상 성립하는 이유를 설명한다</a:t>
            </a:r>
          </a:p>
          <a:p>
            <a:r>
              <a:rPr sz="1600" b="0">
                <a:solidFill>
                  <a:srgbClr val="5A6672"/>
                </a:solidFill>
                <a:latin typeface="Malgun Gothic"/>
              </a:rPr>
              <a:t>    –  같은 Buffers에서도 소요 시간이 크게 달라질 수 있는 이유를 실측으로 설명한다</a:t>
            </a:r>
          </a:p>
          <a:p>
            <a:r>
              <a:rPr sz="1600" b="0">
                <a:solidFill>
                  <a:srgbClr val="5A6672"/>
                </a:solidFill>
                <a:latin typeface="Malgun Gothic"/>
              </a:rPr>
              <a:t>    –  캐시 예열 효과를 배제한 측정 절차를 설계한다</a:t>
            </a:r>
          </a:p>
          <a:p>
            <a:r>
              <a:rPr sz="1600" b="0">
                <a:solidFill>
                  <a:srgbClr val="5A6672"/>
                </a:solidFill>
                <a:latin typeface="Malgun Gothic"/>
              </a:rPr>
              <a:t>    –  개발 환경의 반복 테스트 결과를 운영 성능으로 단정할 수 없는 이유를 반박한다</a:t>
            </a:r>
          </a:p>
          <a:p>
            <a:r>
              <a:rPr sz="1600" b="0">
                <a:solidFill>
                  <a:srgbClr val="5A6672"/>
                </a:solidFill>
                <a:latin typeface="Malgun Gothic"/>
              </a:rPr>
              <a:t>    –  SQL 진단 시 최소한 확인해야 할 지표 목록을 스스로 정리한다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14.1  Why — 무엇을 근거로 빨라졌다고 말할 것인가</a:t>
            </a:r>
          </a:p>
          <a:p>
            <a:r>
              <a:rPr sz="1800" b="0">
                <a:solidFill>
                  <a:srgbClr val="202830"/>
                </a:solidFill>
                <a:latin typeface="Malgun Gothic"/>
              </a:rPr>
              <a:t>•  14.2  Concept — 측정 도구와 실행 통계 지표</a:t>
            </a:r>
          </a:p>
          <a:p>
            <a:r>
              <a:rPr sz="1800" b="0">
                <a:solidFill>
                  <a:srgbClr val="202830"/>
                </a:solidFill>
                <a:latin typeface="Malgun Gothic"/>
              </a:rPr>
              <a:t>•  14.3  Oracle Internals — Buffers와 Reads는 서로 다른 것을 센다</a:t>
            </a:r>
          </a:p>
          <a:p>
            <a:r>
              <a:rPr sz="1800" b="0">
                <a:solidFill>
                  <a:srgbClr val="202830"/>
                </a:solidFill>
                <a:latin typeface="Malgun Gothic"/>
              </a:rPr>
              <a:t>•  14.4  Example — 버퍼 캐시를 비우고 같은 쿼리를 두 번</a:t>
            </a:r>
          </a:p>
          <a:p>
            <a:r>
              <a:rPr sz="1800" b="0">
                <a:solidFill>
                  <a:srgbClr val="202830"/>
                </a:solidFill>
                <a:latin typeface="Malgun Gothic"/>
              </a:rPr>
              <a:t>•  14.5  Execution Plan — 콜드 캐시 vs 웜 캐시 실측</a:t>
            </a:r>
          </a:p>
          <a:p>
            <a:r>
              <a:rPr sz="1800" b="0">
                <a:solidFill>
                  <a:srgbClr val="202830"/>
                </a:solidFill>
                <a:latin typeface="Malgun Gothic"/>
              </a:rPr>
              <a:t>•  14.6  Bad SQL — Buffers만 보고 튜닝했다면</a:t>
            </a:r>
          </a:p>
          <a:p>
            <a:r>
              <a:rPr sz="1800" b="0">
                <a:solidFill>
                  <a:srgbClr val="202830"/>
                </a:solidFill>
                <a:latin typeface="Malgun Gothic"/>
              </a:rPr>
              <a:t>•  14.7  Tuning · Benchmark — 실무에서 이 차이가 중요한 이유</a:t>
            </a:r>
          </a:p>
          <a:p>
            <a:r>
              <a:rPr sz="1800" b="0">
                <a:solidFill>
                  <a:srgbClr val="202830"/>
                </a:solidFill>
                <a:latin typeface="Malgun Gothic"/>
              </a:rPr>
              <a:t>•  14.8~14.9  실습 안내 · 요약 (Review) — 14개 챕터 총정리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무엇을 근거로 빨라졌다고 말할 것인가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열세 개 챕터가 계속 써 온 지표, Buffers</a:t>
            </a:r>
          </a:p>
          <a:p>
            <a:r>
              <a:rPr sz="1600" b="0">
                <a:solidFill>
                  <a:srgbClr val="C5CED6"/>
                </a:solidFill>
                <a:latin typeface="Malgun Gothic"/>
              </a:rPr>
              <a:t>•  그런데 이미 여러 번 만난 'Buffers만으론 안 보이는 비용'</a:t>
            </a:r>
          </a:p>
          <a:p>
            <a:r>
              <a:rPr sz="1600" b="0">
                <a:solidFill>
                  <a:srgbClr val="C5CED6"/>
                </a:solidFill>
                <a:latin typeface="Malgun Gothic"/>
              </a:rPr>
              <a:t>•  이 차시의 실험 설계와 안전 범위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열세 개 챕터가 남긴 하나의 질문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과정은 Chapter 1부터 Buffers를 핵심 지표로 계속 사용해 왔다</a:t>
            </a:r>
          </a:p>
          <a:p>
            <a:r>
              <a:rPr sz="1600" b="0">
                <a:solidFill>
                  <a:srgbClr val="5A6672"/>
                </a:solidFill>
                <a:latin typeface="Malgun Gothic"/>
              </a:rPr>
              <a:t>    –  인덱스 설계, SARGable, 조인, 서브쿼리, 페이징 — 모든 개선의 성적표가 Buffers였다</a:t>
            </a:r>
          </a:p>
          <a:p>
            <a:r>
              <a:rPr sz="1600" b="0">
                <a:solidFill>
                  <a:srgbClr val="5A6672"/>
                </a:solidFill>
                <a:latin typeface="Malgun Gothic"/>
              </a:rPr>
              <a:t>    –  Buffers는 데이터 규모·동시성과 무관하게 SQL 자체의 효율을 보여 주는 지표이기 때문</a:t>
            </a:r>
          </a:p>
          <a:p>
            <a:r>
              <a:rPr sz="1800" b="0">
                <a:solidFill>
                  <a:srgbClr val="202830"/>
                </a:solidFill>
                <a:latin typeface="Malgun Gothic"/>
              </a:rPr>
              <a:t>•  그런데 Chapter 9·11에서 이미 "Buffers만으로는 안 보이는 비용"을 여러 번 확인했다</a:t>
            </a:r>
          </a:p>
          <a:p>
            <a:r>
              <a:rPr sz="1600" b="0">
                <a:solidFill>
                  <a:srgbClr val="5A6672"/>
                </a:solidFill>
                <a:latin typeface="Malgun Gothic"/>
              </a:rPr>
              <a:t>    –  Buffers는 거의 같은데 A-Time은 확연히 달라지는 사례들</a:t>
            </a:r>
          </a:p>
          <a:p>
            <a:r>
              <a:rPr sz="1800" b="0">
                <a:solidFill>
                  <a:srgbClr val="202830"/>
                </a:solidFill>
                <a:latin typeface="Malgun Gothic"/>
              </a:rPr>
              <a:t>•  본 차시는 그중 가장 근본적인 것을 정면으로 다룬다</a:t>
            </a:r>
          </a:p>
          <a:p>
            <a:r>
              <a:rPr sz="1600" b="0">
                <a:solidFill>
                  <a:srgbClr val="5A6672"/>
                </a:solidFill>
                <a:latin typeface="Malgun Gothic"/>
              </a:rPr>
              <a:t>    –  Buffers(논리적 I/O)와 실제 디스크 접근(물리적 I/O)의 차이</a:t>
            </a:r>
          </a:p>
          <a:p>
            <a:r>
              <a:rPr sz="1600" b="0">
                <a:solidFill>
                  <a:srgbClr val="5A6672"/>
                </a:solidFill>
                <a:latin typeface="Malgun Gothic"/>
              </a:rPr>
              <a:t>    –  이 차이를 통제된 실험으로 직접 확인하고, 과정에서 배운 측정 도구를 총정리한다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이미 여러 번 만난 'Buffers만으론 안 보이는 비용'</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Chapter 1 — IN vs EXISTS</a:t>
            </a:r>
          </a:p>
          <a:p>
            <a:r>
              <a:rPr sz="1600" b="0">
                <a:solidFill>
                  <a:srgbClr val="5A6672"/>
                </a:solidFill>
                <a:latin typeface="Malgun Gothic"/>
              </a:rPr>
              <a:t>    –  실행계획이 완전히 동일한데 A-Time만 크게 달랐던 사례</a:t>
            </a:r>
          </a:p>
          <a:p>
            <a:r>
              <a:rPr sz="1600" b="0">
                <a:solidFill>
                  <a:srgbClr val="5A6672"/>
                </a:solidFill>
                <a:latin typeface="Malgun Gothic"/>
              </a:rPr>
              <a:t>    –  당시에는 "캐시 효과"라고만 정리하고 근본 원인은 뒤로 미뤄 두었다</a:t>
            </a:r>
          </a:p>
          <a:p>
            <a:r>
              <a:rPr sz="1800" b="0">
                <a:solidFill>
                  <a:srgbClr val="202830"/>
                </a:solidFill>
                <a:latin typeface="Malgun Gothic"/>
              </a:rPr>
              <a:t>•  Chapter 9 — SORT UNIQUE</a:t>
            </a:r>
          </a:p>
          <a:p>
            <a:r>
              <a:rPr sz="1600" b="0">
                <a:solidFill>
                  <a:srgbClr val="5A6672"/>
                </a:solidFill>
                <a:latin typeface="Malgun Gothic"/>
              </a:rPr>
              <a:t>    –  Buffers 수치에 잡히지 않는 정렬·중복 제거 비용</a:t>
            </a:r>
          </a:p>
          <a:p>
            <a:r>
              <a:rPr sz="1800" b="0">
                <a:solidFill>
                  <a:srgbClr val="202830"/>
                </a:solidFill>
                <a:latin typeface="Malgun Gothic"/>
              </a:rPr>
              <a:t>•  Chapter 11 — WINDOW SORT PUSHED RANK</a:t>
            </a:r>
          </a:p>
          <a:p>
            <a:r>
              <a:rPr sz="1600" b="0">
                <a:solidFill>
                  <a:srgbClr val="5A6672"/>
                </a:solidFill>
                <a:latin typeface="Malgun Gothic"/>
              </a:rPr>
              <a:t>    –  역시 Buffers 밖에서 발생하는 비용</a:t>
            </a:r>
          </a:p>
          <a:p>
            <a:r>
              <a:rPr sz="1800" b="0">
                <a:solidFill>
                  <a:srgbClr val="202830"/>
                </a:solidFill>
                <a:latin typeface="Malgun Gothic"/>
              </a:rPr>
              <a:t>•  이 장에서 다루는 것은 그 목록 중 가장 근본적인 항목이다</a:t>
            </a:r>
          </a:p>
          <a:p>
            <a:r>
              <a:rPr sz="1600" b="0">
                <a:solidFill>
                  <a:srgbClr val="5A6672"/>
                </a:solidFill>
                <a:latin typeface="Malgun Gothic"/>
              </a:rPr>
              <a:t>    –  메모리에서 읽었는가, 디스크까지 갔는가 — 같은 Buffers라도 실제 비용이 다르다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실험 설계와 안전 범위</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소재: 같은 쿼리를 캐시 상태만 바꿔 두 번 실행한다</a:t>
            </a:r>
          </a:p>
          <a:p>
            <a:r>
              <a:rPr sz="1600" b="0">
                <a:solidFill>
                  <a:srgbClr val="5A6672"/>
                </a:solidFill>
                <a:latin typeface="Malgun Gothic"/>
              </a:rPr>
              <a:t>    –  버퍼 캐시가 빈 상태(콜드)와 채워진 상태(웜)에서 각각 실행</a:t>
            </a:r>
          </a:p>
          <a:p>
            <a:r>
              <a:rPr sz="1600" b="0">
                <a:solidFill>
                  <a:srgbClr val="5A6672"/>
                </a:solidFill>
                <a:latin typeface="Malgun Gothic"/>
              </a:rPr>
              <a:t>    –  Logical I/O(Buffers)와 Physical I/O(Reads)의 차이를 직접 확인</a:t>
            </a:r>
          </a:p>
          <a:p>
            <a:r>
              <a:rPr sz="1800" b="0">
                <a:solidFill>
                  <a:srgbClr val="202830"/>
                </a:solidFill>
                <a:latin typeface="Malgun Gothic"/>
              </a:rPr>
              <a:t>•  캐시를 비우는 작업은 SYSDBA 권한으로 수행한다</a:t>
            </a:r>
          </a:p>
          <a:p>
            <a:r>
              <a:rPr sz="1600" b="0">
                <a:solidFill>
                  <a:srgbClr val="5A6672"/>
                </a:solidFill>
                <a:latin typeface="Malgun Gothic"/>
              </a:rPr>
              <a:t>    –  ALTER SYSTEM FLUSH BUFFER_CACHE — 인스턴스 레벨 작업</a:t>
            </a:r>
          </a:p>
          <a:p>
            <a:r>
              <a:rPr sz="1600" b="0">
                <a:solidFill>
                  <a:srgbClr val="5A6672"/>
                </a:solidFill>
                <a:latin typeface="Malgun Gothic"/>
              </a:rPr>
              <a:t>    –  SQLT 계정의 객체·데이터에는 영향이 없고 DDL 변경도 없다</a:t>
            </a:r>
          </a:p>
          <a:p>
            <a:r>
              <a:rPr sz="1800" b="0">
                <a:solidFill>
                  <a:srgbClr val="202830"/>
                </a:solidFill>
                <a:latin typeface="Malgun Gothic"/>
              </a:rPr>
              <a:t>•  왜 굳이 강제로 비우는가</a:t>
            </a:r>
          </a:p>
          <a:p>
            <a:r>
              <a:rPr sz="1600" b="0">
                <a:solidFill>
                  <a:srgbClr val="5A6672"/>
                </a:solidFill>
                <a:latin typeface="Malgun Gothic"/>
              </a:rPr>
              <a:t>    –  평소에는 캐시 상태를 통제할 수 없어 두 조건을 나란히 비교할 수 없기 때문</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ALTER SYSTEM FLUSH BUFFER_CACHE는 인스턴스 전체의 버퍼 캐시를 비우므로, 같은 DB를 쓰는 다른 세션의 응답 시간도 함께 나빠진다. 운영 DB에서는 실행하지 않는다.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측정 도구와 실행 통계 지표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추정과 실측 — 두 갈래 도구</a:t>
            </a:r>
          </a:p>
          <a:p>
            <a:r>
              <a:rPr sz="1600" b="0">
                <a:solidFill>
                  <a:srgbClr val="C5CED6"/>
                </a:solidFill>
                <a:latin typeface="Malgun Gothic"/>
              </a:rPr>
              <a:t>•  EXPLAIN PLAN / DBMS_XPLAN.DISPLAY</a:t>
            </a:r>
          </a:p>
          <a:p>
            <a:r>
              <a:rPr sz="1600" b="0">
                <a:solidFill>
                  <a:srgbClr val="C5CED6"/>
                </a:solidFill>
                <a:latin typeface="Malgun Gothic"/>
              </a:rPr>
              <a:t>•  DBMS_XPLAN.DISPLAY_CURSOR(...'ALLSTATS LAST')</a:t>
            </a:r>
          </a:p>
          <a:p>
            <a:r>
              <a:rPr sz="1600" b="0">
                <a:solidFill>
                  <a:srgbClr val="C5CED6"/>
                </a:solidFill>
                <a:latin typeface="Malgun Gothic"/>
              </a:rPr>
              <a:t>•  E-Rows · A-Rows · A-Time · Buffers · Reads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추정과 실측 — 도구는 두 갈래다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EXPLAIN PLAN — 실행하지 않는다</a:t>
            </a:r>
          </a:p>
          <a:p>
            <a:r>
              <a:rPr sz="1600" b="0">
                <a:solidFill>
                  <a:srgbClr val="5A6672"/>
                </a:solidFill>
                <a:latin typeface="Malgun Gothic"/>
              </a:rPr>
              <a:t>    –  SQL을 실제로 돌리지 않고 옵티마이저의 예상 계획만 산출한다</a:t>
            </a:r>
          </a:p>
          <a:p>
            <a:r>
              <a:rPr sz="1600" b="0">
                <a:solidFill>
                  <a:srgbClr val="5A6672"/>
                </a:solidFill>
                <a:latin typeface="Malgun Gothic"/>
              </a:rPr>
              <a:t>    –  결과는 Rows / Cost / Bytes 등 전부 추정치</a:t>
            </a:r>
          </a:p>
          <a:p>
            <a:r>
              <a:rPr sz="1600" b="0">
                <a:solidFill>
                  <a:srgbClr val="5A6672"/>
                </a:solidFill>
                <a:latin typeface="Malgun Gothic"/>
              </a:rPr>
              <a:t>    –  DBMS_XPLAN.DISPLAY로 저장된 계획을 보기 좋게 출력한다</a:t>
            </a:r>
          </a:p>
          <a:p>
            <a:r>
              <a:rPr sz="1800" b="0">
                <a:solidFill>
                  <a:srgbClr val="202830"/>
                </a:solidFill>
                <a:latin typeface="Malgun Gothic"/>
              </a:rPr>
              <a:t>•  DBMS_XPLAN.DISPLAY_CURSOR(...'ALLSTATS LAST') — 실행한다</a:t>
            </a:r>
          </a:p>
          <a:p>
            <a:r>
              <a:rPr sz="1600" b="0">
                <a:solidFill>
                  <a:srgbClr val="5A6672"/>
                </a:solidFill>
                <a:latin typeface="Malgun Gothic"/>
              </a:rPr>
              <a:t>    –  SQL을 실제로 실행한 뒤 그 실행 통계를 조회한다</a:t>
            </a:r>
          </a:p>
          <a:p>
            <a:r>
              <a:rPr sz="1600" b="0">
                <a:solidFill>
                  <a:srgbClr val="5A6672"/>
                </a:solidFill>
                <a:latin typeface="Malgun Gothic"/>
              </a:rPr>
              <a:t>    –  결과는 E-Rows / A-Rows / A-Time / Buffers / Reads 등 실측값</a:t>
            </a:r>
          </a:p>
          <a:p>
            <a:r>
              <a:rPr sz="1800" b="0">
                <a:solidFill>
                  <a:srgbClr val="202830"/>
                </a:solidFill>
                <a:latin typeface="Malgun Gothic"/>
              </a:rPr>
              <a:t>•  이 구분은 Chapter 2부터 계속 사용해 온 원칙이다</a:t>
            </a:r>
          </a:p>
          <a:p>
            <a:r>
              <a:rPr sz="1600" b="0">
                <a:solidFill>
                  <a:srgbClr val="5A6672"/>
                </a:solidFill>
                <a:latin typeface="Malgun Gothic"/>
              </a:rPr>
              <a:t>    –  두 도구는 대체 관계가 아니라 용도가 다른 도구다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추정 — EXPLAIN PLAN + DBMS_XPLAN.DISPLAY</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실행하지 않고 옵티마이저의 예상 계획만 얻는다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-- 1) 실행하지 않고 옵티마이저의 예상 계획만 산출한다</a:t>
            </a:r>
          </a:p>
          <a:p>
            <a:r>
              <a:rPr sz="1250" b="0">
                <a:solidFill>
                  <a:srgbClr val="E6E6E6"/>
                </a:solidFill>
                <a:latin typeface="Consolas"/>
              </a:rPr>
              <a:t>EXPLAIN PLAN FOR</a:t>
            </a:r>
          </a:p>
          <a:p>
            <a:r>
              <a:rPr sz="1250" b="0">
                <a:solidFill>
                  <a:srgbClr val="E6E6E6"/>
                </a:solidFill>
                <a:latin typeface="Consolas"/>
              </a:rPr>
              <a:t>SELECT claim_id, total_amt</a:t>
            </a:r>
          </a:p>
          <a:p>
            <a:r>
              <a:rPr sz="1250" b="0">
                <a:solidFill>
                  <a:srgbClr val="E6E6E6"/>
                </a:solidFill>
                <a:latin typeface="Consolas"/>
              </a:rPr>
              <a:t>  FROM medical_claims</a:t>
            </a:r>
          </a:p>
          <a:p>
            <a:r>
              <a:rPr sz="1250" b="0">
                <a:solidFill>
                  <a:srgbClr val="E6E6E6"/>
                </a:solidFill>
                <a:latin typeface="Consolas"/>
              </a:rPr>
              <a:t>  WHERE claim_id BETWEEN '20240601-0000000' AND '20240602-0000000';</a:t>
            </a:r>
          </a:p>
          <a:p>
            <a:r>
              <a:rPr sz="1250" b="0">
                <a:solidFill>
                  <a:srgbClr val="E6E6E6"/>
                </a:solidFill>
                <a:latin typeface="Consolas"/>
              </a:rPr>
              <a:t> </a:t>
            </a:r>
          </a:p>
          <a:p>
            <a:r>
              <a:rPr sz="1250" b="0">
                <a:solidFill>
                  <a:srgbClr val="7EC699"/>
                </a:solidFill>
                <a:latin typeface="Consolas"/>
              </a:rPr>
              <a:t>-- 2) 저장된 계획을 보기 좋게 출력한다</a:t>
            </a:r>
          </a:p>
          <a:p>
            <a:r>
              <a:rPr sz="1250" b="0">
                <a:solidFill>
                  <a:srgbClr val="E6E6E6"/>
                </a:solidFill>
                <a:latin typeface="Consolas"/>
              </a:rPr>
              <a:t>SELECT * FROM TABLE(DBMS_XPLAN.DISPLAY);</a:t>
            </a:r>
          </a:p>
          <a:p>
            <a:r>
              <a:rPr sz="1250" b="0">
                <a:solidFill>
                  <a:srgbClr val="E6E6E6"/>
                </a:solidFill>
                <a:latin typeface="Consolas"/>
              </a:rPr>
              <a:t> </a:t>
            </a:r>
          </a:p>
          <a:p>
            <a:r>
              <a:rPr sz="1250" b="0">
                <a:solidFill>
                  <a:srgbClr val="7EC699"/>
                </a:solidFill>
                <a:latin typeface="Consolas"/>
              </a:rPr>
              <a:t>-- 얻는 것    : Rows / Bytes / Cost  -&gt; 전부 옵티마이저의 추정치</a:t>
            </a:r>
          </a:p>
          <a:p>
            <a:r>
              <a:rPr sz="1250" b="0">
                <a:solidFill>
                  <a:srgbClr val="7EC699"/>
                </a:solidFill>
                <a:latin typeface="Consolas"/>
              </a:rPr>
              <a:t>-- 얻지 못함  : A-Rows / A-Time / Buffers / Reads (실행해야 나오는 값)</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 GATHER_PLAN_STATISTICS + DISPLAY_CURSOR</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실제로 실행한 뒤 그 실행 통계를 조회한다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-- 1) 실행 통계를 수집하도록 힌트를 준다</a:t>
            </a:r>
          </a:p>
          <a:p>
            <a:r>
              <a:rPr sz="1250" b="0">
                <a:solidFill>
                  <a:srgbClr val="E6E6E6"/>
                </a:solidFill>
                <a:latin typeface="Consolas"/>
              </a:rPr>
              <a:t>SELECT /*+ GATHER_PLAN_STATISTICS */ claim_id, total_amt</a:t>
            </a:r>
          </a:p>
          <a:p>
            <a:r>
              <a:rPr sz="1250" b="0">
                <a:solidFill>
                  <a:srgbClr val="E6E6E6"/>
                </a:solidFill>
                <a:latin typeface="Consolas"/>
              </a:rPr>
              <a:t>  FROM medical_claims</a:t>
            </a:r>
          </a:p>
          <a:p>
            <a:r>
              <a:rPr sz="1250" b="0">
                <a:solidFill>
                  <a:srgbClr val="E6E6E6"/>
                </a:solidFill>
                <a:latin typeface="Consolas"/>
              </a:rPr>
              <a:t>  WHERE claim_id BETWEEN '20240601-0000000' AND '20240602-0000000';</a:t>
            </a:r>
          </a:p>
          <a:p>
            <a:r>
              <a:rPr sz="1250" b="0">
                <a:solidFill>
                  <a:srgbClr val="E6E6E6"/>
                </a:solidFill>
                <a:latin typeface="Consolas"/>
              </a:rPr>
              <a:t> </a:t>
            </a:r>
          </a:p>
          <a:p>
            <a:r>
              <a:rPr sz="1250" b="0">
                <a:solidFill>
                  <a:srgbClr val="7EC699"/>
                </a:solidFill>
                <a:latin typeface="Consolas"/>
              </a:rPr>
              <a:t>-- 2) 방금 실행한 커서의 실제 통계를 조회한다</a:t>
            </a:r>
          </a:p>
          <a:p>
            <a:r>
              <a:rPr sz="1250" b="0">
                <a:solidFill>
                  <a:srgbClr val="E6E6E6"/>
                </a:solidFill>
                <a:latin typeface="Consolas"/>
              </a:rPr>
              <a:t>SELECT * FROM TABLE(</a:t>
            </a:r>
          </a:p>
          <a:p>
            <a:r>
              <a:rPr sz="1250" b="0">
                <a:solidFill>
                  <a:srgbClr val="E6E6E6"/>
                </a:solidFill>
                <a:latin typeface="Consolas"/>
              </a:rPr>
              <a:t>         DBMS_XPLAN.DISPLAY_CURSOR(NULL, NULL, 'ALLSTATS LAST'));</a:t>
            </a:r>
          </a:p>
          <a:p>
            <a:r>
              <a:rPr sz="1250" b="0">
                <a:solidFill>
                  <a:srgbClr val="E6E6E6"/>
                </a:solidFill>
                <a:latin typeface="Consolas"/>
              </a:rPr>
              <a:t> </a:t>
            </a:r>
          </a:p>
          <a:p>
            <a:r>
              <a:rPr sz="1250" b="0">
                <a:solidFill>
                  <a:srgbClr val="7EC699"/>
                </a:solidFill>
                <a:latin typeface="Consolas"/>
              </a:rPr>
              <a:t>-- ALLSTATS LAST : 마지막 한 번의 실행분에 대한 실측 통계</a:t>
            </a:r>
          </a:p>
          <a:p>
            <a:r>
              <a:rPr sz="1250" b="0">
                <a:solidFill>
                  <a:srgbClr val="7EC699"/>
                </a:solidFill>
                <a:latin typeface="Consolas"/>
              </a:rPr>
              <a:t>-- 얻는 것 : E-Rows / A-Rows / A-Time / Buffers / Reads</a:t>
            </a:r>
          </a:p>
          <a:p>
            <a:r>
              <a:rPr sz="1250" b="0">
                <a:solidFill>
                  <a:srgbClr val="7EC699"/>
                </a:solidFill>
                <a:latin typeface="Consolas"/>
              </a:rPr>
              <a:t>--           추정(E-Rows)과 실제(A-Rows)를 한 화면에서 대조할 수 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 통계 지표 사전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E-Rows — 옵티마이저가 예상한 행 수(추정)</a:t>
            </a:r>
          </a:p>
          <a:p>
            <a:r>
              <a:rPr sz="1800" b="0">
                <a:solidFill>
                  <a:srgbClr val="202830"/>
                </a:solidFill>
                <a:latin typeface="Malgun Gothic"/>
              </a:rPr>
              <a:t>•  A-Rows — 실제로 처리된 행 수(Rows Processed)</a:t>
            </a:r>
          </a:p>
          <a:p>
            <a:r>
              <a:rPr sz="1600" b="0">
                <a:solidFill>
                  <a:srgbClr val="5A6672"/>
                </a:solidFill>
                <a:latin typeface="Malgun Gothic"/>
              </a:rPr>
              <a:t>    –  E-Rows와 A-Rows의 괴리가 크면 통계정보 문제를 의심한다 (Chapter 3·13)</a:t>
            </a:r>
          </a:p>
          <a:p>
            <a:r>
              <a:rPr sz="1800" b="0">
                <a:solidFill>
                  <a:srgbClr val="202830"/>
                </a:solidFill>
                <a:latin typeface="Malgun Gothic"/>
              </a:rPr>
              <a:t>•  A-Time — 실제로 걸린 전체 경과 시간(Elapsed Time)</a:t>
            </a:r>
          </a:p>
          <a:p>
            <a:r>
              <a:rPr sz="1600" b="0">
                <a:solidFill>
                  <a:srgbClr val="5A6672"/>
                </a:solidFill>
                <a:latin typeface="Malgun Gothic"/>
              </a:rPr>
              <a:t>    –  사용자가 체감하는 시간에 가장 가까운 지표</a:t>
            </a:r>
          </a:p>
          <a:p>
            <a:r>
              <a:rPr sz="1800" b="0">
                <a:solidFill>
                  <a:srgbClr val="202830"/>
                </a:solidFill>
                <a:latin typeface="Malgun Gothic"/>
              </a:rPr>
              <a:t>•  Buffers — 버퍼 캐시에서 블록을 읽은 횟수(Consistent Gets)</a:t>
            </a:r>
          </a:p>
          <a:p>
            <a:r>
              <a:rPr sz="1600" b="0">
                <a:solidFill>
                  <a:srgbClr val="5A6672"/>
                </a:solidFill>
                <a:latin typeface="Malgun Gothic"/>
              </a:rPr>
              <a:t>    –  Logical I/O. "블록을 몇 번 요청했는가"</a:t>
            </a:r>
          </a:p>
          <a:p>
            <a:r>
              <a:rPr sz="1800" b="0">
                <a:solidFill>
                  <a:srgbClr val="202830"/>
                </a:solidFill>
                <a:latin typeface="Malgun Gothic"/>
              </a:rPr>
              <a:t>•  Reads — 디스크에서 실제로 블록을 읽어 온 횟수(Physical Reads)</a:t>
            </a:r>
          </a:p>
          <a:p>
            <a:r>
              <a:rPr sz="1600" b="0">
                <a:solidFill>
                  <a:srgbClr val="5A6672"/>
                </a:solidFill>
                <a:latin typeface="Malgun Gothic"/>
              </a:rPr>
              <a:t>    –  Physical I/O. 값이 0이면 컬럼 자체가 표시되지 않는다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추정 계획으로는 볼 수 없는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EXPLAIN PLAN이 알려 주지 못하는 것들</a:t>
            </a:r>
          </a:p>
          <a:p>
            <a:r>
              <a:rPr sz="1600" b="0">
                <a:solidFill>
                  <a:srgbClr val="5A6672"/>
                </a:solidFill>
                <a:latin typeface="Malgun Gothic"/>
              </a:rPr>
              <a:t>    –  실제로 몇 건이 나왔는지(A-Rows)</a:t>
            </a:r>
          </a:p>
          <a:p>
            <a:r>
              <a:rPr sz="1600" b="0">
                <a:solidFill>
                  <a:srgbClr val="5A6672"/>
                </a:solidFill>
                <a:latin typeface="Malgun Gothic"/>
              </a:rPr>
              <a:t>    –  실제로 얼마나 걸렸는지(A-Time)</a:t>
            </a:r>
          </a:p>
          <a:p>
            <a:r>
              <a:rPr sz="1600" b="0">
                <a:solidFill>
                  <a:srgbClr val="5A6672"/>
                </a:solidFill>
                <a:latin typeface="Malgun Gothic"/>
              </a:rPr>
              <a:t>    –  블록을 몇 번 요청했는지(Buffers)</a:t>
            </a:r>
          </a:p>
          <a:p>
            <a:r>
              <a:rPr sz="1600" b="0">
                <a:solidFill>
                  <a:srgbClr val="5A6672"/>
                </a:solidFill>
                <a:latin typeface="Malgun Gothic"/>
              </a:rPr>
              <a:t>    –  그중 디스크까지 몇 번 갔는지(Reads)</a:t>
            </a:r>
          </a:p>
          <a:p>
            <a:r>
              <a:rPr sz="1800" b="0">
                <a:solidFill>
                  <a:srgbClr val="202830"/>
                </a:solidFill>
                <a:latin typeface="Malgun Gothic"/>
              </a:rPr>
              <a:t>•  이 장의 콜드/웜 캐시 차이는 원리상 EXPLAIN PLAN으로 확인할 수 없다</a:t>
            </a:r>
          </a:p>
          <a:p>
            <a:r>
              <a:rPr sz="1600" b="0">
                <a:solidFill>
                  <a:srgbClr val="5A6672"/>
                </a:solidFill>
                <a:latin typeface="Malgun Gothic"/>
              </a:rPr>
              <a:t>    –  캐시 상태는 실행 시점의 런타임 조건이지 계획의 속성이 아니기 때문</a:t>
            </a:r>
          </a:p>
          <a:p>
            <a:r>
              <a:rPr sz="1600" b="0">
                <a:solidFill>
                  <a:srgbClr val="5A6672"/>
                </a:solidFill>
                <a:latin typeface="Malgun Gothic"/>
              </a:rPr>
              <a:t>    –  같은 SQL이라면 캐시가 비어 있든 차 있든 EXPLAIN PLAN 결과는 동일하다</a:t>
            </a:r>
          </a:p>
          <a:p>
            <a:r>
              <a:rPr sz="1800" b="0">
                <a:solidFill>
                  <a:srgbClr val="202830"/>
                </a:solidFill>
                <a:latin typeface="Malgun Gothic"/>
              </a:rPr>
              <a:t>•  결론: 튜닝 성과의 증거는 반드시 실측 통계로 제시한다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Logical I/O와 Physical I/O</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Logical I/O — 논리적 I/O</a:t>
            </a:r>
          </a:p>
          <a:p>
            <a:r>
              <a:rPr sz="1600" b="0">
                <a:solidFill>
                  <a:srgbClr val="5A6672"/>
                </a:solidFill>
                <a:latin typeface="Malgun Gothic"/>
              </a:rPr>
              <a:t>    –  버퍼 캐시(메모리)에서 블록을 읽은 횟수</a:t>
            </a:r>
          </a:p>
          <a:p>
            <a:r>
              <a:rPr sz="1600" b="0">
                <a:solidFill>
                  <a:srgbClr val="5A6672"/>
                </a:solidFill>
                <a:latin typeface="Malgun Gothic"/>
              </a:rPr>
              <a:t>    –  실행계획에는 Buffers(= Consistent Gets)로 표시된다</a:t>
            </a:r>
          </a:p>
          <a:p>
            <a:r>
              <a:rPr sz="1800" b="0">
                <a:solidFill>
                  <a:srgbClr val="202830"/>
                </a:solidFill>
                <a:latin typeface="Malgun Gothic"/>
              </a:rPr>
              <a:t>•  Physical I/O — 물리적 I/O</a:t>
            </a:r>
          </a:p>
          <a:p>
            <a:r>
              <a:rPr sz="1600" b="0">
                <a:solidFill>
                  <a:srgbClr val="5A6672"/>
                </a:solidFill>
                <a:latin typeface="Malgun Gothic"/>
              </a:rPr>
              <a:t>    –  디스크에서 실제로 블록을 읽어 온 횟수</a:t>
            </a:r>
          </a:p>
          <a:p>
            <a:r>
              <a:rPr sz="1600" b="0">
                <a:solidFill>
                  <a:srgbClr val="5A6672"/>
                </a:solidFill>
                <a:latin typeface="Malgun Gothic"/>
              </a:rPr>
              <a:t>    –  실행계획에는 Reads로 표시된다</a:t>
            </a:r>
          </a:p>
          <a:p>
            <a:r>
              <a:rPr sz="1800" b="0">
                <a:solidFill>
                  <a:srgbClr val="202830"/>
                </a:solidFill>
                <a:latin typeface="Malgun Gothic"/>
              </a:rPr>
              <a:t>•  두 값의 관계</a:t>
            </a:r>
          </a:p>
          <a:p>
            <a:r>
              <a:rPr sz="1600" b="0">
                <a:solidFill>
                  <a:srgbClr val="5A6672"/>
                </a:solidFill>
                <a:latin typeface="Malgun Gothic"/>
              </a:rPr>
              <a:t>    –  요청한 블록이 이미 메모리에 있으면 Logical I/O만 발생한다</a:t>
            </a:r>
          </a:p>
          <a:p>
            <a:r>
              <a:rPr sz="1600" b="0">
                <a:solidFill>
                  <a:srgbClr val="5A6672"/>
                </a:solidFill>
                <a:latin typeface="Malgun Gothic"/>
              </a:rPr>
              <a:t>    –  메모리에 없으면 디스크까지 내려가므로 Physical I/O가 함께 발생한다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Buffers와 Reads는 서로 다른 것을 센다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Buffers — 블록을 몇 번 요청했는가</a:t>
            </a:r>
          </a:p>
          <a:p>
            <a:r>
              <a:rPr sz="1600" b="0">
                <a:solidFill>
                  <a:srgbClr val="C5CED6"/>
                </a:solidFill>
                <a:latin typeface="Malgun Gothic"/>
              </a:rPr>
              <a:t>•  Reads — 그중 실제로 디스크까지 간 횟수</a:t>
            </a:r>
          </a:p>
          <a:p>
            <a:r>
              <a:rPr sz="1600" b="0">
                <a:solidFill>
                  <a:srgbClr val="C5CED6"/>
                </a:solidFill>
                <a:latin typeface="Malgun Gothic"/>
              </a:rPr>
              <a:t>•  Buffers ≥ Reads 라는 부등식</a:t>
            </a:r>
          </a:p>
          <a:p>
            <a:r>
              <a:rPr sz="1600" b="0">
                <a:solidFill>
                  <a:srgbClr val="C5CED6"/>
                </a:solidFill>
                <a:latin typeface="Malgun Gothic"/>
              </a:rPr>
              <a:t>•  캐시 예열 효과의 근본 원인</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 — 블록을 몇 번 요청했는가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Buffers(Consistent Gets)는 요청 횟수를 센다</a:t>
            </a:r>
          </a:p>
          <a:p>
            <a:r>
              <a:rPr sz="1600" b="0">
                <a:solidFill>
                  <a:srgbClr val="5A6672"/>
                </a:solidFill>
                <a:latin typeface="Malgun Gothic"/>
              </a:rPr>
              <a:t>    –  "이 블록이 필요하다"고 요청한 횟수 그 자체</a:t>
            </a:r>
          </a:p>
          <a:p>
            <a:r>
              <a:rPr sz="1600" b="0">
                <a:solidFill>
                  <a:srgbClr val="5A6672"/>
                </a:solidFill>
                <a:latin typeface="Malgun Gothic"/>
              </a:rPr>
              <a:t>    –  그 블록이 메모리에 있었는지 디스크에 있었는지는 세지 않는다</a:t>
            </a:r>
          </a:p>
          <a:p>
            <a:r>
              <a:rPr sz="1800" b="0">
                <a:solidFill>
                  <a:srgbClr val="202830"/>
                </a:solidFill>
                <a:latin typeface="Malgun Gothic"/>
              </a:rPr>
              <a:t>•  그래서 Buffers는 캐시 상태와 무관하다</a:t>
            </a:r>
          </a:p>
          <a:p>
            <a:r>
              <a:rPr sz="1600" b="0">
                <a:solidFill>
                  <a:srgbClr val="5A6672"/>
                </a:solidFill>
                <a:latin typeface="Malgun Gothic"/>
              </a:rPr>
              <a:t>    –  같은 SQL이 같은 데이터를 읽는다면 요청해야 할 블록 수는 언제나 같다</a:t>
            </a:r>
          </a:p>
          <a:p>
            <a:r>
              <a:rPr sz="1600" b="0">
                <a:solidFill>
                  <a:srgbClr val="5A6672"/>
                </a:solidFill>
                <a:latin typeface="Malgun Gothic"/>
              </a:rPr>
              <a:t>    –  캐시가 비어 있든 가득 차 있든 요청 횟수는 변하지 않는다</a:t>
            </a:r>
          </a:p>
          <a:p>
            <a:r>
              <a:rPr sz="1800" b="0">
                <a:solidFill>
                  <a:srgbClr val="202830"/>
                </a:solidFill>
                <a:latin typeface="Malgun Gothic"/>
              </a:rPr>
              <a:t>•  이 성질 때문에 Buffers는 SQL 자체의 효율을 재는 좋은 지표가 된다</a:t>
            </a:r>
          </a:p>
          <a:p>
            <a:r>
              <a:rPr sz="1600" b="0">
                <a:solidFill>
                  <a:srgbClr val="5A6672"/>
                </a:solidFill>
                <a:latin typeface="Malgun Gothic"/>
              </a:rPr>
              <a:t>    –  측정 시점의 우연한 조건에 흔들리지 않는다</a:t>
            </a:r>
          </a:p>
          <a:p>
            <a:r>
              <a:rPr sz="1600" b="0">
                <a:solidFill>
                  <a:srgbClr val="5A6672"/>
                </a:solidFill>
                <a:latin typeface="Malgun Gothic"/>
              </a:rPr>
              <a:t>    –  이 과정 열세 개 챕터가 Buffers를 성적표로 삼아 온 이유가 이것이다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Reads — 그중 디스크까지 간 횟수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Reads(Physical Reads)는 요청 중 실제로 디스크까지 가야 했던 횟수만 센다</a:t>
            </a:r>
          </a:p>
          <a:p>
            <a:r>
              <a:rPr sz="1600" b="0">
                <a:solidFill>
                  <a:srgbClr val="5A6672"/>
                </a:solidFill>
                <a:latin typeface="Malgun Gothic"/>
              </a:rPr>
              <a:t>    –  요청한 블록이 이미 버퍼 캐시에 있으면 디스크까지 갈 필요가 없다</a:t>
            </a:r>
          </a:p>
          <a:p>
            <a:r>
              <a:rPr sz="1600" b="0">
                <a:solidFill>
                  <a:srgbClr val="5A6672"/>
                </a:solidFill>
                <a:latin typeface="Malgun Gothic"/>
              </a:rPr>
              <a:t>    –  그런 요청은 Buffers에는 잡히지만 Reads에는 잡히지 않는다</a:t>
            </a:r>
          </a:p>
          <a:p>
            <a:r>
              <a:rPr sz="1800" b="0">
                <a:solidFill>
                  <a:srgbClr val="202830"/>
                </a:solidFill>
                <a:latin typeface="Malgun Gothic"/>
              </a:rPr>
              <a:t>•  따라서 Reads는 Buffers의 부분집합이다</a:t>
            </a:r>
          </a:p>
          <a:p>
            <a:r>
              <a:rPr sz="1600" b="0">
                <a:solidFill>
                  <a:srgbClr val="5A6672"/>
                </a:solidFill>
                <a:latin typeface="Malgun Gothic"/>
              </a:rPr>
              <a:t>    –  Buffers ≥ Reads — 이 부등식은 항상 성립한다</a:t>
            </a:r>
          </a:p>
          <a:p>
            <a:r>
              <a:rPr sz="1600" b="0">
                <a:solidFill>
                  <a:srgbClr val="5A6672"/>
                </a:solidFill>
                <a:latin typeface="Malgun Gothic"/>
              </a:rPr>
              <a:t>    –  Reads가 Buffers보다 클 수는 없다(전체보다 부분이 클 수 없으므로)</a:t>
            </a:r>
          </a:p>
          <a:p>
            <a:r>
              <a:rPr sz="1800" b="0">
                <a:solidFill>
                  <a:srgbClr val="202830"/>
                </a:solidFill>
                <a:latin typeface="Malgun Gothic"/>
              </a:rPr>
              <a:t>•  Reads는 캐시 상태에 따라 크게 달라진다</a:t>
            </a:r>
          </a:p>
          <a:p>
            <a:r>
              <a:rPr sz="1600" b="0">
                <a:solidFill>
                  <a:srgbClr val="5A6672"/>
                </a:solidFill>
                <a:latin typeface="Malgun Gothic"/>
              </a:rPr>
              <a:t>    –  캐시가 비어 있으면 요청 대부분이 디스크로 내려간다</a:t>
            </a:r>
          </a:p>
          <a:p>
            <a:r>
              <a:rPr sz="1600" b="0">
                <a:solidFill>
                  <a:srgbClr val="5A6672"/>
                </a:solidFill>
                <a:latin typeface="Malgun Gothic"/>
              </a:rPr>
              <a:t>    –  캐시가 채워져 있으면 0에 가까워지고, 0이면 컬럼 자체가 사라진다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캐시 예열 효과 — 반복 실행의 함정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쿼리를 반복 실행하면 무슨 일이 일어나는가</a:t>
            </a:r>
          </a:p>
          <a:p>
            <a:r>
              <a:rPr sz="1600" b="0">
                <a:solidFill>
                  <a:srgbClr val="5A6672"/>
                </a:solidFill>
                <a:latin typeface="Malgun Gothic"/>
              </a:rPr>
              <a:t>    –  첫 실행이 읽어 온 블록들이 버퍼 캐시에 남는다</a:t>
            </a:r>
          </a:p>
          <a:p>
            <a:r>
              <a:rPr sz="1600" b="0">
                <a:solidFill>
                  <a:srgbClr val="5A6672"/>
                </a:solidFill>
                <a:latin typeface="Malgun Gothic"/>
              </a:rPr>
              <a:t>    –  두 번째 실행은 그 블록들을 메모리에서 그대로 재사용한다</a:t>
            </a:r>
          </a:p>
          <a:p>
            <a:r>
              <a:rPr sz="1800" b="0">
                <a:solidFill>
                  <a:srgbClr val="202830"/>
                </a:solidFill>
                <a:latin typeface="Malgun Gothic"/>
              </a:rPr>
              <a:t>•  그 결과</a:t>
            </a:r>
          </a:p>
          <a:p>
            <a:r>
              <a:rPr sz="1600" b="0">
                <a:solidFill>
                  <a:srgbClr val="5A6672"/>
                </a:solidFill>
                <a:latin typeface="Malgun Gothic"/>
              </a:rPr>
              <a:t>    –  Buffers는 그대로다 — 요청해야 할 블록 수는 변하지 않으므로</a:t>
            </a:r>
          </a:p>
          <a:p>
            <a:r>
              <a:rPr sz="1600" b="0">
                <a:solidFill>
                  <a:srgbClr val="5A6672"/>
                </a:solidFill>
                <a:latin typeface="Malgun Gothic"/>
              </a:rPr>
              <a:t>    –  Reads는 0에 가까워진다 — 디스크까지 갈 일이 없어지므로</a:t>
            </a:r>
          </a:p>
          <a:p>
            <a:r>
              <a:rPr sz="1600" b="0">
                <a:solidFill>
                  <a:srgbClr val="5A6672"/>
                </a:solidFill>
                <a:latin typeface="Malgun Gothic"/>
              </a:rPr>
              <a:t>    –  A-Time은 크게 줄어든다 — 디스크 접근이 사라졌으므로</a:t>
            </a:r>
          </a:p>
          <a:p>
            <a:r>
              <a:rPr sz="1800" b="0">
                <a:solidFill>
                  <a:srgbClr val="202830"/>
                </a:solidFill>
                <a:latin typeface="Malgun Gothic"/>
              </a:rPr>
              <a:t>•  Chapter 1에서 이미 관찰한 현상의 근본 원인이 바로 이것이다</a:t>
            </a:r>
          </a:p>
          <a:p>
            <a:r>
              <a:rPr sz="1600" b="0">
                <a:solidFill>
                  <a:srgbClr val="5A6672"/>
                </a:solidFill>
                <a:latin typeface="Malgun Gothic"/>
              </a:rPr>
              <a:t>    –  실행계획이 같은데 시간만 달랐던 이유는 문법이 아니라 실행 순서였다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강제로 비우지 않아도 콜드는 발생한다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ALTER SYSTEM FLUSH BUFFER_CACHE는 SYSDBA 권한의 인스턴스 레벨 명령이다</a:t>
            </a:r>
          </a:p>
          <a:p>
            <a:r>
              <a:rPr sz="1600" b="0">
                <a:solidFill>
                  <a:srgbClr val="5A6672"/>
                </a:solidFill>
                <a:latin typeface="Malgun Gothic"/>
              </a:rPr>
              <a:t>    –  SQLT 같은 일반 애플리케이션 계정은 실행할 수 없다</a:t>
            </a:r>
          </a:p>
          <a:p>
            <a:r>
              <a:rPr sz="1800" b="0">
                <a:solidFill>
                  <a:srgbClr val="202830"/>
                </a:solidFill>
                <a:latin typeface="Malgun Gothic"/>
              </a:rPr>
              <a:t>•  그런데도 실무에서 콜드 캐시 상황은 계속 발생한다</a:t>
            </a:r>
          </a:p>
          <a:p>
            <a:r>
              <a:rPr sz="1600" b="0">
                <a:solidFill>
                  <a:srgbClr val="5A6672"/>
                </a:solidFill>
                <a:latin typeface="Malgun Gothic"/>
              </a:rPr>
              <a:t>    –  버퍼 캐시는 서버 메모리 중 정해진 크기만큼만 할당된다 — 용량이 유한하다</a:t>
            </a:r>
          </a:p>
          <a:p>
            <a:r>
              <a:rPr sz="1600" b="0">
                <a:solidFill>
                  <a:srgbClr val="5A6672"/>
                </a:solidFill>
                <a:latin typeface="Malgun Gothic"/>
              </a:rPr>
              <a:t>    –  한 서버에서 수많은 세션과 쿼리가 그 캐시를 동시에 공유해서 쓴다</a:t>
            </a:r>
          </a:p>
          <a:p>
            <a:r>
              <a:rPr sz="1800" b="0">
                <a:solidFill>
                  <a:srgbClr val="202830"/>
                </a:solidFill>
                <a:latin typeface="Malgun Gothic"/>
              </a:rPr>
              <a:t>•  공간이 부족해지면 오래 쓰이지 않은 블록부터 밀려난다</a:t>
            </a:r>
          </a:p>
          <a:p>
            <a:r>
              <a:rPr sz="1600" b="0">
                <a:solidFill>
                  <a:srgbClr val="5A6672"/>
                </a:solidFill>
                <a:latin typeface="Malgun Gothic"/>
              </a:rPr>
              <a:t>    –  LRU 계열 정책으로 새 블록을 위한 자리를 확보한다</a:t>
            </a:r>
          </a:p>
          <a:p>
            <a:r>
              <a:rPr sz="1600" b="0">
                <a:solidFill>
                  <a:srgbClr val="5A6672"/>
                </a:solidFill>
                <a:latin typeface="Malgun Gothic"/>
              </a:rPr>
              <a:t>    –  한동안 조회되지 않은 테이블, 다른 대량 조회에 밀린 블록은 자연히 캐시에서 빠진다</a:t>
            </a:r>
          </a:p>
          <a:p>
            <a:r>
              <a:rPr sz="1600" b="0">
                <a:solidFill>
                  <a:srgbClr val="5A6672"/>
                </a:solidFill>
                <a:latin typeface="Malgun Gothic"/>
              </a:rPr>
              <a:t>    –  다음 접근 때 다시 디스크에서 읽어야 하는 콜드 상태가 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버퍼 캐시를 비우고 같은 쿼리를 두 번</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실험 절차 — 변수는 캐시 상태 하나뿐</a:t>
            </a:r>
          </a:p>
          <a:p>
            <a:r>
              <a:rPr sz="1600" b="0">
                <a:solidFill>
                  <a:srgbClr val="C5CED6"/>
                </a:solidFill>
                <a:latin typeface="Malgun Gothic"/>
              </a:rPr>
              <a:t>•  측정 대상 쿼리와 캐시 비우기</a:t>
            </a:r>
          </a:p>
          <a:p>
            <a:r>
              <a:rPr sz="1600" b="0">
                <a:solidFill>
                  <a:srgbClr val="C5CED6"/>
                </a:solidFill>
                <a:latin typeface="Malgun Gothic"/>
              </a:rPr>
              <a:t>•  재현 가능한 측정의 조건</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실험 절차 — 변수는 캐시 상태 하나뿐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1단계 — SYSDBA 세션에서 버퍼 캐시를 강제로 비운다</a:t>
            </a:r>
          </a:p>
          <a:p>
            <a:r>
              <a:rPr sz="1600" b="0">
                <a:solidFill>
                  <a:srgbClr val="5A6672"/>
                </a:solidFill>
                <a:latin typeface="Malgun Gothic"/>
              </a:rPr>
              <a:t>    –  이 시점 이후 첫 접근은 전부 디스크에서 읽어야 하는 상태가 된다</a:t>
            </a:r>
          </a:p>
          <a:p>
            <a:r>
              <a:rPr sz="1800" b="0">
                <a:solidFill>
                  <a:srgbClr val="202830"/>
                </a:solidFill>
                <a:latin typeface="Malgun Gothic"/>
              </a:rPr>
              <a:t>•  2단계 — SQLT 세션에서 대상 쿼리를 실행하고 실행 통계를 확인한다</a:t>
            </a:r>
          </a:p>
          <a:p>
            <a:r>
              <a:rPr sz="1600" b="0">
                <a:solidFill>
                  <a:srgbClr val="5A6672"/>
                </a:solidFill>
                <a:latin typeface="Malgun Gothic"/>
              </a:rPr>
              <a:t>    –  이것이 콜드 캐시 측정값이다</a:t>
            </a:r>
          </a:p>
          <a:p>
            <a:r>
              <a:rPr sz="1800" b="0">
                <a:solidFill>
                  <a:srgbClr val="202830"/>
                </a:solidFill>
                <a:latin typeface="Malgun Gothic"/>
              </a:rPr>
              <a:t>•  3단계 — 같은 쿼리를 즉시 다시 실행하고 실행 통계를 확인한다</a:t>
            </a:r>
          </a:p>
          <a:p>
            <a:r>
              <a:rPr sz="1600" b="0">
                <a:solidFill>
                  <a:srgbClr val="5A6672"/>
                </a:solidFill>
                <a:latin typeface="Malgun Gothic"/>
              </a:rPr>
              <a:t>    –  2단계가 올려놓은 블록이 그대로 남아 있으므로 웜 캐시 측정값이 된다</a:t>
            </a:r>
          </a:p>
          <a:p>
            <a:r>
              <a:rPr sz="1800" b="0">
                <a:solidFill>
                  <a:srgbClr val="202830"/>
                </a:solidFill>
                <a:latin typeface="Malgun Gothic"/>
              </a:rPr>
              <a:t>•  고정한 것과 바꾼 것</a:t>
            </a:r>
          </a:p>
          <a:p>
            <a:r>
              <a:rPr sz="1600" b="0">
                <a:solidFill>
                  <a:srgbClr val="5A6672"/>
                </a:solidFill>
                <a:latin typeface="Malgun Gothic"/>
              </a:rPr>
              <a:t>    –  고정: 쿼리문, 대상 테이블, 데이터, 실행계획, 세션</a:t>
            </a:r>
          </a:p>
          <a:p>
            <a:r>
              <a:rPr sz="1600" b="0">
                <a:solidFill>
                  <a:srgbClr val="5A6672"/>
                </a:solidFill>
                <a:latin typeface="Malgun Gothic"/>
              </a:rPr>
              <a:t>    –  변경: 버퍼 캐시 상태 하나뿐</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Example — 캐시 비우기와 측정 대상 쿼리</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같은 쿼리를 연속으로 두 번 실행한다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(SYSDBA) 버퍼 캐시를 강제로 비움</a:t>
            </a:r>
          </a:p>
          <a:p>
            <a:r>
              <a:rPr sz="1250" b="0">
                <a:solidFill>
                  <a:srgbClr val="7EC699"/>
                </a:solidFill>
                <a:latin typeface="Consolas"/>
              </a:rPr>
              <a:t>--          이 세션 이후 첫 접근은 전부 디스크에서 읽어야 함</a:t>
            </a:r>
          </a:p>
          <a:p>
            <a:r>
              <a:rPr sz="1250" b="0">
                <a:solidFill>
                  <a:srgbClr val="E6E6E6"/>
                </a:solidFill>
                <a:latin typeface="Consolas"/>
              </a:rPr>
              <a:t>ALTER SYSTEM FLUSH BUFFER_CACHE;</a:t>
            </a:r>
          </a:p>
          <a:p>
            <a:r>
              <a:rPr sz="1250" b="0">
                <a:solidFill>
                  <a:srgbClr val="E6E6E6"/>
                </a:solidFill>
                <a:latin typeface="Consolas"/>
              </a:rPr>
              <a:t> </a:t>
            </a:r>
          </a:p>
          <a:p>
            <a:r>
              <a:rPr sz="1250" b="0">
                <a:solidFill>
                  <a:srgbClr val="7EC699"/>
                </a:solidFill>
                <a:latin typeface="Consolas"/>
              </a:rPr>
              <a:t>-- (SQLT) 같은 쿼리를 연속으로 두 번 실행</a:t>
            </a:r>
          </a:p>
          <a:p>
            <a:r>
              <a:rPr sz="1250" b="0">
                <a:solidFill>
                  <a:srgbClr val="E6E6E6"/>
                </a:solidFill>
                <a:latin typeface="Consolas"/>
              </a:rPr>
              <a:t>SELECT claim_id, total_amt FROM medical_claims</a:t>
            </a:r>
          </a:p>
          <a:p>
            <a:r>
              <a:rPr sz="1250" b="0">
                <a:solidFill>
                  <a:srgbClr val="E6E6E6"/>
                </a:solidFill>
                <a:latin typeface="Consolas"/>
              </a:rPr>
              <a:t>WHERE claim_id BETWEEN '20240601-0000000' AND '20240602-0000000';</a:t>
            </a:r>
          </a:p>
          <a:p>
            <a:r>
              <a:rPr sz="1250" b="0">
                <a:solidFill>
                  <a:srgbClr val="E6E6E6"/>
                </a:solidFill>
                <a:latin typeface="Consolas"/>
              </a:rPr>
              <a:t> </a:t>
            </a:r>
          </a:p>
          <a:p>
            <a:r>
              <a:rPr sz="1250" b="0">
                <a:solidFill>
                  <a:srgbClr val="7EC699"/>
                </a:solidFill>
                <a:latin typeface="Consolas"/>
              </a:rPr>
              <a:t>-- 첫 번째 실행 -&gt; 콜드 캐시 : 버퍼 캐시가 빈 상태에서 시작</a:t>
            </a:r>
          </a:p>
          <a:p>
            <a:r>
              <a:rPr sz="1250" b="0">
                <a:solidFill>
                  <a:srgbClr val="7EC699"/>
                </a:solidFill>
                <a:latin typeface="Consolas"/>
              </a:rPr>
              <a:t>-- 두 번째 실행 -&gt; 웜  캐시 : 첫 실행이 올려놓은 블록을 재사용</a:t>
            </a:r>
          </a:p>
          <a:p>
            <a:r>
              <a:rPr sz="1250" b="0">
                <a:solidFill>
                  <a:srgbClr val="7EC699"/>
                </a:solidFill>
                <a:latin typeface="Consolas"/>
              </a:rPr>
              <a:t>--</a:t>
            </a:r>
          </a:p>
          <a:p>
            <a:r>
              <a:rPr sz="1250" b="0">
                <a:solidFill>
                  <a:srgbClr val="7EC699"/>
                </a:solidFill>
                <a:latin typeface="Consolas"/>
              </a:rPr>
              <a:t>-- 두 실행 모두 DISPLAY_CURSOR(...ALLSTATS LAST)로 통계를 확인한다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재현 가능한 측정의 조건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측정값을 남길 때 함께 기록해야 하는 것들</a:t>
            </a:r>
          </a:p>
          <a:p>
            <a:r>
              <a:rPr sz="1600" b="0">
                <a:solidFill>
                  <a:srgbClr val="5A6672"/>
                </a:solidFill>
                <a:latin typeface="Malgun Gothic"/>
              </a:rPr>
              <a:t>    –  캐시 상태 — 콜드인가 웜인가, 몇 번째 실행인가</a:t>
            </a:r>
          </a:p>
          <a:p>
            <a:r>
              <a:rPr sz="1600" b="0">
                <a:solidFill>
                  <a:srgbClr val="5A6672"/>
                </a:solidFill>
                <a:latin typeface="Malgun Gothic"/>
              </a:rPr>
              <a:t>    –  실행계획 — 두 측정에서 계획이 동일했는가</a:t>
            </a:r>
          </a:p>
          <a:p>
            <a:r>
              <a:rPr sz="1600" b="0">
                <a:solidFill>
                  <a:srgbClr val="5A6672"/>
                </a:solidFill>
                <a:latin typeface="Malgun Gothic"/>
              </a:rPr>
              <a:t>    –  데이터 조건 — 조회 범위와 결과 건수(A-Rows)가 같았는가</a:t>
            </a:r>
          </a:p>
          <a:p>
            <a:r>
              <a:rPr sz="1600" b="0">
                <a:solidFill>
                  <a:srgbClr val="5A6672"/>
                </a:solidFill>
                <a:latin typeface="Malgun Gothic"/>
              </a:rPr>
              <a:t>    –  측정 도구 — 추정인가 실측인가</a:t>
            </a:r>
          </a:p>
          <a:p>
            <a:r>
              <a:rPr sz="1800" b="0">
                <a:solidFill>
                  <a:srgbClr val="202830"/>
                </a:solidFill>
                <a:latin typeface="Malgun Gothic"/>
              </a:rPr>
              <a:t>•  한 번의 측정으로 결론을 내리지 않는다</a:t>
            </a:r>
          </a:p>
          <a:p>
            <a:r>
              <a:rPr sz="1600" b="0">
                <a:solidFill>
                  <a:srgbClr val="5A6672"/>
                </a:solidFill>
                <a:latin typeface="Malgun Gothic"/>
              </a:rPr>
              <a:t>    –  같은 조건을 여러 번 재고, 값이 흔들리면 흔들리는 이유를 먼저 설명한다</a:t>
            </a:r>
          </a:p>
          <a:p>
            <a:r>
              <a:rPr sz="1600" b="0">
                <a:solidFill>
                  <a:srgbClr val="5A6672"/>
                </a:solidFill>
                <a:latin typeface="Malgun Gothic"/>
              </a:rPr>
              <a:t>    –  설명되지 않는 편차가 남아 있는 상태의 수치는 근거로 쓰지 않는다</a:t>
            </a:r>
          </a:p>
          <a:p>
            <a:r>
              <a:rPr sz="1800" b="0">
                <a:solidFill>
                  <a:srgbClr val="202830"/>
                </a:solidFill>
                <a:latin typeface="Malgun Gothic"/>
              </a:rPr>
              <a:t>•  결과는 지표별로 나란히 적어 비교한다</a:t>
            </a:r>
          </a:p>
          <a:p>
            <a:r>
              <a:rPr sz="1600" b="0">
                <a:solidFill>
                  <a:srgbClr val="5A6672"/>
                </a:solidFill>
                <a:latin typeface="Malgun Gothic"/>
              </a:rPr>
              <a:t>    –  Buffers · Reads · A-Time을 한 표에 놓아야 차이의 원인이 보인다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콜드 캐시 vs 웜 캐시 실측</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콜드 캐시 — 버퍼 캐시를 비운 직후 첫 실행</a:t>
            </a:r>
          </a:p>
          <a:p>
            <a:r>
              <a:rPr sz="1600" b="0">
                <a:solidFill>
                  <a:srgbClr val="C5CED6"/>
                </a:solidFill>
                <a:latin typeface="Malgun Gothic"/>
              </a:rPr>
              <a:t>•  웜 캐시 — 동일 쿼리 즉시 재실행</a:t>
            </a:r>
          </a:p>
          <a:p>
            <a:r>
              <a:rPr sz="1600" b="0">
                <a:solidFill>
                  <a:srgbClr val="C5CED6"/>
                </a:solidFill>
                <a:latin typeface="Malgun Gothic"/>
              </a:rPr>
              <a:t>•  세 지표가 각각 무엇을 말하는가</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콜드 캐시 — 버퍼 캐시를 비운 직후 첫 실행</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DBMS_XPLAN.DISPLAY_CURSOR(...ALLSTATS LAST)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 Reads |</a:t>
            </a:r>
          </a:p>
          <a:p>
            <a:r>
              <a:rPr sz="1250" b="0">
                <a:solidFill>
                  <a:srgbClr val="E6E6E6"/>
                </a:solidFill>
                <a:latin typeface="Consolas"/>
              </a:rPr>
              <a:t>| 0  | SELECT STATEMENT                    |                   |    804 |00:00:00.01 |     787 |   785 |</a:t>
            </a:r>
          </a:p>
          <a:p>
            <a:r>
              <a:rPr sz="1250" b="0">
                <a:solidFill>
                  <a:srgbClr val="E6E6E6"/>
                </a:solidFill>
                <a:latin typeface="Consolas"/>
              </a:rPr>
              <a:t>| 1  |  TABLE ACCESS BY INDEX ROWID BATCHED| MEDICAL_CLAIMS    |    804 |00:00:00.01 |     787 |   785 |</a:t>
            </a:r>
          </a:p>
          <a:p>
            <a:r>
              <a:rPr sz="1250" b="0">
                <a:solidFill>
                  <a:srgbClr val="E6E6E6"/>
                </a:solidFill>
                <a:latin typeface="Consolas"/>
              </a:rPr>
              <a:t>| 2  |   INDEX RANGE SCAN                  | PK_MEDICAL_CLAIMS |    804 |00:00:00.01 |      61 |    64 |</a:t>
            </a:r>
          </a:p>
          <a:p>
            <a:r>
              <a:rPr sz="1250" b="0">
                <a:solidFill>
                  <a:srgbClr val="E6E6E6"/>
                </a:solidFill>
                <a:latin typeface="Consolas"/>
              </a:rPr>
              <a:t> </a:t>
            </a:r>
          </a:p>
          <a:p>
            <a:r>
              <a:rPr sz="1250" b="0">
                <a:solidFill>
                  <a:srgbClr val="7EC699"/>
                </a:solidFill>
                <a:latin typeface="Consolas"/>
              </a:rPr>
              <a:t>-- Reads 컬럼이 존재한다 = 디스크까지 내려간 요청이 있었다는 뜻</a:t>
            </a:r>
          </a:p>
          <a:p>
            <a:r>
              <a:rPr sz="1250" b="0">
                <a:solidFill>
                  <a:srgbClr val="7EC699"/>
                </a:solidFill>
                <a:latin typeface="Consolas"/>
              </a:rPr>
              <a:t>-- 요청한 블록 787 중 785 를 디스크에서 읽어와야 했다</a:t>
            </a:r>
          </a:p>
          <a:p>
            <a:r>
              <a:rPr sz="1250" b="0">
                <a:solidFill>
                  <a:srgbClr val="7EC699"/>
                </a:solidFill>
                <a:latin typeface="Consolas"/>
              </a:rPr>
              <a:t>-- A-Time 00:00:00.01 : 이 VM 은 SSD 위라 785 블록 물리 읽기가 10ms 안에 끝났다(회전 디스크면 수 초)</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웜 캐시 — 동일 쿼리 즉시 재실행</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쿼리도 계획도 그대로, 캐시 상태만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a:t>
            </a:r>
          </a:p>
          <a:p>
            <a:r>
              <a:rPr sz="1250" b="0">
                <a:solidFill>
                  <a:srgbClr val="E6E6E6"/>
                </a:solidFill>
                <a:latin typeface="Consolas"/>
              </a:rPr>
              <a:t>| 0  | SELECT STATEMENT                    |                   |    804 |00:00:00.01 |     776 |</a:t>
            </a:r>
          </a:p>
          <a:p>
            <a:r>
              <a:rPr sz="1250" b="0">
                <a:solidFill>
                  <a:srgbClr val="E6E6E6"/>
                </a:solidFill>
                <a:latin typeface="Consolas"/>
              </a:rPr>
              <a:t>| 1  |  TABLE ACCESS BY INDEX ROWID BATCHED| MEDICAL_CLAIMS    |    804 |00:00:00.01 |     776 |</a:t>
            </a:r>
          </a:p>
          <a:p>
            <a:r>
              <a:rPr sz="1250" b="0">
                <a:solidFill>
                  <a:srgbClr val="E6E6E6"/>
                </a:solidFill>
                <a:latin typeface="Consolas"/>
              </a:rPr>
              <a:t>| 2  |   INDEX RANGE SCAN                  | PK_MEDICAL_CLAIMS |    804 |00:00:00.01 |      61 |</a:t>
            </a:r>
          </a:p>
          <a:p>
            <a:r>
              <a:rPr sz="1250" b="0">
                <a:solidFill>
                  <a:srgbClr val="E6E6E6"/>
                </a:solidFill>
                <a:latin typeface="Consolas"/>
              </a:rPr>
              <a:t> </a:t>
            </a:r>
          </a:p>
          <a:p>
            <a:r>
              <a:rPr sz="1250" b="0">
                <a:solidFill>
                  <a:srgbClr val="7EC699"/>
                </a:solidFill>
                <a:latin typeface="Consolas"/>
              </a:rPr>
              <a:t>-- Reads 컬럼이 아예 나타나지 않는다 = 물리적 읽기가 0이었다는 뜻</a:t>
            </a:r>
          </a:p>
          <a:p>
            <a:r>
              <a:rPr sz="1250" b="0">
                <a:solidFill>
                  <a:srgbClr val="7EC699"/>
                </a:solidFill>
                <a:latin typeface="Consolas"/>
              </a:rPr>
              <a:t>-- 요청한 블록이 전부 메모리에 있어 디스크 접근이 전혀 없었다</a:t>
            </a:r>
          </a:p>
          <a:p>
            <a:r>
              <a:rPr sz="1250" b="0">
                <a:solidFill>
                  <a:srgbClr val="7EC699"/>
                </a:solidFill>
                <a:latin typeface="Consolas"/>
              </a:rPr>
              <a:t>-- Buffers 776 : 콜드 캐시(787)와 사실상 동일하다 — 차이 11 은 물리 읽기 때 더 요청한 헤더 블록</a:t>
            </a:r>
          </a:p>
          <a:p>
            <a:r>
              <a:rPr sz="1250" b="0">
                <a:solidFill>
                  <a:srgbClr val="7EC699"/>
                </a:solidFill>
                <a:latin typeface="Consolas"/>
              </a:rPr>
              <a:t>-- A-Rows 804   : 처리한 행 수도 동일하다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해석 — 세 지표가 각각 말하는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Buffers는 787 → 776 으로 사실상 동일했다</a:t>
            </a:r>
          </a:p>
          <a:p>
            <a:r>
              <a:rPr sz="1600" b="0">
                <a:solidFill>
                  <a:srgbClr val="5A6672"/>
                </a:solidFill>
                <a:latin typeface="Malgun Gothic"/>
              </a:rPr>
              <a:t>    –  논리적으로 요청한 블록 수는 캐시 상태와 무관하게 같기 때문</a:t>
            </a:r>
          </a:p>
          <a:p>
            <a:r>
              <a:rPr sz="1600" b="0">
                <a:solidFill>
                  <a:srgbClr val="5A6672"/>
                </a:solidFill>
                <a:latin typeface="Malgun Gothic"/>
              </a:rPr>
              <a:t>    –  SQL 자체의 효율은 두 실행에서 조금도 달라지지 않았다는 뜻</a:t>
            </a:r>
          </a:p>
          <a:p>
            <a:r>
              <a:rPr sz="1800" b="0">
                <a:solidFill>
                  <a:srgbClr val="202830"/>
                </a:solidFill>
                <a:latin typeface="Malgun Gothic"/>
              </a:rPr>
              <a:t>•  Reads는 785에서 컬럼 자체가 사라지는 상태로 바뀌었다</a:t>
            </a:r>
          </a:p>
          <a:p>
            <a:r>
              <a:rPr sz="1600" b="0">
                <a:solidFill>
                  <a:srgbClr val="5A6672"/>
                </a:solidFill>
                <a:latin typeface="Malgun Gothic"/>
              </a:rPr>
              <a:t>    –  콜드에서는 요청한 블록 대부분을 디스크에서 읽어야 했다</a:t>
            </a:r>
          </a:p>
          <a:p>
            <a:r>
              <a:rPr sz="1600" b="0">
                <a:solidFill>
                  <a:srgbClr val="5A6672"/>
                </a:solidFill>
                <a:latin typeface="Malgun Gothic"/>
              </a:rPr>
              <a:t>    –  웜에서는 전부 메모리에 있어 디스크 접근이 전혀 없었다</a:t>
            </a:r>
          </a:p>
          <a:p>
            <a:r>
              <a:rPr sz="1800" b="0">
                <a:solidFill>
                  <a:srgbClr val="202830"/>
                </a:solidFill>
                <a:latin typeface="Malgun Gothic"/>
              </a:rPr>
              <a:t>•  A-Time은 둘 다 0.01초 — SSD 라 차이가 안 보이지만 회전 디스크면 수백 배가 되는 자리</a:t>
            </a:r>
          </a:p>
          <a:p>
            <a:r>
              <a:rPr sz="1600" b="0">
                <a:solidFill>
                  <a:srgbClr val="5A6672"/>
                </a:solidFill>
                <a:latin typeface="Malgun Gothic"/>
              </a:rPr>
              <a:t>    –  물리 읽기 한 건의 비용은 저장 장치가 정한다 — 그래서 시간이 아니라 Reads 로 판정한다</a:t>
            </a:r>
          </a:p>
          <a:p>
            <a:r>
              <a:rPr sz="1600" b="0">
                <a:solidFill>
                  <a:srgbClr val="5A6672"/>
                </a:solidFill>
                <a:latin typeface="Malgun Gothic"/>
              </a:rPr>
              <a:t>    –  같은 SQL, 같은 계획, 같은 결과 건수인데 체감 속도만 달라졌다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Buffers와 Reads의 작은 차이는 어디서 왔나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콜드 캐시 실측에서 두 값이 정확히 같지는 않았다</a:t>
            </a:r>
          </a:p>
          <a:p>
            <a:r>
              <a:rPr sz="1600" b="0">
                <a:solidFill>
                  <a:srgbClr val="5A6672"/>
                </a:solidFill>
                <a:latin typeface="Malgun Gothic"/>
              </a:rPr>
              <a:t>    –  Buffers 787 / Reads 785 — 요청 단위와 읽기 단위가 다르다(선읽기, 캐시된 루트·브랜치)</a:t>
            </a:r>
          </a:p>
          <a:p>
            <a:r>
              <a:rPr sz="1800" b="0">
                <a:solidFill>
                  <a:srgbClr val="202830"/>
                </a:solidFill>
                <a:latin typeface="Malgun Gothic"/>
              </a:rPr>
              <a:t>•  왜 완전히 같지 않은가</a:t>
            </a:r>
          </a:p>
          <a:p>
            <a:r>
              <a:rPr sz="1600" b="0">
                <a:solidFill>
                  <a:srgbClr val="5A6672"/>
                </a:solidFill>
                <a:latin typeface="Malgun Gothic"/>
              </a:rPr>
              <a:t>    –  이 쿼리는 데이터 블록만 읽는 것이 아니라 실행 준비 과정에서도 블록을 참조한다</a:t>
            </a:r>
          </a:p>
          <a:p>
            <a:r>
              <a:rPr sz="1600" b="0">
                <a:solidFill>
                  <a:srgbClr val="5A6672"/>
                </a:solidFill>
                <a:latin typeface="Malgun Gothic"/>
              </a:rPr>
              <a:t>    –  세그먼트 헤더, 언두(undo) 관련 블록 등 부가적인 블록들</a:t>
            </a:r>
          </a:p>
          <a:p>
            <a:r>
              <a:rPr sz="1600" b="0">
                <a:solidFill>
                  <a:srgbClr val="5A6672"/>
                </a:solidFill>
                <a:latin typeface="Malgun Gothic"/>
              </a:rPr>
              <a:t>    –  그중 일부는 콜드 상태에서도 이미 캐시에 남아 있었을 수 있다</a:t>
            </a:r>
          </a:p>
          <a:p>
            <a:r>
              <a:rPr sz="1800" b="0">
                <a:solidFill>
                  <a:srgbClr val="202830"/>
                </a:solidFill>
                <a:latin typeface="Malgun Gothic"/>
              </a:rPr>
              <a:t>•  세부 원인 특정보다 중요한 것</a:t>
            </a:r>
          </a:p>
          <a:p>
            <a:r>
              <a:rPr sz="1600" b="0">
                <a:solidFill>
                  <a:srgbClr val="5A6672"/>
                </a:solidFill>
                <a:latin typeface="Malgun Gothic"/>
              </a:rPr>
              <a:t>    –  극단적 콜드 상태여도 Buffers와 Reads가 완전히 같을 필요는 없다</a:t>
            </a:r>
          </a:p>
          <a:p>
            <a:r>
              <a:rPr sz="1600" b="0">
                <a:solidFill>
                  <a:srgbClr val="5A6672"/>
                </a:solidFill>
                <a:latin typeface="Malgun Gothic"/>
              </a:rPr>
              <a:t>    –  Reads가 Buffers를 넘어설 수는 없다 — 부분집합이므로</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Buffers만 보고 튜닝했다면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같은 Buffers, 전혀 다른 체감 속도</a:t>
            </a:r>
          </a:p>
          <a:p>
            <a:r>
              <a:rPr sz="1600" b="0">
                <a:solidFill>
                  <a:srgbClr val="C5CED6"/>
                </a:solidFill>
                <a:latin typeface="Malgun Gothic"/>
              </a:rPr>
              <a:t>•  "개발 환경에서는 항상 빠르던데요"</a:t>
            </a:r>
          </a:p>
          <a:p>
            <a:r>
              <a:rPr sz="1600" b="0">
                <a:solidFill>
                  <a:srgbClr val="C5CED6"/>
                </a:solidFill>
                <a:latin typeface="Malgun Gothic"/>
              </a:rPr>
              <a:t>•  지표 하나로 결론을 내리는 습관의 위험</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같은 Buffers, 전혀 다른 체감 속도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실험에서 Buffers는 콜드든 웜이든 780 안팎으로 사실상 동일했다</a:t>
            </a:r>
          </a:p>
          <a:p>
            <a:r>
              <a:rPr sz="1800" b="0">
                <a:solidFill>
                  <a:srgbClr val="202830"/>
                </a:solidFill>
                <a:latin typeface="Malgun Gothic"/>
              </a:rPr>
              <a:t>•  만약 Buffers만 보고 판단했다면</a:t>
            </a:r>
          </a:p>
          <a:p>
            <a:r>
              <a:rPr sz="1600" b="0">
                <a:solidFill>
                  <a:srgbClr val="5A6672"/>
                </a:solidFill>
                <a:latin typeface="Malgun Gothic"/>
              </a:rPr>
              <a:t>    –  "이 쿼리는 어떤 상황에서도 똑같은 비용"이라고 결론지었을 것이다</a:t>
            </a:r>
          </a:p>
          <a:p>
            <a:r>
              <a:rPr sz="1600" b="0">
                <a:solidFill>
                  <a:srgbClr val="5A6672"/>
                </a:solidFill>
                <a:latin typeface="Malgun Gothic"/>
              </a:rPr>
              <a:t>    –  785 블록의 물리 읽기(느린 저장 장치에서는 수 초)를 완전히 놓쳤을 것이다</a:t>
            </a:r>
          </a:p>
          <a:p>
            <a:r>
              <a:rPr sz="1800" b="0">
                <a:solidFill>
                  <a:srgbClr val="202830"/>
                </a:solidFill>
                <a:latin typeface="Malgun Gothic"/>
              </a:rPr>
              <a:t>•  이것이 앞선 장들에서 반복 확인한 현상의 근본 원인이다</a:t>
            </a:r>
          </a:p>
          <a:p>
            <a:r>
              <a:rPr sz="1600" b="0">
                <a:solidFill>
                  <a:srgbClr val="5A6672"/>
                </a:solidFill>
                <a:latin typeface="Malgun Gothic"/>
              </a:rPr>
              <a:t>    –  Chapter 1 — IN vs EXISTS의 캐시 효과</a:t>
            </a:r>
          </a:p>
          <a:p>
            <a:r>
              <a:rPr sz="1600" b="0">
                <a:solidFill>
                  <a:srgbClr val="5A6672"/>
                </a:solidFill>
                <a:latin typeface="Malgun Gothic"/>
              </a:rPr>
              <a:t>    –  Chapter 9 — SORT UNIQUE</a:t>
            </a:r>
          </a:p>
          <a:p>
            <a:r>
              <a:rPr sz="1600" b="0">
                <a:solidFill>
                  <a:srgbClr val="5A6672"/>
                </a:solidFill>
                <a:latin typeface="Malgun Gothic"/>
              </a:rPr>
              <a:t>    –  Chapter 11 — WINDOW SORT PUSHED RANK</a:t>
            </a:r>
          </a:p>
          <a:p>
            <a:r>
              <a:rPr sz="1600" b="0">
                <a:solidFill>
                  <a:srgbClr val="5A6672"/>
                </a:solidFill>
                <a:latin typeface="Malgun Gothic"/>
              </a:rPr>
              <a:t>    –  "Buffers만으론 안 보이는 비용"의 가장 근본적인 정체가 Logical/Physical I/O 차이였다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"개발 환경에서는 항상 빠르던데요"</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흔한 보고 — "여러 번 테스트해 봤는데 항상 빠릅니다"</a:t>
            </a:r>
          </a:p>
          <a:p>
            <a:r>
              <a:rPr sz="1800" b="0">
                <a:solidFill>
                  <a:srgbClr val="202830"/>
                </a:solidFill>
                <a:latin typeface="Malgun Gothic"/>
              </a:rPr>
              <a:t>•  왜 이 보고가 운영 성능을 보장하지 못하는가</a:t>
            </a:r>
          </a:p>
          <a:p>
            <a:r>
              <a:rPr sz="1600" b="0">
                <a:solidFill>
                  <a:srgbClr val="5A6672"/>
                </a:solidFill>
                <a:latin typeface="Malgun Gothic"/>
              </a:rPr>
              <a:t>    –  반복 테스트 환경은 이미 같은 쿼리·같은 테이블에 여러 번 접근한 상태다</a:t>
            </a:r>
          </a:p>
          <a:p>
            <a:r>
              <a:rPr sz="1600" b="0">
                <a:solidFill>
                  <a:srgbClr val="5A6672"/>
                </a:solidFill>
                <a:latin typeface="Malgun Gothic"/>
              </a:rPr>
              <a:t>    –  해당 블록들이 버퍼 캐시에 남아 있는 웜 캐시 상태일 가능성이 높다</a:t>
            </a:r>
          </a:p>
          <a:p>
            <a:r>
              <a:rPr sz="1600" b="0">
                <a:solidFill>
                  <a:srgbClr val="5A6672"/>
                </a:solidFill>
                <a:latin typeface="Malgun Gothic"/>
              </a:rPr>
              <a:t>    –  즉 개발자가 본 "항상 빠름"은 웜 캐시만 반복 관찰한 결과일 수 있다</a:t>
            </a:r>
          </a:p>
          <a:p>
            <a:r>
              <a:rPr sz="1800" b="0">
                <a:solidFill>
                  <a:srgbClr val="202830"/>
                </a:solidFill>
                <a:latin typeface="Malgun Gothic"/>
              </a:rPr>
              <a:t>•  이번 실측이 보여 준 것</a:t>
            </a:r>
          </a:p>
          <a:p>
            <a:r>
              <a:rPr sz="1600" b="0">
                <a:solidFill>
                  <a:srgbClr val="5A6672"/>
                </a:solidFill>
                <a:latin typeface="Malgun Gothic"/>
              </a:rPr>
              <a:t>    –  같은 쿼리, 같은 계획인데 콜드는 3.46초, 웜은 0.01초였다</a:t>
            </a:r>
          </a:p>
          <a:p>
            <a:r>
              <a:rPr sz="1600" b="0">
                <a:solidFill>
                  <a:srgbClr val="5A6672"/>
                </a:solidFill>
                <a:latin typeface="Malgun Gothic"/>
              </a:rPr>
              <a:t>    –  운영에서 오랜만에 조회되는 데이터나 서버 재시작 직후에는 전혀 다른 체감이 나온다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실무에서 이 차이가 중요한 이유</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운영 DB는 웜에 가깝다 — 그러나 항상은 아니다</a:t>
            </a:r>
          </a:p>
          <a:p>
            <a:r>
              <a:rPr sz="1600" b="0">
                <a:solidFill>
                  <a:srgbClr val="C5CED6"/>
                </a:solidFill>
                <a:latin typeface="Malgun Gothic"/>
              </a:rPr>
              <a:t>•  콜드에 가까운 상황들</a:t>
            </a:r>
          </a:p>
          <a:p>
            <a:r>
              <a:rPr sz="1600" b="0">
                <a:solidFill>
                  <a:srgbClr val="C5CED6"/>
                </a:solidFill>
                <a:latin typeface="Malgun Gothic"/>
              </a:rPr>
              <a:t>•  Buffers를 낮추는 튜닝이 콜드에서 더 크게 보상받는 이유</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운영 DB는 웜에 가깝다 — 그러나 항상은 아니다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운영 중인 DB의 일반적인 상태</a:t>
            </a:r>
          </a:p>
          <a:p>
            <a:r>
              <a:rPr sz="1600" b="0">
                <a:solidFill>
                  <a:srgbClr val="5A6672"/>
                </a:solidFill>
                <a:latin typeface="Malgun Gothic"/>
              </a:rPr>
              <a:t>    –  자주 조회되는 데이터는 대부분 버퍼 캐시에 남아 있다</a:t>
            </a:r>
          </a:p>
          <a:p>
            <a:r>
              <a:rPr sz="1600" b="0">
                <a:solidFill>
                  <a:srgbClr val="5A6672"/>
                </a:solidFill>
                <a:latin typeface="Malgun Gothic"/>
              </a:rPr>
              <a:t>    –  그래서 평소 트래픽은 웜 캐시에 가까운 조건에서 처리된다</a:t>
            </a:r>
          </a:p>
          <a:p>
            <a:r>
              <a:rPr sz="1800" b="0">
                <a:solidFill>
                  <a:srgbClr val="202830"/>
                </a:solidFill>
                <a:latin typeface="Malgun Gothic"/>
              </a:rPr>
              <a:t>•  그 결과 생기는 착시</a:t>
            </a:r>
          </a:p>
          <a:p>
            <a:r>
              <a:rPr sz="1600" b="0">
                <a:solidFill>
                  <a:srgbClr val="5A6672"/>
                </a:solidFill>
                <a:latin typeface="Malgun Gothic"/>
              </a:rPr>
              <a:t>    –  개발자가 같은 쿼리를 반복 테스트하면 항상 빠르게 느껴질 수 있다</a:t>
            </a:r>
          </a:p>
          <a:p>
            <a:r>
              <a:rPr sz="1600" b="0">
                <a:solidFill>
                  <a:srgbClr val="5A6672"/>
                </a:solidFill>
                <a:latin typeface="Malgun Gothic"/>
              </a:rPr>
              <a:t>    –  문제가 드러나는 것은 캐시가 듣지 않는 조건이 왔을 때다</a:t>
            </a:r>
          </a:p>
          <a:p>
            <a:r>
              <a:rPr sz="1800" b="0">
                <a:solidFill>
                  <a:srgbClr val="202830"/>
                </a:solidFill>
                <a:latin typeface="Malgun Gothic"/>
              </a:rPr>
              <a:t>•  그러므로 두 조건을 모두 재야 한다</a:t>
            </a:r>
          </a:p>
          <a:p>
            <a:r>
              <a:rPr sz="1600" b="0">
                <a:solidFill>
                  <a:srgbClr val="5A6672"/>
                </a:solidFill>
                <a:latin typeface="Malgun Gothic"/>
              </a:rPr>
              <a:t>    –  평소 조건(웜)에서의 응답 시간 — 사용자 체감의 기준선</a:t>
            </a:r>
          </a:p>
          <a:p>
            <a:r>
              <a:rPr sz="1600" b="0">
                <a:solidFill>
                  <a:srgbClr val="5A6672"/>
                </a:solidFill>
                <a:latin typeface="Malgun Gothic"/>
              </a:rPr>
              <a:t>    –  최악 조건(콜드)에서의 응답 시간 — 장애 시 감당해야 할 상한</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콜드 캐시에 가까운 상황들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새벽 배치</a:t>
            </a:r>
          </a:p>
          <a:p>
            <a:r>
              <a:rPr sz="1600" b="0">
                <a:solidFill>
                  <a:srgbClr val="5A6672"/>
                </a:solidFill>
                <a:latin typeface="Malgun Gothic"/>
              </a:rPr>
              <a:t>    –  월말 정산 리포트가 MEDICAL_CLAIMS와 CLAIM_DETAILS를 대량으로 훑는 경우</a:t>
            </a:r>
          </a:p>
          <a:p>
            <a:r>
              <a:rPr sz="1600" b="0">
                <a:solidFill>
                  <a:srgbClr val="5A6672"/>
                </a:solidFill>
                <a:latin typeface="Malgun Gothic"/>
              </a:rPr>
              <a:t>    –  새벽에 한 번만 실행되며, 직전까지 캐시에 있던 블록과는 무관한 블록을 요청한다</a:t>
            </a:r>
          </a:p>
          <a:p>
            <a:r>
              <a:rPr sz="1800" b="0">
                <a:solidFill>
                  <a:srgbClr val="202830"/>
                </a:solidFill>
                <a:latin typeface="Malgun Gothic"/>
              </a:rPr>
              <a:t>•  오랜만에 조회하는 오래된 데이터</a:t>
            </a:r>
          </a:p>
          <a:p>
            <a:r>
              <a:rPr sz="1600" b="0">
                <a:solidFill>
                  <a:srgbClr val="5A6672"/>
                </a:solidFill>
                <a:latin typeface="Malgun Gothic"/>
              </a:rPr>
              <a:t>    –  과거 이력 조회, 감사 대응, 연말 통계 등</a:t>
            </a:r>
          </a:p>
          <a:p>
            <a:r>
              <a:rPr sz="1800" b="0">
                <a:solidFill>
                  <a:srgbClr val="202830"/>
                </a:solidFill>
                <a:latin typeface="Malgun Gothic"/>
              </a:rPr>
              <a:t>•  DB 재시작 직후</a:t>
            </a:r>
          </a:p>
          <a:p>
            <a:r>
              <a:rPr sz="1600" b="0">
                <a:solidFill>
                  <a:srgbClr val="5A6672"/>
                </a:solidFill>
                <a:latin typeface="Malgun Gothic"/>
              </a:rPr>
              <a:t>    –  버퍼 캐시가 완전히 비어 있는 상태에서 트래픽을 받기 시작한다</a:t>
            </a:r>
          </a:p>
          <a:p>
            <a:r>
              <a:rPr sz="1800" b="0">
                <a:solidFill>
                  <a:srgbClr val="202830"/>
                </a:solidFill>
                <a:latin typeface="Malgun Gothic"/>
              </a:rPr>
              <a:t>•  버퍼 캐시보다 훨씬 큰 대용량 테이블</a:t>
            </a:r>
          </a:p>
          <a:p>
            <a:r>
              <a:rPr sz="1600" b="0">
                <a:solidFill>
                  <a:srgbClr val="5A6672"/>
                </a:solidFill>
                <a:latin typeface="Malgun Gothic"/>
              </a:rPr>
              <a:t>    –  읽는 족족 밀려나므로 반복 조회해도 캐시 적중을 기대하기 어렵다</a:t>
            </a:r>
          </a:p>
          <a:p>
            <a:r>
              <a:rPr sz="1800" b="0">
                <a:solidFill>
                  <a:srgbClr val="202830"/>
                </a:solidFill>
                <a:latin typeface="Malgun Gothic"/>
              </a:rPr>
              <a:t>•  공통점 — 대량·비반복 조회는 필연적으로 콜드에 가깝다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콜드에서 Buffers 절감이 더 크게 보상받는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Buffers는 요청 횟수이고, 콜드에서는 그 요청이 대부분 물리 I/O가 된다</a:t>
            </a:r>
          </a:p>
          <a:p>
            <a:r>
              <a:rPr sz="1600" b="0">
                <a:solidFill>
                  <a:srgbClr val="5A6672"/>
                </a:solidFill>
                <a:latin typeface="Malgun Gothic"/>
              </a:rPr>
              <a:t>    –  즉 콜드 상황에서 Buffers는 곧 디스크 접근 횟수의 상한선에 가까워진다</a:t>
            </a:r>
          </a:p>
          <a:p>
            <a:r>
              <a:rPr sz="1800" b="0">
                <a:solidFill>
                  <a:srgbClr val="202830"/>
                </a:solidFill>
                <a:latin typeface="Malgun Gothic"/>
              </a:rPr>
              <a:t>•  Buffers가 10배 큰 쿼리라면</a:t>
            </a:r>
          </a:p>
          <a:p>
            <a:r>
              <a:rPr sz="1600" b="0">
                <a:solidFill>
                  <a:srgbClr val="5A6672"/>
                </a:solidFill>
                <a:latin typeface="Malgun Gothic"/>
              </a:rPr>
              <a:t>    –  콜드 상황에서 물리 I/O 요청도 대략 10배로 늘어날 수 있다</a:t>
            </a:r>
          </a:p>
          <a:p>
            <a:r>
              <a:rPr sz="1600" b="0">
                <a:solidFill>
                  <a:srgbClr val="5A6672"/>
                </a:solidFill>
                <a:latin typeface="Malgun Gothic"/>
              </a:rPr>
              <a:t>    –  응답 시간이 훨씬 더 크게 나빠질 수 있다</a:t>
            </a:r>
          </a:p>
          <a:p>
            <a:r>
              <a:rPr sz="1800" b="0">
                <a:solidFill>
                  <a:srgbClr val="202830"/>
                </a:solidFill>
                <a:latin typeface="Malgun Gothic"/>
              </a:rPr>
              <a:t>•  그래서 Buffers를 낮추는 튜닝은 콜드에서 이득이 훨씬 크다</a:t>
            </a:r>
          </a:p>
          <a:p>
            <a:r>
              <a:rPr sz="1600" b="0">
                <a:solidFill>
                  <a:srgbClr val="5A6672"/>
                </a:solidFill>
                <a:latin typeface="Malgun Gothic"/>
              </a:rPr>
              <a:t>    –  웜 캐시 상황에서의 이득보다 콜드 캐시 상황에서의 이득이 훨씬 크다</a:t>
            </a:r>
          </a:p>
          <a:p>
            <a:r>
              <a:rPr sz="1600" b="0">
                <a:solidFill>
                  <a:srgbClr val="5A6672"/>
                </a:solidFill>
                <a:latin typeface="Malgun Gothic"/>
              </a:rPr>
              <a:t>    –  인덱스 설계, 조인 최적화, N+1 회피 등 이 과정 전체의 기법이 여기에 해당한다</a:t>
            </a:r>
          </a:p>
          <a:p>
            <a:r>
              <a:rPr sz="1800" b="0">
                <a:solidFill>
                  <a:srgbClr val="202830"/>
                </a:solidFill>
                <a:latin typeface="Malgun Gothic"/>
              </a:rPr>
              <a:t>•  결론 — Buffers가 낮으면 최악의 경우에도 피해가 그만큼 제한된다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콜드 캐시 vs 웜 캐시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같은 쿼리·같은 실행계획, 캐시 상태만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상태        |  Buffers  |     Reads     |  A-Time  |</a:t>
            </a:r>
          </a:p>
          <a:p>
            <a:r>
              <a:rPr sz="1250" b="0">
                <a:solidFill>
                  <a:srgbClr val="E6E6E6"/>
                </a:solidFill>
                <a:latin typeface="Consolas"/>
              </a:rPr>
              <a:t>|--------------------|-----------|---------------|----------|</a:t>
            </a:r>
          </a:p>
          <a:p>
            <a:r>
              <a:rPr sz="1250" b="0">
                <a:solidFill>
                  <a:srgbClr val="E6E6E6"/>
                </a:solidFill>
                <a:latin typeface="Consolas"/>
              </a:rPr>
              <a:t>| 콜드 캐시(첫 실행) |       787 |           785 |   0.01초 |</a:t>
            </a:r>
          </a:p>
          <a:p>
            <a:r>
              <a:rPr sz="1250" b="0">
                <a:solidFill>
                  <a:srgbClr val="E6E6E6"/>
                </a:solidFill>
                <a:latin typeface="Consolas"/>
              </a:rPr>
              <a:t>| 웜 캐시(재실행)    |       776 | 0(표시 안 됨) |   0.01초 |</a:t>
            </a:r>
          </a:p>
          <a:p>
            <a:r>
              <a:rPr sz="1250" b="0">
                <a:solidFill>
                  <a:srgbClr val="E6E6E6"/>
                </a:solidFill>
                <a:latin typeface="Consolas"/>
              </a:rPr>
              <a:t>| 배율               | 1배(동일) |      785 → 0  | SSD 라 동일 |</a:t>
            </a:r>
          </a:p>
          <a:p>
            <a:r>
              <a:rPr sz="1250" b="0">
                <a:solidFill>
                  <a:srgbClr val="E6E6E6"/>
                </a:solidFill>
                <a:latin typeface="Consolas"/>
              </a:rPr>
              <a:t> </a:t>
            </a:r>
          </a:p>
          <a:p>
            <a:r>
              <a:rPr sz="1250" b="0">
                <a:solidFill>
                  <a:srgbClr val="7EC699"/>
                </a:solidFill>
                <a:latin typeface="Consolas"/>
              </a:rPr>
              <a:t>-- 세로로 읽으면 : Buffers는 안 변하고 Reads와 A-Time만 변했다</a:t>
            </a:r>
          </a:p>
          <a:p>
            <a:r>
              <a:rPr sz="1250" b="0">
                <a:solidFill>
                  <a:srgbClr val="7EC699"/>
                </a:solidFill>
                <a:latin typeface="Consolas"/>
              </a:rPr>
              <a:t>-- 가로로 읽으면 : 같은 SQL이 조건에 따라 전혀 다른 체감을 준다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성능 측정 체크리스트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측정 전 — 무엇을 재는지 정한다</a:t>
            </a:r>
          </a:p>
          <a:p>
            <a:r>
              <a:rPr sz="1600" b="0">
                <a:solidFill>
                  <a:srgbClr val="5A6672"/>
                </a:solidFill>
                <a:latin typeface="Malgun Gothic"/>
              </a:rPr>
              <a:t>    –  평소 조건(웜)인가 최악 조건(콜드)인가를 먼저 결정한다</a:t>
            </a:r>
          </a:p>
          <a:p>
            <a:r>
              <a:rPr sz="1600" b="0">
                <a:solidFill>
                  <a:srgbClr val="5A6672"/>
                </a:solidFill>
                <a:latin typeface="Malgun Gothic"/>
              </a:rPr>
              <a:t>    –  비교 대상 두 SQL의 결과가 동일한지 먼저 확인한다(A-Rows 대조)</a:t>
            </a:r>
          </a:p>
          <a:p>
            <a:r>
              <a:rPr sz="1800" b="0">
                <a:solidFill>
                  <a:srgbClr val="202830"/>
                </a:solidFill>
                <a:latin typeface="Malgun Gothic"/>
              </a:rPr>
              <a:t>•  측정 중 — 변수를 하나만 바꾼다</a:t>
            </a:r>
          </a:p>
          <a:p>
            <a:r>
              <a:rPr sz="1600" b="0">
                <a:solidFill>
                  <a:srgbClr val="5A6672"/>
                </a:solidFill>
                <a:latin typeface="Malgun Gothic"/>
              </a:rPr>
              <a:t>    –  쿼리, 데이터, 세션, 시간대 중 바꾼 것이 하나인지 점검한다</a:t>
            </a:r>
          </a:p>
          <a:p>
            <a:r>
              <a:rPr sz="1600" b="0">
                <a:solidFill>
                  <a:srgbClr val="5A6672"/>
                </a:solidFill>
                <a:latin typeface="Malgun Gothic"/>
              </a:rPr>
              <a:t>    –  실행 직후 DISPLAY_CURSOR로 통계를 조회한다(다른 SQL을 끼워 넣지 않는다)</a:t>
            </a:r>
          </a:p>
          <a:p>
            <a:r>
              <a:rPr sz="1800" b="0">
                <a:solidFill>
                  <a:srgbClr val="202830"/>
                </a:solidFill>
                <a:latin typeface="Malgun Gothic"/>
              </a:rPr>
              <a:t>•  측정 후 — 조건과 함께 기록한다</a:t>
            </a:r>
          </a:p>
          <a:p>
            <a:r>
              <a:rPr sz="1600" b="0">
                <a:solidFill>
                  <a:srgbClr val="5A6672"/>
                </a:solidFill>
                <a:latin typeface="Malgun Gothic"/>
              </a:rPr>
              <a:t>    –  Buffers · Reads · A-Time을 한 표에 나란히 적는다</a:t>
            </a:r>
          </a:p>
          <a:p>
            <a:r>
              <a:rPr sz="1600" b="0">
                <a:solidFill>
                  <a:srgbClr val="5A6672"/>
                </a:solidFill>
                <a:latin typeface="Malgun Gothic"/>
              </a:rPr>
              <a:t>    –  실행계획 원문을 함께 남겨 다른 사람이 검증할 수 있게 한다</a:t>
            </a:r>
          </a:p>
          <a:p>
            <a:r>
              <a:rPr sz="1600" b="0">
                <a:solidFill>
                  <a:srgbClr val="5A6672"/>
                </a:solidFill>
                <a:latin typeface="Malgun Gothic"/>
              </a:rPr>
              <a:t>    –  숫자만 있고 조건이 없는 보고서는 근거로 쓰지 않는다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진단 시 최소한 확인할 지표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이 과정 전체에서 다룬 지표를 다섯 개로 압축하면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 |       지표       |    어디서 보는가     |             무엇을 알려주는가              |</a:t>
            </a:r>
          </a:p>
          <a:p>
            <a:r>
              <a:rPr sz="1250" b="0">
                <a:solidFill>
                  <a:srgbClr val="E6E6E6"/>
                </a:solidFill>
                <a:latin typeface="Consolas"/>
              </a:rPr>
              <a:t>|---|------------------|----------------------|--------------------------------------------|</a:t>
            </a:r>
          </a:p>
          <a:p>
            <a:r>
              <a:rPr sz="1250" b="0">
                <a:solidFill>
                  <a:srgbClr val="E6E6E6"/>
                </a:solidFill>
                <a:latin typeface="Consolas"/>
              </a:rPr>
              <a:t>| 1 | Rows / Cost      | EXPLAIN PLAN (추정)  | 옵티마이저의 예상 — 실행 전 1차 점검       |</a:t>
            </a:r>
          </a:p>
          <a:p>
            <a:r>
              <a:rPr sz="1250" b="0">
                <a:solidFill>
                  <a:srgbClr val="E6E6E6"/>
                </a:solidFill>
                <a:latin typeface="Consolas"/>
              </a:rPr>
              <a:t>| 2 | E-Rows vs A-Rows | ALLSTATS LAST (실측) | 추정과 실제의 괴리 — 통계정보 문제 의심    |</a:t>
            </a:r>
          </a:p>
          <a:p>
            <a:r>
              <a:rPr sz="1250" b="0">
                <a:solidFill>
                  <a:srgbClr val="E6E6E6"/>
                </a:solidFill>
                <a:latin typeface="Consolas"/>
              </a:rPr>
              <a:t>| 3 | Buffers          | ALLSTATS LAST (실측) | 논리적 I/O 총량 — SQL 자체의 효율성        |</a:t>
            </a:r>
          </a:p>
          <a:p>
            <a:r>
              <a:rPr sz="1250" b="0">
                <a:solidFill>
                  <a:srgbClr val="E6E6E6"/>
                </a:solidFill>
                <a:latin typeface="Consolas"/>
              </a:rPr>
              <a:t>| 4 | Reads            | ALLSTATS LAST (실측) | 실제 디스크 접근 — 캐시 상태에 따른 체감차 |</a:t>
            </a:r>
          </a:p>
          <a:p>
            <a:r>
              <a:rPr sz="1250" b="0">
                <a:solidFill>
                  <a:srgbClr val="E6E6E6"/>
                </a:solidFill>
                <a:latin typeface="Consolas"/>
              </a:rPr>
              <a:t>| 5 | A-Time           | ALLSTATS LAST (실측) | 최종 소요 시간 — 위 지표들의 종합 결과     |</a:t>
            </a:r>
          </a:p>
          <a:p>
            <a:r>
              <a:rPr sz="1250" b="0">
                <a:solidFill>
                  <a:srgbClr val="E6E6E6"/>
                </a:solidFill>
                <a:latin typeface="Consolas"/>
              </a:rPr>
              <a:t> </a:t>
            </a:r>
          </a:p>
          <a:p>
            <a:r>
              <a:rPr sz="1250" b="0">
                <a:solidFill>
                  <a:srgbClr val="7EC699"/>
                </a:solidFill>
                <a:latin typeface="Consolas"/>
              </a:rPr>
              <a:t>-- 순서대로 보는 것이 핵심 : 추정 -&gt; 정확도 -&gt; 효율 -&gt; 캐시 -&gt; 결과</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14개 챕터를 측정의 관점으로 다시 읽기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무엇을 고칠 것인가 — 진단과 원리</a:t>
            </a:r>
          </a:p>
          <a:p>
            <a:r>
              <a:rPr sz="1600" b="0">
                <a:solidFill>
                  <a:srgbClr val="5A6672"/>
                </a:solidFill>
                <a:latin typeface="Malgun Gothic"/>
              </a:rPr>
              <a:t>    –  Ch1~3   SQL 튜닝의 정의 · SQL 실행 원리 · 실행계획 기초</a:t>
            </a:r>
          </a:p>
          <a:p>
            <a:r>
              <a:rPr sz="1600" b="0">
                <a:solidFill>
                  <a:srgbClr val="5A6672"/>
                </a:solidFill>
                <a:latin typeface="Malgun Gothic"/>
              </a:rPr>
              <a:t>    –  Ch13     Optimizer와 통계정보 — 추정이 어긋나는 이유</a:t>
            </a:r>
          </a:p>
          <a:p>
            <a:r>
              <a:rPr sz="1800" b="0">
                <a:solidFill>
                  <a:srgbClr val="202830"/>
                </a:solidFill>
                <a:latin typeface="Malgun Gothic"/>
              </a:rPr>
              <a:t>•  어떻게 고칠 것인가 — 접근 경로와 문장 구조</a:t>
            </a:r>
          </a:p>
          <a:p>
            <a:r>
              <a:rPr sz="1600" b="0">
                <a:solidFill>
                  <a:srgbClr val="5A6672"/>
                </a:solidFill>
                <a:latin typeface="Malgun Gothic"/>
              </a:rPr>
              <a:t>    –  Ch4~6   Full Scan vs Index Scan · 인덱스 설계 · SARGable SQL</a:t>
            </a:r>
          </a:p>
          <a:p>
            <a:r>
              <a:rPr sz="1600" b="0">
                <a:solidFill>
                  <a:srgbClr val="5A6672"/>
                </a:solidFill>
                <a:latin typeface="Malgun Gothic"/>
              </a:rPr>
              <a:t>    –  Ch7~8   JOIN 실행 원리 · Subquery / EXISTS / IN</a:t>
            </a:r>
          </a:p>
          <a:p>
            <a:r>
              <a:rPr sz="1600" b="0">
                <a:solidFill>
                  <a:srgbClr val="5A6672"/>
                </a:solidFill>
                <a:latin typeface="Malgun Gothic"/>
              </a:rPr>
              <a:t>    –  Ch9~11  UNION / DISTINCT · SORT / GROUP BY / 집계 · 페이징 SQL 튜닝</a:t>
            </a:r>
          </a:p>
          <a:p>
            <a:r>
              <a:rPr sz="1600" b="0">
                <a:solidFill>
                  <a:srgbClr val="5A6672"/>
                </a:solidFill>
                <a:latin typeface="Malgun Gothic"/>
              </a:rPr>
              <a:t>    –  Ch12     실무에서 자주 발생하는 SQL 문제</a:t>
            </a:r>
          </a:p>
          <a:p>
            <a:r>
              <a:rPr sz="1800" b="0">
                <a:solidFill>
                  <a:srgbClr val="202830"/>
                </a:solidFill>
                <a:latin typeface="Malgun Gothic"/>
              </a:rPr>
              <a:t>•  무엇을 근거로 나아졌다고 말할 것인가 — 측정</a:t>
            </a:r>
          </a:p>
          <a:p>
            <a:r>
              <a:rPr sz="1600" b="0">
                <a:solidFill>
                  <a:srgbClr val="5A6672"/>
                </a:solidFill>
                <a:latin typeface="Malgun Gothic"/>
              </a:rPr>
              <a:t>    –  Ch14     이 장 — 도구와 지표, 그리고 측정 조건의 통제</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(Review)</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EXPLAIN PLAN은 실행 전 추정치, DISPLAY_CURSOR(ALLSTATS LAST)는 실행 후 실측이다</a:t>
            </a:r>
          </a:p>
          <a:p>
            <a:r>
              <a:rPr sz="1600" b="0">
                <a:solidFill>
                  <a:srgbClr val="5A6672"/>
                </a:solidFill>
                <a:latin typeface="Malgun Gothic"/>
              </a:rPr>
              <a:t>    –  Chapter 2부터 계속 지켜 온 구분이며, 성과 증명에는 반드시 실측을 쓴다</a:t>
            </a:r>
          </a:p>
          <a:p>
            <a:r>
              <a:rPr sz="1800" b="0">
                <a:solidFill>
                  <a:srgbClr val="202830"/>
                </a:solidFill>
                <a:latin typeface="Malgun Gothic"/>
              </a:rPr>
              <a:t>•  Buffers(논리적 I/O)와 Reads(물리적 I/O)는 서로 다른 것을 측정한다</a:t>
            </a:r>
          </a:p>
          <a:p>
            <a:r>
              <a:rPr sz="1600" b="0">
                <a:solidFill>
                  <a:srgbClr val="5A6672"/>
                </a:solidFill>
                <a:latin typeface="Malgun Gothic"/>
              </a:rPr>
              <a:t>    –  Buffers는 요청 횟수, Reads는 그중 디스크까지 간 횟수 — Buffers ≥ Reads</a:t>
            </a:r>
          </a:p>
          <a:p>
            <a:r>
              <a:rPr sz="1800" b="0">
                <a:solidFill>
                  <a:srgbClr val="202830"/>
                </a:solidFill>
                <a:latin typeface="Malgun Gothic"/>
              </a:rPr>
              <a:t>•  같은 Buffers라도 캐시 상태에 따라 소요 시간이 수백 배 차이 날 수 있다</a:t>
            </a:r>
          </a:p>
          <a:p>
            <a:r>
              <a:rPr sz="1600" b="0">
                <a:solidFill>
                  <a:srgbClr val="5A6672"/>
                </a:solidFill>
                <a:latin typeface="Malgun Gothic"/>
              </a:rPr>
              <a:t>    –  이번 실측은 780 안팎의 같은 Buffers에서 Reads 785 → 0 의 차이를 보였다(시간 차는 저장 장치가 정한다)</a:t>
            </a:r>
          </a:p>
          <a:p>
            <a:r>
              <a:rPr sz="1800" b="0">
                <a:solidFill>
                  <a:srgbClr val="202830"/>
                </a:solidFill>
                <a:latin typeface="Malgun Gothic"/>
              </a:rPr>
              <a:t>•  개발 환경의 반복 테스트는 웜 캐시 상태이기 쉽다</a:t>
            </a:r>
          </a:p>
          <a:p>
            <a:r>
              <a:rPr sz="1600" b="0">
                <a:solidFill>
                  <a:srgbClr val="5A6672"/>
                </a:solidFill>
                <a:latin typeface="Malgun Gothic"/>
              </a:rPr>
              <a:t>    –  콜드 캐시의 실제 비용을 과소평가하게 만들 수 있으므로 조건을 명시해 기록한다</a:t>
            </a:r>
          </a:p>
          <a:p>
            <a:r>
              <a:rPr sz="1800" b="0">
                <a:solidFill>
                  <a:srgbClr val="202830"/>
                </a:solidFill>
                <a:latin typeface="Malgun Gothic"/>
              </a:rPr>
              <a:t>•  Buffers를 낮추는 튜닝은 캐시 상태와 무관하게 항상 유효하다</a:t>
            </a:r>
          </a:p>
          <a:p>
            <a:r>
              <a:rPr sz="1600" b="0">
                <a:solidFill>
                  <a:srgbClr val="5A6672"/>
                </a:solidFill>
                <a:latin typeface="Malgun Gothic"/>
              </a:rPr>
              <a:t>    –  이 과정 전체에서 다룬 기법들은 콜드 캐시 상황에서 그 효과가 더욱 커진다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SQL튜닝_Ch14_문제.md — 10문항, 전부 서술형</a:t>
            </a:r>
          </a:p>
          <a:p>
            <a:r>
              <a:rPr sz="1800" b="0">
                <a:solidFill>
                  <a:srgbClr val="202830"/>
                </a:solidFill>
                <a:latin typeface="Malgun Gothic"/>
              </a:rPr>
              <a:t>•  문항 지도</a:t>
            </a:r>
          </a:p>
          <a:p>
            <a:r>
              <a:rPr sz="1600" b="0">
                <a:solidFill>
                  <a:srgbClr val="5A6672"/>
                </a:solidFill>
                <a:latin typeface="Malgun Gothic"/>
              </a:rPr>
              <a:t>    –  1·2번 — Buffers와 A-Time이 각각 무엇을 재는가, Reads 컬럼 소멸의 의미</a:t>
            </a:r>
          </a:p>
          <a:p>
            <a:r>
              <a:rPr sz="1600" b="0">
                <a:solidFill>
                  <a:srgbClr val="5A6672"/>
                </a:solidFill>
                <a:latin typeface="Malgun Gothic"/>
              </a:rPr>
              <a:t>    –  3번 [최상] — Buffers와 Reads의 차이, 그리고 부등식이 성립하는 이유</a:t>
            </a:r>
          </a:p>
          <a:p>
            <a:r>
              <a:rPr sz="1600" b="0">
                <a:solidFill>
                  <a:srgbClr val="5A6672"/>
                </a:solidFill>
                <a:latin typeface="Malgun Gothic"/>
              </a:rPr>
              <a:t>    –  4·5번 — 개발 환경 반복 테스트의 한계, EXPLAIN PLAN으로 확인 불가능한 것</a:t>
            </a:r>
          </a:p>
          <a:p>
            <a:r>
              <a:rPr sz="1600" b="0">
                <a:solidFill>
                  <a:srgbClr val="5A6672"/>
                </a:solidFill>
                <a:latin typeface="Malgun Gothic"/>
              </a:rPr>
              <a:t>    –  6번 [최상] — 앞선 챕터 사례와 Logical/Physical I/O의 연결</a:t>
            </a:r>
          </a:p>
          <a:p>
            <a:r>
              <a:rPr sz="1600" b="0">
                <a:solidFill>
                  <a:srgbClr val="5A6672"/>
                </a:solidFill>
                <a:latin typeface="Malgun Gothic"/>
              </a:rPr>
              <a:t>    –  7·8번 — 콜드에서 Buffers 절감의 가치, 실습 스키마 기준 콜드 상황 예시</a:t>
            </a:r>
          </a:p>
          <a:p>
            <a:r>
              <a:rPr sz="1600" b="0">
                <a:solidFill>
                  <a:srgbClr val="5A6672"/>
                </a:solidFill>
                <a:latin typeface="Malgun Gothic"/>
              </a:rPr>
              <a:t>    –  9번 [최상] — SYSDBA 없이도 콜드 캐시가 발생하는 이유</a:t>
            </a:r>
          </a:p>
          <a:p>
            <a:r>
              <a:rPr sz="1600" b="0">
                <a:solidFill>
                  <a:srgbClr val="5A6672"/>
                </a:solidFill>
                <a:latin typeface="Malgun Gothic"/>
              </a:rPr>
              <a:t>    –  10번 [최상] — 14개 챕터를 관통하는 진단 지표 목록 정리</a:t>
            </a:r>
          </a:p>
          <a:p>
            <a:r>
              <a:rPr sz="1800" b="0">
                <a:solidFill>
                  <a:srgbClr val="202830"/>
                </a:solidFill>
                <a:latin typeface="Malgun Gothic"/>
              </a:rPr>
              <a:t>•  해설: SQL튜닝_Ch14_해설.md — 문항 번호가 1:1로 대응한다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
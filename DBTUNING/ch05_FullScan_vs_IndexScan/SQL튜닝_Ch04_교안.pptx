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제4장은 앞 장에서 익힌 실행계획 읽기를 판단으로 바꾸는 장이다. Full Scan과 Index Scan 중 어느 쪽이 유리한지를 감이 아니라 비용 구조로 설명하는 것이 목표다. 이 장의 모든 실행계획과 Buffers 값은 진료비청구심사 실습 DB에서 직접 캡처한 실측값이며, 인덱스를 새로 만들지 않고 기존 PK만으로 관찰한다는 점을 미리 알려 준다. 학습자가 이 장을 마치면 인덱스가 있느냐 없느냐가 아니라 테이블이 얼마나 크고 조건이 얼마나 걸러 내느냐로 접근 방식을 예측할 수 있어야 한다. 첫 화면에서 이 목표를 한 문장으로 못 박아 두면 이후 이론 구간이 지루하게 느껴지지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첫째는 용어로, 선택도와 카디널리티를 정확히 구분하는 것이다. 둘째는 비용 구조로, 두 접근 방식이 각각 무엇에 비례해 비싸지는지를 이해하는 것이다. 셋째는 판단으로, 그 구조를 실제 실행계획에 적용해 예측하고 검증하는 능력이다. 특히 마지막 두 항목은 정답이 하나가 아니므로 서술형 실습으로 이어진다는 점을 미리 안내한다. 목표를 읽어 줄 때 지금 몇 개나 설명할 수 있는지 스스로 표시하게 하고, 장 끝에서 같은 목록을 다시 보게 하면 학습 효과를 학습자가 직접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흐름은 개념 정의에서 비용 구조로, 다시 두 번의 실측을 거쳐 종합으로 이어진다. 4.2와 4.3은 칠판 설명 구간이고 4.4부터 4.6까지가 실측 구간이다. 실측이 두 번인 이유가 중요한데, 4.5는 테이블 크기 축을, 4.6은 선택도 축을 각각 분리해서 보여 주기 위한 설계다. 두 축을 따로 본 다음 4.8에서 합치는 순서이므로 앞의 실측을 건너뛰면 마지막 종합표가 근거 없는 암기표로 보인다. 시간이 부족하면 이론 구간을 줄이더라도 두 실측은 반드시 다 보여 주는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이 장이 왜 필요한지를 납득시키는 구간이다. 3장을 마친 학습자는 실행계획의 오퍼레이션 이름을 읽을 수 있게 되었지만, 그 계획이 좋은 계획인지 판단할 기준은 아직 없다. 여기서 읽을 수 있다는 것과 판단할 수 있다는 것이 서로 다른 능력이라는 점을 분명히 해 두면, 뒤이어 나오는 비용 구조 설명이 지루한 이론이 아니라 필요한 도구로 받아들여진다. 절 제목을 읽어 준 다음 학습자에게 인덱스를 타는 계획과 안 타는 계획 중 어느 쪽이 좋은 계획이냐고 먼저 물어보면 이 절의 문제의식이 곧바로 살아난다.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이 장이 새로운 기법을 배우는 장이 아니라는 점이다. 인덱스를 만들지도 않고 힌트를 붙이지도 않는다. 대신 옵티마이저의 판단 논리를 따라가 보는 장이다. 실무에서 실행계획을 보고 왜 인덱스를 안 타느냐고 당황하는 상황 대부분이 이 장의 내용을 모르는 데서 온다. 옵티마이저가 인덱스를 버린 것이 버그가 아니라 계산 결과일 수 있다는 가능성을 먼저 열어 두게 한다. 판단의 축이 두 개라는 마지막 줄은 이 장 전체의 목차이기도 하므로 또박또박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통념은 완전히 근거가 없는 것이 아니라, 단건 조회에서 반복적으로 참이었던 경험이 조건 없이 일반화된 결과다. 강사는 통념을 비웃기보다 어떤 조건에서 참이었는지를 되짚게 해야 한다. 실무 사고는 대개 대량 배치나 통계성 조회에 단건 조회의 감각을 그대로 적용할 때 발생한다. 인덱스를 추가하는 것이 언제나 안전한 처방처럼 보이지만 저장 공간과 갱신 비용을 함께 끌고 온다는 점도 여기서 미리 언급해 둔다. 실습문제 6번과 7번이 정확히 이 통념을 반박하는 문항이라는 것도 예고해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소재 설계 의도를 설명해 주는 것이 좋다. 두 관찰을 한 번에 섞으면 크기 때문인지 선택도 때문인지 구분이 되지 않는다. 그래서 앞의 관찰은 크기만 바꾸고 뒤의 관찰은 선택도만 바꾼다. 실험 설계에서 변수를 하나씩 통제하는 것과 같은 방식이며, 학습자가 자기 환경에서 성능 문제를 재현할 때도 똑같이 적용해야 할 습관이다. 인덱스를 새로 만들지 않는 이유도 여기에 있다. 인덱스를 만드는 순간 통제 변수가 하나 더 늘어 관찰 결과의 원인을 특정할 수 없게 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이 장 전체에서 쓸 어휘를 정의하는 구간이다. 선택도와 카디널리티는 옵티마이저 문서와 실행계획 해설에서 끊임없이 등장하지만, 학습자 대부분이 두 용어를 섞어 쓴다. 여기서 비율과 개수라는 차이를 확실히 못 박아 두면 뒤의 실행계획 해석이 훨씬 매끄러워진다. 데이터 분포까지 세 항목을 한 묶음으로 다루는 이유는, 선택도가 고정된 성질이 아니라 데이터에 따라 움직이는 값이라는 점을 함께 심어 주기 위해서다. 실습문제 5번이 바로 이 구분을 묻는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용어의 방향을 헷갈리는 학습자가 많다. 선택도가 좋다는 표현이 현장에서 조건이 잘 걸러 낸다는 뜻으로 쓰이는데, 수치로는 오히려 낮은 값이라는 점이 혼란의 원인이다. 그래서 이 과정에서는 좋다 나쁘다 대신 낮다 높다로만 말하고, 낮으면 인덱스 쪽 높으면 Full Scan 쪽이라고 방향까지 붙여서 외우게 하는 편이 오해가 적다. 여기서 방향을 잡아 두면 4.6절 표를 볼 때 학습자가 스스로 다음 행의 접근 방식을 예측할 수 있게 되고, 그 예측이 맞는 순간 개념이 확실히 자리 잡는다.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E-Rows와 A-Rows를 카디널리티라는 개념으로 다시 묶어 주는 것이 이 슬라이드의 핵심이다. 3장에서는 두 컬럼을 그냥 추정과 실제로만 배웠지만, 여기서는 그것이 옵티마이저 판단의 입력값이라는 사실을 알게 된다. 추정이 어긋나면 접근 방식 선택 자체가 틀어진다는 인과를 짚어 주면, 통계정보 수집이 왜 튜닝의 기본기인지 자연스럽게 연결된다. 비율과 개수를 구분해야 하는 실무적 이유도 덧붙이면 좋은데, 같은 비율이라도 전체 규모가 다르면 실제 처리량이 완전히 달라지기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분포 이야기는 이 장의 곁가지처럼 보이지만 실무 사고의 단골 원인이다. 개발 환경에서 잘 돌던 쿼리가 운영에서 느려지는 사례의 상당수가 분포 차이에서 온다. 특히 상태 코드나 구분 값처럼 몇 개 값에 몰리는 컬럼이 위험하다. 이 장에서는 히스토그램을 깊게 다루지 않지만, 선택도가 고정된 성질이 아니라 데이터에 따라 움직인다는 감각만은 반드시 남겨야 한다. 데이터가 쌓이면서 분포가 변했는데 통계를 갱신하지 않으면 옵티마이저의 계산 입력이 낡은 값으로 남는다는 점도 함께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계산은 실습문제 5번과 동일한 작업이므로, 수업 중에 학습자가 직접 계산기를 두드려 보게 하는 것이 좋다. 여기서 세 값을 미리 손에 쥐고 4.6절 표를 보면 낮은 구간에서는 인덱스, 중간 구간부터는 Full Scan이라는 전환이 훨씬 선명하게 보인다. 예측을 먼저 시키고 실측을 보여 주는 순서를 지키면 마지막 구간의 반전이 강한 인상을 남긴다. 계산 자체는 나눗셈 한 번이지만, 이 숫자를 손으로 구해 본 학습자와 표만 본 학습자의 이해도 차이는 뒤로 갈수록 크게 벌어진다.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절이 이 장의 이론적 핵심이다. 두 접근 방식의 비용이 각각 무엇의 함수인지만 정확히 잡으면, 뒤의 실측 결과는 모두 이 구조의 사례로 정리된다. 칠판에 가로축을 결과 건수, 세로축을 비용으로 두고 수평에 가까운 선과 우상향하는 선 두 개를 그려 놓고 진행하면 학습자의 이해도가 눈에 띄게 올라간다. 그림을 지우지 말고 절이 끝날 때까지 남겨 두면, 클러스터링 팩터와 Index-Only 이야기를 할 때 곡선의 기울기를 손으로 바꿔 가며 설명할 수 있어 훨씬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가장 자주 틀리는 지점이 결과가 적으니 빨리 끝나겠지라는 직관이다. Full Scan에서 조건은 필터일 뿐이고 읽는 양을 줄여 주지 않는다는 사실을 여기서 못 박아야 한다. 순차 읽기의 단가가 낮다는 점도 함께 말해 주면, 왜 대량 조회에서 Full Scan이 이기는지가 단순한 결론이 아니라 이유 있는 결론이 된다. 조건 검사가 블록을 다 읽어 온 다음에 이루어진다는 순서를 말로 한 번 더 반복시키면 이해도가 확실히 올라간다. 실습문제 1번과 3번이 이 슬라이드에 직접 대응한다.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두 단계를 분리해 설명하는 것이 중요하다. 인덱스를 훑는 비용은 대체로 작고 진짜 비용은 테이블로 돌아가는 랜덤 접근에서 발생한다. 이 구분을 해 두면 뒤에 나올 Index-Only 이야기가 자연스럽게 이해된다. 테이블로 돌아갈 필요가 없으면 비싼 절반이 통째로 사라지기 때문이다. 인덱스를 탄다는 말이 항상 같은 비용을 뜻하지 않는다는 점도 짚어 준다. 같은 오퍼레이션 이름이 보여도 뒤에 테이블 접근이 붙어 있는지 여부에 따라 실제 비용은 완전히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중심 그림이다. 손익분기라는 말로 부르면 학습자가 훨씬 잘 기억한다. 강조할 것은 옵티마이저가 규칙이 아니라 계산으로 고른다는 점이다. 그래서 통계정보가 틀리면 계산의 입력이 틀리고, 결과적으로 접근 방식 선택이 통째로 어긋난다. 실행계획이 이상할 때 통계부터 확인하라는 실무 조언의 근거가 바로 여기에 있다. 인덱스를 타지 않는 계획을 보고 곧바로 힌트를 붙이려는 학습자에게는, 먼저 옵티마이저가 무엇을 근거로 그렇게 계산했는지를 확인하는 순서를 권한다.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클러스터링 팩터는 이 과정에서 처음 등장하는 개념이므로 비유를 하나 준비해 두면 좋다. 책의 색인 순서대로 페이지를 넘길 때 같은 페이지를 계속 보게 되는지, 매번 책 전체를 오가야 하는지의 차이다. 실무에서는 생성 일시처럼 데이터 입력 순서와 나란한 컬럼의 인덱스가 유리하고, 무작위에 가까운 코드 컬럼은 불리하다. 교안 07절이 이 변수를 교차점이 고정되지 않는 이유로 들고 있다. 같은 테이블이라도 인덱스마다 값이 다르다는 점을 반드시 짚어야 오해가 없다.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결론은 실습문제 7번의 정답과 직결된다. 학습자에게 인덱스가 공짜가 아니라는 점을 함께 알려 주면 설득력이 커진다. 인덱스는 조회를 도울 수도 있지만 저장 공간을 쓰고 데이터 변경마다 갱신 비용을 유발한다. 이미 저렴한 조회에 인덱스를 붙이면 조회는 그대로거나 나빠지고 갱신만 느려진다. 코드 테이블이나 설정 테이블에 인덱스를 남발하지 말라는 실무 지침의 근거가 여기에 있다. 인덱스를 만들기 전에 지금 이 조회가 정말 비싼지부터 실행계획으로 확인하는 순서를 습관으로 만들어 준다.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절부터 실측 구간이다. 여기서 쓸 두 쿼리는 모두 조건에 맞는 인덱스가 없어 Full Scan 외에는 선택지가 없는 상황을 일부러 만든 것이다. 접근 방식을 고정해 두고 테이블 크기만 바꿔야 크기가 비용에 미치는 영향이 순수하게 드러나기 때문이다. 실험 설계 의도를 먼저 말하고 쿼리를 보여 주는 순서가 좋다. 설계 의도를 모른 채 숫자를 먼저 보면 학습자는 두 쿼리가 그냥 다른 예제라고 생각하고 대비의 의미를 놓친다. 이 절은 짧지만 다음 절의 결론을 만드는 준비 구간이다.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A는 조건에 많은 행이 걸리는 작은 테이블이고, B는 조건에 거의 걸리지 않는 큰 테이블이다. 결과 건수의 방향과 테이블 크기의 방향을 일부러 반대로 놓은 설계다. 이렇게 해야 결과가 적으면 빠르다는 직관이 성립하지 않는다는 사실이 한눈에 드러난다. 학습자에게 실행계획을 보기 전에 어느 쪽 Buffers가 클지 손을 들어 예측하게 하면 효과가 좋다. 대부분 큰 테이블 쪽이 결과가 적으니 더 쌀 것이라고 답하며, 그 예측이 빗나가는 순간이 이 장에서 가장 인상적인 장면이 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설계를 슬라이드 한 장으로 정리해 두면 뒤의 숫자가 주장 없이도 스스로 말하게 된다. 통제 변수와 조작 변수를 구분하는 습관은 실무에서 성능 문제를 재현할 때도 그대로 쓰인다. 한 번에 두 가지를 바꾸면 원인을 분리할 수 없다는 점을 여기서 체득시키는 것이 목표다. 예측을 말로 먼저 꺼내 두게 하면 다음 장의 실측이 훨씬 오래 기억에 남는다. 현장에서 튜닝 전후를 비교할 때도 SQL과 인덱스를 동시에 바꿔 놓고 무엇이 효과를 냈는지 설명하지 못하는 사례가 흔하다는 점을 함께 이야기해 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절은 이 장의 첫 번째 결정적 장면이다. 두 실행계획을 나란히 보여 주면서 Buffers 한 컬럼만 비교하면 결론이 나온다. 학습자가 스스로 예측한 값과 실측을 대조하게 하는 것이 핵심이며, 예측이 빗나간 학습자일수록 이 장의 내용을 오래 기억한다. 숫자를 읽어 주기 전에 잠깐 시간을 주는 편이 좋다. 두 계획의 오퍼레이션 이름이 같다는 점을 먼저 확인시키면, 차이의 원인이 접근 방식이 아니라는 사실을 학습자가 스스로 좁혀 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A-Rows와 E-Rows의 차이를 짚는다. 추정이 실제보다 작게 잡혔다는 것은 통계상의 값 분포 가정과 실제 분포가 어긋났다는 뜻이며, 4.2절에서 말한 데이터 분포 이야기와 연결된다. 다만 이 쿼리에서는 어차피 선택지가 Full Scan뿐이라 추정 오차가 계획을 바꾸지는 않았다. 추정 오차가 문제가 되는 경우와 되지 않는 경우가 있다는 점을 여기서 한 번 짚고 넘어간다. 그리고 이 테이블은 조건에 많은 행이 걸렸는데도 블록 접근이 매우 적다는 사실을 다음 슬라이드 대비를 위해 강조해 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여기가 이 장에서 가장 강한 대비를 만드는 장면이다. 결과는 세 건인데 Buffers는 6,621이다. 학습자에게 이 숫자를 앞 슬라이드의 15와 나란히 놓고 읽게 한다. 추정이 정확했는데도 비용이 큰 이유를 물으면, 추정 정확도와 접근 비용이 별개의 문제라는 것을 스스로 정리하게 된다. 조건에 맞는 인덱스가 없었다는 전제도 다시 확인시켜야 인덱스를 만들면 되지 않느냐는 질문에 미리 답할 수 있다. 실습문제 1번이 정확히 이 두 슬라이드를 비교하는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변수를 하나씩 지워 나가는 방식으로 결론에 도달하게 하는 것이 이 슬라이드의 구성 의도다. 오퍼레이션이 같으니 접근 방식 탓이 아니고, 결과 건수는 방향이 반대이니 그것도 아니다. 남는 것은 테이블 크기뿐이다. 마지막 줄도 중요한데, A-Time만 보고 판단하면 두 쿼리가 비슷해 보인다. 1장에서 배운 대로 시간이 아니라 자원으로 판단해야 하는 이유가 여기서 다시 확인된다. 같은 시간이 걸렸다고 같은 비용이 든 것이 아니라는 점을 반드시 말로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결론은 이 장의 절반이며, 나머지 절반인 선택도 축과 합쳐져 마지막 종합표가 된다. 실무 적용으로 넘어갈 때 강조할 것은 실행계획을 볼 때의 시선 순서다. 결과 건수부터 보는 습관을 큰 테이블 Full Scan을 먼저 찾는 습관으로 바꾸게 한다. 작은 테이블의 Full Scan을 잡겠다고 인덱스를 만드는 것은 이득이 없다는 점도 다시 확인시킨다. 조건이 읽는 양을 줄여 주지 않는다는 문장은 이 과정 내내 반복해서 쓰이므로 여기서 외우게 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두 번째 축인 선택도를 다룬다. 앞 절과 달리 여기서는 인덱스가 존재하고 사용 가능한 상황이며, 그럼에도 옵티마이저가 인덱스를 버리는 지점을 관찰한다. 기존 PK를 그대로 쓰고 조건 범위만 넓혀 가므로 변수는 선택도 하나뿐이다. 앞 절의 설계 원칙이 여기서도 그대로 적용되고 있다는 점을 짚어 준다. 이 절에는 반전이 하나 더 있는데, 마지막에 나오는 Index-Only 사례가 선택도라는 축 자체를 흔든다는 것이다. 미리 예고하지 말고 순서대로 보여 주는 편이 인상이 강하다.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두 줄이 이 절 후반부의 복선이다. SUM 대상 컬럼이 인덱스에 없다는 사실을 여기서 미리 심어 두면, 뒤에 나올 COUNT 사례와의 대비가 훨씬 선명해진다. 바인드 변수를 쓴 것도 의도적인데, 같은 SQL 텍스트에서 범위만 바꿔 비교하기 위함이다. 실무에서도 범위 조건은 대개 바인드로 들어오므로 현실적인 형태이기도 하다. 쿼리 자체는 단순하지만 이 한 문장에서 접근 방식이 네 번 바뀐다는 점을 미리 말해 두면 학습자의 집중도가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한꺼번에 읽지 말고 첫 행과 둘째 행 사이의 전환을 먼저 짚는 것이 좋다. 인덱스가 그대로 있는데도 접근 방식이 바뀌었다는 사실 자체가 이 절의 결론이기 때문이다. 그다음에 아래 세 행의 Buffers가 모두 같다는 점을 확인시킨다. 두 관찰이 각각 다른 원칙을 증명하므로 순서를 섞으면 메시지가 흐려진다. 실습문제 2번과 3번이 각각 이 둘을 묻는 문항이므로, 학습자가 표에서 어느 행을 근거로 삼아야 하는지까지 짚어 주면 답안의 질이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메시지는 하나다. 인덱스의 존재와 인덱스의 사용은 별개라는 것이다. 실무에서 인덱스를 만들었는데 왜 안 타느냐는 질문이 나오면 대개 여기에 답이 있다. 옵티마이저는 인덱스를 쓸 수 있는지가 아니라 쓰는 편이 싼지를 계산한다. 따라서 인덱스를 만든 뒤에는 반드시 실행계획으로 실제 사용 여부를 확인해야 한다는 습관으로 연결해 준다. 정확한 경계가 데이터와 통계에 따라 달라진다는 마지막 줄은 4.7절의 결론을 미리 예고하는 문장이기도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원칙이 서로 다른 두 실험에서 재현됐다는 점을 강조하면 좋다. 하나의 관찰은 우연일 수 있지만 설계가 다른 두 관찰이 같은 결론을 가리키면 원칙으로 받아들일 만하다. 실습문제 3번이 이 슬라이드를 그대로 묻는 문항이며, 답안에서 다 읽은 뒤에 필터가 적용된다는 순서를 명시했는지를 채점 기준으로 삼으면 이해도를 정확히 가늠할 수 있다. Buffers가 같다는 사실을 우연이나 반올림으로 오해하는 학습자가 가끔 있으므로, 읽는 대상이 언제나 테이블 전체라는 점을 다시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3에서 다룬 인덱스만으로 끝나는 쿼리와 테이블까지 가야 하는 쿼리의 구분이 여기서 다시 등장한다. 학습자에게 그 구분이 단순한 분류가 아니라 접근 방식 선택의 경계를 움직이는 변수였다는 점을 알려 준다. 실무에서 커버링 인덱스를 설계하는 이유가 정확히 이것이며, 다음 장의 인덱스 설계 논의로 자연스럽게 이어지는 다리 역할을 한다. 비싼 절반이 사라진다는 표현을 쓰면 왜 경계가 그렇게 크게 밀리는지가 직관적으로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4번과 6번이 이 슬라이드에 대응한다. 학습자가 흔히 놓치는 것은 WHERE 절만 튜닝의 대상이라고 생각하는 습관이다. 실제로는 SELECT 절에 무엇을 적었는지가 접근 방식을 바꾼다. 실무 조언으로는 필요 없는 컬럼을 습관적으로 나열하지 말라는 것, 특히 모든 컬럼을 가져오는 별표 표기가 커버링 가능성을 통째로 없앤다는 점을 함께 말해 주면 바로 적용할 수 있는 지침이 된다. 같은 인덱스 같은 범위인데 결과가 갈렸다는 사실을 한 번 더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두 축을 합쳐 판단 기준을 만드는 구간이다. 여기서 나오는 요약표는 암기용 규칙이 아니라 앞의 실측을 정리한 결과라는 점을 반복해서 말해야 한다. 표만 사진 찍어 가는 학습자가 매번 나오는데, 근거 열을 함께 읽지 않으면 다음 상황에서 응용할 수 없다. 표의 마지막 열이 왜 붙어 있는지를 설명하는 데 시간을 쓰는 편이 좋다. 이어지는 세 슬라이드는 각각 실습문제 8번, 10번, 9번과 짝을 이루므로 실습 예고를 겸해 진행하면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네 행이 같은 층위가 아니라는 점이 이 슬라이드의 핵심이다. 위 두 행은 선택도라는 하나의 축 위에 있는 두 구간이고, 아래 두 행은 그 축만으로는 설명되지 않는 별도의 변수다. 이 구조를 짚지 않으면 학습자는 네 줄을 나란한 규칙으로 외우고 실제 상황에서 충돌하는 판단을 하게 된다. 실습문제 10번이 이 세 변수를 종합하도록 요구한다. 근거 열에 적힌 값들이 모두 앞에서 직접 본 실측이라는 점도 다시 확인시켜 표의 신뢰도를 학습자 스스로 확인하게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학습자들이 가장 원하는 것이 몇 퍼센트라는 숫자인데, 그 숫자를 주지 않는 것이 이 슬라이드의 목적이다. 대신 무엇을 확인해야 하는지의 목록을 준다. 실무에서 널리 인용되는 경험칙들도 특정 환경의 관찰이 일반화된 것이라는 점을 알려 주면, 인터넷에서 본 수치를 그대로 적용하는 습관을 막을 수 있다. 실습문제 8번이 이 내용을 묻는다. 숫자가 없다는 결론이 무책임하게 들리지 않도록, 대신 실행계획으로 확인하면 언제나 답을 얻을 수 있다는 점을 함께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10번의 모범 답안 골격에 해당한다. 수업 중에 바로 답을 주기보다 학습자에게 먼저 두 조건을 말해 보게 하고 나서 예외 조건을 덧붙이는 순서가 좋다. 대부분 크기와 선택도 두 축까지는 도달하지만 세 번째 변수를 빠뜨린다. 그 빈칸을 스스로 발견하게 하는 것이 이 장의 마무리다. 세 변수가 독립적으로 작동하지 않는다는 문장은 실무 판단에서 특히 중요하므로, 조건을 순서대로 점검하되 결론은 함께 내려야 한다고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9번을 미리 함께 풀어 보는 슬라이드다. 여기서 중요한 것은 결론이 아니라 도달하는 절차다. 두 축을 순서대로 점검하고 각각의 판단 근거를 말한 다음 결론을 내리는 형식을 연습시킨다. 실무 리뷰에서도 이 형식으로 말할 수 있으면 설득력이 완전히 달라진다. 직접 실행하지 않고도 예측할 수 있다는 자신감을 주는 것이 이 슬라이드의 목적이며, 예측한 뒤에 실제로 실행해 확인해 보라고 권하면 학습이 실습으로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 사이의 연결을 명시적으로 보여 주면 학습자가 전체 지도를 갖게 된다. 이번 장은 판단의 장이고 다음 장은 설계의 장이라는 대비를 강조한다. 특히 이번 장에서 배운 세 개념이 각각 다음 장의 어느 결정에 쓰이는지 한 줄씩 짝지어 두면, 개념만 배우고 끝났다는 느낌 없이 다음 차시로 넘어갈 수 있다. 인덱스를 만들어 보고 싶어 몸이 근질거리는 학습자가 이 시점에 가장 많으므로, 다음 장에서 충분히 만들어 볼 것이라고 분명히 약속해 두는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여덟 줄 중 앞의 세 줄이 비용 구조, 가운데 세 줄이 관찰 결과, 마지막 두 줄이 실무 지침에 해당한다. 학습자에게 이 화면을 남겨 두고 실습을 시작하게 하면 좋다. 특히 다섯 번째 줄과 여섯 번째 줄은 인덱스는 항상 옳다는 통념을 정면으로 반박하는 문장이므로, 실습 답안에서 이 두 문장을 근거로 쓸 수 있는지가 이해도의 척도가 된다. 첫 줄과 마지막 줄만이라도 외워 두면 앞으로 어떤 실행계획을 보든 첫 질문을 던질 수 있다고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장의 실습은 전부 서술형이며 SQL을 새로 작성하는 문항이 없다. 따라서 채점 기준은 결론의 일치가 아니라 근거로 삼은 값과 논리의 순서다. 특히 9번과 10번은 정답이 하나가 아니므로, 두 축을 모두 언급했는지와 Index-Only라는 세 번째 변수를 빠뜨리지 않았는지를 기준으로 보면 된다. 실습 중 인덱스를 만들어 보고 싶어 하는 학습자가 있으면 다음 장에서 다룬다고 안내하고, 지금 인덱스를 만들면 교안의 실행계획이 재현되지 않는다는 점을 분명히 말해 준다.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제4장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Full Scan vs Index Scan</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선택도와 카디널리티 · 두 비용 곡선의 교차점 · 클러스터링 팩터 · Index-Only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선택도(Selectivity)와 카디널리티(Cardinality)를 정의하고 서로 구분한다</a:t>
            </a:r>
          </a:p>
          <a:p>
            <a:r>
              <a:rPr sz="1600" b="0">
                <a:solidFill>
                  <a:srgbClr val="5A6672"/>
                </a:solidFill>
                <a:latin typeface="Malgun Gothic"/>
              </a:rPr>
              <a:t>    –  Full Scan의 비용이 테이블 전체 블록 수에 비례한다는 것을 실측으로 설명한다</a:t>
            </a:r>
          </a:p>
          <a:p>
            <a:r>
              <a:rPr sz="1600" b="0">
                <a:solidFill>
                  <a:srgbClr val="5A6672"/>
                </a:solidFill>
                <a:latin typeface="Malgun Gothic"/>
              </a:rPr>
              <a:t>    –  Index Range Scan의 비용이 결과 건수와 랜덤 접근에 비례함을 설명한다</a:t>
            </a:r>
          </a:p>
          <a:p>
            <a:r>
              <a:rPr sz="1600" b="0">
                <a:solidFill>
                  <a:srgbClr val="5A6672"/>
                </a:solidFill>
                <a:latin typeface="Malgun Gothic"/>
              </a:rPr>
              <a:t>    –  두 비용 곡선이 교차하는 지점(손익분기)의 의미를 설명한다</a:t>
            </a:r>
          </a:p>
          <a:p>
            <a:r>
              <a:rPr sz="1600" b="0">
                <a:solidFill>
                  <a:srgbClr val="5A6672"/>
                </a:solidFill>
                <a:latin typeface="Malgun Gothic"/>
              </a:rPr>
              <a:t>    –  작은 테이블에서 Full Scan이 오히려 저렴한 이유를 근거를 들어 말한다</a:t>
            </a:r>
          </a:p>
          <a:p>
            <a:r>
              <a:rPr sz="1600" b="0">
                <a:solidFill>
                  <a:srgbClr val="5A6672"/>
                </a:solidFill>
                <a:latin typeface="Malgun Gothic"/>
              </a:rPr>
              <a:t>    –  같은 인덱스라도 범위가 넓어지면 Full Scan으로 전환되는 현상을 관찰한다</a:t>
            </a:r>
          </a:p>
          <a:p>
            <a:r>
              <a:rPr sz="1600" b="0">
                <a:solidFill>
                  <a:srgbClr val="5A6672"/>
                </a:solidFill>
                <a:latin typeface="Malgun Gothic"/>
              </a:rPr>
              <a:t>    –  Index-Only Access가 선택도의 경계를 어떻게 바꾸는지 설명한다</a:t>
            </a:r>
          </a:p>
          <a:p>
            <a:r>
              <a:rPr sz="1600" b="0">
                <a:solidFill>
                  <a:srgbClr val="5A6672"/>
                </a:solidFill>
                <a:latin typeface="Malgun Gothic"/>
              </a:rPr>
              <a:t>    –  클러스터링 팩터가 교차점을 움직이는 변수임을 이해한다</a:t>
            </a:r>
          </a:p>
          <a:p>
            <a:r>
              <a:rPr sz="1600" b="0">
                <a:solidFill>
                  <a:srgbClr val="5A6672"/>
                </a:solidFill>
                <a:latin typeface="Malgun Gothic"/>
              </a:rPr>
              <a:t>    –  '선택도 몇 % 이하면 인덱스'라는 단일 규칙이 왜 위험한지 반박한다</a:t>
            </a:r>
          </a:p>
          <a:p>
            <a:r>
              <a:rPr sz="1600" b="0">
                <a:solidFill>
                  <a:srgbClr val="5A6672"/>
                </a:solidFill>
                <a:latin typeface="Malgun Gothic"/>
              </a:rPr>
              <a:t>    –  Full Scan이 유리한 상황을 두 가지 이상의 조건으로 스스로 정의한다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4.1  Why — 읽는 법은 익혔지만 판단 기준이 없다</a:t>
            </a:r>
          </a:p>
          <a:p>
            <a:r>
              <a:rPr sz="1800" b="0">
                <a:solidFill>
                  <a:srgbClr val="202830"/>
                </a:solidFill>
                <a:latin typeface="Malgun Gothic"/>
              </a:rPr>
              <a:t>•  4.2  Concept — 선택도 · 카디널리티 · 데이터 분포</a:t>
            </a:r>
          </a:p>
          <a:p>
            <a:r>
              <a:rPr sz="1800" b="0">
                <a:solidFill>
                  <a:srgbClr val="202830"/>
                </a:solidFill>
                <a:latin typeface="Malgun Gothic"/>
              </a:rPr>
              <a:t>•  4.3  Oracle Internals — 두 비용 곡선과 교차점</a:t>
            </a:r>
          </a:p>
          <a:p>
            <a:r>
              <a:rPr sz="1800" b="0">
                <a:solidFill>
                  <a:srgbClr val="202830"/>
                </a:solidFill>
                <a:latin typeface="Malgun Gothic"/>
              </a:rPr>
              <a:t>•  4.4  Example — 작은 테이블 vs 큰 테이블 Full Scan</a:t>
            </a:r>
          </a:p>
          <a:p>
            <a:r>
              <a:rPr sz="1800" b="0">
                <a:solidFill>
                  <a:srgbClr val="202830"/>
                </a:solidFill>
                <a:latin typeface="Malgun Gothic"/>
              </a:rPr>
              <a:t>•  4.5  Execution Plan — HOSPITALS와 CLAIM_DETAILS 실측 비교</a:t>
            </a:r>
          </a:p>
          <a:p>
            <a:r>
              <a:rPr sz="1800" b="0">
                <a:solidFill>
                  <a:srgbClr val="202830"/>
                </a:solidFill>
                <a:latin typeface="Malgun Gothic"/>
              </a:rPr>
              <a:t>•  4.6  Bad SQL — 선택도에 따른 접근 방식 전환 관찰</a:t>
            </a:r>
          </a:p>
          <a:p>
            <a:r>
              <a:rPr sz="1800" b="0">
                <a:solidFill>
                  <a:srgbClr val="202830"/>
                </a:solidFill>
                <a:latin typeface="Malgun Gothic"/>
              </a:rPr>
              <a:t>•  4.7~4.8  Tuning 예고 · Benchmark — 선택도별 접근 방식 요약</a:t>
            </a:r>
          </a:p>
          <a:p>
            <a:r>
              <a:rPr sz="1800" b="0">
                <a:solidFill>
                  <a:srgbClr val="202830"/>
                </a:solidFill>
                <a:latin typeface="Malgun Gothic"/>
              </a:rPr>
              <a:t>•  4.9~4.10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읽는 법에서 판단 기준으로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Chapter 3에서 다룬 것과 남겨 둔 것</a:t>
            </a:r>
          </a:p>
          <a:p>
            <a:r>
              <a:rPr sz="1600" b="0">
                <a:solidFill>
                  <a:srgbClr val="C5CED6"/>
                </a:solidFill>
                <a:latin typeface="Malgun Gothic"/>
              </a:rPr>
              <a:t>•  '인덱스가 있으면 무조건 빠르다'는 통념</a:t>
            </a:r>
          </a:p>
          <a:p>
            <a:r>
              <a:rPr sz="1600" b="0">
                <a:solidFill>
                  <a:srgbClr val="C5CED6"/>
                </a:solidFill>
                <a:latin typeface="Malgun Gothic"/>
              </a:rPr>
              <a:t>•  이 차시의 범위와 관찰 소재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Chapter 3에서 여기까지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3에서 얻은 것 — 실행계획을 읽는 어휘</a:t>
            </a:r>
          </a:p>
          <a:p>
            <a:r>
              <a:rPr sz="1600" b="0">
                <a:solidFill>
                  <a:srgbClr val="5A6672"/>
                </a:solidFill>
                <a:latin typeface="Malgun Gothic"/>
              </a:rPr>
              <a:t>    –  TABLE ACCESS FULL, INDEX RANGE SCAN 등 오퍼레이션의 의미</a:t>
            </a:r>
          </a:p>
          <a:p>
            <a:r>
              <a:rPr sz="1600" b="0">
                <a:solidFill>
                  <a:srgbClr val="5A6672"/>
                </a:solidFill>
                <a:latin typeface="Malgun Gothic"/>
              </a:rPr>
              <a:t>    –  들여쓰기로 표현된 실행 순서와 단계별 Buffers 확인 방법</a:t>
            </a:r>
          </a:p>
          <a:p>
            <a:r>
              <a:rPr sz="1800" b="0">
                <a:solidFill>
                  <a:srgbClr val="202830"/>
                </a:solidFill>
                <a:latin typeface="Malgun Gothic"/>
              </a:rPr>
              <a:t>•  Chapter 3에서 다루지 않은 것 — 어느 쪽이 유리한지의 판단</a:t>
            </a:r>
          </a:p>
          <a:p>
            <a:r>
              <a:rPr sz="1600" b="0">
                <a:solidFill>
                  <a:srgbClr val="5A6672"/>
                </a:solidFill>
                <a:latin typeface="Malgun Gothic"/>
              </a:rPr>
              <a:t>    –  계획을 읽을 수 있다는 것과 그 계획이 최선인지 아는 것은 다른 능력</a:t>
            </a:r>
          </a:p>
          <a:p>
            <a:r>
              <a:rPr sz="1600" b="0">
                <a:solidFill>
                  <a:srgbClr val="5A6672"/>
                </a:solidFill>
                <a:latin typeface="Malgun Gothic"/>
              </a:rPr>
              <a:t>    –  옵티마이저가 왜 그 접근 방식을 골랐는지는 아직 설명하지 못한다</a:t>
            </a:r>
          </a:p>
          <a:p>
            <a:r>
              <a:rPr sz="1800" b="0">
                <a:solidFill>
                  <a:srgbClr val="202830"/>
                </a:solidFill>
                <a:latin typeface="Malgun Gothic"/>
              </a:rPr>
              <a:t>•  이 장의 질문 — 언제 Full Scan이 오히려 빠른가</a:t>
            </a:r>
          </a:p>
          <a:p>
            <a:r>
              <a:rPr sz="1600" b="0">
                <a:solidFill>
                  <a:srgbClr val="5A6672"/>
                </a:solidFill>
                <a:latin typeface="Malgun Gothic"/>
              </a:rPr>
              <a:t>    –  판단의 축은 두 개다: 테이블의 크기, 그리고 조건의 선택도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'인덱스는 항상 옳다'는 통념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현장에서 가장 널리 퍼진 통념 중 하나</a:t>
            </a:r>
          </a:p>
          <a:p>
            <a:r>
              <a:rPr sz="1600" b="0">
                <a:solidFill>
                  <a:srgbClr val="5A6672"/>
                </a:solidFill>
                <a:latin typeface="Malgun Gothic"/>
              </a:rPr>
              <a:t>    –  "느리면 인덱스를 만들어라" — 원인 진단 없이 처방부터 하는 습관</a:t>
            </a:r>
          </a:p>
          <a:p>
            <a:r>
              <a:rPr sz="1600" b="0">
                <a:solidFill>
                  <a:srgbClr val="5A6672"/>
                </a:solidFill>
                <a:latin typeface="Malgun Gothic"/>
              </a:rPr>
              <a:t>    –  "인덱스를 안 타는 계획은 잘못된 계획이다" — 실행계획을 오독하는 원인</a:t>
            </a:r>
          </a:p>
          <a:p>
            <a:r>
              <a:rPr sz="1800" b="0">
                <a:solidFill>
                  <a:srgbClr val="202830"/>
                </a:solidFill>
                <a:latin typeface="Malgun Gothic"/>
              </a:rPr>
              <a:t>•  이 통념이 틀리는 두 가지 대표 상황</a:t>
            </a:r>
          </a:p>
          <a:p>
            <a:r>
              <a:rPr sz="1600" b="0">
                <a:solidFill>
                  <a:srgbClr val="5A6672"/>
                </a:solidFill>
                <a:latin typeface="Malgun Gothic"/>
              </a:rPr>
              <a:t>    –  테이블이 작아서 전부 읽어도 이미 충분히 저렴한 경우</a:t>
            </a:r>
          </a:p>
          <a:p>
            <a:r>
              <a:rPr sz="1600" b="0">
                <a:solidFill>
                  <a:srgbClr val="5A6672"/>
                </a:solidFill>
                <a:latin typeface="Malgun Gothic"/>
              </a:rPr>
              <a:t>    –  조건에 걸리는 행이 너무 많아 랜덤 접근이 누적되는 경우</a:t>
            </a:r>
          </a:p>
          <a:p>
            <a:r>
              <a:rPr sz="1800" b="0">
                <a:solidFill>
                  <a:srgbClr val="202830"/>
                </a:solidFill>
                <a:latin typeface="Malgun Gothic"/>
              </a:rPr>
              <a:t>•  통념 대신 필요한 것 — 비용 구조에 대한 이해</a:t>
            </a:r>
          </a:p>
          <a:p>
            <a:r>
              <a:rPr sz="1600" b="0">
                <a:solidFill>
                  <a:srgbClr val="5A6672"/>
                </a:solidFill>
                <a:latin typeface="Malgun Gothic"/>
              </a:rPr>
              <a:t>    –  두 접근 방식이 각각 무엇에 비례해 비싸지는지를 알면 예측이 가능해진다</a:t>
            </a:r>
          </a:p>
          <a:p>
            <a:r>
              <a:rPr sz="1600" b="0">
                <a:solidFill>
                  <a:srgbClr val="5A6672"/>
                </a:solidFill>
                <a:latin typeface="Malgun Gothic"/>
              </a:rPr>
              <a:t>    –  이 장은 그 구조를 실습 DB 실측으로 확인한다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범위와 관찰 소재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차시는 인덱스를 신규 생성하지 않는다</a:t>
            </a:r>
          </a:p>
          <a:p>
            <a:r>
              <a:rPr sz="1600" b="0">
                <a:solidFill>
                  <a:srgbClr val="5A6672"/>
                </a:solidFill>
                <a:latin typeface="Malgun Gothic"/>
              </a:rPr>
              <a:t>    –  기존 PK만 사용한다 — 스키마를 바꾸지 않고 접근 방식만 관찰</a:t>
            </a:r>
          </a:p>
          <a:p>
            <a:r>
              <a:rPr sz="1600" b="0">
                <a:solidFill>
                  <a:srgbClr val="5A6672"/>
                </a:solidFill>
                <a:latin typeface="Malgun Gothic"/>
              </a:rPr>
              <a:t>    –  인덱스 설계 자체는 Chapter 5의 주제</a:t>
            </a:r>
          </a:p>
          <a:p>
            <a:r>
              <a:rPr sz="1800" b="0">
                <a:solidFill>
                  <a:srgbClr val="202830"/>
                </a:solidFill>
                <a:latin typeface="Malgun Gothic"/>
              </a:rPr>
              <a:t>•  관찰 소재 ① 테이블 크기 축</a:t>
            </a:r>
          </a:p>
          <a:p>
            <a:r>
              <a:rPr sz="1600" b="0">
                <a:solidFill>
                  <a:srgbClr val="5A6672"/>
                </a:solidFill>
                <a:latin typeface="Malgun Gothic"/>
              </a:rPr>
              <a:t>    –  작은 테이블 HOSPITALS와 큰 테이블 CLAIM_DETAILS의 Full Scan 비용 비교</a:t>
            </a:r>
          </a:p>
          <a:p>
            <a:r>
              <a:rPr sz="1800" b="0">
                <a:solidFill>
                  <a:srgbClr val="202830"/>
                </a:solidFill>
                <a:latin typeface="Malgun Gothic"/>
              </a:rPr>
              <a:t>•  관찰 소재 ② 선택도 축</a:t>
            </a:r>
          </a:p>
          <a:p>
            <a:r>
              <a:rPr sz="1600" b="0">
                <a:solidFill>
                  <a:srgbClr val="5A6672"/>
                </a:solidFill>
                <a:latin typeface="Malgun Gothic"/>
              </a:rPr>
              <a:t>    –  PK_MEDICAL_CLAIMS를 이용한 범위 조회에서 범위를 점점 넓혀 가며 관찰</a:t>
            </a:r>
          </a:p>
          <a:p>
            <a:r>
              <a:rPr sz="1600" b="0">
                <a:solidFill>
                  <a:srgbClr val="5A6672"/>
                </a:solidFill>
                <a:latin typeface="Malgun Gothic"/>
              </a:rPr>
              <a:t>    –  선택도가 커질 때 접근 방식이 바뀌는 지점을 눈으로 확인한다</a:t>
            </a:r>
          </a:p>
          <a:p>
            <a:r>
              <a:rPr sz="1800" b="0">
                <a:solidFill>
                  <a:srgbClr val="202830"/>
                </a:solidFill>
                <a:latin typeface="Malgun Gothic"/>
              </a:rPr>
              <a:t>•  두 축을 따로 본 뒤 마지막에 합쳐서 판단 기준을 만든다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선택도와 카디널리티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Selectivity — 조건이 걸러 내는 비율</a:t>
            </a:r>
          </a:p>
          <a:p>
            <a:r>
              <a:rPr sz="1600" b="0">
                <a:solidFill>
                  <a:srgbClr val="C5CED6"/>
                </a:solidFill>
                <a:latin typeface="Malgun Gothic"/>
              </a:rPr>
              <a:t>•  Cardinality — 조건을 만족하는 실제 행 수</a:t>
            </a:r>
          </a:p>
          <a:p>
            <a:r>
              <a:rPr sz="1600" b="0">
                <a:solidFill>
                  <a:srgbClr val="C5CED6"/>
                </a:solidFill>
                <a:latin typeface="Malgun Gothic"/>
              </a:rPr>
              <a:t>•  데이터 분포와 이번 챕터 사례의 선택도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선택도 (Selectivity)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조건을 만족하는 행이 전체 중 차지하는 비율</a:t>
            </a:r>
          </a:p>
          <a:p>
            <a:r>
              <a:rPr sz="1600" b="0">
                <a:solidFill>
                  <a:srgbClr val="5A6672"/>
                </a:solidFill>
                <a:latin typeface="Malgun Gothic"/>
              </a:rPr>
              <a:t>    –  선택도 = 조건을 만족하는 행 수 ÷ 전체 행 수</a:t>
            </a:r>
          </a:p>
          <a:p>
            <a:r>
              <a:rPr sz="1600" b="0">
                <a:solidFill>
                  <a:srgbClr val="5A6672"/>
                </a:solidFill>
                <a:latin typeface="Malgun Gothic"/>
              </a:rPr>
              <a:t>    –  0에 가까울수록 조건이 강하게 걸러 낸다는 뜻</a:t>
            </a:r>
          </a:p>
          <a:p>
            <a:r>
              <a:rPr sz="1800" b="0">
                <a:solidFill>
                  <a:srgbClr val="202830"/>
                </a:solidFill>
                <a:latin typeface="Malgun Gothic"/>
              </a:rPr>
              <a:t>•  선택도가 낮다는 말의 의미</a:t>
            </a:r>
          </a:p>
          <a:p>
            <a:r>
              <a:rPr sz="1600" b="0">
                <a:solidFill>
                  <a:srgbClr val="5A6672"/>
                </a:solidFill>
                <a:latin typeface="Malgun Gothic"/>
              </a:rPr>
              <a:t>    –  조건을 만족하는 행이 적다 = 걸러 낸 뒤 남는 것이 얼마 없다</a:t>
            </a:r>
          </a:p>
          <a:p>
            <a:r>
              <a:rPr sz="1600" b="0">
                <a:solidFill>
                  <a:srgbClr val="5A6672"/>
                </a:solidFill>
                <a:latin typeface="Malgun Gothic"/>
              </a:rPr>
              <a:t>    –  이럴수록 인덱스로 필요한 행만 콕 집어 오는 방식이 유리해진다</a:t>
            </a:r>
          </a:p>
          <a:p>
            <a:r>
              <a:rPr sz="1800" b="0">
                <a:solidFill>
                  <a:srgbClr val="202830"/>
                </a:solidFill>
                <a:latin typeface="Malgun Gothic"/>
              </a:rPr>
              <a:t>•  선택도가 높다는 말의 의미</a:t>
            </a:r>
          </a:p>
          <a:p>
            <a:r>
              <a:rPr sz="1600" b="0">
                <a:solidFill>
                  <a:srgbClr val="5A6672"/>
                </a:solidFill>
                <a:latin typeface="Malgun Gothic"/>
              </a:rPr>
              <a:t>    –  조건을 만족하는 행이 많다 = 어차피 대부분을 읽어야 한다</a:t>
            </a:r>
          </a:p>
          <a:p>
            <a:r>
              <a:rPr sz="1600" b="0">
                <a:solidFill>
                  <a:srgbClr val="5A6672"/>
                </a:solidFill>
                <a:latin typeface="Malgun Gothic"/>
              </a:rPr>
              <a:t>    –  이럴수록 통째로 읽고 걸러 내는 Full Scan이 유리해진다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카디널리티 (Cardinality)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조건을 만족하는 실제 행의 개수</a:t>
            </a:r>
          </a:p>
          <a:p>
            <a:r>
              <a:rPr sz="1600" b="0">
                <a:solidFill>
                  <a:srgbClr val="5A6672"/>
                </a:solidFill>
                <a:latin typeface="Malgun Gothic"/>
              </a:rPr>
              <a:t>    –  카디널리티 = 선택도 × 전체 행 수</a:t>
            </a:r>
          </a:p>
          <a:p>
            <a:r>
              <a:rPr sz="1600" b="0">
                <a:solidFill>
                  <a:srgbClr val="5A6672"/>
                </a:solidFill>
                <a:latin typeface="Malgun Gothic"/>
              </a:rPr>
              <a:t>    –  비율이 아니라 개수라는 점이 선택도와의 결정적 차이</a:t>
            </a:r>
          </a:p>
          <a:p>
            <a:r>
              <a:rPr sz="1800" b="0">
                <a:solidFill>
                  <a:srgbClr val="202830"/>
                </a:solidFill>
                <a:latin typeface="Malgun Gothic"/>
              </a:rPr>
              <a:t>•  왜 둘을 구분해야 하는가</a:t>
            </a:r>
          </a:p>
          <a:p>
            <a:r>
              <a:rPr sz="1600" b="0">
                <a:solidFill>
                  <a:srgbClr val="5A6672"/>
                </a:solidFill>
                <a:latin typeface="Malgun Gothic"/>
              </a:rPr>
              <a:t>    –  같은 선택도라도 전체 행 수가 다르면 실제 처리량이 완전히 달라진다</a:t>
            </a:r>
          </a:p>
          <a:p>
            <a:r>
              <a:rPr sz="1600" b="0">
                <a:solidFill>
                  <a:srgbClr val="5A6672"/>
                </a:solidFill>
                <a:latin typeface="Malgun Gothic"/>
              </a:rPr>
              <a:t>    –  옵티마이저의 비용 계산에 직접 들어가는 값은 개수 쪽이다</a:t>
            </a:r>
          </a:p>
          <a:p>
            <a:r>
              <a:rPr sz="1800" b="0">
                <a:solidFill>
                  <a:srgbClr val="202830"/>
                </a:solidFill>
                <a:latin typeface="Malgun Gothic"/>
              </a:rPr>
              <a:t>•  실행계획에서 만나는 자리</a:t>
            </a:r>
          </a:p>
          <a:p>
            <a:r>
              <a:rPr sz="1600" b="0">
                <a:solidFill>
                  <a:srgbClr val="5A6672"/>
                </a:solidFill>
                <a:latin typeface="Malgun Gothic"/>
              </a:rPr>
              <a:t>    –  E-Rows — 옵티마이저가 통계정보로 추정한 카디널리티</a:t>
            </a:r>
          </a:p>
          <a:p>
            <a:r>
              <a:rPr sz="1600" b="0">
                <a:solidFill>
                  <a:srgbClr val="5A6672"/>
                </a:solidFill>
                <a:latin typeface="Malgun Gothic"/>
              </a:rPr>
              <a:t>    –  A-Rows — 실제로 처리된 행 수, 즉 실측 카디널리티</a:t>
            </a:r>
          </a:p>
          <a:p>
            <a:r>
              <a:rPr sz="1600" b="0">
                <a:solidFill>
                  <a:srgbClr val="5A6672"/>
                </a:solidFill>
                <a:latin typeface="Malgun Gothic"/>
              </a:rPr>
              <a:t>    –  둘의 차이가 크면 통계정보나 조건 표현을 의심한다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 분포가 선택도를 바꾼다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컬럼, 같은 형태의 조건이라도 선택도는 값마다 다르다</a:t>
            </a:r>
          </a:p>
          <a:p>
            <a:r>
              <a:rPr sz="1600" b="0">
                <a:solidFill>
                  <a:srgbClr val="5A6672"/>
                </a:solidFill>
                <a:latin typeface="Malgun Gothic"/>
              </a:rPr>
              <a:t>    –  값이 고르게 퍼져 있는지, 특정 값에 몰려 있는지에 따라 달라진다</a:t>
            </a:r>
          </a:p>
          <a:p>
            <a:r>
              <a:rPr sz="1600" b="0">
                <a:solidFill>
                  <a:srgbClr val="5A6672"/>
                </a:solidFill>
                <a:latin typeface="Malgun Gothic"/>
              </a:rPr>
              <a:t>    –  평균만 보고 판단하면 몰려 있는 값에서 예측이 크게 빗나간다</a:t>
            </a:r>
          </a:p>
          <a:p>
            <a:r>
              <a:rPr sz="1800" b="0">
                <a:solidFill>
                  <a:srgbClr val="202830"/>
                </a:solidFill>
                <a:latin typeface="Malgun Gothic"/>
              </a:rPr>
              <a:t>•  옵티마이저가 분포를 파악하는 방법</a:t>
            </a:r>
          </a:p>
          <a:p>
            <a:r>
              <a:rPr sz="1600" b="0">
                <a:solidFill>
                  <a:srgbClr val="5A6672"/>
                </a:solidFill>
                <a:latin typeface="Malgun Gothic"/>
              </a:rPr>
              <a:t>    –  기본은 컬럼의 서로 다른 값 개수를 이용한 균등 분포 가정</a:t>
            </a:r>
          </a:p>
          <a:p>
            <a:r>
              <a:rPr sz="1600" b="0">
                <a:solidFill>
                  <a:srgbClr val="5A6672"/>
                </a:solidFill>
                <a:latin typeface="Malgun Gothic"/>
              </a:rPr>
              <a:t>    –  분포가 치우친 컬럼은 히스토그램 통계로 보정한다</a:t>
            </a:r>
          </a:p>
          <a:p>
            <a:r>
              <a:rPr sz="1800" b="0">
                <a:solidFill>
                  <a:srgbClr val="202830"/>
                </a:solidFill>
                <a:latin typeface="Malgun Gothic"/>
              </a:rPr>
              <a:t>•  실무에서 사고가 나는 지점</a:t>
            </a:r>
          </a:p>
          <a:p>
            <a:r>
              <a:rPr sz="1600" b="0">
                <a:solidFill>
                  <a:srgbClr val="5A6672"/>
                </a:solidFill>
                <a:latin typeface="Malgun Gothic"/>
              </a:rPr>
              <a:t>    –  개발 환경의 소량 데이터와 운영의 실제 분포가 다를 때</a:t>
            </a:r>
          </a:p>
          <a:p>
            <a:r>
              <a:rPr sz="1600" b="0">
                <a:solidFill>
                  <a:srgbClr val="5A6672"/>
                </a:solidFill>
                <a:latin typeface="Malgun Gothic"/>
              </a:rPr>
              <a:t>    –  데이터가 쌓이면서 분포가 변했는데 통계를 갱신하지 않았을 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챕터 사례의 선택도 계산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 전체 30만 건을 기준으로 계산한다</a:t>
            </a:r>
          </a:p>
          <a:p>
            <a:r>
              <a:rPr sz="1600" b="0">
                <a:solidFill>
                  <a:srgbClr val="5A6672"/>
                </a:solidFill>
                <a:latin typeface="Malgun Gothic"/>
              </a:rPr>
              <a:t>    –  선택도 = 조건을 만족하는 행 수 ÷ 300,000</a:t>
            </a:r>
          </a:p>
          <a:p>
            <a:r>
              <a:rPr sz="1800" b="0">
                <a:solidFill>
                  <a:srgbClr val="202830"/>
                </a:solidFill>
                <a:latin typeface="Malgun Gothic"/>
              </a:rPr>
              <a:t>•  4.6절에서 관찰할 세 구간</a:t>
            </a:r>
          </a:p>
          <a:p>
            <a:r>
              <a:rPr sz="1600" b="0">
                <a:solidFill>
                  <a:srgbClr val="5A6672"/>
                </a:solidFill>
                <a:latin typeface="Malgun Gothic"/>
              </a:rPr>
              <a:t>    –  838건 → 838 ÷ 300,000 ≈ 0.28%</a:t>
            </a:r>
          </a:p>
          <a:p>
            <a:r>
              <a:rPr sz="1600" b="0">
                <a:solidFill>
                  <a:srgbClr val="5A6672"/>
                </a:solidFill>
                <a:latin typeface="Malgun Gothic"/>
              </a:rPr>
              <a:t>    –  25,406건 → 25,406 ÷ 300,000 ≈ 8.5%</a:t>
            </a:r>
          </a:p>
          <a:p>
            <a:r>
              <a:rPr sz="1600" b="0">
                <a:solidFill>
                  <a:srgbClr val="5A6672"/>
                </a:solidFill>
                <a:latin typeface="Malgun Gothic"/>
              </a:rPr>
              <a:t>    –  148,028건 → 148,028 ÷ 300,000 ≈ 49.3%</a:t>
            </a:r>
          </a:p>
          <a:p>
            <a:r>
              <a:rPr sz="1800" b="0">
                <a:solidFill>
                  <a:srgbClr val="202830"/>
                </a:solidFill>
                <a:latin typeface="Malgun Gothic"/>
              </a:rPr>
              <a:t>•  숫자를 미리 계산해 두는 이유</a:t>
            </a:r>
          </a:p>
          <a:p>
            <a:r>
              <a:rPr sz="1600" b="0">
                <a:solidFill>
                  <a:srgbClr val="5A6672"/>
                </a:solidFill>
                <a:latin typeface="Malgun Gothic"/>
              </a:rPr>
              <a:t>    –  실행계획을 보기 전에 어느 쪽이 유리할지 스스로 예측해 보게 하기 위함</a:t>
            </a:r>
          </a:p>
          <a:p>
            <a:r>
              <a:rPr sz="1600" b="0">
                <a:solidFill>
                  <a:srgbClr val="5A6672"/>
                </a:solidFill>
                <a:latin typeface="Malgun Gothic"/>
              </a:rPr>
              <a:t>    –  예측과 실측이 어긋나는 지점이 이 장에서 가장 배울 것이 많은 구간이다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두 비용 곡선과 교차점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Full Scan의 비용 — 테이블 크기에 비례</a:t>
            </a:r>
          </a:p>
          <a:p>
            <a:r>
              <a:rPr sz="1600" b="0">
                <a:solidFill>
                  <a:srgbClr val="C5CED6"/>
                </a:solidFill>
                <a:latin typeface="Malgun Gothic"/>
              </a:rPr>
              <a:t>•  Index Range Scan의 비용 — 결과 건수에 비례</a:t>
            </a:r>
          </a:p>
          <a:p>
            <a:r>
              <a:rPr sz="1600" b="0">
                <a:solidFill>
                  <a:srgbClr val="C5CED6"/>
                </a:solidFill>
                <a:latin typeface="Malgun Gothic"/>
              </a:rPr>
              <a:t>•  교차점과 그 위치를 움직이는 변수들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비용은 테이블 전체 블록 수에 비례한다</a:t>
            </a:r>
          </a:p>
          <a:p>
            <a:r>
              <a:rPr sz="1600" b="0">
                <a:solidFill>
                  <a:srgbClr val="5A6672"/>
                </a:solidFill>
                <a:latin typeface="Malgun Gothic"/>
              </a:rPr>
              <a:t>    –  테이블에 저장된 블록을 처음부터 끝까지 전부 읽는다</a:t>
            </a:r>
          </a:p>
          <a:p>
            <a:r>
              <a:rPr sz="1600" b="0">
                <a:solidFill>
                  <a:srgbClr val="5A6672"/>
                </a:solidFill>
                <a:latin typeface="Malgun Gothic"/>
              </a:rPr>
              <a:t>    –  조건 검사는 블록을 다 읽어 온 다음에 이루어진다</a:t>
            </a:r>
          </a:p>
          <a:p>
            <a:r>
              <a:rPr sz="1800" b="0">
                <a:solidFill>
                  <a:srgbClr val="202830"/>
                </a:solidFill>
                <a:latin typeface="Malgun Gothic"/>
              </a:rPr>
              <a:t>•  따라서 결과 건수는 비용에 거의 영향을 주지 않는다</a:t>
            </a:r>
          </a:p>
          <a:p>
            <a:r>
              <a:rPr sz="1600" b="0">
                <a:solidFill>
                  <a:srgbClr val="5A6672"/>
                </a:solidFill>
                <a:latin typeface="Malgun Gothic"/>
              </a:rPr>
              <a:t>    –  조건에 1건이 걸리든 90만 건이 걸리든 읽는 블록 수는 같다</a:t>
            </a:r>
          </a:p>
          <a:p>
            <a:r>
              <a:rPr sz="1600" b="0">
                <a:solidFill>
                  <a:srgbClr val="5A6672"/>
                </a:solidFill>
                <a:latin typeface="Malgun Gothic"/>
              </a:rPr>
              <a:t>    –  비용이 사실상 고정적이라는 뜻 — 그래프로는 수평에 가까운 선</a:t>
            </a:r>
          </a:p>
          <a:p>
            <a:r>
              <a:rPr sz="1800" b="0">
                <a:solidFill>
                  <a:srgbClr val="202830"/>
                </a:solidFill>
                <a:latin typeface="Malgun Gothic"/>
              </a:rPr>
              <a:t>•  대신 한 번의 읽기 단위가 크다</a:t>
            </a:r>
          </a:p>
          <a:p>
            <a:r>
              <a:rPr sz="1600" b="0">
                <a:solidFill>
                  <a:srgbClr val="5A6672"/>
                </a:solidFill>
                <a:latin typeface="Malgun Gothic"/>
              </a:rPr>
              <a:t>    –  연속된 블록을 여러 개씩 묶어 읽으므로 블록당 단가가 낮다</a:t>
            </a:r>
          </a:p>
          <a:p>
            <a:r>
              <a:rPr sz="1600" b="0">
                <a:solidFill>
                  <a:srgbClr val="5A6672"/>
                </a:solidFill>
                <a:latin typeface="Malgun Gothic"/>
              </a:rPr>
              <a:t>    –  이 성질 때문에 대량 처리에서는 오히려 유리해진다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 Range Scan의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비용은 조건을 만족하는 행의 개수에 비례한다</a:t>
            </a:r>
          </a:p>
          <a:p>
            <a:r>
              <a:rPr sz="1600" b="0">
                <a:solidFill>
                  <a:srgbClr val="5A6672"/>
                </a:solidFill>
                <a:latin typeface="Malgun Gothic"/>
              </a:rPr>
              <a:t>    –  인덱스에서 조건에 맞는 구간을 훑어 ROWID 목록을 얻는다</a:t>
            </a:r>
          </a:p>
          <a:p>
            <a:r>
              <a:rPr sz="1600" b="0">
                <a:solidFill>
                  <a:srgbClr val="5A6672"/>
                </a:solidFill>
                <a:latin typeface="Malgun Gothic"/>
              </a:rPr>
              <a:t>    –  그 ROWID로 테이블 블록을 하나씩 찾아가 실제 값을 읽는다</a:t>
            </a:r>
          </a:p>
          <a:p>
            <a:r>
              <a:rPr sz="1800" b="0">
                <a:solidFill>
                  <a:srgbClr val="202830"/>
                </a:solidFill>
                <a:latin typeface="Malgun Gothic"/>
              </a:rPr>
              <a:t>•  두 번째 단계가 비용의 핵심 — 랜덤 접근</a:t>
            </a:r>
          </a:p>
          <a:p>
            <a:r>
              <a:rPr sz="1600" b="0">
                <a:solidFill>
                  <a:srgbClr val="5A6672"/>
                </a:solidFill>
                <a:latin typeface="Malgun Gothic"/>
              </a:rPr>
              <a:t>    –  흩어져 있는 위치를 건건이 찾아가는 방식이라 단가가 높다</a:t>
            </a:r>
          </a:p>
          <a:p>
            <a:r>
              <a:rPr sz="1600" b="0">
                <a:solidFill>
                  <a:srgbClr val="5A6672"/>
                </a:solidFill>
                <a:latin typeface="Malgun Gothic"/>
              </a:rPr>
              <a:t>    –  결과가 많아질수록 이 접근이 누적되어 비용이 우상향한다</a:t>
            </a:r>
          </a:p>
          <a:p>
            <a:r>
              <a:rPr sz="1800" b="0">
                <a:solidFill>
                  <a:srgbClr val="202830"/>
                </a:solidFill>
                <a:latin typeface="Malgun Gothic"/>
              </a:rPr>
              <a:t>•  결과가 적을 때는 압도적으로 저렴하다</a:t>
            </a:r>
          </a:p>
          <a:p>
            <a:r>
              <a:rPr sz="1600" b="0">
                <a:solidFill>
                  <a:srgbClr val="5A6672"/>
                </a:solidFill>
                <a:latin typeface="Malgun Gothic"/>
              </a:rPr>
              <a:t>    –  필요 없는 블록을 아예 건드리지 않기 때문</a:t>
            </a:r>
          </a:p>
          <a:p>
            <a:r>
              <a:rPr sz="1600" b="0">
                <a:solidFill>
                  <a:srgbClr val="5A6672"/>
                </a:solidFill>
                <a:latin typeface="Malgun Gothic"/>
              </a:rPr>
              <a:t>    –  반대로 결과가 많아지면 Full Scan보다 비싸질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곡선의 교차점 — 손익분기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비용 곡선을 한 그래프에 겹쳐 놓으면 교차점이 생긴다</a:t>
            </a:r>
          </a:p>
          <a:p>
            <a:r>
              <a:rPr sz="1600" b="0">
                <a:solidFill>
                  <a:srgbClr val="5A6672"/>
                </a:solidFill>
                <a:latin typeface="Malgun Gothic"/>
              </a:rPr>
              <a:t>    –  Full Scan — 결과 건수와 무관하게 거의 수평</a:t>
            </a:r>
          </a:p>
          <a:p>
            <a:r>
              <a:rPr sz="1600" b="0">
                <a:solidFill>
                  <a:srgbClr val="5A6672"/>
                </a:solidFill>
                <a:latin typeface="Malgun Gothic"/>
              </a:rPr>
              <a:t>    –  Index Range Scan — 결과 건수에 따라 우상향</a:t>
            </a:r>
          </a:p>
          <a:p>
            <a:r>
              <a:rPr sz="1800" b="0">
                <a:solidFill>
                  <a:srgbClr val="202830"/>
                </a:solidFill>
                <a:latin typeface="Malgun Gothic"/>
              </a:rPr>
              <a:t>•  교차점의 왼쪽과 오른쪽</a:t>
            </a:r>
          </a:p>
          <a:p>
            <a:r>
              <a:rPr sz="1600" b="0">
                <a:solidFill>
                  <a:srgbClr val="5A6672"/>
                </a:solidFill>
                <a:latin typeface="Malgun Gothic"/>
              </a:rPr>
              <a:t>    –  왼쪽(선택도가 낮은 구간) — 인덱스가 유리하다</a:t>
            </a:r>
          </a:p>
          <a:p>
            <a:r>
              <a:rPr sz="1600" b="0">
                <a:solidFill>
                  <a:srgbClr val="5A6672"/>
                </a:solidFill>
                <a:latin typeface="Malgun Gothic"/>
              </a:rPr>
              <a:t>    –  오른쪽(선택도가 높은 구간) — Full Scan이 유리하다</a:t>
            </a:r>
          </a:p>
          <a:p>
            <a:r>
              <a:rPr sz="1800" b="0">
                <a:solidFill>
                  <a:srgbClr val="202830"/>
                </a:solidFill>
                <a:latin typeface="Malgun Gothic"/>
              </a:rPr>
              <a:t>•  옵티마이저가 하는 일이 바로 이 교차점의 추정이다</a:t>
            </a:r>
          </a:p>
          <a:p>
            <a:r>
              <a:rPr sz="1600" b="0">
                <a:solidFill>
                  <a:srgbClr val="5A6672"/>
                </a:solidFill>
                <a:latin typeface="Malgun Gothic"/>
              </a:rPr>
              <a:t>    –  통계정보로 카디널리티를 추정해 양쪽 비용을 계산하고 싼 쪽을 고른다</a:t>
            </a:r>
          </a:p>
          <a:p>
            <a:r>
              <a:rPr sz="1600" b="0">
                <a:solidFill>
                  <a:srgbClr val="5A6672"/>
                </a:solidFill>
                <a:latin typeface="Malgun Gothic"/>
              </a:rPr>
              <a:t>    –  인덱스를 안 타는 계획은 대개 이 계산의 결과이지 오류가 아니다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클러스터링 팩터 — 교차점을 움직이는 변수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인덱스의 정렬 순서와 실제 테이블 저장 순서가 얼마나 일치하는가</a:t>
            </a:r>
          </a:p>
          <a:p>
            <a:r>
              <a:rPr sz="1600" b="0">
                <a:solidFill>
                  <a:srgbClr val="5A6672"/>
                </a:solidFill>
                <a:latin typeface="Malgun Gothic"/>
              </a:rPr>
              <a:t>    –  잘 맞으면 인덱스 순서대로 읽을 때 같은 블록을 연달아 만난다</a:t>
            </a:r>
          </a:p>
          <a:p>
            <a:r>
              <a:rPr sz="1600" b="0">
                <a:solidFill>
                  <a:srgbClr val="5A6672"/>
                </a:solidFill>
                <a:latin typeface="Malgun Gothic"/>
              </a:rPr>
              <a:t>    –  어긋나면 행 하나마다 다른 블록으로 흩어져 랜덤 접근이 늘어난다</a:t>
            </a:r>
          </a:p>
          <a:p>
            <a:r>
              <a:rPr sz="1800" b="0">
                <a:solidFill>
                  <a:srgbClr val="202830"/>
                </a:solidFill>
                <a:latin typeface="Malgun Gothic"/>
              </a:rPr>
              <a:t>•  교차점에 미치는 영향</a:t>
            </a:r>
          </a:p>
          <a:p>
            <a:r>
              <a:rPr sz="1600" b="0">
                <a:solidFill>
                  <a:srgbClr val="5A6672"/>
                </a:solidFill>
                <a:latin typeface="Malgun Gothic"/>
              </a:rPr>
              <a:t>    –  일치도가 높으면 인덱스 쪽 곡선이 완만해져 교차점이 오른쪽으로 이동</a:t>
            </a:r>
          </a:p>
          <a:p>
            <a:r>
              <a:rPr sz="1600" b="0">
                <a:solidFill>
                  <a:srgbClr val="5A6672"/>
                </a:solidFill>
                <a:latin typeface="Malgun Gothic"/>
              </a:rPr>
              <a:t>    –  일치도가 낮으면 곡선이 가팔라져 교차점이 왼쪽으로 이동</a:t>
            </a:r>
          </a:p>
          <a:p>
            <a:r>
              <a:rPr sz="1800" b="0">
                <a:solidFill>
                  <a:srgbClr val="202830"/>
                </a:solidFill>
                <a:latin typeface="Malgun Gothic"/>
              </a:rPr>
              <a:t>•  같은 테이블이라도 인덱스마다 값이 다르다</a:t>
            </a:r>
          </a:p>
          <a:p>
            <a:r>
              <a:rPr sz="1600" b="0">
                <a:solidFill>
                  <a:srgbClr val="5A6672"/>
                </a:solidFill>
                <a:latin typeface="Malgun Gothic"/>
              </a:rPr>
              <a:t>    –  데이터가 들어온 순서와 인덱스 컬럼의 관계에 따라 결정되기 때문</a:t>
            </a:r>
          </a:p>
          <a:p>
            <a:r>
              <a:rPr sz="1600" b="0">
                <a:solidFill>
                  <a:srgbClr val="5A6672"/>
                </a:solidFill>
                <a:latin typeface="Malgun Gothic"/>
              </a:rPr>
              <a:t>    –  이 값이 나쁘면 선택도가 낮아도 인덱스가 기대만큼 빠르지 않다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작은 테이블에서 Full Scan이 유리한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작은 테이블은 애초에 전체 블록 수가 적다</a:t>
            </a:r>
          </a:p>
          <a:p>
            <a:r>
              <a:rPr sz="1600" b="0">
                <a:solidFill>
                  <a:srgbClr val="5A6672"/>
                </a:solidFill>
                <a:latin typeface="Malgun Gothic"/>
              </a:rPr>
              <a:t>    –  전부 읽어도 비용의 절대값 자체가 크지 않다</a:t>
            </a:r>
          </a:p>
          <a:p>
            <a:r>
              <a:rPr sz="1800" b="0">
                <a:solidFill>
                  <a:srgbClr val="202830"/>
                </a:solidFill>
                <a:latin typeface="Malgun Gothic"/>
              </a:rPr>
              <a:t>•  반면 인덱스를 거치면 단계가 늘어난다</a:t>
            </a:r>
          </a:p>
          <a:p>
            <a:r>
              <a:rPr sz="1600" b="0">
                <a:solidFill>
                  <a:srgbClr val="5A6672"/>
                </a:solidFill>
                <a:latin typeface="Malgun Gothic"/>
              </a:rPr>
              <a:t>    –  인덱스 블록 접근 → 조건에 맞는 ROWID 확보 → 테이블 블록 접근</a:t>
            </a:r>
          </a:p>
          <a:p>
            <a:r>
              <a:rPr sz="1600" b="0">
                <a:solidFill>
                  <a:srgbClr val="5A6672"/>
                </a:solidFill>
                <a:latin typeface="Malgun Gothic"/>
              </a:rPr>
              <a:t>    –  최소 두 단계이며, 각 단계마다 블록 접근이 발생한다</a:t>
            </a:r>
          </a:p>
          <a:p>
            <a:r>
              <a:rPr sz="1800" b="0">
                <a:solidFill>
                  <a:srgbClr val="202830"/>
                </a:solidFill>
                <a:latin typeface="Malgun Gothic"/>
              </a:rPr>
              <a:t>•  결과적으로 오버헤드가 이득을 넘어설 수 있다</a:t>
            </a:r>
          </a:p>
          <a:p>
            <a:r>
              <a:rPr sz="1600" b="0">
                <a:solidFill>
                  <a:srgbClr val="5A6672"/>
                </a:solidFill>
                <a:latin typeface="Malgun Gothic"/>
              </a:rPr>
              <a:t>    –  조건에 1건만 걸리더라도 그냥 다 읽는 편이 더 쌀 수 있다</a:t>
            </a:r>
          </a:p>
          <a:p>
            <a:r>
              <a:rPr sz="1600" b="0">
                <a:solidFill>
                  <a:srgbClr val="5A6672"/>
                </a:solidFill>
                <a:latin typeface="Malgun Gothic"/>
              </a:rPr>
              <a:t>    –  조건에 많은 행이 걸리면 인덱스 쪽이 불리해지는 폭은 더 커진다</a:t>
            </a:r>
          </a:p>
          <a:p>
            <a:r>
              <a:rPr sz="1800" b="0">
                <a:solidFill>
                  <a:srgbClr val="202830"/>
                </a:solidFill>
                <a:latin typeface="Malgun Gothic"/>
              </a:rPr>
              <a:t>•  결론 — 작은 테이블에는 인덱스를 무조건 추가할 이유가 없다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작은 테이블 vs 큰 테이블</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두 개의 Full Scan 쿼리</a:t>
            </a:r>
          </a:p>
          <a:p>
            <a:r>
              <a:rPr sz="1600" b="0">
                <a:solidFill>
                  <a:srgbClr val="C5CED6"/>
                </a:solidFill>
                <a:latin typeface="Malgun Gothic"/>
              </a:rPr>
              <a:t>•  테이블 크기만 바꾼 통제된 비교</a:t>
            </a:r>
          </a:p>
          <a:p>
            <a:r>
              <a:rPr sz="1600" b="0">
                <a:solidFill>
                  <a:srgbClr val="C5CED6"/>
                </a:solidFill>
                <a:latin typeface="Malgun Gothic"/>
              </a:rPr>
              <a:t>•  조건에 맞는 인덱스가 없는 상황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쿼리 — 두 개의 Full Scan</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조건에 맞는 인덱스가 없어 Full Scan만 가능한 두 상황을 비교한다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작은 테이블(HOSPITALS, 1,000건)</a:t>
            </a:r>
          </a:p>
          <a:p>
            <a:r>
              <a:rPr sz="1250" b="0">
                <a:solidFill>
                  <a:srgbClr val="E6E6E6"/>
                </a:solidFill>
                <a:latin typeface="Consolas"/>
              </a:rPr>
              <a:t>SELECT COUNT(*) FROM hospitals WHERE hosp_type = '의원';</a:t>
            </a:r>
          </a:p>
          <a:p>
            <a:r>
              <a:rPr sz="1250" b="0">
                <a:solidFill>
                  <a:srgbClr val="E6E6E6"/>
                </a:solidFill>
                <a:latin typeface="Consolas"/>
              </a:rPr>
              <a:t> </a:t>
            </a:r>
          </a:p>
          <a:p>
            <a:r>
              <a:rPr sz="1250" b="0">
                <a:solidFill>
                  <a:srgbClr val="7EC699"/>
                </a:solidFill>
                <a:latin typeface="Consolas"/>
              </a:rPr>
              <a:t>-- B. 큰 테이블(CLAIM_DETAILS, 약 90만 건, 비인덱스 컬럼)</a:t>
            </a:r>
          </a:p>
          <a:p>
            <a:r>
              <a:rPr sz="1250" b="0">
                <a:solidFill>
                  <a:srgbClr val="E6E6E6"/>
                </a:solidFill>
                <a:latin typeface="Consolas"/>
              </a:rPr>
              <a:t>SELECT COUNT(*) FROM claim_details WHERE claim_id = '20240615-0013440';</a:t>
            </a:r>
          </a:p>
          <a:p>
            <a:r>
              <a:rPr sz="1250" b="0">
                <a:solidFill>
                  <a:srgbClr val="E6E6E6"/>
                </a:solidFill>
                <a:latin typeface="Consolas"/>
              </a:rPr>
              <a:t> </a:t>
            </a:r>
          </a:p>
          <a:p>
            <a:r>
              <a:rPr sz="1250" b="0">
                <a:solidFill>
                  <a:srgbClr val="7EC699"/>
                </a:solidFill>
                <a:latin typeface="Consolas"/>
              </a:rPr>
              <a:t>-- 두 쿼리 모두 조건 컬럼에 쓸 수 있는 인덱스가 없다</a:t>
            </a:r>
          </a:p>
          <a:p>
            <a:r>
              <a:rPr sz="1250" b="0">
                <a:solidFill>
                  <a:srgbClr val="7EC699"/>
                </a:solidFill>
                <a:latin typeface="Consolas"/>
              </a:rPr>
              <a:t>-- 따라서 접근 방식은 양쪽 다 TABLE ACCESS FULL로 고정된다</a:t>
            </a:r>
          </a:p>
          <a:p>
            <a:r>
              <a:rPr sz="1250" b="0">
                <a:solidFill>
                  <a:srgbClr val="7EC699"/>
                </a:solidFill>
                <a:latin typeface="Consolas"/>
              </a:rPr>
              <a:t>-- 달라지는 변수는 오직 하나 — 테이블 전체의 크기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비교 설계 — 무엇을 통제했는가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통제한 것 — 접근 방식</a:t>
            </a:r>
          </a:p>
          <a:p>
            <a:r>
              <a:rPr sz="1600" b="0">
                <a:solidFill>
                  <a:srgbClr val="5A6672"/>
                </a:solidFill>
                <a:latin typeface="Malgun Gothic"/>
              </a:rPr>
              <a:t>    –  두 쿼리 모두 조건에 맞는 인덱스가 없어 Full Scan만 가능한 상황</a:t>
            </a:r>
          </a:p>
          <a:p>
            <a:r>
              <a:rPr sz="1600" b="0">
                <a:solidFill>
                  <a:srgbClr val="5A6672"/>
                </a:solidFill>
                <a:latin typeface="Malgun Gothic"/>
              </a:rPr>
              <a:t>    –  접근 방식이 같아야 크기의 효과만 남는다</a:t>
            </a:r>
          </a:p>
          <a:p>
            <a:r>
              <a:rPr sz="1800" b="0">
                <a:solidFill>
                  <a:srgbClr val="202830"/>
                </a:solidFill>
                <a:latin typeface="Malgun Gothic"/>
              </a:rPr>
              <a:t>•  바꾼 것 — 테이블의 크기</a:t>
            </a:r>
          </a:p>
          <a:p>
            <a:r>
              <a:rPr sz="1600" b="0">
                <a:solidFill>
                  <a:srgbClr val="5A6672"/>
                </a:solidFill>
                <a:latin typeface="Malgun Gothic"/>
              </a:rPr>
              <a:t>    –  HOSPITALS는 1,000건, CLAIM_DETAILS는 약 90만 건</a:t>
            </a:r>
          </a:p>
          <a:p>
            <a:r>
              <a:rPr sz="1800" b="0">
                <a:solidFill>
                  <a:srgbClr val="202830"/>
                </a:solidFill>
                <a:latin typeface="Malgun Gothic"/>
              </a:rPr>
              <a:t>•  일부러 반대로 놓은 것 — 결과 건수</a:t>
            </a:r>
          </a:p>
          <a:p>
            <a:r>
              <a:rPr sz="1600" b="0">
                <a:solidFill>
                  <a:srgbClr val="5A6672"/>
                </a:solidFill>
                <a:latin typeface="Malgun Gothic"/>
              </a:rPr>
              <a:t>    –  작은 테이블 쪽이 오히려 조건에 800건이나 걸린다</a:t>
            </a:r>
          </a:p>
          <a:p>
            <a:r>
              <a:rPr sz="1600" b="0">
                <a:solidFill>
                  <a:srgbClr val="5A6672"/>
                </a:solidFill>
                <a:latin typeface="Malgun Gothic"/>
              </a:rPr>
              <a:t>    –  큰 테이블 쪽은 조건에 3건만 걸린다</a:t>
            </a:r>
          </a:p>
          <a:p>
            <a:r>
              <a:rPr sz="1800" b="0">
                <a:solidFill>
                  <a:srgbClr val="202830"/>
                </a:solidFill>
                <a:latin typeface="Malgun Gothic"/>
              </a:rPr>
              <a:t>•  직관대로라면 큰 테이블 쪽이 훨씬 저렴해야 한다</a:t>
            </a:r>
          </a:p>
          <a:p>
            <a:r>
              <a:rPr sz="1600" b="0">
                <a:solidFill>
                  <a:srgbClr val="5A6672"/>
                </a:solidFill>
                <a:latin typeface="Malgun Gothic"/>
              </a:rPr>
              <a:t>    –  실측 결과가 그 직관을 뒤집는지 다음 슬라이드에서 확인한다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HOSPITALS — 800건이 걸리는 Full Scan</a:t>
            </a:r>
          </a:p>
          <a:p>
            <a:r>
              <a:rPr sz="1600" b="0">
                <a:solidFill>
                  <a:srgbClr val="C5CED6"/>
                </a:solidFill>
                <a:latin typeface="Malgun Gothic"/>
              </a:rPr>
              <a:t>•  B. CLAIM_DETAILS — 3건이 걸리는 Full Scan</a:t>
            </a:r>
          </a:p>
          <a:p>
            <a:r>
              <a:rPr sz="1600" b="0">
                <a:solidFill>
                  <a:srgbClr val="C5CED6"/>
                </a:solidFill>
                <a:latin typeface="Malgun Gothic"/>
              </a:rPr>
              <a:t>•  Buffers가 말해 주는 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HOSPITALS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1,000건짜리 테이블에서 조건에 800건이 걸린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HOSPITALS |    250 |    800 |00:00:00.04 |      15 |</a:t>
            </a:r>
          </a:p>
          <a:p>
            <a:r>
              <a:rPr sz="1250" b="0">
                <a:solidFill>
                  <a:srgbClr val="E6E6E6"/>
                </a:solidFill>
                <a:latin typeface="Consolas"/>
              </a:rPr>
              <a:t> </a:t>
            </a:r>
          </a:p>
          <a:p>
            <a:r>
              <a:rPr sz="1250" b="0">
                <a:solidFill>
                  <a:srgbClr val="7EC699"/>
                </a:solidFill>
                <a:latin typeface="Consolas"/>
              </a:rPr>
              <a:t>-- A-Rows 800 — 조건에 걸린 실제 행 수</a:t>
            </a:r>
          </a:p>
          <a:p>
            <a:r>
              <a:rPr sz="1250" b="0">
                <a:solidFill>
                  <a:srgbClr val="7EC699"/>
                </a:solidFill>
                <a:latin typeface="Consolas"/>
              </a:rPr>
              <a:t>-- E-Rows 250 — 옵티마이저가 통계로 추정한 값, 실제보다 작게 잡혔다</a:t>
            </a:r>
          </a:p>
          <a:p>
            <a:r>
              <a:rPr sz="1250" b="0">
                <a:solidFill>
                  <a:srgbClr val="7EC699"/>
                </a:solidFill>
                <a:latin typeface="Consolas"/>
              </a:rPr>
              <a:t>-- Buffers 15 — 테이블 전체를 읽고도 접근한 블록 수가 이 정도에 그친다</a:t>
            </a:r>
          </a:p>
          <a:p>
            <a:r>
              <a:rPr sz="1250" b="0">
                <a:solidFill>
                  <a:srgbClr val="7EC699"/>
                </a:solidFill>
                <a:latin typeface="Consolas"/>
              </a:rPr>
              <a:t>-- 테이블 자체가 작기 때문에 전부 읽는 비용의 절대값이 크지 않다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CLAIM_DETAILS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약 90만 건짜리 테이블에서 조건에 단 3건이 걸린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CLAIM_DETAILS |      3 |      3 |00:00:00.05 |    6621 |</a:t>
            </a:r>
          </a:p>
          <a:p>
            <a:r>
              <a:rPr sz="1250" b="0">
                <a:solidFill>
                  <a:srgbClr val="E6E6E6"/>
                </a:solidFill>
                <a:latin typeface="Consolas"/>
              </a:rPr>
              <a:t> </a:t>
            </a:r>
          </a:p>
          <a:p>
            <a:r>
              <a:rPr sz="1250" b="0">
                <a:solidFill>
                  <a:srgbClr val="7EC699"/>
                </a:solidFill>
                <a:latin typeface="Consolas"/>
              </a:rPr>
              <a:t>-- A-Rows 3 — 조건에 걸린 실제 행은 단 3건뿐이다</a:t>
            </a:r>
          </a:p>
          <a:p>
            <a:r>
              <a:rPr sz="1250" b="0">
                <a:solidFill>
                  <a:srgbClr val="7EC699"/>
                </a:solidFill>
                <a:latin typeface="Consolas"/>
              </a:rPr>
              <a:t>-- E-Rows 3 — 이번에는 추정과 실제가 정확히 일치했다</a:t>
            </a:r>
          </a:p>
          <a:p>
            <a:r>
              <a:rPr sz="1250" b="0">
                <a:solidFill>
                  <a:srgbClr val="7EC699"/>
                </a:solidFill>
                <a:latin typeface="Consolas"/>
              </a:rPr>
              <a:t>-- Buffers 6621 — 결과가 3건인데도 접근한 블록 수는 이만큼이다</a:t>
            </a:r>
          </a:p>
          <a:p>
            <a:r>
              <a:rPr sz="1250" b="0">
                <a:solidFill>
                  <a:srgbClr val="7EC699"/>
                </a:solidFill>
                <a:latin typeface="Consolas"/>
              </a:rPr>
              <a:t>-- 조건에 맞는 인덱스가 없어 90만 건이 담긴 블록을 전부 읽어야 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실행계획을 나란히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오퍼레이션은 동일하다 — 양쪽 다 TABLE ACCESS FULL</a:t>
            </a:r>
          </a:p>
          <a:p>
            <a:r>
              <a:rPr sz="1600" b="0">
                <a:solidFill>
                  <a:srgbClr val="5A6672"/>
                </a:solidFill>
                <a:latin typeface="Malgun Gothic"/>
              </a:rPr>
              <a:t>    –  접근 방식이 같으므로 차이의 원인은 접근 방식이 아니다</a:t>
            </a:r>
          </a:p>
          <a:p>
            <a:r>
              <a:rPr sz="1800" b="0">
                <a:solidFill>
                  <a:srgbClr val="202830"/>
                </a:solidFill>
                <a:latin typeface="Malgun Gothic"/>
              </a:rPr>
              <a:t>•  결과 건수는 작은 테이블 쪽이 훨씬 많다</a:t>
            </a:r>
          </a:p>
          <a:p>
            <a:r>
              <a:rPr sz="1600" b="0">
                <a:solidFill>
                  <a:srgbClr val="5A6672"/>
                </a:solidFill>
                <a:latin typeface="Malgun Gothic"/>
              </a:rPr>
              <a:t>    –  HOSPITALS는 800건, CLAIM_DETAILS는 3건</a:t>
            </a:r>
          </a:p>
          <a:p>
            <a:r>
              <a:rPr sz="1800" b="0">
                <a:solidFill>
                  <a:srgbClr val="202830"/>
                </a:solidFill>
                <a:latin typeface="Malgun Gothic"/>
              </a:rPr>
              <a:t>•  그런데 Buffers는 정반대다</a:t>
            </a:r>
          </a:p>
          <a:p>
            <a:r>
              <a:rPr sz="1600" b="0">
                <a:solidFill>
                  <a:srgbClr val="5A6672"/>
                </a:solidFill>
                <a:latin typeface="Malgun Gothic"/>
              </a:rPr>
              <a:t>    –  HOSPITALS는 15, CLAIM_DETAILS는 6,621</a:t>
            </a:r>
          </a:p>
          <a:p>
            <a:r>
              <a:rPr sz="1600" b="0">
                <a:solidFill>
                  <a:srgbClr val="5A6672"/>
                </a:solidFill>
                <a:latin typeface="Malgun Gothic"/>
              </a:rPr>
              <a:t>    –  결과가 훨씬 적은 쪽이 블록 접근은 오히려 압도적으로 많다</a:t>
            </a:r>
          </a:p>
          <a:p>
            <a:r>
              <a:rPr sz="1800" b="0">
                <a:solidFill>
                  <a:srgbClr val="202830"/>
                </a:solidFill>
                <a:latin typeface="Malgun Gothic"/>
              </a:rPr>
              <a:t>•  따라서 Buffers를 결정한 변수는 결과 건수가 아니다</a:t>
            </a:r>
          </a:p>
          <a:p>
            <a:r>
              <a:rPr sz="1600" b="0">
                <a:solidFill>
                  <a:srgbClr val="5A6672"/>
                </a:solidFill>
                <a:latin typeface="Malgun Gothic"/>
              </a:rPr>
              <a:t>    –  남는 변수는 하나 — 테이블 전체의 크기</a:t>
            </a:r>
          </a:p>
          <a:p>
            <a:r>
              <a:rPr sz="1600" b="0">
                <a:solidFill>
                  <a:srgbClr val="5A6672"/>
                </a:solidFill>
                <a:latin typeface="Malgun Gothic"/>
              </a:rPr>
              <a:t>    –  A-Time만 보면 차이가 작아 보이지만 자원 소비는 전혀 다르다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 — Full Scan 비용을 결정하는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Full Scan의 비용은 결과 건수가 아니라 테이블 크기로 결정된다</a:t>
            </a:r>
          </a:p>
          <a:p>
            <a:r>
              <a:rPr sz="1600" b="0">
                <a:solidFill>
                  <a:srgbClr val="5A6672"/>
                </a:solidFill>
                <a:latin typeface="Malgun Gothic"/>
              </a:rPr>
              <a:t>    –  CLAIM_DETAILS의 3건짜리 결과에 Buffers 6,621이 든 것이 그 증거</a:t>
            </a:r>
          </a:p>
          <a:p>
            <a:r>
              <a:rPr sz="1600" b="0">
                <a:solidFill>
                  <a:srgbClr val="5A6672"/>
                </a:solidFill>
                <a:latin typeface="Malgun Gothic"/>
              </a:rPr>
              <a:t>    –  HOSPITALS는 800건이 걸렸는데도 Buffers 15에 그쳤다</a:t>
            </a:r>
          </a:p>
          <a:p>
            <a:r>
              <a:rPr sz="1800" b="0">
                <a:solidFill>
                  <a:srgbClr val="202830"/>
                </a:solidFill>
                <a:latin typeface="Malgun Gothic"/>
              </a:rPr>
              <a:t>•  조건은 읽는 양을 줄여 주지 않는다</a:t>
            </a:r>
          </a:p>
          <a:p>
            <a:r>
              <a:rPr sz="1600" b="0">
                <a:solidFill>
                  <a:srgbClr val="5A6672"/>
                </a:solidFill>
                <a:latin typeface="Malgun Gothic"/>
              </a:rPr>
              <a:t>    –  조건 검사는 블록을 다 읽어 온 뒤에 적용되는 필터일 뿐이다</a:t>
            </a:r>
          </a:p>
          <a:p>
            <a:r>
              <a:rPr sz="1800" b="0">
                <a:solidFill>
                  <a:srgbClr val="202830"/>
                </a:solidFill>
                <a:latin typeface="Malgun Gothic"/>
              </a:rPr>
              <a:t>•  실무에서 이 원칙을 쓰는 방법</a:t>
            </a:r>
          </a:p>
          <a:p>
            <a:r>
              <a:rPr sz="1600" b="0">
                <a:solidFill>
                  <a:srgbClr val="5A6672"/>
                </a:solidFill>
                <a:latin typeface="Malgun Gothic"/>
              </a:rPr>
              <a:t>    –  결과가 몇 건인지가 아니라 어느 테이블을 통째로 읽는지를 먼저 본다</a:t>
            </a:r>
          </a:p>
          <a:p>
            <a:r>
              <a:rPr sz="1600" b="0">
                <a:solidFill>
                  <a:srgbClr val="5A6672"/>
                </a:solidFill>
                <a:latin typeface="Malgun Gothic"/>
              </a:rPr>
              <a:t>    –  큰 테이블의 Full Scan이 계획에 보이면 그것만으로 점검 대상이 된다</a:t>
            </a:r>
          </a:p>
          <a:p>
            <a:r>
              <a:rPr sz="1600" b="0">
                <a:solidFill>
                  <a:srgbClr val="5A6672"/>
                </a:solidFill>
                <a:latin typeface="Malgun Gothic"/>
              </a:rPr>
              <a:t>    –  반대로 작은 테이블의 Full Scan은 대개 문제 삼을 필요가 없다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선택도에 따른 접근 방식 전환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PK_MEDICAL_CLAIMS 범위 조회</a:t>
            </a:r>
          </a:p>
          <a:p>
            <a:r>
              <a:rPr sz="1600" b="0">
                <a:solidFill>
                  <a:srgbClr val="C5CED6"/>
                </a:solidFill>
                <a:latin typeface="Malgun Gothic"/>
              </a:rPr>
              <a:t>•  범위를 넓혀 가며 관찰한 실측 표</a:t>
            </a:r>
          </a:p>
          <a:p>
            <a:r>
              <a:rPr sz="1600" b="0">
                <a:solidFill>
                  <a:srgbClr val="C5CED6"/>
                </a:solidFill>
                <a:latin typeface="Malgun Gothic"/>
              </a:rPr>
              <a:t>•  Index-Only가 만드는 예외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관찰용 쿼리 — 범위 조회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PK_MEDICAL_CLAIMS(CLAIM_ID 기준)를 이용해 범위를 점점 넓혀 가며 관찰한다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SUM(total_amt) FROM medical_claims</a:t>
            </a:r>
          </a:p>
          <a:p>
            <a:r>
              <a:rPr sz="1250" b="0">
                <a:solidFill>
                  <a:srgbClr val="E6E6E6"/>
                </a:solidFill>
                <a:latin typeface="Consolas"/>
              </a:rPr>
              <a:t>WHERE claim_id BETWEEN '20240101-0000000' AND :end_id;</a:t>
            </a:r>
          </a:p>
          <a:p>
            <a:r>
              <a:rPr sz="1250" b="0">
                <a:solidFill>
                  <a:srgbClr val="E6E6E6"/>
                </a:solidFill>
                <a:latin typeface="Consolas"/>
              </a:rPr>
              <a:t> </a:t>
            </a:r>
          </a:p>
          <a:p>
            <a:r>
              <a:rPr sz="1250" b="0">
                <a:solidFill>
                  <a:srgbClr val="7EC699"/>
                </a:solidFill>
                <a:latin typeface="Consolas"/>
              </a:rPr>
              <a:t>-- :end_id만 바꿔 가며 대상 범위를 약 1일 → 1개월 → 6개월 → 11개월로 넓힌다</a:t>
            </a:r>
          </a:p>
          <a:p>
            <a:r>
              <a:rPr sz="1250" b="0">
                <a:solidFill>
                  <a:srgbClr val="7EC699"/>
                </a:solidFill>
                <a:latin typeface="Consolas"/>
              </a:rPr>
              <a:t>-- 인덱스는 새로 만들지 않는다 — 기존 PK_MEDICAL_CLAIMS만 사용</a:t>
            </a:r>
          </a:p>
          <a:p>
            <a:r>
              <a:rPr sz="1250" b="0">
                <a:solidFill>
                  <a:srgbClr val="7EC699"/>
                </a:solidFill>
                <a:latin typeface="Consolas"/>
              </a:rPr>
              <a:t>-- SELECT 절의 TOTAL_AMT는 PK 인덱스에 들어 있지 않은 컬럼이다</a:t>
            </a:r>
          </a:p>
          <a:p>
            <a:r>
              <a:rPr sz="1250" b="0">
                <a:solidFill>
                  <a:srgbClr val="7EC699"/>
                </a:solidFill>
                <a:latin typeface="Consolas"/>
              </a:rPr>
              <a:t>-- 따라서 인덱스로 찾은 행마다 테이블까지 가서 값을 읽어야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표 — 범위별 접근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MEDICAL_CLAIMS 전체 30만 건 중 대상 건수와 선택도, 그때의 접근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범위    |  대상 건수  | 선택도 |          Operation           | Buffers |</a:t>
            </a:r>
          </a:p>
          <a:p>
            <a:r>
              <a:rPr sz="1250" b="0">
                <a:solidFill>
                  <a:srgbClr val="E6E6E6"/>
                </a:solidFill>
                <a:latin typeface="Consolas"/>
              </a:rPr>
              <a:t>|-----------|-------------|--------|------------------------------|---------|</a:t>
            </a:r>
          </a:p>
          <a:p>
            <a:r>
              <a:rPr sz="1250" b="0">
                <a:solidFill>
                  <a:srgbClr val="E6E6E6"/>
                </a:solidFill>
                <a:latin typeface="Consolas"/>
              </a:rPr>
              <a:t>| 약 1일    |       838건 |   0.3% | TABLE ACCESS BY INDEX ROWID  |     731 |</a:t>
            </a:r>
          </a:p>
          <a:p>
            <a:r>
              <a:rPr sz="1250" b="0">
                <a:solidFill>
                  <a:srgbClr val="E6E6E6"/>
                </a:solidFill>
                <a:latin typeface="Consolas"/>
              </a:rPr>
              <a:t>|           |             |        |   BATCHED + INDEX RANGE SCAN |         |</a:t>
            </a:r>
          </a:p>
          <a:p>
            <a:r>
              <a:rPr sz="1250" b="0">
                <a:solidFill>
                  <a:srgbClr val="E6E6E6"/>
                </a:solidFill>
                <a:latin typeface="Consolas"/>
              </a:rPr>
              <a:t>| 약 1개월  |    25,406건 |   8.5% | TABLE ACCESS FULL            |   3,090 |</a:t>
            </a:r>
          </a:p>
          <a:p>
            <a:r>
              <a:rPr sz="1250" b="0">
                <a:solidFill>
                  <a:srgbClr val="E6E6E6"/>
                </a:solidFill>
                <a:latin typeface="Consolas"/>
              </a:rPr>
              <a:t>| 약 6개월  |   148,028건 |    49% | TABLE ACCESS FULL            |   3,090 |</a:t>
            </a:r>
          </a:p>
          <a:p>
            <a:r>
              <a:rPr sz="1250" b="0">
                <a:solidFill>
                  <a:srgbClr val="E6E6E6"/>
                </a:solidFill>
                <a:latin typeface="Consolas"/>
              </a:rPr>
              <a:t>| 약 11개월 | 274,000여건 |    91% | TABLE ACCESS FULL            |   3,090 |</a:t>
            </a:r>
          </a:p>
          <a:p>
            <a:r>
              <a:rPr sz="1250" b="0">
                <a:solidFill>
                  <a:srgbClr val="E6E6E6"/>
                </a:solidFill>
                <a:latin typeface="Consolas"/>
              </a:rPr>
              <a:t> </a:t>
            </a:r>
          </a:p>
          <a:p>
            <a:r>
              <a:rPr sz="1250" b="0">
                <a:solidFill>
                  <a:srgbClr val="7EC699"/>
                </a:solidFill>
                <a:latin typeface="Consolas"/>
              </a:rPr>
              <a:t>-- 838건에서는 인덱스를 썼고 25,406건부터는 Full Scan으로 전환됐다</a:t>
            </a:r>
          </a:p>
          <a:p>
            <a:r>
              <a:rPr sz="1250" b="0">
                <a:solidFill>
                  <a:srgbClr val="7EC699"/>
                </a:solidFill>
                <a:latin typeface="Consolas"/>
              </a:rPr>
              <a:t>-- 전환 이후로는 대상이 몇 배로 늘어도 Buffers가 3,090으로 고정이다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① 전환이 일어난 구간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838건(0.3%) — 인덱스를 사용했다</a:t>
            </a:r>
          </a:p>
          <a:p>
            <a:r>
              <a:rPr sz="1600" b="0">
                <a:solidFill>
                  <a:srgbClr val="5A6672"/>
                </a:solidFill>
                <a:latin typeface="Malgun Gothic"/>
              </a:rPr>
              <a:t>    –  TABLE ACCESS BY INDEX ROWID BATCHED + INDEX RANGE SCAN</a:t>
            </a:r>
          </a:p>
          <a:p>
            <a:r>
              <a:rPr sz="1600" b="0">
                <a:solidFill>
                  <a:srgbClr val="5A6672"/>
                </a:solidFill>
                <a:latin typeface="Malgun Gothic"/>
              </a:rPr>
              <a:t>    –  Buffers 731 — 필요한 블록만 골라 읽었다</a:t>
            </a:r>
          </a:p>
          <a:p>
            <a:r>
              <a:rPr sz="1800" b="0">
                <a:solidFill>
                  <a:srgbClr val="202830"/>
                </a:solidFill>
                <a:latin typeface="Malgun Gothic"/>
              </a:rPr>
              <a:t>•  25,406건(8.5%) — Full Scan으로 전환됐다</a:t>
            </a:r>
          </a:p>
          <a:p>
            <a:r>
              <a:rPr sz="1600" b="0">
                <a:solidFill>
                  <a:srgbClr val="5A6672"/>
                </a:solidFill>
                <a:latin typeface="Malgun Gothic"/>
              </a:rPr>
              <a:t>    –  Buffers 3,090 — 테이블 전체를 읽는 비용으로 바뀌었다</a:t>
            </a:r>
          </a:p>
          <a:p>
            <a:r>
              <a:rPr sz="1800" b="0">
                <a:solidFill>
                  <a:srgbClr val="202830"/>
                </a:solidFill>
                <a:latin typeface="Malgun Gothic"/>
              </a:rPr>
              <a:t>•  두 조회에서 사용 가능한 인덱스는 동일했다</a:t>
            </a:r>
          </a:p>
          <a:p>
            <a:r>
              <a:rPr sz="1600" b="0">
                <a:solidFill>
                  <a:srgbClr val="5A6672"/>
                </a:solidFill>
                <a:latin typeface="Malgun Gothic"/>
              </a:rPr>
              <a:t>    –  인덱스가 사라진 것이 아니라 옵티마이저가 쓰지 않기로 판단한 것</a:t>
            </a:r>
          </a:p>
          <a:p>
            <a:r>
              <a:rPr sz="1600" b="0">
                <a:solidFill>
                  <a:srgbClr val="5A6672"/>
                </a:solidFill>
                <a:latin typeface="Malgun Gothic"/>
              </a:rPr>
              <a:t>    –  판단의 근거는 통계정보로 계산한 양쪽 비용의 비교</a:t>
            </a:r>
          </a:p>
          <a:p>
            <a:r>
              <a:rPr sz="1800" b="0">
                <a:solidFill>
                  <a:srgbClr val="202830"/>
                </a:solidFill>
                <a:latin typeface="Malgun Gothic"/>
              </a:rPr>
              <a:t>•  이 사이 어딘가에 교차점이 있다</a:t>
            </a:r>
          </a:p>
          <a:p>
            <a:r>
              <a:rPr sz="1600" b="0">
                <a:solidFill>
                  <a:srgbClr val="5A6672"/>
                </a:solidFill>
                <a:latin typeface="Malgun Gothic"/>
              </a:rPr>
              <a:t>    –  정확한 경계는 데이터와 통계에 따라 달라진다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② Buffers가 고정되는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25,406건, 148,028건, 274,000여건 — 세 경우 모두 Buffers 3,090</a:t>
            </a:r>
          </a:p>
          <a:p>
            <a:r>
              <a:rPr sz="1600" b="0">
                <a:solidFill>
                  <a:srgbClr val="5A6672"/>
                </a:solidFill>
                <a:latin typeface="Malgun Gothic"/>
              </a:rPr>
              <a:t>    –  대상 건수는 10배 넘게 차이 나는데 블록 접근은 완전히 같다</a:t>
            </a:r>
          </a:p>
          <a:p>
            <a:r>
              <a:rPr sz="1800" b="0">
                <a:solidFill>
                  <a:srgbClr val="202830"/>
                </a:solidFill>
                <a:latin typeface="Malgun Gothic"/>
              </a:rPr>
              <a:t>•  4.5절에서 확인한 원칙이 그대로 재현된 것이다</a:t>
            </a:r>
          </a:p>
          <a:p>
            <a:r>
              <a:rPr sz="1600" b="0">
                <a:solidFill>
                  <a:srgbClr val="5A6672"/>
                </a:solidFill>
                <a:latin typeface="Malgun Gothic"/>
              </a:rPr>
              <a:t>    –  Full Scan은 테이블의 모든 블록을 읽는 작업이다</a:t>
            </a:r>
          </a:p>
          <a:p>
            <a:r>
              <a:rPr sz="1600" b="0">
                <a:solidFill>
                  <a:srgbClr val="5A6672"/>
                </a:solidFill>
                <a:latin typeface="Malgun Gothic"/>
              </a:rPr>
              <a:t>    –  조건에 몇 건이 걸리는지는 다 읽은 뒤의 문제일 뿐이다</a:t>
            </a:r>
          </a:p>
          <a:p>
            <a:r>
              <a:rPr sz="1800" b="0">
                <a:solidFill>
                  <a:srgbClr val="202830"/>
                </a:solidFill>
                <a:latin typeface="Malgun Gothic"/>
              </a:rPr>
              <a:t>•  두 축이 여기서 만난다</a:t>
            </a:r>
          </a:p>
          <a:p>
            <a:r>
              <a:rPr sz="1600" b="0">
                <a:solidFill>
                  <a:srgbClr val="5A6672"/>
                </a:solidFill>
                <a:latin typeface="Malgun Gothic"/>
              </a:rPr>
              <a:t>    –  4.5절은 테이블 크기가 다를 때의 비교였다</a:t>
            </a:r>
          </a:p>
          <a:p>
            <a:r>
              <a:rPr sz="1600" b="0">
                <a:solidFill>
                  <a:srgbClr val="5A6672"/>
                </a:solidFill>
                <a:latin typeface="Malgun Gothic"/>
              </a:rPr>
              <a:t>    –  4.6절은 같은 테이블에서 선택도만 바뀔 때의 비교다</a:t>
            </a:r>
          </a:p>
          <a:p>
            <a:r>
              <a:rPr sz="1600" b="0">
                <a:solidFill>
                  <a:srgbClr val="5A6672"/>
                </a:solidFill>
                <a:latin typeface="Malgun Gothic"/>
              </a:rPr>
              <a:t>    –  서로 다른 실험이 같은 원칙을 가리키므로 결론의 신뢰도가 올라간다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Index-Only — 예외가 생기는 지점</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같은 범위 조건인데 결과가 달라지는 경우가 있다</a:t>
            </a:r>
          </a:p>
          <a:p>
            <a:r>
              <a:rPr sz="1600" b="0">
                <a:solidFill>
                  <a:srgbClr val="5A6672"/>
                </a:solidFill>
                <a:latin typeface="Malgun Gothic"/>
              </a:rPr>
              <a:t>    –  COUNT(*)만 필요한 경우 — 테이블 컬럼 값을 읽을 필요가 없다</a:t>
            </a:r>
          </a:p>
          <a:p>
            <a:r>
              <a:rPr sz="1600" b="0">
                <a:solidFill>
                  <a:srgbClr val="5A6672"/>
                </a:solidFill>
                <a:latin typeface="Malgun Gothic"/>
              </a:rPr>
              <a:t>    –  이때는 148,028건(49%)에서도 인덱스만으로 처리되어 Buffers 910</a:t>
            </a:r>
          </a:p>
          <a:p>
            <a:r>
              <a:rPr sz="1800" b="0">
                <a:solidFill>
                  <a:srgbClr val="202830"/>
                </a:solidFill>
                <a:latin typeface="Malgun Gothic"/>
              </a:rPr>
              <a:t>•  왜 이런 차이가 생기는가</a:t>
            </a:r>
          </a:p>
          <a:p>
            <a:r>
              <a:rPr sz="1600" b="0">
                <a:solidFill>
                  <a:srgbClr val="5A6672"/>
                </a:solidFill>
                <a:latin typeface="Malgun Gothic"/>
              </a:rPr>
              <a:t>    –  인덱스에 이미 있는 정보만으로 답이 나오면 테이블에 갈 이유가 없다</a:t>
            </a:r>
          </a:p>
          <a:p>
            <a:r>
              <a:rPr sz="1600" b="0">
                <a:solidFill>
                  <a:srgbClr val="5A6672"/>
                </a:solidFill>
                <a:latin typeface="Malgun Gothic"/>
              </a:rPr>
              <a:t>    –  비용의 큰 몫을 차지하던 랜덤 접근 단계가 통째로 사라진다</a:t>
            </a:r>
          </a:p>
          <a:p>
            <a:r>
              <a:rPr sz="1800" b="0">
                <a:solidFill>
                  <a:srgbClr val="202830"/>
                </a:solidFill>
                <a:latin typeface="Malgun Gothic"/>
              </a:rPr>
              <a:t>•  결과적으로 교차점이 오른쪽으로 크게 밀린다</a:t>
            </a:r>
          </a:p>
          <a:p>
            <a:r>
              <a:rPr sz="1600" b="0">
                <a:solidFill>
                  <a:srgbClr val="5A6672"/>
                </a:solidFill>
                <a:latin typeface="Malgun Gothic"/>
              </a:rPr>
              <a:t>    –  선택도가 높아도 인덱스가 계속 유리할 수 있다는 뜻</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COUNT(*)처럼 테이블 컬럼 접근이 필요 없는 쿼리는 838건은 물론 148,028건(49%)에서도 인덱스만으로 처리되어 Buffers가 910에 그쳤다.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SELECT 절이 경계를 옮긴다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범위, 같은 인덱스, 다른 SELECT 절</a:t>
            </a:r>
          </a:p>
          <a:p>
            <a:r>
              <a:rPr sz="1600" b="0">
                <a:solidFill>
                  <a:srgbClr val="5A6672"/>
                </a:solidFill>
                <a:latin typeface="Malgun Gothic"/>
              </a:rPr>
              <a:t>    –  COUNT(*) — 49%에서도 인덱스 유지, Buffers 910</a:t>
            </a:r>
          </a:p>
          <a:p>
            <a:r>
              <a:rPr sz="1600" b="0">
                <a:solidFill>
                  <a:srgbClr val="5A6672"/>
                </a:solidFill>
                <a:latin typeface="Malgun Gothic"/>
              </a:rPr>
              <a:t>    –  SUM(total_amt) — 이미 8.5%에서 Full Scan으로 전환, Buffers 3,090</a:t>
            </a:r>
          </a:p>
          <a:p>
            <a:r>
              <a:rPr sz="1800" b="0">
                <a:solidFill>
                  <a:srgbClr val="202830"/>
                </a:solidFill>
                <a:latin typeface="Malgun Gothic"/>
              </a:rPr>
              <a:t>•  차이의 원인은 컬럼이 인덱스 안에 있는지 여부</a:t>
            </a:r>
          </a:p>
          <a:p>
            <a:r>
              <a:rPr sz="1600" b="0">
                <a:solidFill>
                  <a:srgbClr val="5A6672"/>
                </a:solidFill>
                <a:latin typeface="Malgun Gothic"/>
              </a:rPr>
              <a:t>    –  PK_MEDICAL_CLAIMS에는 CLAIM_ID만 들어 있고 TOTAL_AMT는 없다</a:t>
            </a:r>
          </a:p>
          <a:p>
            <a:r>
              <a:rPr sz="1600" b="0">
                <a:solidFill>
                  <a:srgbClr val="5A6672"/>
                </a:solidFill>
                <a:latin typeface="Malgun Gothic"/>
              </a:rPr>
              <a:t>    –  COUNT(*)는 행의 존재만 확인하면 되므로 인덱스로 완결된다</a:t>
            </a:r>
          </a:p>
          <a:p>
            <a:r>
              <a:rPr sz="1600" b="0">
                <a:solidFill>
                  <a:srgbClr val="5A6672"/>
                </a:solidFill>
                <a:latin typeface="Malgun Gothic"/>
              </a:rPr>
              <a:t>    –  SUM(total_amt)은 값을 읽으러 테이블까지 가야 한다</a:t>
            </a:r>
          </a:p>
          <a:p>
            <a:r>
              <a:rPr sz="1800" b="0">
                <a:solidFill>
                  <a:srgbClr val="202830"/>
                </a:solidFill>
                <a:latin typeface="Malgun Gothic"/>
              </a:rPr>
              <a:t>•  따라서 조회 컬럼이 바뀌면 최적 접근 방식의 경계도 바뀐다</a:t>
            </a:r>
          </a:p>
          <a:p>
            <a:r>
              <a:rPr sz="1600" b="0">
                <a:solidFill>
                  <a:srgbClr val="5A6672"/>
                </a:solidFill>
                <a:latin typeface="Malgun Gothic"/>
              </a:rPr>
              <a:t>    –  선택도 하나만 보고 접근 방식을 예측하면 틀릴 수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4.7~4.8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종합 — 판단 기준 만들기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선택도별 접근 방식 요약표</a:t>
            </a:r>
          </a:p>
          <a:p>
            <a:r>
              <a:rPr sz="1600" b="0">
                <a:solidFill>
                  <a:srgbClr val="C5CED6"/>
                </a:solidFill>
                <a:latin typeface="Malgun Gothic"/>
              </a:rPr>
              <a:t>•  절대적인 경계 숫자가 없는 이유</a:t>
            </a:r>
          </a:p>
          <a:p>
            <a:r>
              <a:rPr sz="1600" b="0">
                <a:solidFill>
                  <a:srgbClr val="C5CED6"/>
                </a:solidFill>
                <a:latin typeface="Malgun Gothic"/>
              </a:rPr>
              <a:t>•  원칙 적용 훈련과 다음 장 예고</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선택도별 접근 방식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앞의 두 실측을 하나의 표로 정리한 것 — 규칙이 아니라 관찰의 요약이다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선택도        |      접근 방식 경향       |       이번 챕터 근거       |</a:t>
            </a:r>
          </a:p>
          <a:p>
            <a:r>
              <a:rPr sz="1250" b="0">
                <a:solidFill>
                  <a:srgbClr val="E6E6E6"/>
                </a:solidFill>
                <a:latin typeface="Consolas"/>
              </a:rPr>
              <a:t>|----------------------|---------------------------|----------------------------|</a:t>
            </a:r>
          </a:p>
          <a:p>
            <a:r>
              <a:rPr sz="1250" b="0">
                <a:solidFill>
                  <a:srgbClr val="E6E6E6"/>
                </a:solidFill>
                <a:latin typeface="Consolas"/>
              </a:rPr>
              <a:t>| 매우 낮음(0.3% 수준) | Index Range Scan 유리     | 838건, Buffers 731         |</a:t>
            </a:r>
          </a:p>
          <a:p>
            <a:r>
              <a:rPr sz="1250" b="0">
                <a:solidFill>
                  <a:srgbClr val="E6E6E6"/>
                </a:solidFill>
                <a:latin typeface="Consolas"/>
              </a:rPr>
              <a:t>| 중간(8% 이상)        | Full Scan으로 전환        | 25,406건부터 Buffers 3,090 |</a:t>
            </a:r>
          </a:p>
          <a:p>
            <a:r>
              <a:rPr sz="1250" b="0">
                <a:solidFill>
                  <a:srgbClr val="E6E6E6"/>
                </a:solidFill>
                <a:latin typeface="Consolas"/>
              </a:rPr>
              <a:t>| Index-Only 처리 가능 | 49%에서도 인덱스 유지     | COUNT(*)류, Buffers 910    |</a:t>
            </a:r>
          </a:p>
          <a:p>
            <a:r>
              <a:rPr sz="1250" b="0">
                <a:solidFill>
                  <a:srgbClr val="E6E6E6"/>
                </a:solidFill>
                <a:latin typeface="Consolas"/>
              </a:rPr>
              <a:t>| 테이블 자체가 작음   | 선택도 무관하게 Full Scan | HOSPITALS, Buffers 15      |</a:t>
            </a:r>
          </a:p>
          <a:p>
            <a:r>
              <a:rPr sz="1250" b="0">
                <a:solidFill>
                  <a:srgbClr val="E6E6E6"/>
                </a:solidFill>
                <a:latin typeface="Consolas"/>
              </a:rPr>
              <a:t> </a:t>
            </a:r>
          </a:p>
          <a:p>
            <a:r>
              <a:rPr sz="1250" b="0">
                <a:solidFill>
                  <a:srgbClr val="7EC699"/>
                </a:solidFill>
                <a:latin typeface="Consolas"/>
              </a:rPr>
              <a:t>-- 위 두 행은 선택도 축, 아래 두 행은 그 축을 벗어나는 변수다</a:t>
            </a:r>
          </a:p>
          <a:p>
            <a:r>
              <a:rPr sz="1250" b="0">
                <a:solidFill>
                  <a:srgbClr val="7EC699"/>
                </a:solidFill>
                <a:latin typeface="Consolas"/>
              </a:rPr>
              <a:t>-- Index-Only 여부와 테이블 크기는 선택도와 독립적으로 작용한다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'몇 %부터'라는 숫자가 없는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교차점의 위치는 상황마다 다르다</a:t>
            </a:r>
          </a:p>
          <a:p>
            <a:r>
              <a:rPr sz="1600" b="0">
                <a:solidFill>
                  <a:srgbClr val="5A6672"/>
                </a:solidFill>
                <a:latin typeface="Malgun Gothic"/>
              </a:rPr>
              <a:t>    –  테이블과 인덱스의 크기 — 전체 블록 수가 다르면 기준선이 달라진다</a:t>
            </a:r>
          </a:p>
          <a:p>
            <a:r>
              <a:rPr sz="1600" b="0">
                <a:solidFill>
                  <a:srgbClr val="5A6672"/>
                </a:solidFill>
                <a:latin typeface="Malgun Gothic"/>
              </a:rPr>
              <a:t>    –  클러스터링 팩터 — 랜덤 접근이 얼마나 흩어지는지에 따라 곡선이 달라진다</a:t>
            </a:r>
          </a:p>
          <a:p>
            <a:r>
              <a:rPr sz="1600" b="0">
                <a:solidFill>
                  <a:srgbClr val="5A6672"/>
                </a:solidFill>
                <a:latin typeface="Malgun Gothic"/>
              </a:rPr>
              <a:t>    –  Index-Only 여부 — 테이블 접근 단계가 있는지 없는지</a:t>
            </a:r>
          </a:p>
          <a:p>
            <a:r>
              <a:rPr sz="1800" b="0">
                <a:solidFill>
                  <a:srgbClr val="202830"/>
                </a:solidFill>
                <a:latin typeface="Malgun Gothic"/>
              </a:rPr>
              <a:t>•  같은 테이블, 같은 인덱스에서도 달라진다</a:t>
            </a:r>
          </a:p>
          <a:p>
            <a:r>
              <a:rPr sz="1600" b="0">
                <a:solidFill>
                  <a:srgbClr val="5A6672"/>
                </a:solidFill>
                <a:latin typeface="Malgun Gothic"/>
              </a:rPr>
              <a:t>    –  SELECT 절이 바뀌면 경계가 함께 움직인다 — 4.6절에서 확인</a:t>
            </a:r>
          </a:p>
          <a:p>
            <a:r>
              <a:rPr sz="1800" b="0">
                <a:solidFill>
                  <a:srgbClr val="202830"/>
                </a:solidFill>
                <a:latin typeface="Malgun Gothic"/>
              </a:rPr>
              <a:t>•  그래서 옵티마이저는 규칙이 아니라 계산으로 판단한다</a:t>
            </a:r>
          </a:p>
          <a:p>
            <a:r>
              <a:rPr sz="1600" b="0">
                <a:solidFill>
                  <a:srgbClr val="5A6672"/>
                </a:solidFill>
                <a:latin typeface="Malgun Gothic"/>
              </a:rPr>
              <a:t>    –  매번 통계정보를 근거로 양쪽 비용을 산출해 비교한다</a:t>
            </a:r>
          </a:p>
          <a:p>
            <a:r>
              <a:rPr sz="1600" b="0">
                <a:solidFill>
                  <a:srgbClr val="5A6672"/>
                </a:solidFill>
                <a:latin typeface="Malgun Gothic"/>
              </a:rPr>
              <a:t>    –  우리가 할 일은 그 계산이 맞는지 실행계획으로 검증하는 것</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Scan이 유리한 상황 — 스스로 정의하기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조건 1 — 테이블 크기 관점</a:t>
            </a:r>
          </a:p>
          <a:p>
            <a:r>
              <a:rPr sz="1600" b="0">
                <a:solidFill>
                  <a:srgbClr val="5A6672"/>
                </a:solidFill>
                <a:latin typeface="Malgun Gothic"/>
              </a:rPr>
              <a:t>    –  전체 블록 수가 작아 통째로 읽는 비용의 절대값이 크지 않을 때</a:t>
            </a:r>
          </a:p>
          <a:p>
            <a:r>
              <a:rPr sz="1600" b="0">
                <a:solidFill>
                  <a:srgbClr val="5A6672"/>
                </a:solidFill>
                <a:latin typeface="Malgun Gothic"/>
              </a:rPr>
              <a:t>    –  인덱스를 거치는 추가 단계의 오버헤드가 그 이득보다 클 때</a:t>
            </a:r>
          </a:p>
          <a:p>
            <a:r>
              <a:rPr sz="1800" b="0">
                <a:solidFill>
                  <a:srgbClr val="202830"/>
                </a:solidFill>
                <a:latin typeface="Malgun Gothic"/>
              </a:rPr>
              <a:t>•  조건 2 — 선택도 관점</a:t>
            </a:r>
          </a:p>
          <a:p>
            <a:r>
              <a:rPr sz="1600" b="0">
                <a:solidFill>
                  <a:srgbClr val="5A6672"/>
                </a:solidFill>
                <a:latin typeface="Malgun Gothic"/>
              </a:rPr>
              <a:t>    –  조건을 만족하는 행의 비율이 높아 어차피 대부분을 읽어야 할 때</a:t>
            </a:r>
          </a:p>
          <a:p>
            <a:r>
              <a:rPr sz="1600" b="0">
                <a:solidFill>
                  <a:srgbClr val="5A6672"/>
                </a:solidFill>
                <a:latin typeface="Malgun Gothic"/>
              </a:rPr>
              <a:t>    –  랜덤 접근이 누적되는 비용이 순차 읽기 비용을 넘어설 때</a:t>
            </a:r>
          </a:p>
          <a:p>
            <a:r>
              <a:rPr sz="1800" b="0">
                <a:solidFill>
                  <a:srgbClr val="202830"/>
                </a:solidFill>
                <a:latin typeface="Malgun Gothic"/>
              </a:rPr>
              <a:t>•  예외 조건 — 필요한 컬럼이 인덱스 안에 있는가</a:t>
            </a:r>
          </a:p>
          <a:p>
            <a:r>
              <a:rPr sz="1600" b="0">
                <a:solidFill>
                  <a:srgbClr val="5A6672"/>
                </a:solidFill>
                <a:latin typeface="Malgun Gothic"/>
              </a:rPr>
              <a:t>    –  조건 2를 만족해도 Index-Only면 여전히 인덱스가 유리할 수 있다</a:t>
            </a:r>
          </a:p>
          <a:p>
            <a:r>
              <a:rPr sz="1600" b="0">
                <a:solidFill>
                  <a:srgbClr val="5A6672"/>
                </a:solidFill>
                <a:latin typeface="Malgun Gothic"/>
              </a:rPr>
              <a:t>    –  세 변수는 독립적이지 않고 함께 고려해야 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조건 2를 만족하더라도 쿼리가 인덱스에 포함된 컬럼만 필요로 한다면 여전히 인덱스가 유리할 수 있다 — 두 조건은 독립적으로 작용하지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원칙 적용 훈련 — REVIEW_LOG 사례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상황 — REVIEW_LOG에서 REVIEWER_ID = 'SYSTEM'인 행을 찾는다</a:t>
            </a:r>
          </a:p>
          <a:p>
            <a:r>
              <a:rPr sz="1600" b="0">
                <a:solidFill>
                  <a:srgbClr val="5A6672"/>
                </a:solidFill>
                <a:latin typeface="Malgun Gothic"/>
              </a:rPr>
              <a:t>    –  REVIEW_LOG는 50만 건 — HOSPITALS보다 훨씬 크고 CLAIM_DETAILS와 비슷한 규모</a:t>
            </a:r>
          </a:p>
          <a:p>
            <a:r>
              <a:rPr sz="1600" b="0">
                <a:solidFill>
                  <a:srgbClr val="5A6672"/>
                </a:solidFill>
                <a:latin typeface="Malgun Gothic"/>
              </a:rPr>
              <a:t>    –  해당 값이 전체의 약 40%로 추정된다</a:t>
            </a:r>
          </a:p>
          <a:p>
            <a:r>
              <a:rPr sz="1600" b="0">
                <a:solidFill>
                  <a:srgbClr val="5A6672"/>
                </a:solidFill>
                <a:latin typeface="Malgun Gothic"/>
              </a:rPr>
              <a:t>    –  해당 컬럼에 인덱스는 없는 상태다</a:t>
            </a:r>
          </a:p>
          <a:p>
            <a:r>
              <a:rPr sz="1800" b="0">
                <a:solidFill>
                  <a:srgbClr val="202830"/>
                </a:solidFill>
                <a:latin typeface="Malgun Gothic"/>
              </a:rPr>
              <a:t>•  이 장의 원칙을 적용한 예측</a:t>
            </a:r>
          </a:p>
          <a:p>
            <a:r>
              <a:rPr sz="1600" b="0">
                <a:solidFill>
                  <a:srgbClr val="5A6672"/>
                </a:solidFill>
                <a:latin typeface="Malgun Gothic"/>
              </a:rPr>
              <a:t>    –  크기 축 — 작은 테이블이 아니므로 크기만으로는 Full Scan을 정당화할 수 없다</a:t>
            </a:r>
          </a:p>
          <a:p>
            <a:r>
              <a:rPr sz="1600" b="0">
                <a:solidFill>
                  <a:srgbClr val="5A6672"/>
                </a:solidFill>
                <a:latin typeface="Malgun Gothic"/>
              </a:rPr>
              <a:t>    –  선택도 축 — 약 40%는 이번 챕터에서 전환이 관찰된 구간을 크게 웃돈다</a:t>
            </a:r>
          </a:p>
          <a:p>
            <a:r>
              <a:rPr sz="1800" b="0">
                <a:solidFill>
                  <a:srgbClr val="202830"/>
                </a:solidFill>
                <a:latin typeface="Malgun Gothic"/>
              </a:rPr>
              <a:t>•  결론 — TABLE ACCESS FULL로 처리될 것으로 예상하는 것이 합리적이다</a:t>
            </a:r>
          </a:p>
          <a:p>
            <a:r>
              <a:rPr sz="1600" b="0">
                <a:solidFill>
                  <a:srgbClr val="5A6672"/>
                </a:solidFill>
                <a:latin typeface="Malgun Gothic"/>
              </a:rPr>
              <a:t>    –  설령 인덱스가 있었더라도 같은 판단이 나올 가능성이 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Chapter 5 예고 — 인덱스 설계로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장에서 다룬 것 — 이미 있는 인덱스를 쓸지 말지의 판단</a:t>
            </a:r>
          </a:p>
          <a:p>
            <a:r>
              <a:rPr sz="1600" b="0">
                <a:solidFill>
                  <a:srgbClr val="5A6672"/>
                </a:solidFill>
                <a:latin typeface="Malgun Gothic"/>
              </a:rPr>
              <a:t>    –  인덱스를 새로 만들지 않고 접근 방식의 선택만 관찰했다</a:t>
            </a:r>
          </a:p>
          <a:p>
            <a:r>
              <a:rPr sz="1800" b="0">
                <a:solidFill>
                  <a:srgbClr val="202830"/>
                </a:solidFill>
                <a:latin typeface="Malgun Gothic"/>
              </a:rPr>
              <a:t>•  다음 장에서 다룰 것 — 인덱스를 어떻게 만들 것인가</a:t>
            </a:r>
          </a:p>
          <a:p>
            <a:r>
              <a:rPr sz="1600" b="0">
                <a:solidFill>
                  <a:srgbClr val="5A6672"/>
                </a:solidFill>
                <a:latin typeface="Malgun Gothic"/>
              </a:rPr>
              <a:t>    –  선택도를 인덱스 설계에 어떻게 반영하는지</a:t>
            </a:r>
          </a:p>
          <a:p>
            <a:r>
              <a:rPr sz="1600" b="0">
                <a:solidFill>
                  <a:srgbClr val="5A6672"/>
                </a:solidFill>
                <a:latin typeface="Malgun Gothic"/>
              </a:rPr>
              <a:t>    –  컬럼 순서와 결합 인덱스의 판단 기준</a:t>
            </a:r>
          </a:p>
          <a:p>
            <a:r>
              <a:rPr sz="1800" b="0">
                <a:solidFill>
                  <a:srgbClr val="202830"/>
                </a:solidFill>
                <a:latin typeface="Malgun Gothic"/>
              </a:rPr>
              <a:t>•  이번 장의 개념이 다음 장의 전제가 된다</a:t>
            </a:r>
          </a:p>
          <a:p>
            <a:r>
              <a:rPr sz="1600" b="0">
                <a:solidFill>
                  <a:srgbClr val="5A6672"/>
                </a:solidFill>
                <a:latin typeface="Malgun Gothic"/>
              </a:rPr>
              <a:t>    –  선택도를 모르면 어떤 컬럼을 인덱스 선두에 둘지 판단할 수 없다</a:t>
            </a:r>
          </a:p>
          <a:p>
            <a:r>
              <a:rPr sz="1600" b="0">
                <a:solidFill>
                  <a:srgbClr val="5A6672"/>
                </a:solidFill>
                <a:latin typeface="Malgun Gothic"/>
              </a:rPr>
              <a:t>    –  Index-Only의 이점을 모르면 커버링 설계를 떠올릴 수 없다</a:t>
            </a:r>
          </a:p>
          <a:p>
            <a:r>
              <a:rPr sz="1600" b="0">
                <a:solidFill>
                  <a:srgbClr val="5A6672"/>
                </a:solidFill>
                <a:latin typeface="Malgun Gothic"/>
              </a:rPr>
              <a:t>    –  클러스터링 팩터를 모르면 인덱스가 기대만큼 안 빠른 이유를 설명할 수 없다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Full Scan 비용은 결과 건수가 아니라 테이블 크기에 비례한다</a:t>
            </a:r>
          </a:p>
          <a:p>
            <a:r>
              <a:rPr sz="1800" b="0">
                <a:solidFill>
                  <a:srgbClr val="202830"/>
                </a:solidFill>
                <a:latin typeface="Malgun Gothic"/>
              </a:rPr>
              <a:t>•  Index Range Scan 비용은 결과 건수와 랜덤 접근에 비례한다</a:t>
            </a:r>
          </a:p>
          <a:p>
            <a:r>
              <a:rPr sz="1800" b="0">
                <a:solidFill>
                  <a:srgbClr val="202830"/>
                </a:solidFill>
                <a:latin typeface="Malgun Gothic"/>
              </a:rPr>
              <a:t>•  두 비용 곡선이 교차하는 지점이 있고 옵티마이저는 그것을 계산으로 추정한다</a:t>
            </a:r>
          </a:p>
          <a:p>
            <a:r>
              <a:rPr sz="1800" b="0">
                <a:solidFill>
                  <a:srgbClr val="202830"/>
                </a:solidFill>
                <a:latin typeface="Malgun Gothic"/>
              </a:rPr>
              <a:t>•  선택도가 낮으면 인덱스, 높으면 Full Scan이 유리한 경향이 있다</a:t>
            </a:r>
          </a:p>
          <a:p>
            <a:r>
              <a:rPr sz="1800" b="0">
                <a:solidFill>
                  <a:srgbClr val="202830"/>
                </a:solidFill>
                <a:latin typeface="Malgun Gothic"/>
              </a:rPr>
              <a:t>•  인덱스가 있어도 옵티마이저가 쓰지 않기로 판단할 수 있다</a:t>
            </a:r>
          </a:p>
          <a:p>
            <a:r>
              <a:rPr sz="1800" b="0">
                <a:solidFill>
                  <a:srgbClr val="202830"/>
                </a:solidFill>
                <a:latin typeface="Malgun Gothic"/>
              </a:rPr>
              <a:t>•  Index-Only 쿼리는 선택도가 높아도 인덱스가 계속 유리할 수 있다</a:t>
            </a:r>
          </a:p>
          <a:p>
            <a:r>
              <a:rPr sz="1800" b="0">
                <a:solidFill>
                  <a:srgbClr val="202830"/>
                </a:solidFill>
                <a:latin typeface="Malgun Gothic"/>
              </a:rPr>
              <a:t>•  작은 테이블은 인덱스 유무와 무관하게 Full Scan이 저렴한 경우가 많다</a:t>
            </a:r>
          </a:p>
          <a:p>
            <a:r>
              <a:rPr sz="1800" b="0">
                <a:solidFill>
                  <a:srgbClr val="202830"/>
                </a:solidFill>
                <a:latin typeface="Malgun Gothic"/>
              </a:rPr>
              <a:t>•  정확한 교차점은 데이터·인덱스·쿼리 특성마다 다르므로 실행계획으로 확인한다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SQL튜닝_Ch04_문제.md</a:t>
            </a:r>
          </a:p>
          <a:p>
            <a:r>
              <a:rPr sz="1600" b="0">
                <a:solidFill>
                  <a:srgbClr val="5A6672"/>
                </a:solidFill>
                <a:latin typeface="Malgun Gothic"/>
              </a:rPr>
              <a:t>    –  1번  결과가 적은데 Buffers가 큰 이유 — Full Scan 비용 구조</a:t>
            </a:r>
          </a:p>
          <a:p>
            <a:r>
              <a:rPr sz="1600" b="0">
                <a:solidFill>
                  <a:srgbClr val="5A6672"/>
                </a:solidFill>
                <a:latin typeface="Malgun Gothic"/>
              </a:rPr>
              <a:t>    –  2번  인덱스가 있어도 쓰지 않는 경우의 설명</a:t>
            </a:r>
          </a:p>
          <a:p>
            <a:r>
              <a:rPr sz="1600" b="0">
                <a:solidFill>
                  <a:srgbClr val="5A6672"/>
                </a:solidFill>
                <a:latin typeface="Malgun Gothic"/>
              </a:rPr>
              <a:t>    –  3번  건수가 달라도 Buffers가 동일한 이유</a:t>
            </a:r>
          </a:p>
          <a:p>
            <a:r>
              <a:rPr sz="1600" b="0">
                <a:solidFill>
                  <a:srgbClr val="5A6672"/>
                </a:solidFill>
                <a:latin typeface="Malgun Gothic"/>
              </a:rPr>
              <a:t>    –  4·6번  COUNT(*)와 SUM(total_amt)의 차이, 선택도 단일 규칙에 대한 반박</a:t>
            </a:r>
          </a:p>
          <a:p>
            <a:r>
              <a:rPr sz="1600" b="0">
                <a:solidFill>
                  <a:srgbClr val="5A6672"/>
                </a:solidFill>
                <a:latin typeface="Malgun Gothic"/>
              </a:rPr>
              <a:t>    –  5번  선택도와 카디널리티의 정의 및 사례별 계산</a:t>
            </a:r>
          </a:p>
          <a:p>
            <a:r>
              <a:rPr sz="1600" b="0">
                <a:solidFill>
                  <a:srgbClr val="5A6672"/>
                </a:solidFill>
                <a:latin typeface="Malgun Gothic"/>
              </a:rPr>
              <a:t>    –  7번  이미 저렴한 작은 테이블에 인덱스를 추가하는 것의 손익</a:t>
            </a:r>
          </a:p>
          <a:p>
            <a:r>
              <a:rPr sz="1600" b="0">
                <a:solidFill>
                  <a:srgbClr val="5A6672"/>
                </a:solidFill>
                <a:latin typeface="Malgun Gothic"/>
              </a:rPr>
              <a:t>    –  8번  교차점을 하나의 숫자로 단정할 수 없는 이유</a:t>
            </a:r>
          </a:p>
          <a:p>
            <a:r>
              <a:rPr sz="1600" b="0">
                <a:solidFill>
                  <a:srgbClr val="5A6672"/>
                </a:solidFill>
                <a:latin typeface="Malgun Gothic"/>
              </a:rPr>
              <a:t>    –  9·10번  REVIEW_LOG 사례 예측과 Full Scan 유리 조건의 정의</a:t>
            </a:r>
          </a:p>
          <a:p>
            <a:r>
              <a:rPr sz="1800" b="0">
                <a:solidFill>
                  <a:srgbClr val="202830"/>
                </a:solidFill>
                <a:latin typeface="Malgun Gothic"/>
              </a:rPr>
              <a:t>•  실습 전 확인 — 이번 장은 인덱스를 신규 생성하지 않는다</a:t>
            </a:r>
          </a:p>
          <a:p>
            <a:r>
              <a:rPr sz="1600" b="0">
                <a:solidFill>
                  <a:srgbClr val="5A6672"/>
                </a:solidFill>
                <a:latin typeface="Malgun Gothic"/>
              </a:rPr>
              <a:t>    –  인덱스나 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
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인스턴스 튜닝을 하나의 반복 순환으로 제시한다. 강조할 점은 네 단계의 순서 자체다. 통계를 먼저 열지 않고 문제 정의부터 시작하는 이유는, 목표와 기준선이 없으면 이후 어떤 조치도 성공 여부를 증명할 수 없기 때문이다. 세 번째 단계에서 한 번에 하나만 바꾸라는 원칙은, 여러 변경을 동시에 하면 무엇이 효과였는지 영영 알 수 없다는 실무 경험에서 나온다. 네 단계가 이 장의 V$ 경로와 어떻게 대응하는지도 함께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정의 단계에서 수집하는 다섯 가지를 하나씩 설명한다. 특히 정량화가 중요한데, 여기서 확보한 재현 가능한 수치가 나중에 조치가 실제로 개선을 만들었는지 판정하는 유일한 기준이 되기 때문이다. 증상과 원인의 구분도 이 단계의 핵심 태도다. 물리 읽기가 느린 것은 증상이고 그 뒤에 비효율 SQL이 있을 수 있으며, 대기 이벤트조차 어디를 볼지 알려 주는 이정표일 뿐 그 자체가 고칠 대상은 아니라는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단계는 두 층위를 교차한다는 점이 핵심이다. OS 통계가 시작점을 알려 주지만, 인스턴스를 튜닝하려면 DB 관점에서 자원 병목을 확인한 뒤에 조치한다. I/O 문제는 V$SYSTEM_EVENT에서 상위 대기가 db file 계열인지 보고, 어느 파일이 뜨거운지 V$IOSTAT_FILE의 단일 블록 읽기 지연으로 짚는다. CPU 시간과 실시간이 다르다는 점, 즉 CPU 8개면 실시간 1분당 CPU 8분이 있다는 계산 감각도 함께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변경과 측정 단계에서 가장 흔한 실수는 여러 변경을 한꺼번에 밀어 넣는 것이다. 그러면 무엇이 효과였는지 알 수 없어 재발 시 우선순위를 정할 수 없다. 성능 튜닝이 반복 과정이라는 점, 은탄환은 대개 없고 하나의 병목을 없애면 가려져 있던 다른 병목이 드러난다는 점을 강조한다. 언제 멈출지 아는 것도 실력이며, 척도는 이상적 통계값이 아니라 사용자 체감이라는 점으로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경로의 논리를 설명하는 슬라이드다. 핵심은 좁은 입구라는 비유다. V$SYSSTAT을 먼저 열면 수백 개의 통계가 쏟아지지만 무엇이 지금 문제와 관련 있는지 알 수 없다. 반면 활성 세션에서 시작하면 실제로 자원을 붙들고 있는 소수만 남는다. AWR·ADDM이 하향식으로 DB Time을 분해한다면, V$ 실시간 진단은 활성 세션이라는 좁은 입구로 들어가는 상향식 접근이다. 두 방식은 대립이 아니라 상황에 따라 고르는 도구임을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V$SESSION은 진단의 출발점이다. status가 ACTIVE인 지금 일하는 세션만 추리고, 그 세션이 무슨 SQL을 물고 무엇을 기다리는지 본다. 유용한 열들을 소개하는데, 특히 BLOCKING_SESSION은 잠금 경합에서 누가 누구를 막는지 한눈에 보여 주고 ROW_WAIT_OBJ#는 경합 객체 이름을 얻는 열쇠다. 첫 화면에서 이 열들을 함께 뽑아 두면 뒤의 세 칸으로 넘어갈 실마리를 한 번에 확보한다는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실측에서 곧바로 함정이 드러난다. 두 세션이 ACTIVE인데도 대기 이벤트가 SQL*Net message from client이고 대기 클래스가 Idle이다. 이는 서버가 클라이언트의 다음 명령을 기다리는 유휴 상태로 병목이 아니다. 초심자는 이 이벤트를 네트워크 병목으로 지목하기 쉽지만 Idle 클래스는 진단에서 걸러 낸다. 다만 두 세션이 같은 SQL_ID 9vmszgd1ft9x0을 최근 실행했다는 사실은 다음 SQL 칸으로 넘어갈 실마리가 된다는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칸의 원칙은 순서다. 대기 시간이 가장 큰 이벤트가 다음에 조사할 곳을 가리킨다. V$SESSION_WAIT은 현재 상태 뷰라 P1·P2·P3 세 파라미터로 대기 대상을 세밀하게 특정한다. 이웃 뷰들의 역할 차이도 정리한다. 현재 상태를 보는 WAIT 계열과, 세션·인스턴스 누적을 요약하는 EVENT·SYSTEM_EVENT 계열이다. AWR은 바로 V$SYSTEM_EVENT를 주기적으로 떠서 구간 보고서를 만드는데, 라이선스가 없으면 우리가 두 시점을 직접 떠서 그 역할을 대신한다.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칸은 원인 문장을 확정하는 단계다. 세션에서 얻은 SQL_ID로 V$SQL을 조회하면 전체 문장과 실행·논리읽기·실행시간 통계가 나와, 그 세션이 붙들던 문장의 정체와 비용을 곧바로 확인한다. V$SQL과 V$SQLAREA의 차이, 즉 자식 커서 단위와 부모 요약 단위의 구분을 설명한다. 부하 중에는 커서가 캐시에서 밀려나 값이 순간순간 변하므로, 상위 SQL도 두 번 떠서 그 사이의 델타로 이 구간에 실제로 무거웠던 문장을 가려낸다는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화면에 이 장의 두 교훈이 모두 있다. 1위 9vmszgd1ft9x0은 실행 1,290회에 논리읽기 849만으로 압도적이고 실행당 6,585 블록을 읽는다. sql_text의 full 힌트가 강제 풀 스캔을 만든 원인이다. 총량으로도 실행당으로도 나쁜 진짜 상위 부하다. 반면 아래 여섯 줄은 sql_text가 사실상 같은데 SQL_ID가 제각각이다. 바인드 없이 리터럴을 박아 커서를 공유 못 하고 매번 하드 파싱된 흔적으로, 절대값 순위표만 보면 놓치는 진짜 문제다.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칸은 세그먼트다. 대기와 SQL로 방향이 잡히면 어느 테이블·인덱스가 부하의 진원지인지 세그먼트 수준 통계로 특정한다. V$SEGSTAT은 실시간 모니터링에 가볍고, V$SEGMENT_STATISTICS는 소유자·테이블스페이스까지 붙인 읽기 좋은 뷰다. 이 칸이 채워지면 세션 692가 Idle을 걸러 낸 뒤 9vmsz 문장을 돌렸고, 그 문장이 MEDICAL_CLAIMS를 풀 스캔하며, 그 테이블이 세그먼트 논리읽기 1위라는 한 줄의 인과가 완성되어 조치 대상이 확정된다.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두 번째 메시지를 담는다. V$SYSSTAT의 값은 거의 모두 기동 이후 누적이라, 절대 크기만으로 많다 적다를 말할 수 없다. session logical reads가 3억 5천만이라는 사실은 그 값이 언제부터 쌓였는지 모르면 아무 의미가 없다. 올바른 방법은 두 시점을 떠서 델타를 구하고 경과 시간으로 나누는 것이다. 분모를 초로 두면 처리량 변화가, 트랜잭션 수로 두면 한 건의 무게 변화가 보인다는 점을 미리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실측값들을 교차로 읽는 법을 설명한다. physical reads 70,100은 session logical reads 3.56억에 비하면 극히 작아, 논리읽기의 대부분이 캐시에서 해결됐음을 뜻한다. sorts disk가 0이고 sorts memory가 60,198이면 정렬이 전부 메모리에서 끝났다는 긍정 신호다. 다만 이 값들은 모두 누적이라 그 자체로는 판정 근거가 아니며, 다음 슬라이드에서 델타를 구해야 비로소 초당 부하율이 된다는 점을 예고한다. parse count의 하드·총 비율은 뒤에서 따로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델타 계산의 절차를 보여 주는 슬라이드다. 두 번째 값은 학습자 환경에 따라 달라지는 환경값으로 표기했다. 강조할 점은 특정 숫자를 외우는 것이 아니라 누적값 두 개를 빼고 경과 시간으로 나눈다는 절차와, 그렇게 얻은 초당 비율만이 판정 근거가 된다는 원칙이다. 진단은 하나의 숫자를 화면에서 읽는 것으로 끝나지 않고, 두 번 읽어 빼는 데서 비로소 시작한다는 이 장의 태도를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부하 통계를 볼 때는 어느 것을 어떤 분모로 정규화하는지가 해석을 좌우한다. session logical reads는 작업량의 대표 지표이고 user commits는 트랜잭션당 정규화의 분모가 된다. 트랜잭션당 논리읽기가 기준선보다 커졌다면 같은 한 건의 업무가 더 많은 블록을 읽는다는 뜻으로, 실행계획 악화나 데이터량 증가를 의심한다. sorts disk가 상당수면 PGA 작업 영역 부족을 의심해 ch33으로 넘어간다는 연결도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정규화의 분모를 무엇으로 두느냐가 방향을 정한다. 경과 초로 나누면 인스턴스가 초당 더 많은 일을 하는가라는 처리량 변화가, user commits로 나누면 한 건의 업무가 무거워졌는가라는 애플리케이션 특성 변화가 보인다. AWR 보고서의 Load Profile 섹션이 바로 이 두 정규화를 나란히 보여 주는데, 라이선스가 없으면 V$SYSSTAT 델타로 같은 표를 손으로 만들면 된다. 총 바이트로 초당 I/O 부하를 구해 OS 통계와 교차 검증하는 법도 소개한다.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실측의 두 데이터를 하나로 잇는다. 하드 파싱 비율 60.6%는 심각하게 높은 값이다. 이상적으로는 한 SQL이 세션마다 한 번 소프트 파싱되고 여러 번 실행돼야 한다. 이 수치의 원인은 앞서 본 여섯 개의 리터럴 SQL이다. sql_text는 같은데 SQL_ID가 다른 것은 바인드 없이 리터럴을 박아 커서를 공유 못 한 흔적이다. 절대값 상위 SQL 화면만 봤다면 놓쳤을 문제가 파싱 비율이라는 파생 지표에서 드러난다는 점, 조치는 바인드 변수라는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성능 문제가 대기 이벤트로 드러나는 것은 아니다. 대응하는 대기 없이 V$SYSSTAT 통계로만 보이는 문제들을 소개한다. redo log space requests가 크면 로그 버퍼가 아니라 체크포인트·DBWR·아카이버를 튜닝해야 한다. table fetch continued row는 이행·연결 행 문제로 1%를 넘으면 조사한다. 읽기 일관성 비용은 작은 트랜잭션이 많고 장기 질의가 겹칠 때 나타나며 자동 실행 취소 관리가 해법이다. 이들도 델타·비율로 읽는다는 원칙은 동일하다.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V$SQL에서 상위의 정의는 정렬 기준에 따라 달라진다. 대표 기준 셋을 설명한다. elapsed_time은 실제로 시간을 가장 많이 쓴 문장, buffer_gets는 CPU와 캐시를 많이 두드린 문장, executions는 가장 자주 불린 문장을 잡는다. 어느 하나만 보면 왜곡되므로 세 기준으로 각각 상위를 뽑아 교차한다. 특히 buffer_gets를 executions로 나눈 실행당 비용을 반드시 함께 봐야 문장 자체의 효율이 드러난다는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총량이 큰 문장에는 두 부류가 있고 조치가 다르다. 실행당 비용이 큰 무거운 문장은 SQL·인덱스·계획을 고치고, 실행당은 가볍지만 너무 자주 불리는 문장은 호출 횟수 자체를 줄인다. 그래서 실행당 비용을 반드시 함께 본다. 실측 1위 9vmsz는 총량도 실행당도 커서 두 축 모두 나쁜 진짜 상위 부하다. 한편 elapsed_time 순위와 buffer_gets 순위가 어긋나면, 그 문장은 CPU가 아니라 I/O 대기가 문제라는 단서가 된다는 점도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경계하는 대표적 오판은 절대값 기준 상위 SQL 선별이다. 위험한 이유는 틀린 답이 아니라 그럴듯한 답을 주기 때문이다. buffer_gets 1·2위를 튜닝하면 그 문장은 실제로 빨라지고 조치가 성공한 것처럼 보인다. 그러나 하드 파싱 60.6%가 만든 공유 풀·라이브러리 캐시 래치 경합은 그대로 남아 피크 성능은 나아지지 않는다. 절대값 순위표는 가장 무거운 문장은 보여 주지만 가장 많은 문장이 공유되지 못하는 문제는 못 본다. 그래서 시그니처로 묶어 재평가한다.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모든 조회가 향하는 하나의 태도를 정리한다. 절대값은 판정 근거가 아니다. 세 오판을 든다. 누적값을 그냥 많다고 단정하는 것, buffer_gets 절대값 상위만 손대는 것, 부하 증가로 통계가 커진 것을 성능 저하로 오독하는 것이다. ch15에서 경계한 히트율 신앙도 같은 부류다. 나쁜 SQL이 같은 블록을 반복 논리읽기하면 히트율이 오히려 오른다. 이 오판들의 공통 뿌리는 맥락 없는 숫자에 의미를 부여하는 조급함이라는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오판을 수치로 보여 준다. 오후에 통계가 전부 커졌다고 느려졌다고 결론짓기 쉽지만, 사용자가 몰려 초당 실행이 늘면 모든 누적 통계가 커지는 것은 당연하다. 이는 부하 증가이지 성능 저하가 아니다. 둘을 가르는 열쇠는 트랜잭션당 정규화다. 예시에서 총량은 3배지만 트랜잭션당 논리읽기는 1,000으로 동일하니 성능 저하가 아니다. 만약 트랜잭션당이 3,000으로 뛰었다면 한 건이 무거워진 것이고 그때가 진짜 튜닝 대상이라는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교정 원칙을 한 표로 정리하는 슬라이드다. 각 절대값에 대해 그대로 믿을 때의 오판과 올바른 정규화를 짝지어 보여 준다. 세 오판의 공통 뿌리는 하나의 숫자를 한 번 읽고 판정하려는 조급함이다. 성능 통계는 흐름 위의 한 점이며 점 하나로는 기울기를 알 수 없다. 진단은 언제나 최소 두 점을 찍어 그 사이를 재는 일이라는 태도가 몸에 배면, 화면의 큰 숫자에 놀라 엉뚱한 곳을 손대는 일이 사라진다는 점으로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핵심 메시지 AWR이 없어도 진단은 가능하다의 실체를 정리한다. 이 장의 모든 조회는 관리 팩 라이선스가 필요 없다. V$ 뷰는 인스턴스 메모리를 그대로 비추는 창이라 언제나 조회할 수 있다. 반면 과거를 재구성하는 DBA_HIST 계열과 AWR·ADDM·ASH는 Diagnostics Pack이 필요하다. 라이선스가 없는 현장은 많고 개발·스테이징에는 특히 없다. 그런 환경에서 이 장의 V$ 경로를 쓰면, AWR이 자동화하던 구간 정규화를 손으로 할 뿐 진단의 논리는 완전히 동일하다는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 싶은 것마다 라이선스 없이 보는 법을 짝지어 정리하는 슬라이드다. 지금 이 순간의 활성 세션·대기·상위 SQL·구간 부하율은 모두 V$로 무료로 본다. 과거 구간 재구성은 원래 AWR이 하지만 라이선스가 없으면 무상 Statspack 보고서로 대체하고, 과거 스파이크 포착은 ASH 대신 부하 중 V$SESSION을 반복 샘플링해 근사한다. 다만 DBA_HIST를 무심코 조회하면 Diagnostics Pack 사용으로 집계될 수 있으니 라이선스가 없으면 실시간 V$만 쓴다는 주의를 반드시 곁들인다.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400"/>
              </a:spcAft>
            </a:pPr>
            <a:r>
              <a:rPr sz="3400" b="1">
                <a:solidFill>
                  <a:srgbClr val="C0392B"/>
                </a:solidFill>
                <a:latin typeface="맑은 고딕"/>
                <a:ea typeface="맑은 고딕"/>
              </a:rPr>
              <a:t>V$ 인스턴스 튜닝 ① — 절차와 통계 해석</a:t>
            </a:r>
          </a:p>
          <a:p>
            <a:pPr algn="l">
              <a:spcAft>
                <a:spcPts val="400"/>
              </a:spcAft>
            </a:pPr>
            <a:r>
              <a:rPr sz="2000" b="0">
                <a:solidFill>
                  <a:srgbClr val="5A6672"/>
                </a:solidFill>
                <a:latin typeface="맑은 고딕"/>
                <a:ea typeface="맑은 고딕"/>
              </a:rPr>
              <a:t>Instance Tuning Using Performance Views — 절차와 통계</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진단 절차 · 세션→대기→SQL→세그먼트 · V$SYSSTAT 델타 · V$SQL 상위 SQL · 절대값 오판 교정</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a:solidFill>
                  <a:srgbClr val="C0392B"/>
                </a:solidFill>
                <a:latin typeface="맑은 고딕"/>
                <a:ea typeface="맑은 고딕"/>
              </a:rPr>
              <a:t>ch26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인스턴스 튜닝 방법론 4단계(문제 정의→통계 검토→변경·측정→반복)를 설명한다.</a:t>
            </a:r>
          </a:p>
          <a:p>
            <a:pPr algn="l">
              <a:spcAft>
                <a:spcPts val="900"/>
              </a:spcAft>
            </a:pPr>
            <a:r>
              <a:rPr sz="1600" b="0">
                <a:solidFill>
                  <a:srgbClr val="222222"/>
                </a:solidFill>
                <a:latin typeface="맑은 고딕"/>
                <a:ea typeface="맑은 고딕"/>
              </a:rPr>
              <a:t>•  세션→대기→SQL→세그먼트의 실시간 진단 경로를 순서대로 밟는다.</a:t>
            </a:r>
          </a:p>
          <a:p>
            <a:pPr algn="l">
              <a:spcAft>
                <a:spcPts val="900"/>
              </a:spcAft>
            </a:pPr>
            <a:r>
              <a:rPr sz="1600" b="0">
                <a:solidFill>
                  <a:srgbClr val="222222"/>
                </a:solidFill>
                <a:latin typeface="맑은 고딕"/>
                <a:ea typeface="맑은 고딕"/>
              </a:rPr>
              <a:t>•  V$SYSSTAT 값이 누적임을 알고, 델타를 초·트랜잭션당으로 정규화한다.</a:t>
            </a:r>
          </a:p>
          <a:p>
            <a:pPr algn="l">
              <a:spcAft>
                <a:spcPts val="900"/>
              </a:spcAft>
            </a:pPr>
            <a:r>
              <a:rPr sz="1600" b="0">
                <a:solidFill>
                  <a:srgbClr val="222222"/>
                </a:solidFill>
                <a:latin typeface="맑은 고딕"/>
                <a:ea typeface="맑은 고딕"/>
              </a:rPr>
              <a:t>•  session logical reads·parse count·execute count 등 부하 통계를 읽는다.</a:t>
            </a:r>
          </a:p>
          <a:p>
            <a:pPr algn="l">
              <a:spcAft>
                <a:spcPts val="900"/>
              </a:spcAft>
            </a:pPr>
            <a:r>
              <a:rPr sz="1600" b="0">
                <a:solidFill>
                  <a:srgbClr val="222222"/>
                </a:solidFill>
                <a:latin typeface="맑은 고딕"/>
                <a:ea typeface="맑은 고딕"/>
              </a:rPr>
              <a:t>•  V$SQL을 실행시간·논리읽기·실행횟수·실행당으로 정렬해 상위 SQL을 선별한다.</a:t>
            </a:r>
          </a:p>
          <a:p>
            <a:pPr algn="l">
              <a:spcAft>
                <a:spcPts val="900"/>
              </a:spcAft>
            </a:pPr>
            <a:r>
              <a:rPr sz="1600" b="0">
                <a:solidFill>
                  <a:srgbClr val="222222"/>
                </a:solidFill>
                <a:latin typeface="맑은 고딕"/>
                <a:ea typeface="맑은 고딕"/>
              </a:rPr>
              <a:t>•  '절대값 기준 상위 SQL 선별'의 오판을 델타·비율·시그니처로 교정한다.</a:t>
            </a:r>
          </a:p>
          <a:p>
            <a:pPr algn="l">
              <a:spcAft>
                <a:spcPts val="900"/>
              </a:spcAft>
            </a:pPr>
            <a:r>
              <a:rPr sz="1600" b="0">
                <a:solidFill>
                  <a:srgbClr val="222222"/>
                </a:solidFill>
                <a:latin typeface="맑은 고딕"/>
                <a:ea typeface="맑은 고딕"/>
              </a:rPr>
              <a:t>•  V$ 실시간 조회는 라이선스가 필요 없고 DBA_HIST는 Diagnostics Pack이 필요함을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26.2  인스턴스 튜닝의 절차 — 무엇을 순서로 하는가</a:t>
            </a:r>
          </a:p>
          <a:p>
            <a:pPr algn="l">
              <a:spcAft>
                <a:spcPts val="900"/>
              </a:spcAft>
            </a:pPr>
            <a:r>
              <a:rPr sz="1600" b="0">
                <a:solidFill>
                  <a:srgbClr val="222222"/>
                </a:solidFill>
                <a:latin typeface="맑은 고딕"/>
                <a:ea typeface="맑은 고딕"/>
              </a:rPr>
              <a:t>•  26.3  실시간 진단 경로 — 세션 → 대기 → SQL → 세그먼트</a:t>
            </a:r>
          </a:p>
          <a:p>
            <a:pPr algn="l">
              <a:spcAft>
                <a:spcPts val="900"/>
              </a:spcAft>
            </a:pPr>
            <a:r>
              <a:rPr sz="1600" b="0">
                <a:solidFill>
                  <a:srgbClr val="222222"/>
                </a:solidFill>
                <a:latin typeface="맑은 고딕"/>
                <a:ea typeface="맑은 고딕"/>
              </a:rPr>
              <a:t>•  26.4  V$SYSSTAT — 시스템 통계 읽기(누적값·델타·정규화)</a:t>
            </a:r>
          </a:p>
          <a:p>
            <a:pPr algn="l">
              <a:spcAft>
                <a:spcPts val="900"/>
              </a:spcAft>
            </a:pPr>
            <a:r>
              <a:rPr sz="1600" b="0">
                <a:solidFill>
                  <a:srgbClr val="222222"/>
                </a:solidFill>
                <a:latin typeface="맑은 고딕"/>
                <a:ea typeface="맑은 고딕"/>
              </a:rPr>
              <a:t>•  26.5  V$SQL — 상위 부하 SQL 선별</a:t>
            </a:r>
          </a:p>
          <a:p>
            <a:pPr algn="l">
              <a:spcAft>
                <a:spcPts val="900"/>
              </a:spcAft>
            </a:pPr>
            <a:r>
              <a:rPr sz="1600" b="0">
                <a:solidFill>
                  <a:srgbClr val="222222"/>
                </a:solidFill>
                <a:latin typeface="맑은 고딕"/>
                <a:ea typeface="맑은 고딕"/>
              </a:rPr>
              <a:t>•  26.6  절대값을 델타·비율로 교정한다 — 이 장의 축</a:t>
            </a:r>
          </a:p>
          <a:p>
            <a:pPr algn="l">
              <a:spcAft>
                <a:spcPts val="900"/>
              </a:spcAft>
            </a:pPr>
            <a:r>
              <a:rPr sz="1600" b="0">
                <a:solidFill>
                  <a:srgbClr val="222222"/>
                </a:solidFill>
                <a:latin typeface="맑은 고딕"/>
                <a:ea typeface="맑은 고딕"/>
              </a:rPr>
              <a:t>•  26.7  AWR 없이도 진단은 된다 — V$의 위치</a:t>
            </a:r>
          </a:p>
          <a:p>
            <a:pPr algn="l">
              <a:spcAft>
                <a:spcPts val="900"/>
              </a:spcAft>
            </a:pPr>
            <a:r>
              <a:rPr sz="1600" b="0">
                <a:solidFill>
                  <a:srgbClr val="222222"/>
                </a:solidFill>
                <a:latin typeface="맑은 고딕"/>
                <a:ea typeface="맑은 고딕"/>
              </a:rPr>
              <a:t>•  ※ ADMIN 31장의 성능 뷰 소개를 실시간 진단 절차로 확장한다(non-CDB orcl 19.3).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인스턴스 튜닝의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문제 정의 → 호스트·인스턴스 통계 → 변경·측정 → 반복</a:t>
            </a:r>
          </a:p>
          <a:p>
            <a:pPr algn="l">
              <a:spcAft>
                <a:spcPts val="600"/>
              </a:spcAft>
            </a:pPr>
            <a:r>
              <a:rPr sz="1600" b="0">
                <a:solidFill>
                  <a:srgbClr val="FFFFFF"/>
                </a:solidFill>
                <a:latin typeface="맑은 고딕"/>
                <a:ea typeface="맑은 고딕"/>
              </a:rPr>
              <a:t>•  기준선 없이는 성공을 증명할 수 없다</a:t>
            </a:r>
          </a:p>
          <a:p>
            <a:pPr algn="l">
              <a:spcAft>
                <a:spcPts val="600"/>
              </a:spcAft>
            </a:pPr>
            <a:r>
              <a:rPr sz="1600" b="0">
                <a:solidFill>
                  <a:srgbClr val="FFFFFF"/>
                </a:solidFill>
                <a:latin typeface="맑은 고딕"/>
                <a:ea typeface="맑은 고딕"/>
              </a:rPr>
              <a:t>•  증상과 원인을 혼동하지 않는다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성능 튜닝 방법론 4단계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오라클이 권하는 반복 과정</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문제 정의: 목표·범위·시간대·정량화·변경사항을 수집</a:t>
            </a:r>
          </a:p>
          <a:p>
            <a:pPr algn="l">
              <a:spcAft>
                <a:spcPts val="1000"/>
              </a:spcAft>
            </a:pPr>
            <a:r>
              <a:rPr sz="1700" b="0">
                <a:solidFill>
                  <a:srgbClr val="222222"/>
                </a:solidFill>
                <a:latin typeface="맑은 고딕"/>
                <a:ea typeface="맑은 고딕"/>
              </a:rPr>
              <a:t>•  ② 호스트·인스턴스 통계 검토: OS와 오라클 통계를 교차</a:t>
            </a:r>
          </a:p>
          <a:p>
            <a:pPr algn="l">
              <a:spcAft>
                <a:spcPts val="1000"/>
              </a:spcAft>
            </a:pPr>
            <a:r>
              <a:rPr sz="1700" b="0">
                <a:solidFill>
                  <a:srgbClr val="222222"/>
                </a:solidFill>
                <a:latin typeface="맑은 고딕"/>
                <a:ea typeface="맑은 고딕"/>
              </a:rPr>
              <a:t>•  ③ 변경과 측정: 한 번에 하나만 바꿔 기준선과 대비</a:t>
            </a:r>
          </a:p>
          <a:p>
            <a:pPr algn="l">
              <a:spcAft>
                <a:spcPts val="1000"/>
              </a:spcAft>
            </a:pPr>
            <a:r>
              <a:rPr sz="1700" b="0">
                <a:solidFill>
                  <a:srgbClr val="222222"/>
                </a:solidFill>
                <a:latin typeface="맑은 고딕"/>
                <a:ea typeface="맑은 고딕"/>
              </a:rPr>
              <a:t>•  ④ 목표 미달 시 ②③ 반복 — 은탄환은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① 문제 정의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해결 전에 문제의 성격을 이해한다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성능 목표: 시간당 몇 건, 응답 몇 초가 허용 가능한가</a:t>
            </a:r>
          </a:p>
          <a:p>
            <a:pPr algn="l">
              <a:spcAft>
                <a:spcPts val="1000"/>
              </a:spcAft>
            </a:pPr>
            <a:r>
              <a:rPr sz="1700" b="0">
                <a:solidFill>
                  <a:srgbClr val="222222"/>
                </a:solidFill>
                <a:latin typeface="맑은 고딕"/>
                <a:ea typeface="맑은 고딕"/>
              </a:rPr>
              <a:t>•  범위: 인스턴스 전체인가, 특정 앱·프로그램·사용자인가</a:t>
            </a:r>
          </a:p>
          <a:p>
            <a:pPr algn="l">
              <a:spcAft>
                <a:spcPts val="1000"/>
              </a:spcAft>
            </a:pPr>
            <a:r>
              <a:rPr sz="1700" b="0">
                <a:solidFill>
                  <a:srgbClr val="222222"/>
                </a:solidFill>
                <a:latin typeface="맑은 고딕"/>
                <a:ea typeface="맑은 고딕"/>
              </a:rPr>
              <a:t>•  시간대: 피크에만인가, 점진적인가, 갑작스러운가</a:t>
            </a:r>
          </a:p>
          <a:p>
            <a:pPr algn="l">
              <a:spcAft>
                <a:spcPts val="1000"/>
              </a:spcAft>
            </a:pPr>
            <a:r>
              <a:rPr sz="1700" b="0">
                <a:solidFill>
                  <a:srgbClr val="222222"/>
                </a:solidFill>
                <a:latin typeface="맑은 고딕"/>
                <a:ea typeface="맑은 고딕"/>
              </a:rPr>
              <a:t>•  정량화: 재현 가능한 응답시간을 확보 → 조치 전후 비교 기준</a:t>
            </a:r>
          </a:p>
          <a:p>
            <a:pPr algn="l">
              <a:spcAft>
                <a:spcPts val="1000"/>
              </a:spcAft>
            </a:pPr>
            <a:r>
              <a:rPr sz="1700" b="0">
                <a:solidFill>
                  <a:srgbClr val="222222"/>
                </a:solidFill>
                <a:latin typeface="맑은 고딕"/>
                <a:ea typeface="맑은 고딕"/>
              </a:rPr>
              <a:t>•  증상과 원인의 구분: 통계는 대개 증상을 가리킨다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② 호스트·인스턴스 통계 검토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OS와 오라클을 교차 확인</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호스트: CPU·I/O·네트워크 — 유휴 CPU 많으면 I/O·앱 병목 의심</a:t>
            </a:r>
          </a:p>
          <a:p>
            <a:pPr algn="l">
              <a:spcAft>
                <a:spcPts val="1000"/>
              </a:spcAft>
            </a:pPr>
            <a:r>
              <a:rPr sz="1700" b="0">
                <a:solidFill>
                  <a:srgbClr val="222222"/>
                </a:solidFill>
                <a:latin typeface="맑은 고딕"/>
                <a:ea typeface="맑은 고딕"/>
              </a:rPr>
              <a:t>•  I/O: V$SYSTEM_EVENT의 db file 계열, V$IOSTAT_FILE 지연</a:t>
            </a:r>
          </a:p>
          <a:p>
            <a:pPr algn="l">
              <a:spcAft>
                <a:spcPts val="1000"/>
              </a:spcAft>
            </a:pPr>
            <a:r>
              <a:rPr sz="1700" b="0">
                <a:solidFill>
                  <a:srgbClr val="222222"/>
                </a:solidFill>
                <a:latin typeface="맑은 고딕"/>
                <a:ea typeface="맑은 고딕"/>
              </a:rPr>
              <a:t>•  CPU: V$SYSSTAT(전체)·V$SESSTAT(세션별)·V$SYS_TIME_MODEL</a:t>
            </a:r>
          </a:p>
          <a:p>
            <a:pPr algn="l">
              <a:spcAft>
                <a:spcPts val="1000"/>
              </a:spcAft>
            </a:pPr>
            <a:r>
              <a:rPr sz="1700" b="0">
                <a:solidFill>
                  <a:srgbClr val="222222"/>
                </a:solidFill>
                <a:latin typeface="맑은 고딕"/>
                <a:ea typeface="맑은 고딕"/>
              </a:rPr>
              <a:t>•  오라클 통계를 OS 통계와 맞춰 진단의 일관성 확보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③ 변경과 측정 · ④ 반복</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한 번에 하나만, 그리고 반복</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한 번에 하나만 바꾼다 → 인과를 잃지 않는다</a:t>
            </a:r>
          </a:p>
          <a:p>
            <a:pPr algn="l">
              <a:spcAft>
                <a:spcPts val="1000"/>
              </a:spcAft>
            </a:pPr>
            <a:r>
              <a:rPr sz="1700" b="0">
                <a:solidFill>
                  <a:srgbClr val="222222"/>
                </a:solidFill>
                <a:latin typeface="맑은 고딕"/>
                <a:ea typeface="맑은 고딕"/>
              </a:rPr>
              <a:t>•  기준선과 대비해 효과를 측정한다</a:t>
            </a:r>
          </a:p>
          <a:p>
            <a:pPr algn="l">
              <a:spcAft>
                <a:spcPts val="1000"/>
              </a:spcAft>
            </a:pPr>
            <a:r>
              <a:rPr sz="1700" b="0">
                <a:solidFill>
                  <a:srgbClr val="222222"/>
                </a:solidFill>
                <a:latin typeface="맑은 고딕"/>
                <a:ea typeface="맑은 고딕"/>
              </a:rPr>
              <a:t>•  분리 불가하면 성격이 다른 변경끼리라도 나눠 측정</a:t>
            </a:r>
          </a:p>
          <a:p>
            <a:pPr algn="l">
              <a:spcAft>
                <a:spcPts val="1000"/>
              </a:spcAft>
            </a:pPr>
            <a:r>
              <a:rPr sz="1700" b="0">
                <a:solidFill>
                  <a:srgbClr val="222222"/>
                </a:solidFill>
                <a:latin typeface="맑은 고딕"/>
                <a:ea typeface="맑은 고딕"/>
              </a:rPr>
              <a:t>•  하나의 병목을 없애면 다음 병목이 드러난다 — 반복</a:t>
            </a:r>
          </a:p>
          <a:p>
            <a:pPr algn="l">
              <a:spcAft>
                <a:spcPts val="1000"/>
              </a:spcAft>
            </a:pPr>
            <a:r>
              <a:rPr sz="1700" b="0">
                <a:solidFill>
                  <a:srgbClr val="222222"/>
                </a:solidFill>
                <a:latin typeface="맑은 고딕"/>
                <a:ea typeface="맑은 고딕"/>
              </a:rPr>
              <a:t>•  멈추는 기준은 통계가 아니라 사용자 체감 성능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실시간 진단 경로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세션 → 대기 → SQL → 세그먼트</a:t>
            </a:r>
          </a:p>
          <a:p>
            <a:pPr algn="l">
              <a:spcAft>
                <a:spcPts val="600"/>
              </a:spcAft>
            </a:pPr>
            <a:r>
              <a:rPr sz="1600" b="0">
                <a:solidFill>
                  <a:srgbClr val="FFFFFF"/>
                </a:solidFill>
                <a:latin typeface="맑은 고딕"/>
                <a:ea typeface="맑은 고딕"/>
              </a:rPr>
              <a:t>•  각 칸이 다음 칸을 가리킨다</a:t>
            </a:r>
          </a:p>
          <a:p>
            <a:pPr algn="l">
              <a:spcAft>
                <a:spcPts val="600"/>
              </a:spcAft>
            </a:pPr>
            <a:r>
              <a:rPr sz="1600" b="0">
                <a:solidFill>
                  <a:srgbClr val="FFFFFF"/>
                </a:solidFill>
                <a:latin typeface="맑은 고딕"/>
                <a:ea typeface="맑은 고딕"/>
              </a:rPr>
              <a:t>•  라이선스 없이 V$만으로 병목까지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왜 세션 → 대기 → SQL → 세그먼트인가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좁은 입구로 들어가 범위를 좁힌다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활성 세션 = '지금 실제로 자원을 쓰는 소수'</a:t>
            </a:r>
          </a:p>
          <a:p>
            <a:pPr algn="l">
              <a:spcAft>
                <a:spcPts val="1000"/>
              </a:spcAft>
            </a:pPr>
            <a:r>
              <a:rPr sz="1700" b="0">
                <a:solidFill>
                  <a:srgbClr val="222222"/>
                </a:solidFill>
                <a:latin typeface="맑은 고딕"/>
                <a:ea typeface="맑은 고딕"/>
              </a:rPr>
              <a:t>•  대기 = 어느 자원이 병목인지 방향을 가리킴</a:t>
            </a:r>
          </a:p>
          <a:p>
            <a:pPr algn="l">
              <a:spcAft>
                <a:spcPts val="1000"/>
              </a:spcAft>
            </a:pPr>
            <a:r>
              <a:rPr sz="1700" b="0">
                <a:solidFill>
                  <a:srgbClr val="222222"/>
                </a:solidFill>
                <a:latin typeface="맑은 고딕"/>
                <a:ea typeface="맑은 고딕"/>
              </a:rPr>
              <a:t>•  SQL = 원인 문장을 특정</a:t>
            </a:r>
          </a:p>
          <a:p>
            <a:pPr algn="l">
              <a:spcAft>
                <a:spcPts val="1000"/>
              </a:spcAft>
            </a:pPr>
            <a:r>
              <a:rPr sz="1700" b="0">
                <a:solidFill>
                  <a:srgbClr val="222222"/>
                </a:solidFill>
                <a:latin typeface="맑은 고딕"/>
                <a:ea typeface="맑은 고딕"/>
              </a:rPr>
              <a:t>•  세그먼트 = 조치 대상 객체까지 도달</a:t>
            </a:r>
          </a:p>
          <a:p>
            <a:pPr algn="l">
              <a:spcAft>
                <a:spcPts val="1000"/>
              </a:spcAft>
            </a:pPr>
            <a:r>
              <a:rPr sz="1700" b="0">
                <a:solidFill>
                  <a:srgbClr val="222222"/>
                </a:solidFill>
                <a:latin typeface="맑은 고딕"/>
                <a:ea typeface="맑은 고딕"/>
              </a:rPr>
              <a:t>•  통계부터 뒤지면 무엇이 관련 있는지 알 수 없어 길을 잃는다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세션: 지금 누가 무엇을 하는가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V$SESSION</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status='ACTIVE'인 사용자 세션만 추린다</a:t>
            </a:r>
          </a:p>
          <a:p>
            <a:pPr algn="l">
              <a:spcAft>
                <a:spcPts val="1000"/>
              </a:spcAft>
            </a:pPr>
            <a:r>
              <a:rPr sz="1700" b="0">
                <a:solidFill>
                  <a:srgbClr val="222222"/>
                </a:solidFill>
                <a:latin typeface="맑은 고딕"/>
                <a:ea typeface="맑은 고딕"/>
              </a:rPr>
              <a:t>•  핵심 열: SQL_ID·EVENT·WAIT_CLASS·BLOCKING_SESSION·ROW_WAIT_OBJ#</a:t>
            </a:r>
          </a:p>
          <a:p>
            <a:pPr algn="l">
              <a:spcAft>
                <a:spcPts val="1000"/>
              </a:spcAft>
            </a:pPr>
            <a:r>
              <a:rPr sz="1700" b="0">
                <a:solidFill>
                  <a:srgbClr val="222222"/>
                </a:solidFill>
                <a:latin typeface="맑은 고딕"/>
                <a:ea typeface="맑은 고딕"/>
              </a:rPr>
              <a:t>•  BLOCKING_SESSION으로 '누가 누구를 막는가' 확인</a:t>
            </a:r>
          </a:p>
          <a:p>
            <a:pPr algn="l">
              <a:spcAft>
                <a:spcPts val="1000"/>
              </a:spcAft>
            </a:pPr>
            <a:r>
              <a:rPr sz="1700" b="0">
                <a:solidFill>
                  <a:srgbClr val="222222"/>
                </a:solidFill>
                <a:latin typeface="맑은 고딕"/>
                <a:ea typeface="맑은 고딕"/>
              </a:rPr>
              <a:t>•  ROW_WAIT_OBJ#를 DBA_OBJECTS와 조인해 경합 객체 특정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V$SESSION 실측 — 활성 세션과 대기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부하 구간 SQLT 세션 관측(orcl 19.3)</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SYS@orcl&gt; SELECT sid, status, SUBSTR(event,1,30) event,</a:t>
            </a:r>
          </a:p>
          <a:p>
            <a:pPr>
              <a:lnSpc>
                <a:spcPct val="100000"/>
              </a:lnSpc>
              <a:spcAft>
                <a:spcPts val="0"/>
              </a:spcAft>
            </a:pPr>
            <a:r>
              <a:rPr sz="1250" b="0">
                <a:solidFill>
                  <a:srgbClr val="F2F2F2"/>
                </a:solidFill>
                <a:latin typeface="Consolas"/>
                <a:ea typeface="Consolas"/>
              </a:rPr>
              <a:t>  2         wait_class, SUBSTR(sql_id,1,13) sql_id</a:t>
            </a:r>
          </a:p>
          <a:p>
            <a:pPr>
              <a:lnSpc>
                <a:spcPct val="100000"/>
              </a:lnSpc>
              <a:spcAft>
                <a:spcPts val="0"/>
              </a:spcAft>
            </a:pPr>
            <a:r>
              <a:rPr sz="1250" b="0">
                <a:solidFill>
                  <a:srgbClr val="F2F2F2"/>
                </a:solidFill>
                <a:latin typeface="Consolas"/>
                <a:ea typeface="Consolas"/>
              </a:rPr>
              <a:t>  3       FROM v$session</a:t>
            </a:r>
          </a:p>
          <a:p>
            <a:pPr>
              <a:lnSpc>
                <a:spcPct val="100000"/>
              </a:lnSpc>
              <a:spcAft>
                <a:spcPts val="0"/>
              </a:spcAft>
            </a:pPr>
            <a:r>
              <a:rPr sz="1250" b="0">
                <a:solidFill>
                  <a:srgbClr val="F2F2F2"/>
                </a:solidFill>
                <a:latin typeface="Consolas"/>
                <a:ea typeface="Consolas"/>
              </a:rPr>
              <a:t>  4       WHERE username='SQLT' AND status='ACTIVE';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SID STATUS   EVENT                        WAIT_CLASS SQL_ID</a:t>
            </a:r>
          </a:p>
          <a:p>
            <a:pPr>
              <a:lnSpc>
                <a:spcPct val="100000"/>
              </a:lnSpc>
              <a:spcAft>
                <a:spcPts val="0"/>
              </a:spcAft>
            </a:pPr>
            <a:r>
              <a:rPr sz="1250" b="0">
                <a:solidFill>
                  <a:srgbClr val="F2F2F2"/>
                </a:solidFill>
                <a:latin typeface="Consolas"/>
                <a:ea typeface="Consolas"/>
              </a:rPr>
              <a:t>--- -------- ---------------------------- ---------- -------------</a:t>
            </a:r>
          </a:p>
          <a:p>
            <a:pPr>
              <a:lnSpc>
                <a:spcPct val="100000"/>
              </a:lnSpc>
              <a:spcAft>
                <a:spcPts val="0"/>
              </a:spcAft>
            </a:pPr>
            <a:r>
              <a:rPr sz="1250" b="0">
                <a:solidFill>
                  <a:srgbClr val="F2F2F2"/>
                </a:solidFill>
                <a:latin typeface="Consolas"/>
                <a:ea typeface="Consolas"/>
              </a:rPr>
              <a:t>692 ACTIVE   SQL*Net message from client  Idle       9vmszgd1ft9x0</a:t>
            </a:r>
          </a:p>
          <a:p>
            <a:pPr>
              <a:lnSpc>
                <a:spcPct val="100000"/>
              </a:lnSpc>
              <a:spcAft>
                <a:spcPts val="0"/>
              </a:spcAft>
            </a:pPr>
            <a:r>
              <a:rPr sz="1250" b="0">
                <a:solidFill>
                  <a:srgbClr val="F2F2F2"/>
                </a:solidFill>
                <a:latin typeface="Consolas"/>
                <a:ea typeface="Consolas"/>
              </a:rPr>
              <a:t>694 ACTIVE   SQL*Net message from client  Idle       9vmszgd1ft9x0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대기: 무엇을 기다리는가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V$SESSION_WAIT · V$SESSION</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wait_class &lt;&gt; 'Idle' 세션을 우선한다</a:t>
            </a:r>
          </a:p>
          <a:p>
            <a:pPr algn="l">
              <a:spcAft>
                <a:spcPts val="1000"/>
              </a:spcAft>
            </a:pPr>
            <a:r>
              <a:rPr sz="1700" b="0">
                <a:solidFill>
                  <a:srgbClr val="222222"/>
                </a:solidFill>
                <a:latin typeface="맑은 고딕"/>
                <a:ea typeface="맑은 고딕"/>
              </a:rPr>
              <a:t>•  P1·P2·P3로 대기 대상 특정(예: 파일·블록 번호)</a:t>
            </a:r>
          </a:p>
          <a:p>
            <a:pPr algn="l">
              <a:spcAft>
                <a:spcPts val="1000"/>
              </a:spcAft>
            </a:pPr>
            <a:r>
              <a:rPr sz="1700" b="0">
                <a:solidFill>
                  <a:srgbClr val="222222"/>
                </a:solidFill>
                <a:latin typeface="맑은 고딕"/>
                <a:ea typeface="맑은 고딕"/>
              </a:rPr>
              <a:t>•  대기 시간이 가장 큰 이벤트가 다음 조사 지점</a:t>
            </a:r>
          </a:p>
          <a:p>
            <a:pPr algn="l">
              <a:spcAft>
                <a:spcPts val="1000"/>
              </a:spcAft>
            </a:pPr>
            <a:r>
              <a:rPr sz="1700" b="0">
                <a:solidFill>
                  <a:srgbClr val="222222"/>
                </a:solidFill>
                <a:latin typeface="맑은 고딕"/>
                <a:ea typeface="맑은 고딕"/>
              </a:rPr>
              <a:t>•  현재 상태 뷰(WAIT) vs 누적 뷰(EVENT·SYSTEM_EVENT) 구분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SQL: 어느 문장이 원인인가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V$SQL</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세션이 물던 SQL_ID로 문장을 펼치거나 상위 부하로 정렬</a:t>
            </a:r>
          </a:p>
          <a:p>
            <a:pPr algn="l">
              <a:spcAft>
                <a:spcPts val="1000"/>
              </a:spcAft>
            </a:pPr>
            <a:r>
              <a:rPr sz="1700" b="0">
                <a:solidFill>
                  <a:srgbClr val="222222"/>
                </a:solidFill>
                <a:latin typeface="맑은 고딕"/>
                <a:ea typeface="맑은 고딕"/>
              </a:rPr>
              <a:t>•  V$SQL=자식 커서 단위, V$SQLAREA=부모 요약(VERSION_COUNT)</a:t>
            </a:r>
          </a:p>
          <a:p>
            <a:pPr algn="l">
              <a:spcAft>
                <a:spcPts val="1000"/>
              </a:spcAft>
            </a:pPr>
            <a:r>
              <a:rPr sz="1700" b="0">
                <a:solidFill>
                  <a:srgbClr val="222222"/>
                </a:solidFill>
                <a:latin typeface="맑은 고딕"/>
                <a:ea typeface="맑은 고딕"/>
              </a:rPr>
              <a:t>•  부하 중 값이 변하므로 두 번 떠서 델타로 본다</a:t>
            </a:r>
          </a:p>
          <a:p>
            <a:pPr algn="l">
              <a:spcAft>
                <a:spcPts val="1000"/>
              </a:spcAft>
            </a:pPr>
            <a:r>
              <a:rPr sz="1700" b="0">
                <a:solidFill>
                  <a:srgbClr val="222222"/>
                </a:solidFill>
                <a:latin typeface="맑은 고딕"/>
                <a:ea typeface="맑은 고딕"/>
              </a:rPr>
              <a:t>•  누적 상위와 구간 델타 상위가 다를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V$SQL 실측 — 논리읽기 상위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SQLT 스키마, buffer_gets 정렬</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SQL_ID        EXECS BUFFER_GETS PER_EXEC TXT</a:t>
            </a:r>
          </a:p>
          <a:p>
            <a:pPr>
              <a:lnSpc>
                <a:spcPct val="100000"/>
              </a:lnSpc>
              <a:spcAft>
                <a:spcPts val="0"/>
              </a:spcAft>
            </a:pPr>
            <a:r>
              <a:rPr sz="1250" b="0">
                <a:solidFill>
                  <a:srgbClr val="F2F2F2"/>
                </a:solidFill>
                <a:latin typeface="Consolas"/>
                <a:ea typeface="Consolas"/>
              </a:rPr>
              <a:t>------------- ----- ----------- -------- --------------------------</a:t>
            </a:r>
          </a:p>
          <a:p>
            <a:pPr>
              <a:lnSpc>
                <a:spcPct val="100000"/>
              </a:lnSpc>
              <a:spcAft>
                <a:spcPts val="0"/>
              </a:spcAft>
            </a:pPr>
            <a:r>
              <a:rPr sz="1250" b="0">
                <a:solidFill>
                  <a:srgbClr val="F2F2F2"/>
                </a:solidFill>
                <a:latin typeface="Consolas"/>
                <a:ea typeface="Consolas"/>
              </a:rPr>
              <a:t>9vmszgd1ft9x0  1290     8494906     6585 select /*+ full(d) */ count</a:t>
            </a:r>
          </a:p>
          <a:p>
            <a:pPr>
              <a:lnSpc>
                <a:spcPct val="100000"/>
              </a:lnSpc>
              <a:spcAft>
                <a:spcPts val="0"/>
              </a:spcAft>
            </a:pPr>
            <a:r>
              <a:rPr sz="1250" b="0">
                <a:solidFill>
                  <a:srgbClr val="F2F2F2"/>
                </a:solidFill>
                <a:latin typeface="Consolas"/>
                <a:ea typeface="Consolas"/>
              </a:rPr>
              <a:t>ddukvcz4gwcad   631     1946786     3085 select hosp_id, count(*)...</a:t>
            </a:r>
          </a:p>
          <a:p>
            <a:pPr>
              <a:lnSpc>
                <a:spcPct val="100000"/>
              </a:lnSpc>
              <a:spcAft>
                <a:spcPts val="0"/>
              </a:spcAft>
            </a:pPr>
            <a:r>
              <a:rPr sz="1250" b="0">
                <a:solidFill>
                  <a:srgbClr val="F2F2F2"/>
                </a:solidFill>
                <a:latin typeface="Consolas"/>
                <a:ea typeface="Consolas"/>
              </a:rPr>
              <a:t>2hwjffuh4cs8t     2        6188     3094 select count(*) from medic</a:t>
            </a:r>
          </a:p>
          <a:p>
            <a:pPr>
              <a:lnSpc>
                <a:spcPct val="100000"/>
              </a:lnSpc>
              <a:spcAft>
                <a:spcPts val="0"/>
              </a:spcAft>
            </a:pPr>
            <a:r>
              <a:rPr sz="1250" b="0">
                <a:solidFill>
                  <a:srgbClr val="F2F2F2"/>
                </a:solidFill>
                <a:latin typeface="Consolas"/>
                <a:ea typeface="Consolas"/>
              </a:rPr>
              <a:t>6jwvu6btpjhnu     2        6188     3094 select count(*) from medic</a:t>
            </a:r>
          </a:p>
          <a:p>
            <a:pPr>
              <a:lnSpc>
                <a:spcPct val="100000"/>
              </a:lnSpc>
              <a:spcAft>
                <a:spcPts val="0"/>
              </a:spcAft>
            </a:pPr>
            <a:r>
              <a:rPr sz="1250" b="0">
                <a:solidFill>
                  <a:srgbClr val="F2F2F2"/>
                </a:solidFill>
                <a:latin typeface="Consolas"/>
                <a:ea typeface="Consolas"/>
              </a:rPr>
              <a:t>b85cymcwbd1qj     2        6188     3094 select count(*) from medic</a:t>
            </a:r>
          </a:p>
          <a:p>
            <a:pPr>
              <a:lnSpc>
                <a:spcPct val="100000"/>
              </a:lnSpc>
              <a:spcAft>
                <a:spcPts val="0"/>
              </a:spcAft>
            </a:pPr>
            <a:r>
              <a:rPr sz="1250" b="0">
                <a:solidFill>
                  <a:srgbClr val="F2F2F2"/>
                </a:solidFill>
                <a:latin typeface="Consolas"/>
                <a:ea typeface="Consolas"/>
              </a:rPr>
              <a:t>13ywm87qcw0by     2        6180     3090 select count(*) from medic</a:t>
            </a:r>
          </a:p>
          <a:p>
            <a:pPr>
              <a:lnSpc>
                <a:spcPct val="100000"/>
              </a:lnSpc>
              <a:spcAft>
                <a:spcPts val="0"/>
              </a:spcAft>
            </a:pPr>
            <a:r>
              <a:rPr sz="1250" b="0">
                <a:solidFill>
                  <a:srgbClr val="F2F2F2"/>
                </a:solidFill>
                <a:latin typeface="Consolas"/>
                <a:ea typeface="Consolas"/>
              </a:rPr>
              <a:t>fq4sycqx841ht     2        6180     3090 select count(*) from medic</a:t>
            </a:r>
          </a:p>
          <a:p>
            <a:pPr>
              <a:lnSpc>
                <a:spcPct val="100000"/>
              </a:lnSpc>
              <a:spcAft>
                <a:spcPts val="0"/>
              </a:spcAft>
            </a:pPr>
            <a:r>
              <a:rPr sz="1250" b="0">
                <a:solidFill>
                  <a:srgbClr val="F2F2F2"/>
                </a:solidFill>
                <a:latin typeface="Consolas"/>
                <a:ea typeface="Consolas"/>
              </a:rPr>
              <a:t>fxj7b9gx2w1ay     2        6180     3090 select count(*) from medic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세그먼트: 어느 객체가 뜨거운가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V$SEGMENT_STATISTICS · V$SEGSTAT</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대기·SQL로 잡은 방향의 진원지 객체를 특정</a:t>
            </a:r>
          </a:p>
          <a:p>
            <a:pPr algn="l">
              <a:spcAft>
                <a:spcPts val="1000"/>
              </a:spcAft>
            </a:pPr>
            <a:r>
              <a:rPr sz="1700" b="0">
                <a:solidFill>
                  <a:srgbClr val="222222"/>
                </a:solidFill>
                <a:latin typeface="맑은 고딕"/>
                <a:ea typeface="맑은 고딕"/>
              </a:rPr>
              <a:t>•  logical reads·physical reads·buffer busy waits 등 세그먼트별</a:t>
            </a:r>
          </a:p>
          <a:p>
            <a:pPr algn="l">
              <a:spcAft>
                <a:spcPts val="1000"/>
              </a:spcAft>
            </a:pPr>
            <a:r>
              <a:rPr sz="1700" b="0">
                <a:solidFill>
                  <a:srgbClr val="222222"/>
                </a:solidFill>
                <a:latin typeface="맑은 고딕"/>
                <a:ea typeface="맑은 고딕"/>
              </a:rPr>
              <a:t>•  V$SEGSTAT=가벼움, V$SEGMENT_STATISTICS=소유자·TS까지</a:t>
            </a:r>
          </a:p>
          <a:p>
            <a:pPr algn="l">
              <a:spcAft>
                <a:spcPts val="1000"/>
              </a:spcAft>
            </a:pPr>
            <a:r>
              <a:rPr sz="1700" b="0">
                <a:solidFill>
                  <a:srgbClr val="222222"/>
                </a:solidFill>
                <a:latin typeface="맑은 고딕"/>
                <a:ea typeface="맑은 고딕"/>
              </a:rPr>
              <a:t>•  세션·대기·SQL·세그먼트가 한 줄의 인과로 완성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V$SYSSTAT — 시스템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값은 기동 이후 누적이다</a:t>
            </a:r>
          </a:p>
          <a:p>
            <a:pPr algn="l">
              <a:spcAft>
                <a:spcPts val="600"/>
              </a:spcAft>
            </a:pPr>
            <a:r>
              <a:rPr sz="1600" b="0">
                <a:solidFill>
                  <a:srgbClr val="FFFFFF"/>
                </a:solidFill>
                <a:latin typeface="맑은 고딕"/>
                <a:ea typeface="맑은 고딕"/>
              </a:rPr>
              <a:t>•  절대값이 아니라 델타·비율</a:t>
            </a:r>
          </a:p>
          <a:p>
            <a:pPr algn="l">
              <a:spcAft>
                <a:spcPts val="600"/>
              </a:spcAft>
            </a:pPr>
            <a:r>
              <a:rPr sz="1600" b="0">
                <a:solidFill>
                  <a:srgbClr val="FFFFFF"/>
                </a:solidFill>
                <a:latin typeface="맑은 고딕"/>
                <a:ea typeface="맑은 고딕"/>
              </a:rPr>
              <a:t>•  하드 파싱 비율 같은 파생 지표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누적값의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절대값은 판정 근거가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V$SYSSTAT 값은 인스턴스 기동 이후 누적</a:t>
            </a:r>
          </a:p>
          <a:p>
            <a:pPr algn="l">
              <a:spcAft>
                <a:spcPts val="1000"/>
              </a:spcAft>
            </a:pPr>
            <a:r>
              <a:rPr sz="1700" b="0">
                <a:solidFill>
                  <a:srgbClr val="222222"/>
                </a:solidFill>
                <a:latin typeface="맑은 고딕"/>
                <a:ea typeface="맑은 고딕"/>
              </a:rPr>
              <a:t>•  session logical reads 3.56억 = 10분치인지 3주치인지 모름</a:t>
            </a:r>
          </a:p>
          <a:p>
            <a:pPr algn="l">
              <a:spcAft>
                <a:spcPts val="1000"/>
              </a:spcAft>
            </a:pPr>
            <a:r>
              <a:rPr sz="1700" b="0">
                <a:solidFill>
                  <a:srgbClr val="222222"/>
                </a:solidFill>
                <a:latin typeface="맑은 고딕"/>
                <a:ea typeface="맑은 고딕"/>
              </a:rPr>
              <a:t>•  판정은 두 시점의 델타를 경과 시간으로 나눈 비율</a:t>
            </a:r>
          </a:p>
          <a:p>
            <a:pPr algn="l">
              <a:spcAft>
                <a:spcPts val="1000"/>
              </a:spcAft>
            </a:pPr>
            <a:r>
              <a:rPr sz="1700" b="0">
                <a:solidFill>
                  <a:srgbClr val="222222"/>
                </a:solidFill>
                <a:latin typeface="맑은 고딕"/>
                <a:ea typeface="맑은 고딕"/>
              </a:rPr>
              <a:t>•  초당(처리량 변화) / 트랜잭션당(한 건의 무게) 정규화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V$SYSSTAT 실측 — 주요 통계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부하 구간 누적값(orcl 19.3)</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NAME                             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execute count                     338398</a:t>
            </a:r>
          </a:p>
          <a:p>
            <a:pPr>
              <a:lnSpc>
                <a:spcPct val="100000"/>
              </a:lnSpc>
              <a:spcAft>
                <a:spcPts val="0"/>
              </a:spcAft>
            </a:pPr>
            <a:r>
              <a:rPr sz="1250" b="0">
                <a:solidFill>
                  <a:srgbClr val="F2F2F2"/>
                </a:solidFill>
                <a:latin typeface="Consolas"/>
                <a:ea typeface="Consolas"/>
              </a:rPr>
              <a:t>parse count (hard)                112198</a:t>
            </a:r>
          </a:p>
          <a:p>
            <a:pPr>
              <a:lnSpc>
                <a:spcPct val="100000"/>
              </a:lnSpc>
              <a:spcAft>
                <a:spcPts val="0"/>
              </a:spcAft>
            </a:pPr>
            <a:r>
              <a:rPr sz="1250" b="0">
                <a:solidFill>
                  <a:srgbClr val="F2F2F2"/>
                </a:solidFill>
                <a:latin typeface="Consolas"/>
                <a:ea typeface="Consolas"/>
              </a:rPr>
              <a:t>parse count (total)               185227</a:t>
            </a:r>
          </a:p>
          <a:p>
            <a:pPr>
              <a:lnSpc>
                <a:spcPct val="100000"/>
              </a:lnSpc>
              <a:spcAft>
                <a:spcPts val="0"/>
              </a:spcAft>
            </a:pPr>
            <a:r>
              <a:rPr sz="1250" b="0">
                <a:solidFill>
                  <a:srgbClr val="F2F2F2"/>
                </a:solidFill>
                <a:latin typeface="Consolas"/>
                <a:ea typeface="Consolas"/>
              </a:rPr>
              <a:t>physical reads                     70100</a:t>
            </a:r>
          </a:p>
          <a:p>
            <a:pPr>
              <a:lnSpc>
                <a:spcPct val="100000"/>
              </a:lnSpc>
              <a:spcAft>
                <a:spcPts val="0"/>
              </a:spcAft>
            </a:pPr>
            <a:r>
              <a:rPr sz="1250" b="0">
                <a:solidFill>
                  <a:srgbClr val="F2F2F2"/>
                </a:solidFill>
                <a:latin typeface="Consolas"/>
                <a:ea typeface="Consolas"/>
              </a:rPr>
              <a:t>session logical reads          356228457</a:t>
            </a:r>
          </a:p>
          <a:p>
            <a:pPr>
              <a:lnSpc>
                <a:spcPct val="100000"/>
              </a:lnSpc>
              <a:spcAft>
                <a:spcPts val="0"/>
              </a:spcAft>
            </a:pPr>
            <a:r>
              <a:rPr sz="1250" b="0">
                <a:solidFill>
                  <a:srgbClr val="F2F2F2"/>
                </a:solidFill>
                <a:latin typeface="Consolas"/>
                <a:ea typeface="Consolas"/>
              </a:rPr>
              <a:t>sorts (disk)                           0</a:t>
            </a:r>
          </a:p>
          <a:p>
            <a:pPr>
              <a:lnSpc>
                <a:spcPct val="100000"/>
              </a:lnSpc>
              <a:spcAft>
                <a:spcPts val="0"/>
              </a:spcAft>
            </a:pPr>
            <a:r>
              <a:rPr sz="1250" b="0">
                <a:solidFill>
                  <a:srgbClr val="F2F2F2"/>
                </a:solidFill>
                <a:latin typeface="Consolas"/>
                <a:ea typeface="Consolas"/>
              </a:rPr>
              <a:t>sorts (memory)                     60198</a:t>
            </a:r>
          </a:p>
          <a:p>
            <a:pPr>
              <a:lnSpc>
                <a:spcPct val="100000"/>
              </a:lnSpc>
              <a:spcAft>
                <a:spcPts val="0"/>
              </a:spcAft>
            </a:pPr>
            <a:r>
              <a:rPr sz="1250" b="0">
                <a:solidFill>
                  <a:srgbClr val="F2F2F2"/>
                </a:solidFill>
                <a:latin typeface="Consolas"/>
                <a:ea typeface="Consolas"/>
              </a:rPr>
              <a:t>user commits                       63992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델타 계산 — 두 번 읽어 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같은 통계, 60초 간격</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 (조치 전) 시작 스냅샷</a:t>
            </a:r>
          </a:p>
          <a:p>
            <a:pPr>
              <a:lnSpc>
                <a:spcPct val="100000"/>
              </a:lnSpc>
              <a:spcAft>
                <a:spcPts val="0"/>
              </a:spcAft>
            </a:pPr>
            <a:r>
              <a:rPr sz="1250" b="0">
                <a:solidFill>
                  <a:srgbClr val="F2F2F2"/>
                </a:solidFill>
                <a:latin typeface="Consolas"/>
                <a:ea typeface="Consolas"/>
              </a:rPr>
              <a:t>session logical reads = 356,228,457</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-- 60초 부하 구간 경과 후 재조회</a:t>
            </a:r>
          </a:p>
          <a:p>
            <a:pPr>
              <a:lnSpc>
                <a:spcPct val="100000"/>
              </a:lnSpc>
              <a:spcAft>
                <a:spcPts val="0"/>
              </a:spcAft>
            </a:pPr>
            <a:r>
              <a:rPr sz="1250" b="0">
                <a:solidFill>
                  <a:srgbClr val="F2F2F2"/>
                </a:solidFill>
                <a:latin typeface="Consolas"/>
                <a:ea typeface="Consolas"/>
              </a:rPr>
              <a:t>session logical reads = 362,520,100   ← &lt;환경값&gt;</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델타 = 362,520,100 - 356,228,457 = 6,291,643</a:t>
            </a:r>
          </a:p>
          <a:p>
            <a:pPr>
              <a:lnSpc>
                <a:spcPct val="100000"/>
              </a:lnSpc>
              <a:spcAft>
                <a:spcPts val="0"/>
              </a:spcAft>
            </a:pPr>
            <a:r>
              <a:rPr sz="1250" b="0">
                <a:solidFill>
                  <a:srgbClr val="F2F2F2"/>
                </a:solidFill>
                <a:latin typeface="Consolas"/>
                <a:ea typeface="Consolas"/>
              </a:rPr>
              <a:t>-- 초당 논리읽기 = 6,291,643 / 60 ≈ 104,861 LIO/s</a:t>
            </a:r>
          </a:p>
          <a:p>
            <a:pPr>
              <a:lnSpc>
                <a:spcPct val="100000"/>
              </a:lnSpc>
              <a:spcAft>
                <a:spcPts val="0"/>
              </a:spcAft>
            </a:pPr>
            <a:r>
              <a:rPr sz="1250" b="0">
                <a:solidFill>
                  <a:srgbClr val="F2F2F2"/>
                </a:solidFill>
                <a:latin typeface="Consolas"/>
                <a:ea typeface="Consolas"/>
              </a:rPr>
              <a:t>-- 이 초당 비율만이 판정의 근거가 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부하 관련 주요 통계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무엇을 초·트랜잭션당으로 볼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session logical reads: 작업량의 대표(논리읽기)</a:t>
            </a:r>
          </a:p>
          <a:p>
            <a:pPr algn="l">
              <a:spcAft>
                <a:spcPts val="1000"/>
              </a:spcAft>
            </a:pPr>
            <a:r>
              <a:rPr sz="1700" b="0">
                <a:solidFill>
                  <a:srgbClr val="222222"/>
                </a:solidFill>
                <a:latin typeface="맑은 고딕"/>
                <a:ea typeface="맑은 고딕"/>
              </a:rPr>
              <a:t>•  physical reads: 캐시 미스로 디스크까지 간 양</a:t>
            </a:r>
          </a:p>
          <a:p>
            <a:pPr algn="l">
              <a:spcAft>
                <a:spcPts val="1000"/>
              </a:spcAft>
            </a:pPr>
            <a:r>
              <a:rPr sz="1700" b="0">
                <a:solidFill>
                  <a:srgbClr val="222222"/>
                </a:solidFill>
                <a:latin typeface="맑은 고딕"/>
                <a:ea typeface="맑은 고딕"/>
              </a:rPr>
              <a:t>•  execute count / parse count: 실행과 파싱</a:t>
            </a:r>
          </a:p>
          <a:p>
            <a:pPr algn="l">
              <a:spcAft>
                <a:spcPts val="1000"/>
              </a:spcAft>
            </a:pPr>
            <a:r>
              <a:rPr sz="1700" b="0">
                <a:solidFill>
                  <a:srgbClr val="222222"/>
                </a:solidFill>
                <a:latin typeface="맑은 고딕"/>
                <a:ea typeface="맑은 고딕"/>
              </a:rPr>
              <a:t>•  user commits: 트랜잭션 수 정규화의 분모</a:t>
            </a:r>
          </a:p>
          <a:p>
            <a:pPr algn="l">
              <a:spcAft>
                <a:spcPts val="1000"/>
              </a:spcAft>
            </a:pPr>
            <a:r>
              <a:rPr sz="1700" b="0">
                <a:solidFill>
                  <a:srgbClr val="222222"/>
                </a:solidFill>
                <a:latin typeface="맑은 고딕"/>
                <a:ea typeface="맑은 고딕"/>
              </a:rPr>
              <a:t>•  sorts memory/disk: disk 정렬은 PGA 부족 신호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초·트랜잭션당으로 정규화</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분모가 해석의 방향을 정한다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초당 = Δ통계 / 경과초 → 처리량(throughput) 변화</a:t>
            </a:r>
          </a:p>
          <a:p>
            <a:pPr algn="l">
              <a:spcAft>
                <a:spcPts val="1000"/>
              </a:spcAft>
            </a:pPr>
            <a:r>
              <a:rPr sz="1700" b="0">
                <a:solidFill>
                  <a:srgbClr val="222222"/>
                </a:solidFill>
                <a:latin typeface="맑은 고딕"/>
                <a:ea typeface="맑은 고딕"/>
              </a:rPr>
              <a:t>•  트랜잭션당 = Δ통계 / Δcommits → 애플리케이션 특성 변화</a:t>
            </a:r>
          </a:p>
          <a:p>
            <a:pPr algn="l">
              <a:spcAft>
                <a:spcPts val="1000"/>
              </a:spcAft>
            </a:pPr>
            <a:r>
              <a:rPr sz="1700" b="0">
                <a:solidFill>
                  <a:srgbClr val="222222"/>
                </a:solidFill>
                <a:latin typeface="맑은 고딕"/>
                <a:ea typeface="맑은 고딕"/>
              </a:rPr>
              <a:t>•  AWR Load Profile이 보여 주는 두 정규화를 손으로 재현</a:t>
            </a:r>
          </a:p>
          <a:p>
            <a:pPr algn="l">
              <a:spcAft>
                <a:spcPts val="1000"/>
              </a:spcAft>
            </a:pPr>
            <a:r>
              <a:rPr sz="1700" b="0">
                <a:solidFill>
                  <a:srgbClr val="222222"/>
                </a:solidFill>
                <a:latin typeface="맑은 고딕"/>
                <a:ea typeface="맑은 고딕"/>
              </a:rPr>
              <a:t>•  physical read/write total bytes 합 = 초당 I/O(MB/s)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하드 파싱 비율 — 파생 지표의 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112,198 / 185,227 ≈ 60.6%</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하드 파싱 비율 = parse count (hard) / (total)</a:t>
            </a:r>
          </a:p>
          <a:p>
            <a:pPr algn="l">
              <a:spcAft>
                <a:spcPts val="1000"/>
              </a:spcAft>
            </a:pPr>
            <a:r>
              <a:rPr sz="1700" b="0">
                <a:solidFill>
                  <a:srgbClr val="222222"/>
                </a:solidFill>
                <a:latin typeface="맑은 고딕"/>
                <a:ea typeface="맑은 고딕"/>
              </a:rPr>
              <a:t>•  정상은 0에 가까워야 함 → 60.6%는 심각</a:t>
            </a:r>
          </a:p>
          <a:p>
            <a:pPr algn="l">
              <a:spcAft>
                <a:spcPts val="1000"/>
              </a:spcAft>
            </a:pPr>
            <a:r>
              <a:rPr sz="1700" b="0">
                <a:solidFill>
                  <a:srgbClr val="222222"/>
                </a:solidFill>
                <a:latin typeface="맑은 고딕"/>
                <a:ea typeface="맑은 고딕"/>
              </a:rPr>
              <a:t>•  원인: 같은 문장이 리터럴로 흩어진 6개 SQL_ID</a:t>
            </a:r>
          </a:p>
          <a:p>
            <a:pPr algn="l">
              <a:spcAft>
                <a:spcPts val="1000"/>
              </a:spcAft>
            </a:pPr>
            <a:r>
              <a:rPr sz="1700" b="0">
                <a:solidFill>
                  <a:srgbClr val="222222"/>
                </a:solidFill>
                <a:latin typeface="맑은 고딕"/>
                <a:ea typeface="맑은 고딕"/>
              </a:rPr>
              <a:t>•  조치: 바인드 변수(또는 CURSOR_SHARING 검토)</a:t>
            </a:r>
          </a:p>
          <a:p>
            <a:pPr algn="l">
              <a:spcAft>
                <a:spcPts val="1000"/>
              </a:spcAft>
            </a:pPr>
            <a:r>
              <a:rPr sz="1700" b="0">
                <a:solidFill>
                  <a:srgbClr val="222222"/>
                </a:solidFill>
                <a:latin typeface="맑은 고딕"/>
                <a:ea typeface="맑은 고딕"/>
              </a:rPr>
              <a:t>•  절대값 순위표에는 안 보이던 진짜 문제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대기로는 안 잡히는 문제들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추가 통계 — 안전망</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redo log space requests: 체크포인트·DBWR·아카이버 튜닝 신호</a:t>
            </a:r>
          </a:p>
          <a:p>
            <a:pPr algn="l">
              <a:spcAft>
                <a:spcPts val="1000"/>
              </a:spcAft>
            </a:pPr>
            <a:r>
              <a:rPr sz="1700" b="0">
                <a:solidFill>
                  <a:srgbClr val="222222"/>
                </a:solidFill>
                <a:latin typeface="맑은 고딕"/>
                <a:ea typeface="맑은 고딕"/>
              </a:rPr>
              <a:t>•  table fetch continued row: 이행·연결 행(1% 넘으면 조사)</a:t>
            </a:r>
          </a:p>
          <a:p>
            <a:pPr algn="l">
              <a:spcAft>
                <a:spcPts val="1000"/>
              </a:spcAft>
            </a:pPr>
            <a:r>
              <a:rPr sz="1700" b="0">
                <a:solidFill>
                  <a:srgbClr val="222222"/>
                </a:solidFill>
                <a:latin typeface="맑은 고딕"/>
                <a:ea typeface="맑은 고딕"/>
              </a:rPr>
              <a:t>•  consistent changes/gets: 읽기 일관성 롤백 비용 → AUM 권장</a:t>
            </a:r>
          </a:p>
          <a:p>
            <a:pPr algn="l">
              <a:spcAft>
                <a:spcPts val="1000"/>
              </a:spcAft>
            </a:pPr>
            <a:r>
              <a:rPr sz="1700" b="0">
                <a:solidFill>
                  <a:srgbClr val="222222"/>
                </a:solidFill>
                <a:latin typeface="맑은 고딕"/>
                <a:ea typeface="맑은 고딕"/>
              </a:rPr>
              <a:t>•  이 통계들도 언제나 델타·비율로 읽는다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V$SQL — 상위 부하 SQL 선별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정렬 기준: 실행시간·논리읽기·실행횟수</a:t>
            </a:r>
          </a:p>
          <a:p>
            <a:pPr algn="l">
              <a:spcAft>
                <a:spcPts val="600"/>
              </a:spcAft>
            </a:pPr>
            <a:r>
              <a:rPr sz="1600" b="0">
                <a:solidFill>
                  <a:srgbClr val="FFFFFF"/>
                </a:solidFill>
                <a:latin typeface="맑은 고딕"/>
                <a:ea typeface="맑은 고딕"/>
              </a:rPr>
              <a:t>•  실행당 비용으로 나눠 본다</a:t>
            </a:r>
          </a:p>
          <a:p>
            <a:pPr algn="l">
              <a:spcAft>
                <a:spcPts val="600"/>
              </a:spcAft>
            </a:pPr>
            <a:r>
              <a:rPr sz="1600" b="0">
                <a:solidFill>
                  <a:srgbClr val="FFFFFF"/>
                </a:solidFill>
                <a:latin typeface="맑은 고딕"/>
                <a:ea typeface="맑은 고딕"/>
              </a:rPr>
              <a:t>•  같은 문장을 시그니처로 묶는다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정렬 기준 — 상위의 정의가 바뀐다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한 기준만 보면 그림이 왜곡된다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elapsed_time: 총 소요 시간이 큰 문장(대개 최우선)</a:t>
            </a:r>
          </a:p>
          <a:p>
            <a:pPr algn="l">
              <a:spcAft>
                <a:spcPts val="1000"/>
              </a:spcAft>
            </a:pPr>
            <a:r>
              <a:rPr sz="1700" b="0">
                <a:solidFill>
                  <a:srgbClr val="222222"/>
                </a:solidFill>
                <a:latin typeface="맑은 고딕"/>
                <a:ea typeface="맑은 고딕"/>
              </a:rPr>
              <a:t>•  buffer_gets: 논리읽기가 많은 CPU·캐시 부하원</a:t>
            </a:r>
          </a:p>
          <a:p>
            <a:pPr algn="l">
              <a:spcAft>
                <a:spcPts val="1000"/>
              </a:spcAft>
            </a:pPr>
            <a:r>
              <a:rPr sz="1700" b="0">
                <a:solidFill>
                  <a:srgbClr val="222222"/>
                </a:solidFill>
                <a:latin typeface="맑은 고딕"/>
                <a:ea typeface="맑은 고딕"/>
              </a:rPr>
              <a:t>•  executions: 자주 불리는 문장(파싱·왕복 부하)</a:t>
            </a:r>
          </a:p>
          <a:p>
            <a:pPr algn="l">
              <a:spcAft>
                <a:spcPts val="1000"/>
              </a:spcAft>
            </a:pPr>
            <a:r>
              <a:rPr sz="1700" b="0">
                <a:solidFill>
                  <a:srgbClr val="222222"/>
                </a:solidFill>
                <a:latin typeface="맑은 고딕"/>
                <a:ea typeface="맑은 고딕"/>
              </a:rPr>
              <a:t>•  buffer_gets/executions: 실행당 효율 — 문장 자체의 무게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실행당으로 나눠 봐야 하는 이유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총량이 큰 두 부류를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무거운 문장: 실행당 비용이 큼 → SQL·인덱스·계획 수정</a:t>
            </a:r>
          </a:p>
          <a:p>
            <a:pPr algn="l">
              <a:spcAft>
                <a:spcPts val="1000"/>
              </a:spcAft>
            </a:pPr>
            <a:r>
              <a:rPr sz="1700" b="0">
                <a:solidFill>
                  <a:srgbClr val="222222"/>
                </a:solidFill>
                <a:latin typeface="맑은 고딕"/>
                <a:ea typeface="맑은 고딕"/>
              </a:rPr>
              <a:t>•  자주 불리는 문장: 실행당 가벼우나 호출이 많음 → 횟수 감소</a:t>
            </a:r>
          </a:p>
          <a:p>
            <a:pPr algn="l">
              <a:spcAft>
                <a:spcPts val="1000"/>
              </a:spcAft>
            </a:pPr>
            <a:r>
              <a:rPr sz="1700" b="0">
                <a:solidFill>
                  <a:srgbClr val="222222"/>
                </a:solidFill>
                <a:latin typeface="맑은 고딕"/>
                <a:ea typeface="맑은 고딕"/>
              </a:rPr>
              <a:t>•  실측 9vmsz: 총량 849만 + 실행당 6,585 = 두 축 모두 나쁨</a:t>
            </a:r>
          </a:p>
          <a:p>
            <a:pPr algn="l">
              <a:spcAft>
                <a:spcPts val="1000"/>
              </a:spcAft>
            </a:pPr>
            <a:r>
              <a:rPr sz="1700" b="0">
                <a:solidFill>
                  <a:srgbClr val="222222"/>
                </a:solidFill>
                <a:latin typeface="맑은 고딕"/>
                <a:ea typeface="맑은 고딕"/>
              </a:rPr>
              <a:t>•  elapsed vs buffer_gets 순위 어긋남 = '대기가 문제'라는 단서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절대값 오판 교정 (Common Error)</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이 장이 경계하는 대표 오판</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buffer_gets 절대값 1·2위만 손대면 나머지를 무시</a:t>
            </a:r>
          </a:p>
          <a:p>
            <a:pPr algn="l">
              <a:spcAft>
                <a:spcPts val="1000"/>
              </a:spcAft>
            </a:pPr>
            <a:r>
              <a:rPr sz="1700" b="0">
                <a:solidFill>
                  <a:srgbClr val="222222"/>
                </a:solidFill>
                <a:latin typeface="맑은 고딕"/>
                <a:ea typeface="맑은 고딕"/>
              </a:rPr>
              <a:t>•  그럴듯한 답: 그 문장은 빨라지나 근본 문제는 남음</a:t>
            </a:r>
          </a:p>
          <a:p>
            <a:pPr algn="l">
              <a:spcAft>
                <a:spcPts val="1000"/>
              </a:spcAft>
            </a:pPr>
            <a:r>
              <a:rPr sz="1700" b="0">
                <a:solidFill>
                  <a:srgbClr val="222222"/>
                </a:solidFill>
                <a:latin typeface="맑은 고딕"/>
                <a:ea typeface="맑은 고딕"/>
              </a:rPr>
              <a:t>•  하드 파싱 60.6%가 만든 래치 경합은 그대로</a:t>
            </a:r>
          </a:p>
          <a:p>
            <a:pPr algn="l">
              <a:spcAft>
                <a:spcPts val="1000"/>
              </a:spcAft>
            </a:pPr>
            <a:r>
              <a:rPr sz="1700" b="0">
                <a:solidFill>
                  <a:srgbClr val="222222"/>
                </a:solidFill>
                <a:latin typeface="맑은 고딕"/>
                <a:ea typeface="맑은 고딕"/>
              </a:rPr>
              <a:t>•  교정: 절대값 → 실행당 → 시그니처(FORCE_MATCHING)로 묶기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절대값을 델타·비율로 교정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세 가지 오판 패턴</a:t>
            </a:r>
          </a:p>
          <a:p>
            <a:pPr algn="l">
              <a:spcAft>
                <a:spcPts val="600"/>
              </a:spcAft>
            </a:pPr>
            <a:r>
              <a:rPr sz="1600" b="0">
                <a:solidFill>
                  <a:srgbClr val="FFFFFF"/>
                </a:solidFill>
                <a:latin typeface="맑은 고딕"/>
                <a:ea typeface="맑은 고딕"/>
              </a:rPr>
              <a:t>•  부하 증가 ≠ 성능 저하</a:t>
            </a:r>
          </a:p>
          <a:p>
            <a:pPr algn="l">
              <a:spcAft>
                <a:spcPts val="600"/>
              </a:spcAft>
            </a:pPr>
            <a:r>
              <a:rPr sz="1600" b="0">
                <a:solidFill>
                  <a:srgbClr val="FFFFFF"/>
                </a:solidFill>
                <a:latin typeface="맑은 고딕"/>
                <a:ea typeface="맑은 고딕"/>
              </a:rPr>
              <a:t>•  공통 뿌리: 숫자 하나를 한 번 읽는 조급함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 가지 오판 패턴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맥락 없는 숫자에 의미를 부여하지 않는다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누적값 오판: 3.56억을 '많다'고 단정</a:t>
            </a:r>
          </a:p>
          <a:p>
            <a:pPr algn="l">
              <a:spcAft>
                <a:spcPts val="1000"/>
              </a:spcAft>
            </a:pPr>
            <a:r>
              <a:rPr sz="1700" b="0">
                <a:solidFill>
                  <a:srgbClr val="222222"/>
                </a:solidFill>
                <a:latin typeface="맑은 고딕"/>
                <a:ea typeface="맑은 고딕"/>
              </a:rPr>
              <a:t>•  ② 상위 SQL 오판: 절대값 1·2위만 손댐</a:t>
            </a:r>
          </a:p>
          <a:p>
            <a:pPr algn="l">
              <a:spcAft>
                <a:spcPts val="1000"/>
              </a:spcAft>
            </a:pPr>
            <a:r>
              <a:rPr sz="1700" b="0">
                <a:solidFill>
                  <a:srgbClr val="222222"/>
                </a:solidFill>
                <a:latin typeface="맑은 고딕"/>
                <a:ea typeface="맑은 고딕"/>
              </a:rPr>
              <a:t>•  ③ 부하 증가 ↔ 성능 저하 혼동</a:t>
            </a:r>
          </a:p>
          <a:p>
            <a:pPr algn="l">
              <a:spcAft>
                <a:spcPts val="1000"/>
              </a:spcAft>
            </a:pPr>
            <a:r>
              <a:rPr sz="1700" b="0">
                <a:solidFill>
                  <a:srgbClr val="222222"/>
                </a:solidFill>
                <a:latin typeface="맑은 고딕"/>
                <a:ea typeface="맑은 고딕"/>
              </a:rPr>
              <a:t>•  + 히트율 신앙: 단일 비율로 건강 판정(같은 부류)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부하 증가 vs 성능 저하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트랜잭션당으로 가른다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 오전: Δlogical reads=3,000,000  Δcommits=3,000</a:t>
            </a:r>
          </a:p>
          <a:p>
            <a:pPr>
              <a:lnSpc>
                <a:spcPct val="100000"/>
              </a:lnSpc>
              <a:spcAft>
                <a:spcPts val="0"/>
              </a:spcAft>
            </a:pPr>
            <a:r>
              <a:rPr sz="1250" b="0">
                <a:solidFill>
                  <a:srgbClr val="F2F2F2"/>
                </a:solidFill>
                <a:latin typeface="Consolas"/>
                <a:ea typeface="Consolas"/>
              </a:rPr>
              <a:t>--   → 트랜잭션당 = 1,000 LIO/txn</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오후: Δlogical reads=9,000,000  Δcommits=9,000</a:t>
            </a:r>
          </a:p>
          <a:p>
            <a:pPr>
              <a:lnSpc>
                <a:spcPct val="100000"/>
              </a:lnSpc>
              <a:spcAft>
                <a:spcPts val="0"/>
              </a:spcAft>
            </a:pPr>
            <a:r>
              <a:rPr sz="1250" b="0">
                <a:solidFill>
                  <a:srgbClr val="F2F2F2"/>
                </a:solidFill>
                <a:latin typeface="Consolas"/>
                <a:ea typeface="Consolas"/>
              </a:rPr>
              <a:t>--   → 트랜잭션당 = 1,000 LIO/txn</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총량 3배지만 트랜잭션당 동일 → 성능 저하 아님, 부하 3배</a:t>
            </a:r>
          </a:p>
          <a:p>
            <a:pPr>
              <a:lnSpc>
                <a:spcPct val="100000"/>
              </a:lnSpc>
              <a:spcAft>
                <a:spcPts val="0"/>
              </a:spcAft>
            </a:pPr>
            <a:r>
              <a:rPr sz="1250" b="0">
                <a:solidFill>
                  <a:srgbClr val="F2F2F2"/>
                </a:solidFill>
                <a:latin typeface="Consolas"/>
                <a:ea typeface="Consolas"/>
              </a:rPr>
              <a:t>-- 오후 트랜잭션당이 3,000이면? 그때가 진짜 성능 저하.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교정 원칙</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보이는 절대값 → 올바른 정규화</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logical reads 3.56억 → 초당·트랜잭션당 LIO</a:t>
            </a:r>
          </a:p>
          <a:p>
            <a:pPr algn="l">
              <a:spcAft>
                <a:spcPts val="1000"/>
              </a:spcAft>
            </a:pPr>
            <a:r>
              <a:rPr sz="1700" b="0">
                <a:solidFill>
                  <a:srgbClr val="222222"/>
                </a:solidFill>
                <a:latin typeface="맑은 고딕"/>
                <a:ea typeface="맑은 고딕"/>
              </a:rPr>
              <a:t>•  buffer_gets 상위 SQL → 실행당·시그니처로 재평가</a:t>
            </a:r>
          </a:p>
          <a:p>
            <a:pPr algn="l">
              <a:spcAft>
                <a:spcPts val="1000"/>
              </a:spcAft>
            </a:pPr>
            <a:r>
              <a:rPr sz="1700" b="0">
                <a:solidFill>
                  <a:srgbClr val="222222"/>
                </a:solidFill>
                <a:latin typeface="맑은 고딕"/>
                <a:ea typeface="맑은 고딕"/>
              </a:rPr>
              <a:t>•  parse count (hard) → total 대비 비율(60.6%)</a:t>
            </a:r>
          </a:p>
          <a:p>
            <a:pPr algn="l">
              <a:spcAft>
                <a:spcPts val="1000"/>
              </a:spcAft>
            </a:pPr>
            <a:r>
              <a:rPr sz="1700" b="0">
                <a:solidFill>
                  <a:srgbClr val="222222"/>
                </a:solidFill>
                <a:latin typeface="맑은 고딕"/>
                <a:ea typeface="맑은 고딕"/>
              </a:rPr>
              <a:t>•  execute count 증가 → 초·트랜잭션당으로 부하/저하 구분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AWR 없이도 진단은 된다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V$ 실시간 조회 = 라이선스 무관</a:t>
            </a:r>
          </a:p>
          <a:p>
            <a:pPr algn="l">
              <a:spcAft>
                <a:spcPts val="600"/>
              </a:spcAft>
            </a:pPr>
            <a:r>
              <a:rPr sz="1600" b="0">
                <a:solidFill>
                  <a:srgbClr val="FFFFFF"/>
                </a:solidFill>
                <a:latin typeface="맑은 고딕"/>
                <a:ea typeface="맑은 고딕"/>
              </a:rPr>
              <a:t>•  DBA_HIST·AWR·ADDM·ASH = Diagnostics Pack 🔒</a:t>
            </a:r>
          </a:p>
          <a:p>
            <a:pPr algn="l">
              <a:spcAft>
                <a:spcPts val="600"/>
              </a:spcAft>
            </a:pPr>
            <a:r>
              <a:rPr sz="1600" b="0">
                <a:solidFill>
                  <a:srgbClr val="FFFFFF"/>
                </a:solidFill>
                <a:latin typeface="맑은 고딕"/>
                <a:ea typeface="맑은 고딕"/>
              </a:rPr>
              <a:t>•  대안: Statspack · V$ 델타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V$의 위치와 라이선스 경계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'지금'은 무료, '과거'는 라이선스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무관: V$SESSION·V$SESSION_WAIT·V$SQL·V$SYSSTAT·V$SEGMENT_STATISTICS</a:t>
            </a:r>
          </a:p>
          <a:p>
            <a:pPr algn="l">
              <a:spcAft>
                <a:spcPts val="1000"/>
              </a:spcAft>
            </a:pPr>
            <a:r>
              <a:rPr sz="1700" b="0">
                <a:solidFill>
                  <a:srgbClr val="222222"/>
                </a:solidFill>
                <a:latin typeface="맑은 고딕"/>
                <a:ea typeface="맑은 고딕"/>
              </a:rPr>
              <a:t>•  🔒 Diagnostics Pack: AWR·ADDM·ASH·DBA_HIST_*·V$ACTIVE_SESSION_HISTORY</a:t>
            </a:r>
          </a:p>
          <a:p>
            <a:pPr algn="l">
              <a:spcAft>
                <a:spcPts val="1000"/>
              </a:spcAft>
            </a:pPr>
            <a:r>
              <a:rPr sz="1700" b="0">
                <a:solidFill>
                  <a:srgbClr val="222222"/>
                </a:solidFill>
                <a:latin typeface="맑은 고딕"/>
                <a:ea typeface="맑은 고딕"/>
              </a:rPr>
              <a:t>•  대안: Statspack(무상) 또는 V$ 두 시점 델타</a:t>
            </a:r>
          </a:p>
          <a:p>
            <a:pPr algn="l">
              <a:spcAft>
                <a:spcPts val="1000"/>
              </a:spcAft>
            </a:pPr>
            <a:r>
              <a:rPr sz="1700" b="0">
                <a:solidFill>
                  <a:srgbClr val="222222"/>
                </a:solidFill>
                <a:latin typeface="맑은 고딕"/>
                <a:ea typeface="맑은 고딕"/>
              </a:rPr>
              <a:t>•  AWR이 자동화하던 '구간 정규화'를 손으로 할 뿐 논리는 동일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라이선스 없이 보는 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보고 싶은 것 → V$ 대안</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지금 활성 세션·대기 → V$SESSION·V$SESSION_WAIT</a:t>
            </a:r>
          </a:p>
          <a:p>
            <a:pPr algn="l">
              <a:spcAft>
                <a:spcPts val="1000"/>
              </a:spcAft>
            </a:pPr>
            <a:r>
              <a:rPr sz="1700" b="0">
                <a:solidFill>
                  <a:srgbClr val="222222"/>
                </a:solidFill>
                <a:latin typeface="맑은 고딕"/>
                <a:ea typeface="맑은 고딕"/>
              </a:rPr>
              <a:t>•  지금 상위 부하 SQL → V$SQL 기준별 정렬</a:t>
            </a:r>
          </a:p>
          <a:p>
            <a:pPr algn="l">
              <a:spcAft>
                <a:spcPts val="1000"/>
              </a:spcAft>
            </a:pPr>
            <a:r>
              <a:rPr sz="1700" b="0">
                <a:solidFill>
                  <a:srgbClr val="222222"/>
                </a:solidFill>
                <a:latin typeface="맑은 고딕"/>
                <a:ea typeface="맑은 고딕"/>
              </a:rPr>
              <a:t>•  구간 부하율 → V$SYSSTAT 두 시점 델타</a:t>
            </a:r>
          </a:p>
          <a:p>
            <a:pPr algn="l">
              <a:spcAft>
                <a:spcPts val="1000"/>
              </a:spcAft>
            </a:pPr>
            <a:r>
              <a:rPr sz="1700" b="0">
                <a:solidFill>
                  <a:srgbClr val="222222"/>
                </a:solidFill>
                <a:latin typeface="맑은 고딕"/>
                <a:ea typeface="맑은 고딕"/>
              </a:rPr>
              <a:t>•  과거 구간 재구성 → 🔒 대신 Statspack 보고서</a:t>
            </a:r>
          </a:p>
          <a:p>
            <a:pPr algn="l">
              <a:spcAft>
                <a:spcPts val="1000"/>
              </a:spcAft>
            </a:pPr>
            <a:r>
              <a:rPr sz="1700" b="0">
                <a:solidFill>
                  <a:srgbClr val="222222"/>
                </a:solidFill>
                <a:latin typeface="맑은 고딕"/>
                <a:ea typeface="맑은 고딕"/>
              </a:rPr>
              <a:t>•  과거 스파이크 → 🔒 ASH 대신 V$SESSION 반복 샘플링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Q1. 인스턴스 튜닝 방법론 4단계를 순서대로 쓰고 각 단계의 수집·측정을 설명하라.</a:t>
            </a:r>
          </a:p>
          <a:p>
            <a:pPr algn="l">
              <a:spcAft>
                <a:spcPts val="900"/>
              </a:spcAft>
            </a:pPr>
            <a:r>
              <a:rPr sz="1600" b="0">
                <a:solidFill>
                  <a:srgbClr val="222222"/>
                </a:solidFill>
                <a:latin typeface="맑은 고딕"/>
                <a:ea typeface="맑은 고딕"/>
              </a:rPr>
              <a:t>•  Q2. 진단 경로 '세션→대기→SQL→세그먼트'가 왜 이 순서인지 설명하라.</a:t>
            </a:r>
          </a:p>
          <a:p>
            <a:pPr algn="l">
              <a:spcAft>
                <a:spcPts val="900"/>
              </a:spcAft>
            </a:pPr>
            <a:r>
              <a:rPr sz="1600" b="0">
                <a:solidFill>
                  <a:srgbClr val="222222"/>
                </a:solidFill>
                <a:latin typeface="맑은 고딕"/>
                <a:ea typeface="맑은 고딕"/>
              </a:rPr>
              <a:t>•  Q3. ACTIVE 세션의 대기가 'SQL*Net message from client'일 때 병목이 아닌 이유는?</a:t>
            </a:r>
          </a:p>
          <a:p>
            <a:pPr algn="l">
              <a:spcAft>
                <a:spcPts val="900"/>
              </a:spcAft>
            </a:pPr>
            <a:r>
              <a:rPr sz="1600" b="0">
                <a:solidFill>
                  <a:srgbClr val="222222"/>
                </a:solidFill>
                <a:latin typeface="맑은 고딕"/>
                <a:ea typeface="맑은 고딕"/>
              </a:rPr>
              <a:t>•  Q4. session logical reads 절대값만으로 판정 못 하는 이유와 올바른 절차는?</a:t>
            </a:r>
          </a:p>
          <a:p>
            <a:pPr algn="l">
              <a:spcAft>
                <a:spcPts val="900"/>
              </a:spcAft>
            </a:pPr>
            <a:r>
              <a:rPr sz="1600" b="0">
                <a:solidFill>
                  <a:srgbClr val="222222"/>
                </a:solidFill>
                <a:latin typeface="맑은 고딕"/>
                <a:ea typeface="맑은 고딕"/>
              </a:rPr>
              <a:t>•  Q5. 하드 파싱 112,198/185,227의 비율을 계산하고 비정상 근거·원인을 쓰라.</a:t>
            </a:r>
          </a:p>
          <a:p>
            <a:pPr algn="l">
              <a:spcAft>
                <a:spcPts val="900"/>
              </a:spcAft>
            </a:pPr>
            <a:r>
              <a:rPr sz="1600" b="0">
                <a:solidFill>
                  <a:srgbClr val="222222"/>
                </a:solidFill>
                <a:latin typeface="맑은 고딕"/>
                <a:ea typeface="맑은 고딕"/>
              </a:rPr>
              <a:t>•  Q6. buffer_gets 절대값 상위만 튜닝할 때 놓치는 것과 교정 방법은?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인스턴스 튜닝은 문제 정의→통계 검토→변경·측정→반복이며 기준선이 필수다.</a:t>
            </a:r>
          </a:p>
          <a:p>
            <a:pPr algn="l">
              <a:spcAft>
                <a:spcPts val="900"/>
              </a:spcAft>
            </a:pPr>
            <a:r>
              <a:rPr sz="1600" b="0">
                <a:solidFill>
                  <a:srgbClr val="222222"/>
                </a:solidFill>
                <a:latin typeface="맑은 고딕"/>
                <a:ea typeface="맑은 고딕"/>
              </a:rPr>
              <a:t>•  실시간 진단은 세션→대기→SQL→세그먼트 순으로 좁힌다.</a:t>
            </a:r>
          </a:p>
          <a:p>
            <a:pPr algn="l">
              <a:spcAft>
                <a:spcPts val="900"/>
              </a:spcAft>
            </a:pPr>
            <a:r>
              <a:rPr sz="1600" b="0">
                <a:solidFill>
                  <a:srgbClr val="222222"/>
                </a:solidFill>
                <a:latin typeface="맑은 고딕"/>
                <a:ea typeface="맑은 고딕"/>
              </a:rPr>
              <a:t>•  ACTIVE라도 대기가 Idle이면 병목이 아니다 — 걸러 낸다.</a:t>
            </a:r>
          </a:p>
          <a:p>
            <a:pPr algn="l">
              <a:spcAft>
                <a:spcPts val="900"/>
              </a:spcAft>
            </a:pPr>
            <a:r>
              <a:rPr sz="1600" b="0">
                <a:solidFill>
                  <a:srgbClr val="222222"/>
                </a:solidFill>
                <a:latin typeface="맑은 고딕"/>
                <a:ea typeface="맑은 고딕"/>
              </a:rPr>
              <a:t>•  V$SYSSTAT은 누적값. 델타를 초·트랜잭션당으로 정규화해야 판정된다.</a:t>
            </a:r>
          </a:p>
          <a:p>
            <a:pPr algn="l">
              <a:spcAft>
                <a:spcPts val="900"/>
              </a:spcAft>
            </a:pPr>
            <a:r>
              <a:rPr sz="1600" b="0">
                <a:solidFill>
                  <a:srgbClr val="222222"/>
                </a:solidFill>
                <a:latin typeface="맑은 고딕"/>
                <a:ea typeface="맑은 고딕"/>
              </a:rPr>
              <a:t>•  V$SQL은 실행시간·논리읽기·실행횟수로 교차하고 실행당·시그니처로 확인.</a:t>
            </a:r>
          </a:p>
          <a:p>
            <a:pPr algn="l">
              <a:spcAft>
                <a:spcPts val="900"/>
              </a:spcAft>
            </a:pPr>
            <a:r>
              <a:rPr sz="1600" b="0">
                <a:solidFill>
                  <a:srgbClr val="222222"/>
                </a:solidFill>
                <a:latin typeface="맑은 고딕"/>
                <a:ea typeface="맑은 고딕"/>
              </a:rPr>
              <a:t>•  V$ 실시간 조회는 라이선스 무관 — AWR 없이도 진단은 가능하다.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실습 01 — 실시간 진단 경로: 세션→대기→SQL→세그먼트 추적</a:t>
            </a:r>
          </a:p>
          <a:p>
            <a:pPr algn="l">
              <a:spcAft>
                <a:spcPts val="900"/>
              </a:spcAft>
            </a:pPr>
            <a:r>
              <a:rPr sz="1600" b="0">
                <a:solidFill>
                  <a:srgbClr val="222222"/>
                </a:solidFill>
                <a:latin typeface="맑은 고딕"/>
                <a:ea typeface="맑은 고딕"/>
              </a:rPr>
              <a:t>•  실습 02 — V$SYSSTAT 델타 계산: 초·트랜잭션당 부하율과 하드 파싱 비율</a:t>
            </a:r>
          </a:p>
          <a:p>
            <a:pPr algn="l">
              <a:spcAft>
                <a:spcPts val="900"/>
              </a:spcAft>
            </a:pPr>
            <a:r>
              <a:rPr sz="1600" b="0">
                <a:solidFill>
                  <a:srgbClr val="222222"/>
                </a:solidFill>
                <a:latin typeface="맑은 고딕"/>
                <a:ea typeface="맑은 고딕"/>
              </a:rPr>
              <a:t>•  실습 03 — V$SESSION·V$SESSION_WAIT로 현재 활동 파악과 Idle 걸러내기</a:t>
            </a:r>
          </a:p>
          <a:p>
            <a:pPr algn="l">
              <a:spcAft>
                <a:spcPts val="900"/>
              </a:spcAft>
            </a:pPr>
            <a:r>
              <a:rPr sz="1600" b="0">
                <a:solidFill>
                  <a:srgbClr val="222222"/>
                </a:solidFill>
                <a:latin typeface="맑은 고딕"/>
                <a:ea typeface="맑은 고딕"/>
              </a:rPr>
              <a:t>•  실습 04 — V$SQL 정렬 기준별 상위 SQL 선별과 교차</a:t>
            </a:r>
          </a:p>
          <a:p>
            <a:pPr algn="l">
              <a:spcAft>
                <a:spcPts val="900"/>
              </a:spcAft>
            </a:pPr>
            <a:r>
              <a:rPr sz="1600" b="0">
                <a:solidFill>
                  <a:srgbClr val="222222"/>
                </a:solidFill>
                <a:latin typeface="맑은 고딕"/>
                <a:ea typeface="맑은 고딕"/>
              </a:rPr>
              <a:t>•  실습 05 — 절대값 오판을 델타·비율·시그니처로 교정</a:t>
            </a:r>
          </a:p>
          <a:p>
            <a:pPr algn="l">
              <a:spcAft>
                <a:spcPts val="900"/>
              </a:spcAft>
            </a:pPr>
            <a:r>
              <a:rPr sz="1600" b="0">
                <a:solidFill>
                  <a:srgbClr val="222222"/>
                </a:solidFill>
                <a:latin typeface="맑은 고딕"/>
                <a:ea typeface="맑은 고딕"/>
              </a:rPr>
              <a:t>•  ※ 모두 non-CDB(orcl 19.3), 라이선스 불필요한 V$ 조회만 사용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
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19장으로 넘어간다는 연결도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1장에서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제13장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13.2  인스턴스 튜닝의 절차 — 무엇을 순서로 하는가</a:t>
            </a:r>
          </a:p>
          <a:p>
            <a:pPr algn="l">
              <a:spcAft>
                <a:spcPts val="900"/>
              </a:spcAft>
            </a:pPr>
            <a:r>
              <a:rPr sz="1600" b="0">
                <a:solidFill>
                  <a:srgbClr val="222222"/>
                </a:solidFill>
                <a:latin typeface="맑은 고딕"/>
                <a:ea typeface="맑은 고딕"/>
              </a:rPr>
              <a:t>•  13.3  실시간 진단 경로 — 세션 → 대기 → SQL → 세그먼트</a:t>
            </a:r>
          </a:p>
          <a:p>
            <a:pPr algn="l">
              <a:spcAft>
                <a:spcPts val="900"/>
              </a:spcAft>
            </a:pPr>
            <a:r>
              <a:rPr sz="1600" b="0">
                <a:solidFill>
                  <a:srgbClr val="222222"/>
                </a:solidFill>
                <a:latin typeface="맑은 고딕"/>
                <a:ea typeface="맑은 고딕"/>
              </a:rPr>
              <a:t>•  13.4  V$SYSSTAT — 시스템 통계 읽기(누적값·델타·정규화)</a:t>
            </a:r>
          </a:p>
          <a:p>
            <a:pPr algn="l">
              <a:spcAft>
                <a:spcPts val="900"/>
              </a:spcAft>
            </a:pPr>
            <a:r>
              <a:rPr sz="1600" b="0">
                <a:solidFill>
                  <a:srgbClr val="222222"/>
                </a:solidFill>
                <a:latin typeface="맑은 고딕"/>
                <a:ea typeface="맑은 고딕"/>
              </a:rPr>
              <a:t>•  13.5  V$SQL — 상위 부하 SQL 선별</a:t>
            </a:r>
          </a:p>
          <a:p>
            <a:pPr algn="l">
              <a:spcAft>
                <a:spcPts val="900"/>
              </a:spcAft>
            </a:pPr>
            <a:r>
              <a:rPr sz="1600" b="0">
                <a:solidFill>
                  <a:srgbClr val="222222"/>
                </a:solidFill>
                <a:latin typeface="맑은 고딕"/>
                <a:ea typeface="맑은 고딕"/>
              </a:rPr>
              <a:t>•  13.6  절대값을 델타·비율로 교정한다 — 이 장의 축</a:t>
            </a:r>
          </a:p>
          <a:p>
            <a:pPr algn="l">
              <a:spcAft>
                <a:spcPts val="900"/>
              </a:spcAft>
            </a:pPr>
            <a:r>
              <a:rPr sz="1600" b="0">
                <a:solidFill>
                  <a:srgbClr val="222222"/>
                </a:solidFill>
                <a:latin typeface="맑은 고딕"/>
                <a:ea typeface="맑은 고딕"/>
              </a:rPr>
              <a:t>•  13.7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
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제2장은 앞 장에서 세운 판단 기준 위에 SQL이 실제로 어떻게 처리되는지를 얹는 장이다. 실행계획 읽기만 반복하면 개별 문장은 설명할 수 있어도 서버 전체가 파싱으로 느려지는 상황은 진단하지 못한다. 이 장이 그 빈 자리를 채운다. 첫 시간에 던질 질문은 하나면 충분하다. 같은 SQL을 두 번 실행하면 오라클은 두 번 다 고민할까, 아니면 한 번만 고민하고 두 번째는 기억을 꺼내 쓸까. 학습자가 스스로 답을 만들어 보게 한 뒤 본문으로 들어가면 네 단계 설명이 훨씬 잘 붙는다. 강의 첫머리에서 이 장이 실행계획 읽기가 아니라 그 계획이 생기는 과정을 다룬다는 점을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앞의 셋은 처리 단계를 언어로 설명하는 능력, 가운데 넷은 공유 풀에서 SQL이 식별되고 재사용되는 원리, 마지막 셋은 관찰한 값을 해석하는 능력이다. 특히 마지막 항목을 미리 예고해 두는 것이 중요하다. 이 장은 바인드 변수를 권장하는 장처럼 보이지만 마지막에 그 권장을 스스로 흔들어 본다. 그 반전이 있어야 학습자가 기법을 규칙이 아니라 판단으로 받아들인다. 각 목표가 어느 절과 대응되는지 짚어 주면 진행 중 위치를 잃지 않는다. 목표를 모두 읽은 뒤 어느 항목이 가장 낯선지 물어보면, 그 반응이 이후 진행 속도를 정하는 기준이 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단계 이해에서 출발해 식별 원리를 배우고 실측으로 확인하는 순서다. 앞의 두 절이 개념이고, 가운데 두 절이 소재 소개와 실행계획 관찰, 뒤의 두 절이 공유 풀 통계 관찰과 종합이다. 시간이 부족하면 개념 절을 압축하고 실행계획과 통계 관찰에 시간을 몰아 주는 편이 낫다. 이 장은 소재가 하나뿐이라 흐름이 단순해 보이지만, 같은 소재를 파싱 관점과 추정 관점 두 각도로 나눠 보는 구조라는 점을 미리 알려 주면 중간에 맥락을 놓치지 않는다. 절 사이의 연결 고리를 한 문장씩 미리 말해 주면 절이 바뀔 때마다 맥락이 끊기는 느낌을 크게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앞 장에서 실행계획 읽는 법을 배우고 나면 이제 진단 도구를 다 갖췄다고 느낀다. 그 자신감을 한 번 흔들어 주는 것이 이 절의 역할이다. 실행계획은 이미 만들어진 결과물이고, 그 결과물이 언제 만들어지고 언제 다시 만들어지는지는 실행계획 안에 적혀 있지 않다. 이 절에서는 기법을 하나도 알려 주지 않고, 우리가 아직 무엇을 모르고 있는지만 서로 합의하고 넘어간다. 학습자에게 지금까지 성능 문제를 무엇으로 진단해 왔는지 먼저 물어보고 시작하면 이 절의 문제 제기가 훨씬 잘 전달된다. 답이 대개 실행계획 하나로 모이는 순간이 이 장의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강사가 짚어야 할 것은 관점의 전환이다. 앞 장까지는 실행계획을 하나의 사진처럼 놓고 읽었다면, 이번 장은 그 사진이 언제 어떻게 찍혔는지를 본다. 실무에서 자주 나오는 사고가 정확히 이 지점에 있다. 개별 SQL은 어느 것도 느리지 않은데 특정 시간대에 데이터베이스 전체가 느려지는 경우다. 이런 상황은 실행계획을 아무리 들여다봐도 원인이 보이지 않고, 파싱이라는 단어를 알고 있어야 비로소 의심할 수 있게 된다. 토론을 유도하기 좋은 구간이므로 답을 서둘러 주지 말고, 학습자들이 겪은 사례를 두세 개 받아 적어 두었다가 뒤에서 다시 꺼내 쓰는 방식을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분명히 해 두면 학습자가 조급해지지 않는다. 이 장에서는 히스토그램이라는 단어가 등장하지만 그 내부 구조는 다루지 않는다. 여기서 필요한 것은 그런 통계가 존재한다는 사실과, 그것이 파싱 시점에 쓰인다는 연결뿐이다. 소재가 하나의 단순한 카운트 조회라는 점도 미리 말해 두는 편이 좋다. 문장이 단순할수록 파싱이라는 변수 하나만 남기고 관찰할 수 있기 때문에 일부러 이렇게 고른 소재라는 설명을 덧붙인다. 범위를 벗어나는 질문이 나오면 어느 챕터에서 다루는지만 짚어 주고 넘어간다. 지금 답해 주면 이 장의 초점이 흐려지고 시간도 크게 밀린다.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 전체의 뼈대다. 네 단계를 외우게 하는 것이 목적이 아니라, 계획을 만드는 단계와 계획을 쓰는 단계가 분리돼 있다는 구조를 이해시키는 것이 목적이다. 이 분리가 이해되면 뒤에 나오는 재사용, 바인드 변수, 그리고 마지막의 부작용까지 하나의 이야기로 이어진다. 반대로 이 구조를 놓치면 이후 내용이 전부 따로 노는 암기 항목이 된다. 칠판에 네 단계를 적어 두고 절이 끝날 때까지 지우지 않기를 권한다. 네 단계를 판서한 뒤 각 단계 옆에 이 단계에서 무엇이 만들어지는지를 한 단어씩 적어 두면 학습자가 스스로 구조를 채워 나갈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단계를 소개할 때 요리에 비유하면 학습자가 잘 받아들인다. 조리법을 정하는 것이 Parse, 재료를 넣는 것이 Bind, 실제로 조리하는 것이 Execute, 접시에 담아 내보내는 것이 Fetch다. 여기서 반드시 강조할 것은 조리법을 정하는 일이 매번 일어나지는 않는다는 점이다. 같은 요리를 또 만들 때 조리법을 처음부터 다시 궁리하지 않는 것처럼, 오라클도 같은 SQL이면 이미 정해 둔 계획을 꺼내 쓴다. 이 비유가 다음 절의 소프트 파싱으로 그대로 이어진다. 비유는 여기까지만 쓰고 이후에는 용어 그대로 진행한다. 비유를 길게 끌면 나중에 예외를 설명할 때 오히려 방해가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항목이 이 장의 분기점이다. 여기서 있느냐 없느냐에 따라 이후 비용이 완전히 갈린다. 학습자가 흔히 오해하는 지점은 소프트 파싱을 파싱을 하지 않는 것으로 이해하는 것이다. 소프트 파싱에서도 문법과 의미 검사는 그대로 수행되고 공유 풀을 뒤지는 작업도 남아 있다. 생략되는 것은 가장 비싼 최적화 단계뿐이다. 이 구분을 정확히 해 두지 않으면 뒤에서 바인드 변수를 쓰면 파싱이 사라진다는 잘못된 결론으로 넘어가게 된다. 네 항목을 순서대로 판서하고 세 번째에 표시를 해 두면, 이후 슬라이드에서 그 표시를 가리키며 설명을 이어 갈 수 있어 흐름이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가장 중요한 문장은 마지막 줄이다. 계획을 바꾸지 않는다는 사실이 뒤의 모든 논의를 지탱한다. 실행 도중에 오라클이 상황을 보고 계획을 갈아 끼우지 않기 때문에, 계획을 잘못 만들면 그 잘못이 그 실행 내내 유지된다. 마지막 절에서 다룰 바인드 변수의 부작용도 정확히 이 성질에서 나온다. 또 하나 짚어 둘 것은 실측치가 생기는 시점이다. 실제로 실행해 봐야만 생기는 값이라는 점을 여기서 못 박아 두면 다음 슬라이드가 쉬워진다. 세 단계를 빠르게 넘기되 마지막 줄만은 판서해 남겨 둔다. 이 문장이 마지막 절의 반전을 이해하는 데 그대로 쓰이기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장에서 추정치와 실측치를 나란히 놓고 읽는 훈련을 했는데, 왜 그 둘이 따로 존재하는지는 설명하지 않았다. 그 답이 이 슬라이드다. 추정치는 Parse의 산출물이고 실측치는 Execute와 Fetch의 산출물이므로, 애초에 만들어지는 시점이 서로 다르다. 이 연결을 해 주면 학습자가 앞 장 내용과 이번 장을 하나로 묶어 기억하게 된다. 실습문제 7번이 정확히 이 대응을 묻는 문항이므로 여기서 말로 한 번 정리하고 넘어가는 것이 좋다. 앞 장의 실행계획 화면을 한 장 다시 띄워 놓고 어느 열이 추정이고 어느 열이 실측인지 지목하게 하면 이 슬라이드의 설명이 즉시 실물과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개념 밀도가 가장 높은 구간이다. 용어는 두 개뿐이지만 그 뒤에 붙는 결론이 이 장 전체를 끌고 간다. 진행할 때는 하드와 소프트라는 이름의 어감에 끌려가지 않도록 주의시키는 것이 좋다. 중요한 것은 이름이 아니라 최적화 단계를 다시 하는가 아닌가라는 한 가지 기준이다. 이 기준 하나만 남기고 나머지 설명을 덜어 내면 학습자가 훨씬 또렷하게 기억한다. 용어 두 개를 판서하고 그 사이에 최적화를 다시 하는가라는 질문 하나만 적어 두면 이 절의 설명이 전부 그 한 줄로 정리된다. 학습자가 나중에 복습할 때도 이 한 줄만 기억하면 나머지를 스스로 복원할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파싱을 무조건 나쁜 것으로 각인시키지 않는 것이 중요하다. 새로운 SQL이 들어오면 계획을 만들어야 하고, 그 작업은 반드시 누군가 한 번은 해야 한다. 실무에서 문제가 되는 것은 같은 일을 하는 SQL이 값만 바뀌어 계속 새 SQL로 취급되는 상황이다. 이 구분을 흐리면 학습자는 파싱을 없애야 할 대상으로 오해하고, 나중에 커서 캐싱이나 바인드 변수를 목적이 아니라 만능 해법으로 쓰게 된다. 필요한 한 번과 불필요한 반복을 나누는 감각을 여기서 심어 준다. 실무 사례를 하나 곁들이면 좋다. 배치 작업처럼 한 번만 도는 SQL이라면 하드 파싱을 걱정할 이유가 거의 없다는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소프트 파싱을 설명할 때 학습자가 가장 궁금해하는 것은 그래서 얼마나 싸냐는 질문이다. 이 과정에서는 그 수치를 임의로 말하지 않는다. 대신 무엇이 생략되는지를 정확히 짚어 주는 편이 훨씬 유용하다. 생략되는 것은 계획 후보를 만들고 비교하는 최적화 작업이며, 그것이 파싱에서 가장 비싼 부분이라는 사실만으로도 판단에는 충분하다. 마지막 줄의 확인 방법이 뒤의 2.7절 관찰로 그대로 이어진다는 점을 예고해 두면 흐름이 매끄러워진다. 여기까지 오면 학습자 대부분이 그래서 어떻게 하면 소프트 파싱이 되느냐고 묻는다. 그 질문이 나오면 다음 슬라이드로 자연스럽게 넘어가면 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학습자들이 자주 놀라는 대목은 공백과 대소문자까지 텍스트라는 점이다. 실무에서 같은 쿼리를 두 개발자가 서식만 다르게 작성해 서로 다른 SQL_ID로 잡히는 일이 실제로 일어난다. 이 사실을 알려 주면 코딩 컨벤션을 왜 맞추는지에 대한 답이 성능 쪽에서도 하나 생긴다. 다만 오라클이 의미를 몰라서가 아니라 텍스트 일치만으로 판단하도록 설계된 것이라는 점을 함께 말해 줘야, 오라클이 어리석다는 식의 오해로 가지 않는다. 같은 SQL을 서식만 바꿔 두 번 실행해 보는 시연을 준비할 수 있다면 여기서 보여 준다. 짧은 시연 하나가 긴 설명을 대신한다.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장에서 가장 실무적인 내용이다. 웹 애플리케이션에서 조건 값을 문자열로 이어 붙여 쿼리를 만드는 코드는 지금도 흔하고, 그런 코드가 트래픽을 만나면 정확히 이 상황이 된다. 학습자에게 자기 프로젝트의 코드를 떠올려 보게 하면 반응이 좋다. 덧붙일 것은 이것이 보안 문제와도 겹친다는 점이다. 값을 문자열로 이어 붙이는 방식은 주입 공격의 통로가 되기도 하므로, 바인드 변수는 성능과 보안 양쪽에서 권장되는 습관이다. 학습자에게 자기 프로젝트에서 조건 값을 어떻게 넘기고 있는지 확인해 보게 하는 과제를 내면 다음 시간에 좋은 사례가 모인다.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앞 절의 네 단계가 왜 필요했는지가 드러난다. 값이 들어가는 단계와 계획을 만드는 단계가 분리돼 있기 때문에 계획을 값과 무관하게 보관할 수 있는 것이다. 이 인과를 한 번 말로 정리해 주면 학습자가 네 단계를 단순 암기 목록이 아니라 설계로 이해하게 된다. 동시에 여기서 작은 복선을 깔아 두는 것이 좋다. 계획이 값과 무관하게 보관된다는 말은 값에 따라 계획이 달라져야 할 때는 문제가 될 수 있다는 뜻이기도 하다. 이 복선을 여기서 한 문장으로만 던져 두고 자세한 설명은 하지 않는다. 마지막 절에서 회수할 때 효과가 훨씬 커지기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관찰 대상을 소개하는 짧은 구간이다. SQL 자체는 단순한 카운트 조회라 설명할 것이 거의 없지만, 그 단순함이 의도된 것이라는 점은 짚어 줄 만하다. 문장이 복잡하면 관찰 결과가 파싱 때문인지 문장 구조 때문인지 구분하기 어려워진다. 변수를 하나만 남기고 나머지를 고정하는 것이 실험 설계의 기본이며, 학습자가 나중에 스스로 벤치마크를 설계할 때도 그대로 적용되는 원칙이다. 소재가 단순하다고 빠르게 넘기지 말고, 왜 이렇게 단순한 SQL을 골랐는지 이유를 반드시 말해 준다. 실험 설계의 원칙을 한 번 짚어 두면 이후 비교 실습에서 학습자가 스스로 조건을 통제하기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SQL을 띄운 직후에 학습자에게 질문을 하나 던지면 좋다. 이 두 문장을 오라클은 한 개의 SQL로 볼까 두 개로 볼까. 대부분은 로직이 같으니 한 개라고 답하는데, 그 예상이 뒤에서 실측으로 뒤집히는 순간 개념이 확실히 박힌다. 답을 미리 알려 주지 말고 손을 들어 보게 한 다음 결과를 기록해 두었다가 2.7절에서 다시 꺼내는 방식을 권한다. 실습문제 2번이 정확히 이 대목을 서술형으로 묻는 문항이다. 값을 문자열로 이어 붙여 쿼리를 만드는 코드가 실무에서 어떤 모양인지 한 줄만 칠판에 적어 보여 주면 학습자가 자기 코드와 즉시 겹쳐 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VARIABLE과 EXEC는 SQL*Plus에서 바인드 변수를 선언하고 값을 넣는 명령이다. 애플리케이션 코드에서는 이 자리에 JDBC의 PreparedStatement 파라미터나 각 언어의 바인딩 API가 들어간다는 점을 알려 주는 편이 좋다. 실습에서만 쓰는 특수 문법으로 오해하면 실무 적용으로 연결되지 않기 때문이다. 여기서 핵심은 SELECT 문장의 텍스트가 두 번 모두 글자 하나까지 동일하다는 사실이며, 그 동일함이 뒤의 관찰 결과를 전부 만들어 낸다. 실습 환경에서 이 명령을 직접 쳐 보게 할 시간이 있다면 여기서 잠깐 손을 쓰게 하는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먼저 정하고 관찰에 들어가는 습관을 여기서 훈련시킨다. 실행계획을 띄워 놓고 눈에 띄는 것을 찾는 방식은 초심자에게 가장 흔한 실수이며, 무엇을 볼지 정하지 않으면 언제나 숫자가 큰 항목에 시선이 끌린다. 이번 관찰에서 볼 것은 세 개뿐이고 나머지는 무시해도 된다고 미리 못 박아 두면 학습자가 훨씬 편하게 따라온다. 이 습관은 이후 모든 챕터의 실측 비교에서 그대로 반복해 쓰게 된다. 지표를 판서해 두고 관찰이 끝날 때마다 그 옆에 값을 채워 넣게 하면 슬라이드를 넘겨도 비교표가 칠판에 남아 있어 학습자가 흐름을 놓치지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장의 몸통이다. 두 실행계획을 나란히 놓고 무엇이 다르고 무엇이 같은지를 가려내는 훈련을 한다. 진행할 때 서두르지 말고 한 계획씩 충분히 읽게 하는 것이 좋다. 학습자가 스스로 차이를 발견하게 만들면 이후 해석 슬라이드가 답 맞추기가 되어 몰입이 유지된다. 반대로 강사가 먼저 결론을 말해 버리면 남은 슬라이드가 전부 확인 작업으로 전락한다. 실행계획 두 장을 앞뒤로 넘겨 가며 보게 되므로, 가능하면 학습자에게도 교안 파일을 열어 두 화면을 나란히 놓게 하는 편이 좋다. 눈으로 한 번에 대조할 수 있어야 차이를 스스로 발견한다.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띄우면 학습자 시선이 가장 큰 숫자로 먼저 간다. 여기서는 순서를 정해 읽게 한다. 먼저 Operation 열에서 접근 방식을 확인하고, 다음에 추정과 실제를 한 쌍으로 묶어 읽고, 마지막에 시간과 블록 수를 본다. 이 순서를 지키면 어떤 실행계획을 만나도 같은 방식으로 접근할 수 있다. 그리고 추정 열은 파싱의 산출물이고 실제 열은 실행의 산출물이라는 앞 절의 구분을 여기서 실물로 확인시켜 준다. 읽는 순서를 판서해 두고 이후 모든 실행계획 슬라이드에서 같은 순서를 반복하게 하면, 이 장이 끝날 무렵에는 순서가 습관으로 굳는다.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미리 알려 줄 것이 하나 있다. 추정이 실제에 가깝게 나온 것은 우연이 아니라 이유가 있으며 그 이유를 뒤에서 다룬다는 예고다. 앞 장에서는 추정이 크게 빗나간 사례를 봤기 때문에, 예고 없이 정확한 추정을 보여 주면 앞 장 내용과 충돌하는 것처럼 느낀다. 두 사례가 모순이 아니라 조건이 다른 경우라는 점을 미리 말해 두면 혼란이 없다. 실습문제 4번이 이 차이를 통계정보로 설명하도록 요구한다. 이 슬라이드에서 SQL_ID를 굳이 언급하는 이유를 밝혀 둔다. 뒤에서 공유 풀 통계와 대조할 때 이 값이 연결 고리가 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실행계획을 나란히 놓고 학습자에게 직접 비교하게 하는 것이 이 슬라이드의 목적이다. 앞으로 넘겼다 뒤로 넘겼다 하며 열별로 훑게 하면 차이가 스스로 드러난다. 여기서 자주 나오는 질문이 왜 SQL_ID가 다르냐는 것인데, 이미 2.3절에서 답을 배웠으므로 학습자에게 되물어 답하게 하는 편이 좋다. 배운 개념을 실물 앞에서 다시 꺼내 쓰는 경험이 한 번 있어야 그 개념이 실제로 쓸 수 있는 지식이 된다. 두 화면의 차이를 학습자가 먼저 말하게 한 뒤 정리해 주는 순서를 지킨다. 먼저 답을 주면 남은 슬라이드가 확인 작업으로 끝난다.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비교표를 읽을 때는 다른 것과 같은 것을 반드시 따로 정리하게 한다. 초심자는 다른 항목만 찾아내고 같은 항목은 의미가 없다고 넘기는데, 실제로는 같다는 사실이 더 강한 단서가 되는 경우가 많다. 이번이 정확히 그런 사례다. 추정이 크게 달라졌는데도 실제로 읽은 블록 수가 똑같다는 사실은 추정이 이 SQL의 실행에 아무 영향을 주지 못했다는 뜻이며, 그 이유를 찾는 과정이 두 슬라이드 뒤까지 이어진다. 다른 것과 같은 것을 각각 판서해 두 칸으로 정리해 두면, 이어지는 두 슬라이드가 각 칸의 이유를 채워 넣는 구조라는 것이 한눈에 보인다.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히스토그램이라는 단어를 처음 꺼내는 자리이므로 개념만 짧게 잡아 준다. 통계정보가 컬럼마다 값이 몇 개인지만 기록하는 것이 아니라, 어떤 값에 데이터가 몰려 있는지까지 기록하는 형태가 있다는 정도면 충분하다. 여기서 시간을 많이 쓰면 이 장의 주제인 파싱에서 초점이 흐려진다. 대신 통계가 파싱 시점에 읽힌다는 연결만 확실히 해 둔다. 이 연결이 실습문제 8번에서 Cost가 파싱 시점에 확정되는 이유를 묻는 문항으로 이어진다. 히스토그램을 더 알고 싶어 하는 학습자에게는 해당 챕터를 안내하고, 지금은 통계가 파싱 시점에 읽힌다는 사실만 가져가면 충분하다고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학습자가 가장 자주 오해하는 지점을 정면으로 다룬다. 추정이 정확하면 성능이 좋아진다는 인상을 갖기 쉬운데, 추정은 선택을 위한 재료일 뿐 그 자체가 성능은 아니다. 선택지가 하나뿐인 상황에서는 아무리 정확히 추정해도 결과가 같다. 이 논리는 이후 챕터에서 인덱스를 만들자마자 곧바로 뒤집힌다. 같은 SQL이 선택지를 갖게 되는 순간 추정의 정확도가 성능을 좌우하기 시작한다는 예고로 마무리하면 다음 장으로 이어진다. 이 대목에서 인덱스를 만들면 어떻게 되느냐는 질문이 거의 반드시 나온다. 답을 미루지 말고 어느 챕터에서 실측으로 확인하는지만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앞에서 개념으로 배운 내용을 공유 풀에 남은 흔적으로 직접 확인하는 구간이다. 실행계획이 SQL 한 문장의 내부를 보여 준다면, 여기서 보는 통계는 그 문장이 데이터베이스 전체에서 어떻게 취급되는지를 보여 준다. 관점이 한 단계 올라간다는 점을 명확히 말해 주는 것이 좋다. 이 시점부터 학습자는 SQL 하나가 아니라 SQL이 모이는 공간을 함께 생각하기 시작한다. 실행계획 읽기에서 공유 풀 관찰로 넘어가는 전환점이므로 잠깐 호흡을 끊고 지금까지의 내용을 한 문장으로 정리한 뒤 시작하는 것이 좋다. 관점이 문장 하나에서 데이터베이스 전체로 넓어진다는 예고를 함께 준다.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 번호가 하나 비어 있는 이유를 설명하지 않고 넘어가면 학습자가 교안이 잘못됐다고 생각한다. 짧게라도 짚어 주는 것이 좋다. 동시에 이 장의 성격을 다시 정리할 좋은 기회이기도 하다. 다른 장들은 나쁜 SQL을 고치는 이야기지만 이 장은 같은 SQL을 다르게 넘기는 이야기다. 실무에서 SQL을 한 글자도 못 고치는 상황, 예를 들어 패키지 제품의 쿼리를 다뤄야 할 때 이 관점이 유일한 개선 여지가 되는 경우가 있다. 패키지 제품이나 프레임워크가 생성하는 SQL처럼 문장을 고칠 수 없는 상황을 예로 들면, 이 장의 관점이 왜 실무에서 값진지 바로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화면을 띄우기 전에 앞에서 받아 둔 학습자들의 예상을 다시 꺼내면 효과가 크다. 대부분 로직이 같으니 하나로 잡힐 것이라고 답했는데 실제로는 두 개가 나왔다. 예상이 빗나가는 경험이 개념을 가장 확실하게 남긴다. 그리고 SQL_TEXT 열을 손가락으로 짚어 가며 이 두 줄의 차이가 숫자 하나뿐이라는 점을 다시 확인시킨다. 실무에서는 이 열을 앞부분만 잘라서 보기 때문에 차이를 놓치기 쉽다는 주의도 함께 준다. 두 SQL_ID를 앞 절 실행계획 슬라이드의 값과 하나씩 짚어 가며 대조하게 하면, 실행계획과 공유 풀 통계가 같은 대상을 다른 각도로 본 것임이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지표를 나란히 읽는 법을 알려 준다. 실행 횟수와 파싱 횟수가 같다는 것은 실행할 때마다 파싱했다는 뜻이고, 실행 횟수가 파싱 횟수보다 크면 그만큼 재사용이 일어났다는 뜻이다. 이 비율을 보는 감각이 실무 모니터링의 기본이다. 여기에 하나 더 덧붙일 것은 공유 풀이 무한하지 않다는 사실이다. 밀려나고 다시 들어오는 순환이 반복되면 파싱 부하가 오히려 커진다는 점이 실습문제 10번의 주제다. 실행 횟수와 파싱 횟수의 비율을 보는 감각은 이후 운영 모니터링에서도 그대로 쓰이므로, 여기서 개념을 한 번 확실히 잡아 두면 오래도록 남는다.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슬라이드와 이 슬라이드를 번갈아 보여 주는 것이 가장 효과적이다. 같은 횟수를 실행했는데 한쪽은 행이 두 개, 다른 쪽은 하나다. 이 시각적 대비가 어떤 설명보다 강하다. 여기서 학습자가 자주 묻는 것은 SQL_TEXT에 값이 안 보이는데 어떻게 서로 다른 결과를 냈느냐는 질문이다. 값은 텍스트가 아니라 Bind 단계에서 따로 전달된다는 앞 절 내용을 여기서 다시 확인시켜 주면 네 단계 구조가 완결된다. 앞 슬라이드로 한 번 돌아갔다 오는 것을 아까워하지 말고, 행 수의 차이를 눈으로 대조하게 하는 데 시간을 쓰는 편이 훨씬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결론이 나왔다고 여기서 끝내면 학습자는 바인드 변수를 항상 옳은 규칙으로 기억한다. 마지막 줄의 예고가 그래서 필요하다. 조건이 붙는다는 말을 여기서 한 번 던져 두면, 뒤의 반전 슬라이드가 갑작스럽게 느껴지지 않고 자연스러운 심화로 받아들여진다. 실습문제 3번이 이 결론을 대규모 트래픽 상황으로 확장해 서술하도록 요구하므로, 사용자 수가 많아질수록 이 차이가 누적된다는 점도 함께 말해 둔다. 결론을 판서해 두되 그 아래에 빈 줄을 하나 남겨 둔다. 마지막 슬라이드에서 그 자리에 조건을 채워 넣는 방식으로 마무리하면 인상에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정리 구간이지만 새로운 논점이 하나 등장한다. 지금까지의 결론을 스스로 흔들어 보는 대목이다. 강사가 여기서 서두르면 학습자는 앞의 결론만 기억하고 조건을 놓친다. 시간이 부족하더라도 마지막 슬라이드는 반드시 다루기를 권한다. 이 장이 남겨야 할 최종 메시지는 바인드 변수를 쓰라는 지시가 아니라, 이점과 부작용을 함께 놓고 판단하라는 태도이기 때문이다. 남은 시간이 짧다면 종합 비교 표를 빠르게 넘기고 마지막 슬라이드에 시간을 몰아 주는 편이 낫다. 이 장에서 학습자가 가장 오래 기억하게 될 내용이 그 한 장에 들어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읽을 때 주의시킬 것이 하나 있다. 여기에는 소요 시간 열이 없다. 이번 장의 비교 기준은 빠르기가 아니라 파싱 방식이기 때문이다. 학습자는 벤치마크라는 말을 들으면 반사적으로 시간을 찾는데, 자원의 종류에 따라 비교 지표가 달라진다는 것이 앞 장에서 배운 내용이다. 그 원칙이 이번 장에도 그대로 적용된 결과라는 점을 짚어 주면 두 장이 하나의 흐름으로 연결된다. 표를 읽고 나면 학습자에게 이 장에서 아낀 자원이 무엇이었는지 한 단어로 답하게 해 본다. 시간이 아니라 메모리와 CPU라는 답이 나오면 이 장의 목표는 달성된 것이다.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마지막 메시지다. 앞에서 바인드 변수를 권장해 놓고 마지막에 조건을 다는 구성이 어색해 보일 수 있지만, 이것이 이 과정 전체의 서술 방식이다. 앞 장에서 통념을 실측으로 검증했던 것과 같은 태도이며, 이번에는 방금 스스로 내린 결론을 검증 대상으로 삼는다. 학습자에게 이 점을 명시적으로 말해 주면 태도가 전달된다. 실습문제 6번과 10번이 정확히 이 균형 잡기를 서술형으로 요구하는 문항이다. 마지막에는 이 장의 결론을 한 문장으로 정리해 판서하고 다음 챕터 예고로 닫는다. 기법이 아니라 판단의 기준을 남기는 것이 이 장의 마무리다.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여덟 줄이지만 실제로 기억해야 할 축은 두 개다. 계획이 만들어지는 시점이 Parse 하나라는 것, 그리고 재사용 여부는 텍스트 일치로만 결정된다는 것이다. 나머지 여섯 줄은 이 두 축에서 파생된 결과다. 학습자에게 이 두 문장만 외우고 나머지는 유도해 보라고 하면 복습 효율이 크게 올라간다. 마지막 줄은 다음 챕터로 넘어가는 다리이므로 여기서 끊지 말고 예고까지 붙여 마무리하는 것이 좋다. 요약을 읽고 그냥 끝내지 말고, 각 줄에 대해 근거가 되는 관찰 결과를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실습은 SQL을 새로 짜는 문제가 아니라 관찰한 값을 근거로 설명하는 서술형이 대부분이다. 채점 기준도 정답 일치가 아니라 근거의 타당성에 두어야 한다고 안내한다. 특히 최상 난이도로 표시된 문항들은 교안에 답이 그대로 적혀 있지 않고 배운 원리를 조합해 추론해야 한다. 실습 전에 스키마를 건드리지 말라는 안내도 다시 강조한다. 인덱스를 추가하면 접근 경로가 달라져 이 장의 관찰 자체가 성립하지 않기 때문이다. 채점 후에는 여섯 번째와 열 번째 문항의 모범 답안을 함께 읽으며 추론 과정을 복기하는 시간을 따로 잡기를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제2장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SQL은 어떻게 실행되는가?</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Parse / Bind / Execute / Fetch  ·  하드 파싱과 소프트 파싱  ·  SQL_ID와 공유 풀  ·  바인드 변수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SQL 한 문장이 Parse → Bind → Execute → Fetch 순서로 처리되는 과정을 설명한다</a:t>
            </a:r>
          </a:p>
          <a:p>
            <a:r>
              <a:rPr sz="1600" b="0">
                <a:solidFill>
                  <a:srgbClr val="5A6672"/>
                </a:solidFill>
                <a:latin typeface="Malgun Gothic"/>
              </a:rPr>
              <a:t>    –  실행계획이 만들어지는 단계가 Parse임을 지목하고 그 근거를 말한다</a:t>
            </a:r>
          </a:p>
          <a:p>
            <a:r>
              <a:rPr sz="1600" b="0">
                <a:solidFill>
                  <a:srgbClr val="5A6672"/>
                </a:solidFill>
                <a:latin typeface="Malgun Gothic"/>
              </a:rPr>
              <a:t>    –  하드 파싱과 소프트 파싱의 차이를 비용 관점에서 구분한다</a:t>
            </a:r>
          </a:p>
          <a:p>
            <a:r>
              <a:rPr sz="1600" b="0">
                <a:solidFill>
                  <a:srgbClr val="5A6672"/>
                </a:solidFill>
                <a:latin typeface="Malgun Gothic"/>
              </a:rPr>
              <a:t>    –  Oracle이 SQL 텍스트를 해시해 SQL_ID로 식별한다는 원리를 설명한다</a:t>
            </a:r>
          </a:p>
          <a:p>
            <a:r>
              <a:rPr sz="1600" b="0">
                <a:solidFill>
                  <a:srgbClr val="5A6672"/>
                </a:solidFill>
                <a:latin typeface="Malgun Gothic"/>
              </a:rPr>
              <a:t>    –  리터럴 값만 다른 두 SQL이 서로 다른 SQL_ID를 받는 이유를 설명한다</a:t>
            </a:r>
          </a:p>
          <a:p>
            <a:r>
              <a:rPr sz="1600" b="0">
                <a:solidFill>
                  <a:srgbClr val="5A6672"/>
                </a:solidFill>
                <a:latin typeface="Malgun Gothic"/>
              </a:rPr>
              <a:t>    –  바인드 변수를 쓴 SQL이 같은 SQL_ID를 유지하는 이유를 설명한다</a:t>
            </a:r>
          </a:p>
          <a:p>
            <a:r>
              <a:rPr sz="1600" b="0">
                <a:solidFill>
                  <a:srgbClr val="5A6672"/>
                </a:solidFill>
                <a:latin typeface="Malgun Gothic"/>
              </a:rPr>
              <a:t>    –  SQL_ID·EXECUTIONS·PARSE_CALLS로 실행계획 재사용 여부를 확인한다</a:t>
            </a:r>
          </a:p>
          <a:p>
            <a:r>
              <a:rPr sz="1600" b="0">
                <a:solidFill>
                  <a:srgbClr val="5A6672"/>
                </a:solidFill>
                <a:latin typeface="Malgun Gothic"/>
              </a:rPr>
              <a:t>    –  같은 문장 구조인데 E-Rows가 다르게 나온 원인을 통계정보로 설명한다</a:t>
            </a:r>
          </a:p>
          <a:p>
            <a:r>
              <a:rPr sz="1600" b="0">
                <a:solidFill>
                  <a:srgbClr val="5A6672"/>
                </a:solidFill>
                <a:latin typeface="Malgun Gothic"/>
              </a:rPr>
              <a:t>    –  E-Rows가 달라도 Buffers가 같을 수 있는 이유를 접근 경로로 설명한다</a:t>
            </a:r>
          </a:p>
          <a:p>
            <a:r>
              <a:rPr sz="1600" b="0">
                <a:solidFill>
                  <a:srgbClr val="5A6672"/>
                </a:solidFill>
                <a:latin typeface="Malgun Gothic"/>
              </a:rPr>
              <a:t>    –  바인드 변수의 이점과 부작용을 함께 놓고 사용 여부를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2.1  Why — SQL 처리 과정을 왜 알아야 하는가</a:t>
            </a:r>
          </a:p>
          <a:p>
            <a:r>
              <a:rPr sz="1800" b="0">
                <a:solidFill>
                  <a:srgbClr val="202830"/>
                </a:solidFill>
                <a:latin typeface="Malgun Gothic"/>
              </a:rPr>
              <a:t>•  2.2  Concept — SQL 처리 4단계 (Parse / Bind / Execute / Fetch)</a:t>
            </a:r>
          </a:p>
          <a:p>
            <a:r>
              <a:rPr sz="1800" b="0">
                <a:solidFill>
                  <a:srgbClr val="202830"/>
                </a:solidFill>
                <a:latin typeface="Malgun Gothic"/>
              </a:rPr>
              <a:t>•  2.3  Oracle Internals — 하드 파싱 · 소프트 파싱 · SQL_ID</a:t>
            </a:r>
          </a:p>
          <a:p>
            <a:r>
              <a:rPr sz="1800" b="0">
                <a:solidFill>
                  <a:srgbClr val="202830"/>
                </a:solidFill>
                <a:latin typeface="Malgun Gothic"/>
              </a:rPr>
              <a:t>•  2.4  Example — 리터럴 SQL과 바인드 변수 SQL</a:t>
            </a:r>
          </a:p>
          <a:p>
            <a:r>
              <a:rPr sz="1800" b="0">
                <a:solidFill>
                  <a:srgbClr val="202830"/>
                </a:solidFill>
                <a:latin typeface="Malgun Gothic"/>
              </a:rPr>
              <a:t>•  2.5  Execution Plan — 리터럴 값에 따른 실측 비교</a:t>
            </a:r>
          </a:p>
          <a:p>
            <a:r>
              <a:rPr sz="1800" b="0">
                <a:solidFill>
                  <a:srgbClr val="202830"/>
                </a:solidFill>
                <a:latin typeface="Malgun Gothic"/>
              </a:rPr>
              <a:t>•  2.6~2.7  Tuning — SQL_ID로 확인하는 파싱 재사용 여부</a:t>
            </a:r>
          </a:p>
          <a:p>
            <a:r>
              <a:rPr sz="1800" b="0">
                <a:solidFill>
                  <a:srgbClr val="202830"/>
                </a:solidFill>
                <a:latin typeface="Malgun Gothic"/>
              </a:rPr>
              <a:t>•  2.8  Benchmark — 파싱 관점 종합 비교</a:t>
            </a:r>
          </a:p>
          <a:p>
            <a:r>
              <a:rPr sz="1800" b="0">
                <a:solidFill>
                  <a:srgbClr val="202830"/>
                </a:solidFill>
                <a:latin typeface="Malgun Gothic"/>
              </a:rPr>
              <a:t>•  2.9~2.10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과정을 왜 알아야 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실행계획만 읽어서는 설명되지 않는 문제</a:t>
            </a:r>
          </a:p>
          <a:p>
            <a:r>
              <a:rPr sz="1600" b="0">
                <a:solidFill>
                  <a:srgbClr val="C5CED6"/>
                </a:solidFill>
                <a:latin typeface="Malgun Gothic"/>
              </a:rPr>
              <a:t>•  이번 차시가 답하려는 질문</a:t>
            </a:r>
          </a:p>
          <a:p>
            <a:r>
              <a:rPr sz="16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실행계획을 읽는 것만으로 부족한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실행계획을 정확히 읽어도 설명되지 않는 현상이 있다</a:t>
            </a:r>
          </a:p>
          <a:p>
            <a:r>
              <a:rPr sz="1600" b="0">
                <a:solidFill>
                  <a:srgbClr val="5A6672"/>
                </a:solidFill>
                <a:latin typeface="Malgun Gothic"/>
              </a:rPr>
              <a:t>    –  같은 SQL인데 어떤 때는 빠르고 어떤 때는 느리다</a:t>
            </a:r>
          </a:p>
          <a:p>
            <a:r>
              <a:rPr sz="1600" b="0">
                <a:solidFill>
                  <a:srgbClr val="5A6672"/>
                </a:solidFill>
                <a:latin typeface="Malgun Gothic"/>
              </a:rPr>
              <a:t>    –  SQL 하나하나는 가벼운데 서버 전체 CPU 사용률이 올라간다</a:t>
            </a:r>
          </a:p>
          <a:p>
            <a:r>
              <a:rPr sz="1800" b="0">
                <a:solidFill>
                  <a:srgbClr val="202830"/>
                </a:solidFill>
                <a:latin typeface="Malgun Gothic"/>
              </a:rPr>
              <a:t>•  빠져 있는 질문 — 이 SQL은 언제 다시 최적화되고 언제 재사용되는가</a:t>
            </a:r>
          </a:p>
          <a:p>
            <a:r>
              <a:rPr sz="1600" b="0">
                <a:solidFill>
                  <a:srgbClr val="5A6672"/>
                </a:solidFill>
                <a:latin typeface="Malgun Gothic"/>
              </a:rPr>
              <a:t>    –  실행계획이 언제 만들어지는지 모르면 공유 풀 부하를 진단할 수 없다</a:t>
            </a:r>
          </a:p>
          <a:p>
            <a:r>
              <a:rPr sz="1600" b="0">
                <a:solidFill>
                  <a:srgbClr val="5A6672"/>
                </a:solidFill>
                <a:latin typeface="Malgun Gothic"/>
              </a:rPr>
              <a:t>    –  반복적인 하드 파싱은 개별 SQL의 실행계획만 봐서는 드러나지 않는다</a:t>
            </a:r>
          </a:p>
          <a:p>
            <a:r>
              <a:rPr sz="1800" b="0">
                <a:solidFill>
                  <a:srgbClr val="202830"/>
                </a:solidFill>
                <a:latin typeface="Malgun Gothic"/>
              </a:rPr>
              <a:t>•  그래서 이번 장은 무엇이 실행되는가가 아니라 어떻게 실행되는가를 본다</a:t>
            </a:r>
          </a:p>
          <a:p>
            <a:r>
              <a:rPr sz="1600" b="0">
                <a:solidFill>
                  <a:srgbClr val="5A6672"/>
                </a:solidFill>
                <a:latin typeface="Malgun Gothic"/>
              </a:rPr>
              <a:t>    –  실행계획은 결과물이고, 이번 장의 주제는 그 결과물이 생기는 과정이다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SQL 한 문장이 실행되기까지 거치는 단계를 이해한다</a:t>
            </a:r>
          </a:p>
          <a:p>
            <a:r>
              <a:rPr sz="1600" b="0">
                <a:solidFill>
                  <a:srgbClr val="5A6672"/>
                </a:solidFill>
                <a:latin typeface="Malgun Gothic"/>
              </a:rPr>
              <a:t>    –  Parse / Bind / Execute / Fetch 네 단계의 역할을 각각 구분한다</a:t>
            </a:r>
          </a:p>
          <a:p>
            <a:r>
              <a:rPr sz="1800" b="0">
                <a:solidFill>
                  <a:srgbClr val="202830"/>
                </a:solidFill>
                <a:latin typeface="Malgun Gothic"/>
              </a:rPr>
              <a:t>•  목표 2 — 그 단계 중 어디서 실행계획이 만들어지는지 파악한다</a:t>
            </a:r>
          </a:p>
          <a:p>
            <a:r>
              <a:rPr sz="1600" b="0">
                <a:solidFill>
                  <a:srgbClr val="5A6672"/>
                </a:solidFill>
                <a:latin typeface="Malgun Gothic"/>
              </a:rPr>
              <a:t>    –  실행계획은 Parse 단계의 산출물이며 이후 단계는 그것을 따라간다</a:t>
            </a:r>
          </a:p>
          <a:p>
            <a:r>
              <a:rPr sz="1800" b="0">
                <a:solidFill>
                  <a:srgbClr val="202830"/>
                </a:solidFill>
                <a:latin typeface="Malgun Gothic"/>
              </a:rPr>
              <a:t>•  소재 — MEDICAL_CLAIMS를 HOSP_ID 리터럴 값으로 조회하는 동일 SQL</a:t>
            </a:r>
          </a:p>
          <a:p>
            <a:r>
              <a:rPr sz="1600" b="0">
                <a:solidFill>
                  <a:srgbClr val="5A6672"/>
                </a:solidFill>
                <a:latin typeface="Malgun Gothic"/>
              </a:rPr>
              <a:t>    –  같은 SQL을 값만 바꿔 여러 번 실행하며 Parse 단계의 동작을 관찰한다</a:t>
            </a:r>
          </a:p>
          <a:p>
            <a:r>
              <a:rPr sz="1800" b="0">
                <a:solidFill>
                  <a:srgbClr val="202830"/>
                </a:solidFill>
                <a:latin typeface="Malgun Gothic"/>
              </a:rPr>
              <a:t>•  이 장에서 다루지 않는 것</a:t>
            </a:r>
          </a:p>
          <a:p>
            <a:r>
              <a:rPr sz="1600" b="0">
                <a:solidFill>
                  <a:srgbClr val="5A6672"/>
                </a:solidFill>
                <a:latin typeface="Malgun Gothic"/>
              </a:rPr>
              <a:t>    –  히스토그램의 내부 원리와 바인드 변수 대응 기법 — Chapter 13</a:t>
            </a:r>
          </a:p>
          <a:p>
            <a:r>
              <a:rPr sz="1600" b="0">
                <a:solidFill>
                  <a:srgbClr val="5A6672"/>
                </a:solidFill>
                <a:latin typeface="Malgun Gothic"/>
              </a:rPr>
              <a:t>    –  본 차시는 DDL 변경이 없다 — 스키마를 그대로 둔 채 관찰만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4단계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Parse — 문법·의미 검사와 실행계획 확보</a:t>
            </a:r>
          </a:p>
          <a:p>
            <a:r>
              <a:rPr sz="1600" b="0">
                <a:solidFill>
                  <a:srgbClr val="C5CED6"/>
                </a:solidFill>
                <a:latin typeface="Malgun Gothic"/>
              </a:rPr>
              <a:t>•  Bind · Execute · Fetch의 역할</a:t>
            </a:r>
          </a:p>
          <a:p>
            <a:r>
              <a:rPr sz="1600" b="0">
                <a:solidFill>
                  <a:srgbClr val="C5CED6"/>
                </a:solidFill>
                <a:latin typeface="Malgun Gothic"/>
              </a:rPr>
              <a:t>•  옵티마이저가 동작하는 지점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처리 4단계 개요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SQL은 한 번에 실행되지 않고 네 단계를 순서대로 거친다</a:t>
            </a:r>
          </a:p>
          <a:p>
            <a:r>
              <a:rPr sz="1600" b="0">
                <a:solidFill>
                  <a:srgbClr val="5A6672"/>
                </a:solidFill>
                <a:latin typeface="Malgun Gothic"/>
              </a:rPr>
              <a:t>    –  Parse → Bind → Execute → Fetch</a:t>
            </a:r>
          </a:p>
          <a:p>
            <a:r>
              <a:rPr sz="1800" b="0">
                <a:solidFill>
                  <a:srgbClr val="202830"/>
                </a:solidFill>
                <a:latin typeface="Malgun Gothic"/>
              </a:rPr>
              <a:t>•  Parse — 문법·의미를 검사하고 실행계획을 확보한다</a:t>
            </a:r>
          </a:p>
          <a:p>
            <a:r>
              <a:rPr sz="1800" b="0">
                <a:solidFill>
                  <a:srgbClr val="202830"/>
                </a:solidFill>
                <a:latin typeface="Malgun Gothic"/>
              </a:rPr>
              <a:t>•  Bind — SQL에 바인드 변수가 있으면 그 자리에 실제 값을 대입한다</a:t>
            </a:r>
          </a:p>
          <a:p>
            <a:r>
              <a:rPr sz="1800" b="0">
                <a:solidFill>
                  <a:srgbClr val="202830"/>
                </a:solidFill>
                <a:latin typeface="Malgun Gothic"/>
              </a:rPr>
              <a:t>•  Execute — 확보된 실행계획대로 실제 데이터를 처리한다</a:t>
            </a:r>
          </a:p>
          <a:p>
            <a:r>
              <a:rPr sz="1800" b="0">
                <a:solidFill>
                  <a:srgbClr val="202830"/>
                </a:solidFill>
                <a:latin typeface="Malgun Gothic"/>
              </a:rPr>
              <a:t>•  Fetch — 처리 결과를 클라이언트로 반환한다</a:t>
            </a:r>
          </a:p>
          <a:p>
            <a:r>
              <a:rPr sz="1800" b="0">
                <a:solidFill>
                  <a:srgbClr val="202830"/>
                </a:solidFill>
                <a:latin typeface="Malgun Gothic"/>
              </a:rPr>
              <a:t>•  네 단계 중 판단이 일어나는 곳은 Parse 하나뿐이다</a:t>
            </a:r>
          </a:p>
          <a:p>
            <a:r>
              <a:rPr sz="1600" b="0">
                <a:solidFill>
                  <a:srgbClr val="5A6672"/>
                </a:solidFill>
                <a:latin typeface="Malgun Gothic"/>
              </a:rPr>
              <a:t>    –  나머지 단계는 이미 정해진 계획을 그대로 따라갈 뿐이다</a:t>
            </a:r>
          </a:p>
          <a:p>
            <a:r>
              <a:rPr sz="1600" b="0">
                <a:solidFill>
                  <a:srgbClr val="5A6672"/>
                </a:solidFill>
                <a:latin typeface="Malgun Gothic"/>
              </a:rPr>
              <a:t>    –  그래서 성능 판단의 초점은 이 계획이 어떻게 정해졌는가에 놓인다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Parse 단계에서 일어나는 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① 문법 검사 — SQL 문장이 문법에 맞게 작성되었는가</a:t>
            </a:r>
          </a:p>
          <a:p>
            <a:r>
              <a:rPr sz="1800" b="0">
                <a:solidFill>
                  <a:srgbClr val="202830"/>
                </a:solidFill>
                <a:latin typeface="Malgun Gothic"/>
              </a:rPr>
              <a:t>•  ② 의미 검사 — 테이블·컬럼이 실제로 존재하고 접근 권한이 있는가</a:t>
            </a:r>
          </a:p>
          <a:p>
            <a:r>
              <a:rPr sz="1800" b="0">
                <a:solidFill>
                  <a:srgbClr val="202830"/>
                </a:solidFill>
                <a:latin typeface="Malgun Gothic"/>
              </a:rPr>
              <a:t>•  ③ 공유 풀 조회 — 이미 같은 SQL이 공유 풀(Shared Pool)에 있는가</a:t>
            </a:r>
          </a:p>
          <a:p>
            <a:r>
              <a:rPr sz="1600" b="0">
                <a:solidFill>
                  <a:srgbClr val="5A6672"/>
                </a:solidFill>
                <a:latin typeface="Malgun Gothic"/>
              </a:rPr>
              <a:t>    –  없으면 옵티마이저가 새로 실행계획을 생성한다 (하드 파싱)</a:t>
            </a:r>
          </a:p>
          <a:p>
            <a:r>
              <a:rPr sz="1600" b="0">
                <a:solidFill>
                  <a:srgbClr val="5A6672"/>
                </a:solidFill>
                <a:latin typeface="Malgun Gothic"/>
              </a:rPr>
              <a:t>    –  있으면 기존 실행계획을 그대로 재사용한다 (소프트 파싱)</a:t>
            </a:r>
          </a:p>
          <a:p>
            <a:r>
              <a:rPr sz="1800" b="0">
                <a:solidFill>
                  <a:srgbClr val="202830"/>
                </a:solidFill>
                <a:latin typeface="Malgun Gothic"/>
              </a:rPr>
              <a:t>•  ④ 최적화 — 통계정보를 근거로 실행계획을 만든다 (하드 파싱일 때만)</a:t>
            </a:r>
          </a:p>
          <a:p>
            <a:r>
              <a:rPr sz="1800" b="0">
                <a:solidFill>
                  <a:srgbClr val="202830"/>
                </a:solidFill>
                <a:latin typeface="Malgun Gothic"/>
              </a:rPr>
              <a:t>•  Parse는 SQL 텍스트 단위로 독립적으로 일어난다</a:t>
            </a:r>
          </a:p>
          <a:p>
            <a:r>
              <a:rPr sz="1600" b="0">
                <a:solidFill>
                  <a:srgbClr val="5A6672"/>
                </a:solidFill>
                <a:latin typeface="Malgun Gothic"/>
              </a:rPr>
              <a:t>    –  텍스트가 다르면 서로 다른 파싱 과정을 각각 거친다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Bind · Execute · Fetch 단계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Bind — 바인드 변수 자리에 실제 값을 대입한다</a:t>
            </a:r>
          </a:p>
          <a:p>
            <a:r>
              <a:rPr sz="1600" b="0">
                <a:solidFill>
                  <a:srgbClr val="5A6672"/>
                </a:solidFill>
                <a:latin typeface="Malgun Gothic"/>
              </a:rPr>
              <a:t>    –  :b_hosp 같은 자리표시자에 그때그때의 값이 들어간다</a:t>
            </a:r>
          </a:p>
          <a:p>
            <a:r>
              <a:rPr sz="1600" b="0">
                <a:solidFill>
                  <a:srgbClr val="5A6672"/>
                </a:solidFill>
                <a:latin typeface="Malgun Gothic"/>
              </a:rPr>
              <a:t>    –  바인드 변수가 없는 SQL에는 이 단계에서 할 일이 없다</a:t>
            </a:r>
          </a:p>
          <a:p>
            <a:r>
              <a:rPr sz="1800" b="0">
                <a:solidFill>
                  <a:srgbClr val="202830"/>
                </a:solidFill>
                <a:latin typeface="Malgun Gothic"/>
              </a:rPr>
              <a:t>•  Execute — 만들어진 실행계획대로 실제 데이터를 처리한다</a:t>
            </a:r>
          </a:p>
          <a:p>
            <a:r>
              <a:rPr sz="1600" b="0">
                <a:solidFill>
                  <a:srgbClr val="5A6672"/>
                </a:solidFill>
                <a:latin typeface="Malgun Gothic"/>
              </a:rPr>
              <a:t>    –  블록을 읽고 필터·조인·정렬을 수행하는 실제 작업이 여기서 일어난다</a:t>
            </a:r>
          </a:p>
          <a:p>
            <a:r>
              <a:rPr sz="1600" b="0">
                <a:solidFill>
                  <a:srgbClr val="5A6672"/>
                </a:solidFill>
                <a:latin typeface="Malgun Gothic"/>
              </a:rPr>
              <a:t>    –  A-Rows·A-Time·Buffers 같은 실측치는 이 단계를 거쳐야 생긴다</a:t>
            </a:r>
          </a:p>
          <a:p>
            <a:r>
              <a:rPr sz="1800" b="0">
                <a:solidFill>
                  <a:srgbClr val="202830"/>
                </a:solidFill>
                <a:latin typeface="Malgun Gothic"/>
              </a:rPr>
              <a:t>•  Fetch — 처리된 결과를 클라이언트로 반환한다</a:t>
            </a:r>
          </a:p>
          <a:p>
            <a:r>
              <a:rPr sz="1600" b="0">
                <a:solidFill>
                  <a:srgbClr val="5A6672"/>
                </a:solidFill>
                <a:latin typeface="Malgun Gothic"/>
              </a:rPr>
              <a:t>    –  결과 건수가 많으면 여러 번에 나누어 반환된다</a:t>
            </a:r>
          </a:p>
          <a:p>
            <a:r>
              <a:rPr sz="1800" b="0">
                <a:solidFill>
                  <a:srgbClr val="202830"/>
                </a:solidFill>
                <a:latin typeface="Malgun Gothic"/>
              </a:rPr>
              <a:t>•  이 세 단계는 계획을 바꾸지 않는다 — 정해진 대로 수행할 뿐이다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옵티마이저는 어디서 동작하는가</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옵티마이저는 Parse 단계에서 동작한다</a:t>
            </a:r>
          </a:p>
          <a:p>
            <a:r>
              <a:rPr sz="1600" b="0">
                <a:solidFill>
                  <a:srgbClr val="5A6672"/>
                </a:solidFill>
                <a:latin typeface="Malgun Gothic"/>
              </a:rPr>
              <a:t>    –  그 결과물이 앞 장부터 계속 읽어 온 실행계획이다</a:t>
            </a:r>
          </a:p>
          <a:p>
            <a:r>
              <a:rPr sz="1800" b="0">
                <a:solidFill>
                  <a:srgbClr val="202830"/>
                </a:solidFill>
                <a:latin typeface="Malgun Gothic"/>
              </a:rPr>
              <a:t>•  Cost·E-Rows 같은 추정치도 전부 Parse 시점에 계산된다</a:t>
            </a:r>
          </a:p>
          <a:p>
            <a:r>
              <a:rPr sz="1600" b="0">
                <a:solidFill>
                  <a:srgbClr val="5A6672"/>
                </a:solidFill>
                <a:latin typeface="Malgun Gothic"/>
              </a:rPr>
              <a:t>    –  실행이 끝난 뒤에 다시 계산해 보정하는 값이 아니다</a:t>
            </a:r>
          </a:p>
          <a:p>
            <a:r>
              <a:rPr sz="1600" b="0">
                <a:solidFill>
                  <a:srgbClr val="5A6672"/>
                </a:solidFill>
                <a:latin typeface="Malgun Gothic"/>
              </a:rPr>
              <a:t>    –  그래서 추정이 빗나가도 그 실행 중에는 계획이 바뀌지 않는다</a:t>
            </a:r>
          </a:p>
          <a:p>
            <a:r>
              <a:rPr sz="1800" b="0">
                <a:solidFill>
                  <a:srgbClr val="202830"/>
                </a:solidFill>
                <a:latin typeface="Malgun Gothic"/>
              </a:rPr>
              <a:t>•  EXPLAIN PLAN과 실제 실행의 차이도 여기서 설명된다</a:t>
            </a:r>
          </a:p>
          <a:p>
            <a:r>
              <a:rPr sz="1600" b="0">
                <a:solidFill>
                  <a:srgbClr val="5A6672"/>
                </a:solidFill>
                <a:latin typeface="Malgun Gothic"/>
              </a:rPr>
              <a:t>    –  EXPLAIN PLAN은 네 단계 중 Parse까지만 수행한다</a:t>
            </a:r>
          </a:p>
          <a:p>
            <a:r>
              <a:rPr sz="1600" b="0">
                <a:solidFill>
                  <a:srgbClr val="5A6672"/>
                </a:solidFill>
                <a:latin typeface="Malgun Gothic"/>
              </a:rPr>
              <a:t>    –  그래서 추정치만 보이고 실측치는 애초에 존재하지 않는다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EXPLAIN PLAN이 네 단계 중 Parse까지만 수행한다는 점은 실습문제 7번에서 다시 확인한다.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하드 파싱과 소프트 파싱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하드 파싱의 비용 · 소프트 파싱의 절약</a:t>
            </a:r>
          </a:p>
          <a:p>
            <a:r>
              <a:rPr sz="1600" b="0">
                <a:solidFill>
                  <a:srgbClr val="C5CED6"/>
                </a:solidFill>
                <a:latin typeface="Malgun Gothic"/>
              </a:rPr>
              <a:t>•  SQL_ID — 텍스트를 해시해 식별한다</a:t>
            </a:r>
          </a:p>
          <a:p>
            <a:r>
              <a:rPr sz="1600" b="0">
                <a:solidFill>
                  <a:srgbClr val="C5CED6"/>
                </a:solidFill>
                <a:latin typeface="Malgun Gothic"/>
              </a:rPr>
              <a:t>•  리터럴과 바인드 변수의 갈림길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하드 파싱 (Hard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없어 처음부터 전부 수행하는 것</a:t>
            </a:r>
          </a:p>
          <a:p>
            <a:r>
              <a:rPr sz="1600" b="0">
                <a:solidFill>
                  <a:srgbClr val="5A6672"/>
                </a:solidFill>
                <a:latin typeface="Malgun Gothic"/>
              </a:rPr>
              <a:t>    –  문법 검사 → 의미 분석 → 최적화(실행계획 생성)를 모두 거친다</a:t>
            </a:r>
          </a:p>
          <a:p>
            <a:r>
              <a:rPr sz="1800" b="0">
                <a:solidFill>
                  <a:srgbClr val="202830"/>
                </a:solidFill>
                <a:latin typeface="Malgun Gothic"/>
              </a:rPr>
              <a:t>•  비용이 큰 이유</a:t>
            </a:r>
          </a:p>
          <a:p>
            <a:r>
              <a:rPr sz="1600" b="0">
                <a:solidFill>
                  <a:srgbClr val="5A6672"/>
                </a:solidFill>
                <a:latin typeface="Malgun Gothic"/>
              </a:rPr>
              <a:t>    –  옵티마이저가 여러 실행 방법을 만들어 비교·평가해야 한다</a:t>
            </a:r>
          </a:p>
          <a:p>
            <a:r>
              <a:rPr sz="1600" b="0">
                <a:solidFill>
                  <a:srgbClr val="5A6672"/>
                </a:solidFill>
                <a:latin typeface="Malgun Gothic"/>
              </a:rPr>
              <a:t>    –  통계정보를 읽어 카디널리티와 Cost를 계산해야 한다</a:t>
            </a:r>
          </a:p>
          <a:p>
            <a:r>
              <a:rPr sz="1600" b="0">
                <a:solidFill>
                  <a:srgbClr val="5A6672"/>
                </a:solidFill>
                <a:latin typeface="Malgun Gothic"/>
              </a:rPr>
              <a:t>    –  결과를 공유 풀에 등록하는 동안 내부 자원을 점유한다</a:t>
            </a:r>
          </a:p>
          <a:p>
            <a:r>
              <a:rPr sz="1800" b="0">
                <a:solidFill>
                  <a:srgbClr val="202830"/>
                </a:solidFill>
                <a:latin typeface="Malgun Gothic"/>
              </a:rPr>
              <a:t>•  하드 파싱 자체는 잘못이 아니다 — 처음 한 번은 반드시 필요하다</a:t>
            </a:r>
          </a:p>
          <a:p>
            <a:r>
              <a:rPr sz="1600" b="0">
                <a:solidFill>
                  <a:srgbClr val="5A6672"/>
                </a:solidFill>
                <a:latin typeface="Malgun Gothic"/>
              </a:rPr>
              <a:t>    –  문제가 되는 것은 같은 로직이 값만 바뀌며 반복 하드 파싱되는 경우다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소프트 파싱 (Soft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있어 기존 실행계획을 재사용하는 것</a:t>
            </a:r>
          </a:p>
          <a:p>
            <a:r>
              <a:rPr sz="1800" b="0">
                <a:solidFill>
                  <a:srgbClr val="202830"/>
                </a:solidFill>
                <a:latin typeface="Malgun Gothic"/>
              </a:rPr>
              <a:t>•  비용이 작은 이유</a:t>
            </a:r>
          </a:p>
          <a:p>
            <a:r>
              <a:rPr sz="1600" b="0">
                <a:solidFill>
                  <a:srgbClr val="5A6672"/>
                </a:solidFill>
                <a:latin typeface="Malgun Gothic"/>
              </a:rPr>
              <a:t>    –  가장 비싼 최적화 단계를 건너뛴다 — 이미 만들어진 계획을 그대로 쓴다</a:t>
            </a:r>
          </a:p>
          <a:p>
            <a:r>
              <a:rPr sz="1600" b="0">
                <a:solidFill>
                  <a:srgbClr val="5A6672"/>
                </a:solidFill>
                <a:latin typeface="Malgun Gothic"/>
              </a:rPr>
              <a:t>    –  통계정보를 다시 읽어 Cost를 계산하는 작업이 없다</a:t>
            </a:r>
          </a:p>
          <a:p>
            <a:r>
              <a:rPr sz="1800" b="0">
                <a:solidFill>
                  <a:srgbClr val="202830"/>
                </a:solidFill>
                <a:latin typeface="Malgun Gothic"/>
              </a:rPr>
              <a:t>•  단, 문법·의미 검사와 공유 풀 조회는 여전히 수행한다</a:t>
            </a:r>
          </a:p>
          <a:p>
            <a:r>
              <a:rPr sz="1600" b="0">
                <a:solidFill>
                  <a:srgbClr val="5A6672"/>
                </a:solidFill>
                <a:latin typeface="Malgun Gothic"/>
              </a:rPr>
              <a:t>    –  소프트 파싱도 공짜는 아니다 — 하드 파싱보다 쌀 뿐이다</a:t>
            </a:r>
          </a:p>
          <a:p>
            <a:r>
              <a:rPr sz="1800" b="0">
                <a:solidFill>
                  <a:srgbClr val="202830"/>
                </a:solidFill>
                <a:latin typeface="Malgun Gothic"/>
              </a:rPr>
              <a:t>•  판단 기준 — 반복 실행되는 SQL이 소프트 파싱으로 처리되고 있는가</a:t>
            </a:r>
          </a:p>
          <a:p>
            <a:r>
              <a:rPr sz="1600" b="0">
                <a:solidFill>
                  <a:srgbClr val="5A6672"/>
                </a:solidFill>
                <a:latin typeface="Malgun Gothic"/>
              </a:rPr>
              <a:t>    –  이 질문에 답하려면 SQL_ID가 하나로 유지되는지 확인해야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SQL_ID — Oracle이 SQL을 식별하는 방법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Oracle은 SQL 텍스트를 해시한 값(SQL_ID)으로 SQL을 식별한다</a:t>
            </a:r>
          </a:p>
          <a:p>
            <a:r>
              <a:rPr sz="1600" b="0">
                <a:solidFill>
                  <a:srgbClr val="5A6672"/>
                </a:solidFill>
                <a:latin typeface="Malgun Gothic"/>
              </a:rPr>
              <a:t>    –  공유 풀에서 재사용할지 새로 만들지를 이 식별자 하나로 판단한다</a:t>
            </a:r>
          </a:p>
          <a:p>
            <a:r>
              <a:rPr sz="1800" b="0">
                <a:solidFill>
                  <a:srgbClr val="202830"/>
                </a:solidFill>
                <a:latin typeface="Malgun Gothic"/>
              </a:rPr>
              <a:t>•  판단 기준은 오직 텍스트가 일치하는가다</a:t>
            </a:r>
          </a:p>
          <a:p>
            <a:r>
              <a:rPr sz="1600" b="0">
                <a:solidFill>
                  <a:srgbClr val="5A6672"/>
                </a:solidFill>
                <a:latin typeface="Malgun Gothic"/>
              </a:rPr>
              <a:t>    –  로직이 같아도 텍스트가 다르면 재사용 대상이 아니다</a:t>
            </a:r>
          </a:p>
          <a:p>
            <a:r>
              <a:rPr sz="1600" b="0">
                <a:solidFill>
                  <a:srgbClr val="5A6672"/>
                </a:solidFill>
                <a:latin typeface="Malgun Gothic"/>
              </a:rPr>
              <a:t>    –  Oracle이 두 SQL의 의미가 같다는 것을 알아서 묶어 주지 않는다</a:t>
            </a:r>
          </a:p>
          <a:p>
            <a:r>
              <a:rPr sz="1800" b="0">
                <a:solidFill>
                  <a:srgbClr val="202830"/>
                </a:solidFill>
                <a:latin typeface="Malgun Gothic"/>
              </a:rPr>
              <a:t>•  따라서 텍스트를 바꾸는 모든 요소가 SQL_ID를 바꾼다</a:t>
            </a:r>
          </a:p>
          <a:p>
            <a:r>
              <a:rPr sz="1600" b="0">
                <a:solidFill>
                  <a:srgbClr val="5A6672"/>
                </a:solidFill>
                <a:latin typeface="Malgun Gothic"/>
              </a:rPr>
              <a:t>    –  리터럴 값은 물론 공백, 줄바꿈, 대소문자, 주석도 텍스트의 일부다</a:t>
            </a:r>
          </a:p>
          <a:p>
            <a:r>
              <a:rPr sz="1600" b="0">
                <a:solidFill>
                  <a:srgbClr val="5A6672"/>
                </a:solidFill>
                <a:latin typeface="Malgun Gothic"/>
              </a:rPr>
              <a:t>    –  같은 SQL을 팀마다 다른 서식으로 쓰면 그만큼 사본이 늘어난다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값이 다르면 완전히 별개의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1과 WHERE hosp_id = 500은 글자 하나만 다르다</a:t>
            </a:r>
          </a:p>
          <a:p>
            <a:r>
              <a:rPr sz="1600" b="0">
                <a:solidFill>
                  <a:srgbClr val="5A6672"/>
                </a:solidFill>
                <a:latin typeface="Malgun Gothic"/>
              </a:rPr>
              <a:t>    –  그런데도 SQL 텍스트가 다르므로 SQL_ID가 다르게 부여된다</a:t>
            </a:r>
          </a:p>
          <a:p>
            <a:r>
              <a:rPr sz="1600" b="0">
                <a:solidFill>
                  <a:srgbClr val="5A6672"/>
                </a:solidFill>
                <a:latin typeface="Malgun Gothic"/>
              </a:rPr>
              <a:t>    –  결과적으로 완전히 별개의 SQL로 취급되어 각각 하드 파싱된다</a:t>
            </a:r>
          </a:p>
          <a:p>
            <a:r>
              <a:rPr sz="1800" b="0">
                <a:solidFill>
                  <a:srgbClr val="202830"/>
                </a:solidFill>
                <a:latin typeface="Malgun Gothic"/>
              </a:rPr>
              <a:t>•  값의 가짓수만큼 서로 다른 SQL이 쌓인다</a:t>
            </a:r>
          </a:p>
          <a:p>
            <a:r>
              <a:rPr sz="1600" b="0">
                <a:solidFill>
                  <a:srgbClr val="5A6672"/>
                </a:solidFill>
                <a:latin typeface="Malgun Gothic"/>
              </a:rPr>
              <a:t>    –  병원 ID별로 계속 다른 리터럴 값을 쓰면 값마다 SQL_ID가 생긴다</a:t>
            </a:r>
          </a:p>
          <a:p>
            <a:r>
              <a:rPr sz="1600" b="0">
                <a:solidFill>
                  <a:srgbClr val="5A6672"/>
                </a:solidFill>
                <a:latin typeface="Malgun Gothic"/>
              </a:rPr>
              <a:t>    –  교안의 예시처럼 병원이 1,000곳이면 그만큼의 SQL_ID가 쌓일 수 있다</a:t>
            </a:r>
          </a:p>
          <a:p>
            <a:r>
              <a:rPr sz="1800" b="0">
                <a:solidFill>
                  <a:srgbClr val="202830"/>
                </a:solidFill>
                <a:latin typeface="Malgun Gothic"/>
              </a:rPr>
              <a:t>•  누적되면 두 방향으로 부담이 된다</a:t>
            </a:r>
          </a:p>
          <a:p>
            <a:r>
              <a:rPr sz="1600" b="0">
                <a:solidFill>
                  <a:srgbClr val="5A6672"/>
                </a:solidFill>
                <a:latin typeface="Malgun Gothic"/>
              </a:rPr>
              <a:t>    –  메모리 — 사실상 같은 로직의 SQL 사본이 공유 풀을 차지한다</a:t>
            </a:r>
          </a:p>
          <a:p>
            <a:r>
              <a:rPr sz="1600" b="0">
                <a:solidFill>
                  <a:srgbClr val="5A6672"/>
                </a:solidFill>
                <a:latin typeface="Malgun Gothic"/>
              </a:rPr>
              <a:t>    –  CPU — 값이 바뀔 때마다 하드 파싱이 다시 일어난다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변수는 SQL 텍스트를 고정한다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:b_hosp — 값이 바뀌어도 SQL 텍스트는 그대로다</a:t>
            </a:r>
          </a:p>
          <a:p>
            <a:r>
              <a:rPr sz="1600" b="0">
                <a:solidFill>
                  <a:srgbClr val="5A6672"/>
                </a:solidFill>
                <a:latin typeface="Malgun Gothic"/>
              </a:rPr>
              <a:t>    –  같은 SQL_ID를 유지하므로 공유 풀에서 기존 계획을 찾아 쓸 수 있다</a:t>
            </a:r>
          </a:p>
          <a:p>
            <a:r>
              <a:rPr sz="1600" b="0">
                <a:solidFill>
                  <a:srgbClr val="5A6672"/>
                </a:solidFill>
                <a:latin typeface="Malgun Gothic"/>
              </a:rPr>
              <a:t>    –  최초 1회 하드 파싱한 실행계획을 이후 실행이 재사용한다</a:t>
            </a:r>
          </a:p>
          <a:p>
            <a:r>
              <a:rPr sz="1800" b="0">
                <a:solidFill>
                  <a:srgbClr val="202830"/>
                </a:solidFill>
                <a:latin typeface="Malgun Gothic"/>
              </a:rPr>
              <a:t>•  값은 Parse가 아니라 Bind 단계에서 들어간다</a:t>
            </a:r>
          </a:p>
          <a:p>
            <a:r>
              <a:rPr sz="1600" b="0">
                <a:solidFill>
                  <a:srgbClr val="5A6672"/>
                </a:solidFill>
                <a:latin typeface="Malgun Gothic"/>
              </a:rPr>
              <a:t>    –  계획을 만드는 시점과 값을 넣는 시점이 분리된다는 뜻이다</a:t>
            </a:r>
          </a:p>
          <a:p>
            <a:r>
              <a:rPr sz="1600" b="0">
                <a:solidFill>
                  <a:srgbClr val="5A6672"/>
                </a:solidFill>
                <a:latin typeface="Malgun Gothic"/>
              </a:rPr>
              <a:t>    –  그래서 값이 달라져도 계획을 다시 만들 필요가 없다</a:t>
            </a:r>
          </a:p>
          <a:p>
            <a:r>
              <a:rPr sz="1800" b="0">
                <a:solidFill>
                  <a:srgbClr val="202830"/>
                </a:solidFill>
                <a:latin typeface="Malgun Gothic"/>
              </a:rPr>
              <a:t>•  이것이 처리 단계를 먼저 배운 실질적인 이유다</a:t>
            </a:r>
          </a:p>
          <a:p>
            <a:r>
              <a:rPr sz="1600" b="0">
                <a:solidFill>
                  <a:srgbClr val="5A6672"/>
                </a:solidFill>
                <a:latin typeface="Malgun Gothic"/>
              </a:rPr>
              <a:t>    –  단계가 분리돼 있기 때문에 계획 재사용이라는 개념이 성립한다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SQL과 바인드 변수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리터럴 SQL — 값을 문장에 직접 써 넣는 방식</a:t>
            </a:r>
          </a:p>
          <a:p>
            <a:r>
              <a:rPr sz="1600" b="0">
                <a:solidFill>
                  <a:srgbClr val="C5CED6"/>
                </a:solidFill>
                <a:latin typeface="Malgun Gothic"/>
              </a:rPr>
              <a:t>•  B. 바인드 변수 SQL — 값을 자리표시자로 분리</a:t>
            </a:r>
          </a:p>
          <a:p>
            <a:r>
              <a:rPr sz="1600" b="0">
                <a:solidFill>
                  <a:srgbClr val="C5CED6"/>
                </a:solidFill>
                <a:latin typeface="Malgun Gothic"/>
              </a:rPr>
              <a:t>•  두 예제를 무엇으로 비교할 것인가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SQL 문장에 직접 써 넣는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리터럴 SQL</a:t>
            </a:r>
          </a:p>
          <a:p>
            <a:r>
              <a:rPr sz="1250" b="0">
                <a:solidFill>
                  <a:srgbClr val="E6E6E6"/>
                </a:solidFill>
                <a:latin typeface="Consolas"/>
              </a:rPr>
              <a:t>SELECT COUNT(*) FROM medical_claims WHERE hosp_id = 1;</a:t>
            </a:r>
          </a:p>
          <a:p>
            <a:r>
              <a:rPr sz="1250" b="0">
                <a:solidFill>
                  <a:srgbClr val="E6E6E6"/>
                </a:solidFill>
                <a:latin typeface="Consolas"/>
              </a:rPr>
              <a:t>SELECT COUNT(*) FROM medical_claims WHERE hosp_id = 500;</a:t>
            </a:r>
          </a:p>
          <a:p>
            <a:r>
              <a:rPr sz="1250" b="0">
                <a:solidFill>
                  <a:srgbClr val="E6E6E6"/>
                </a:solidFill>
                <a:latin typeface="Consolas"/>
              </a:rPr>
              <a:t> </a:t>
            </a:r>
          </a:p>
          <a:p>
            <a:r>
              <a:rPr sz="1250" b="0">
                <a:solidFill>
                  <a:srgbClr val="7EC699"/>
                </a:solidFill>
                <a:latin typeface="Consolas"/>
              </a:rPr>
              <a:t>-- 두 문장은 hosp_id 뒤의 값 하나만 다르다</a:t>
            </a:r>
          </a:p>
          <a:p>
            <a:r>
              <a:rPr sz="1250" b="0">
                <a:solidFill>
                  <a:srgbClr val="7EC699"/>
                </a:solidFill>
                <a:latin typeface="Consolas"/>
              </a:rPr>
              <a:t>-- 그러나 Oracle이 보기에는 서로 다른 SQL 텍스트다</a:t>
            </a:r>
          </a:p>
          <a:p>
            <a:r>
              <a:rPr sz="1250" b="0">
                <a:solidFill>
                  <a:srgbClr val="7EC699"/>
                </a:solidFill>
                <a:latin typeface="Consolas"/>
              </a:rPr>
              <a:t>-- 따라서 각각 별도의 SQL_ID를 받고 각각 하드 파싱된다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자리표시자로 분리하는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B. 바인드 변수 SQL</a:t>
            </a:r>
          </a:p>
          <a:p>
            <a:r>
              <a:rPr sz="1250" b="0">
                <a:solidFill>
                  <a:srgbClr val="E6E6E6"/>
                </a:solidFill>
                <a:latin typeface="Consolas"/>
              </a:rPr>
              <a:t>VARIABLE b_hosp NUMBER</a:t>
            </a:r>
          </a:p>
          <a:p>
            <a:r>
              <a:rPr sz="1250" b="0">
                <a:solidFill>
                  <a:srgbClr val="E6E6E6"/>
                </a:solidFill>
                <a:latin typeface="Consolas"/>
              </a:rPr>
              <a:t>EXEC :b_hosp := 1</a:t>
            </a:r>
          </a:p>
          <a:p>
            <a:r>
              <a:rPr sz="1250" b="0">
                <a:solidFill>
                  <a:srgbClr val="E6E6E6"/>
                </a:solidFill>
                <a:latin typeface="Consolas"/>
              </a:rPr>
              <a:t>SELECT COUNT(*) FROM medical_claims WHERE hosp_id = :b_hosp;</a:t>
            </a:r>
          </a:p>
          <a:p>
            <a:r>
              <a:rPr sz="1250" b="0">
                <a:solidFill>
                  <a:srgbClr val="E6E6E6"/>
                </a:solidFill>
                <a:latin typeface="Consolas"/>
              </a:rPr>
              <a:t>EXEC :b_hosp := 500</a:t>
            </a:r>
          </a:p>
          <a:p>
            <a:r>
              <a:rPr sz="1250" b="0">
                <a:solidFill>
                  <a:srgbClr val="E6E6E6"/>
                </a:solidFill>
                <a:latin typeface="Consolas"/>
              </a:rPr>
              <a:t>SELECT COUNT(*) FROM medical_claims WHERE hosp_id = :b_hosp;</a:t>
            </a:r>
          </a:p>
          <a:p>
            <a:r>
              <a:rPr sz="1250" b="0">
                <a:solidFill>
                  <a:srgbClr val="E6E6E6"/>
                </a:solidFill>
                <a:latin typeface="Consolas"/>
              </a:rPr>
              <a:t> </a:t>
            </a:r>
          </a:p>
          <a:p>
            <a:r>
              <a:rPr sz="1250" b="0">
                <a:solidFill>
                  <a:srgbClr val="7EC699"/>
                </a:solidFill>
                <a:latin typeface="Consolas"/>
              </a:rPr>
              <a:t>-- SELECT 문장의 텍스트는 두 번 모두 완전히 같다</a:t>
            </a:r>
          </a:p>
          <a:p>
            <a:r>
              <a:rPr sz="1250" b="0">
                <a:solidFill>
                  <a:srgbClr val="7EC699"/>
                </a:solidFill>
                <a:latin typeface="Consolas"/>
              </a:rPr>
              <a:t>-- 달라지는 것은 :b_hosp에 대입되는 값뿐이다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예제를 무엇으로 비교할 것인가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비교 대상은 결과가 아니라 처리 방식이다</a:t>
            </a:r>
          </a:p>
          <a:p>
            <a:r>
              <a:rPr sz="1600" b="0">
                <a:solidFill>
                  <a:srgbClr val="5A6672"/>
                </a:solidFill>
                <a:latin typeface="Malgun Gothic"/>
              </a:rPr>
              <a:t>    –  A와 B는 같은 조건으로 같은 건수를 세는 SQL이다</a:t>
            </a:r>
          </a:p>
          <a:p>
            <a:r>
              <a:rPr sz="1600" b="0">
                <a:solidFill>
                  <a:srgbClr val="5A6672"/>
                </a:solidFill>
                <a:latin typeface="Malgun Gothic"/>
              </a:rPr>
              <a:t>    –  달라지는 것은 값을 문장에 넣는가, 자리표시자로 분리하는가뿐이다</a:t>
            </a:r>
          </a:p>
          <a:p>
            <a:r>
              <a:rPr sz="1800" b="0">
                <a:solidFill>
                  <a:srgbClr val="202830"/>
                </a:solidFill>
                <a:latin typeface="Malgun Gothic"/>
              </a:rPr>
              <a:t>•  확인할 지표 세 가지</a:t>
            </a:r>
          </a:p>
          <a:p>
            <a:r>
              <a:rPr sz="1600" b="0">
                <a:solidFill>
                  <a:srgbClr val="5A6672"/>
                </a:solidFill>
                <a:latin typeface="Malgun Gothic"/>
              </a:rPr>
              <a:t>    –  SQL_ID — 오라클이 이것을 몇 개의 SQL로 인식했는가</a:t>
            </a:r>
          </a:p>
          <a:p>
            <a:r>
              <a:rPr sz="1600" b="0">
                <a:solidFill>
                  <a:srgbClr val="5A6672"/>
                </a:solidFill>
                <a:latin typeface="Malgun Gothic"/>
              </a:rPr>
              <a:t>    –  EXECUTIONS — 그 SQL이 몇 번 실행되었는가</a:t>
            </a:r>
          </a:p>
          <a:p>
            <a:r>
              <a:rPr sz="1600" b="0">
                <a:solidFill>
                  <a:srgbClr val="5A6672"/>
                </a:solidFill>
                <a:latin typeface="Malgun Gothic"/>
              </a:rPr>
              <a:t>    –  PARSE_CALLS — 파싱 요청이 몇 번 발생했는가</a:t>
            </a:r>
          </a:p>
          <a:p>
            <a:r>
              <a:rPr sz="1800" b="0">
                <a:solidFill>
                  <a:srgbClr val="202830"/>
                </a:solidFill>
                <a:latin typeface="Malgun Gothic"/>
              </a:rPr>
              <a:t>•  관찰은 두 각도로 나누어 진행한다</a:t>
            </a:r>
          </a:p>
          <a:p>
            <a:r>
              <a:rPr sz="1600" b="0">
                <a:solidFill>
                  <a:srgbClr val="5A6672"/>
                </a:solidFill>
                <a:latin typeface="Malgun Gothic"/>
              </a:rPr>
              <a:t>    –  2.5절 — 실행계획에 나타난 추정치와 실측치</a:t>
            </a:r>
          </a:p>
          <a:p>
            <a:r>
              <a:rPr sz="1600" b="0">
                <a:solidFill>
                  <a:srgbClr val="5A6672"/>
                </a:solidFill>
                <a:latin typeface="Malgun Gothic"/>
              </a:rPr>
              <a:t>    –  2.7절 — 공유 풀에 남은 SQL_ID와 실행 통계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값에 따른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HOSP_ID = 1 실행계획</a:t>
            </a:r>
          </a:p>
          <a:p>
            <a:r>
              <a:rPr sz="1600" b="0">
                <a:solidFill>
                  <a:srgbClr val="C5CED6"/>
                </a:solidFill>
                <a:latin typeface="Malgun Gothic"/>
              </a:rPr>
              <a:t>•  HOSP_ID = 500 실행계획</a:t>
            </a:r>
          </a:p>
          <a:p>
            <a:r>
              <a:rPr sz="1600" b="0">
                <a:solidFill>
                  <a:srgbClr val="C5CED6"/>
                </a:solidFill>
                <a:latin typeface="Malgun Gothic"/>
              </a:rPr>
              <a:t>•  E-Rows는 왜 다르고 Buffers는 왜 같은가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0fqfut0m2jfxw  —  대형병원·쏠림 구간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2795 |   3058 |00:00:00.01 |    3090 |</a:t>
            </a:r>
          </a:p>
          <a:p>
            <a:r>
              <a:rPr sz="1250" b="0">
                <a:solidFill>
                  <a:srgbClr val="E6E6E6"/>
                </a:solidFill>
                <a:latin typeface="Consolas"/>
              </a:rPr>
              <a:t> </a:t>
            </a:r>
          </a:p>
          <a:p>
            <a:r>
              <a:rPr sz="1250" b="0">
                <a:solidFill>
                  <a:srgbClr val="7EC699"/>
                </a:solidFill>
                <a:latin typeface="Consolas"/>
              </a:rPr>
              <a:t>-- E-Rows  : 옵티마이저가 Parse 단계에서 계산한 추정 행 수</a:t>
            </a:r>
          </a:p>
          <a:p>
            <a:r>
              <a:rPr sz="1250" b="0">
                <a:solidFill>
                  <a:srgbClr val="7EC699"/>
                </a:solidFill>
                <a:latin typeface="Consolas"/>
              </a:rPr>
              <a:t>-- A-Rows  : 실제로 처리된 행 수 (Execute 이후에 생기는 값)</a:t>
            </a:r>
          </a:p>
          <a:p>
            <a:r>
              <a:rPr sz="1250" b="0">
                <a:solidFill>
                  <a:srgbClr val="7EC699"/>
                </a:solidFill>
                <a:latin typeface="Consolas"/>
              </a:rPr>
              <a:t>-- A-Time  : 이 단계에 실제로 걸린 시간</a:t>
            </a:r>
          </a:p>
          <a:p>
            <a:r>
              <a:rPr sz="1250" b="0">
                <a:solidFill>
                  <a:srgbClr val="7EC699"/>
                </a:solidFill>
                <a:latin typeface="Consolas"/>
              </a:rPr>
              <a:t>-- Buffers : 이 단계에서 읽은 블록 수 (논리적 I/O)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접근 경로 — TABLE ACCESS FULL (MEDICAL_CLAIMS)</a:t>
            </a:r>
          </a:p>
          <a:p>
            <a:r>
              <a:rPr sz="1600" b="0">
                <a:solidFill>
                  <a:srgbClr val="5A6672"/>
                </a:solidFill>
                <a:latin typeface="Malgun Gothic"/>
              </a:rPr>
              <a:t>    –  HOSP_ID에 인덱스가 없어 옵티마이저가 고를 수 있는 경로가 이것뿐이다</a:t>
            </a:r>
          </a:p>
          <a:p>
            <a:r>
              <a:rPr sz="1800" b="0">
                <a:solidFill>
                  <a:srgbClr val="202830"/>
                </a:solidFill>
                <a:latin typeface="Malgun Gothic"/>
              </a:rPr>
              <a:t>•  추정과 실제 — E-Rows 2,795 / A-Rows 3,058</a:t>
            </a:r>
          </a:p>
          <a:p>
            <a:r>
              <a:rPr sz="1600" b="0">
                <a:solidFill>
                  <a:srgbClr val="5A6672"/>
                </a:solidFill>
                <a:latin typeface="Malgun Gothic"/>
              </a:rPr>
              <a:t>    –  추정치가 실제 행 수에 상당히 근접했다</a:t>
            </a:r>
          </a:p>
          <a:p>
            <a:r>
              <a:rPr sz="1600" b="0">
                <a:solidFill>
                  <a:srgbClr val="5A6672"/>
                </a:solidFill>
                <a:latin typeface="Malgun Gothic"/>
              </a:rPr>
              <a:t>    –  Parse 단계에서 계산한 값이 Execute 결과와 거의 맞았다는 뜻이다</a:t>
            </a:r>
          </a:p>
          <a:p>
            <a:r>
              <a:rPr sz="1800" b="0">
                <a:solidFill>
                  <a:srgbClr val="202830"/>
                </a:solidFill>
                <a:latin typeface="Malgun Gothic"/>
              </a:rPr>
              <a:t>•  실측치 — A-Time 00:00:00.01, Buffers 3,090</a:t>
            </a:r>
          </a:p>
          <a:p>
            <a:r>
              <a:rPr sz="1600" b="0">
                <a:solidFill>
                  <a:srgbClr val="5A6672"/>
                </a:solidFill>
                <a:latin typeface="Malgun Gothic"/>
              </a:rPr>
              <a:t>    –  Buffers는 이 단계에서 읽은 블록 수, 즉 논리적 I/O 지표다</a:t>
            </a:r>
          </a:p>
          <a:p>
            <a:r>
              <a:rPr sz="1800" b="0">
                <a:solidFill>
                  <a:srgbClr val="202830"/>
                </a:solidFill>
                <a:latin typeface="Malgun Gothic"/>
              </a:rPr>
              <a:t>•  이 SQL의 SQL_ID는 0fqfut0m2jfxw — 다음 슬라이드의 값과 비교한다</a:t>
            </a:r>
          </a:p>
          <a:p>
            <a:r>
              <a:rPr sz="1600" b="0">
                <a:solidFill>
                  <a:srgbClr val="5A6672"/>
                </a:solidFill>
                <a:latin typeface="Malgun Gothic"/>
              </a:rPr>
              <a:t>    –  SQL_ID를 지금부터 기억해 두면 2.7절 관찰이 훨씬 쉬워진다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500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71xyxd4t42wvj  —  일반 병원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280 |    177 |00:00:00.01 |    3090 |</a:t>
            </a:r>
          </a:p>
          <a:p>
            <a:r>
              <a:rPr sz="1250" b="0">
                <a:solidFill>
                  <a:srgbClr val="E6E6E6"/>
                </a:solidFill>
                <a:latin typeface="Consolas"/>
              </a:rPr>
              <a:t> </a:t>
            </a:r>
          </a:p>
          <a:p>
            <a:r>
              <a:rPr sz="1250" b="0">
                <a:solidFill>
                  <a:srgbClr val="7EC699"/>
                </a:solidFill>
                <a:latin typeface="Consolas"/>
              </a:rPr>
              <a:t>-- 문장 구조는 앞 슬라이드와 완전히 같다</a:t>
            </a:r>
          </a:p>
          <a:p>
            <a:r>
              <a:rPr sz="1250" b="0">
                <a:solidFill>
                  <a:srgbClr val="7EC699"/>
                </a:solidFill>
                <a:latin typeface="Consolas"/>
              </a:rPr>
              <a:t>-- 달라진 것은 hosp_id 뒤의 리터럴 값 하나뿐이다</a:t>
            </a:r>
          </a:p>
          <a:p>
            <a:r>
              <a:rPr sz="1250" b="0">
                <a:solidFill>
                  <a:srgbClr val="7EC699"/>
                </a:solidFill>
                <a:latin typeface="Consolas"/>
              </a:rPr>
              <a:t>-- 그런데도 SQL_ID가 다르고 E-Rows도 다르게 계산되었다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실행계획 비교 — 무엇이 다르고 무엇이 같은가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다른 것 — E-Rows</a:t>
            </a:r>
          </a:p>
          <a:p>
            <a:r>
              <a:rPr sz="1600" b="0">
                <a:solidFill>
                  <a:srgbClr val="5A6672"/>
                </a:solidFill>
                <a:latin typeface="Malgun Gothic"/>
              </a:rPr>
              <a:t>    –  HOSP_ID=1은 2,795, HOSP_ID=500은 280으로 추정되었다(표본 히스토그램이라 수집마다 ±10% 흔들린다)</a:t>
            </a:r>
          </a:p>
          <a:p>
            <a:r>
              <a:rPr sz="1600" b="0">
                <a:solidFill>
                  <a:srgbClr val="5A6672"/>
                </a:solidFill>
                <a:latin typeface="Malgun Gothic"/>
              </a:rPr>
              <a:t>    –  실제 행 수 3,058과 177에 각각 가깝게 나왔다</a:t>
            </a:r>
          </a:p>
          <a:p>
            <a:r>
              <a:rPr sz="1800" b="0">
                <a:solidFill>
                  <a:srgbClr val="202830"/>
                </a:solidFill>
                <a:latin typeface="Malgun Gothic"/>
              </a:rPr>
              <a:t>•  같은 것 — 오퍼레이션과 Buffers</a:t>
            </a:r>
          </a:p>
          <a:p>
            <a:r>
              <a:rPr sz="1600" b="0">
                <a:solidFill>
                  <a:srgbClr val="5A6672"/>
                </a:solidFill>
                <a:latin typeface="Malgun Gothic"/>
              </a:rPr>
              <a:t>    –  둘 다 TABLE ACCESS FULL로 같은 접근 경로를 선택했다</a:t>
            </a:r>
          </a:p>
          <a:p>
            <a:r>
              <a:rPr sz="1600" b="0">
                <a:solidFill>
                  <a:srgbClr val="5A6672"/>
                </a:solidFill>
                <a:latin typeface="Malgun Gothic"/>
              </a:rPr>
              <a:t>    –  Buffers는 두 조회 모두 3,090으로 동일하다</a:t>
            </a:r>
          </a:p>
          <a:p>
            <a:r>
              <a:rPr sz="1800" b="0">
                <a:solidFill>
                  <a:srgbClr val="202830"/>
                </a:solidFill>
                <a:latin typeface="Malgun Gothic"/>
              </a:rPr>
              <a:t>•  같은 문장 구조인데 추정치만 달라졌다는 점이 이 절의 관찰 포인트다</a:t>
            </a:r>
          </a:p>
          <a:p>
            <a:r>
              <a:rPr sz="1600" b="0">
                <a:solidFill>
                  <a:srgbClr val="5A6672"/>
                </a:solidFill>
                <a:latin typeface="Malgun Gothic"/>
              </a:rPr>
              <a:t>    –  왜 이렇게 정확한 추정이 가능했는가 — 다음 슬라이드</a:t>
            </a:r>
          </a:p>
          <a:p>
            <a:r>
              <a:rPr sz="1600" b="0">
                <a:solidFill>
                  <a:srgbClr val="5A6672"/>
                </a:solidFill>
                <a:latin typeface="Malgun Gothic"/>
              </a:rPr>
              <a:t>    –  왜 Buffers는 똑같았는가 — 그 다음 슬라이드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E-Rows가 값마다 다르게 나온 이유 — 통계정보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SQL은 별개의 SQL_ID로 각각 하드 파싱되었다</a:t>
            </a:r>
          </a:p>
          <a:p>
            <a:r>
              <a:rPr sz="1600" b="0">
                <a:solidFill>
                  <a:srgbClr val="5A6672"/>
                </a:solidFill>
                <a:latin typeface="Malgun Gothic"/>
              </a:rPr>
              <a:t>    –  파싱이 각각 일어났으므로 추정도 각각 따로 계산된다</a:t>
            </a:r>
          </a:p>
          <a:p>
            <a:r>
              <a:rPr sz="1800" b="0">
                <a:solidFill>
                  <a:srgbClr val="202830"/>
                </a:solidFill>
                <a:latin typeface="Malgun Gothic"/>
              </a:rPr>
              <a:t>•  추정의 근거는 HOSP_ID 컬럼의 통계정보다</a:t>
            </a:r>
          </a:p>
          <a:p>
            <a:r>
              <a:rPr sz="1600" b="0">
                <a:solidFill>
                  <a:srgbClr val="5A6672"/>
                </a:solidFill>
                <a:latin typeface="Malgun Gothic"/>
              </a:rPr>
              <a:t>    –  USER_TAB_COL_STATISTICS에서 HISTOGRAM=HYBRID, NUM_BUCKETS=254로 확인된다</a:t>
            </a:r>
          </a:p>
          <a:p>
            <a:r>
              <a:rPr sz="1600" b="0">
                <a:solidFill>
                  <a:srgbClr val="5A6672"/>
                </a:solidFill>
                <a:latin typeface="Malgun Gothic"/>
              </a:rPr>
              <a:t>    –  균등 분포를 가정하지 않고 값별 분포를 구간(버킷)으로 나눠 저장한다</a:t>
            </a:r>
          </a:p>
          <a:p>
            <a:r>
              <a:rPr sz="1800" b="0">
                <a:solidFill>
                  <a:srgbClr val="202830"/>
                </a:solidFill>
                <a:latin typeface="Malgun Gothic"/>
              </a:rPr>
              <a:t>•  그래서 쏠린 값과 일반적인 값의 빈도를 구분해 추정할 수 있었다</a:t>
            </a:r>
          </a:p>
          <a:p>
            <a:r>
              <a:rPr sz="1600" b="0">
                <a:solidFill>
                  <a:srgbClr val="5A6672"/>
                </a:solidFill>
                <a:latin typeface="Malgun Gothic"/>
              </a:rPr>
              <a:t>    –  히스토그램의 내부 원리는 Chapter 13에서 다룬다</a:t>
            </a:r>
          </a:p>
          <a:p>
            <a:r>
              <a:rPr sz="1800" b="0">
                <a:solidFill>
                  <a:srgbClr val="202830"/>
                </a:solidFill>
                <a:latin typeface="Malgun Gothic"/>
              </a:rPr>
              <a:t>•  뒤집어 보면 — 같은 텍스트여야 같은 계획이 나온다는 전제가 확인된다</a:t>
            </a:r>
          </a:p>
          <a:p>
            <a:r>
              <a:rPr sz="1600" b="0">
                <a:solidFill>
                  <a:srgbClr val="5A6672"/>
                </a:solidFill>
                <a:latin typeface="Malgun Gothic"/>
              </a:rPr>
              <a:t>    –  리터럴이 다르면 텍스트가 다르므로 Cost·E-Rows까지 달라질 수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같았던 이유 — 선택지가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HOSP_ID에는 인덱스가 없다</a:t>
            </a:r>
          </a:p>
          <a:p>
            <a:r>
              <a:rPr sz="1600" b="0">
                <a:solidFill>
                  <a:srgbClr val="5A6672"/>
                </a:solidFill>
                <a:latin typeface="Malgun Gothic"/>
              </a:rPr>
              <a:t>    –  옵티마이저가 고를 수 있는 접근 경로는 TABLE ACCESS FULL 하나뿐이다</a:t>
            </a:r>
          </a:p>
          <a:p>
            <a:r>
              <a:rPr sz="1800" b="0">
                <a:solidFill>
                  <a:srgbClr val="202830"/>
                </a:solidFill>
                <a:latin typeface="Malgun Gothic"/>
              </a:rPr>
              <a:t>•  Full Scan은 조건에 맞는 행 수와 무관하게 테이블 전체를 읽는다</a:t>
            </a:r>
          </a:p>
          <a:p>
            <a:r>
              <a:rPr sz="1600" b="0">
                <a:solidFill>
                  <a:srgbClr val="5A6672"/>
                </a:solidFill>
                <a:latin typeface="Malgun Gothic"/>
              </a:rPr>
              <a:t>    –  어떤 값을 찾든 결국 테이블 전체를 다 읽어야 한다</a:t>
            </a:r>
          </a:p>
          <a:p>
            <a:r>
              <a:rPr sz="1600" b="0">
                <a:solidFill>
                  <a:srgbClr val="5A6672"/>
                </a:solidFill>
                <a:latin typeface="Malgun Gothic"/>
              </a:rPr>
              <a:t>    –  그래서 두 조회 모두 Buffers 3,090으로 같았다</a:t>
            </a:r>
          </a:p>
          <a:p>
            <a:r>
              <a:rPr sz="1800" b="0">
                <a:solidFill>
                  <a:srgbClr val="202830"/>
                </a:solidFill>
                <a:latin typeface="Malgun Gothic"/>
              </a:rPr>
              <a:t>•  판단 기준 — 추정이 정확해도 대안 경로가 없으면 결과는 바뀌지 않는다</a:t>
            </a:r>
          </a:p>
          <a:p>
            <a:r>
              <a:rPr sz="1600" b="0">
                <a:solidFill>
                  <a:srgbClr val="5A6672"/>
                </a:solidFill>
                <a:latin typeface="Malgun Gothic"/>
              </a:rPr>
              <a:t>    –  추정치는 여러 방법 중 하나를 고르는 데 쓰이는 값이다</a:t>
            </a:r>
          </a:p>
          <a:p>
            <a:r>
              <a:rPr sz="1600" b="0">
                <a:solidFill>
                  <a:srgbClr val="5A6672"/>
                </a:solidFill>
                <a:latin typeface="Malgun Gothic"/>
              </a:rPr>
              <a:t>    –  고를 것이 하나뿐이면 추정의 정확도는 선택에 영향을 주지 못한다</a:t>
            </a:r>
          </a:p>
          <a:p>
            <a:r>
              <a:rPr sz="1800" b="0">
                <a:solidFill>
                  <a:srgbClr val="202830"/>
                </a:solidFill>
                <a:latin typeface="Malgun Gothic"/>
              </a:rPr>
              <a:t>•  인덱스를 도입하면 이 상황이 어떻게 달라지는지는 Chapter 5에서 확인한다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2.6~2.7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SQL_ID로 확인하는 파싱 재사용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이 장에 Bad SQL 사례가 없는 이유</a:t>
            </a:r>
          </a:p>
          <a:p>
            <a:r>
              <a:rPr sz="1600" b="0">
                <a:solidFill>
                  <a:srgbClr val="C5CED6"/>
                </a:solidFill>
                <a:latin typeface="Malgun Gothic"/>
              </a:rPr>
              <a:t>•  A. 리터럴 SQL의 SQL_ID·실행 통계</a:t>
            </a:r>
          </a:p>
          <a:p>
            <a:r>
              <a:rPr sz="1600" b="0">
                <a:solidFill>
                  <a:srgbClr val="C5CED6"/>
                </a:solidFill>
                <a:latin typeface="Malgun Gothic"/>
              </a:rPr>
              <a:t>•  B. 바인드 변수 SQL의 SQL_ID·실행 통계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장에 Bad SQL 사례가 없는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장의 주제는 SQL 자체의 문제가 아니다</a:t>
            </a:r>
          </a:p>
          <a:p>
            <a:r>
              <a:rPr sz="1600" b="0">
                <a:solidFill>
                  <a:srgbClr val="5A6672"/>
                </a:solidFill>
                <a:latin typeface="Malgun Gothic"/>
              </a:rPr>
              <a:t>    –  문장을 잘못 써서 느려진 사례를 분석하는 장이 아니다</a:t>
            </a:r>
          </a:p>
          <a:p>
            <a:r>
              <a:rPr sz="1800" b="0">
                <a:solidFill>
                  <a:srgbClr val="202830"/>
                </a:solidFill>
                <a:latin typeface="Malgun Gothic"/>
              </a:rPr>
              <a:t>•  주제는 SQL 처리 방식의 차이다</a:t>
            </a:r>
          </a:p>
          <a:p>
            <a:r>
              <a:rPr sz="1600" b="0">
                <a:solidFill>
                  <a:srgbClr val="5A6672"/>
                </a:solidFill>
                <a:latin typeface="Malgun Gothic"/>
              </a:rPr>
              <a:t>    –  같은 문장이라도 어떻게 넘기느냐에 따라 파싱 비용이 달라진다</a:t>
            </a:r>
          </a:p>
          <a:p>
            <a:r>
              <a:rPr sz="1600" b="0">
                <a:solidFill>
                  <a:srgbClr val="5A6672"/>
                </a:solidFill>
                <a:latin typeface="Malgun Gothic"/>
              </a:rPr>
              <a:t>    –  그래서 개선 대상이 문장이 아니라 호출 방식에 있다</a:t>
            </a:r>
          </a:p>
          <a:p>
            <a:r>
              <a:rPr sz="1800" b="0">
                <a:solidFill>
                  <a:srgbClr val="202830"/>
                </a:solidFill>
                <a:latin typeface="Malgun Gothic"/>
              </a:rPr>
              <a:t>•  교안도 2.6절 대신 2.7절에서 파싱 관점의 관찰 결과를 다룬다</a:t>
            </a:r>
          </a:p>
          <a:p>
            <a:r>
              <a:rPr sz="1600" b="0">
                <a:solidFill>
                  <a:srgbClr val="5A6672"/>
                </a:solidFill>
                <a:latin typeface="Malgun Gothic"/>
              </a:rPr>
              <a:t>    –  SQL_ID·EXECUTIONS·PARSE_CALLS를 확인해 재사용 여부를 판단한다</a:t>
            </a:r>
          </a:p>
          <a:p>
            <a:r>
              <a:rPr sz="1800" b="0">
                <a:solidFill>
                  <a:srgbClr val="202830"/>
                </a:solidFill>
                <a:latin typeface="Malgun Gothic"/>
              </a:rPr>
              <a:t>•  관찰 질문 — 두 번 실행했을 때 SQL이 몇 개로 인식되는가</a:t>
            </a:r>
          </a:p>
          <a:p>
            <a:r>
              <a:rPr sz="1600" b="0">
                <a:solidFill>
                  <a:srgbClr val="5A6672"/>
                </a:solidFill>
                <a:latin typeface="Malgun Gothic"/>
              </a:rPr>
              <a:t>    –  이 질문 하나로 리터럴과 바인드 변수의 차이가 전부 드러난다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값만 다른 두 문장을 각각 한 번씩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71xyxd4t42wvj   1           1            ...WHERE hosp_id = 500</a:t>
            </a:r>
          </a:p>
          <a:p>
            <a:r>
              <a:rPr sz="1250" b="0">
                <a:solidFill>
                  <a:srgbClr val="E6E6E6"/>
                </a:solidFill>
                <a:latin typeface="Consolas"/>
              </a:rPr>
              <a:t>0fqfut0m2jfxw   2           2            ...WHERE hosp_id = 1</a:t>
            </a:r>
          </a:p>
          <a:p>
            <a:r>
              <a:rPr sz="1250" b="0">
                <a:solidFill>
                  <a:srgbClr val="E6E6E6"/>
                </a:solidFill>
                <a:latin typeface="Consolas"/>
              </a:rPr>
              <a:t> </a:t>
            </a:r>
          </a:p>
          <a:p>
            <a:r>
              <a:rPr sz="1250" b="0">
                <a:solidFill>
                  <a:srgbClr val="7EC699"/>
                </a:solidFill>
                <a:latin typeface="Consolas"/>
              </a:rPr>
              <a:t>-- 행이 두 개 나왔다는 사실 자체가 이 관찰의 결과다</a:t>
            </a:r>
          </a:p>
          <a:p>
            <a:r>
              <a:rPr sz="1250" b="0">
                <a:solidFill>
                  <a:srgbClr val="7EC699"/>
                </a:solidFill>
                <a:latin typeface="Consolas"/>
              </a:rPr>
              <a:t>-- 같은 로직의 SQL이 공유 풀에 두 개로 따로 등록되었다</a:t>
            </a:r>
          </a:p>
          <a:p>
            <a:r>
              <a:rPr sz="1250" b="0">
                <a:solidFill>
                  <a:srgbClr val="7EC699"/>
                </a:solidFill>
                <a:latin typeface="Consolas"/>
              </a:rPr>
              <a:t>-- 두 SQL_ID는 2.5절 실행계획에서 본 값과 그대로 일치한다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SQL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서로 다른 SQL_ID가 두 개 나왔다</a:t>
            </a:r>
          </a:p>
          <a:p>
            <a:r>
              <a:rPr sz="1600" b="0">
                <a:solidFill>
                  <a:srgbClr val="5A6672"/>
                </a:solidFill>
                <a:latin typeface="Malgun Gothic"/>
              </a:rPr>
              <a:t>    –  71xyxd4t42wvj와 0fqfut0m2jfxw — 각각 별도로 파싱·최적화되었다</a:t>
            </a:r>
          </a:p>
          <a:p>
            <a:r>
              <a:rPr sz="1800" b="0">
                <a:solidFill>
                  <a:srgbClr val="202830"/>
                </a:solidFill>
                <a:latin typeface="Malgun Gothic"/>
              </a:rPr>
              <a:t>•  각 SQL의 EXECUTIONS와 PARSE_CALLS가 모두 1이다</a:t>
            </a:r>
          </a:p>
          <a:p>
            <a:r>
              <a:rPr sz="1600" b="0">
                <a:solidFill>
                  <a:srgbClr val="5A6672"/>
                </a:solidFill>
                <a:latin typeface="Malgun Gothic"/>
              </a:rPr>
              <a:t>    –  한 번 실행했고 그 한 번을 위해 파싱했다는 뜻이다</a:t>
            </a:r>
          </a:p>
          <a:p>
            <a:r>
              <a:rPr sz="1600" b="0">
                <a:solidFill>
                  <a:srgbClr val="5A6672"/>
                </a:solidFill>
                <a:latin typeface="Malgun Gothic"/>
              </a:rPr>
              <a:t>    –  재사용이 일어난 흔적이 전혀 없다</a:t>
            </a:r>
          </a:p>
          <a:p>
            <a:r>
              <a:rPr sz="1800" b="0">
                <a:solidFill>
                  <a:srgbClr val="202830"/>
                </a:solidFill>
                <a:latin typeface="Malgun Gothic"/>
              </a:rPr>
              <a:t>•  이 패턴이 반복되면 어떻게 되는가</a:t>
            </a:r>
          </a:p>
          <a:p>
            <a:r>
              <a:rPr sz="1600" b="0">
                <a:solidFill>
                  <a:srgbClr val="5A6672"/>
                </a:solidFill>
                <a:latin typeface="Malgun Gothic"/>
              </a:rPr>
              <a:t>    –  병원 ID별로 계속 다른 값을 쓰면 SQL_ID가 계속 쌓인다</a:t>
            </a:r>
          </a:p>
          <a:p>
            <a:r>
              <a:rPr sz="1600" b="0">
                <a:solidFill>
                  <a:srgbClr val="5A6672"/>
                </a:solidFill>
                <a:latin typeface="Malgun Gothic"/>
              </a:rPr>
              <a:t>    –  공유 풀에 사본이 누적되고 그때마다 하드 파싱이 반복된다</a:t>
            </a:r>
          </a:p>
          <a:p>
            <a:r>
              <a:rPr sz="1600" b="0">
                <a:solidFill>
                  <a:srgbClr val="5A6672"/>
                </a:solidFill>
                <a:latin typeface="Malgun Gothic"/>
              </a:rPr>
              <a:t>    –  오래된 SQL이 밀려나면 다시 필요할 때 또 하드 파싱해야 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:b_hosp에 1과 500을 대입해 두 번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78qznuqcawm4c   2           2            ...WHERE hosp_id = :b_hosp</a:t>
            </a:r>
          </a:p>
          <a:p>
            <a:r>
              <a:rPr sz="1250" b="0">
                <a:solidFill>
                  <a:srgbClr val="E6E6E6"/>
                </a:solidFill>
                <a:latin typeface="Consolas"/>
              </a:rPr>
              <a:t> </a:t>
            </a:r>
          </a:p>
          <a:p>
            <a:r>
              <a:rPr sz="1250" b="0">
                <a:solidFill>
                  <a:srgbClr val="7EC699"/>
                </a:solidFill>
                <a:latin typeface="Consolas"/>
              </a:rPr>
              <a:t>-- 서로 다른 값으로 두 번 실행했지만 행은 하나뿐이다</a:t>
            </a:r>
          </a:p>
          <a:p>
            <a:r>
              <a:rPr sz="1250" b="0">
                <a:solidFill>
                  <a:srgbClr val="7EC699"/>
                </a:solidFill>
                <a:latin typeface="Consolas"/>
              </a:rPr>
              <a:t>-- SQL_ID가 하나로 유지되었다는 뜻이다</a:t>
            </a:r>
          </a:p>
          <a:p>
            <a:r>
              <a:rPr sz="1250" b="0">
                <a:solidFill>
                  <a:srgbClr val="7EC699"/>
                </a:solidFill>
                <a:latin typeface="Consolas"/>
              </a:rPr>
              <a:t>-- EXECUTIONS=2 — 같은 실행계획을 공유 풀에서 재사용했다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SQL_ID가 78qznuqcawm4c 하나로 유지되었다</a:t>
            </a:r>
          </a:p>
          <a:p>
            <a:r>
              <a:rPr sz="1600" b="0">
                <a:solidFill>
                  <a:srgbClr val="5A6672"/>
                </a:solidFill>
                <a:latin typeface="Malgun Gothic"/>
              </a:rPr>
              <a:t>    –  :b_hosp에 서로 다른 값을 대입했지만 SQL 텍스트는 그대로였기 때문이다</a:t>
            </a:r>
          </a:p>
          <a:p>
            <a:r>
              <a:rPr sz="1800" b="0">
                <a:solidFill>
                  <a:srgbClr val="202830"/>
                </a:solidFill>
                <a:latin typeface="Malgun Gothic"/>
              </a:rPr>
              <a:t>•  EXECUTIONS=2 — 같은 SQL이 두 번 실행되었다는 기록이다</a:t>
            </a:r>
          </a:p>
          <a:p>
            <a:r>
              <a:rPr sz="1600" b="0">
                <a:solidFill>
                  <a:srgbClr val="5A6672"/>
                </a:solidFill>
                <a:latin typeface="Malgun Gothic"/>
              </a:rPr>
              <a:t>    –  같은 실행계획을 공유 풀에서 재사용했음을 보여 준다</a:t>
            </a:r>
          </a:p>
          <a:p>
            <a:r>
              <a:rPr sz="1600" b="0">
                <a:solidFill>
                  <a:srgbClr val="5A6672"/>
                </a:solidFill>
                <a:latin typeface="Malgun Gothic"/>
              </a:rPr>
              <a:t>    –  값의 가짓수가 늘어도 SQL_ID는 여전히 하나로 유지된다</a:t>
            </a:r>
          </a:p>
          <a:p>
            <a:r>
              <a:rPr sz="1800" b="0">
                <a:solidFill>
                  <a:srgbClr val="202830"/>
                </a:solidFill>
                <a:latin typeface="Malgun Gothic"/>
              </a:rPr>
              <a:t>•  결론 — 매번 값이 바뀌는 조건으로 반복 조회하는 SQL이라면</a:t>
            </a:r>
          </a:p>
          <a:p>
            <a:r>
              <a:rPr sz="1600" b="0">
                <a:solidFill>
                  <a:srgbClr val="5A6672"/>
                </a:solidFill>
                <a:latin typeface="Malgun Gothic"/>
              </a:rPr>
              <a:t>    –  리터럴로 값을 직접 넣지 말고 바인드 변수를 쓴다</a:t>
            </a:r>
          </a:p>
          <a:p>
            <a:r>
              <a:rPr sz="1600" b="0">
                <a:solidFill>
                  <a:srgbClr val="5A6672"/>
                </a:solidFill>
                <a:latin typeface="Malgun Gothic"/>
              </a:rPr>
              <a:t>    –  공유 풀 부담과 하드 파싱 횟수를 함께 줄이는 길이다</a:t>
            </a:r>
          </a:p>
          <a:p>
            <a:r>
              <a:rPr sz="1800" b="0">
                <a:solidFill>
                  <a:srgbClr val="202830"/>
                </a:solidFill>
                <a:latin typeface="Malgun Gothic"/>
              </a:rPr>
              <a:t>•  단, 이 결론에는 조건이 붙는다 — 2.8절 마지막에서 다시 다룬다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파싱 관점 종합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 방식별 SQL_ID 개수와 파싱 부담</a:t>
            </a:r>
          </a:p>
          <a:p>
            <a:r>
              <a:rPr sz="1600" b="0">
                <a:solidFill>
                  <a:srgbClr val="C5CED6"/>
                </a:solidFill>
                <a:latin typeface="Malgun Gothic"/>
              </a:rPr>
              <a:t>•  바인드 변수가 항상 정답은 아니다</a:t>
            </a:r>
          </a:p>
          <a:p>
            <a:r>
              <a:rPr sz="1600" b="0">
                <a:solidFill>
                  <a:srgbClr val="C5CED6"/>
                </a:solidFill>
                <a:latin typeface="Malgun Gothic"/>
              </a:rPr>
              <a:t>•  요약과 실습 안내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파싱 관점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2.8절 Benchmark — 2회 실행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실행 방식                               | SQL_ID 개수 | 파싱 부담                         |</a:t>
            </a:r>
          </a:p>
          <a:p>
            <a:r>
              <a:rPr sz="1250" b="0">
                <a:solidFill>
                  <a:srgbClr val="E6E6E6"/>
                </a:solidFill>
                <a:latin typeface="Consolas"/>
              </a:rPr>
              <a:t>+-----------------------------------------+-------------+-----------------------------------+</a:t>
            </a:r>
          </a:p>
          <a:p>
            <a:r>
              <a:rPr sz="1250" b="0">
                <a:solidFill>
                  <a:srgbClr val="E6E6E6"/>
                </a:solidFill>
                <a:latin typeface="Consolas"/>
              </a:rPr>
              <a:t>| 리터럴 SQL (hosp_id=1, hosp_id=500)     | 2개         | 매번 하드 파싱                    |</a:t>
            </a:r>
          </a:p>
          <a:p>
            <a:r>
              <a:rPr sz="1250" b="0">
                <a:solidFill>
                  <a:srgbClr val="E6E6E6"/>
                </a:solidFill>
                <a:latin typeface="Consolas"/>
              </a:rPr>
              <a:t>| 바인드 변수 SQL (:b_hosp에 1, 500 대입) | 1개         | 최초 1회만 하드 파싱, 이후 재사용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리터럴 : 값의 가짓수만큼 SQL_ID가 늘어난다</a:t>
            </a:r>
          </a:p>
          <a:p>
            <a:r>
              <a:rPr sz="1250" b="0">
                <a:solidFill>
                  <a:srgbClr val="7EC699"/>
                </a:solidFill>
                <a:latin typeface="Consolas"/>
              </a:rPr>
              <a:t>-- 바인드 : 값이 달라져도 SQL_ID는 하나로 유지된다</a:t>
            </a:r>
          </a:p>
          <a:p>
            <a:r>
              <a:rPr sz="1250" b="0">
                <a:solidFill>
                  <a:srgbClr val="7EC699"/>
                </a:solidFill>
                <a:latin typeface="Consolas"/>
              </a:rPr>
              <a:t>-- 비교 지표는 시간이 아니라 SQL_ID 개수와 파싱 방식이다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변수가 항상 정답은 아니다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바인드 변수는 SQL_ID를 하나로 고정한다 — 실행계획도 하나만 캐시된다</a:t>
            </a:r>
          </a:p>
          <a:p>
            <a:r>
              <a:rPr sz="1600" b="0">
                <a:solidFill>
                  <a:srgbClr val="5A6672"/>
                </a:solidFill>
                <a:latin typeface="Malgun Gothic"/>
              </a:rPr>
              <a:t>    –  최초 하드 파싱 시점에 대입된 값을 기준으로 만들어진 계획이 남는다</a:t>
            </a:r>
          </a:p>
          <a:p>
            <a:r>
              <a:rPr sz="1600" b="0">
                <a:solidFill>
                  <a:srgbClr val="5A6672"/>
                </a:solidFill>
                <a:latin typeface="Malgun Gothic"/>
              </a:rPr>
              <a:t>    –  이후 다른 값에도 그 계획이 그대로 재사용된다 (바인드 변수 Peeking)</a:t>
            </a:r>
          </a:p>
          <a:p>
            <a:r>
              <a:rPr sz="1800" b="0">
                <a:solidFill>
                  <a:srgbClr val="202830"/>
                </a:solidFill>
                <a:latin typeface="Malgun Gothic"/>
              </a:rPr>
              <a:t>•  히스토그램이 있는 컬럼에서는 이것이 부작용이 될 수 있다</a:t>
            </a:r>
          </a:p>
          <a:p>
            <a:r>
              <a:rPr sz="1600" b="0">
                <a:solidFill>
                  <a:srgbClr val="5A6672"/>
                </a:solidFill>
                <a:latin typeface="Malgun Gothic"/>
              </a:rPr>
              <a:t>    –  쏠린 값과 일반적인 값은 원래 최적의 실행 방법이 다를 수 있다</a:t>
            </a:r>
          </a:p>
          <a:p>
            <a:r>
              <a:rPr sz="1600" b="0">
                <a:solidFill>
                  <a:srgbClr val="5A6672"/>
                </a:solidFill>
                <a:latin typeface="Malgun Gothic"/>
              </a:rPr>
              <a:t>    –  한 번 정해진 계획이 모든 값에 적용되는 결과가 된다</a:t>
            </a:r>
          </a:p>
          <a:p>
            <a:r>
              <a:rPr sz="1800" b="0">
                <a:solidFill>
                  <a:srgbClr val="202830"/>
                </a:solidFill>
                <a:latin typeface="Malgun Gothic"/>
              </a:rPr>
              <a:t>•  종합 판단 — 기본은 바인드 변수, 주의 대상은 분포가 크게 갈리는 컬럼</a:t>
            </a:r>
          </a:p>
          <a:p>
            <a:r>
              <a:rPr sz="1600" b="0">
                <a:solidFill>
                  <a:srgbClr val="5A6672"/>
                </a:solidFill>
                <a:latin typeface="Malgun Gothic"/>
              </a:rPr>
              <a:t>    –  무조건 바인드 변수도, 무조건 리터럴도 정답이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바인드 변수 Peeking과 그 대응 방법(적응형 커서 공유)은 Chapter 13에서 다룬다.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처리는 Parse → Bind → Execute → Fetch 순서로 진행된다</a:t>
            </a:r>
          </a:p>
          <a:p>
            <a:r>
              <a:rPr sz="1800" b="0">
                <a:solidFill>
                  <a:srgbClr val="202830"/>
                </a:solidFill>
                <a:latin typeface="Malgun Gothic"/>
              </a:rPr>
              <a:t>•  실행계획은 Parse 단계에서 만들어지고 이후 단계는 그것을 그대로 따라간다</a:t>
            </a:r>
          </a:p>
          <a:p>
            <a:r>
              <a:rPr sz="1800" b="0">
                <a:solidFill>
                  <a:srgbClr val="202830"/>
                </a:solidFill>
                <a:latin typeface="Malgun Gothic"/>
              </a:rPr>
              <a:t>•  Oracle은 SQL 텍스트를 해시한 SQL_ID로 공유 풀 재사용 여부를 판단한다</a:t>
            </a:r>
          </a:p>
          <a:p>
            <a:r>
              <a:rPr sz="1800" b="0">
                <a:solidFill>
                  <a:srgbClr val="202830"/>
                </a:solidFill>
                <a:latin typeface="Malgun Gothic"/>
              </a:rPr>
              <a:t>•  리터럴 값이 다르면 텍스트가 달라져 별도의 SQL_ID로 각각 하드 파싱된다</a:t>
            </a:r>
          </a:p>
          <a:p>
            <a:r>
              <a:rPr sz="1800" b="0">
                <a:solidFill>
                  <a:srgbClr val="202830"/>
                </a:solidFill>
                <a:latin typeface="Malgun Gothic"/>
              </a:rPr>
              <a:t>•  바인드 변수를 쓰면 값이 달라도 같은 SQL_ID를 유지해 계획을 재사용한다</a:t>
            </a:r>
          </a:p>
          <a:p>
            <a:r>
              <a:rPr sz="1800" b="0">
                <a:solidFill>
                  <a:srgbClr val="202830"/>
                </a:solidFill>
                <a:latin typeface="Malgun Gothic"/>
              </a:rPr>
              <a:t>•  히스토그램이 있는 컬럼은 리터럴 값에 따라 E-Rows가 다르게 나올 수 있다</a:t>
            </a:r>
          </a:p>
          <a:p>
            <a:r>
              <a:rPr sz="1800" b="0">
                <a:solidFill>
                  <a:srgbClr val="202830"/>
                </a:solidFill>
                <a:latin typeface="Malgun Gothic"/>
              </a:rPr>
              <a:t>•  E-Rows가 달라도 대안 경로가 없으면 Buffers는 같다 — 두 조회 모두 3,090</a:t>
            </a:r>
          </a:p>
          <a:p>
            <a:r>
              <a:rPr sz="1800" b="0">
                <a:solidFill>
                  <a:srgbClr val="202830"/>
                </a:solidFill>
                <a:latin typeface="Malgun Gothic"/>
              </a:rPr>
              <a:t>•  바인드 변수도 만능은 아니다 — Peeking 부작용은 Chapter 13에서 다룬다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SQL튜닝_Ch02_문제.md</a:t>
            </a:r>
          </a:p>
          <a:p>
            <a:r>
              <a:rPr sz="1600" b="0">
                <a:solidFill>
                  <a:srgbClr val="5A6672"/>
                </a:solidFill>
                <a:latin typeface="Malgun Gothic"/>
              </a:rPr>
              <a:t>    –  1번  Parse/Bind/Execute/Fetch 각 단계의 역할과 실행계획 생성 지점</a:t>
            </a:r>
          </a:p>
          <a:p>
            <a:r>
              <a:rPr sz="1600" b="0">
                <a:solidFill>
                  <a:srgbClr val="5A6672"/>
                </a:solidFill>
                <a:latin typeface="Malgun Gothic"/>
              </a:rPr>
              <a:t>    –  2·3번  리터럴과 바인드 변수의 SQL_ID 차이, 대규모 트래픽 시나리오 확장</a:t>
            </a:r>
          </a:p>
          <a:p>
            <a:r>
              <a:rPr sz="1600" b="0">
                <a:solidFill>
                  <a:srgbClr val="5A6672"/>
                </a:solidFill>
                <a:latin typeface="Malgun Gothic"/>
              </a:rPr>
              <a:t>    –  4·5번  히스토그램을 근거로 한 E-Rows 추정과 같은 계획 가정의 검증</a:t>
            </a:r>
          </a:p>
          <a:p>
            <a:r>
              <a:rPr sz="1600" b="0">
                <a:solidFill>
                  <a:srgbClr val="5A6672"/>
                </a:solidFill>
                <a:latin typeface="Malgun Gothic"/>
              </a:rPr>
              <a:t>    –  6번  바인드 변수 Peeking 부작용 추론</a:t>
            </a:r>
          </a:p>
          <a:p>
            <a:r>
              <a:rPr sz="1600" b="0">
                <a:solidFill>
                  <a:srgbClr val="5A6672"/>
                </a:solidFill>
                <a:latin typeface="Malgun Gothic"/>
              </a:rPr>
              <a:t>    –  7번  EXPLAIN PLAN이 네 단계 중 어디까지 수행하는가</a:t>
            </a:r>
          </a:p>
          <a:p>
            <a:r>
              <a:rPr sz="1600" b="0">
                <a:solidFill>
                  <a:srgbClr val="5A6672"/>
                </a:solidFill>
                <a:latin typeface="Malgun Gothic"/>
              </a:rPr>
              <a:t>    –  8·9번  Cost가 파싱 시점에 확정되는 이유, Buffers가 같았던 이유</a:t>
            </a:r>
          </a:p>
          <a:p>
            <a:r>
              <a:rPr sz="1600" b="0">
                <a:solidFill>
                  <a:srgbClr val="5A6672"/>
                </a:solidFill>
                <a:latin typeface="Malgun Gothic"/>
              </a:rPr>
              <a:t>    –  10번  공유 풀 누적 문제의 메모리·파싱 부하 관점 종합 서술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
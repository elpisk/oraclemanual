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제ch12은 리포트성 쿼리의 뼈대인 집계와 정렬을 다룬다. 이 두 연산은 앞 단계 결과가 다 모여야 처리되는 블로킹 연산이라 자원 소비가 크고, 그만큼 "언제 생략되는가"가 중요하다. 이번 장은 두 가지 흔한 통념 — 필터를 먼저 걸어야 집계가 빠르다, 인덱스 컬럼으로 정렬하면 정렬이 생략된다 — 를 실습 DB 실측으로 검증한다. 두 통념 모두 조건이 붙어야 성립한다는 것이 결론이다. 첫 시간에는 챕터 번호와 부제만 짚고 넘어가되, 이번 장의 결론이 결국 실행계획을 봐야 안다로 귀결된다는 점만 예고해 두면 학습자가 실측 결과를 기다리는 자세로 듣게 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묶음이다. 첫째는 개념으로, 정렬과 집계가 어떤 오퍼레이션으로 나타나고 어디서 자원을 쓰는지 파악하는 것이다. 둘째는 옵티마이저의 판단으로, 필터가 그룹화 이전으로 밀려들어갈 수 있는 조건을 이해하는 것이다. 셋째는 판정 능력으로, 실행계획을 보고 정렬이 왜 남았는지 또는 왜 사라졌는지 설명하는 것이다. 실습문제 10문항이 이 세 묶음에 그대로 대응한다. 목표를 읽을 때 각 항목이 몇 절에서 다뤄지는지 함께 알려 주면 학습자가 진도 위치를 잃지 않는다. 서술형 문항이 많은 챕터라 용어를 정확히 쓰는 연습이 특히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구성은 개념에서 실측으로, 다시 원칙으로 되돌아오는 순서다. 10.2까지는 정렬과 집계가 무엇인지 정리하고, 10.3에서 옵티마이저가 필터를 어떻게 옮기는지 다룬 뒤, 10.4와 10.5에서 실측 두 건을 본다. 10.4는 예상과 달리 아무 차이가 없었던 사례이고, 10.5는 같은 컬럼인데 결과가 갈린 사례다. 두 사례의 결론이 10.6의 판정 조건으로 합쳐진다. 절 제목만 훑지 말고 두 실측 절이 각각 어떤 결과였는지 한 줄로 예고해 두면 흥미가 유지된다. 예상과 다른 결과가 두 번 나온다는 점만 말해도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집계와 정렬은 배우지 않아도 다들 쓰고 있는 문법이라 학습자가 "이미 아는 내용"으로 넘겨 버리기 쉽다. 그래서 문법이 아니라 비용 관점에서 다시 보게 만드는 것이 이 절의 목적이다. 특히 두 연산이 앞 단계 결과를 다 모아야 하는 블로킹 연산이라는 점을 먼저 각인시키면, 뒤에서 다룰 작업 영역과 정렬 생략 이야기가 자연스럽게 이어진다. 이 절은 짧게 지나가되, 두 통념을 학습자에게 직접 물어보고 손을 들게 하면 뒤의 실측 결과가 훨씬 강하게 각인된다. 현장 경험이 있는 학습자일수록 두 통념을 강하게 지지하는 경향이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표현은 "모아서 처리한다"는 점이다. 인덱스 스캔이나 테이블 접근은 읽는 대로 상위 단계에 흘려보낼 수 있지만, 정렬과 해시 집계는 입력이 다 들어와야 결과를 확정할 수 있다. 그래서 응답 시간의 체감이 나빠지는 지점이 대개 이 연산이고, 화면에 첫 행이 늦게 뜨는 현상도 여기서 나온다. 이 감각을 먼저 심어 두면 뒤의 실측 해석이 훨씬 쉬워진다. 응답 시간의 체감과 자원 소비는 다른 문제라는 점도 함께 언급해 두면, 뒤에서 정렬 유무와 Buffers가 서로 어긋나는 사례를 볼 때 혼란이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통념을 다룰 때는 틀렸다고 단정하지 말고 조건이 빠졌다고 말하는 편이 교육적으로 낫다. 두 통념 모두 실제로 성립하는 상황이 분명히 있고, 학습자가 현장에서 그렇게 배웠을 가능성도 높기 때문이다. 이번 장의 목표는 통념을 부수는 것이 아니라 "언제 성립하는가"라는 조건절을 되찾아 붙여 주는 것이라고 미리 선언해 두면 수업 분위기가 방어적으로 흐르지 않는다. 두 통념 중 어느 쪽이 더 널리 퍼져 있는지 물어보면 대개 두 번째가 압도적이다. 그만큼 뒤의 실측이 반전으로 작동한다. 통념의 출처를 추궁하기보다 조건을 복원하는 데 집중하게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분명히 선언해 두는 이유는, 이번 장이 "인덱스를 만들어 해결하는" 장이 아니기 때문이다. DDL을 건드리지 않고 기존 PK만으로 정렬 생략 여부가 갈리는 모습을 보여 주는 것이 핵심이라, 학습자가 실습 중에 임의로 인덱스를 만들면 교안의 실행계획이 재현되지 않는다. 실습 시작 전에 이 점을 한 번 더 확인시키는 것이 좋다. 실습 환경을 이미 구성한 학습자라면 이 시점에 대상 테이블의 인덱스 목록을 한 번 확인시켜 두는 것도 좋다. 기존 PK 외에 추가 인덱스가 있으면 결과가 달라질 수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용어와 원리를 정리하는 구간이다. 여기서 다루는 내용 자체는 어렵지 않지만, 뒤의 실측 해석이 전부 이 절의 개념 위에서 이뤄지기 때문에 대충 넘기면 안 된다. 특히 "인덱스가 정렬을 대신한다"는 말의 정확한 의미와, HASH GROUP BY가 정렬과는 무관한 연산이라는 점 두 가지는 반드시 짚고 넘어가야 한다. 이 절의 슬라이드들은 서로 독립적으로 보이지만 마지막의 작업 영역 이야기가 앞의 개념들을 비용 관점으로 묶어 준다. 순서를 바꾸지 말고 그대로 진행하는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비용을 설명할 때는 행 수와 비용이 비례하지 않는다는 점을 짚어 주면 좋다. 비교 기반 정렬은 행 수에 로그를 곱한 만큼의 비교가 필요하므로, 대상 행이 두 배가 되면 비용은 두 배보다 커진다. 그래서 정렬을 줄이는 가장 확실한 방법은 정렬 알고리즘을 바꾸는 것이 아니라 정렬 대상 자체를 줄이거나 아예 정렬을 생략하는 것이다. 이번 장의 실측이 후자의 사례다. 정렬 요구 자체를 없애는 것도 실무에서는 유효한 선택지다. 화면에서 실제로 쓰이지 않는 ORDER BY가 관성으로 남아 있는 경우가 의외로 많으니 함께 언급해 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이번 장 전체의 핵심 논리다. 정렬 생략은 컬럼의 속성이 아니라 접근 경로의 속성이라는 것을 여기서 확실히 못 박아야, 뒤에 나오는 "PK인데도 정렬이 남았다"는 실측 결과가 놀랍지 않고 당연하게 읽힌다. 학습자가 가장 자주 헷갈리는 지점이므로 질문을 던져 확인하고 넘어가는 것을 권한다. 인덱스가 정렬 순서를 보장한다는 말은 하나의 인덱스를 순차로 읽어 나갈 때의 이야기라는 점도 덧붙여 두면 이후 챕터에서 혼란이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이름이 오퍼레이션 이름 그대로라는 점을 알려 주면 실행계획을 읽을 때 바로 연결된다. 학습자가 흔히 오해하는 지점은 GROUP BY라는 문법을 보면 무조건 정렬이 일어난다고 생각하는 것인데, HASH GROUP BY는 정렬을 하지 않는다. 그래서 GROUP BY 결과가 그룹 키 순서로 나오리라 기대하고 ORDER BY를 빼먹는 코드가 실제로 사고를 낸다. 두 방식의 이름이 실행계획에 그대로 찍히므로, 앞으로 실행계획을 볼 때마다 어느 방식이 선택됐는지 확인하는 습관을 들이라고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표에는 수치가 없다. 두 방식의 성격 차이만 정리한 것으로, 실습에서 관측된 것은 HASH GROUP BY 한 가지뿐이다. SORT GROUP BY를 억지로 유도해 보여 주기보다는 "이런 방식도 있다"는 선에서 남겨 두는 편이 낫다. 9번 실습문제가 바로 이 표를 근거로 추론하는 문제이므로, 표의 두 번째 행과 세 번째 행을 특히 강조해 두면 학습자가 문제를 풀 때 연결한다. 표를 그대로 옮겨 적게 하기보다 각 행을 근거로 두 가지 가능성을 말해 보게 하는 편이 이해도 확인에 낫다. 관측되지 않은 방식을 단정적으로 설명하지 않는 태도도 함께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개념 정리 목적이고 이번 챕터 실측에는 디스크 정렬 사례가 없다. 그래서 수치를 들이대지 말고 원리만 설명하는 것이 맞다. 실무에서는 대량 정렬 쿼리가 임시 테이블스페이스를 소진해 다른 세션까지 영향을 주는 사고가 종종 발생하는데, 이때 파라미터를 키우는 대응은 임시 방편이고 정렬 대상 자체를 줄이는 것이 정답이라는 점을 강조하면 좋다. 앞 챕터에서 본 메모리 관련 컬럼들을 여기서 다시 꺼내면 과정 전체의 연결이 드러난다. 이번 장의 실측에는 디스크 정렬 사례가 없다는 점도 분명히 말해 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다음 절로 자연스럽게 넘어가는 다리를 놓는다. 학습자는 대개 "직접 옮겨 쓰는 것이 안전하다"고 생각하는데, 이번 장의 실측은 그 수고가 대개 불필요했다는 결과를 보여 준다. 다만 "그러니 아무렇게나 써도 된다"는 결론으로 넘어가지 않도록, 밀어넣기가 가능한 조건이 따로 있다는 점을 예고하고 넘어가야 한다. 실무에서는 옵티마이저가 이미 해 주는 일을 손으로 반복하다가 SQL이 길어지고, 그 길이 때문에 다음 사람이 손대지 못하는 코드가 되어 버리는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이번 장의 이론적 중심이다. 이 절의 판별 기준 하나 — 이 조건을 평가하는 데 집계 결과가 필요한가 — 만 손에 쥐면 10.4의 실측 결과가 전부 설명된다. 실습문제 1·2·3번이 모두 이 절의 내용을 서술하는 문제이므로, 여기서 학습자가 자기 말로 설명할 수 있을 때까지 시간을 들이는 것이 좋다. 이 절의 내용은 대부분 서술형 문항으로 출제되므로, 슬라이드를 읽어 주기보다 학습자에게 설명하게 하고 표현을 교정해 주는 방식이 훨씬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자주 오해하는 지점은 옵티마이저가 "똑똑해서 알아서 해 준다"는 식의 막연한 기대다. 실제로는 결과가 같다는 것을 증명할 수 있는 경우에만 옮기며, 증명이 불가능하면 절대 옮기지 않는다. 그래서 어떤 조건이 증명 가능한지 아는 것이 개발자가 할 일이고, 그 판별 기준이 바로 다음 두 슬라이드의 내용이다. 밀어넣기라는 표현이 방향을 헷갈리게 만들 수 있으니, 처리 파이프라인의 앞쪽으로 옮긴다는 의미임을 처음에 한 번 그림으로 정리해 두는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칠판에 두 경로를 그려 보이면 이해가 빠르다. 왼쪽은 필터 후 그룹화, 오른쪽은 그룹화 후 필터인데 도착점이 같은 집합이 된다는 것을 눈으로 보여 주는 것이다. 실습문제 1번과 2번이 정확히 이 설명을 요구하므로, 학습자에게 이 두 경로를 말로 설명해 보게 시키면 그대로 답안이 된다. 등치 조건이 아니라 범위 조건이거나 함수가 씌워진 조건이라면 판단이 달라질 수 있으므로, 이번 사례가 등치 조건이었다는 점을 분명히 못 박아 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판별 기준 한 문장이 이번 장에서 가장 오래 남길 문장이다. 학습자에게 WHERE와 HAVING을 문법 위치로 외우게 하지 말고, 조건이 참조하는 값이 언제 확정되는지로 판단하게 하는 것이 목표다. 그렇게 익히면 인라인 뷰든 서브쿼리든 형태가 바뀌어도 같은 기준으로 판단할 수 있다. 실습문제 3번이 이 전이 능력을 확인하는 문제다. WHERE 절에 집계 함수를 쓰면 문법 오류가 나는 이유도 같은 논리에서 나온다는 점을 연결해 주면, 학습자가 문법과 처리 순서를 함께 이해하게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챕터를 나란히 놓고 비교하는 것이 이 슬라이드의 목적이다. 학습자는 "인라인 뷰 바깥 필터는 나쁘다"는 식의 형태 기반 규칙을 만들기 쉬운데, 같은 형태에서 정반대 결론이 나오는 사례를 보여 주면 그 규칙이 깨진다. 실습문제 3번이 최상 난이도로 이 대조를 묻는 문제이므로, 여기서 충분히 다뤄 두는 것이 좋다. 두 사례를 표로 나란히 칠판에 적어 두고 수업 내내 남겨 두면, 이후 슬라이드에서 반복해서 참조할 수 있어 진행이 효율적이다.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절은 이번 장의 첫 번째 실측이다. 결과가 "아무 차이 없음"이라 밋밋해 보일 수 있지만, 오히려 그 점이 교육적으로 강력하다. 일부러 비효율적으로 쓴 SQL이 Plan hash value까지 동일하게 나왔다는 사실을 먼저 보여 준 다음 원인을 설명하는 순서로 진행하면 집중도가 훨씬 높다. 실측을 보여 주기 전에 예측을 적어 두게 하고, 결과를 본 뒤 자기 예측이 왜 빗나갔는지 쓰게 하면 첫 번째 문항의 답안이 자연스럽게 완성된다.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Q2를 소개할 때는 "이렇게 쓰면 안 된다"는 예시로 먼저 제시하는 것이 좋다. 학습자 대부분이 Q2가 훨씬 느릴 것이라고 예상하고, 그 예상이 빗나가는 순간이 이 절의 학습 효과다. 예측을 먼저 말하게 한 뒤 실행계획을 보여 주면 기억에 오래 남는다. 실습문제 1번이 바로 이 예측이 빗나간 이유를 묻는다. 실무 코드에서 두 번째 형태는 인라인 뷰를 재사용하려다 생기는 경우가 많다. 일부러 나쁘게 쓴 코드가 아니라 흔히 나오는 코드라는 점을 짚어 두면 공감이 커진다.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SQL은 누구나 자연스럽게 쓰는 형태다. 여기서 짚을 것은 claim_type이 GROUP BY 절에 없다는 점, 그럼에도 WHERE로 걸 수 있는 이유는 그것이 원본 컬럼 값이기 때문이라는 점이다. 만약 이 자리에 COUNT(*) 조건을 쓰려 했다면 WHERE에는 쓸 수 없고 HAVING으로 가야 한다는 대비를 함께 설명하면 앞 절 내용이 복습된다. 이 SQL 자체는 설명할 것이 많지 않으므로 빠르게 넘기고, 다음 슬라이드와 비교할 준비를 시키는 데 시간을 쓰는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Q2를 보여 줄 때 학습자에게 예상 실행계획을 먼저 말하게 하는 것을 권한다. 대부분 그룹 수가 늘어나 더 느릴 것이라고 답한다. 그 예상이 성립하려면 옵티마이저가 SQL에 쓰인 순서대로만 처리해야 하는데, 실제로는 그렇지 않다는 것이 다음 슬라이드에서 드러난다. 이 형태는 실무 코드에서도 리팩터링 과정에서 흔히 생기는 모양이다. 인라인 뷰 안쪽의 GROUP BY 절에 claim_type이 들어가 있다는 점을 손으로 짚어 주면, 다음 슬라이드에서 그 단계가 사라진 것이 훨씬 극적으로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읽을 때는 위에서 아래가 아니라 안쪽에서 바깥쪽 순으로 본다는 원칙을 다시 상기시킨다. Id 2에서 테이블을 훑고, Id 1에서 해시로 그룹을 묶고, Id 0으로 결과가 나가는 구조다. 여기서 학습자가 가장 놀라는 부분은 Plan hash value까지 같다는 점인데, 이는 계획이 비슷한 정도가 아니라 옵티마이저가 두 SQL을 동일한 형태로 변환했다는 뜻이다. 세 줄의 값이 서로 같은 이유도 물어볼 만하다. 갈라지는 가지가 없는 단일 경로 구조라 상위 단계가 하위 단계의 값을 그대로 물려받기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수치를 하나씩 짚어 주되, 59511이라는 값이 필터를 통과한 행 수라는 점을 놓치지 말아야 한다. 이 값이 테이블 전체 행 수가 아니라는 것은 곧 Full Scan 단계에서 이미 필터가 적용됐다는 증거이기 때문이다. 실행계획의 A-Rows를 근거로 필터가 어디서 적용됐는지 읽어 내는 훈련은 이후 챕터에서도 계속 쓰인다. 여기서 Plan hash value의 의미를 모르는 학습자가 있으면 짧게 보충한다. 계획의 구조를 요약한 값이라 값이 같으면 구조가 같다고 볼 수 있다는 정도면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변환이 한 번이 아니라 두 단계로 일어났다는 점이다. 조건을 앞으로 옮긴 것만으로는 계획이 완전히 같아지지 않는다. 옮긴 결과 그룹 키 하나가 상수로 고정되고, 그래서 그 키가 그룹핑에서 빠진 것이다. 학습자가 1번 문항에 답할 때 이 두 단계를 모두 언급하면 완전한 답안이 된다. 두 단계를 칠판에 화살표로 그려 두면 답안 작성이 쉬워진다. 조건의 이동이 먼저이고, 상수로 고정된 그룹 키의 제거가 그다음이다. 순서를 뒤집어 설명하면 논리가 어색해진다.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균형을 잡아 주는 것이 중요하다. "옵티마이저가 알아서 해 주니 신경 쓸 필요 없다"로 받아들이면 위험하다. 이번 사례가 성립한 것은 조건이 그룹 키에 대한 등치 조건이었기 때문이고, 조건이 조금만 달라져도 결과는 달라질 수 있다. 실무에서는 가독성이 좋은 쪽으로 쓰되 실행계획을 확인하는 습관을 함께 가져가라고 정리하면 좋다. 실무 코드 리뷰에서 이 결론을 어떻게 쓸지도 함께 이야기한다. 필터 위치를 지적하기보다 실행계획을 함께 보자고 제안하는 편이 훨씬 생산적이다.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절은 이번 장의 두 번째 실측이자 더 흥미로운 사례다. 같은 컬럼, 같은 테이블, 같은 SQL 형태인데 필터 범위만 바꿨더니 정렬 생략 여부가 갈렸다. ch05에서 배운 선택도에 따른 접근 방식 전환이 정렬에까지 영향을 미친다는 것을 보여 주는 구간이라, 앞 챕터와의 연결을 명시적으로 짚어 주면 좋다. 이 절은 표 두 장이 핵심이라 슬라이드를 오가며 비교하게 된다. 두 표를 인쇄물로 나란히 배포하면 수업 진행이 훨씬 매끄러워진다.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설계를 먼저 설명하는 이유는, 이 실험의 변수가 무엇인지 분명히 해 두기 위해서다. 정렬 기준 컬럼과 필터 범위 두 가지를 교차시킨 2×2 구조이고, 나머지는 전부 고정돼 있다. 이 구조를 이해하면 네 가지 결과를 표로 읽을 때 훨씬 명확해진다. 이런 통제된 비교 설계 자체가 튜닝 실무에서 필요한 태도이기도 하다. 변수를 하나만 바꿔 비교하는 설계는 튜닝 실무에서도 그대로 쓰인다. 여러 조건을 동시에 바꾸면 원인을 특정할 수 없다는 점을 함께 강조해 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보여 줄 때 학습자에게 "PK로 정렬했는데 왜 SORT가 남았을까"를 먼저 묻는 것이 좋다. 대부분 인덱스가 있으니 생략될 것이라고 답하고, 그 답이 컬럼만 보고 접근 경로를 보지 않은 결과라는 점을 지적하면 된다. 두 행의 Buffers가 같다는 것도 의미가 있다 — 어차피 같은 Full Scan을 했기 때문이다. 실습문제 4번이 이 결과를 묻는다. 두 행의 Operation이 완전히 같다는 점도 짚어 준다. 정렬 기준 컬럼이 달라도 접근 경로가 같으면 계획의 모양이 거의 같아진다는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논리는 인덱스의 존재가 아니라 인덱스의 사용이다. 인덱스는 분명히 있었고 정렬 기준도 일치했지만, 이 쿼리가 그 인덱스를 타지 않았기 때문에 정렬 순서를 물려받을 통로 자체가 없었다. 학습자가 이 문장을 자기 말로 말할 수 있으면 4번 문항은 해결된다. 실무에서도 "인덱스 있는데 왜 느리냐"는 질문의 절반은 이 구조다. 인덱스를 만들어도 문제가 풀리지 않는 상황이 바로 여기서 나온다. 인덱스를 추가하기 전에 그 인덱스가 채택될 만한 선택도인지부터 확인하라는 조언으로 이어 준다.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두 컬럼인데 앞 표와 결과가 정반대로 갈린다는 점을 먼저 대비시킨다. 바뀐 것은 필터 범위 하나뿐이고, 그 변화가 접근 경로를 바꾸고 접근 경로가 정렬 생략 여부를 바꾼 연쇄다. 마지막 주석의 791과 731 비교는 다음 슬라이드로 넘어가는 미끼이므로, 여기서 답을 말해 버리지 말고 질문만 던져 두는 편이 좋다. 앞 표와 이 표를 화면에서 빠르게 오가며 보여 주면 대비 효과가 크다. 바뀐 조건이 필터 범위 하나뿐이라는 사실을 반복해서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슬라이드와 이 슬라이드를 나란히 놓고 비교하게 하는 것이 학습 목표다. 바뀐 조건은 필터 범위 하나뿐인데 결과가 정반대로 갈렸다. 즉 정렬 생략은 SQL 문장의 속성이 아니라 실행 시점의 접근 경로 선택에 달린 결과라는 것이다. 실습문제 5번과 6번이 이 대조를 요구하므로, 두 슬라이드를 함께 다시 보여 주며 정리하는 것이 좋다. 인덱스가 정렬 순서를 물려준다는 표현을 쓰면 이해가 쉽다. 물려받을 통로가 열려 있어야 정렬을 생략할 수 있다는 비유로 앞 슬라이드와 자연스럽게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이번 장에서 가장 반직관적인 대목이라 시간을 조금 더 써도 좋다. 하나의 요인만 보고 비용을 단정하면 안 된다는 것이 요지이고, 이는 과정 전체를 관통하는 원칙과 같다. 실습문제 7번이 이 결과의 함의를 묻는 서술형이므로, 여기서 여러 요인이 동시에 작용한다는 점을 분명히 정리해 두어야 한다. 학습자가 이 결과를 보고 정렬 생략이 의미 없다고 결론 내리지 않도록 주의시킨다. 이번 사례는 대상 행이 적어 정렬 비용 자체가 작았던 조건에서 나온 결과다.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앞의 두 실측을 원칙으로 압축하는 구간이다. 10.4와 10.5는 서로 다른 소재였지만 결론은 하나로 모인다 — SQL의 겉모양이 아니라 실행계획이 보여 주는 실제 처리 구조가 비용을 결정한다는 것이다. 여기서 정리한 조건과 체크리스트가 학습자가 현장으로 가져갈 산출물이다. 앞의 두 실측을 한 문장씩으로 요약하게 한 뒤 이 절을 시작하면, 원칙이 결과에서 나온 것이라는 흐름이 분명해진다. 원칙을 먼저 주면 암기 대상이 되어 버린다.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두 조건이 이번 장의 최종 산출물이다. 특히 좁은 범위의 total_amt 사례가 조건 (1)만 빠진 경우라는 점을 짚으면 네 가지 실측이 두 조건의 조합으로 깔끔하게 설명된다. 실습문제 6번이 정확히 이 조건을 서술하라는 문제이므로, 학습자에게 두 조건을 각각 어떤 실측이 뒷받침하는지 짝지어 보게 하면 좋다. 두 조건을 순서대로 확인하는 절차로 만들어 두면 실무에서 바로 쓸 수 있다. 컬럼 확인이 먼저이고 실행계획 확인이 나중인데, 후자를 건너뛰는 것이 가장 흔한 실수다.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실무에서 가장 자주 부딪히는 상황이다. 개발 환경의 작은 데이터에서는 인덱스를 타서 정렬이 없다가, 운영 데이터가 쌓이면서 같은 SQL이 Full Scan으로 전환되고 정렬이 추가되는 식이다. 이 경우 SQL은 한 줄도 바뀌지 않았으므로 코드 리뷰만으로는 원인을 찾을 수 없다. 실행계획을 주기적으로 확인해야 하는 이유가 여기에 있다. 통계 정보가 갱신되면서 접근 경로가 바뀌는 경우도 같은 범주다. 배치 작업이 갑자기 느려졌다는 신고의 상당수가 이 구조에서 나온다는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SORT와 GROUP BY를 같은 성격의 연산으로 뭉뚱그려 이해하는 학습자가 많아 이 슬라이드가 필요하다. 정렬은 인덱스 순서로 대체될 수 있는 연산이지만, 그룹핑은 대체가 아니라 방식 변경만 가능한 연산이다. 실습문제 8번이 이 구분을 묻는 문제이므로, "생략"과 "방식 변경"이라는 두 단어를 구분해서 쓰도록 지도하면 좋다. 생략과 방식 변경을 구분하지 못하면 해당 문항에서 감점된다. 정렬은 없앨 수 있는 연산, 그룹핑은 없앨 수 없는 연산이라는 대비로 정리해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9번의 원칙 적용 훈련을 미리 다뤄 보는 구간이다. 정답을 단정해 주지 말고 두 가능성과 각각의 근거를 제시한 뒤, 확인 방법은 실행계획이라는 결론으로 마무리하는 것이 이 과정의 태도에 맞다. 학습자가 답을 하나로 요구하면, 추론과 확인은 다른 단계라는 점을 설명해 주면 된다. 이런 추론 문제에서는 정답을 단정하지 않는 태도 자체가 평가 대상이다. 근거를 갖춘 두 가지 가능성을 제시하고 확인 방법을 말하는 답안이 가장 좋은 답안이다.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체크리스트는 학습자가 현장에서 그대로 꺼내 쓸 수 있는 형태로 남긴다. 앞의 두 항목은 SQL 텍스트만 보고도 판단할 수 있지만, 뒤의 항목은 반드시 실행계획을 떠야 답할 수 있다는 차이를 짚어 주면 좋다. 이 차이가 곧 코드 리뷰의 한계이자 실행계획 확인이 필요한 이유이며, ch01부터 이어져 온 이 과정의 일관된 메시지다. 체크리스트를 노트에 옮겨 적게 하고, 실습 문제를 풀 때 이 순서 그대로 적용해 보라고 안내하면 학습이 훈련으로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실측 네 건을 한 표로 모아 보며 정리하는 구간이다. 표를 먼저 보여 주고 각 행이 어느 슬라이드의 결과였는지 되짚게 하면 복습 효과가 크다. 이 장의 결론은 두 문장으로 압축된다 — 그룹 키 필터의 위치는 대체로 중요하지 않고, 정렬 생략은 접근 경로에 달려 있다는 것이다. 마지막 절은 시간이 부족하면 표 한 장만 보여 주고 정리해도 무방하다. 다만 오해 정리 슬라이드는 실습 직전 복습 효과가 크므로 건너뛰지 않는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읽을 때는 각 행이 어느 조건의 결과인지 되짚게 하는 것이 좋다. 1행은 그룹 키 필터, 2행은 조건 (2) 불성립, 3행은 두 조건 모두 성립, 4행은 조건 (1) 불성립이다. 네 행이 이번 장에서 정리한 판정 조건으로 전부 설명된다는 것을 확인시키면 복습이 완결된다. 3행과 4행의 Buffers 역전도 다시 한 번 언급해 둘 만하다. 표의 기준이 실행 시간이 아니라 Buffers인 이유도 되짚어 준다. 시간은 캐시 상태에 흔들리지만 논리적 I/O는 상대적으로 안정적이기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오해 4는 교안 본문에는 없지만 HASH GROUP BY의 성격에서 곧바로 따라 나오는 결론이라 함께 정리해 둘 만하다. 정렬 순서를 보장받으려면 ORDER BY를 명시해야 한다는 원칙은 버전이나 옵티마이저 판단과 무관하게 항상 성립한다. 운영 중 실행계획이 바뀌면서 결과 순서가 달라져 화면이 깨지는 사고가 실제로 흔하다. 오해 목록을 학습자에게 더 추가해 보게 하면 참여도가 올라간다. 다만 근거 없는 통념을 새로 만들지 않도록 각 항목에 실측 근거를 붙이게 하는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두 축으로 정리한다. 앞쪽 네 줄은 GROUP BY와 필터 밀어넣기, 뒤쪽 네 줄은 ORDER BY와 정렬 생략이다. 이 여덟 줄을 학습자가 실습 전에 한 번 소리 내어 읽게 하면 문제 풀이 속도가 눈에 띄게 달라진다. 특히 판별 기준 한 문장과 정렬 생략의 두 조건은 이 장에서 반드시 가져가야 할 두 가지다. 요약을 넘기기 전에 두 조건을 외우지 말고 왜 그런지 설명해 보게 하면 이해 수준이 바로 드러난다. 설명이 막히면 개념 절로 돌아가 다시 짚으면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문항 배치는 교안 절 순서와 같다. 1~3번은 10.3과 10.4, 4~7번은 10.5, 8~9번은 10.6에 대응한다. 10번은 이번 장 전체를 한 문장으로 압축하는 문제라 마지막에 배치했다. 3·6·9·10번이 최상 난이도이므로 시간 배분을 안내해 주는 것이 좋다. 특히 9번은 직접 실행할 필요 없이 원칙만으로 추론하는 문제라는 점을 미리 알려 주어야 한다. 실습 시간에는 실행계획을 직접 떠 보게 하는 것이 좋지만 추론만으로 답하는 문항도 섞여 있으니, 문항 성격을 구분해 안내해 주어야 시간이 낭비되지 않는다.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제ch12</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SORT / GROUP BY / 집계</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HASH GROUP BY vs SORT GROUP BY  ·  Predicate Pushdown  ·  정렬 생략의 두 조건  ·  선택도와 SORT ORDER BY   |  실습 DB 실측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ORDER BY의 SORT 연산이 언제 발생하고 언제 생략되는지 조건으로 설명한다</a:t>
            </a:r>
          </a:p>
          <a:p>
            <a:r>
              <a:rPr sz="1600" b="0">
                <a:solidFill>
                  <a:srgbClr val="5A6672"/>
                </a:solidFill>
                <a:latin typeface="Malgun Gothic"/>
              </a:rPr>
              <a:t>    –  GROUP BY의 두 처리 방식 — HASH GROUP BY와 SORT GROUP BY를 구분한다</a:t>
            </a:r>
          </a:p>
          <a:p>
            <a:r>
              <a:rPr sz="1600" b="0">
                <a:solidFill>
                  <a:srgbClr val="5A6672"/>
                </a:solidFill>
                <a:latin typeface="Malgun Gothic"/>
              </a:rPr>
              <a:t>    –  정렬·해시 집계가 작업 영역(PGA)에서 수행된다는 점과 디스크 정렬의 의미를 설명한다</a:t>
            </a:r>
          </a:p>
          <a:p>
            <a:r>
              <a:rPr sz="1600" b="0">
                <a:solidFill>
                  <a:srgbClr val="5A6672"/>
                </a:solidFill>
                <a:latin typeface="Malgun Gothic"/>
              </a:rPr>
              <a:t>    –  Predicate Pushdown의 정의와 안전 조건을 설명한다</a:t>
            </a:r>
          </a:p>
          <a:p>
            <a:r>
              <a:rPr sz="1600" b="0">
                <a:solidFill>
                  <a:srgbClr val="5A6672"/>
                </a:solidFill>
                <a:latin typeface="Malgun Gothic"/>
              </a:rPr>
              <a:t>    –  그룹 키에 대한 필터와 집계 결과에 대한 필터를 구분해 판별한다</a:t>
            </a:r>
          </a:p>
          <a:p>
            <a:r>
              <a:rPr sz="1600" b="0">
                <a:solidFill>
                  <a:srgbClr val="5A6672"/>
                </a:solidFill>
                <a:latin typeface="Malgun Gothic"/>
              </a:rPr>
              <a:t>    –  HAVING 조건이 그룹화 이전으로 밀려나지 못하는 이유를 설명한다</a:t>
            </a:r>
          </a:p>
          <a:p>
            <a:r>
              <a:rPr sz="1600" b="0">
                <a:solidFill>
                  <a:srgbClr val="5A6672"/>
                </a:solidFill>
                <a:latin typeface="Malgun Gothic"/>
              </a:rPr>
              <a:t>    –  필터 위치를 바꾼 두 SQL이 동일한 실행계획이 된 원인을 실행계획으로 설명한다</a:t>
            </a:r>
          </a:p>
          <a:p>
            <a:r>
              <a:rPr sz="1600" b="0">
                <a:solidFill>
                  <a:srgbClr val="5A6672"/>
                </a:solidFill>
                <a:latin typeface="Malgun Gothic"/>
              </a:rPr>
              <a:t>    –  선택도에 따라 같은 컬럼의 정렬 생략 여부가 달라지는 이유를 설명한다</a:t>
            </a:r>
          </a:p>
          <a:p>
            <a:r>
              <a:rPr sz="1600" b="0">
                <a:solidFill>
                  <a:srgbClr val="5A6672"/>
                </a:solidFill>
                <a:latin typeface="Malgun Gothic"/>
              </a:rPr>
              <a:t>    –  정렬 생략의 두 조건을 적용해 실제 SQL의 SORT 발생 여부를 판정한다</a:t>
            </a:r>
          </a:p>
          <a:p>
            <a:r>
              <a:rPr sz="1600" b="0">
                <a:solidFill>
                  <a:srgbClr val="5A6672"/>
                </a:solidFill>
                <a:latin typeface="Malgun Gothic"/>
              </a:rPr>
              <a:t>    –  정렬 유무만으로 비용을 단정하지 않고 테이블 접근 방식까지 함께 확인한다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10.1  정렬과 집계는 왜 중요한가</a:t>
            </a:r>
          </a:p>
          <a:p>
            <a:r>
              <a:rPr sz="1600" b="0">
                <a:solidFill>
                  <a:srgbClr val="5A6672"/>
                </a:solidFill>
                <a:latin typeface="Malgun Gothic"/>
              </a:rPr>
              <a:t>    –  리포트성 쿼리의 뼈대 / 검증할 두 가지 통념 / 이 차시의 소재와 범위</a:t>
            </a:r>
          </a:p>
          <a:p>
            <a:r>
              <a:rPr sz="1800" b="0">
                <a:solidFill>
                  <a:srgbClr val="202830"/>
                </a:solidFill>
                <a:latin typeface="Malgun Gothic"/>
              </a:rPr>
              <a:t>•  10.2  Concept — ORDER BY와 GROUP BY의 처리 방식</a:t>
            </a:r>
          </a:p>
          <a:p>
            <a:r>
              <a:rPr sz="1600" b="0">
                <a:solidFill>
                  <a:srgbClr val="5A6672"/>
                </a:solidFill>
                <a:latin typeface="Malgun Gothic"/>
              </a:rPr>
              <a:t>    –  정렬 연산의 정체 / 인덱스가 정렬을 대신하는 원리 / HASH vs SORT GROUP BY / 작업 영역</a:t>
            </a:r>
          </a:p>
          <a:p>
            <a:r>
              <a:rPr sz="1800" b="0">
                <a:solidFill>
                  <a:srgbClr val="202830"/>
                </a:solidFill>
                <a:latin typeface="Malgun Gothic"/>
              </a:rPr>
              <a:t>•  10.3  Oracle Internals — 필터 위치보다 중요한 것</a:t>
            </a:r>
          </a:p>
          <a:p>
            <a:r>
              <a:rPr sz="1600" b="0">
                <a:solidFill>
                  <a:srgbClr val="5A6672"/>
                </a:solidFill>
                <a:latin typeface="Malgun Gothic"/>
              </a:rPr>
              <a:t>    –  Predicate Pushdown / 그룹 키 필터 / HAVING / ch10 사례와의 대조</a:t>
            </a:r>
          </a:p>
          <a:p>
            <a:r>
              <a:rPr sz="1800" b="0">
                <a:solidFill>
                  <a:srgbClr val="202830"/>
                </a:solidFill>
                <a:latin typeface="Malgun Gothic"/>
              </a:rPr>
              <a:t>•  10.4  Example — GROUP BY 필터 위치 실측</a:t>
            </a:r>
          </a:p>
          <a:p>
            <a:r>
              <a:rPr sz="1600" b="0">
                <a:solidFill>
                  <a:srgbClr val="5A6672"/>
                </a:solidFill>
                <a:latin typeface="Malgun Gothic"/>
              </a:rPr>
              <a:t>    –  Q1·Q2 SQL / 공통 실행계획 / 동일한 계획이 된 원인 / 실무 교훈</a:t>
            </a:r>
          </a:p>
          <a:p>
            <a:r>
              <a:rPr sz="1800" b="0">
                <a:solidFill>
                  <a:srgbClr val="202830"/>
                </a:solidFill>
                <a:latin typeface="Malgun Gothic"/>
              </a:rPr>
              <a:t>•  10.5  Bad SQL — ORDER BY의 정렬 생략은 선택도에 달려 있다</a:t>
            </a:r>
          </a:p>
          <a:p>
            <a:r>
              <a:rPr sz="1600" b="0">
                <a:solidFill>
                  <a:srgbClr val="5A6672"/>
                </a:solidFill>
                <a:latin typeface="Malgun Gothic"/>
              </a:rPr>
              <a:t>    –  넓은 범위와 좁은 범위 비교 / 정렬이 없는 쪽이 더 비싼 역설</a:t>
            </a:r>
          </a:p>
          <a:p>
            <a:r>
              <a:rPr sz="1800" b="0">
                <a:solidFill>
                  <a:srgbClr val="202830"/>
                </a:solidFill>
                <a:latin typeface="Malgun Gothic"/>
              </a:rPr>
              <a:t>•  10.6  Tuning — 정렬 생략의 두 조건</a:t>
            </a:r>
          </a:p>
          <a:p>
            <a:r>
              <a:rPr sz="1600" b="0">
                <a:solidFill>
                  <a:srgbClr val="5A6672"/>
                </a:solidFill>
                <a:latin typeface="Malgun Gothic"/>
              </a:rPr>
              <a:t>    –  두 조건 / ch05와의 연결 / HASH GROUP BY의 생략 불가 / 체크리스트</a:t>
            </a:r>
          </a:p>
          <a:p>
            <a:r>
              <a:rPr sz="1800" b="0">
                <a:solidFill>
                  <a:srgbClr val="202830"/>
                </a:solidFill>
                <a:latin typeface="Malgun Gothic"/>
              </a:rPr>
              <a:t>•  10.7  Benchmark &amp;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정렬과 집계는 왜 중요한가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리포트성 쿼리의 뼈대 — GROUP BY와 ORDER BY</a:t>
            </a:r>
          </a:p>
          <a:p>
            <a:r>
              <a:rPr sz="1600" b="0">
                <a:solidFill>
                  <a:srgbClr val="C5CED6"/>
                </a:solidFill>
                <a:latin typeface="Malgun Gothic"/>
              </a:rPr>
              <a:t>•  이번 장이 검증할 두 가지 통념</a:t>
            </a:r>
          </a:p>
          <a:p>
            <a:r>
              <a:rPr sz="1600" b="0">
                <a:solidFill>
                  <a:srgbClr val="C5CED6"/>
                </a:solidFill>
                <a:latin typeface="Malgun Gothic"/>
              </a:rPr>
              <a:t>•  이 차시의 소재와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정렬과 집계는 어디에나 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리포트성 쿼리에는 GROUP BY와 ORDER BY가 거의 빠짐없이 들어간다</a:t>
            </a:r>
          </a:p>
          <a:p>
            <a:r>
              <a:rPr sz="1600" b="0">
                <a:solidFill>
                  <a:srgbClr val="5A6672"/>
                </a:solidFill>
                <a:latin typeface="Malgun Gothic"/>
              </a:rPr>
              <a:t>    –  병원별 청구 건수, 기간별 합계, 상위 N건 조회가 모두 이 두 연산 위에 있다</a:t>
            </a:r>
          </a:p>
          <a:p>
            <a:r>
              <a:rPr sz="1800" b="0">
                <a:solidFill>
                  <a:srgbClr val="202830"/>
                </a:solidFill>
                <a:latin typeface="Malgun Gothic"/>
              </a:rPr>
              <a:t>•  두 연산은 데이터를 모아서 처리한다 — 앞 단계 결과 전체가 필요하다</a:t>
            </a:r>
          </a:p>
          <a:p>
            <a:r>
              <a:rPr sz="1600" b="0">
                <a:solidFill>
                  <a:srgbClr val="5A6672"/>
                </a:solidFill>
                <a:latin typeface="Malgun Gothic"/>
              </a:rPr>
              <a:t>    –  한 행씩 흘려보내는 연산과 달리 중간 결과를 담아 둘 자리가 필요하다</a:t>
            </a:r>
          </a:p>
          <a:p>
            <a:r>
              <a:rPr sz="1600" b="0">
                <a:solidFill>
                  <a:srgbClr val="5A6672"/>
                </a:solidFill>
                <a:latin typeface="Malgun Gothic"/>
              </a:rPr>
              <a:t>    –  입력이 다 들어오기 전에는 첫 행조차 내보낼 수 없다</a:t>
            </a:r>
          </a:p>
          <a:p>
            <a:r>
              <a:rPr sz="1800" b="0">
                <a:solidFill>
                  <a:srgbClr val="202830"/>
                </a:solidFill>
                <a:latin typeface="Malgun Gothic"/>
              </a:rPr>
              <a:t>•  그래서 이 두 연산이 언제 비용을 유발하고 언제 생략되는지가 관건이다</a:t>
            </a:r>
          </a:p>
          <a:p>
            <a:r>
              <a:rPr sz="1600" b="0">
                <a:solidFill>
                  <a:srgbClr val="5A6672"/>
                </a:solidFill>
                <a:latin typeface="Malgun Gothic"/>
              </a:rPr>
              <a:t>    –  문법을 아는 것과 비용 구조를 아는 것은 다른 문제다</a:t>
            </a:r>
          </a:p>
          <a:p>
            <a:r>
              <a:rPr sz="1600" b="0">
                <a:solidFill>
                  <a:srgbClr val="5A6672"/>
                </a:solidFill>
                <a:latin typeface="Malgun Gothic"/>
              </a:rPr>
              <a:t>    –  이번 장은 그 조건을 실습 DB 실측으로 확인한다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장이 검증할 두 가지 통념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통념 1 — '필터를 먼저 걸어야 집계가 빨라진다'</a:t>
            </a:r>
          </a:p>
          <a:p>
            <a:r>
              <a:rPr sz="1600" b="0">
                <a:solidFill>
                  <a:srgbClr val="5A6672"/>
                </a:solidFill>
                <a:latin typeface="Malgun Gothic"/>
              </a:rPr>
              <a:t>    –  집계 대상 행이 적을수록 유리하다는 직관에서 나온 조언</a:t>
            </a:r>
          </a:p>
          <a:p>
            <a:r>
              <a:rPr sz="1600" b="0">
                <a:solidFill>
                  <a:srgbClr val="5A6672"/>
                </a:solidFill>
                <a:latin typeface="Malgun Gothic"/>
              </a:rPr>
              <a:t>    –  그래서 인라인 뷰 안쪽으로 WHERE를 옮겨 쓰는 관행이 널리 퍼져 있다</a:t>
            </a:r>
          </a:p>
          <a:p>
            <a:r>
              <a:rPr sz="1800" b="0">
                <a:solidFill>
                  <a:srgbClr val="202830"/>
                </a:solidFill>
                <a:latin typeface="Malgun Gothic"/>
              </a:rPr>
              <a:t>•  통념 2 — '인덱스 컬럼으로 정렬하면 정렬이 생략된다'</a:t>
            </a:r>
          </a:p>
          <a:p>
            <a:r>
              <a:rPr sz="1600" b="0">
                <a:solidFill>
                  <a:srgbClr val="5A6672"/>
                </a:solidFill>
                <a:latin typeface="Malgun Gothic"/>
              </a:rPr>
              <a:t>    –  인덱스는 정렬돼 있으니 그 순서를 그대로 쓰면 된다는 직관</a:t>
            </a:r>
          </a:p>
          <a:p>
            <a:r>
              <a:rPr sz="1800" b="0">
                <a:solidFill>
                  <a:srgbClr val="202830"/>
                </a:solidFill>
                <a:latin typeface="Malgun Gothic"/>
              </a:rPr>
              <a:t>•  두 통념 모두 완전히 틀린 말은 아니다 — 조건이 빠져 있을 뿐이다</a:t>
            </a:r>
          </a:p>
          <a:p>
            <a:r>
              <a:rPr sz="1600" b="0">
                <a:solidFill>
                  <a:srgbClr val="5A6672"/>
                </a:solidFill>
                <a:latin typeface="Malgun Gothic"/>
              </a:rPr>
              <a:t>    –  통념은 대개 특정 상황에서 관측된 사실에서 조건만 떨어져 나간 형태다</a:t>
            </a:r>
          </a:p>
          <a:p>
            <a:r>
              <a:rPr sz="1600" b="0">
                <a:solidFill>
                  <a:srgbClr val="5A6672"/>
                </a:solidFill>
                <a:latin typeface="Malgun Gothic"/>
              </a:rPr>
              <a:t>    –  이번 장은 두 통념을 실측으로 검증하고 빠진 조건을 복원한다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소재와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소재 1 — GROUP BY 대상을 줄이는 순서 (필터를 먼저 vs 나중에)</a:t>
            </a:r>
          </a:p>
          <a:p>
            <a:r>
              <a:rPr sz="1600" b="0">
                <a:solidFill>
                  <a:srgbClr val="5A6672"/>
                </a:solidFill>
                <a:latin typeface="Malgun Gothic"/>
              </a:rPr>
              <a:t>    –  같은 결과를 내는 두 SQL을 필터 위치만 바꿔 작성해 실행계획을 비교한다</a:t>
            </a:r>
          </a:p>
          <a:p>
            <a:r>
              <a:rPr sz="1800" b="0">
                <a:solidFill>
                  <a:srgbClr val="202830"/>
                </a:solidFill>
                <a:latin typeface="Malgun Gothic"/>
              </a:rPr>
              <a:t>•  소재 2 — ORDER BY 대상 컬럼에 따라 정렬(SORT)이 생략되는지 여부</a:t>
            </a:r>
          </a:p>
          <a:p>
            <a:r>
              <a:rPr sz="1600" b="0">
                <a:solidFill>
                  <a:srgbClr val="5A6672"/>
                </a:solidFill>
                <a:latin typeface="Malgun Gothic"/>
              </a:rPr>
              <a:t>    –  같은 두 컬럼을 정렬 기준으로 바꿔가며, 넓은 범위와 좁은 범위를 각각 확인한다</a:t>
            </a:r>
          </a:p>
          <a:p>
            <a:r>
              <a:rPr sz="1800" b="0">
                <a:solidFill>
                  <a:srgbClr val="202830"/>
                </a:solidFill>
                <a:latin typeface="Malgun Gothic"/>
              </a:rPr>
              <a:t>•  본 차시는 DDL 변경이 없다 — 기존 PK만 사용한다</a:t>
            </a:r>
          </a:p>
          <a:p>
            <a:r>
              <a:rPr sz="1600" b="0">
                <a:solidFill>
                  <a:srgbClr val="5A6672"/>
                </a:solidFill>
                <a:latin typeface="Malgun Gothic"/>
              </a:rPr>
              <a:t>    –  인덱스를 추가로 만들지 않고 접근 경로 변화만으로 결과가 갈린다</a:t>
            </a:r>
          </a:p>
          <a:p>
            <a:r>
              <a:rPr sz="1800" b="0">
                <a:solidFill>
                  <a:srgbClr val="202830"/>
                </a:solidFill>
                <a:latin typeface="Malgun Gothic"/>
              </a:rPr>
              <a:t>•  아래 예제는 전부 실습 DB 실측 결과다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Concept — ORDER BY와 GROUP BY</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ORDER BY — 정렬 연산의 정체</a:t>
            </a:r>
          </a:p>
          <a:p>
            <a:r>
              <a:rPr sz="1600" b="0">
                <a:solidFill>
                  <a:srgbClr val="C5CED6"/>
                </a:solidFill>
                <a:latin typeface="Malgun Gothic"/>
              </a:rPr>
              <a:t>•  인덱스가 정렬을 대신할 수 있는 이유</a:t>
            </a:r>
          </a:p>
          <a:p>
            <a:r>
              <a:rPr sz="1600" b="0">
                <a:solidFill>
                  <a:srgbClr val="C5CED6"/>
                </a:solidFill>
                <a:latin typeface="Malgun Gothic"/>
              </a:rPr>
              <a:t>•  GROUP BY — HASH 방식과 SORT 방식</a:t>
            </a:r>
          </a:p>
          <a:p>
            <a:r>
              <a:rPr sz="1600" b="0">
                <a:solidFill>
                  <a:srgbClr val="C5CED6"/>
                </a:solidFill>
                <a:latin typeface="Malgun Gothic"/>
              </a:rPr>
              <a:t>•  작업 영역(PGA)과 디스크 정렬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ORDER BY — 정렬 연산의 정체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ORDER BY는 결과를 특정 순서로 정렬하라는 요구다</a:t>
            </a:r>
          </a:p>
          <a:p>
            <a:r>
              <a:rPr sz="1600" b="0">
                <a:solidFill>
                  <a:srgbClr val="5A6672"/>
                </a:solidFill>
                <a:latin typeface="Malgun Gothic"/>
              </a:rPr>
              <a:t>    –  요구를 만족시키는 방법은 두 가지 — 직접 정렬하거나, 이미 정렬된 것을 쓰거나</a:t>
            </a:r>
          </a:p>
          <a:p>
            <a:r>
              <a:rPr sz="1800" b="0">
                <a:solidFill>
                  <a:srgbClr val="202830"/>
                </a:solidFill>
                <a:latin typeface="Malgun Gothic"/>
              </a:rPr>
              <a:t>•  직접 정렬하면 실행계획에 SORT ORDER BY 오퍼레이션으로 나타난다</a:t>
            </a:r>
          </a:p>
          <a:p>
            <a:r>
              <a:rPr sz="1600" b="0">
                <a:solidFill>
                  <a:srgbClr val="5A6672"/>
                </a:solidFill>
                <a:latin typeface="Malgun Gothic"/>
              </a:rPr>
              <a:t>    –  정렬 대상 행을 모두 모아야 하므로 CPU와 메모리를 함께 소비한다</a:t>
            </a:r>
          </a:p>
          <a:p>
            <a:r>
              <a:rPr sz="1600" b="0">
                <a:solidFill>
                  <a:srgbClr val="5A6672"/>
                </a:solidFill>
                <a:latin typeface="Malgun Gothic"/>
              </a:rPr>
              <a:t>    –  정렬 대상 행 수가 늘면 비용은 그보다 빠르게 늘어난다</a:t>
            </a:r>
          </a:p>
          <a:p>
            <a:r>
              <a:rPr sz="1800" b="0">
                <a:solidFill>
                  <a:srgbClr val="202830"/>
                </a:solidFill>
                <a:latin typeface="Malgun Gothic"/>
              </a:rPr>
              <a:t>•  반대로 인덱스가 이미 그 순서로 정렬돼 있으면 별도의 SORT 연산 없이 그대로 반환할 수 있다</a:t>
            </a:r>
          </a:p>
          <a:p>
            <a:r>
              <a:rPr sz="1600" b="0">
                <a:solidFill>
                  <a:srgbClr val="5A6672"/>
                </a:solidFill>
                <a:latin typeface="Malgun Gothic"/>
              </a:rPr>
              <a:t>    –  이때 실행계획에는 SORT 오퍼레이션 자체가 나타나지 않는다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인덱스가 정렬을 대신할 수 있는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인덱스는 키 값 순서로 정렬돼 저장되는 구조다</a:t>
            </a:r>
          </a:p>
          <a:p>
            <a:r>
              <a:rPr sz="1600" b="0">
                <a:solidFill>
                  <a:srgbClr val="5A6672"/>
                </a:solidFill>
                <a:latin typeface="Malgun Gothic"/>
              </a:rPr>
              <a:t>    –  INDEX RANGE SCAN은 그 저장 순서대로 읽어 상위 단계에 넘긴다</a:t>
            </a:r>
          </a:p>
          <a:p>
            <a:r>
              <a:rPr sz="1600" b="0">
                <a:solidFill>
                  <a:srgbClr val="5A6672"/>
                </a:solidFill>
                <a:latin typeface="Malgun Gothic"/>
              </a:rPr>
              <a:t>    –  그래서 읽어 나오는 결과가 이미 인덱스 키 순서로 정렬돼 있다</a:t>
            </a:r>
          </a:p>
          <a:p>
            <a:r>
              <a:rPr sz="1800" b="0">
                <a:solidFill>
                  <a:srgbClr val="202830"/>
                </a:solidFill>
                <a:latin typeface="Malgun Gothic"/>
              </a:rPr>
              <a:t>•  정렬 요구가 그 순서와 일치하면 다시 정렬할 이유가 없다</a:t>
            </a:r>
          </a:p>
          <a:p>
            <a:r>
              <a:rPr sz="1600" b="0">
                <a:solidFill>
                  <a:srgbClr val="5A6672"/>
                </a:solidFill>
                <a:latin typeface="Malgun Gothic"/>
              </a:rPr>
              <a:t>    –  옵티마이저는 이 경우 SORT ORDER BY 단계를 계획에서 아예 제거한다</a:t>
            </a:r>
          </a:p>
          <a:p>
            <a:r>
              <a:rPr sz="1800" b="0">
                <a:solidFill>
                  <a:srgbClr val="202830"/>
                </a:solidFill>
                <a:latin typeface="Malgun Gothic"/>
              </a:rPr>
              <a:t>•  반대로 TABLE ACCESS FULL은 어떤 순서도 보장하지 않는다</a:t>
            </a:r>
          </a:p>
          <a:p>
            <a:r>
              <a:rPr sz="1600" b="0">
                <a:solidFill>
                  <a:srgbClr val="5A6672"/>
                </a:solidFill>
                <a:latin typeface="Malgun Gothic"/>
              </a:rPr>
              <a:t>    –  테이블에 저장된 물리적 순서로 읽을 뿐이며 이는 정렬 순서와 무관하다</a:t>
            </a:r>
          </a:p>
          <a:p>
            <a:r>
              <a:rPr sz="1600" b="0">
                <a:solidFill>
                  <a:srgbClr val="5A6672"/>
                </a:solidFill>
                <a:latin typeface="Malgun Gothic"/>
              </a:rPr>
              <a:t>    –  따라서 Full Scan이 선택되면 정렬 요구는 반드시 별도 SORT로 처리된다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GROUP BY — HASH 방식과 SORT 방식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GROUP BY는 지정한 컬럼 값이 같은 행끼리 묶어 집계하는 연산이다</a:t>
            </a:r>
          </a:p>
          <a:p>
            <a:r>
              <a:rPr sz="1800" b="0">
                <a:solidFill>
                  <a:srgbClr val="202830"/>
                </a:solidFill>
                <a:latin typeface="Malgun Gothic"/>
              </a:rPr>
              <a:t>•  처리 방식은 크게 두 가지다</a:t>
            </a:r>
          </a:p>
          <a:p>
            <a:r>
              <a:rPr sz="1600" b="0">
                <a:solidFill>
                  <a:srgbClr val="5A6672"/>
                </a:solidFill>
                <a:latin typeface="Malgun Gothic"/>
              </a:rPr>
              <a:t>    –  HASH GROUP BY — 그룹 키를 해시로 묶어 집계하는 해시 기반 방식</a:t>
            </a:r>
          </a:p>
          <a:p>
            <a:r>
              <a:rPr sz="1600" b="0">
                <a:solidFill>
                  <a:srgbClr val="5A6672"/>
                </a:solidFill>
                <a:latin typeface="Malgun Gothic"/>
              </a:rPr>
              <a:t>    –  SORT GROUP BY — 정렬된 데이터를 순서대로 훑으며 같은 값끼리 묶는 정렬 기반 방식</a:t>
            </a:r>
          </a:p>
          <a:p>
            <a:r>
              <a:rPr sz="1800" b="0">
                <a:solidFill>
                  <a:srgbClr val="202830"/>
                </a:solidFill>
                <a:latin typeface="Malgun Gothic"/>
              </a:rPr>
              <a:t>•  이 스키마에서는 대부분 HASH GROUP BY가 선택된다</a:t>
            </a:r>
          </a:p>
          <a:p>
            <a:r>
              <a:rPr sz="1600" b="0">
                <a:solidFill>
                  <a:srgbClr val="5A6672"/>
                </a:solidFill>
                <a:latin typeface="Malgun Gothic"/>
              </a:rPr>
              <a:t>    –  이번 장의 모든 GROUP BY 쿼리에서 공통으로 HASH GROUP BY가 나타났다</a:t>
            </a:r>
          </a:p>
          <a:p>
            <a:r>
              <a:rPr sz="1800" b="0">
                <a:solidFill>
                  <a:srgbClr val="202830"/>
                </a:solidFill>
                <a:latin typeface="Malgun Gothic"/>
              </a:rPr>
              <a:t>•  어느 쪽이 선택될지는 옵티마이저가 비용으로 판단한다</a:t>
            </a:r>
          </a:p>
          <a:p>
            <a:r>
              <a:rPr sz="1600" b="0">
                <a:solidFill>
                  <a:srgbClr val="5A6672"/>
                </a:solidFill>
                <a:latin typeface="Malgun Gothic"/>
              </a:rPr>
              <a:t>    –  개발자가 문법으로 지정하는 대상이 아니다 — 실행계획으로 확인할 대상이다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GROUP BY와 SORT GROUP BY</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두 방식의 성격 비교 — 어느 쪽이 선택될지는 옵티마이저의 비용 판단</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구분             | HASH GROUP BY               | SORT GROUP BY             |</a:t>
            </a:r>
          </a:p>
          <a:p>
            <a:r>
              <a:rPr sz="1250" b="0">
                <a:solidFill>
                  <a:srgbClr val="E6E6E6"/>
                </a:solidFill>
                <a:latin typeface="Consolas"/>
              </a:rPr>
              <a:t>+------------------+-----------------------------+---------------------------+</a:t>
            </a:r>
          </a:p>
          <a:p>
            <a:r>
              <a:rPr sz="1250" b="0">
                <a:solidFill>
                  <a:srgbClr val="E6E6E6"/>
                </a:solidFill>
                <a:latin typeface="Consolas"/>
              </a:rPr>
              <a:t>| 그룹화 원리      | 그룹 키를 해시로 묶어 집계  | 정렬된 순서를 훑으며 묶음 |</a:t>
            </a:r>
          </a:p>
          <a:p>
            <a:r>
              <a:rPr sz="1250" b="0">
                <a:solidFill>
                  <a:srgbClr val="E6E6E6"/>
                </a:solidFill>
                <a:latin typeface="Consolas"/>
              </a:rPr>
              <a:t>| 결과 순서        | 보장 없음                   | 그룹 키 순서로 나옴       |</a:t>
            </a:r>
          </a:p>
          <a:p>
            <a:r>
              <a:rPr sz="1250" b="0">
                <a:solidFill>
                  <a:srgbClr val="E6E6E6"/>
                </a:solidFill>
                <a:latin typeface="Consolas"/>
              </a:rPr>
              <a:t>| 인덱스 정렬 활용 | 활용하지 않음               | 이미 정렬돼 있으면 유리   |</a:t>
            </a:r>
          </a:p>
          <a:p>
            <a:r>
              <a:rPr sz="1250" b="0">
                <a:solidFill>
                  <a:srgbClr val="E6E6E6"/>
                </a:solidFill>
                <a:latin typeface="Consolas"/>
              </a:rPr>
              <a:t>| 정렬 순서로 생략 | 생략되지 않음               | 해당 없음(정렬이 곧 처리) |</a:t>
            </a:r>
          </a:p>
          <a:p>
            <a:r>
              <a:rPr sz="1250" b="0">
                <a:solidFill>
                  <a:srgbClr val="E6E6E6"/>
                </a:solidFill>
                <a:latin typeface="Consolas"/>
              </a:rPr>
              <a:t>| 이번 장 관측     | 모든 GROUP BY 쿼리에서 관측 | 관측되지 않음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방식 모두 그룹핑 작업 자체는 수행한다 — 없어지는 연산이 아니다</a:t>
            </a:r>
          </a:p>
          <a:p>
            <a:r>
              <a:rPr sz="1250" b="0">
                <a:solidFill>
                  <a:srgbClr val="7EC699"/>
                </a:solidFill>
                <a:latin typeface="Consolas"/>
              </a:rPr>
              <a:t>-- 선택은 옵티마이저의 비용 판단 영역이며 실행계획으로 확인한다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작업 영역(PGA)과 디스크 정렬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정렬과 해시 집계는 세션의 작업 영역(PGA)에서 수행된다</a:t>
            </a:r>
          </a:p>
          <a:p>
            <a:r>
              <a:rPr sz="1600" b="0">
                <a:solidFill>
                  <a:srgbClr val="5A6672"/>
                </a:solidFill>
                <a:latin typeface="Malgun Gothic"/>
              </a:rPr>
              <a:t>    –  실행계획의 OMem·1Mem·Used-Mem 컬럼으로 사용량을 확인할 수 있다 (ch01)</a:t>
            </a:r>
          </a:p>
          <a:p>
            <a:r>
              <a:rPr sz="1800" b="0">
                <a:solidFill>
                  <a:srgbClr val="202830"/>
                </a:solidFill>
                <a:latin typeface="Malgun Gothic"/>
              </a:rPr>
              <a:t>•  작업 영역 안에서 처리가 끝나면 메모리에서만 수행된다 — 가장 저렴한 경우다</a:t>
            </a:r>
          </a:p>
          <a:p>
            <a:r>
              <a:rPr sz="1800" b="0">
                <a:solidFill>
                  <a:srgbClr val="202830"/>
                </a:solidFill>
                <a:latin typeface="Malgun Gothic"/>
              </a:rPr>
              <a:t>•  대상 데이터가 작업 영역보다 크면 임시 테이블스페이스로 넘긴다</a:t>
            </a:r>
          </a:p>
          <a:p>
            <a:r>
              <a:rPr sz="1600" b="0">
                <a:solidFill>
                  <a:srgbClr val="5A6672"/>
                </a:solidFill>
                <a:latin typeface="Malgun Gothic"/>
              </a:rPr>
              <a:t>    –  중간 결과를 디스크에 쓰고 다시 읽어야 하므로 물리 I/O가 추가된다</a:t>
            </a:r>
          </a:p>
          <a:p>
            <a:r>
              <a:rPr sz="1600" b="0">
                <a:solidFill>
                  <a:srgbClr val="5A6672"/>
                </a:solidFill>
                <a:latin typeface="Malgun Gothic"/>
              </a:rPr>
              <a:t>    –  한 번 넘기면 되는 경우와 여러 번 나눠 처리해야 하는 경우로 나뉜다</a:t>
            </a:r>
          </a:p>
          <a:p>
            <a:r>
              <a:rPr sz="1800" b="0">
                <a:solidFill>
                  <a:srgbClr val="202830"/>
                </a:solidFill>
                <a:latin typeface="Malgun Gothic"/>
              </a:rPr>
              <a:t>•  근본 대책은 작업 영역을 키우는 것이 아니라 정렬·집계 대상을 줄이는 것이다</a:t>
            </a:r>
          </a:p>
          <a:p>
            <a:r>
              <a:rPr sz="1600" b="0">
                <a:solidFill>
                  <a:srgbClr val="5A6672"/>
                </a:solidFill>
                <a:latin typeface="Malgun Gothic"/>
              </a:rPr>
              <a:t>    –  대상을 줄이거나, 이번 장처럼 연산 자체를 생략시키는 방향이다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'집계 대상을 줄이자'는 조언의 실체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집계할 행의 수가 적을수록 GROUP BY의 CPU·메모리 부담이 줄어든다</a:t>
            </a:r>
          </a:p>
          <a:p>
            <a:r>
              <a:rPr sz="1600" b="0">
                <a:solidFill>
                  <a:srgbClr val="5A6672"/>
                </a:solidFill>
                <a:latin typeface="Malgun Gothic"/>
              </a:rPr>
              <a:t>    –  그래서 "필터를 먼저 걸어 집계 대상을 줄이자"는 조언이 흔하다</a:t>
            </a:r>
          </a:p>
          <a:p>
            <a:r>
              <a:rPr sz="1800" b="0">
                <a:solidFill>
                  <a:srgbClr val="202830"/>
                </a:solidFill>
                <a:latin typeface="Malgun Gothic"/>
              </a:rPr>
              <a:t>•  조언의 방향 자체는 맞다 — 문제는 그 일을 누가 하느냐다</a:t>
            </a:r>
          </a:p>
          <a:p>
            <a:r>
              <a:rPr sz="1600" b="0">
                <a:solidFill>
                  <a:srgbClr val="5A6672"/>
                </a:solidFill>
                <a:latin typeface="Malgun Gothic"/>
              </a:rPr>
              <a:t>    –  개발자가 SQL을 다시 써서 손으로 옮기는 방법</a:t>
            </a:r>
          </a:p>
          <a:p>
            <a:r>
              <a:rPr sz="1600" b="0">
                <a:solidFill>
                  <a:srgbClr val="5A6672"/>
                </a:solidFill>
                <a:latin typeface="Malgun Gothic"/>
              </a:rPr>
              <a:t>    –  옵티마이저가 조건을 알아서 앞 단계로 밀어넣는 방법</a:t>
            </a:r>
          </a:p>
          <a:p>
            <a:r>
              <a:rPr sz="1800" b="0">
                <a:solidFill>
                  <a:srgbClr val="202830"/>
                </a:solidFill>
                <a:latin typeface="Malgun Gothic"/>
              </a:rPr>
              <a:t>•  옵티마이저가 이미 해 주는 일을 손으로 다시 하면 SQL만 복잡해진다</a:t>
            </a:r>
          </a:p>
          <a:p>
            <a:r>
              <a:rPr sz="1600" b="0">
                <a:solidFill>
                  <a:srgbClr val="5A6672"/>
                </a:solidFill>
                <a:latin typeface="Malgun Gothic"/>
              </a:rPr>
              <a:t>    –  가독성은 나빠지고 성능은 그대로인 결과가 나올 수 있다</a:t>
            </a:r>
          </a:p>
          <a:p>
            <a:r>
              <a:rPr sz="1800" b="0">
                <a:solidFill>
                  <a:srgbClr val="202830"/>
                </a:solidFill>
                <a:latin typeface="Malgun Gothic"/>
              </a:rPr>
              <a:t>•  다음 절에서 옵티마이저가 어디까지 해 주는지 확인한다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필터 위치보다 중요한 것</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Predicate Pushdown이란</a:t>
            </a:r>
          </a:p>
          <a:p>
            <a:r>
              <a:rPr sz="1600" b="0">
                <a:solidFill>
                  <a:srgbClr val="C5CED6"/>
                </a:solidFill>
                <a:latin typeface="Malgun Gothic"/>
              </a:rPr>
              <a:t>•  그룹 키에 대한 필터는 왜 밀어넣을 수 있는가</a:t>
            </a:r>
          </a:p>
          <a:p>
            <a:r>
              <a:rPr sz="1600" b="0">
                <a:solidFill>
                  <a:srgbClr val="C5CED6"/>
                </a:solidFill>
                <a:latin typeface="Malgun Gothic"/>
              </a:rPr>
              <a:t>•  HAVING은 왜 밀어넣을 수 없는가</a:t>
            </a:r>
          </a:p>
          <a:p>
            <a:r>
              <a:rPr sz="1600" b="0">
                <a:solidFill>
                  <a:srgbClr val="C5CED6"/>
                </a:solidFill>
                <a:latin typeface="Malgun Gothic"/>
              </a:rPr>
              <a:t>•  ch10 인라인 뷰 사례와의 대조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Pushdown이란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옵티마이저가 필터 조건을 데이터 처리 파이프라인의 더 이른 단계로 옮기는 최적화다</a:t>
            </a:r>
          </a:p>
          <a:p>
            <a:r>
              <a:rPr sz="1600" b="0">
                <a:solidFill>
                  <a:srgbClr val="5A6672"/>
                </a:solidFill>
                <a:latin typeface="Malgun Gothic"/>
              </a:rPr>
              <a:t>    –  조건 밀어넣기라고 부른다</a:t>
            </a:r>
          </a:p>
          <a:p>
            <a:r>
              <a:rPr sz="1800" b="0">
                <a:solidFill>
                  <a:srgbClr val="202830"/>
                </a:solidFill>
                <a:latin typeface="Malgun Gothic"/>
              </a:rPr>
              <a:t>•  목적 — 뒤 단계에서 처리할 데이터량을 줄이는 것</a:t>
            </a:r>
          </a:p>
          <a:p>
            <a:r>
              <a:rPr sz="1600" b="0">
                <a:solidFill>
                  <a:srgbClr val="5A6672"/>
                </a:solidFill>
                <a:latin typeface="Malgun Gothic"/>
              </a:rPr>
              <a:t>    –  앞에서 걸러 내면 뒤 단계의 정렬·집계·조인 대상이 함께 줄어든다</a:t>
            </a:r>
          </a:p>
          <a:p>
            <a:r>
              <a:rPr sz="1800" b="0">
                <a:solidFill>
                  <a:srgbClr val="202830"/>
                </a:solidFill>
                <a:latin typeface="Malgun Gothic"/>
              </a:rPr>
              <a:t>•  안전 조건 — 그 조건을 먼저 적용해도 최종 결과가 달라지지 않아야 한다</a:t>
            </a:r>
          </a:p>
          <a:p>
            <a:r>
              <a:rPr sz="1600" b="0">
                <a:solidFill>
                  <a:srgbClr val="5A6672"/>
                </a:solidFill>
                <a:latin typeface="Malgun Gothic"/>
              </a:rPr>
              <a:t>    –  옵티마이저는 이 동치성을 증명할 수 있을 때만 밀어넣는다</a:t>
            </a:r>
          </a:p>
          <a:p>
            <a:r>
              <a:rPr sz="1600" b="0">
                <a:solidFill>
                  <a:srgbClr val="5A6672"/>
                </a:solidFill>
                <a:latin typeface="Malgun Gothic"/>
              </a:rPr>
              <a:t>    –  증명할 수 없으면 SQL에 어떻게 쓰여 있든 원래 위치에서 평가한다</a:t>
            </a:r>
          </a:p>
          <a:p>
            <a:r>
              <a:rPr sz="1800" b="0">
                <a:solidFill>
                  <a:srgbClr val="202830"/>
                </a:solidFill>
                <a:latin typeface="Malgun Gothic"/>
              </a:rPr>
              <a:t>•  즉 밀어넣기는 옵티마이저의 재량이 아니라 규칙에 따른 판단이다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그룹 키에 대한 필터는 밀어넣을 수 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조건이 GROUP BY 키 컬럼 자체에 걸려 있는 경우</a:t>
            </a:r>
          </a:p>
          <a:p>
            <a:r>
              <a:rPr sz="1600" b="0">
                <a:solidFill>
                  <a:srgbClr val="5A6672"/>
                </a:solidFill>
                <a:latin typeface="Malgun Gothic"/>
              </a:rPr>
              <a:t>    –  집계 결과가 아니라 그룹을 나누는 기준 컬럼에 대한 조건이라는 뜻이다</a:t>
            </a:r>
          </a:p>
          <a:p>
            <a:r>
              <a:rPr sz="1800" b="0">
                <a:solidFill>
                  <a:srgbClr val="202830"/>
                </a:solidFill>
                <a:latin typeface="Malgun Gothic"/>
              </a:rPr>
              <a:t>•  이 조건은 SQL의 어디에 적혀 있든 그룹화 이전으로 자동으로 밀어넣을 수 있다</a:t>
            </a:r>
          </a:p>
          <a:p>
            <a:r>
              <a:rPr sz="1600" b="0">
                <a:solidFill>
                  <a:srgbClr val="5A6672"/>
                </a:solidFill>
                <a:latin typeface="Malgun Gothic"/>
              </a:rPr>
              <a:t>    –  인라인 뷰 바깥에 써 있어도 마찬가지다</a:t>
            </a:r>
          </a:p>
          <a:p>
            <a:r>
              <a:rPr sz="1800" b="0">
                <a:solidFill>
                  <a:srgbClr val="202830"/>
                </a:solidFill>
                <a:latin typeface="Malgun Gothic"/>
              </a:rPr>
              <a:t>•  근거 — 어떤 행이 특정 그룹 키 값을 갖는지는 그룹화 전이나 후나 변하지 않는다</a:t>
            </a:r>
          </a:p>
          <a:p>
            <a:r>
              <a:rPr sz="1600" b="0">
                <a:solidFill>
                  <a:srgbClr val="5A6672"/>
                </a:solidFill>
                <a:latin typeface="Malgun Gothic"/>
              </a:rPr>
              <a:t>    –  먼저 걸러 낸 뒤 그룹을 나누나, 나눈 뒤 해당 그룹만 남기나 결과가 완전히 같다</a:t>
            </a:r>
          </a:p>
          <a:p>
            <a:r>
              <a:rPr sz="1600" b="0">
                <a:solidFill>
                  <a:srgbClr val="5A6672"/>
                </a:solidFill>
                <a:latin typeface="Malgun Gothic"/>
              </a:rPr>
              <a:t>    –  그룹을 나누는 기준 자체가 이미 좁혀지므로 결과가 달라지지 않는다</a:t>
            </a:r>
          </a:p>
          <a:p>
            <a:r>
              <a:rPr sz="1800" b="0">
                <a:solidFill>
                  <a:srgbClr val="202830"/>
                </a:solidFill>
                <a:latin typeface="Malgun Gothic"/>
              </a:rPr>
              <a:t>•  그룹 키에 대한 등치 조건은 이 안전 조건을 항상 만족한다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HAVING은 왜 밀어넣을 수 없는가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HAVING처럼 집계 함수의 결과에 거는 조건은 성격이 다르다</a:t>
            </a:r>
          </a:p>
          <a:p>
            <a:r>
              <a:rPr sz="1600" b="0">
                <a:solidFill>
                  <a:srgbClr val="5A6672"/>
                </a:solidFill>
                <a:latin typeface="Malgun Gothic"/>
              </a:rPr>
              <a:t>    –  COUNT(*), SUM(...) 같은 값은 그룹 안의 모든 행을 다 모아 봐야 알 수 있다</a:t>
            </a:r>
          </a:p>
          <a:p>
            <a:r>
              <a:rPr sz="1800" b="0">
                <a:solidFill>
                  <a:srgbClr val="202830"/>
                </a:solidFill>
                <a:latin typeface="Malgun Gothic"/>
              </a:rPr>
              <a:t>•  그래서 이 조건은 집계가 끝난 뒤에만 평가할 수 있다</a:t>
            </a:r>
          </a:p>
          <a:p>
            <a:r>
              <a:rPr sz="1600" b="0">
                <a:solidFill>
                  <a:srgbClr val="5A6672"/>
                </a:solidFill>
                <a:latin typeface="Malgun Gothic"/>
              </a:rPr>
              <a:t>    –  그룹화 이전으로 밀어넣는 것 자체가 원천적으로 불가능하다</a:t>
            </a:r>
          </a:p>
          <a:p>
            <a:r>
              <a:rPr sz="1600" b="0">
                <a:solidFill>
                  <a:srgbClr val="5A6672"/>
                </a:solidFill>
                <a:latin typeface="Malgun Gothic"/>
              </a:rPr>
              <a:t>    –  밀어넣으면 아직 계산되지 않은 값과 비교하는 셈이 되어 버린다</a:t>
            </a:r>
          </a:p>
          <a:p>
            <a:r>
              <a:rPr sz="1800" b="0">
                <a:solidFill>
                  <a:srgbClr val="202830"/>
                </a:solidFill>
                <a:latin typeface="Malgun Gothic"/>
              </a:rPr>
              <a:t>•  판별 기준은 한 문장으로 정리된다</a:t>
            </a:r>
          </a:p>
          <a:p>
            <a:r>
              <a:rPr sz="1600" b="0">
                <a:solidFill>
                  <a:srgbClr val="5A6672"/>
                </a:solidFill>
                <a:latin typeface="Malgun Gothic"/>
              </a:rPr>
              <a:t>    –  '이 조건을 평가하는 데 집계 결과가 필요한가' — 필요하면 밀어넣을 수 없다</a:t>
            </a:r>
          </a:p>
          <a:p>
            <a:r>
              <a:rPr sz="1600" b="0">
                <a:solidFill>
                  <a:srgbClr val="5A6672"/>
                </a:solidFill>
                <a:latin typeface="Malgun Gothic"/>
              </a:rPr>
              <a:t>    –  원본 테이블에 이미 존재하는 값에 대한 조건이면 밀어넣을 수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ch10 인라인 뷰 사례와의 대조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ch10 — 인라인 뷰 바깥의 WHERE v.cnt &gt; 1000</a:t>
            </a:r>
          </a:p>
          <a:p>
            <a:r>
              <a:rPr sz="1600" b="0">
                <a:solidFill>
                  <a:srgbClr val="5A6672"/>
                </a:solidFill>
                <a:latin typeface="Malgun Gothic"/>
              </a:rPr>
              <a:t>    –  cnt는 집계 함수의 계산 결과 — 그룹화가 끝나야 값을 알 수 있다</a:t>
            </a:r>
          </a:p>
          <a:p>
            <a:r>
              <a:rPr sz="1600" b="0">
                <a:solidFill>
                  <a:srgbClr val="5A6672"/>
                </a:solidFill>
                <a:latin typeface="Malgun Gothic"/>
              </a:rPr>
              <a:t>    –  따라서 그룹화 이전으로 밀어넣을 수 없다</a:t>
            </a:r>
          </a:p>
          <a:p>
            <a:r>
              <a:rPr sz="1800" b="0">
                <a:solidFill>
                  <a:srgbClr val="202830"/>
                </a:solidFill>
                <a:latin typeface="Malgun Gothic"/>
              </a:rPr>
              <a:t>•  ch12 — 인라인 뷰 바깥의 WHERE claim_type = '입원'</a:t>
            </a:r>
          </a:p>
          <a:p>
            <a:r>
              <a:rPr sz="1600" b="0">
                <a:solidFill>
                  <a:srgbClr val="5A6672"/>
                </a:solidFill>
                <a:latin typeface="Malgun Gothic"/>
              </a:rPr>
              <a:t>    –  claim_type은 원본 테이블에 이미 존재하는 값이자 그룹 키 자체다</a:t>
            </a:r>
          </a:p>
          <a:p>
            <a:r>
              <a:rPr sz="1600" b="0">
                <a:solidFill>
                  <a:srgbClr val="5A6672"/>
                </a:solidFill>
                <a:latin typeface="Malgun Gothic"/>
              </a:rPr>
              <a:t>    –  그룹화와 무관하게 미리 알 수 있으므로 밀어넣기가 가능하다</a:t>
            </a:r>
          </a:p>
          <a:p>
            <a:r>
              <a:rPr sz="1800" b="0">
                <a:solidFill>
                  <a:srgbClr val="202830"/>
                </a:solidFill>
                <a:latin typeface="Malgun Gothic"/>
              </a:rPr>
              <a:t>•  둘 다 인라인 뷰 바깥에서 필터링하는 똑같은 모양이다</a:t>
            </a:r>
          </a:p>
          <a:p>
            <a:r>
              <a:rPr sz="1600" b="0">
                <a:solidFill>
                  <a:srgbClr val="5A6672"/>
                </a:solidFill>
                <a:latin typeface="Malgun Gothic"/>
              </a:rPr>
              <a:t>    –  모양이 같아도 처리 방식은 다르다 — 겉모양으로 판단할 수 없는 이유</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ch10에서는 밀어넣기가 불가능했지만, 집계 자체를 다시 계산할 필요는 없어 비용은 같았다 — 밀어넣기 불가가 곧 손해를 뜻하지는 않는다.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Example — GROUP BY 필터 위치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필터 위치만 바꾼 두 SQL</a:t>
            </a:r>
          </a:p>
          <a:p>
            <a:r>
              <a:rPr sz="1600" b="0">
                <a:solidFill>
                  <a:srgbClr val="C5CED6"/>
                </a:solidFill>
                <a:latin typeface="Malgun Gothic"/>
              </a:rPr>
              <a:t>•  Q1·Q2 공통 실행계획</a:t>
            </a:r>
          </a:p>
          <a:p>
            <a:r>
              <a:rPr sz="1600" b="0">
                <a:solidFill>
                  <a:srgbClr val="C5CED6"/>
                </a:solidFill>
                <a:latin typeface="Malgun Gothic"/>
              </a:rPr>
              <a:t>•  왜 완전히 같은 계획이 되었나</a:t>
            </a:r>
          </a:p>
          <a:p>
            <a:r>
              <a:rPr sz="1600" b="0">
                <a:solidFill>
                  <a:srgbClr val="C5CED6"/>
                </a:solidFill>
                <a:latin typeface="Malgun Gothic"/>
              </a:rPr>
              <a:t>•  실무 교훈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필터 위치만 바꾼 두 SQL</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대상 테이블 — MEDICAL_CLAIMS</a:t>
            </a:r>
          </a:p>
          <a:p>
            <a:r>
              <a:rPr sz="1800" b="0">
                <a:solidFill>
                  <a:srgbClr val="202830"/>
                </a:solidFill>
                <a:latin typeface="Malgun Gothic"/>
              </a:rPr>
              <a:t>•  Q1 — WHERE로 먼저 필터한 뒤 hosp_id로 집계</a:t>
            </a:r>
          </a:p>
          <a:p>
            <a:r>
              <a:rPr sz="1600" b="0">
                <a:solidFill>
                  <a:srgbClr val="5A6672"/>
                </a:solidFill>
                <a:latin typeface="Malgun Gothic"/>
              </a:rPr>
              <a:t>    –  집계 대상 컬럼이 아니라 그룹 키에 대한 필터라는 점이 중요하다</a:t>
            </a:r>
          </a:p>
          <a:p>
            <a:r>
              <a:rPr sz="1800" b="0">
                <a:solidFill>
                  <a:srgbClr val="202830"/>
                </a:solidFill>
                <a:latin typeface="Malgun Gothic"/>
              </a:rPr>
              <a:t>•  Q2 — hosp_id와 claim_type으로 집계한 뒤 인라인 뷰 바깥에서 필터</a:t>
            </a:r>
          </a:p>
          <a:p>
            <a:r>
              <a:rPr sz="1600" b="0">
                <a:solidFill>
                  <a:srgbClr val="5A6672"/>
                </a:solidFill>
                <a:latin typeface="Malgun Gothic"/>
              </a:rPr>
              <a:t>    –  불필요하게 그룹핑 컬럼을 하나 더 추가한, 의도한 비효율 패턴이다</a:t>
            </a:r>
          </a:p>
          <a:p>
            <a:r>
              <a:rPr sz="1600" b="0">
                <a:solidFill>
                  <a:srgbClr val="5A6672"/>
                </a:solidFill>
                <a:latin typeface="Malgun Gothic"/>
              </a:rPr>
              <a:t>    –  겉보기에는 hosp_id × claim_type 조합만큼 더 많은 그룹을 만드는 것처럼 보인다</a:t>
            </a:r>
          </a:p>
          <a:p>
            <a:r>
              <a:rPr sz="1800" b="0">
                <a:solidFill>
                  <a:srgbClr val="202830"/>
                </a:solidFill>
                <a:latin typeface="Malgun Gothic"/>
              </a:rPr>
              <a:t>•  두 SQL의 결과는 같다 — 비교 대상은 실행계획과 Buffers다</a:t>
            </a:r>
          </a:p>
          <a:p>
            <a:r>
              <a:rPr sz="1600" b="0">
                <a:solidFill>
                  <a:srgbClr val="5A6672"/>
                </a:solidFill>
                <a:latin typeface="Malgun Gothic"/>
              </a:rPr>
              <a:t>    –  결과가 같은 상태에서 자원만 비교한다는 이 과정의 원칙 그대로다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 WHERE로 먼저 필터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10.4절 Example — 그룹 키에 대한 필터를 WHERE에 직접 작성</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WHERE로 먼저 필터(집계 대상 컬럼 아님, 그룹 키에 대한 필터)</a:t>
            </a:r>
          </a:p>
          <a:p>
            <a:r>
              <a:rPr sz="1250" b="0">
                <a:solidFill>
                  <a:srgbClr val="E6E6E6"/>
                </a:solidFill>
                <a:latin typeface="Consolas"/>
              </a:rPr>
              <a:t>SELECT hosp_id, COUNT(*), SUM(total_amt)</a:t>
            </a:r>
          </a:p>
          <a:p>
            <a:r>
              <a:rPr sz="1250" b="0">
                <a:solidFill>
                  <a:srgbClr val="E6E6E6"/>
                </a:solidFill>
                <a:latin typeface="Consolas"/>
              </a:rPr>
              <a:t>FROM   medical_claims</a:t>
            </a:r>
          </a:p>
          <a:p>
            <a:r>
              <a:rPr sz="1250" b="0">
                <a:solidFill>
                  <a:srgbClr val="E6E6E6"/>
                </a:solidFill>
                <a:latin typeface="Consolas"/>
              </a:rPr>
              <a:t>WHERE  claim_type = '입원'</a:t>
            </a:r>
          </a:p>
          <a:p>
            <a:r>
              <a:rPr sz="1250" b="0">
                <a:solidFill>
                  <a:srgbClr val="E6E6E6"/>
                </a:solidFill>
                <a:latin typeface="Consolas"/>
              </a:rPr>
              <a:t>GROUP BY hosp_id;</a:t>
            </a:r>
          </a:p>
          <a:p>
            <a:r>
              <a:rPr sz="1250" b="0">
                <a:solidFill>
                  <a:srgbClr val="E6E6E6"/>
                </a:solidFill>
                <a:latin typeface="Consolas"/>
              </a:rPr>
              <a:t> </a:t>
            </a:r>
          </a:p>
          <a:p>
            <a:r>
              <a:rPr sz="1250" b="0">
                <a:solidFill>
                  <a:srgbClr val="7EC699"/>
                </a:solidFill>
                <a:latin typeface="Consolas"/>
              </a:rPr>
              <a:t>-- 필터가 그룹 키(claim_type)에 대한 조건이다</a:t>
            </a:r>
          </a:p>
          <a:p>
            <a:r>
              <a:rPr sz="1250" b="0">
                <a:solidFill>
                  <a:srgbClr val="7EC699"/>
                </a:solidFill>
                <a:latin typeface="Consolas"/>
              </a:rPr>
              <a:t>-- 집계 함수의 결과에 거는 조건이 아니므로 그룹화 이전 평가가 가능하다</a:t>
            </a:r>
          </a:p>
          <a:p>
            <a:r>
              <a:rPr sz="1250" b="0">
                <a:solidFill>
                  <a:srgbClr val="7EC699"/>
                </a:solidFill>
                <a:latin typeface="Consolas"/>
              </a:rPr>
              <a:t>-- 결과 그룹은 hosp_id 단위로만 만들어진다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그룹핑 후 바깥에서 필터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10.4절 Example — 의도한 비효율 패턴, 그룹핑 컬럼을 하나 더 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불필요하게 claim_type까지 그룹핑한 뒤 바깥에서 필터</a:t>
            </a:r>
          </a:p>
          <a:p>
            <a:r>
              <a:rPr sz="1250" b="0">
                <a:solidFill>
                  <a:srgbClr val="E6E6E6"/>
                </a:solidFill>
                <a:latin typeface="Consolas"/>
              </a:rPr>
              <a:t>SELECT hosp_id, cnt, total FROM (</a:t>
            </a:r>
          </a:p>
          <a:p>
            <a:r>
              <a:rPr sz="1250" b="0">
                <a:solidFill>
                  <a:srgbClr val="E6E6E6"/>
                </a:solidFill>
                <a:latin typeface="Consolas"/>
              </a:rPr>
              <a:t>  SELECT hosp_id, claim_type, COUNT(*) cnt, SUM(total_amt) total</a:t>
            </a:r>
          </a:p>
          <a:p>
            <a:r>
              <a:rPr sz="1250" b="0">
                <a:solidFill>
                  <a:srgbClr val="E6E6E6"/>
                </a:solidFill>
                <a:latin typeface="Consolas"/>
              </a:rPr>
              <a:t>  FROM   medical_claims</a:t>
            </a:r>
          </a:p>
          <a:p>
            <a:r>
              <a:rPr sz="1250" b="0">
                <a:solidFill>
                  <a:srgbClr val="E6E6E6"/>
                </a:solidFill>
                <a:latin typeface="Consolas"/>
              </a:rPr>
              <a:t>  GROUP BY hosp_id, claim_type</a:t>
            </a:r>
          </a:p>
          <a:p>
            <a:r>
              <a:rPr sz="1250" b="0">
                <a:solidFill>
                  <a:srgbClr val="E6E6E6"/>
                </a:solidFill>
                <a:latin typeface="Consolas"/>
              </a:rPr>
              <a:t>) WHERE claim_type = '입원';</a:t>
            </a:r>
          </a:p>
          <a:p>
            <a:r>
              <a:rPr sz="1250" b="0">
                <a:solidFill>
                  <a:srgbClr val="E6E6E6"/>
                </a:solidFill>
                <a:latin typeface="Consolas"/>
              </a:rPr>
              <a:t> </a:t>
            </a:r>
          </a:p>
          <a:p>
            <a:r>
              <a:rPr sz="1250" b="0">
                <a:solidFill>
                  <a:srgbClr val="7EC699"/>
                </a:solidFill>
                <a:latin typeface="Consolas"/>
              </a:rPr>
              <a:t>-- 겉보기: hosp_id x claim_type 조합만큼 그룹을 만든 뒤 걸러 내는 형태</a:t>
            </a:r>
          </a:p>
          <a:p>
            <a:r>
              <a:rPr sz="1250" b="0">
                <a:solidFill>
                  <a:srgbClr val="7EC699"/>
                </a:solidFill>
                <a:latin typeface="Consolas"/>
              </a:rPr>
              <a:t>-- 인라인 뷰 바깥의 필터지만, 참조 대상은 여전히 그룹 키 컬럼이다</a:t>
            </a:r>
          </a:p>
          <a:p>
            <a:r>
              <a:rPr sz="1250" b="0">
                <a:solidFill>
                  <a:srgbClr val="7EC699"/>
                </a:solidFill>
                <a:latin typeface="Consolas"/>
              </a:rPr>
              <a:t>-- ch10의 WHERE v.cnt &gt; 1000 과는 참조 대상이 다르다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Q1·Q2 공통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Plan hash value 완전히 동일: 3971657403</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Q1, Q2 공통 실행계획 (Plan hash value 완전히 동일: 3971657403)</a:t>
            </a:r>
          </a:p>
          <a:p>
            <a:r>
              <a:rPr sz="1250" b="0">
                <a:solidFill>
                  <a:srgbClr val="E6E6E6"/>
                </a:solidFill>
                <a:latin typeface="Consolas"/>
              </a:rPr>
              <a:t> </a:t>
            </a:r>
          </a:p>
          <a:p>
            <a:r>
              <a:rPr sz="1250" b="0">
                <a:solidFill>
                  <a:srgbClr val="E6E6E6"/>
                </a:solidFill>
                <a:latin typeface="Consolas"/>
              </a:rPr>
              <a:t>| Id | Operation         | Name           | A-Rows |   A-Time   | Buffers |</a:t>
            </a:r>
          </a:p>
          <a:p>
            <a:r>
              <a:rPr sz="1250" b="0">
                <a:solidFill>
                  <a:srgbClr val="E6E6E6"/>
                </a:solidFill>
                <a:latin typeface="Consolas"/>
              </a:rPr>
              <a:t>| 0  | SELECT STATEMENT  |                |   1000 |00:00:00.03 |    3090 |</a:t>
            </a:r>
          </a:p>
          <a:p>
            <a:r>
              <a:rPr sz="1250" b="0">
                <a:solidFill>
                  <a:srgbClr val="E6E6E6"/>
                </a:solidFill>
                <a:latin typeface="Consolas"/>
              </a:rPr>
              <a:t>| 1  |  HASH GROUP BY    |                |   1000 |00:00:00.03 |    3090 |</a:t>
            </a:r>
          </a:p>
          <a:p>
            <a:r>
              <a:rPr sz="1250" b="0">
                <a:solidFill>
                  <a:srgbClr val="E6E6E6"/>
                </a:solidFill>
                <a:latin typeface="Consolas"/>
              </a:rPr>
              <a:t>| 2  |   TABLE ACCESS FULL| MEDICAL_CLAIMS|  59511 |00:00:00.03 |    3090 |</a:t>
            </a:r>
          </a:p>
          <a:p>
            <a:r>
              <a:rPr sz="1250" b="0">
                <a:solidFill>
                  <a:srgbClr val="E6E6E6"/>
                </a:solidFill>
                <a:latin typeface="Consolas"/>
              </a:rPr>
              <a:t> </a:t>
            </a:r>
          </a:p>
          <a:p>
            <a:r>
              <a:rPr sz="1250" b="0">
                <a:solidFill>
                  <a:srgbClr val="7EC699"/>
                </a:solidFill>
                <a:latin typeface="Consolas"/>
              </a:rPr>
              <a:t>-- Q2를 일부러 비효율적으로 작성했는데도 실행계획이 Q1과 완전히 같다</a:t>
            </a:r>
          </a:p>
          <a:p>
            <a:r>
              <a:rPr sz="1250" b="0">
                <a:solidFill>
                  <a:srgbClr val="7EC699"/>
                </a:solidFill>
                <a:latin typeface="Consolas"/>
              </a:rPr>
              <a:t>-- claim_type 으로 그룹을 나누는 단계가 계획에 존재하지 않는다</a:t>
            </a:r>
          </a:p>
          <a:p>
            <a:r>
              <a:rPr sz="1250" b="0">
                <a:solidFill>
                  <a:srgbClr val="7EC699"/>
                </a:solidFill>
                <a:latin typeface="Consolas"/>
              </a:rPr>
              <a:t>-- HASH GROUP BY 위에 TABLE ACCESS FULL 하나뿐인 단순한 구조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 읽기 — 무엇이 같았나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Plan hash value가 3971657403으로 완전히 동일하다</a:t>
            </a:r>
          </a:p>
          <a:p>
            <a:r>
              <a:rPr sz="1600" b="0">
                <a:solidFill>
                  <a:srgbClr val="5A6672"/>
                </a:solidFill>
                <a:latin typeface="Malgun Gothic"/>
              </a:rPr>
              <a:t>    –  계획이 비슷한 정도가 아니라 같은 계획으로 변환됐다는 뜻이다</a:t>
            </a:r>
          </a:p>
          <a:p>
            <a:r>
              <a:rPr sz="1800" b="0">
                <a:solidFill>
                  <a:srgbClr val="202830"/>
                </a:solidFill>
                <a:latin typeface="Malgun Gothic"/>
              </a:rPr>
              <a:t>•  오퍼레이션 구성도 동일하다 — HASH GROUP BY 위에 TABLE ACCESS FULL 하나</a:t>
            </a:r>
          </a:p>
          <a:p>
            <a:r>
              <a:rPr sz="1600" b="0">
                <a:solidFill>
                  <a:srgbClr val="5A6672"/>
                </a:solidFill>
                <a:latin typeface="Malgun Gothic"/>
              </a:rPr>
              <a:t>    –  Q2에만 있어야 할 claim_type 그룹핑 단계가 계획에 남아 있지 않다</a:t>
            </a:r>
          </a:p>
          <a:p>
            <a:r>
              <a:rPr sz="1800" b="0">
                <a:solidFill>
                  <a:srgbClr val="202830"/>
                </a:solidFill>
                <a:latin typeface="Malgun Gothic"/>
              </a:rPr>
              <a:t>•  실측 수치도 동일하다</a:t>
            </a:r>
          </a:p>
          <a:p>
            <a:r>
              <a:rPr sz="1600" b="0">
                <a:solidFill>
                  <a:srgbClr val="5A6672"/>
                </a:solidFill>
                <a:latin typeface="Malgun Gothic"/>
              </a:rPr>
              <a:t>    –  A-Rows 1000, A-Time 00:00:00.03, Buffers 3090</a:t>
            </a:r>
          </a:p>
          <a:p>
            <a:r>
              <a:rPr sz="1600" b="0">
                <a:solidFill>
                  <a:srgbClr val="5A6672"/>
                </a:solidFill>
                <a:latin typeface="Malgun Gothic"/>
              </a:rPr>
              <a:t>    –  TABLE ACCESS FULL 단계의 A-Rows는 59511 — 필터를 통과한 행 수다</a:t>
            </a:r>
          </a:p>
          <a:p>
            <a:r>
              <a:rPr sz="1800" b="0">
                <a:solidFill>
                  <a:srgbClr val="202830"/>
                </a:solidFill>
                <a:latin typeface="Malgun Gothic"/>
              </a:rPr>
              <a:t>•  즉 SQL의 겉모양 차이가 실행 구조에는 전혀 반영되지 않았다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완전히 같은 계획이 되었나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claim_type = '입원'은 GROUP BY의 기준 컬럼 자체에 대한 조건이다</a:t>
            </a:r>
          </a:p>
          <a:p>
            <a:r>
              <a:rPr sz="1600" b="0">
                <a:solidFill>
                  <a:srgbClr val="5A6672"/>
                </a:solidFill>
                <a:latin typeface="Malgun Gothic"/>
              </a:rPr>
              <a:t>    –  집계 결과가 아니라 그룹을 나누는 기준 컬럼이라는 점이 결정적이다</a:t>
            </a:r>
          </a:p>
          <a:p>
            <a:r>
              <a:rPr sz="1800" b="0">
                <a:solidFill>
                  <a:srgbClr val="202830"/>
                </a:solidFill>
                <a:latin typeface="Malgun Gothic"/>
              </a:rPr>
              <a:t>•  옵티마이저가 이 조건을 그룹화 이전으로 자동으로 밀어넣었다</a:t>
            </a:r>
          </a:p>
          <a:p>
            <a:r>
              <a:rPr sz="1600" b="0">
                <a:solidFill>
                  <a:srgbClr val="5A6672"/>
                </a:solidFill>
                <a:latin typeface="Malgun Gothic"/>
              </a:rPr>
              <a:t>    –  실행계획에서는 TABLE ACCESS FULL 단계의 필터로 나타난다</a:t>
            </a:r>
          </a:p>
          <a:p>
            <a:r>
              <a:rPr sz="1800" b="0">
                <a:solidFill>
                  <a:srgbClr val="202830"/>
                </a:solidFill>
                <a:latin typeface="Malgun Gothic"/>
              </a:rPr>
              <a:t>•  밀어넣는 순간 claim_type은 하나의 값으로 고정된다</a:t>
            </a:r>
          </a:p>
          <a:p>
            <a:r>
              <a:rPr sz="1600" b="0">
                <a:solidFill>
                  <a:srgbClr val="5A6672"/>
                </a:solidFill>
                <a:latin typeface="Malgun Gothic"/>
              </a:rPr>
              <a:t>    –  고정된 컬럼으로는 그룹을 더 나눌 이유가 없다</a:t>
            </a:r>
          </a:p>
          <a:p>
            <a:r>
              <a:rPr sz="1600" b="0">
                <a:solidFill>
                  <a:srgbClr val="5A6672"/>
                </a:solidFill>
                <a:latin typeface="Malgun Gothic"/>
              </a:rPr>
              <a:t>    –  그래서 GROUP BY hosp_id만 남긴 것과 동일한 계획이 됐다</a:t>
            </a:r>
          </a:p>
          <a:p>
            <a:r>
              <a:rPr sz="1800" b="0">
                <a:solidFill>
                  <a:srgbClr val="202830"/>
                </a:solidFill>
                <a:latin typeface="Malgun Gothic"/>
              </a:rPr>
              <a:t>•  두 단계 변환이 연달아 일어난 결과다 — 밀어넣기, 그리고 불필요한 그룹 키 제거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교훈 — 필터 위치 걱정의 실체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"필터를 먼저 쓰지 않으면 손해"라는 걱정은 대체로 기우다</a:t>
            </a:r>
          </a:p>
          <a:p>
            <a:r>
              <a:rPr sz="1600" b="0">
                <a:solidFill>
                  <a:srgbClr val="5A6672"/>
                </a:solidFill>
                <a:latin typeface="Malgun Gothic"/>
              </a:rPr>
              <a:t>    –  단 그 필터가 그룹 키에 대한 것이라는 조건이 붙는다</a:t>
            </a:r>
          </a:p>
          <a:p>
            <a:r>
              <a:rPr sz="1600" b="0">
                <a:solidFill>
                  <a:srgbClr val="5A6672"/>
                </a:solidFill>
                <a:latin typeface="Malgun Gothic"/>
              </a:rPr>
              <a:t>    –  옵티마이저가 알아서 밀어넣어 주기 때문이다</a:t>
            </a:r>
          </a:p>
          <a:p>
            <a:r>
              <a:rPr sz="1800" b="0">
                <a:solidFill>
                  <a:srgbClr val="202830"/>
                </a:solidFill>
                <a:latin typeface="Malgun Gothic"/>
              </a:rPr>
              <a:t>•  중요한 것은 필터를 SQL의 어디에 썼느냐가 아니다</a:t>
            </a:r>
          </a:p>
          <a:p>
            <a:r>
              <a:rPr sz="1600" b="0">
                <a:solidFill>
                  <a:srgbClr val="5A6672"/>
                </a:solidFill>
                <a:latin typeface="Malgun Gothic"/>
              </a:rPr>
              <a:t>    –  그 필터가 그룹 키에 관한 것이냐, 집계 결과에 관한 것이냐가 처리 방식을 결정한다</a:t>
            </a:r>
          </a:p>
          <a:p>
            <a:r>
              <a:rPr sz="1800" b="0">
                <a:solidFill>
                  <a:srgbClr val="202830"/>
                </a:solidFill>
                <a:latin typeface="Malgun Gothic"/>
              </a:rPr>
              <a:t>•  그렇다고 확인 없이 아무렇게나 써도 된다는 뜻은 아니다</a:t>
            </a:r>
          </a:p>
          <a:p>
            <a:r>
              <a:rPr sz="1600" b="0">
                <a:solidFill>
                  <a:srgbClr val="5A6672"/>
                </a:solidFill>
                <a:latin typeface="Malgun Gothic"/>
              </a:rPr>
              <a:t>    –  밀어넣기가 성립하는 조건을 알고 쓰는 것과 모르고 쓰는 것은 다르다</a:t>
            </a:r>
          </a:p>
          <a:p>
            <a:r>
              <a:rPr sz="1600" b="0">
                <a:solidFill>
                  <a:srgbClr val="5A6672"/>
                </a:solidFill>
                <a:latin typeface="Malgun Gothic"/>
              </a:rPr>
              <a:t>    –  결론은 언제나 같다 — 실행계획으로 확인한다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정렬 생략은 선택도에 달려 있다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실험 설계 — 같은 두 컬럼, 다른 선택도</a:t>
            </a:r>
          </a:p>
          <a:p>
            <a:r>
              <a:rPr sz="1600" b="0">
                <a:solidFill>
                  <a:srgbClr val="C5CED6"/>
                </a:solidFill>
                <a:latin typeface="Malgun Gothic"/>
              </a:rPr>
              <a:t>•  범위가 넓을 때 — PK인데도 정렬이 남는다</a:t>
            </a:r>
          </a:p>
          <a:p>
            <a:r>
              <a:rPr sz="1600" b="0">
                <a:solidFill>
                  <a:srgbClr val="C5CED6"/>
                </a:solidFill>
                <a:latin typeface="Malgun Gothic"/>
              </a:rPr>
              <a:t>•  범위가 좁을 때 — 정렬이 사라진다</a:t>
            </a:r>
          </a:p>
          <a:p>
            <a:r>
              <a:rPr sz="1600" b="0">
                <a:solidFill>
                  <a:srgbClr val="C5CED6"/>
                </a:solidFill>
                <a:latin typeface="Malgun Gothic"/>
              </a:rPr>
              <a:t>•  정렬이 없는 쪽이 더 비싼 역설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설계 — 같은 두 컬럼, 다른 선택도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두 컬럼을 정렬 기준으로 바꿔가며 비교한다</a:t>
            </a:r>
          </a:p>
          <a:p>
            <a:r>
              <a:rPr sz="1600" b="0">
                <a:solidFill>
                  <a:srgbClr val="5A6672"/>
                </a:solidFill>
                <a:latin typeface="Malgun Gothic"/>
              </a:rPr>
              <a:t>    –  CLAIM_ID — PK 컬럼, 인덱스의 정렬 기준과 일치한다</a:t>
            </a:r>
          </a:p>
          <a:p>
            <a:r>
              <a:rPr sz="1600" b="0">
                <a:solidFill>
                  <a:srgbClr val="5A6672"/>
                </a:solidFill>
                <a:latin typeface="Malgun Gothic"/>
              </a:rPr>
              <a:t>    –  TOTAL_AMT — 인덱스가 없는 컬럼이다</a:t>
            </a:r>
          </a:p>
          <a:p>
            <a:r>
              <a:rPr sz="1800" b="0">
                <a:solidFill>
                  <a:srgbClr val="202830"/>
                </a:solidFill>
                <a:latin typeface="Malgun Gothic"/>
              </a:rPr>
              <a:t>•  필터 범위는 두 가지로 나눈다</a:t>
            </a:r>
          </a:p>
          <a:p>
            <a:r>
              <a:rPr sz="1600" b="0">
                <a:solidFill>
                  <a:srgbClr val="5A6672"/>
                </a:solidFill>
                <a:latin typeface="Malgun Gothic"/>
              </a:rPr>
              <a:t>    –  넓을 때 — 약 1개월, 8.5% 선택도</a:t>
            </a:r>
          </a:p>
          <a:p>
            <a:r>
              <a:rPr sz="1600" b="0">
                <a:solidFill>
                  <a:srgbClr val="5A6672"/>
                </a:solidFill>
                <a:latin typeface="Malgun Gothic"/>
              </a:rPr>
              <a:t>    –  좁을 때 — 약 1일, 0.27% 선택도</a:t>
            </a:r>
          </a:p>
          <a:p>
            <a:r>
              <a:rPr sz="1800" b="0">
                <a:solidFill>
                  <a:srgbClr val="202830"/>
                </a:solidFill>
                <a:latin typeface="Malgun Gothic"/>
              </a:rPr>
              <a:t>•  8.5% 구간은 ch05에서 이미 Full Scan 전환 구간으로 확인된 범위다</a:t>
            </a:r>
          </a:p>
          <a:p>
            <a:r>
              <a:rPr sz="1600" b="0">
                <a:solidFill>
                  <a:srgbClr val="5A6672"/>
                </a:solidFill>
                <a:latin typeface="Malgun Gothic"/>
              </a:rPr>
              <a:t>    –  즉 접근 경로가 달라지도록 의도적으로 설계한 두 구간이다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범위가 넓을 때 — 약 1개월, 8.5% 선택도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10.5절 Bad SQL — 두 정렬 기준 모두 SORT가 발생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정렬 기준                     | Operation                         | Buffers |</a:t>
            </a:r>
          </a:p>
          <a:p>
            <a:r>
              <a:rPr sz="1250" b="0">
                <a:solidFill>
                  <a:srgbClr val="E6E6E6"/>
                </a:solidFill>
                <a:latin typeface="Consolas"/>
              </a:rPr>
              <a:t>+-------------------------------+-----------------------------------+---------+</a:t>
            </a:r>
          </a:p>
          <a:p>
            <a:r>
              <a:rPr sz="1250" b="0">
                <a:solidFill>
                  <a:srgbClr val="E6E6E6"/>
                </a:solidFill>
                <a:latin typeface="Consolas"/>
              </a:rPr>
              <a:t>| ORDER BY total_amt (비인덱스) | SORT ORDER BY + TABLE ACCESS FULL |   3,090 |</a:t>
            </a:r>
          </a:p>
          <a:p>
            <a:r>
              <a:rPr sz="1250" b="0">
                <a:solidFill>
                  <a:srgbClr val="E6E6E6"/>
                </a:solidFill>
                <a:latin typeface="Consolas"/>
              </a:rPr>
              <a:t>| ORDER BY claim_id (PK 컬럼)   | SORT ORDER BY +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경우 모두 정렬이 생략되지 않았다</a:t>
            </a:r>
          </a:p>
          <a:p>
            <a:r>
              <a:rPr sz="1250" b="0">
                <a:solidFill>
                  <a:srgbClr val="7EC699"/>
                </a:solidFill>
                <a:latin typeface="Consolas"/>
              </a:rPr>
              <a:t>-- claim_id 가 PK라 해도 접근 경로가 TABLE ACCESS FULL 이면 순서 보장이 없다</a:t>
            </a:r>
          </a:p>
          <a:p>
            <a:r>
              <a:rPr sz="1250" b="0">
                <a:solidFill>
                  <a:srgbClr val="7EC699"/>
                </a:solidFill>
                <a:latin typeface="Consolas"/>
              </a:rPr>
              <a:t>-- ch05에서 확인된 Full Scan 전환 구간이라 인덱스 자체가 채택되지 않았다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넓은 범위 해석 — PK인데도 정렬이 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정렬이 생략되려면 데이터를 이미 정렬된 순서로 가져와야 한다</a:t>
            </a:r>
          </a:p>
          <a:p>
            <a:r>
              <a:rPr sz="1600" b="0">
                <a:solidFill>
                  <a:srgbClr val="5A6672"/>
                </a:solidFill>
                <a:latin typeface="Malgun Gothic"/>
              </a:rPr>
              <a:t>    –  그러려면 정렬 순서를 보장하는 구조, 즉 인덱스를 통해 접근해야 한다</a:t>
            </a:r>
          </a:p>
          <a:p>
            <a:r>
              <a:rPr sz="1800" b="0">
                <a:solidFill>
                  <a:srgbClr val="202830"/>
                </a:solidFill>
                <a:latin typeface="Malgun Gothic"/>
              </a:rPr>
              <a:t>•  이 사례에서는 선택도가 8.5%로 이미 Full Scan이 유리한 구간이었다</a:t>
            </a:r>
          </a:p>
          <a:p>
            <a:r>
              <a:rPr sz="1600" b="0">
                <a:solidFill>
                  <a:srgbClr val="5A6672"/>
                </a:solidFill>
                <a:latin typeface="Malgun Gothic"/>
              </a:rPr>
              <a:t>    –  ch05의 접근 방식 전환 원칙에 따라 옵티마이저가 TABLE ACCESS FULL을 선택했다</a:t>
            </a:r>
          </a:p>
          <a:p>
            <a:r>
              <a:rPr sz="1800" b="0">
                <a:solidFill>
                  <a:srgbClr val="202830"/>
                </a:solidFill>
                <a:latin typeface="Malgun Gothic"/>
              </a:rPr>
              <a:t>•  Full Scan은 테이블에 저장된 물리적 순서로 읽는다</a:t>
            </a:r>
          </a:p>
          <a:p>
            <a:r>
              <a:rPr sz="1600" b="0">
                <a:solidFill>
                  <a:srgbClr val="5A6672"/>
                </a:solidFill>
                <a:latin typeface="Malgun Gothic"/>
              </a:rPr>
              <a:t>    –  물리적 순서는 정렬 순서와 무관하다 — 어떤 순서도 보장하지 않는다</a:t>
            </a:r>
          </a:p>
          <a:p>
            <a:r>
              <a:rPr sz="1600" b="0">
                <a:solidFill>
                  <a:srgbClr val="5A6672"/>
                </a:solidFill>
                <a:latin typeface="Malgun Gothic"/>
              </a:rPr>
              <a:t>    –  그 컬럼이 PK이든 아니든 이 접근 경로에서는 정렬 순서를 보장받지 못한다</a:t>
            </a:r>
          </a:p>
          <a:p>
            <a:r>
              <a:rPr sz="1800" b="0">
                <a:solidFill>
                  <a:srgbClr val="202830"/>
                </a:solidFill>
                <a:latin typeface="Malgun Gothic"/>
              </a:rPr>
              <a:t>•  그래서 두 경우 모두 별도의 SORT ORDER BY가 필요했다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범위가 좁을 때 — 약 1일, 0.27% 선택도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10.5절 Bad SQL — 인덱스 컬럼 정렬에서만 SORT가 생략</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정렬 기준                     | Operation                        | Buffers |</a:t>
            </a:r>
          </a:p>
          <a:p>
            <a:r>
              <a:rPr sz="1250" b="0">
                <a:solidFill>
                  <a:srgbClr val="E6E6E6"/>
                </a:solidFill>
                <a:latin typeface="Consolas"/>
              </a:rPr>
              <a:t>+-------------------------------+----------------------------------+---------+</a:t>
            </a:r>
          </a:p>
          <a:p>
            <a:r>
              <a:rPr sz="1250" b="0">
                <a:solidFill>
                  <a:srgbClr val="E6E6E6"/>
                </a:solidFill>
                <a:latin typeface="Consolas"/>
              </a:rPr>
              <a:t>| ORDER BY claim_id (PK 컬럼)   | INDEX RANGE SCAN만 (정렬 생략됨) |     791 |</a:t>
            </a:r>
          </a:p>
          <a:p>
            <a:r>
              <a:rPr sz="1250" b="0">
                <a:solidFill>
                  <a:srgbClr val="E6E6E6"/>
                </a:solidFill>
                <a:latin typeface="Consolas"/>
              </a:rPr>
              <a:t>| ORDER BY total_amt (비인덱스) | SORT ORDER BY + INDEX RANGE SCAN |     731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좁은 선택도 덕분에 INDEX RANGE SCAN 이 채택됐다</a:t>
            </a:r>
          </a:p>
          <a:p>
            <a:r>
              <a:rPr sz="1250" b="0">
                <a:solidFill>
                  <a:srgbClr val="7EC699"/>
                </a:solidFill>
                <a:latin typeface="Consolas"/>
              </a:rPr>
              <a:t>-- claim_id 정렬은 인덱스가 이미 그 순서로 반환하므로 SORT 단계가 아예 없다</a:t>
            </a:r>
          </a:p>
          <a:p>
            <a:r>
              <a:rPr sz="1250" b="0">
                <a:solidFill>
                  <a:srgbClr val="7EC699"/>
                </a:solidFill>
                <a:latin typeface="Consolas"/>
              </a:rPr>
              <a:t>-- total_amt 는 인덱스에 없는 컬럼이라 여전히 정렬이 필요하다</a:t>
            </a:r>
          </a:p>
          <a:p>
            <a:r>
              <a:rPr sz="1250" b="0">
                <a:solidFill>
                  <a:srgbClr val="7EC699"/>
                </a:solidFill>
                <a:latin typeface="Consolas"/>
              </a:rPr>
              <a:t>-- 정렬을 생략한 쪽(791)이 정렬한 쪽(731)보다 Buffers 가 크다는 점에 주목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좁은 범위 해석 — 정렬이 사라진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좁은 범위에서는 선택도가 매우 낮아 인덱스 접근이 유리해졌다</a:t>
            </a:r>
          </a:p>
          <a:p>
            <a:r>
              <a:rPr sz="1600" b="0">
                <a:solidFill>
                  <a:srgbClr val="5A6672"/>
                </a:solidFill>
                <a:latin typeface="Malgun Gothic"/>
              </a:rPr>
              <a:t>    –  옵티마이저가 PK_MEDICAL_CLAIMS를 통한 INDEX RANGE SCAN을 선택했다</a:t>
            </a:r>
          </a:p>
          <a:p>
            <a:r>
              <a:rPr sz="1600" b="0">
                <a:solidFill>
                  <a:srgbClr val="5A6672"/>
                </a:solidFill>
                <a:latin typeface="Malgun Gothic"/>
              </a:rPr>
              <a:t>    –  ch05의 원칙이 그대로 적용된 결과다</a:t>
            </a:r>
          </a:p>
          <a:p>
            <a:r>
              <a:rPr sz="1800" b="0">
                <a:solidFill>
                  <a:srgbClr val="202830"/>
                </a:solidFill>
                <a:latin typeface="Malgun Gothic"/>
              </a:rPr>
              <a:t>•  인덱스는 CLAIM_ID 값 순서로 정렬되어 저장된다</a:t>
            </a:r>
          </a:p>
          <a:p>
            <a:r>
              <a:rPr sz="1600" b="0">
                <a:solidFill>
                  <a:srgbClr val="5A6672"/>
                </a:solidFill>
                <a:latin typeface="Malgun Gothic"/>
              </a:rPr>
              <a:t>    –  INDEX RANGE SCAN으로 읽어오는 순서가 ORDER BY claim_id의 요구와 정확히 일치한다</a:t>
            </a:r>
          </a:p>
          <a:p>
            <a:r>
              <a:rPr sz="1600" b="0">
                <a:solidFill>
                  <a:srgbClr val="5A6672"/>
                </a:solidFill>
                <a:latin typeface="Malgun Gothic"/>
              </a:rPr>
              <a:t>    –  이미 원하는 순서로 나오므로 다시 정렬할 필요가 없어 SORT 단계가 생략됐다</a:t>
            </a:r>
          </a:p>
          <a:p>
            <a:r>
              <a:rPr sz="1800" b="0">
                <a:solidFill>
                  <a:srgbClr val="202830"/>
                </a:solidFill>
                <a:latin typeface="Malgun Gothic"/>
              </a:rPr>
              <a:t>•  반면 ORDER BY total_amt는 여전히 SORT ORDER BY가 필요하다</a:t>
            </a:r>
          </a:p>
          <a:p>
            <a:r>
              <a:rPr sz="1600" b="0">
                <a:solidFill>
                  <a:srgbClr val="5A6672"/>
                </a:solidFill>
                <a:latin typeface="Malgun Gothic"/>
              </a:rPr>
              <a:t>    –  인덱스에 없는 컬럼이므로 인덱스의 순서를 활용할 수 없다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정렬이 없는 쪽이 더 비싼 역설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정렬을 생략한 claim_id 쪽 Buffers는 791, 정렬이 발생한 total_amt 쪽은 731이다</a:t>
            </a:r>
          </a:p>
          <a:p>
            <a:r>
              <a:rPr sz="1600" b="0">
                <a:solidFill>
                  <a:srgbClr val="5A6672"/>
                </a:solidFill>
                <a:latin typeface="Malgun Gothic"/>
              </a:rPr>
              <a:t>    –  정렬이 있는 쪽이 오히려 Buffers가 작다</a:t>
            </a:r>
          </a:p>
          <a:p>
            <a:r>
              <a:rPr sz="1800" b="0">
                <a:solidFill>
                  <a:srgbClr val="202830"/>
                </a:solidFill>
                <a:latin typeface="Malgun Gothic"/>
              </a:rPr>
              <a:t>•  원인은 테이블 블록 접근 방식의 차이에 있다</a:t>
            </a:r>
          </a:p>
          <a:p>
            <a:r>
              <a:rPr sz="1600" b="0">
                <a:solidFill>
                  <a:srgbClr val="5A6672"/>
                </a:solidFill>
                <a:latin typeface="Malgun Gothic"/>
              </a:rPr>
              <a:t>    –  TABLE ACCESS BY INDEX ROWID — 개별 ROWID로 하나씩 접근</a:t>
            </a:r>
          </a:p>
          <a:p>
            <a:r>
              <a:rPr sz="1600" b="0">
                <a:solidFill>
                  <a:srgbClr val="5A6672"/>
                </a:solidFill>
                <a:latin typeface="Malgun Gothic"/>
              </a:rPr>
              <a:t>    –  TABLE ACCESS BY INDEX ROWID BATCHED — ROWID를 먼저 모아 가까운 것끼리 묶어 접근</a:t>
            </a:r>
          </a:p>
          <a:p>
            <a:r>
              <a:rPr sz="1600" b="0">
                <a:solidFill>
                  <a:srgbClr val="5A6672"/>
                </a:solidFill>
                <a:latin typeface="Malgun Gothic"/>
              </a:rPr>
              <a:t>    –  BATCHED는 개별 접근보다 효율적일 수 있다 (ch03)</a:t>
            </a:r>
          </a:p>
          <a:p>
            <a:r>
              <a:rPr sz="1800" b="0">
                <a:solidFill>
                  <a:srgbClr val="202830"/>
                </a:solidFill>
                <a:latin typeface="Malgun Gothic"/>
              </a:rPr>
              <a:t>•  정렬 비용을 상쇄하고도 남을 만큼 테이블 접근이 효율적이었던 경우다</a:t>
            </a:r>
          </a:p>
          <a:p>
            <a:r>
              <a:rPr sz="1600" b="0">
                <a:solidFill>
                  <a:srgbClr val="5A6672"/>
                </a:solidFill>
                <a:latin typeface="Malgun Gothic"/>
              </a:rPr>
              <a:t>    –  "정렬이 없으면 항상 더 싸다"는 단순한 가정은 항상 맞지는 않다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결국 실측해서 직접 비교해야 한다 — 요인이 여럿일 때는 어느 하나만 보고 예측한 결론이 뒤집힐 수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정렬 생략의 두 조건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정렬 생략의 두 조건</a:t>
            </a:r>
          </a:p>
          <a:p>
            <a:r>
              <a:rPr sz="1600" b="0">
                <a:solidFill>
                  <a:srgbClr val="C5CED6"/>
                </a:solidFill>
                <a:latin typeface="Malgun Gothic"/>
              </a:rPr>
              <a:t>•  ch05 선택도 원칙과의 연결</a:t>
            </a:r>
          </a:p>
          <a:p>
            <a:r>
              <a:rPr sz="1600" b="0">
                <a:solidFill>
                  <a:srgbClr val="C5CED6"/>
                </a:solidFill>
                <a:latin typeface="Malgun Gothic"/>
              </a:rPr>
              <a:t>•  HASH GROUP BY는 생략되지 않는다</a:t>
            </a:r>
          </a:p>
          <a:p>
            <a:r>
              <a:rPr sz="1600" b="0">
                <a:solidFill>
                  <a:srgbClr val="C5CED6"/>
                </a:solidFill>
                <a:latin typeface="Malgun Gothic"/>
              </a:rPr>
              <a:t>•  GROUP BY + ORDER BY 조합 추론 / 체크리스트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 생략의 두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컬럼으로 정렬하면 정렬이 생략된다'는 조건부 사실이다</a:t>
            </a:r>
          </a:p>
          <a:p>
            <a:r>
              <a:rPr sz="1600" b="0">
                <a:solidFill>
                  <a:srgbClr val="5A6672"/>
                </a:solidFill>
                <a:latin typeface="Malgun Gothic"/>
              </a:rPr>
              <a:t>    –  컬럼 하나만 보는 조건이라 부정확하다</a:t>
            </a:r>
          </a:p>
          <a:p>
            <a:r>
              <a:rPr sz="1800" b="0">
                <a:solidFill>
                  <a:srgbClr val="202830"/>
                </a:solidFill>
                <a:latin typeface="Malgun Gothic"/>
              </a:rPr>
              <a:t>•  정확한 조건은 두 가지가 함께 성립해야 한다</a:t>
            </a:r>
          </a:p>
          <a:p>
            <a:r>
              <a:rPr sz="1600" b="0">
                <a:solidFill>
                  <a:srgbClr val="5A6672"/>
                </a:solidFill>
                <a:latin typeface="Malgun Gothic"/>
              </a:rPr>
              <a:t>    –  (1) 정렬 대상 컬럼이 인덱스의 정렬 기준과 일치해야 한다</a:t>
            </a:r>
          </a:p>
          <a:p>
            <a:r>
              <a:rPr sz="1600" b="0">
                <a:solidFill>
                  <a:srgbClr val="5A6672"/>
                </a:solidFill>
                <a:latin typeface="Malgun Gothic"/>
              </a:rPr>
              <a:t>    –  (2) 그 인덱스가 실제로 이 쿼리의 접근 경로로 채택되어야 한다</a:t>
            </a:r>
          </a:p>
          <a:p>
            <a:r>
              <a:rPr sz="1800" b="0">
                <a:solidFill>
                  <a:srgbClr val="202830"/>
                </a:solidFill>
                <a:latin typeface="Malgun Gothic"/>
              </a:rPr>
              <a:t>•  둘 중 하나라도 빠지면 정렬은 그대로 발생한다</a:t>
            </a:r>
          </a:p>
          <a:p>
            <a:r>
              <a:rPr sz="1600" b="0">
                <a:solidFill>
                  <a:srgbClr val="5A6672"/>
                </a:solidFill>
                <a:latin typeface="Malgun Gothic"/>
              </a:rPr>
              <a:t>    –  넓은 범위 사례는 (1)은 만족했지만 (2)가 성립하지 않은 경우다</a:t>
            </a:r>
          </a:p>
          <a:p>
            <a:r>
              <a:rPr sz="1600" b="0">
                <a:solidFill>
                  <a:srgbClr val="5A6672"/>
                </a:solidFill>
                <a:latin typeface="Malgun Gothic"/>
              </a:rPr>
              <a:t>    –  좁은 범위의 total_amt는 (2)는 성립했지만 (1)이 빠진 경우다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ch05 선택도 원칙과의 연결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ch05에서 다룬 원칙 — 선택도에 따라 접근 방식이 전환된다</a:t>
            </a:r>
          </a:p>
          <a:p>
            <a:r>
              <a:rPr sz="1600" b="0">
                <a:solidFill>
                  <a:srgbClr val="5A6672"/>
                </a:solidFill>
                <a:latin typeface="Malgun Gothic"/>
              </a:rPr>
              <a:t>    –  선택도가 충분히 낮으면 인덱스, 높으면 Full Scan이 유리해진다</a:t>
            </a:r>
          </a:p>
          <a:p>
            <a:r>
              <a:rPr sz="1800" b="0">
                <a:solidFill>
                  <a:srgbClr val="202830"/>
                </a:solidFill>
                <a:latin typeface="Malgun Gothic"/>
              </a:rPr>
              <a:t>•  그 원칙이 ORDER BY의 정렬 생략 여부에도 그대로 연결된다</a:t>
            </a:r>
          </a:p>
          <a:p>
            <a:r>
              <a:rPr sz="1600" b="0">
                <a:solidFill>
                  <a:srgbClr val="5A6672"/>
                </a:solidFill>
                <a:latin typeface="Malgun Gothic"/>
              </a:rPr>
              <a:t>    –  접근 경로가 바뀌면 정렬 순서를 물려받을 수 있는지도 함께 바뀐다</a:t>
            </a:r>
          </a:p>
          <a:p>
            <a:r>
              <a:rPr sz="1800" b="0">
                <a:solidFill>
                  <a:srgbClr val="202830"/>
                </a:solidFill>
                <a:latin typeface="Malgun Gothic"/>
              </a:rPr>
              <a:t>•  같은 컬럼이라도 쿼리의 선택도에 따라 정렬 생략 여부가 달라질 수 있다</a:t>
            </a:r>
          </a:p>
          <a:p>
            <a:r>
              <a:rPr sz="1600" b="0">
                <a:solidFill>
                  <a:srgbClr val="5A6672"/>
                </a:solidFill>
                <a:latin typeface="Malgun Gothic"/>
              </a:rPr>
              <a:t>    –  이번 실습의 claim_id가 정확히 그 사례다</a:t>
            </a:r>
          </a:p>
          <a:p>
            <a:r>
              <a:rPr sz="1800" b="0">
                <a:solidFill>
                  <a:srgbClr val="202830"/>
                </a:solidFill>
                <a:latin typeface="Malgun Gothic"/>
              </a:rPr>
              <a:t>•  그래서 "이 SQL은 정렬이 없다"는 말은 조건 없이는 성립하지 않는다</a:t>
            </a:r>
          </a:p>
          <a:p>
            <a:r>
              <a:rPr sz="1600" b="0">
                <a:solidFill>
                  <a:srgbClr val="5A6672"/>
                </a:solidFill>
                <a:latin typeface="Malgun Gothic"/>
              </a:rPr>
              <a:t>    –  데이터가 늘어 선택도가 달라지면 어제 없던 정렬이 오늘 생길 수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GROUP BY는 생략되지 않는다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HASH GROUP BY는 이번 장의 모든 GROUP BY 쿼리에서 공통으로 나타났다</a:t>
            </a:r>
          </a:p>
          <a:p>
            <a:r>
              <a:rPr sz="1800" b="0">
                <a:solidFill>
                  <a:srgbClr val="202830"/>
                </a:solidFill>
                <a:latin typeface="Malgun Gothic"/>
              </a:rPr>
              <a:t>•  HASH GROUP BY는 그룹 키 값을 해시로 묶어 집계하는 방식이다</a:t>
            </a:r>
          </a:p>
          <a:p>
            <a:r>
              <a:rPr sz="1600" b="0">
                <a:solidFill>
                  <a:srgbClr val="5A6672"/>
                </a:solidFill>
                <a:latin typeface="Malgun Gothic"/>
              </a:rPr>
              <a:t>    –  인덱스의 정렬 순서와 무관하게 동작한다</a:t>
            </a:r>
          </a:p>
          <a:p>
            <a:r>
              <a:rPr sz="1600" b="0">
                <a:solidFill>
                  <a:srgbClr val="5A6672"/>
                </a:solidFill>
                <a:latin typeface="Malgun Gothic"/>
              </a:rPr>
              <a:t>    –  정렬된 순서로 데이터를 읽어와도 HASH GROUP BY 자체는 생략되지 않는다</a:t>
            </a:r>
          </a:p>
          <a:p>
            <a:r>
              <a:rPr sz="1600" b="0">
                <a:solidFill>
                  <a:srgbClr val="5A6672"/>
                </a:solidFill>
                <a:latin typeface="Malgun Gothic"/>
              </a:rPr>
              <a:t>    –  그룹핑이라는 작업 자체가 필요 없어지는 것이 아니기 때문이다</a:t>
            </a:r>
          </a:p>
          <a:p>
            <a:r>
              <a:rPr sz="1800" b="0">
                <a:solidFill>
                  <a:srgbClr val="202830"/>
                </a:solidFill>
                <a:latin typeface="Malgun Gothic"/>
              </a:rPr>
              <a:t>•  정렬 순서를 활용해 그룹화 비용을 줄이려면 SORT GROUP BY가 선택돼야 한다</a:t>
            </a:r>
          </a:p>
          <a:p>
            <a:r>
              <a:rPr sz="1600" b="0">
                <a:solidFill>
                  <a:srgbClr val="5A6672"/>
                </a:solidFill>
                <a:latin typeface="Malgun Gothic"/>
              </a:rPr>
              <a:t>    –  이는 옵티마이저가 별도로 판단하는 영역이다</a:t>
            </a:r>
          </a:p>
          <a:p>
            <a:r>
              <a:rPr sz="1600" b="0">
                <a:solidFill>
                  <a:srgbClr val="5A6672"/>
                </a:solidFill>
                <a:latin typeface="Malgun Gothic"/>
              </a:rPr>
              <a:t>    –  이번 챕터의 실습에서는 SORT GROUP BY가 관찰되지 않았다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GROUP BY + ORDER BY 조합은 어떻게 될까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 — 병원별 청구 건수를 병원 ID 순으로 정렬해 보여 달라</a:t>
            </a:r>
          </a:p>
          <a:p>
            <a:r>
              <a:rPr sz="1600" b="0">
                <a:solidFill>
                  <a:srgbClr val="5A6672"/>
                </a:solidFill>
                <a:latin typeface="Malgun Gothic"/>
              </a:rPr>
              <a:t>    –  GROUP BY hosp_id ORDER BY hosp_id 형태로 작성하게 된다</a:t>
            </a:r>
          </a:p>
          <a:p>
            <a:r>
              <a:rPr sz="1800" b="0">
                <a:solidFill>
                  <a:srgbClr val="202830"/>
                </a:solidFill>
                <a:latin typeface="Malgun Gothic"/>
              </a:rPr>
              <a:t>•  HASH GROUP BY로 처리된다면</a:t>
            </a:r>
          </a:p>
          <a:p>
            <a:r>
              <a:rPr sz="1600" b="0">
                <a:solidFill>
                  <a:srgbClr val="5A6672"/>
                </a:solidFill>
                <a:latin typeface="Malgun Gothic"/>
              </a:rPr>
              <a:t>    –  해시 기반 처리 특성상 결과가 hosp_id 순서로 나온다는 보장이 없다</a:t>
            </a:r>
          </a:p>
          <a:p>
            <a:r>
              <a:rPr sz="1600" b="0">
                <a:solidFill>
                  <a:srgbClr val="5A6672"/>
                </a:solidFill>
                <a:latin typeface="Malgun Gothic"/>
              </a:rPr>
              <a:t>    –  이론적으로는 별도의 SORT ORDER BY가 추가로 필요할 가능성이 높다</a:t>
            </a:r>
          </a:p>
          <a:p>
            <a:r>
              <a:rPr sz="1800" b="0">
                <a:solidFill>
                  <a:srgbClr val="202830"/>
                </a:solidFill>
                <a:latin typeface="Malgun Gothic"/>
              </a:rPr>
              <a:t>•  옵티마이저가 두 절이 같은 컬럼임을 인지한다면</a:t>
            </a:r>
          </a:p>
          <a:p>
            <a:r>
              <a:rPr sz="1600" b="0">
                <a:solidFill>
                  <a:srgbClr val="5A6672"/>
                </a:solidFill>
                <a:latin typeface="Malgun Gothic"/>
              </a:rPr>
              <a:t>    –  SORT GROUP BY를 선택해 그 정렬 결과를 ORDER BY 결과로 재사용할 수도 있다</a:t>
            </a:r>
          </a:p>
          <a:p>
            <a:r>
              <a:rPr sz="1800" b="0">
                <a:solidFill>
                  <a:srgbClr val="202830"/>
                </a:solidFill>
                <a:latin typeface="Malgun Gothic"/>
              </a:rPr>
              <a:t>•  어느 쪽이 선택될지는 데이터 규모·통계정보에 따른 비용 판단의 문제다</a:t>
            </a:r>
          </a:p>
          <a:p>
            <a:r>
              <a:rPr sz="1600" b="0">
                <a:solidFill>
                  <a:srgbClr val="5A6672"/>
                </a:solidFill>
                <a:latin typeface="Malgun Gothic"/>
              </a:rPr>
              <a:t>    –  단정하지 말고 실행계획으로 직접 확인한다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집계 쿼리를 볼 때</a:t>
            </a:r>
          </a:p>
          <a:p>
            <a:r>
              <a:rPr sz="1600" b="0">
                <a:solidFill>
                  <a:srgbClr val="5A6672"/>
                </a:solidFill>
                <a:latin typeface="Malgun Gothic"/>
              </a:rPr>
              <a:t>    –  이 필터는 그룹 키에 대한 것인가, 집계 결과에 대한 것인가</a:t>
            </a:r>
          </a:p>
          <a:p>
            <a:r>
              <a:rPr sz="1600" b="0">
                <a:solidFill>
                  <a:srgbClr val="5A6672"/>
                </a:solidFill>
                <a:latin typeface="Malgun Gothic"/>
              </a:rPr>
              <a:t>    –  집계 결과에 대한 조건이라면 그룹화 이후에만 평가된다는 점을 감안했는가</a:t>
            </a:r>
          </a:p>
          <a:p>
            <a:r>
              <a:rPr sz="1800" b="0">
                <a:solidFill>
                  <a:srgbClr val="202830"/>
                </a:solidFill>
                <a:latin typeface="Malgun Gothic"/>
              </a:rPr>
              <a:t>•  정렬 쿼리를 볼 때</a:t>
            </a:r>
          </a:p>
          <a:p>
            <a:r>
              <a:rPr sz="1600" b="0">
                <a:solidFill>
                  <a:srgbClr val="5A6672"/>
                </a:solidFill>
                <a:latin typeface="Malgun Gothic"/>
              </a:rPr>
              <a:t>    –  정렬 대상 컬럼이 인덱스의 정렬 기준과 일치하는가</a:t>
            </a:r>
          </a:p>
          <a:p>
            <a:r>
              <a:rPr sz="1600" b="0">
                <a:solidFill>
                  <a:srgbClr val="5A6672"/>
                </a:solidFill>
                <a:latin typeface="Malgun Gothic"/>
              </a:rPr>
              <a:t>    –  그 인덱스가 이 쿼리의 접근 경로로 실제 채택됐는가</a:t>
            </a:r>
          </a:p>
          <a:p>
            <a:r>
              <a:rPr sz="1600" b="0">
                <a:solidFill>
                  <a:srgbClr val="5A6672"/>
                </a:solidFill>
                <a:latin typeface="Malgun Gothic"/>
              </a:rPr>
              <a:t>    –  실행계획에 SORT ORDER BY가 남아 있는가</a:t>
            </a:r>
          </a:p>
          <a:p>
            <a:r>
              <a:rPr sz="1800" b="0">
                <a:solidFill>
                  <a:srgbClr val="202830"/>
                </a:solidFill>
                <a:latin typeface="Malgun Gothic"/>
              </a:rPr>
              <a:t>•  비교할 때</a:t>
            </a:r>
          </a:p>
          <a:p>
            <a:r>
              <a:rPr sz="1600" b="0">
                <a:solidFill>
                  <a:srgbClr val="5A6672"/>
                </a:solidFill>
                <a:latin typeface="Malgun Gothic"/>
              </a:rPr>
              <a:t>    –  정렬 유무만이 아니라 테이블 접근 방식까지 함께 본다</a:t>
            </a:r>
          </a:p>
          <a:p>
            <a:r>
              <a:rPr sz="1600" b="0">
                <a:solidFill>
                  <a:srgbClr val="5A6672"/>
                </a:solidFill>
                <a:latin typeface="Malgun Gothic"/>
              </a:rPr>
              <a:t>    –  요인이 여럿이면 예측보다 실측을 우선한다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&amp; Review</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네 시나리오 실측 요약</a:t>
            </a:r>
          </a:p>
          <a:p>
            <a:r>
              <a:rPr sz="1600" b="0">
                <a:solidFill>
                  <a:srgbClr val="C5CED6"/>
                </a:solidFill>
                <a:latin typeface="Malgun Gothic"/>
              </a:rPr>
              <a:t>•  관측 사실과 흔한 오해 정리</a:t>
            </a:r>
          </a:p>
          <a:p>
            <a:r>
              <a:rPr sz="1600" b="0">
                <a:solidFill>
                  <a:srgbClr val="C5CED6"/>
                </a:solidFill>
                <a:latin typeface="Malgun Gothic"/>
              </a:rPr>
              <a:t>•  이 장의 결론</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네 시나리오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10.7절 Benchmark — 이번 장 전체 실측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시나리오                                      | Buffers | SORT 발생 여부                   |</a:t>
            </a:r>
          </a:p>
          <a:p>
            <a:r>
              <a:rPr sz="1250" b="0">
                <a:solidFill>
                  <a:srgbClr val="E6E6E6"/>
                </a:solidFill>
                <a:latin typeface="Consolas"/>
              </a:rPr>
              <a:t>+-----------------------------------------------+---------+----------------------------------+</a:t>
            </a:r>
          </a:p>
          <a:p>
            <a:r>
              <a:rPr sz="1250" b="0">
                <a:solidFill>
                  <a:srgbClr val="E6E6E6"/>
                </a:solidFill>
                <a:latin typeface="Consolas"/>
              </a:rPr>
              <a:t>| GROUP BY 키에 대한 필터 (Q1, Q2 — 위치 무관)  |   3,090 | HASH GROUP BY 발생 (정렬과 무관) |</a:t>
            </a:r>
          </a:p>
          <a:p>
            <a:r>
              <a:rPr sz="1250" b="0">
                <a:solidFill>
                  <a:srgbClr val="E6E6E6"/>
                </a:solidFill>
                <a:latin typeface="Consolas"/>
              </a:rPr>
              <a:t>| 넓은 범위 ORDER BY (8.5%, 두 컬럼 모두)       |   3,090 | SORT ORDER BY 발생               |</a:t>
            </a:r>
          </a:p>
          <a:p>
            <a:r>
              <a:rPr sz="1250" b="0">
                <a:solidFill>
                  <a:srgbClr val="E6E6E6"/>
                </a:solidFill>
                <a:latin typeface="Consolas"/>
              </a:rPr>
              <a:t>| 좁은 범위 ORDER BY, 인덱스 컬럼 (claim_id)    |     791 | SORT 생략됨                      |</a:t>
            </a:r>
          </a:p>
          <a:p>
            <a:r>
              <a:rPr sz="1250" b="0">
                <a:solidFill>
                  <a:srgbClr val="E6E6E6"/>
                </a:solidFill>
                <a:latin typeface="Consolas"/>
              </a:rPr>
              <a:t>| 좁은 범위 ORDER BY, 비인덱스 컬럼 (total_amt) |     731 | SORT ORDER BY 발생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-- 1행: 필터 위치를 바꿔도 실행계획이 완전히 동일했다</a:t>
            </a:r>
          </a:p>
          <a:p>
            <a:r>
              <a:rPr sz="1250" b="0">
                <a:solidFill>
                  <a:srgbClr val="7EC699"/>
                </a:solidFill>
                <a:latin typeface="Consolas"/>
              </a:rPr>
              <a:t>-- 2행: 접근 경로가 Full Scan 이면 PK 컬럼 정렬도 생략되지 않는다</a:t>
            </a:r>
          </a:p>
          <a:p>
            <a:r>
              <a:rPr sz="1250" b="0">
                <a:solidFill>
                  <a:srgbClr val="7EC699"/>
                </a:solidFill>
                <a:latin typeface="Consolas"/>
              </a:rPr>
              <a:t>-- 3~4행: 같은 접근 경로에서도 정렬 기준 컬럼에 따라 결과가 갈린다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관측 사실과 흔한 오해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1 — GROUP BY 필터 위치를 바꿔도 실행계획이 완전히 같았다</a:t>
            </a:r>
          </a:p>
          <a:p>
            <a:r>
              <a:rPr sz="1800" b="0">
                <a:solidFill>
                  <a:srgbClr val="202830"/>
                </a:solidFill>
                <a:latin typeface="Malgun Gothic"/>
              </a:rPr>
              <a:t>•  관측 2 — 같은 컬럼도 선택도에 따라 정렬 생략 여부가 달라졌다</a:t>
            </a:r>
          </a:p>
          <a:p>
            <a:r>
              <a:rPr sz="1800" b="0">
                <a:solidFill>
                  <a:srgbClr val="202830"/>
                </a:solidFill>
                <a:latin typeface="Malgun Gothic"/>
              </a:rPr>
              <a:t>•  오해 1 — '필터를 먼저 쓰지 않으면 손해다'</a:t>
            </a:r>
          </a:p>
          <a:p>
            <a:r>
              <a:rPr sz="1600" b="0">
                <a:solidFill>
                  <a:srgbClr val="5A6672"/>
                </a:solidFill>
                <a:latin typeface="Malgun Gothic"/>
              </a:rPr>
              <a:t>    –  그 필터가 그룹 키에 대한 것이라면 대체로 기우다</a:t>
            </a:r>
          </a:p>
          <a:p>
            <a:r>
              <a:rPr sz="1800" b="0">
                <a:solidFill>
                  <a:srgbClr val="202830"/>
                </a:solidFill>
                <a:latin typeface="Malgun Gothic"/>
              </a:rPr>
              <a:t>•  오해 2 — '인덱스 컬럼으로 정렬하면 정렬이 생략된다'</a:t>
            </a:r>
          </a:p>
          <a:p>
            <a:r>
              <a:rPr sz="1600" b="0">
                <a:solidFill>
                  <a:srgbClr val="5A6672"/>
                </a:solidFill>
                <a:latin typeface="Malgun Gothic"/>
              </a:rPr>
              <a:t>    –  그 인덱스가 접근 경로로 채택되어야 비로소 성립한다</a:t>
            </a:r>
          </a:p>
          <a:p>
            <a:r>
              <a:rPr sz="1800" b="0">
                <a:solidFill>
                  <a:srgbClr val="202830"/>
                </a:solidFill>
                <a:latin typeface="Malgun Gothic"/>
              </a:rPr>
              <a:t>•  오해 3 — '정렬이 없으면 항상 더 싸다'</a:t>
            </a:r>
          </a:p>
          <a:p>
            <a:r>
              <a:rPr sz="1600" b="0">
                <a:solidFill>
                  <a:srgbClr val="5A6672"/>
                </a:solidFill>
                <a:latin typeface="Malgun Gothic"/>
              </a:rPr>
              <a:t>    –  좁은 범위 사례의 Buffers 791 대 731이 반례다</a:t>
            </a:r>
          </a:p>
          <a:p>
            <a:r>
              <a:rPr sz="1800" b="0">
                <a:solidFill>
                  <a:srgbClr val="202830"/>
                </a:solidFill>
                <a:latin typeface="Malgun Gothic"/>
              </a:rPr>
              <a:t>•  오해 4 — 'GROUP BY 결과는 그룹 키 순서로 나온다'</a:t>
            </a:r>
          </a:p>
          <a:p>
            <a:r>
              <a:rPr sz="1600" b="0">
                <a:solidFill>
                  <a:srgbClr val="5A6672"/>
                </a:solidFill>
                <a:latin typeface="Malgun Gothic"/>
              </a:rPr>
              <a:t>    –  HASH GROUP BY는 결과 순서를 보장하지 않는다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조건이 GROUP BY의 그룹 키 자체에 대한 것이면 옵티마이저가 그룹화 이전으로 밀어넣을 수 있다</a:t>
            </a:r>
          </a:p>
          <a:p>
            <a:r>
              <a:rPr sz="1800" b="0">
                <a:solidFill>
                  <a:srgbClr val="202830"/>
                </a:solidFill>
                <a:latin typeface="Malgun Gothic"/>
              </a:rPr>
              <a:t>•  그래서 필터를 SQL의 어디에 썼는지는 대체로 실행계획에 영향을 주지 않았다 — Plan hash value까지 동일</a:t>
            </a:r>
          </a:p>
          <a:p>
            <a:r>
              <a:rPr sz="1800" b="0">
                <a:solidFill>
                  <a:srgbClr val="202830"/>
                </a:solidFill>
                <a:latin typeface="Malgun Gothic"/>
              </a:rPr>
              <a:t>•  HAVING처럼 집계 결과에 거는 조건은 집계가 끝나야 값을 알 수 있어 밀어넣을 수 없다</a:t>
            </a:r>
          </a:p>
          <a:p>
            <a:r>
              <a:rPr sz="1800" b="0">
                <a:solidFill>
                  <a:srgbClr val="202830"/>
                </a:solidFill>
                <a:latin typeface="Malgun Gothic"/>
              </a:rPr>
              <a:t>•  판별 기준 한 문장 — 이 조건을 평가하는 데 집계 결과가 필요한가</a:t>
            </a:r>
          </a:p>
          <a:p>
            <a:r>
              <a:rPr sz="1800" b="0">
                <a:solidFill>
                  <a:srgbClr val="202830"/>
                </a:solidFill>
                <a:latin typeface="Malgun Gothic"/>
              </a:rPr>
              <a:t>•  ORDER BY 대상이 인덱스 컬럼이라는 것만으로는 정렬이 생략되지 않는다</a:t>
            </a:r>
          </a:p>
          <a:p>
            <a:r>
              <a:rPr sz="1800" b="0">
                <a:solidFill>
                  <a:srgbClr val="202830"/>
                </a:solidFill>
                <a:latin typeface="Malgun Gothic"/>
              </a:rPr>
              <a:t>•  정렬 생략의 두 조건 — 인덱스 정렬 기준과 일치할 것, 그 인덱스가 접근 경로로 채택될 것</a:t>
            </a:r>
          </a:p>
          <a:p>
            <a:r>
              <a:rPr sz="1800" b="0">
                <a:solidFill>
                  <a:srgbClr val="202830"/>
                </a:solidFill>
                <a:latin typeface="Malgun Gothic"/>
              </a:rPr>
              <a:t>•  같은 컬럼이라도 선택도에 따라 정렬 생략 여부가 달라진다 (ch05와 연결)</a:t>
            </a:r>
          </a:p>
          <a:p>
            <a:r>
              <a:rPr sz="1800" b="0">
                <a:solidFill>
                  <a:srgbClr val="202830"/>
                </a:solidFill>
                <a:latin typeface="Malgun Gothic"/>
              </a:rPr>
              <a:t>•  HASH GROUP BY는 정렬 순서로 생략되지 않는다 — 방식 변경만 가능한 연산이다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ch12_문제.md</a:t>
            </a:r>
          </a:p>
          <a:p>
            <a:r>
              <a:rPr sz="1600" b="0">
                <a:solidFill>
                  <a:srgbClr val="5A6672"/>
                </a:solidFill>
                <a:latin typeface="Malgun Gothic"/>
              </a:rPr>
              <a:t>    –  1~2번  Q1·Q2의 계획이 동일해진 이유와 Predicate Pushdown 서술</a:t>
            </a:r>
          </a:p>
          <a:p>
            <a:r>
              <a:rPr sz="1600" b="0">
                <a:solidFill>
                  <a:srgbClr val="5A6672"/>
                </a:solidFill>
                <a:latin typeface="Malgun Gothic"/>
              </a:rPr>
              <a:t>    –  3번  ch10 인라인 뷰 사례와의 차이 — 집계 결과 필터와 그룹 키 필터</a:t>
            </a:r>
          </a:p>
          <a:p>
            <a:r>
              <a:rPr sz="1600" b="0">
                <a:solidFill>
                  <a:srgbClr val="5A6672"/>
                </a:solidFill>
                <a:latin typeface="Malgun Gothic"/>
              </a:rPr>
              <a:t>    –  4~5번  넓은 범위와 좁은 범위에서 정렬 생략 여부가 갈린 이유</a:t>
            </a:r>
          </a:p>
          <a:p>
            <a:r>
              <a:rPr sz="1600" b="0">
                <a:solidFill>
                  <a:srgbClr val="5A6672"/>
                </a:solidFill>
                <a:latin typeface="Malgun Gothic"/>
              </a:rPr>
              <a:t>    –  6번  정렬 생략의 정확한 조건 서술</a:t>
            </a:r>
          </a:p>
          <a:p>
            <a:r>
              <a:rPr sz="1600" b="0">
                <a:solidFill>
                  <a:srgbClr val="5A6672"/>
                </a:solidFill>
                <a:latin typeface="Malgun Gothic"/>
              </a:rPr>
              <a:t>    –  7번  Buffers 776과 717의 역전이 시사하는 바</a:t>
            </a:r>
          </a:p>
          <a:p>
            <a:r>
              <a:rPr sz="1600" b="0">
                <a:solidFill>
                  <a:srgbClr val="5A6672"/>
                </a:solidFill>
                <a:latin typeface="Malgun Gothic"/>
              </a:rPr>
              <a:t>    –  8번  HASH GROUP BY가 정렬 순서로 생략될 수 있는 연산인지</a:t>
            </a:r>
          </a:p>
          <a:p>
            <a:r>
              <a:rPr sz="1600" b="0">
                <a:solidFill>
                  <a:srgbClr val="5A6672"/>
                </a:solidFill>
                <a:latin typeface="Malgun Gothic"/>
              </a:rPr>
              <a:t>    –  9번  GROUP BY + ORDER BY 조합에 대한 원칙 적용 추론</a:t>
            </a:r>
          </a:p>
          <a:p>
            <a:r>
              <a:rPr sz="1600" b="0">
                <a:solidFill>
                  <a:srgbClr val="5A6672"/>
                </a:solidFill>
                <a:latin typeface="Malgun Gothic"/>
              </a:rPr>
              <a:t>    –  10번  SQL의 겉모양보다 먼저 확인할 것에 대한 결론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인덱스를 추가로 만들면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
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확장성은 자원을 늘린 만큼 처리 능력이 비례해 늘어나는 성질이다. 워크로드를 두 배로 늘렸을 때 자원도 대략 두 배만 쓰면 확장성이 좋은 것이다. 처리량이 CPU 수에 정확히 비례하는 선형 확장성은 이상적 상태일 뿐 현실에서는 내부 경합 때문에 불가능하다. 그러나 설계와 구현을 최대한 확장 가능하게 만들면 하드웨어 증설과 CPU 발전만으로 현재와 미래의 성능 목표를 달성할 수 있다. 특히 인터넷 시대 애플리케이션은 동시 사용자 수를 예측하기 어렵고 개발·테스트 시간이 짧아 확장성 확보가 더욱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선형 확장을 막는 요소는 여럿이지만 오라클 성능 그룹의 경험상 애플리케이션 설계가 확장성에 가장 큰 영향을 준다. 나쁜 스키마 설계는 확장되지 않는 비싼 SQL을 낳고, 나쁜 트랜잭션 설계는 잠금과 직렬화 문제를, 나쁜 커넥션 관리는 나쁜 응답시간과 불안정을 낳는다. 물리적 구현도 약한 고리가 될 수 있다. 하드웨어와 소프트웨어의 한계도 원인이지만 그것들은 상대적으로 통제하기 쉽다. 통제하기 어려우면서 영향이 큰 것이 설계이므로, 이 장의 나머지는 커넥션과 커서 관리라는 설계 문제를 정량적으로 다룬다.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애플리케이션이 어떤 시스템 자원을 소진해 워크로드를 더 늘려도 처리량이 늘지 않는 지점에 도달하면 그 애플리케이션은 확장 불가라고 한다. 이런 애플리케이션은 처리량이 고정되고 응답시간이 나빠진다. 대량 트랜잭션 중의 전체 스캔이 I/O 부족을 부르거나 과도한 네트워크 요청이 병목을 만드는 것이 자원 고갈의 전형이다. 워크로드 성장 곡선에서 수요는 가속하며 늘어나는데, 설계 오류가 있으면 어느 순간 구현이 최대치에 걸려 하드웨어를 더해도 늘지 않는다. 그 벽은 부하가 닿기 전까지 보이지 않아 잠복한 시한폭탄과 같다.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확장성은 용량 계획과 맞닿아 있다. 사전 예방적 모니터링은 대개 용량 계획의 일부로 자원 소비가 어떻게 늘고 있는지 추적해 언제 한계에 닿을지 예측한다. 그러나 아무리 정교한 용량 계획도 설계가 확장 불가라면 소용이 없다. 자원을 두 배 넣어도 처리량이 두 배가 되지 않는 시스템에서는 용량을 늘리는 것이 문제를 뒤로 미룰 뿐 풀지는 못한다. 그래서 이 장은 용량을 늘리는 법이 아니라 같은 용량으로 더 많은 일을 하는 법, 즉 확장 가능한 설계를 다룬다.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파싱은 SQL 문장을 해석해 실행계획을 만드는 과정으로 문법 검사, 권한 검사, 실행계획 생성, 공유 풀 적재를 포함한다. 하드 파싱은 공유 풀에서 일치를 찾지 못해 모든 작업을 수행하므로 가장 자원을 많이 쓰고 확장성을 가장 해친다. 소프트 파싱은 일치를 찾은 경우로 성능에 낫지만, 여전히 문법·권한 검사로 자원을 쓰므로 이상적이지 않다. 그래서 진정한 목표는 파싱을 최소화해 SQL을 한 번 파싱하고 여러 번 실행하는 것이며, 이는 커서를 열고 재실행하는 것으로 이루어진다.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하드 파싱이 확장성을 특히 심하게 해치는 이유는 직렬화 지점을 만들기 때문이다. 새 커서를 공유 풀에 적재하려면 라이브러리 캐시 래치와 뮤텍스를 획득해야 한다. 사용자가 한둘일 때는 비용이 눈에 띄지 않지만 수백 세션이 동시에 하드 파싱을 시도하면 같은 래치를 두고 경합이 벌어진다. 이 경합은 사용자 수에 선형이 아니라 그보다 가파르게 늘어 개발 땐 빨랐는데 오픈하니 죽는 현상을 만든다. 소프트 파싱조차 라이브러리 캐시를 탐색하며 래치를 잡으므로 목표는 파싱 자체를 없애는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리터럴 방식은 값이 바뀔 때마다 SQL 텍스트가 달라진다. 오라클은 텍스트가 조금이라도 다르면 다른 SQL로 보고 새 SQL_ID를 부여하므로, 값마다 새 커서가 만들어지고 그때마다 하드 파싱이 일어난다. 실습 데이터베이스에서 MEDICAL_CLAIMS를 병원 ID 리터럴로 바꿔 가며 조회한 뒤 V$SQL을 보면, 구조가 같은 SQL인데도 값마다 별도 커서로 갈라져 각 versions가 1인 커서가 수십 개 쌓인 것을 볼 수 있다. 이것이 리터럴이 만드는 커서 폭발이며 공유 풀 낭비와 라이브러리 캐시 래치 경합의 원인이다.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부하를 바인드 변수로 실행하면 결과가 완전히 달라진다. WL_01_parse.sql은 두 방식을 나란히 실행해 하드 파싱을 대조한다. 실측에서 리터럴 300회는 하드 파싱 델타가 300, 바인드 300회는 0이었다. 리터럴은 실행마다 새 커서를 만들어 파싱을 전부 다시 했고, 바인드는 최초 1회 파싱한 커서 하나를 300번 재사용했다. 실행한 일의 양은 두 방식이 같으므로 벌어진 시간 차이가 곧 파싱 비용이다. 라이브러리 캐시 실측에서 SQL AREA의 GETHITRATIO가 53.3%로 낮은 것도 리터럴 부하가 만든 재파싱의 흔적이다.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리터럴이 항상 나쁜 것은 아니다. 값의 종류가 소수로 고정되어 있고 값에 따라 최적 실행계획이 크게 달라지는 편중 컬럼에서는 오히려 리터럴이 값별로 다른 계획을 얻게 해 유리할 수 있다. 진료비청구심사 스키마의 MEDICAL_CLAIMS는 HOSP_ID 1~50에 청구의 절반이 몰려 있는 편중 데이터를 가져 이런 판단이 실제로 문제가 되는 사례다. 그러나 병원 ID를 낱낱이 조회하는 경우처럼 값의 가짓수가 많고 계획이 사실상 같은 술어라면 리터럴은 백해무익하다. 원칙은 실행마다 달라지는 값은 바인드, 실행계획을 좌우하는 소수의 상수는 신중히다.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좋은 해법은 코드를 고쳐 바인드 변수를 쓰는 것이다. 그러나 소스를 손댈 수 없는 패키지 제품이라면 차선책이 CURSOR_SHARING이다. 기본값 EXACT는 텍스트가 정확히 같아야 공유하므로 리터럴은 그대로 하드 파싱된다. FORCE로 바꾸면 오라클이 리터럴을 시스템 생성 바인드 변수로 치환해 리터럴 SQL도 커서를 공유하게 만든다. 다만 FORCE는 히스토그램이 있어 값마다 계획이 달라져야 하는 컬럼에서 나쁜 계획을 고정할 수 있다. 그래서 임시방편일 뿐이며 근본 해법은 바인드 변수를 쓰도록 애플리케이션을 고치는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바인드 변수를 이미 쓰고 있다면 그 위에서 파싱 비용을 한 번 더 줄일 수 있다. 파싱 비용을 줄이는 세 단계는 이렇다. 1단계는 바인드 변수로 하드 파싱을 없애는 것, 2단계는 커서를 재사용해 소프트 파싱을 줄이는 것, 3단계는 SESSION_CACHED_CURSORS로 남은 소프트 파싱마저 캐시하는 것이다. 바인드 변수를 써도 커서를 닫았다가 다시 열면 소프트 파싱이 발생하는데, 이 파라미터가 자주 쓰는 커서를 세션별로 캐시해 그 소프트 파싱을 줄여 준다. session cursor cache hits 통계로 효과를 확인할 수 있으며, 대부분은 애플리케이션의 prepare와 execute 호출 패턴만으로 달성된다.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오라클 성능 튜닝 가이드의 4-CPU OLTP 테스트는 파싱·커넥션 방식별 지원 가능한 사용자 수를 보여 준다. 파싱을 없애면 270명, 소프트 파싱만 해도 150명, 하드 파싱을 하면 60명, 트랜잭션마다 재접속하면 겨우 30명이다. 재접속은 하드 파싱보다도 나빠서 같은 하드웨어의 처리 능력을 9분의 1로 깎는다. 이 차이는 CPU 수가 늘수록 더 벌어진다. 하드웨어를 바꾸지 않고 애플리케이션의 접속·파싱 방식만 바로잡아도 같은 장비로 4배에서 9배 많은 사용자를 받을 수 있다는 것이 설계로 얻는 확장성의 실체다.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해법은 커넥션 풀이다. 애플리케이션 서버가 미리 일정 수의 커넥션을 열어 두고 요청이 오면 빌려주고 끝나면 반납받아 재사용한다. 접속 비용을 요청마다 치르지 않고 기동 시 한 번만 치르는 것이다. 재접속이 특히 무서운 이유는 새 세션이 비어 있어 커서 캐시도 없으므로 접속 비용과 파싱 비용이 겹쳐서 오기 때문이다. 반대로 커넥션을 재사용하면 접속 비용을 아끼는 동시에 그 세션이 캐시한 커서까지 재사용해 파싱 비용도 함께 줄인다. 풀 크기도 설계 대상으로, 너무 작으면 대기가, 너무 크면 자원 낭비가 생긴다.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접속을 반복하는 애플리케이션은 logons cumulative가 요청 수만큼 빠르게 증가한다. 반대로 커넥션을 재사용하는 애플리케이션은 이 값이 초기 풀 크기 수준에서 거의 늘지 않는다. 따라서 짧은 시간에 logons cumulative가 급증한다면 커넥션을 매 요청마다 새로 여는 설계를 의심해야 한다. 실습 3에서는 접속을 반복할 때와 재사용할 때 이 통계의 차이를 직접 관찰한다. 절대값이 아니라 전후 델타로 판단하는 것이 핵심이며, 이는 이 과정 전체가 강조하는 원칙이다.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배열 처리는 결과를 주고받는 비용이다. arraysize는 클라이언트가 결과 행을 한 번에 몇 개씩 가져올지 결정한다. 작으면 서버와 클라이언트를 여러 번 왕복해야 하고 왕복마다 네트워크 지연과 논리 읽기가 발생한다. DML, 특히 INSERT에서 한 건씩 반복하는 것도 같은 문제이며 배열 인터페이스로 여러 행을 한 번에 보내야 한다. PL/SQL의 BULK COLLECT와 FORALL이 같은 원리다. 실제 데이터베이스 호출보다 데이터를 오가게 하는 데 더 많은 자원이 쓰이므로, 데이터 접근 호출은 비즈니스 로직 옆에 두는 것이 전체 트랜잭션 설계에 가장 좋다.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왕복 횟수는 대략 전체 행 수를 arraysize로 나눈 값에 1을 더한 것이다. 10,000행 조회를 예로 들면 arraysize 15에서는 약 667회, 100으로 올리면 약 101회로 6분의 1이 된다. 왕복이 줄면 네트워크 대기뿐 아니라 같은 블록을 여러 왕복에 걸쳐 다시 방문하며 생기던 논리 읽기도 줄어든다. 다만 무한정 키우는 것이 답은 아니다. 값이 크면 클라이언트 페치 버퍼 메모리를 더 쓰고 첫 화면에 몇 행만 필요한 대화형 화면에서는 첫 응답이 늦어질 수 있다. 대량 배치·리포트에는 큰 값이, 첫 몇 행만 빠르게 보여 주는 OLTP 화면에는 작은 값이 맞는다.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4에서는 SQL*Plus의 SET ARRAYSIZE로 값을 바꿔 가며 autotrace의 SQL*Net roundtrips와 consistent gets가 어떻게 달라지는지 관찰한다. arraysize를 15에서 1000으로 올리면 CLAIM_DETAILS처럼 대량 행을 반환하는 조회에서 왕복 횟수가 크게 줄고 논리 읽기도 함께 줄어든다. 주의할 것은 상위 대기가 SQL*Net message from client로 보인다고 곧 네트워크 문제로 단정하지 않는 것이다. arraysize가 작아 왕복을 너무 많이 한 것이 원인일 수 있으며, 이 경우 회선이 아니라 arraysize를 키우는 것이 해법이다. 이 오해 사례는 ch34에서 다시 다룬다.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바인드 변수·커넥션·배열 처리 외에도 확장 가능한 앱을 만드는 규칙이 있다. 자주 접근하되 거의 바뀌지 않는 데이터는 캐시하되 원래 방식보다 확실히 싸야 한다. SELECT SYSDATE FROM DUAL 한 문장이 어떤 DB에서는 워크로드의 60% 이상을 차지하기도 한다. 절차 로직은 C·Java·PL/SQL로, 데이터 접근과 DML은 SQL로 구현한다. 절차 로직을 SQL에 밀어 넣으면 자원을 많이 쓰는 나쁜 SQL이 된다. 참조 무결성은 애플리케이션이 아니라 데이터베이스의 외래 키 제약으로 강제한다. 이는 SQL을 쓰지 않아 빠르고 네트워크 트래픽을 만들지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오늘날 개발의 두 흐름은 Java 확산과 객체지향의 스키마 영향이다. Java는 이식성이 좋지만 인터프리터 언어라 느리고 클라이언트 자원을 더 쓴다. 객체지향은 데이터 접근을 비즈니스 로직과 분리된 클래스로 캡슐화하도록 권장하는데, 그 결과 개발자가 데이터 접근 방식의 효율을 모른 채 메서드를 호출해 최소한의 거친 인터페이스로 접근하기 쉽다. 질의가 WHERE 술어를 다 담지 않고 애플리케이션에서 필터링하거나, 단건 INSERT로 배열 인터페이스를 못 쓰는 것이 대표적이다. 실행 문제 추적을 쉽게 하려면 액션·모듈 이름을 설정해 종단 간 추적에 쓰는 것도 검토한다.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워크로드 추정은 변수가 많아 대단히 어렵다. 검증을 위해 여러 방법을 함께 쓴다. 유사 시스템 외삽은 특성이 비슷하고 성능을 아는 기존 시스템을 기준으로 삼는 경험적 접근이다. 벤치마킹은 자원·시간이 많이 들고 운영과 상관이 낮을 수 있지만 실제 I/O 요구량 파악과 복구 테스트에 유용하며, 본질적으로 모든 컴포넌트를 한계까지 몰아붙여 설계·구현 오류가 드러나게 한다. 애플리케이션 모델링은 정밀한 수학 모델부터 어림 계산까지 있으며 구현상의 비효율은 반영하지 못한다. 그래서 비효율을 위한 여유를 미리 두고 오라클 성능 방법으로 그 비효율을 발견한다.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테스트의 규칙은 문서로 남기면 운영 애플리케이션과 용량 계획에 중요한 자료가 된다. 현실적인 데이터량과 분포로 테스트해야 하며 모든 테스트는 완전히 채워진 테이블에서, 운영과 같은 인덱스와 올바른 통계로 수행한다. 운영에서 쓸 옵티마이저 모드로 테스트하고, 단일 사용자 성능을 먼저 확보한다. 한 사용자조차 만족스럽지 못하면 다중 사용자는 결코 만족스러울 수 없다. 모든 SQL의 실행계획을 확보·문서화하고 DML은 잠금·직렬화 문제가 없는지 테스트하며, 네트워크 지연·I/O 대역폭이 중요하므로 운영에 최대한 가까운 하드웨어로 테스트한다.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애플리케이션 배포 전략은 두 가지가 흔하다. 빅뱅은 모든 사용자를 한 번에 새 시스템으로 옮기는 방식으로 데이터 변환·동기화가 최소인 대신 요구 규모에서의 신뢰할 만한 테스트에 의존한다. 문제가 나면 전체 사용자가 한꺼번에 겪는다. 트리클은 사용자를 조금씩 옮기는 방식으로 확장성 문제를 부하가 늘어나는 동안 디버깅할 수 있고 문제가 나도 소수만 영향을 받지만 기존 시스템과의 데이터 동기화가 필요하다. 어느 쪽이 낫다고 단정하기 어렵고 두 방식 모두 전환 중 중단 위험이 있으므로 테스트에서 얻는 지식이 많을수록 유리하다.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배포 성능 체크리스트의 핵심 항목은 이 장에서 배운 원칙과 직결된다. SQL이 커서를 효율적으로 쓰는지, 즉 각 SQL을 한 번 파싱하고 여러 번 실행하는지 검증하는 것이 대표적이며 안 되는 가장 흔한 이유가 바인드 변수 미사용과 리터럴 술어다. 데이터베이스에 접속하는 미들웨어가 반복 로그온·로그오프하지 않는지, 개발 환경의 스키마 객체와 통계가 운영으로 올바르게 이관되었는지 확인한다. 배포 직후 데이터베이스와 OS의 기준선 통계를 확보하면 설계·배포의 가정을 검증하거나 교정할 수 있다. 첫 병목은 반드시 오므로 그것을 예상하고 오라클 성능 방법을 따른다.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r>
              <a:rPr sz="3400" b="1">
                <a:solidFill>
                  <a:srgbClr val="C0392B"/>
                </a:solidFill>
                <a:latin typeface="맑은 고딕"/>
              </a:rPr>
              <a:t>성능을 고려한 설계와 개발</a:t>
            </a:r>
          </a:p>
          <a:p>
            <a:pPr algn="l"/>
            <a:r>
              <a:rPr sz="2000" b="0">
                <a:solidFill>
                  <a:srgbClr val="5A6672"/>
                </a:solidFill>
                <a:latin typeface="맑은 고딕"/>
              </a:rPr>
              <a:t>Designing and Developing for Performance — 성능은 설계에서 결정된다</a:t>
            </a:r>
          </a:p>
        </p:txBody>
      </p:sp>
      <p:sp>
        <p:nvSpPr>
          <p:cNvPr id="7" name="TextBox 6"/>
          <p:cNvSpPr txBox="1"/>
          <p:nvPr/>
        </p:nvSpPr>
        <p:spPr>
          <a:xfrm>
            <a:off x="731520" y="4114800"/>
            <a:ext cx="10698480" cy="1097280"/>
          </a:xfrm>
          <a:prstGeom prst="rect">
            <a:avLst/>
          </a:prstGeom>
          <a:noFill/>
        </p:spPr>
        <p:txBody>
          <a:bodyPr wrap="square">
            <a:spAutoFit/>
          </a:bodyPr>
          <a:lstStyle/>
          <a:p>
            <a:pPr algn="l"/>
            <a:r>
              <a:rPr sz="1500" b="0">
                <a:solidFill>
                  <a:srgbClr val="5A6672"/>
                </a:solidFill>
                <a:latin typeface="맑은 고딕"/>
              </a:rPr>
              <a:t>확장성 · 바인드 변수와 커서 공유 · 커넥션 비용 · 배열 처리 · 배포 전 워크로드 테스트</a:t>
            </a:r>
          </a:p>
        </p:txBody>
      </p:sp>
      <p:sp>
        <p:nvSpPr>
          <p:cNvPr id="8" name="TextBox 7"/>
          <p:cNvSpPr txBox="1"/>
          <p:nvPr/>
        </p:nvSpPr>
        <p:spPr>
          <a:xfrm>
            <a:off x="731520" y="5577840"/>
            <a:ext cx="10698480" cy="914400"/>
          </a:xfrm>
          <a:prstGeom prst="rect">
            <a:avLst/>
          </a:prstGeom>
          <a:noFill/>
        </p:spPr>
        <p:txBody>
          <a:bodyPr wrap="square">
            <a:spAutoFit/>
          </a:bodyPr>
          <a:lstStyle/>
          <a:p>
            <a:pPr algn="l"/>
            <a:r>
              <a:rPr sz="2000" b="1">
                <a:solidFill>
                  <a:srgbClr val="C0392B"/>
                </a:solidFill>
                <a:latin typeface="맑은 고딕"/>
              </a:rPr>
              <a:t>ch16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rPr>
              <a:t>•  확장성을 정의하고 확장성을 저해하는 요소를 애플리케이션 설계 관점에서 설명한다.</a:t>
            </a:r>
          </a:p>
          <a:p>
            <a:pPr algn="l"/>
            <a:r>
              <a:rPr sz="1600" b="0">
                <a:solidFill>
                  <a:srgbClr val="222222"/>
                </a:solidFill>
                <a:latin typeface="맑은 고딕"/>
              </a:rPr>
              <a:t>•  하드 파싱과 소프트 파싱의 차이를 알고, 리터럴 SQL이 왜 하드 파싱을 유발하는지 이해한다.</a:t>
            </a:r>
          </a:p>
          <a:p>
            <a:pPr algn="l"/>
            <a:r>
              <a:rPr sz="1600" b="0">
                <a:solidFill>
                  <a:srgbClr val="222222"/>
                </a:solidFill>
                <a:latin typeface="맑은 고딕"/>
              </a:rPr>
              <a:t>•  바인드 변수로 커서를 공유하는 원리를 실측(리터럴 300 → 300 / 바인드 300 → 0)으로 확인한다.</a:t>
            </a:r>
          </a:p>
          <a:p>
            <a:pPr algn="l"/>
            <a:r>
              <a:rPr sz="1600" b="0">
                <a:solidFill>
                  <a:srgbClr val="222222"/>
                </a:solidFill>
                <a:latin typeface="맑은 고딕"/>
              </a:rPr>
              <a:t>•  CURSOR_SHARING(EXACT/FORCE)의 동작과 부작용을 설명한다.</a:t>
            </a:r>
          </a:p>
          <a:p>
            <a:pPr algn="l"/>
            <a:r>
              <a:rPr sz="1600" b="0">
                <a:solidFill>
                  <a:srgbClr val="222222"/>
                </a:solidFill>
                <a:latin typeface="맑은 고딕"/>
              </a:rPr>
              <a:t>•  커넥션을 매 요청마다 여는 비용을 이해하고 커넥션 풀링의 필요성을 안다.</a:t>
            </a:r>
          </a:p>
          <a:p>
            <a:pPr algn="l"/>
            <a:r>
              <a:rPr sz="1600" b="0">
                <a:solidFill>
                  <a:srgbClr val="222222"/>
                </a:solidFill>
                <a:latin typeface="맑은 고딕"/>
              </a:rPr>
              <a:t>•  arraysize가 왕복과 논리 읽기에 미치는 영향을 계산으로 설명한다.</a:t>
            </a:r>
          </a:p>
          <a:p>
            <a:pPr algn="l"/>
            <a:r>
              <a:rPr sz="1600" b="0">
                <a:solidFill>
                  <a:srgbClr val="222222"/>
                </a:solidFill>
                <a:latin typeface="맑은 고딕"/>
              </a:rPr>
              <a:t>•  배포 전 워크로드 테스트의 규칙과 배포 전략(Big Bang·Trickle)을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rPr>
              <a:t>•  2.2  확장성 — 무엇이 시스템을 못 늘어나게 하는가</a:t>
            </a:r>
          </a:p>
          <a:p>
            <a:pPr algn="l"/>
            <a:r>
              <a:rPr sz="1600" b="0">
                <a:solidFill>
                  <a:srgbClr val="222222"/>
                </a:solidFill>
                <a:latin typeface="맑은 고딕"/>
              </a:rPr>
              <a:t>•  2.3  바인드 변수와 커서 공유 — 하드 파싱 비용 (이 장의 핵심)</a:t>
            </a:r>
          </a:p>
          <a:p>
            <a:pPr algn="l"/>
            <a:r>
              <a:rPr sz="1600" b="0">
                <a:solidFill>
                  <a:srgbClr val="222222"/>
                </a:solidFill>
                <a:latin typeface="맑은 고딕"/>
              </a:rPr>
              <a:t>•  2.4  커넥션 획득 비용 — 접속은 비싸다</a:t>
            </a:r>
          </a:p>
          <a:p>
            <a:pPr algn="l"/>
            <a:r>
              <a:rPr sz="1600" b="0">
                <a:solidFill>
                  <a:srgbClr val="222222"/>
                </a:solidFill>
                <a:latin typeface="맑은 고딕"/>
              </a:rPr>
              <a:t>•  2.5  배열 처리와 왕복 횟수 — arraysize</a:t>
            </a:r>
          </a:p>
          <a:p>
            <a:pPr algn="l"/>
            <a:r>
              <a:rPr sz="1600" b="0">
                <a:solidFill>
                  <a:srgbClr val="222222"/>
                </a:solidFill>
                <a:latin typeface="맑은 고딕"/>
              </a:rPr>
              <a:t>•  2.6  그 밖의 애플리케이션 설계 원칙</a:t>
            </a:r>
          </a:p>
          <a:p>
            <a:pPr algn="l"/>
            <a:r>
              <a:rPr sz="1600" b="0">
                <a:solidFill>
                  <a:srgbClr val="222222"/>
                </a:solidFill>
                <a:latin typeface="맑은 고딕"/>
              </a:rPr>
              <a:t>•  2.7  배포 전 워크로드 테스트</a:t>
            </a:r>
          </a:p>
          <a:p>
            <a:pPr algn="l"/>
            <a:r>
              <a:rPr sz="1600" b="0">
                <a:solidFill>
                  <a:srgbClr val="222222"/>
                </a:solidFill>
                <a:latin typeface="맑은 고딕"/>
              </a:rPr>
              <a:t>•  요약 · 퀴즈 ·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rPr>
              <a:t>2.2</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rPr>
              <a:t>확장성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rPr>
              <a:t>•  확장성의 정의 — 자원을 늘린 만큼 처리 능력이 비례해 느는 성질</a:t>
            </a:r>
          </a:p>
          <a:p>
            <a:pPr algn="l"/>
            <a:r>
              <a:rPr sz="1600" b="0">
                <a:solidFill>
                  <a:srgbClr val="FFFFFF"/>
                </a:solidFill>
                <a:latin typeface="맑은 고딕"/>
              </a:rPr>
              <a:t>•  확장성을 떨어뜨리는 요소 — 애플리케이션 설계의 영향이 가장 크다</a:t>
            </a:r>
          </a:p>
          <a:p>
            <a:pPr algn="l"/>
            <a:r>
              <a:rPr sz="1600" b="0">
                <a:solidFill>
                  <a:srgbClr val="FFFFFF"/>
                </a:solidFill>
                <a:latin typeface="맑은 고딕"/>
              </a:rPr>
              <a:t>•  자원 경합과 확장 불가 애플리케이션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확장성이란 무엇인가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Scalability</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확장성 = 자원 사용을 비례적으로 늘리며 더 많은 워크로드를 처리하는 능력</a:t>
            </a:r>
          </a:p>
          <a:p>
            <a:pPr algn="l"/>
            <a:r>
              <a:rPr sz="1700" b="0">
                <a:solidFill>
                  <a:srgbClr val="222222"/>
                </a:solidFill>
                <a:latin typeface="맑은 고딕"/>
              </a:rPr>
              <a:t>•  이상적 상태 = 선형 확장성(처리량이 CPU 수에 비례). 현실에선 불가능</a:t>
            </a:r>
          </a:p>
          <a:p>
            <a:pPr algn="l"/>
            <a:r>
              <a:rPr sz="1700" b="0">
                <a:solidFill>
                  <a:srgbClr val="222222"/>
                </a:solidFill>
                <a:latin typeface="맑은 고딕"/>
              </a:rPr>
              <a:t>•  목표는 설계를 최대한 확장 가능하게 만들어 증설만으로 목표를 달성하는 것</a:t>
            </a:r>
          </a:p>
          <a:p>
            <a:pPr algn="l"/>
            <a:r>
              <a:rPr sz="1700" b="0">
                <a:solidFill>
                  <a:srgbClr val="222222"/>
                </a:solidFill>
                <a:latin typeface="맑은 고딕"/>
              </a:rPr>
              <a:t>•  인터넷 시대 앱: 24/365 가용, 동시 사용자 예측 불가, 짧은 개발·테스트 시간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확장성을 떨어뜨리는 요소</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애플리케이션 설계의 영향이 가장 크다</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나쁜 스키마 설계 → 확장되지 않는 비싼 SQL</a:t>
            </a:r>
          </a:p>
          <a:p>
            <a:pPr algn="l"/>
            <a:r>
              <a:rPr sz="1700" b="0">
                <a:solidFill>
                  <a:srgbClr val="222222"/>
                </a:solidFill>
                <a:latin typeface="맑은 고딕"/>
              </a:rPr>
              <a:t>•  나쁜 트랜잭션 설계 → 잠금·직렬화 문제</a:t>
            </a:r>
          </a:p>
          <a:p>
            <a:pPr algn="l"/>
            <a:r>
              <a:rPr sz="1700" b="0">
                <a:solidFill>
                  <a:srgbClr val="222222"/>
                </a:solidFill>
                <a:latin typeface="맑은 고딕"/>
              </a:rPr>
              <a:t>•  나쁜 커넥션 관리 → 나쁜 응답시간·불안정</a:t>
            </a:r>
          </a:p>
          <a:p>
            <a:pPr algn="l"/>
            <a:r>
              <a:rPr sz="1700" b="0">
                <a:solidFill>
                  <a:srgbClr val="222222"/>
                </a:solidFill>
                <a:latin typeface="맑은 고딕"/>
              </a:rPr>
              <a:t>•  물리 구현: 나쁜 I/O 전략, 테스트와 다른 실행계획, 과도한 메모리 사용</a:t>
            </a:r>
          </a:p>
          <a:p>
            <a:pPr algn="l"/>
            <a:r>
              <a:rPr sz="1700" b="0">
                <a:solidFill>
                  <a:srgbClr val="222222"/>
                </a:solidFill>
                <a:latin typeface="맑은 고딕"/>
              </a:rPr>
              <a:t>•  하드웨어·소프트웨어 한계도 있지만 통제하기 쉬움 → 설계가 관건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확장 불가 애플리케이션</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자원 경합과 자원 고갈</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확장 불가 = 자원을 소진해 워크로드를 늘려도 처리량이 안 느는 지점 도달</a:t>
            </a:r>
          </a:p>
          <a:p>
            <a:pPr algn="l"/>
            <a:r>
              <a:rPr sz="1700" b="0">
                <a:solidFill>
                  <a:srgbClr val="222222"/>
                </a:solidFill>
                <a:latin typeface="맑은 고딕"/>
              </a:rPr>
              <a:t>•  증상: 처리량 고정 + 응답시간 악화</a:t>
            </a:r>
          </a:p>
          <a:p>
            <a:pPr algn="l"/>
            <a:r>
              <a:rPr sz="1700" b="0">
                <a:solidFill>
                  <a:srgbClr val="222222"/>
                </a:solidFill>
                <a:latin typeface="맑은 고딕"/>
              </a:rPr>
              <a:t>•  자원 고갈 예: 대량 트랜잭션의 전체 스캔 → I/O 부족, 과도한 네트워크 요청</a:t>
            </a:r>
          </a:p>
          <a:p>
            <a:pPr algn="l"/>
            <a:r>
              <a:rPr sz="1700" b="0">
                <a:solidFill>
                  <a:srgbClr val="222222"/>
                </a:solidFill>
                <a:latin typeface="맑은 고딕"/>
              </a:rPr>
              <a:t>•  워크로드 성장 곡선: 수요는 가속하며 증가 → 설계 결함은 어느 벽에서 폭발</a:t>
            </a:r>
          </a:p>
          <a:p>
            <a:pPr algn="l"/>
            <a:r>
              <a:rPr sz="1700" b="0">
                <a:solidFill>
                  <a:srgbClr val="222222"/>
                </a:solidFill>
                <a:latin typeface="맑은 고딕"/>
              </a:rPr>
              <a:t>•  부하가 그 지점에 닿기 전엔 보이지 않는다 = 잠복한 시한폭탄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확장성과 용량 계획</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튜닝의 배경</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사전 예방적 모니터링은 대개 용량 계획의 일부</a:t>
            </a:r>
          </a:p>
          <a:p>
            <a:pPr algn="l"/>
            <a:r>
              <a:rPr sz="1700" b="0">
                <a:solidFill>
                  <a:srgbClr val="222222"/>
                </a:solidFill>
                <a:latin typeface="맑은 고딕"/>
              </a:rPr>
              <a:t>•  자원 소비 추이를 추적해 언제 한계에 닿을지 예측</a:t>
            </a:r>
          </a:p>
          <a:p>
            <a:pPr algn="l"/>
            <a:r>
              <a:rPr sz="1700" b="0">
                <a:solidFill>
                  <a:srgbClr val="222222"/>
                </a:solidFill>
                <a:latin typeface="맑은 고딕"/>
              </a:rPr>
              <a:t>•  그러나 설계가 확장 불가면 용량 계획도 소용없다</a:t>
            </a:r>
          </a:p>
          <a:p>
            <a:pPr algn="l"/>
            <a:r>
              <a:rPr sz="1700" b="0">
                <a:solidFill>
                  <a:srgbClr val="222222"/>
                </a:solidFill>
                <a:latin typeface="맑은 고딕"/>
              </a:rPr>
              <a:t>•  자원 2배 넣어도 처리량 2배가 아니면 = 문제를 미룰 뿐</a:t>
            </a:r>
          </a:p>
          <a:p>
            <a:pPr algn="l"/>
            <a:r>
              <a:rPr sz="1700" b="0">
                <a:solidFill>
                  <a:srgbClr val="222222"/>
                </a:solidFill>
                <a:latin typeface="맑은 고딕"/>
              </a:rPr>
              <a:t>•  이 장의 초점: 용량을 늘리는 법이 아니라 같은 용량으로 더 하는 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rPr>
              <a:t>2.3</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rPr>
              <a:t>바인드 변수와 커서 공유</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rPr>
              <a:t>•  하드 파싱과 소프트 파싱 — 파싱은 비싸다</a:t>
            </a:r>
          </a:p>
          <a:p>
            <a:pPr algn="l"/>
            <a:r>
              <a:rPr sz="1600" b="0">
                <a:solidFill>
                  <a:srgbClr val="FFFFFF"/>
                </a:solidFill>
                <a:latin typeface="맑은 고딕"/>
              </a:rPr>
              <a:t>•  리터럴 SQL이 만드는 커서 폭발</a:t>
            </a:r>
          </a:p>
          <a:p>
            <a:pPr algn="l"/>
            <a:r>
              <a:rPr sz="1600" b="0">
                <a:solidFill>
                  <a:srgbClr val="FFFFFF"/>
                </a:solidFill>
                <a:latin typeface="맑은 고딕"/>
              </a:rPr>
              <a:t>•  바인드 변수로 커서 공유 — 리터럴 300 vs 바인드 0 (실측)</a:t>
            </a:r>
          </a:p>
          <a:p>
            <a:pPr algn="l"/>
            <a:r>
              <a:rPr sz="1600" b="0">
                <a:solidFill>
                  <a:srgbClr val="FFFFFF"/>
                </a:solidFill>
                <a:latin typeface="맑은 고딕"/>
              </a:rPr>
              <a:t>•  CURSOR_SHARING — 코드를 못 고칠 때의 차선책</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파싱이란 무엇인가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하드 파싱 vs 소프트 파싱</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파싱 = SQL을 해석해 실행계획을 만드는 과정(문법·권한·계획·공유 풀 적재)</a:t>
            </a:r>
          </a:p>
          <a:p>
            <a:pPr algn="l"/>
            <a:r>
              <a:rPr sz="1700" b="0">
                <a:solidFill>
                  <a:srgbClr val="222222"/>
                </a:solidFill>
                <a:latin typeface="맑은 고딕"/>
              </a:rPr>
              <a:t>•  하드 파싱: 공유 풀에 일치가 없어 모든 작업 수행 → 가장 비싸고 확장성 저해</a:t>
            </a:r>
          </a:p>
          <a:p>
            <a:pPr algn="l"/>
            <a:r>
              <a:rPr sz="1700" b="0">
                <a:solidFill>
                  <a:srgbClr val="222222"/>
                </a:solidFill>
                <a:latin typeface="맑은 고딕"/>
              </a:rPr>
              <a:t>•  소프트 파싱: 공유 풀에 일치가 있음 → 낫지만 문법·권한 검사로 자원 소모</a:t>
            </a:r>
          </a:p>
          <a:p>
            <a:pPr algn="l"/>
            <a:r>
              <a:rPr sz="1700" b="0">
                <a:solidFill>
                  <a:srgbClr val="222222"/>
                </a:solidFill>
                <a:latin typeface="맑은 고딕"/>
              </a:rPr>
              <a:t>•  목표: 한 번 파싱하고 여러 번 실행(커서 재사용)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하드 파싱이 확장성을 해치는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직렬화 지점을 만든다</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하드 파싱은 라이브러리 캐시 래치·뮤텍스를 획득해야 함</a:t>
            </a:r>
          </a:p>
          <a:p>
            <a:pPr algn="l"/>
            <a:r>
              <a:rPr sz="1700" b="0">
                <a:solidFill>
                  <a:srgbClr val="222222"/>
                </a:solidFill>
                <a:latin typeface="맑은 고딕"/>
              </a:rPr>
              <a:t>•  사용자 1~2명: 비용 안 보임 / 수백 세션 동시: 같은 래치 경합</a:t>
            </a:r>
          </a:p>
          <a:p>
            <a:pPr algn="l"/>
            <a:r>
              <a:rPr sz="1700" b="0">
                <a:solidFill>
                  <a:srgbClr val="222222"/>
                </a:solidFill>
                <a:latin typeface="맑은 고딕"/>
              </a:rPr>
              <a:t>•  경합은 사용자 수에 선형이 아니라 더 가파르게 증가</a:t>
            </a:r>
          </a:p>
          <a:p>
            <a:pPr algn="l"/>
            <a:r>
              <a:rPr sz="1700" b="0">
                <a:solidFill>
                  <a:srgbClr val="222222"/>
                </a:solidFill>
                <a:latin typeface="맑은 고딕"/>
              </a:rPr>
              <a:t>•  → '개발 땐 빨랐는데 오픈하니 죽는' 현상의 원인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리터럴 SQL이 만드는 커서 폭발</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V$SQL — 값마다 커서가 갈라진다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rPr>
              <a:t>SQLT@orcl&gt; SELECT sql_text, COUNT(*) versions</a:t>
            </a:r>
          </a:p>
          <a:p>
            <a:pPr algn="l"/>
            <a:r>
              <a:rPr sz="1250">
                <a:solidFill>
                  <a:srgbClr val="F2F2F2"/>
                </a:solidFill>
                <a:latin typeface="Consolas"/>
              </a:rPr>
              <a:t>  2         FROM v$sql</a:t>
            </a:r>
          </a:p>
          <a:p>
            <a:pPr algn="l"/>
            <a:r>
              <a:rPr sz="1250">
                <a:solidFill>
                  <a:srgbClr val="F2F2F2"/>
                </a:solidFill>
                <a:latin typeface="Consolas"/>
              </a:rPr>
              <a:t>  3        WHERE sql_text LIKE</a:t>
            </a:r>
          </a:p>
          <a:p>
            <a:pPr algn="l"/>
            <a:r>
              <a:rPr sz="1250">
                <a:solidFill>
                  <a:srgbClr val="F2F2F2"/>
                </a:solidFill>
                <a:latin typeface="Consolas"/>
              </a:rPr>
              <a:t>  4              'select count(*) from medical_claims where hosp_id =%'</a:t>
            </a:r>
          </a:p>
          <a:p>
            <a:pPr algn="l"/>
            <a:r>
              <a:rPr sz="1250">
                <a:solidFill>
                  <a:srgbClr val="F2F2F2"/>
                </a:solidFill>
                <a:latin typeface="Consolas"/>
              </a:rPr>
              <a:t>  5        GROUP BY sql_text ORDER BY sql_text;</a:t>
            </a:r>
          </a:p>
          <a:p>
            <a:pPr algn="l"/>
            <a:r>
              <a:rPr sz="1250">
                <a:solidFill>
                  <a:srgbClr val="F2F2F2"/>
                </a:solidFill>
                <a:latin typeface="Consolas"/>
              </a:rPr>
              <a:t> </a:t>
            </a:r>
          </a:p>
          <a:p>
            <a:pPr algn="l"/>
            <a:r>
              <a:rPr sz="1250">
                <a:solidFill>
                  <a:srgbClr val="F2F2F2"/>
                </a:solidFill>
                <a:latin typeface="Consolas"/>
              </a:rPr>
              <a:t>SQL_TEXT                                                   VERSIONS</a:t>
            </a:r>
          </a:p>
          <a:p>
            <a:pPr algn="l"/>
            <a:r>
              <a:rPr sz="1250">
                <a:solidFill>
                  <a:srgbClr val="F2F2F2"/>
                </a:solidFill>
                <a:latin typeface="Consolas"/>
              </a:rPr>
              <a:t>-------------------------------------------------------- ---------</a:t>
            </a:r>
          </a:p>
          <a:p>
            <a:pPr algn="l"/>
            <a:r>
              <a:rPr sz="1250">
                <a:solidFill>
                  <a:srgbClr val="F2F2F2"/>
                </a:solidFill>
                <a:latin typeface="Consolas"/>
              </a:rPr>
              <a:t>select count(*) from medical_claims where hosp_id = 90024         1</a:t>
            </a:r>
          </a:p>
          <a:p>
            <a:pPr algn="l"/>
            <a:r>
              <a:rPr sz="1250">
                <a:solidFill>
                  <a:srgbClr val="F2F2F2"/>
                </a:solidFill>
                <a:latin typeface="Consolas"/>
              </a:rPr>
              <a:t>select count(*) from medical_claims where hosp_id = 90036         1</a:t>
            </a:r>
          </a:p>
          <a:p>
            <a:pPr algn="l"/>
            <a:r>
              <a:rPr sz="1250">
                <a:solidFill>
                  <a:srgbClr val="F2F2F2"/>
                </a:solidFill>
                <a:latin typeface="Consolas"/>
              </a:rPr>
              <a:t>select count(*) from medical_claims where hosp_id = 90037         1</a:t>
            </a:r>
          </a:p>
          <a:p>
            <a:pPr algn="l"/>
            <a:r>
              <a:rPr sz="1250">
                <a:solidFill>
                  <a:srgbClr val="F2F2F2"/>
                </a:solidFill>
                <a:latin typeface="Consolas"/>
              </a:rPr>
              <a:t>...  (병원 ID마다 별도 커서로 갈라져 30여 개가 쌓였다)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바인드 변수로 커서를 공유한다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리터럴 300 vs 바인드 0 (실측, orcl 19.3)</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리터럴 SQL 300회 실행 → 하드 파싱 델타 = 300, 커서 300개</a:t>
            </a:r>
          </a:p>
          <a:p>
            <a:pPr algn="l"/>
            <a:r>
              <a:rPr sz="1700" b="0">
                <a:solidFill>
                  <a:srgbClr val="222222"/>
                </a:solidFill>
                <a:latin typeface="맑은 고딕"/>
              </a:rPr>
              <a:t>•  바인드 변수 300회 실행 → 하드 파싱 델타 = 0, 커서 1개(재사용)</a:t>
            </a:r>
          </a:p>
          <a:p>
            <a:pPr algn="l"/>
            <a:r>
              <a:rPr sz="1700" b="0">
                <a:solidFill>
                  <a:srgbClr val="222222"/>
                </a:solidFill>
                <a:latin typeface="맑은 고딕"/>
              </a:rPr>
              <a:t>•  실행한 일의 양(execute count)은 두 방식이 같다</a:t>
            </a:r>
          </a:p>
          <a:p>
            <a:pPr algn="l"/>
            <a:r>
              <a:rPr sz="1700" b="0">
                <a:solidFill>
                  <a:srgbClr val="222222"/>
                </a:solidFill>
                <a:latin typeface="맑은 고딕"/>
              </a:rPr>
              <a:t>•  → 벌어진 시간 차이 = 파싱 비용</a:t>
            </a:r>
          </a:p>
          <a:p>
            <a:pPr algn="l"/>
            <a:r>
              <a:rPr sz="1700" b="0">
                <a:solidFill>
                  <a:srgbClr val="222222"/>
                </a:solidFill>
                <a:latin typeface="맑은 고딕"/>
              </a:rPr>
              <a:t>•  V$LIBRARYCACHE(SQL AREA) GETHITRATIO 실측 53.3% = 재파싱의 흔적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리터럴이 항상 나쁜 건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편중 데이터에서의 예외</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값 종류가 소수로 고정 + 값에 따라 최적 계획이 크게 달라지는 컬럼</a:t>
            </a:r>
          </a:p>
          <a:p>
            <a:pPr algn="l"/>
            <a:r>
              <a:rPr sz="1700" b="0">
                <a:solidFill>
                  <a:srgbClr val="222222"/>
                </a:solidFill>
                <a:latin typeface="맑은 고딕"/>
              </a:rPr>
              <a:t>•  예: MEDICAL_CLAIMS는 HOSP_ID 1~50에 청구 절반 집중(스큐)</a:t>
            </a:r>
          </a:p>
          <a:p>
            <a:pPr algn="l"/>
            <a:r>
              <a:rPr sz="1700" b="0">
                <a:solidFill>
                  <a:srgbClr val="222222"/>
                </a:solidFill>
                <a:latin typeface="맑은 고딕"/>
              </a:rPr>
              <a:t>•  이런 편중 컬럼은 리터럴이 값별 다른 계획을 얻어 유리할 수 있음</a:t>
            </a:r>
          </a:p>
          <a:p>
            <a:pPr algn="l"/>
            <a:r>
              <a:rPr sz="1700" b="0">
                <a:solidFill>
                  <a:srgbClr val="222222"/>
                </a:solidFill>
                <a:latin typeface="맑은 고딕"/>
              </a:rPr>
              <a:t>•  그러나 값 가짓수가 많고 계획이 같은 술어면 리터럴은 백해무익</a:t>
            </a:r>
          </a:p>
          <a:p>
            <a:pPr algn="l"/>
            <a:r>
              <a:rPr sz="1700" b="0">
                <a:solidFill>
                  <a:srgbClr val="222222"/>
                </a:solidFill>
                <a:latin typeface="맑은 고딕"/>
              </a:rPr>
              <a:t>•  원칙: 실행마다 달라지는 값은 바인드, 계획 좌우 상수는 신중히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CURSOR_SHARING — 차선책</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코드를 못 고칠 때만</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rPr>
              <a:t>SQLT@orcl&gt; -- 기본값 EXACT: 텍스트가 정확히 같아야 커서 공유</a:t>
            </a:r>
          </a:p>
          <a:p>
            <a:pPr algn="l"/>
            <a:r>
              <a:rPr sz="1250">
                <a:solidFill>
                  <a:srgbClr val="F2F2F2"/>
                </a:solidFill>
                <a:latin typeface="Consolas"/>
              </a:rPr>
              <a:t>SQLT@orcl&gt; --            → 리터럴은 그대로 하드 파싱</a:t>
            </a:r>
          </a:p>
          <a:p>
            <a:pPr algn="l"/>
            <a:r>
              <a:rPr sz="1250">
                <a:solidFill>
                  <a:srgbClr val="F2F2F2"/>
                </a:solidFill>
                <a:latin typeface="Consolas"/>
              </a:rPr>
              <a:t>SQLT@orcl&gt; ALTER SESSION SET CURSOR_SHARING = FORCE;</a:t>
            </a:r>
          </a:p>
          <a:p>
            <a:pPr algn="l"/>
            <a:r>
              <a:rPr sz="1250">
                <a:solidFill>
                  <a:srgbClr val="F2F2F2"/>
                </a:solidFill>
                <a:latin typeface="Consolas"/>
              </a:rPr>
              <a:t>SQLT@orcl&gt; -- 리터럴을 :"SYS_B_0" 형태로 치환 → 커서 공유</a:t>
            </a:r>
          </a:p>
          <a:p>
            <a:pPr algn="l"/>
            <a:r>
              <a:rPr sz="1250">
                <a:solidFill>
                  <a:srgbClr val="F2F2F2"/>
                </a:solidFill>
                <a:latin typeface="Consolas"/>
              </a:rPr>
              <a:t>SQLT@orcl&gt; ALTER SESSION SET CURSOR_SHARING = EXACT;   -- 원복</a:t>
            </a:r>
          </a:p>
          <a:p>
            <a:pPr algn="l"/>
            <a:r>
              <a:rPr sz="1250">
                <a:solidFill>
                  <a:srgbClr val="F2F2F2"/>
                </a:solidFill>
                <a:latin typeface="Consolas"/>
              </a:rPr>
              <a:t> </a:t>
            </a:r>
          </a:p>
          <a:p>
            <a:pPr algn="l"/>
            <a:r>
              <a:rPr sz="1250">
                <a:solidFill>
                  <a:srgbClr val="F2F2F2"/>
                </a:solidFill>
                <a:latin typeface="Consolas"/>
              </a:rPr>
              <a:t>-- 주의: 히스토그램 컬럼에서 나쁜 계획이 고정될 수 있음</a:t>
            </a:r>
          </a:p>
          <a:p>
            <a:pPr algn="l"/>
            <a:r>
              <a:rPr sz="1250">
                <a:solidFill>
                  <a:srgbClr val="F2F2F2"/>
                </a:solidFill>
                <a:latin typeface="Consolas"/>
              </a:rPr>
              <a:t>-- 근본 해법은 바인드 변수를 쓰도록 코드를 고치는 것</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파싱을 줄이는 세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바인드 위에 한 겹 더</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1단계: 바인드 변수로 하드 파싱을 없앤다</a:t>
            </a:r>
          </a:p>
          <a:p>
            <a:pPr algn="l"/>
            <a:r>
              <a:rPr sz="1700" b="0">
                <a:solidFill>
                  <a:srgbClr val="222222"/>
                </a:solidFill>
                <a:latin typeface="맑은 고딕"/>
              </a:rPr>
              <a:t>•  2단계: 커서를 재사용해 소프트 파싱을 줄인다(닫았다 다시 열지 않기)</a:t>
            </a:r>
          </a:p>
          <a:p>
            <a:pPr algn="l"/>
            <a:r>
              <a:rPr sz="1700" b="0">
                <a:solidFill>
                  <a:srgbClr val="222222"/>
                </a:solidFill>
                <a:latin typeface="맑은 고딕"/>
              </a:rPr>
              <a:t>•  3단계: SESSION_CACHED_CURSORS로 남은 소프트 파싱을 캐시(soft soft parse)</a:t>
            </a:r>
          </a:p>
          <a:p>
            <a:pPr algn="l"/>
            <a:r>
              <a:rPr sz="1700" b="0">
                <a:solidFill>
                  <a:srgbClr val="222222"/>
                </a:solidFill>
                <a:latin typeface="맑은 고딕"/>
              </a:rPr>
              <a:t>•  session cursor cache hits 통계로 3단계 효과 확인</a:t>
            </a:r>
          </a:p>
          <a:p>
            <a:pPr algn="l"/>
            <a:r>
              <a:rPr sz="1700" b="0">
                <a:solidFill>
                  <a:srgbClr val="222222"/>
                </a:solidFill>
                <a:latin typeface="맑은 고딕"/>
              </a:rPr>
              <a:t>•  대부분은 애플리케이션의 prepare/execute 패턴만으로 달성</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rPr>
              <a:t>2.4</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rPr>
              <a:t>커넥션 획득 비용</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rPr>
              <a:t>•  접속은 비싸다 — 프로세스 생성·메모리·인증·초기화</a:t>
            </a:r>
          </a:p>
          <a:p>
            <a:pPr algn="l"/>
            <a:r>
              <a:rPr sz="1600" b="0">
                <a:solidFill>
                  <a:srgbClr val="FFFFFF"/>
                </a:solidFill>
                <a:latin typeface="맑은 고딕"/>
              </a:rPr>
              <a:t>•  4-CPU 테스트: 무파싱 270 → 재접속 30 (9분의 1)</a:t>
            </a:r>
          </a:p>
          <a:p>
            <a:pPr algn="l"/>
            <a:r>
              <a:rPr sz="1600" b="0">
                <a:solidFill>
                  <a:srgbClr val="FFFFFF"/>
                </a:solidFill>
                <a:latin typeface="맑은 고딕"/>
              </a:rPr>
              <a:t>•  커넥션 풀링과 재사용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접속은 비싸다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4-CPU OLTP 테스트 — 지원 가능한 사용자 수</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파싱을 전혀 안 함(한 번 파싱 후 재실행): 270명</a:t>
            </a:r>
          </a:p>
          <a:p>
            <a:pPr algn="l"/>
            <a:r>
              <a:rPr sz="1700" b="0">
                <a:solidFill>
                  <a:srgbClr val="222222"/>
                </a:solidFill>
                <a:latin typeface="맑은 고딕"/>
              </a:rPr>
              <a:t>•  모든 문장 소프트 파싱: 150명</a:t>
            </a:r>
          </a:p>
          <a:p>
            <a:pPr algn="l"/>
            <a:r>
              <a:rPr sz="1700" b="0">
                <a:solidFill>
                  <a:srgbClr val="222222"/>
                </a:solidFill>
                <a:latin typeface="맑은 고딕"/>
              </a:rPr>
              <a:t>•  모든 문장 하드 파싱: 60명</a:t>
            </a:r>
          </a:p>
          <a:p>
            <a:pPr algn="l"/>
            <a:r>
              <a:rPr sz="1700" b="0">
                <a:solidFill>
                  <a:srgbClr val="222222"/>
                </a:solidFill>
                <a:latin typeface="맑은 고딕"/>
              </a:rPr>
              <a:t>•  트랜잭션마다 재접속: 30명 (하드 파싱보다도 나쁨)</a:t>
            </a:r>
          </a:p>
          <a:p>
            <a:pPr algn="l"/>
            <a:r>
              <a:rPr sz="1700" b="0">
                <a:solidFill>
                  <a:srgbClr val="222222"/>
                </a:solidFill>
                <a:latin typeface="맑은 고딕"/>
              </a:rPr>
              <a:t>•  → 하드웨어를 안 바꾸고 방식만 고쳐도 4~9배 사용자 수용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커넥션 풀링과 재사용</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요청마다 여는 자원이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커넥션 풀: 미리 열어 두고 빌려주고 반납받아 재사용</a:t>
            </a:r>
          </a:p>
          <a:p>
            <a:pPr algn="l"/>
            <a:r>
              <a:rPr sz="1700" b="0">
                <a:solidFill>
                  <a:srgbClr val="222222"/>
                </a:solidFill>
                <a:latin typeface="맑은 고딕"/>
              </a:rPr>
              <a:t>•  접속 비용을 요청마다가 아니라 기동 시 한 번만 지불</a:t>
            </a:r>
          </a:p>
          <a:p>
            <a:pPr algn="l"/>
            <a:r>
              <a:rPr sz="1700" b="0">
                <a:solidFill>
                  <a:srgbClr val="222222"/>
                </a:solidFill>
                <a:latin typeface="맑은 고딕"/>
              </a:rPr>
              <a:t>•  재접속은 빈 세션 → 커서 캐시도 없어 파싱 비용과 겹쳐서 옴</a:t>
            </a:r>
          </a:p>
          <a:p>
            <a:pPr algn="l"/>
            <a:r>
              <a:rPr sz="1700" b="0">
                <a:solidFill>
                  <a:srgbClr val="222222"/>
                </a:solidFill>
                <a:latin typeface="맑은 고딕"/>
              </a:rPr>
              <a:t>•  풀 크기도 설계 대상: 너무 작으면 대기, 너무 크면 자원 낭비</a:t>
            </a:r>
          </a:p>
          <a:p>
            <a:pPr algn="l"/>
            <a:r>
              <a:rPr sz="1700" b="0">
                <a:solidFill>
                  <a:srgbClr val="222222"/>
                </a:solidFill>
                <a:latin typeface="맑은 고딕"/>
              </a:rPr>
              <a:t>•  전용 vs 공유 서버는 ch18에서 별도로 다룸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접속 통계로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logons cumulative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rPr>
              <a:t>SQLT@orcl&gt; SELECT name, value FROM v$sysstat</a:t>
            </a:r>
          </a:p>
          <a:p>
            <a:pPr algn="l"/>
            <a:r>
              <a:rPr sz="1250">
                <a:solidFill>
                  <a:srgbClr val="F2F2F2"/>
                </a:solidFill>
                <a:latin typeface="Consolas"/>
              </a:rPr>
              <a:t>  2        WHERE name IN ('logons cumulative','logons current');</a:t>
            </a:r>
          </a:p>
          <a:p>
            <a:pPr algn="l"/>
            <a:r>
              <a:rPr sz="1250">
                <a:solidFill>
                  <a:srgbClr val="F2F2F2"/>
                </a:solidFill>
                <a:latin typeface="Consolas"/>
              </a:rPr>
              <a:t> </a:t>
            </a:r>
          </a:p>
          <a:p>
            <a:pPr algn="l"/>
            <a:r>
              <a:rPr sz="1250">
                <a:solidFill>
                  <a:srgbClr val="F2F2F2"/>
                </a:solidFill>
                <a:latin typeface="Consolas"/>
              </a:rPr>
              <a:t>NAME                                VALUE</a:t>
            </a:r>
          </a:p>
          <a:p>
            <a:pPr algn="l"/>
            <a:r>
              <a:rPr sz="1250">
                <a:solidFill>
                  <a:srgbClr val="F2F2F2"/>
                </a:solidFill>
                <a:latin typeface="Consolas"/>
              </a:rPr>
              <a:t>------------------------------ ----------</a:t>
            </a:r>
          </a:p>
          <a:p>
            <a:pPr algn="l"/>
            <a:r>
              <a:rPr sz="1250">
                <a:solidFill>
                  <a:srgbClr val="F2F2F2"/>
                </a:solidFill>
                <a:latin typeface="Consolas"/>
              </a:rPr>
              <a:t>logons cumulative                  &lt;환경값&gt;   -- 누적 로그온(재접속마다 증가)</a:t>
            </a:r>
          </a:p>
          <a:p>
            <a:pPr algn="l"/>
            <a:r>
              <a:rPr sz="1250">
                <a:solidFill>
                  <a:srgbClr val="F2F2F2"/>
                </a:solidFill>
                <a:latin typeface="Consolas"/>
              </a:rPr>
              <a:t>logons current                     &lt;환경값&gt;   -- 현재 접속 수</a:t>
            </a:r>
          </a:p>
          <a:p>
            <a:pPr algn="l"/>
            <a:r>
              <a:rPr sz="1250">
                <a:solidFill>
                  <a:srgbClr val="F2F2F2"/>
                </a:solidFill>
                <a:latin typeface="Consolas"/>
              </a:rPr>
              <a:t> </a:t>
            </a:r>
          </a:p>
          <a:p>
            <a:pPr algn="l"/>
            <a:r>
              <a:rPr sz="1250">
                <a:solidFill>
                  <a:srgbClr val="F2F2F2"/>
                </a:solidFill>
                <a:latin typeface="Consolas"/>
              </a:rPr>
              <a:t>-- 짧은 시간에 logons cumulative 급증 → 매 요청 재접속 의심</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rPr>
              <a:t>2.5</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rPr>
              <a:t>배열 처리와 왕복 횟수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rPr>
              <a:t>•  한 행씩 주고받는 비용 — 네트워크 왕복</a:t>
            </a:r>
          </a:p>
          <a:p>
            <a:pPr algn="l"/>
            <a:r>
              <a:rPr sz="1600" b="0">
                <a:solidFill>
                  <a:srgbClr val="FFFFFF"/>
                </a:solidFill>
                <a:latin typeface="맑은 고딕"/>
              </a:rPr>
              <a:t>•  arraysize와 왕복·논리 읽기의 관계</a:t>
            </a:r>
          </a:p>
          <a:p>
            <a:pPr algn="l"/>
            <a:r>
              <a:rPr sz="1600" b="0">
                <a:solidFill>
                  <a:srgbClr val="FFFFFF"/>
                </a:solidFill>
                <a:latin typeface="맑은 고딕"/>
              </a:rPr>
              <a:t>•  SQL*Net 대기 = 네트워크 문제? 오해 주의</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한 행씩 주고받는 비용</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arraysize와 round-trip</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arraysize = 클라이언트가 한 번에 가져오는 행 수</a:t>
            </a:r>
          </a:p>
          <a:p>
            <a:pPr algn="l"/>
            <a:r>
              <a:rPr sz="1700" b="0">
                <a:solidFill>
                  <a:srgbClr val="222222"/>
                </a:solidFill>
                <a:latin typeface="맑은 고딕"/>
              </a:rPr>
              <a:t>•  작으면 여러 번 왕복 → 왕복마다 네트워크 지연·논리 읽기</a:t>
            </a:r>
          </a:p>
          <a:p>
            <a:pPr algn="l"/>
            <a:r>
              <a:rPr sz="1700" b="0">
                <a:solidFill>
                  <a:srgbClr val="222222"/>
                </a:solidFill>
                <a:latin typeface="맑은 고딕"/>
              </a:rPr>
              <a:t>•  DML(특히 INSERT)의 단건 반복도 같은 문제 → 배열 인터페이스 사용</a:t>
            </a:r>
          </a:p>
          <a:p>
            <a:pPr algn="l"/>
            <a:r>
              <a:rPr sz="1700" b="0">
                <a:solidFill>
                  <a:srgbClr val="222222"/>
                </a:solidFill>
                <a:latin typeface="맑은 고딕"/>
              </a:rPr>
              <a:t>•  PL/SQL: BULK COLLECT / FORALL이 같은 원리</a:t>
            </a:r>
          </a:p>
          <a:p>
            <a:pPr algn="l"/>
            <a:r>
              <a:rPr sz="1700" b="0">
                <a:solidFill>
                  <a:srgbClr val="222222"/>
                </a:solidFill>
                <a:latin typeface="맑은 고딕"/>
              </a:rPr>
              <a:t>•  데이터 접근 호출은 비즈니스 로직 옆에 두는 것이 최선</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arraysize와 왕복 — 계산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10,000행 반환 시 (전체 행÷arraysize+1)</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arraysize 1: 약 10,001회 왕복 (극단적으로 비효율)</a:t>
            </a:r>
          </a:p>
          <a:p>
            <a:pPr algn="l"/>
            <a:r>
              <a:rPr sz="1700" b="0">
                <a:solidFill>
                  <a:srgbClr val="222222"/>
                </a:solidFill>
                <a:latin typeface="맑은 고딕"/>
              </a:rPr>
              <a:t>•  arraysize 15(SQL*Plus 기본): 약 667회</a:t>
            </a:r>
          </a:p>
          <a:p>
            <a:pPr algn="l"/>
            <a:r>
              <a:rPr sz="1700" b="0">
                <a:solidFill>
                  <a:srgbClr val="222222"/>
                </a:solidFill>
                <a:latin typeface="맑은 고딕"/>
              </a:rPr>
              <a:t>•  arraysize 100: 약 101회 (6분의 1)</a:t>
            </a:r>
          </a:p>
          <a:p>
            <a:pPr algn="l"/>
            <a:r>
              <a:rPr sz="1700" b="0">
                <a:solidFill>
                  <a:srgbClr val="222222"/>
                </a:solidFill>
                <a:latin typeface="맑은 고딕"/>
              </a:rPr>
              <a:t>•  arraysize 1000: 약 11회</a:t>
            </a:r>
          </a:p>
          <a:p>
            <a:pPr algn="l"/>
            <a:r>
              <a:rPr sz="1700" b="0">
                <a:solidFill>
                  <a:srgbClr val="222222"/>
                </a:solidFill>
                <a:latin typeface="맑은 고딕"/>
              </a:rPr>
              <a:t>•  무한정 크게? OLTP 첫 화면은 작게, 배치·리포트는 크게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autotrace로 왕복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SET ARRAYSIZE로 대조</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rPr>
              <a:t>SQLT@orcl&gt; SET AUTOTRACE TRACEONLY STATISTICS</a:t>
            </a:r>
          </a:p>
          <a:p>
            <a:pPr algn="l"/>
            <a:r>
              <a:rPr sz="1250">
                <a:solidFill>
                  <a:srgbClr val="F2F2F2"/>
                </a:solidFill>
                <a:latin typeface="Consolas"/>
              </a:rPr>
              <a:t>SQLT@orcl&gt; SET ARRAYSIZE 15</a:t>
            </a:r>
          </a:p>
          <a:p>
            <a:pPr algn="l"/>
            <a:r>
              <a:rPr sz="1250">
                <a:solidFill>
                  <a:srgbClr val="F2F2F2"/>
                </a:solidFill>
                <a:latin typeface="Consolas"/>
              </a:rPr>
              <a:t>SQLT@orcl&gt; SELECT * FROM claim_details;      -- 기본 배열 크기</a:t>
            </a:r>
          </a:p>
          <a:p>
            <a:pPr algn="l"/>
            <a:r>
              <a:rPr sz="1250">
                <a:solidFill>
                  <a:srgbClr val="F2F2F2"/>
                </a:solidFill>
                <a:latin typeface="Consolas"/>
              </a:rPr>
              <a:t>SQLT@orcl&gt; -- 'SQL*Net roundtrips to/from client', 'consistent gets' 기록</a:t>
            </a:r>
          </a:p>
          <a:p>
            <a:pPr algn="l"/>
            <a:r>
              <a:rPr sz="1250">
                <a:solidFill>
                  <a:srgbClr val="F2F2F2"/>
                </a:solidFill>
                <a:latin typeface="Consolas"/>
              </a:rPr>
              <a:t>SQLT@orcl&gt; SET ARRAYSIZE 1000</a:t>
            </a:r>
          </a:p>
          <a:p>
            <a:pPr algn="l"/>
            <a:r>
              <a:rPr sz="1250">
                <a:solidFill>
                  <a:srgbClr val="F2F2F2"/>
                </a:solidFill>
                <a:latin typeface="Consolas"/>
              </a:rPr>
              <a:t>SQLT@orcl&gt; SELECT * FROM claim_details;      -- 배열 크기 확대</a:t>
            </a:r>
          </a:p>
          <a:p>
            <a:pPr algn="l"/>
            <a:r>
              <a:rPr sz="1250">
                <a:solidFill>
                  <a:srgbClr val="F2F2F2"/>
                </a:solidFill>
                <a:latin typeface="Consolas"/>
              </a:rPr>
              <a:t>SQLT@orcl&gt; -- 왕복 급감 + 논리 읽기 감소를 대조</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rPr>
              <a:t>2.6</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rPr>
              <a:t>그 밖의 설계 원칙</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rPr>
              <a:t>•  자주 쓰고 잘 안 바뀌는 데이터는 캐시한다</a:t>
            </a:r>
          </a:p>
          <a:p>
            <a:pPr algn="l"/>
            <a:r>
              <a:rPr sz="1600" b="0">
                <a:solidFill>
                  <a:srgbClr val="FFFFFF"/>
                </a:solidFill>
                <a:latin typeface="맑은 고딕"/>
              </a:rPr>
              <a:t>•  절차는 절차 언어로, 데이터 접근은 SQL로</a:t>
            </a:r>
          </a:p>
          <a:p>
            <a:pPr algn="l"/>
            <a:r>
              <a:rPr sz="1600" b="0">
                <a:solidFill>
                  <a:srgbClr val="FFFFFF"/>
                </a:solidFill>
                <a:latin typeface="맑은 고딕"/>
              </a:rPr>
              <a:t>•  객체지향·Java 개발의 흔한 함정</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설계 원칙 — 캐시와 언어</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확장 가능한 앱을 만드는 규칙</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자주 접근·거의 안 바뀌는 데이터는 캐시(단, 원래보다 확실히 싸게)</a:t>
            </a:r>
          </a:p>
          <a:p>
            <a:pPr algn="l"/>
            <a:r>
              <a:rPr sz="1700" b="0">
                <a:solidFill>
                  <a:srgbClr val="222222"/>
                </a:solidFill>
                <a:latin typeface="맑은 고딕"/>
              </a:rPr>
              <a:t>•  SYSDATE FROM DUAL이 워크로드의 60%+를 차지하기도 함</a:t>
            </a:r>
          </a:p>
          <a:p>
            <a:pPr algn="l"/>
            <a:r>
              <a:rPr sz="1700" b="0">
                <a:solidFill>
                  <a:srgbClr val="222222"/>
                </a:solidFill>
                <a:latin typeface="맑은 고딕"/>
              </a:rPr>
              <a:t>•  절차 로직은 C·Java·PL/SQL로, 데이터 접근/DML은 SQL로</a:t>
            </a:r>
          </a:p>
          <a:p>
            <a:pPr algn="l"/>
            <a:r>
              <a:rPr sz="1700" b="0">
                <a:solidFill>
                  <a:srgbClr val="222222"/>
                </a:solidFill>
                <a:latin typeface="맑은 고딕"/>
              </a:rPr>
              <a:t>•  참조 무결성은 앱이 아니라 DB의 외래 키 제약으로 강제(빠르고 무네트워크)</a:t>
            </a:r>
          </a:p>
          <a:p>
            <a:pPr algn="l"/>
            <a:r>
              <a:rPr sz="1700" b="0">
                <a:solidFill>
                  <a:srgbClr val="222222"/>
                </a:solidFill>
                <a:latin typeface="맑은 고딕"/>
              </a:rPr>
              <a:t>•  로컬 캐시는 미들 계층으로 확장 가능(단, 너무 복잡해지면 이득 상실)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객체지향·Java의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데이터 접근을 감추는 설계의 대가</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Java는 이식성 좋지만 인터프리터라 느리고 클라이언트 자원 더 씀</a:t>
            </a:r>
          </a:p>
          <a:p>
            <a:pPr algn="l"/>
            <a:r>
              <a:rPr sz="1700" b="0">
                <a:solidFill>
                  <a:srgbClr val="222222"/>
                </a:solidFill>
                <a:latin typeface="맑은 고딕"/>
              </a:rPr>
              <a:t>•  데이터 접근을 클래스로 캡슐화 → 효율 모른 채 메서드 호출</a:t>
            </a:r>
          </a:p>
          <a:p>
            <a:pPr algn="l"/>
            <a:r>
              <a:rPr sz="1700" b="0">
                <a:solidFill>
                  <a:srgbClr val="222222"/>
                </a:solidFill>
                <a:latin typeface="맑은 고딕"/>
              </a:rPr>
              <a:t>•  → 최소·거친 인터페이스, WHERE 술어 누락, 앱에서 필터링</a:t>
            </a:r>
          </a:p>
          <a:p>
            <a:pPr algn="l"/>
            <a:r>
              <a:rPr sz="1700" b="0">
                <a:solidFill>
                  <a:srgbClr val="222222"/>
                </a:solidFill>
                <a:latin typeface="맑은 고딕"/>
              </a:rPr>
              <a:t>•  단건 INSERT로 배열 인터페이스 못 씀</a:t>
            </a:r>
          </a:p>
          <a:p>
            <a:pPr algn="l"/>
            <a:r>
              <a:rPr sz="1700" b="0">
                <a:solidFill>
                  <a:srgbClr val="222222"/>
                </a:solidFill>
                <a:latin typeface="맑은 고딕"/>
              </a:rPr>
              <a:t>•  종단 간 추적(End to End Tracing)용 액션·모듈 이름 설정 검토</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rPr>
              <a:t>2.7</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rPr>
              <a:t>배포 전 워크로드 테스트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rPr>
              <a:t>•  워크로드 추정 — 유사 시스템 외삽·벤치마킹·모델링</a:t>
            </a:r>
          </a:p>
          <a:p>
            <a:pPr algn="l"/>
            <a:r>
              <a:rPr sz="1600" b="0">
                <a:solidFill>
                  <a:srgbClr val="FFFFFF"/>
                </a:solidFill>
                <a:latin typeface="맑은 고딕"/>
              </a:rPr>
              <a:t>•  설계 검증 테스트 규칙</a:t>
            </a:r>
          </a:p>
          <a:p>
            <a:pPr algn="l"/>
            <a:r>
              <a:rPr sz="1600" b="0">
                <a:solidFill>
                  <a:srgbClr val="FFFFFF"/>
                </a:solidFill>
                <a:latin typeface="맑은 고딕"/>
              </a:rPr>
              <a:t>•  배포 전략(Big Bang·Trickle)과 성능 체크리스트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워크로드 추정</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여러 방법으로 교차 검증</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유사 시스템 외삽 — 특성 비슷한 기존 시스템을 기준으로 수정</a:t>
            </a:r>
          </a:p>
          <a:p>
            <a:pPr algn="l"/>
            <a:r>
              <a:rPr sz="1700" b="0">
                <a:solidFill>
                  <a:srgbClr val="222222"/>
                </a:solidFill>
                <a:latin typeface="맑은 고딕"/>
              </a:rPr>
              <a:t>•  벤치마킹 — 자원·시간 많이 들고 운영과 상관 낮을 수 있으나 I/O 파악에 유용</a:t>
            </a:r>
          </a:p>
          <a:p>
            <a:pPr algn="l"/>
            <a:r>
              <a:rPr sz="1700" b="0">
                <a:solidFill>
                  <a:srgbClr val="222222"/>
                </a:solidFill>
                <a:latin typeface="맑은 고딕"/>
              </a:rPr>
              <a:t>•  벤치마크는 모든 컴포넌트를 한계까지 → 설계 오류가 다 드러남</a:t>
            </a:r>
          </a:p>
          <a:p>
            <a:pPr algn="l"/>
            <a:r>
              <a:rPr sz="1700" b="0">
                <a:solidFill>
                  <a:srgbClr val="222222"/>
                </a:solidFill>
                <a:latin typeface="맑은 고딕"/>
              </a:rPr>
              <a:t>•  애플리케이션 모델링 — 정밀 모델~어림 계산, 구현 비효율은 미반영</a:t>
            </a:r>
          </a:p>
          <a:p>
            <a:pPr algn="l"/>
            <a:r>
              <a:rPr sz="1700" b="0">
                <a:solidFill>
                  <a:srgbClr val="222222"/>
                </a:solidFill>
                <a:latin typeface="맑은 고딕"/>
              </a:rPr>
              <a:t>•  비효율을 위한 여유를 미리 두고, 성능 방법(ch17)으로 발견</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설계 검증 테스트 규칙</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문서로 남기면 용량 계획의 자료</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현실적 데이터량·분포로 테스트(완전 채운 테이블·운영 인덱스·통계)</a:t>
            </a:r>
          </a:p>
          <a:p>
            <a:pPr algn="l"/>
            <a:r>
              <a:rPr sz="1700" b="0">
                <a:solidFill>
                  <a:srgbClr val="222222"/>
                </a:solidFill>
                <a:latin typeface="맑은 고딕"/>
              </a:rPr>
              <a:t>•  운영에서 쓸 옵티마이저 모드로 테스트</a:t>
            </a:r>
          </a:p>
          <a:p>
            <a:pPr algn="l"/>
            <a:r>
              <a:rPr sz="1700" b="0">
                <a:solidFill>
                  <a:srgbClr val="222222"/>
                </a:solidFill>
                <a:latin typeface="맑은 고딕"/>
              </a:rPr>
              <a:t>•  단일 사용자 성능을 먼저 확보(안 되면 다중 사용자는 불가능)</a:t>
            </a:r>
          </a:p>
          <a:p>
            <a:pPr algn="l"/>
            <a:r>
              <a:rPr sz="1700" b="0">
                <a:solidFill>
                  <a:srgbClr val="222222"/>
                </a:solidFill>
                <a:latin typeface="맑은 고딕"/>
              </a:rPr>
              <a:t>•  모든 SQL의 실행계획을 확보·문서화</a:t>
            </a:r>
          </a:p>
          <a:p>
            <a:pPr algn="l"/>
            <a:r>
              <a:rPr sz="1700" b="0">
                <a:solidFill>
                  <a:srgbClr val="222222"/>
                </a:solidFill>
                <a:latin typeface="맑은 고딕"/>
              </a:rPr>
              <a:t>•  다중 사용자·DML은 잠금·직렬화 문제 테스트, 운영에 가까운 하드웨어</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배포 전략</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Big Bang vs Trickle</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Big Bang: 모든 사용자를 한 번에 이전</a:t>
            </a:r>
          </a:p>
          <a:p>
            <a:pPr algn="l"/>
            <a:r>
              <a:rPr sz="1700" b="0">
                <a:solidFill>
                  <a:srgbClr val="222222"/>
                </a:solidFill>
                <a:latin typeface="맑은 고딕"/>
              </a:rPr>
              <a:t>•    — 데이터 변환·동기화 최소, 그러나 규모 테스트에 크게 의존</a:t>
            </a:r>
          </a:p>
          <a:p>
            <a:pPr algn="l"/>
            <a:r>
              <a:rPr sz="1700" b="0">
                <a:solidFill>
                  <a:srgbClr val="222222"/>
                </a:solidFill>
                <a:latin typeface="맑은 고딕"/>
              </a:rPr>
              <a:t>•  Trickle: 사용자를 조금씩 이전</a:t>
            </a:r>
          </a:p>
          <a:p>
            <a:pPr algn="l"/>
            <a:r>
              <a:rPr sz="1700" b="0">
                <a:solidFill>
                  <a:srgbClr val="222222"/>
                </a:solidFill>
                <a:latin typeface="맑은 고딕"/>
              </a:rPr>
              <a:t>•    — 확장성 문제를 부하 증가 중 디버깅, 소수만 영향, 데이터 동기화 필요</a:t>
            </a:r>
          </a:p>
          <a:p>
            <a:pPr algn="l"/>
            <a:r>
              <a:rPr sz="1700" b="0">
                <a:solidFill>
                  <a:srgbClr val="222222"/>
                </a:solidFill>
                <a:latin typeface="맑은 고딕"/>
              </a:rPr>
              <a:t>•  두 방식 모두 전환 중 중단 위험 있음 → 테스트 지식이 많을수록 유리</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성능 체크리스트</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rPr>
              <a:t>배포를 돕는 작업 목록</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rPr>
              <a:t>•  SQL이 커서를 효율적으로 쓰는가 — 한 번 파싱·여러 번 실행</a:t>
            </a:r>
          </a:p>
          <a:p>
            <a:pPr algn="l"/>
            <a:r>
              <a:rPr sz="1700" b="0">
                <a:solidFill>
                  <a:srgbClr val="222222"/>
                </a:solidFill>
                <a:latin typeface="맑은 고딕"/>
              </a:rPr>
              <a:t>•    안 되는 최빈 이유: 바인드 미사용 + 리터럴 술어</a:t>
            </a:r>
          </a:p>
          <a:p>
            <a:pPr algn="l"/>
            <a:r>
              <a:rPr sz="1700" b="0">
                <a:solidFill>
                  <a:srgbClr val="222222"/>
                </a:solidFill>
                <a:latin typeface="맑은 고딕"/>
              </a:rPr>
              <a:t>•  미들웨어가 반복 로그온·로그오프 안 하는가</a:t>
            </a:r>
          </a:p>
          <a:p>
            <a:pPr algn="l"/>
            <a:r>
              <a:rPr sz="1700" b="0">
                <a:solidFill>
                  <a:srgbClr val="222222"/>
                </a:solidFill>
                <a:latin typeface="맑은 고딕"/>
              </a:rPr>
              <a:t>•  스키마 객체·통계가 개발→운영으로 올바르게 이관되었는가</a:t>
            </a:r>
          </a:p>
          <a:p>
            <a:pPr algn="l"/>
            <a:r>
              <a:rPr sz="1700" b="0">
                <a:solidFill>
                  <a:srgbClr val="222222"/>
                </a:solidFill>
                <a:latin typeface="맑은 고딕"/>
              </a:rPr>
              <a:t>•  배포 직후 기준선 통계 확보 → 첫 병목을 예상하고 성능 방법 적용</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rPr>
              <a:t>•  Q1. 하드 파싱과 소프트 파싱의 차이는? 왜 소프트 파싱도 이상적이지 않은가?</a:t>
            </a:r>
          </a:p>
          <a:p>
            <a:pPr algn="l"/>
            <a:r>
              <a:rPr sz="1600" b="0">
                <a:solidFill>
                  <a:srgbClr val="222222"/>
                </a:solidFill>
                <a:latin typeface="맑은 고딕"/>
              </a:rPr>
              <a:t>•  Q2. 리터럴 SQL이 값마다 새 커서를 만드는 이유를 실측(300 vs 0)과 연결해 설명하라.</a:t>
            </a:r>
          </a:p>
          <a:p>
            <a:pPr algn="l"/>
            <a:r>
              <a:rPr sz="1600" b="0">
                <a:solidFill>
                  <a:srgbClr val="222222"/>
                </a:solidFill>
                <a:latin typeface="맑은 고딕"/>
              </a:rPr>
              <a:t>•  Q3. CURSOR_SHARING=FORCE가 근본 해법이 아닌 이유는?</a:t>
            </a:r>
          </a:p>
          <a:p>
            <a:pPr algn="l"/>
            <a:r>
              <a:rPr sz="1600" b="0">
                <a:solidFill>
                  <a:srgbClr val="222222"/>
                </a:solidFill>
                <a:latin typeface="맑은 고딕"/>
              </a:rPr>
              <a:t>•  Q4. 4-CPU 테스트의 270/150/60/30이 뜻하는 바를 확장성 관점에서 설명하라.</a:t>
            </a:r>
          </a:p>
          <a:p>
            <a:pPr algn="l"/>
            <a:r>
              <a:rPr sz="1600" b="0">
                <a:solidFill>
                  <a:srgbClr val="222222"/>
                </a:solidFill>
                <a:latin typeface="맑은 고딕"/>
              </a:rPr>
              <a:t>•  Q5. arraysize를 15→1000으로 올리면 10,000행 조회의 왕복은 어떻게 바뀌는가?</a:t>
            </a:r>
          </a:p>
          <a:p>
            <a:pPr algn="l"/>
            <a:r>
              <a:rPr sz="1600" b="0">
                <a:solidFill>
                  <a:srgbClr val="222222"/>
                </a:solidFill>
                <a:latin typeface="맑은 고딕"/>
              </a:rPr>
              <a:t>•  Q6. SQL*Net message from client가 상위인데 네트워크가 원인이 아닐 수 있는 경우는?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rPr>
              <a:t>•  확장성은 자원을 늘린 만큼 처리 능력이 비례해 느는 성질. 설계에 가장 큰 영향.</a:t>
            </a:r>
          </a:p>
          <a:p>
            <a:pPr algn="l"/>
            <a:r>
              <a:rPr sz="1600" b="0">
                <a:solidFill>
                  <a:srgbClr val="222222"/>
                </a:solidFill>
                <a:latin typeface="맑은 고딕"/>
              </a:rPr>
              <a:t>•  리터럴 SQL은 값마다 커서·하드 파싱. 실측 리터럴 300 → 300, 바인드 300 → 0.</a:t>
            </a:r>
          </a:p>
          <a:p>
            <a:pPr algn="l"/>
            <a:r>
              <a:rPr sz="1600" b="0">
                <a:solidFill>
                  <a:srgbClr val="222222"/>
                </a:solidFill>
                <a:latin typeface="맑은 고딕"/>
              </a:rPr>
              <a:t>•  바인드 변수는 커서 1개 재사용. 코드 못 고칠 때만 CURSOR_SHARING=FORCE.</a:t>
            </a:r>
          </a:p>
          <a:p>
            <a:pPr algn="l"/>
            <a:r>
              <a:rPr sz="1600" b="0">
                <a:solidFill>
                  <a:srgbClr val="222222"/>
                </a:solidFill>
                <a:latin typeface="맑은 고딕"/>
              </a:rPr>
              <a:t>•  접속은 비싸다. 무파싱 270 → 재접속 30. 커넥션은 풀링해 재사용.</a:t>
            </a:r>
          </a:p>
          <a:p>
            <a:pPr algn="l"/>
            <a:r>
              <a:rPr sz="1600" b="0">
                <a:solidFill>
                  <a:srgbClr val="222222"/>
                </a:solidFill>
                <a:latin typeface="맑은 고딕"/>
              </a:rPr>
              <a:t>•  arraysize를 키우면 왕복·논리 읽기 감소. SQL*Net 대기≠네트워크 문제.</a:t>
            </a:r>
          </a:p>
          <a:p>
            <a:pPr algn="l"/>
            <a:r>
              <a:rPr sz="1600" b="0">
                <a:solidFill>
                  <a:srgbClr val="222222"/>
                </a:solidFill>
                <a:latin typeface="맑은 고딕"/>
              </a:rPr>
              <a:t>•  배포 전 현실적 데이터로 단일 사용자부터 검증, 배포 직후 기준선 통계 확보.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rPr>
              <a:t>•  실습 01 — WL_01_parse.sql: 바인드 유무별 커서 수·하드 파싱 델타 대조(300 vs 0)</a:t>
            </a:r>
          </a:p>
          <a:p>
            <a:pPr algn="l"/>
            <a:r>
              <a:rPr sz="1600" b="0">
                <a:solidFill>
                  <a:srgbClr val="222222"/>
                </a:solidFill>
                <a:latin typeface="맑은 고딕"/>
              </a:rPr>
              <a:t>•  실습 02 — CURSOR_SHARING 설정별 동작(EXACT vs FORCE) 확인</a:t>
            </a:r>
          </a:p>
          <a:p>
            <a:pPr algn="l"/>
            <a:r>
              <a:rPr sz="1600" b="0">
                <a:solidFill>
                  <a:srgbClr val="222222"/>
                </a:solidFill>
                <a:latin typeface="맑은 고딕"/>
              </a:rPr>
              <a:t>•  실습 03 — 커넥션 획득 비용 측정: 접속 반복 vs 재사용(logons cumulative)</a:t>
            </a:r>
          </a:p>
          <a:p>
            <a:pPr algn="l"/>
            <a:r>
              <a:rPr sz="1600" b="0">
                <a:solidFill>
                  <a:srgbClr val="222222"/>
                </a:solidFill>
                <a:latin typeface="맑은 고딕"/>
              </a:rPr>
              <a:t>•  실습 04 — arraysize 변경에 따른 SQL*Net 왕복·consistent gets 변화 확인</a:t>
            </a:r>
          </a:p>
          <a:p>
            <a:pPr algn="l"/>
            <a:r>
              <a:rPr sz="1600" b="0">
                <a:solidFill>
                  <a:srgbClr val="222222"/>
                </a:solidFill>
                <a:latin typeface="맑은 고딕"/>
              </a:rPr>
              <a:t>•  실습 05 — 시퀀스 경합 재현: 오류 없이 대기로만 드러나는 확장성 문제와 CACHE 조정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
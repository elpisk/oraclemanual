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91" r:id="rId43"/>
    <p:sldId id="292" r:id="rId44"/>
    <p:sldId id="293" r:id="rId45"/>
    <p:sldId id="294" r:id="rId46"/>
    <p:sldId id="295" r:id="rId4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V$FILESTAT는 데이터파일마다 물리 읽기·쓰기 횟수와 소요 시간을 누적합니다. 읽기 한 번의 평균 지연은 READTIM을 PHYRDS로 나눠 추정하고, DBA_DATA_FILES와 조인하면 파일 이름별로 부하를 봅니다. 값은 기동 이후 누적이므로 특정 구간은 두 시점의 델타로 계산해야 의미가 있습니다. 파일마다 지연이 크게 다르면 그 파일이 느린 장치에 있거나 무거운 랜덤 I/O가 몰린다는 신호로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실측에서 system01은 읽기가, undotbs01은 쓰기가 압도적입니다. 딕셔너리 조회가 잦은 SYSTEM은 읽기 중심, 전 이미지를 기록하는 UNDO는 쓰기 중심인 것이 정상입니다. 용도로 설명되는 편중은 건강한 편중이며, users01의 평균 지연 0.97ms가 다른 파일의 두 배인 점만 상대 신호로 기억합니다. 읽기 병목과 쓰기 병목은 캐시·인덱스냐 DBWR·리두냐로 조치가 갈리므로 성격을 먼저 가릅니다.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편중 자체가 문제인 것은 아닙니다. SYSTEM의 읽기, UNDO의 쓰기처럼 용도로 설명되는 편중은 정상입니다. 문제는 용도로 설명되지 않는 편중이며, 판정은 절대 임계값이 아니라 같은 인스턴스의 다른 파일 대비 몇 배인가로 합니다. 읽기 병목과 쓰기 병목은 조치가 전혀 다르므로 먼저 성격을 갈라야 합니다. 절대값 0.97ms 자체가 문제라는 뜻이 아니라, 같은 인스턴스 안에서 상대적으로 튀는지를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 유형별로 보면 부하 성격이 선명해집니다. Control File은 소량 읽기 요청이 11만 회로 많지만 잦은 접근이 정상입니다. Data File은 대량 읽기 메가바이트가 소량보다 커서 전체 스캔 같은 순차 I/O가 상당함을 보여 주며, 이는 다중 블록 읽기 설정이 성능에 직접 영향을 준다는 근거가 됩니다. 소량 읽기는 단일 블록 랜덤 I/O, 대량 읽기는 다중 블록 순차 I/O로, 이 비율이 워크로드 성격을 말해 줍니다.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'스토리지 교체가 필요하다'는 주장에는 파일 분포로 답합니다. V$FILESTAT를 배치 전후로 조회해 델타를 내면, 특정 업무 파일 하나의 읽기와 대량 읽기만 급증한 것이 보입니다. 이는 스토리지 전체가 느린 것이 아니라 한 세그먼트에 전체 스캔이 반복된다는 뜻입니다. 원인은 인덱스를 못 타는 SQL일 수 있으니 세그먼트와 실행계획을 먼저 보고, 그래도 한계면 CALIBRATE_IO로 근거를 만든 뒤 증설을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IOSEEKTIM·IOTFRSPEED만 값이 있고 MBRC·SREADTIM·MREADTIM은 NULL입니다. 앞 둘은 오라클 기본값이고 나머지가 비어 있다는 것은 워크로드 시스템 통계도 I/O 캘리브레이션도 수행되지 않은 NOWORKLOAD 상태라는 뜻입니다. 즉 옵티마이저는 스토리지 실제 성능을 모른 채 기본값으로 비용을 계산하고 있습니다. 이것이 캘리브레이션이 필요한 상태의 실측 근거이며, 다음 단계로 CALIBRATE_IO 실행을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혼동을 막기 위해 두 개념을 구분합니다. GATHER_SYSTEM_STATS로 수집하는 워크로드 시스템 통계는 옵티마이저가 실행계획 비용을 현실적으로 계산하도록 SREADTIM·MREADTIM·MBRC를 채웁니다. CALIBRATE_IO는 스토리지의 최대 IOPS·MBPS 상한을 실측합니다. 목적이 다르고 실측에서는 둘 다 수행되지 않았습니다. 실습은 미수행 상태를 확인하고 실행 절차를 익히는 데까지가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CALIBRATE_IO는 실제 데이터파일에 랜덤 I/O를 던져 스토리지 상한을 실측합니다. 전제조건은 SYSDBA 권한, TIMED_STATISTICS=TRUE, 데이터파일 비동기 I/O 활성 세 가지입니다. 8KB 랜덤으로 max_iops를, 1MB 랜덤으로 max_mbps를 구합니다. 무거운 I/O를 유발하므로 반드시 유휴 시간에만 수행하고 한 번에 하나만 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인자는 물리 디스크 수(2)와 허용 최대 지연 ms(10)입니다. 결과값은 스토리지에 전적으로 의존하므로 환경값으로 둡니다. 이 실습 DB는 미수행 상태이고 캘리브레이션은 부하가 크므로, 각자 한가한 시각에 개인 환경에서 실행해 값을 채웁니다. 같은 스토리지를 공유하는 여러 DB에서 동시에 돌리면 실패합니다. 필요하면 max_latency 인자로 허용 지연을 지정해 그 지연 안에서 낼 수 있는 IOPS를 측정할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진행 상태는 V$IO_CALIBRATION_STATUS로, 완료 결과는 DBA_RSRC_IO_CALIBRATE로 확인합니다. 미수행이면 상태가 NOT AVAILABLE입니다. 해석은 대기 이벤트와 짝지어 합니다. max_iops가 낮은데 sequential read가 크면 랜덤 I/O 병목, max_mbps가 낮은데 scattered read가 크면 순차 대역폭 병목입니다. Orion은 설치 전 스토리지 성능 예측 도구로 소개만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동기 I/O는 요청을 제출한 뒤 완료 확인이 올 때까지 프로세스가 멈춥니다. 비동기 I/O는 요청이 처리되는 동안에도 다른 일을 계속하게 해 병목을 피합니다. DBWR가 여러 블록을 동시에 쓰거나 전체 스캔이 읽기를 겹쳐 던질 때 그 병렬성을 실제 성능으로 바꿔 줍니다. 가능하면 비동기 I/O를 켜는 것이 좋습니다. 플랫폼에 따라 기본으로 켜져 있기도 하고 별도 설정이 필요하기도 하므로 현재 값을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실측에서 DISK_ASYNCH_IO는 TRUE로 데이터파일 비동기 I/O는 허용돼 있고, FILESYSTEMIO_OPTIONS는 none입니다. 파일 시스템 데이터파일이라면 none은 파일 시스템 수준 비동기·직접 I/O가 모두 꺼졌다는 뜻입니다. 다만 none을 무조건 문제로 단정하지 않습니다. 플랫폼 기본값과 파일 시스템 종류를 함께 봐야 합니다. 변경은 정적 파라미터라 재기동이 필요하므로 개인 실습 환경에서만 사전 백업과 함께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FILESYSTEMIO_OPTIONS는 ASYNCH·DIRECTIO·SETALL·NONE 네 값을 가지며 SETALL이 비동기와 직접 I/O를 모두 켭니다. DB_FILE_MULTIBLOCK_READ_COUNT는 전체 스캔에서 한 번에 읽는 최대 블록 수로 실측 128, 8KB 기준 약 1MB입니다. 크면 순차 스캔이 빨라지지만 옵티마이저가 스캔을 더 선호할 수 있습니다. 효과는 db file scattered read 대기로 확인합니다. 값이 크면 순차 스캔의 I/O 호출이 줄어 빨라지지만 옵티마이저가 전체 스캔을 더 선호할 수 있어 균형이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리눅스·유닉스 파일 시스템에 데이터파일이 있으면 기본적으로 모든 I/O가 파일 시스템 캐시를 거칩니다. 오라클이 이미 버퍼 캐시로 캐싱하는데 그 위에 FS 캐시가 겹치면 이중 캐싱으로 메모리와 CPU가 낭비됩니다. 직접 I/O는 FS 캐시를 우회해 CPU를 아낍니다. 다만 TEMP나 NOCACHE LOB, 병렬 직접 읽기에는 OS 버퍼가 유리할 수 있어 선택적으로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성능 문제는 프로세스·메모리·스케줄링에서 옵니다. 인스턴스를 튜닝했는데도 부족하면 시스템 시간을 줄일 여지를 보되, OS 추가 튜닝의 효과를 크게 기대하면 안 됩니다. 구성이나 애플리케이션을 바꾸는 편이 훨씬 큽니다. OS 지표는 대개 증상이므로, OS를 보는 목적은 튜닝이 아니라 병목이 DB 안인지 밖인지 가르는 데 있습니다. 오라클의 V$OSSTAT와 OS의 iostat를 같은 시간대에 겹쳐 보면 두 관점이 같은 병목을 가리키는지 교차 검증할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8코어 호스트에 물리 메모리 약 7.5GiB입니다. LOAD 0.21은 실행 큐 대기가 1보다 훨씬 작아 CPU가 거의 놀고 있다는 뜻입니다. BUSY_TIME과 IDLE_TIME은 부팅 이후 누적 CPU 시간으로, 이것으로 사용률을 계산합니다. 이 뷰는 관리 팩 라이선스와 무관하게 조회할 수 있습니다. vmstat·sar·iostat 같은 OS 유틸리티 없이도 오라클 안에서 호스트 CPU·메모리를 직접 볼 수 있다는 점이 장점입니다.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사용률은 BUSY_TIME을 BUSY와 IDLE의 합으로 나눠 구합니다. 실측은 약 1.8퍼센트로 캡처 순간 무부하였습니다. 이 값은 부팅 이후 누적 평균이므로 특정 구간은 두 시점의 델타로 계산해야 합니다. 사용률 하나로는 판정할 수 없습니다. 피크의 90퍼센트는 정상일 수 있고, 평상시에 이미 높으면 피크를 감당할 여유가 없다는 위험 신호입니다. 그래서 실제 판정은 무부하가 아니라 WL_02_io로 부하를 준 구간의 델타로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병목 위치는 OS CPU 사용률과 DB Time 구성을 대조해 가릅니다. CPU가 높고 그것을 오라클이 쓰며 DB CPU 비중도 높으면 병목은 DB 안이고 SQL을 튜닝합니다. CPU는 높은데 비오라클 프로세스가 쓰면 병목은 DB 밖입니다. CPU가 한가한데 DB Time이 대부분 대기면 I/O나 잠금 대기입니다. 무부하 실측은 대조군이라 실제 판정은 부하 후 델타로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DBA가 히트율이 낮다며 SGA를 키워 캐시를 늘리자고 제안하지만 서버 메모리는 이미 빠듯합니다. 먼저 PHYSICAL_MEMORY_BYTES와 SGA·PGA 합, 그리고 스왑 인·아웃을 봅니다. 스와핑이 관측되면 SGA 확대는 스왑을 악화시키고 늘린 캐시가 스왑으로 나가 오히려 느려집니다. 히트율은 원인이 아니라 증상일 수 있습니다. 스와핑부터 해소하고 필요하면 메모리를 늘린 뒤에 캐시를 키우는 것이 올바른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메모리가 부족하면 OS가 페이지를 스왑으로 밀어내 성능이 급락합니다. PHYSICAL_MEMORY_BYTES와 SGA+PGA 합을 대조해 위험을 점검합니다. 실측 물리 메모리는 약 7.5GiB이고 인스턴스는 ASMM으로 운영됩니다. 스와핑 중에 SGA를 키우는 것은 최악의 조치로, 물리 메모리를 더 잠식해 스왑을 악화시킵니다. 스와핑부터 해소하거나 메모리를 늘린 뒤에야 캐시를 키웁니다.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SQL*Net message from client는 데이터베이스가 클라이언트에게 다음 요청을 보내 달라고 기다리는 유휴 시간입니다. 사용자가 생각하고 애플리케이션이 결과를 처리하는 시간이 모두 여기 쌓여 거의 언제나 대기 상위에 오릅니다. 한가한 시스템일수록 비중이 큽니다. 대기 클래스가 Idle이므로 병목 순위에서 제외해야 하며, 병목으로 세면 한가할수록 네트워크 탓이라는 엉뚱한 결론이 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진짜 네트워크 지연은 데이터를 실제로 주고받는 이벤트로 드러납니다. SQL*Net more data to·from client가 크고 전송량 대비 시간이 길면 대량 전송이나 네트워크를 의심하고, SQL*Net message from dblink가 크면 원격 DB나 링크 구간을 점검합니다. 대부분의 경우 유휴 대기 뒤에 숨은 비유휴 대기, 즉 느린 SQL이나 잠금·I/O가 진짜 병목입니다.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ch15에서 세운 측정, 진단, 조치, 재측정 순환을 I/O·OS 진단에 그대로 대입하면 스무 개 장이 하나의 방법론이었음이 드러납니다. 측정은 DB Time을 축으로 대기를 분해하고, 진단은 병목이 DB 안인지 밖인지를 가르며, 조치는 원인별로 하되 스와핑이면 SGA를 키우지 않습니다. 재측정은 같은 지표를 델타로 다시 잽니다. ch34의 역할은 DB 안과 밖의 경계를 긋는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리소스 관리자 절의 시작이다. 앞 절들이 'DB 밖(스토리지·CPU·네트워크)이 병목인가'를 가렸다면, 이 절은 'DB 안에서 자원을 어떻게 나눠 줄 것인가'를 다룬다. 자원이 모자랄 때 누구에게 먼저 줄지 정하는 장치라는 점을 먼저 못 박고 시작한다. 자원을 늘려 주는 기능이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리소스 관리자가 필요한 이유를 먼저 설명한다. OS 입장에서는 야간 배치 세션과 온라인 조회 세션이 똑같은 oracle 서버 프로세스다. nice 값으로도 구분할 수 없다. 세션의 정체를 아는 것은 DB 뿐이므로 배분도 DB 가 해야 한다. 그리고 CPU 가 남아돌 때는 어떤 제한도 걸리지 않는다는 점을 강조한다. 경합이 있어야 비율이 의미를 가진다 — 수강생이 가장 자주 오해하는 지점이다.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 순서를 손으로 따라가게 한다. 모든 변경은 Pending Area 를 거치고, 개별 호출이 통과해도 SUBMIT 에서 검증된다는 점이 핵심이다. 화면의 ORA-29377 은 OTHER_GROUPS 지시어를 빼고 SUBMIT 했을 때 실제로 나온 오류다. 최상위 플랜에는 OTHER_GROUPS 가 반드시 있어야 한다 — 어느 그룹에도 매핑되지 않은 세션이 갈 곳이기 때문이다. SUBMIT 앞에 VALIDATE_PENDING_AREA 를 습관처럼 두라고 일러 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교재가 다루지 않는 마지막 한 걸음이다. 소비자 그룹과 플랜과 지시어를 다 만들어도 RESOURCE_MANAGER_PLAN 에 걸지 않으면 한 줄도 동작하지 않는다. V$RSRC_PLAN 의 CPU_MANAGED 가 ON 인지로 확인한다. 아래 표는 활성 세션 풀을 1 로 조이고 세션 두 개를 동시에 띄운 실측이다. 한 세션은 큐에 들어가 resmgr:become active 로 기다리다 30 초를 넘겨 ORA-07454 를 받았다. 큐 타임아웃은 곧 업무 실패라는 점을 짚는다.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교재를 그대로 따라 하면 19c 에서 걸리는 네 곳이다. 앞의 셋은 오류로 막히므로 금방 알아채지만, 마지막 DEFAULT_PLAN 건은 성공해 버리기 때문에 더 위험하다. MANDATORY='YES' 는 삭제 금지일 뿐 수정 금지가 아니다. Oracle 공급 플랜이 조용히 바뀐 채 남고 다음 사람은 영문을 모른다. 자기 플랜에만 지시어를 걸고 실습 뒤에는 반드시 원복하라고 마무리한다.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400" b="1">
                <a:solidFill>
                  <a:srgbClr val="C0392B"/>
                </a:solidFill>
                <a:latin typeface="맑은 고딕"/>
              </a:rPr>
              <a:t>I/O 구성과 OS 자원 관리</a:t>
            </a:r>
          </a:p>
          <a:p>
            <a:r>
              <a:rPr sz="2000" b="0">
                <a:solidFill>
                  <a:srgbClr val="5A6672"/>
                </a:solidFill>
                <a:latin typeface="맑은 고딕"/>
              </a:rPr>
              <a:t>I/O Configuration &amp; Managing OS Resources — 병목이 DB 안인가 밖인가</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파일별 I/O 분포 · CALIBRATE_IO · 비동기 I/O · 다중 블록 읽기 · V$OSSTAT CPU·메모리 · 네트워크 오판</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ch34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V$FILESTAT·V$IOSTAT_FILE로 데이터파일별 I/O 분포를 읽고 편중을 판별한다.</a:t>
            </a:r>
          </a:p>
          <a:p>
            <a:pPr>
              <a:spcAft>
                <a:spcPts val="600"/>
              </a:spcAft>
            </a:pPr>
            <a:r>
              <a:rPr sz="1600" b="0">
                <a:solidFill>
                  <a:srgbClr val="222222"/>
                </a:solidFill>
                <a:latin typeface="맑은 고딕"/>
              </a:rPr>
              <a:t>•  시스템 통계가 NOWORKLOAD(MBRC·SREADTIM NULL)인지 확인한다.</a:t>
            </a:r>
          </a:p>
          <a:p>
            <a:pPr>
              <a:spcAft>
                <a:spcPts val="600"/>
              </a:spcAft>
            </a:pPr>
            <a:r>
              <a:rPr sz="1600" b="0">
                <a:solidFill>
                  <a:srgbClr val="222222"/>
                </a:solidFill>
                <a:latin typeface="맑은 고딕"/>
              </a:rPr>
              <a:t>•  CALIBRATE_IO의 전제조건·실행·결과(max_iops·max_mbps·latency)를 이해한다.</a:t>
            </a:r>
          </a:p>
          <a:p>
            <a:pPr>
              <a:spcAft>
                <a:spcPts val="600"/>
              </a:spcAft>
            </a:pPr>
            <a:r>
              <a:rPr sz="1600" b="0">
                <a:solidFill>
                  <a:srgbClr val="222222"/>
                </a:solidFill>
                <a:latin typeface="맑은 고딕"/>
              </a:rPr>
              <a:t>•  비동기 I/O(FILESYSTEMIO_OPTIONS·DISK_ASYNCH_IO)와 다중 블록 읽기를 점검한다.</a:t>
            </a:r>
          </a:p>
          <a:p>
            <a:pPr>
              <a:spcAft>
                <a:spcPts val="600"/>
              </a:spcAft>
            </a:pPr>
            <a:r>
              <a:rPr sz="1600" b="0">
                <a:solidFill>
                  <a:srgbClr val="222222"/>
                </a:solidFill>
                <a:latin typeface="맑은 고딕"/>
              </a:rPr>
              <a:t>•  V$OSSTAT로 CPU 사용률을 계산하고 DB 통계와 대조해 병목 위치를 가른다.</a:t>
            </a:r>
          </a:p>
          <a:p>
            <a:pPr>
              <a:spcAft>
                <a:spcPts val="600"/>
              </a:spcAft>
            </a:pPr>
            <a:r>
              <a:rPr sz="1600" b="0">
                <a:solidFill>
                  <a:srgbClr val="222222"/>
                </a:solidFill>
                <a:latin typeface="맑은 고딕"/>
              </a:rPr>
              <a:t>•  스와핑 서버에서 SGA를 키우면 안 되는 이유를 설명한다.</a:t>
            </a:r>
          </a:p>
          <a:p>
            <a:pPr>
              <a:spcAft>
                <a:spcPts val="600"/>
              </a:spcAft>
            </a:pPr>
            <a:r>
              <a:rPr sz="1600" b="0">
                <a:solidFill>
                  <a:srgbClr val="222222"/>
                </a:solidFill>
                <a:latin typeface="맑은 고딕"/>
              </a:rPr>
              <a:t>•  SQL*Net message from client를 Idle로 올바르게 해석한다.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34.2  데이터파일별 I/O 분포 — 편중 판별</a:t>
            </a:r>
          </a:p>
          <a:p>
            <a:pPr>
              <a:spcAft>
                <a:spcPts val="600"/>
              </a:spcAft>
            </a:pPr>
            <a:r>
              <a:rPr sz="1600" b="0">
                <a:solidFill>
                  <a:srgbClr val="222222"/>
                </a:solidFill>
                <a:latin typeface="맑은 고딕"/>
              </a:rPr>
              <a:t>•  34.3  I/O 캘리브레이션 — CALIBRATE_IO</a:t>
            </a:r>
          </a:p>
          <a:p>
            <a:pPr>
              <a:spcAft>
                <a:spcPts val="600"/>
              </a:spcAft>
            </a:pPr>
            <a:r>
              <a:rPr sz="1600" b="0">
                <a:solidFill>
                  <a:srgbClr val="222222"/>
                </a:solidFill>
                <a:latin typeface="맑은 고딕"/>
              </a:rPr>
              <a:t>•  34.4  비동기 I/O와 다중 블록 읽기</a:t>
            </a:r>
          </a:p>
          <a:p>
            <a:pPr>
              <a:spcAft>
                <a:spcPts val="600"/>
              </a:spcAft>
            </a:pPr>
            <a:r>
              <a:rPr sz="1600" b="0">
                <a:solidFill>
                  <a:srgbClr val="222222"/>
                </a:solidFill>
                <a:latin typeface="맑은 고딕"/>
              </a:rPr>
              <a:t>•  34.5  병목이 DB 안인가 밖인가 — OS 자원 판별</a:t>
            </a:r>
          </a:p>
          <a:p>
            <a:pPr>
              <a:spcAft>
                <a:spcPts val="600"/>
              </a:spcAft>
            </a:pPr>
            <a:r>
              <a:rPr sz="1600" b="0">
                <a:solidFill>
                  <a:srgbClr val="222222"/>
                </a:solidFill>
                <a:latin typeface="맑은 고딕"/>
              </a:rPr>
              <a:t>•  34.6  네트워크 지연 오판 — SQL*Net message from client</a:t>
            </a:r>
          </a:p>
          <a:p>
            <a:pPr>
              <a:spcAft>
                <a:spcPts val="600"/>
              </a:spcAft>
            </a:pPr>
            <a:r>
              <a:rPr sz="1600" b="0">
                <a:solidFill>
                  <a:srgbClr val="222222"/>
                </a:solidFill>
                <a:latin typeface="맑은 고딕"/>
              </a:rPr>
              <a:t>•  34.8  측정 → 진단 → 조치 → 재측정 (과정 전체 종합)</a:t>
            </a:r>
          </a:p>
          <a:p>
            <a:pPr>
              <a:spcAft>
                <a:spcPts val="600"/>
              </a:spcAft>
            </a:pPr>
            <a:r>
              <a:rPr sz="1600" b="0">
                <a:solidFill>
                  <a:srgbClr val="222222"/>
                </a:solidFill>
                <a:latin typeface="맑은 고딕"/>
              </a:rPr>
              <a:t>•  34.7  리소스 관리자 — CPU 할당과 활성 세션 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데이터파일별 I/O 분포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V$FILESTAT — 파일별 읽기·쓰기·평균 지연</a:t>
            </a:r>
          </a:p>
          <a:p>
            <a:r>
              <a:rPr sz="1600" b="0">
                <a:solidFill>
                  <a:srgbClr val="FFFFFF"/>
                </a:solidFill>
                <a:latin typeface="맑은 고딕"/>
              </a:rPr>
              <a:t>•  편중 판별: 절대값이 아니라 상대 비교·델타</a:t>
            </a:r>
          </a:p>
          <a:p>
            <a:r>
              <a:rPr sz="1600" b="0">
                <a:solidFill>
                  <a:srgbClr val="FFFFFF"/>
                </a:solidFill>
                <a:latin typeface="맑은 고딕"/>
              </a:rPr>
              <a:t>•  V$IOSTAT_FILE — 파일 유형별 소량/대량 읽기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V$FILESTAT가 보여 주는 것</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파일별 물리 I/O의 분포와 지연</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PHYRDS(읽기)·PHYWRTS(쓰기)·READTIM·WRITETIM 누적</a:t>
            </a:r>
          </a:p>
          <a:p>
            <a:pPr>
              <a:spcAft>
                <a:spcPts val="600"/>
              </a:spcAft>
            </a:pPr>
            <a:r>
              <a:rPr sz="1600" b="0">
                <a:solidFill>
                  <a:srgbClr val="222222"/>
                </a:solidFill>
                <a:latin typeface="맑은 고딕"/>
              </a:rPr>
              <a:t>•  평균 읽기 지연 ≈ READTIM / PHYRDS</a:t>
            </a:r>
          </a:p>
          <a:p>
            <a:pPr>
              <a:spcAft>
                <a:spcPts val="600"/>
              </a:spcAft>
            </a:pPr>
            <a:r>
              <a:rPr sz="1600" b="0">
                <a:solidFill>
                  <a:srgbClr val="222222"/>
                </a:solidFill>
                <a:latin typeface="맑은 고딕"/>
              </a:rPr>
              <a:t>•  DBA_DATA_FILES와 조인해 파일 이름별로 본다</a:t>
            </a:r>
          </a:p>
          <a:p>
            <a:pPr>
              <a:spcAft>
                <a:spcPts val="600"/>
              </a:spcAft>
            </a:pPr>
            <a:r>
              <a:rPr sz="1600" b="0">
                <a:solidFill>
                  <a:srgbClr val="222222"/>
                </a:solidFill>
                <a:latin typeface="맑은 고딕"/>
              </a:rPr>
              <a:t>•  누적값이므로 구간은 델타로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V$FILESTAT 실측 — 파일별 I/O</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읽기 횟수 내림차순 (orcl)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d.file_name, f.phyrds reads, f.phywrts writes,</a:t>
            </a:r>
          </a:p>
          <a:p>
            <a:pPr>
              <a:spcAft>
                <a:spcPts val="0"/>
              </a:spcAft>
            </a:pPr>
            <a:r>
              <a:rPr sz="1250" b="0">
                <a:solidFill>
                  <a:srgbClr val="F2F2F2"/>
                </a:solidFill>
                <a:latin typeface="Consolas"/>
              </a:rPr>
              <a:t>  2         ROUND(f.readtim/GREATEST(f.phyrds,1),2) avg_rd_ms</a:t>
            </a:r>
          </a:p>
          <a:p>
            <a:pPr>
              <a:spcAft>
                <a:spcPts val="0"/>
              </a:spcAft>
            </a:pPr>
            <a:r>
              <a:rPr sz="1250" b="0">
                <a:solidFill>
                  <a:srgbClr val="F2F2F2"/>
                </a:solidFill>
                <a:latin typeface="Consolas"/>
              </a:rPr>
              <a:t>  3    FROM v$filestat f JOIN dba_data_files d ON f.file#=d.file_id</a:t>
            </a:r>
          </a:p>
          <a:p>
            <a:pPr>
              <a:spcAft>
                <a:spcPts val="0"/>
              </a:spcAft>
            </a:pPr>
            <a:r>
              <a:rPr sz="1250" b="0">
                <a:solidFill>
                  <a:srgbClr val="F2F2F2"/>
                </a:solidFill>
                <a:latin typeface="Consolas"/>
              </a:rPr>
              <a:t>  4    ORDER BY f.phyrds DESC;</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FILE_NAME                 READS  WRITES  AVG_RD_MS</a:t>
            </a:r>
          </a:p>
          <a:p>
            <a:pPr>
              <a:spcAft>
                <a:spcPts val="0"/>
              </a:spcAft>
            </a:pPr>
            <a:r>
              <a:rPr sz="1250" b="0">
                <a:solidFill>
                  <a:srgbClr val="F2F2F2"/>
                </a:solidFill>
                <a:latin typeface="Consolas"/>
              </a:rPr>
              <a:t>------------------------- ------ ------- ---------</a:t>
            </a:r>
          </a:p>
          <a:p>
            <a:pPr>
              <a:spcAft>
                <a:spcPts val="0"/>
              </a:spcAft>
            </a:pPr>
            <a:r>
              <a:rPr sz="1250" b="0">
                <a:solidFill>
                  <a:srgbClr val="F2F2F2"/>
                </a:solidFill>
                <a:latin typeface="Consolas"/>
              </a:rPr>
              <a:t>system01.dbf              13917    1344      0.34</a:t>
            </a:r>
          </a:p>
          <a:p>
            <a:pPr>
              <a:spcAft>
                <a:spcPts val="0"/>
              </a:spcAft>
            </a:pPr>
            <a:r>
              <a:rPr sz="1250" b="0">
                <a:solidFill>
                  <a:srgbClr val="F2F2F2"/>
                </a:solidFill>
                <a:latin typeface="Consolas"/>
              </a:rPr>
              <a:t>sysaux01.dbf               7222    7584      0.47</a:t>
            </a:r>
          </a:p>
          <a:p>
            <a:pPr>
              <a:spcAft>
                <a:spcPts val="0"/>
              </a:spcAft>
            </a:pPr>
            <a:r>
              <a:rPr sz="1250" b="0">
                <a:solidFill>
                  <a:srgbClr val="F2F2F2"/>
                </a:solidFill>
                <a:latin typeface="Consolas"/>
              </a:rPr>
              <a:t>users01.dbf                2340       0      0.97</a:t>
            </a:r>
          </a:p>
          <a:p>
            <a:pPr>
              <a:spcAft>
                <a:spcPts val="0"/>
              </a:spcAft>
            </a:pPr>
            <a:r>
              <a:rPr sz="1250" b="0">
                <a:solidFill>
                  <a:srgbClr val="F2F2F2"/>
                </a:solidFill>
                <a:latin typeface="Consolas"/>
              </a:rPr>
              <a:t>ts_stg01.dbf                404       0      0.54</a:t>
            </a:r>
          </a:p>
          <a:p>
            <a:pPr>
              <a:spcAft>
                <a:spcPts val="0"/>
              </a:spcAft>
            </a:pPr>
            <a:r>
              <a:rPr sz="1250" b="0">
                <a:solidFill>
                  <a:srgbClr val="F2F2F2"/>
                </a:solidFill>
                <a:latin typeface="Consolas"/>
              </a:rPr>
              <a:t>undotbs01.dbf                68    2007      0.38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편중 판별 — 무엇이 문제인가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용도로 설명되면 정상, 아니면 조사</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SYSTEM=읽기, UNDO=쓰기, SYSAUX=균형 → 정상 편중</a:t>
            </a:r>
          </a:p>
          <a:p>
            <a:pPr>
              <a:spcAft>
                <a:spcPts val="600"/>
              </a:spcAft>
            </a:pPr>
            <a:r>
              <a:rPr sz="1600" b="0">
                <a:solidFill>
                  <a:srgbClr val="222222"/>
                </a:solidFill>
                <a:latin typeface="맑은 고딕"/>
              </a:rPr>
              <a:t>•  문제는 '용도로 설명되지 않는 편중'</a:t>
            </a:r>
          </a:p>
          <a:p>
            <a:pPr>
              <a:spcAft>
                <a:spcPts val="600"/>
              </a:spcAft>
            </a:pPr>
            <a:r>
              <a:rPr sz="1600" b="0">
                <a:solidFill>
                  <a:srgbClr val="222222"/>
                </a:solidFill>
                <a:latin typeface="맑은 고딕"/>
              </a:rPr>
              <a:t>•  판정은 절대 임계값이 아니라 같은 인스턴스 다른 파일 대비 배수</a:t>
            </a:r>
          </a:p>
          <a:p>
            <a:pPr>
              <a:spcAft>
                <a:spcPts val="600"/>
              </a:spcAft>
            </a:pPr>
            <a:r>
              <a:rPr sz="1600" b="0">
                <a:solidFill>
                  <a:srgbClr val="222222"/>
                </a:solidFill>
                <a:latin typeface="맑은 고딕"/>
              </a:rPr>
              <a:t>•  읽기 병목(캐시·인덱스)과 쓰기 병목(DBWR·리두)은 조치가 다르다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V$IOSTAT_FILE 실측 — 파일 유형별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소량(랜덤)·대량(순차) 읽기 구분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filetype_name,</a:t>
            </a:r>
          </a:p>
          <a:p>
            <a:pPr>
              <a:spcAft>
                <a:spcPts val="0"/>
              </a:spcAft>
            </a:pPr>
            <a:r>
              <a:rPr sz="1250" b="0">
                <a:solidFill>
                  <a:srgbClr val="F2F2F2"/>
                </a:solidFill>
                <a:latin typeface="Consolas"/>
              </a:rPr>
              <a:t>  2      ROUND(small_read_megabytes,1) sm_rd_mb,</a:t>
            </a:r>
          </a:p>
          <a:p>
            <a:pPr>
              <a:spcAft>
                <a:spcPts val="0"/>
              </a:spcAft>
            </a:pPr>
            <a:r>
              <a:rPr sz="1250" b="0">
                <a:solidFill>
                  <a:srgbClr val="F2F2F2"/>
                </a:solidFill>
                <a:latin typeface="Consolas"/>
              </a:rPr>
              <a:t>  3      ROUND(large_read_megabytes,1) lg_rd_mb,</a:t>
            </a:r>
          </a:p>
          <a:p>
            <a:pPr>
              <a:spcAft>
                <a:spcPts val="0"/>
              </a:spcAft>
            </a:pPr>
            <a:r>
              <a:rPr sz="1250" b="0">
                <a:solidFill>
                  <a:srgbClr val="F2F2F2"/>
                </a:solidFill>
                <a:latin typeface="Consolas"/>
              </a:rPr>
              <a:t>  4      small_read_reqs, large_read_reqs</a:t>
            </a:r>
          </a:p>
          <a:p>
            <a:pPr>
              <a:spcAft>
                <a:spcPts val="0"/>
              </a:spcAft>
            </a:pPr>
            <a:r>
              <a:rPr sz="1250" b="0">
                <a:solidFill>
                  <a:srgbClr val="F2F2F2"/>
                </a:solidFill>
                <a:latin typeface="Consolas"/>
              </a:rPr>
              <a:t>  5    FROM v$iostat_file ...;</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FILETYPE_NAME  SM_RD_MB LG_RD_MB SM_REQS  LG_REQS</a:t>
            </a:r>
          </a:p>
          <a:p>
            <a:pPr>
              <a:spcAft>
                <a:spcPts val="0"/>
              </a:spcAft>
            </a:pPr>
            <a:r>
              <a:rPr sz="1250" b="0">
                <a:solidFill>
                  <a:srgbClr val="F2F2F2"/>
                </a:solidFill>
                <a:latin typeface="Consolas"/>
              </a:rPr>
              <a:t>-------------- -------- -------- -------  -------</a:t>
            </a:r>
          </a:p>
          <a:p>
            <a:pPr>
              <a:spcAft>
                <a:spcPts val="0"/>
              </a:spcAft>
            </a:pPr>
            <a:r>
              <a:rPr sz="1250" b="0">
                <a:solidFill>
                  <a:srgbClr val="F2F2F2"/>
                </a:solidFill>
                <a:latin typeface="Consolas"/>
              </a:rPr>
              <a:t>Control File       1776       40  113662       48</a:t>
            </a:r>
          </a:p>
          <a:p>
            <a:pPr>
              <a:spcAft>
                <a:spcPts val="0"/>
              </a:spcAft>
            </a:pPr>
            <a:r>
              <a:rPr sz="1250" b="0">
                <a:solidFill>
                  <a:srgbClr val="F2F2F2"/>
                </a:solidFill>
                <a:latin typeface="Consolas"/>
              </a:rPr>
              <a:t>Data File           113      988   12940     1023</a:t>
            </a:r>
          </a:p>
          <a:p>
            <a:pPr>
              <a:spcAft>
                <a:spcPts val="0"/>
              </a:spcAft>
            </a:pPr>
            <a:r>
              <a:rPr sz="1250" b="0">
                <a:solidFill>
                  <a:srgbClr val="F2F2F2"/>
                </a:solidFill>
                <a:latin typeface="Consolas"/>
              </a:rPr>
              <a:t>Data File            92      888    6356      913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실무 — '디스크가 느리다'를 분포로 번역</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증설 전에 파일 분포부터</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신고: 야간 배치가 느려짐, 인프라팀은 '스토리지 교체' 주장</a:t>
            </a:r>
          </a:p>
          <a:p>
            <a:pPr>
              <a:spcAft>
                <a:spcPts val="600"/>
              </a:spcAft>
            </a:pPr>
            <a:r>
              <a:rPr sz="1600" b="0">
                <a:solidFill>
                  <a:srgbClr val="222222"/>
                </a:solidFill>
                <a:latin typeface="맑은 고딕"/>
              </a:rPr>
              <a:t>•  1차: V$FILESTAT를 배치 시작·종료에 조회해 델타</a:t>
            </a:r>
          </a:p>
          <a:p>
            <a:pPr>
              <a:spcAft>
                <a:spcPts val="600"/>
              </a:spcAft>
            </a:pPr>
            <a:r>
              <a:rPr sz="1600" b="0">
                <a:solidFill>
                  <a:srgbClr val="222222"/>
                </a:solidFill>
                <a:latin typeface="맑은 고딕"/>
              </a:rPr>
              <a:t>•  발견: 한 업무 파일의 PHYRDS·대량 읽기만 급증</a:t>
            </a:r>
          </a:p>
          <a:p>
            <a:pPr>
              <a:spcAft>
                <a:spcPts val="600"/>
              </a:spcAft>
            </a:pPr>
            <a:r>
              <a:rPr sz="1600" b="0">
                <a:solidFill>
                  <a:srgbClr val="222222"/>
                </a:solidFill>
                <a:latin typeface="맑은 고딕"/>
              </a:rPr>
              <a:t>•  해석: 스토리지 전체가 아니라 한 세그먼트 전체 스캔</a:t>
            </a:r>
          </a:p>
          <a:p>
            <a:pPr>
              <a:spcAft>
                <a:spcPts val="600"/>
              </a:spcAft>
            </a:pPr>
            <a:r>
              <a:rPr sz="1600" b="0">
                <a:solidFill>
                  <a:srgbClr val="222222"/>
                </a:solidFill>
                <a:latin typeface="맑은 고딕"/>
              </a:rPr>
              <a:t>•  조치: 세그먼트→SQL 계획 점검, 그래도면 CALIBRATE_IO로 근거 후 판단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I/O 캘리브레이션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NOWORKLOAD 확인 — MBRC·SREADTIM NULL</a:t>
            </a:r>
          </a:p>
          <a:p>
            <a:r>
              <a:rPr sz="1600" b="0">
                <a:solidFill>
                  <a:srgbClr val="FFFFFF"/>
                </a:solidFill>
                <a:latin typeface="맑은 고딕"/>
              </a:rPr>
              <a:t>•  CALIBRATE_IO — 랜덤 I/O로 상한 실측</a:t>
            </a:r>
          </a:p>
          <a:p>
            <a:r>
              <a:rPr sz="1600" b="0">
                <a:solidFill>
                  <a:srgbClr val="FFFFFF"/>
                </a:solidFill>
                <a:latin typeface="맑은 고딕"/>
              </a:rPr>
              <a:t>•  결과: max_iops·max_mbps·latency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먼저 상태 확인 — NOWORKLOAD?</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AUX_STATS$ (실측: 미수행)</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pname, pval1 FROM sys.aux_stats$</a:t>
            </a:r>
          </a:p>
          <a:p>
            <a:pPr>
              <a:spcAft>
                <a:spcPts val="0"/>
              </a:spcAft>
            </a:pPr>
            <a:r>
              <a:rPr sz="1250" b="0">
                <a:solidFill>
                  <a:srgbClr val="F2F2F2"/>
                </a:solidFill>
                <a:latin typeface="Consolas"/>
              </a:rPr>
              <a:t>  2    WHERE pname IN ('IOSEEKTIM','IOTFRSPEED','MBRC',</a:t>
            </a:r>
          </a:p>
          <a:p>
            <a:pPr>
              <a:spcAft>
                <a:spcPts val="0"/>
              </a:spcAft>
            </a:pPr>
            <a:r>
              <a:rPr sz="1250" b="0">
                <a:solidFill>
                  <a:srgbClr val="F2F2F2"/>
                </a:solidFill>
                <a:latin typeface="Consolas"/>
              </a:rPr>
              <a:t>  3       'SREADTIM','MREADTIM','MAXTHR','SLAVETHR');</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PNAME            PVAL1</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IOSEEKTIM        10</a:t>
            </a:r>
          </a:p>
          <a:p>
            <a:pPr>
              <a:spcAft>
                <a:spcPts val="0"/>
              </a:spcAft>
            </a:pPr>
            <a:r>
              <a:rPr sz="1250" b="0">
                <a:solidFill>
                  <a:srgbClr val="F2F2F2"/>
                </a:solidFill>
                <a:latin typeface="Consolas"/>
              </a:rPr>
              <a:t>IOTFRSPEED       4096</a:t>
            </a:r>
          </a:p>
          <a:p>
            <a:pPr>
              <a:spcAft>
                <a:spcPts val="0"/>
              </a:spcAft>
            </a:pPr>
            <a:r>
              <a:rPr sz="1250" b="0">
                <a:solidFill>
                  <a:srgbClr val="F2F2F2"/>
                </a:solidFill>
                <a:latin typeface="Consolas"/>
              </a:rPr>
              <a:t>MBRC</a:t>
            </a:r>
          </a:p>
          <a:p>
            <a:pPr>
              <a:spcAft>
                <a:spcPts val="0"/>
              </a:spcAft>
            </a:pPr>
            <a:r>
              <a:rPr sz="1250" b="0">
                <a:solidFill>
                  <a:srgbClr val="F2F2F2"/>
                </a:solidFill>
                <a:latin typeface="Consolas"/>
              </a:rPr>
              <a:t>MREADTIM</a:t>
            </a:r>
          </a:p>
          <a:p>
            <a:pPr>
              <a:spcAft>
                <a:spcPts val="0"/>
              </a:spcAft>
            </a:pPr>
            <a:r>
              <a:rPr sz="1250" b="0">
                <a:solidFill>
                  <a:srgbClr val="F2F2F2"/>
                </a:solidFill>
                <a:latin typeface="Consolas"/>
              </a:rPr>
              <a:t>SREADTIM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시스템 통계 두 종류를 구분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목적이 다르다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GATHER_SYSTEM_STATS → 옵티마이저 비용용 SREADTIM·MREADTIM·MBRC</a:t>
            </a:r>
          </a:p>
          <a:p>
            <a:pPr>
              <a:spcAft>
                <a:spcPts val="600"/>
              </a:spcAft>
            </a:pPr>
            <a:r>
              <a:rPr sz="1600" b="0">
                <a:solidFill>
                  <a:srgbClr val="222222"/>
                </a:solidFill>
                <a:latin typeface="맑은 고딕"/>
              </a:rPr>
              <a:t>•  CALIBRATE_IO → 스토리지 상한 max_iops·max_mbps</a:t>
            </a:r>
          </a:p>
          <a:p>
            <a:pPr>
              <a:spcAft>
                <a:spcPts val="600"/>
              </a:spcAft>
            </a:pPr>
            <a:r>
              <a:rPr sz="1600" b="0">
                <a:solidFill>
                  <a:srgbClr val="222222"/>
                </a:solidFill>
                <a:latin typeface="맑은 고딕"/>
              </a:rPr>
              <a:t>•  실측: 둘 다 미수행(NOWORKLOAD)</a:t>
            </a:r>
          </a:p>
          <a:p>
            <a:pPr>
              <a:spcAft>
                <a:spcPts val="600"/>
              </a:spcAft>
            </a:pPr>
            <a:r>
              <a:rPr sz="1600" b="0">
                <a:solidFill>
                  <a:srgbClr val="222222"/>
                </a:solidFill>
                <a:latin typeface="맑은 고딕"/>
              </a:rPr>
              <a:t>•  실습 목표: 미수행 확인 + 실행 절차 습득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CALIBRATE_IO — 전제조건과 절차</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DBMS_RESOURCE_MANAGER.CALIBRATE_IO</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전제 1: SYSDBA 권한</a:t>
            </a:r>
          </a:p>
          <a:p>
            <a:pPr>
              <a:spcAft>
                <a:spcPts val="600"/>
              </a:spcAft>
            </a:pPr>
            <a:r>
              <a:rPr sz="1600" b="0">
                <a:solidFill>
                  <a:srgbClr val="222222"/>
                </a:solidFill>
                <a:latin typeface="맑은 고딕"/>
              </a:rPr>
              <a:t>•  전제 2: TIMED_STATISTICS = TRUE</a:t>
            </a:r>
          </a:p>
          <a:p>
            <a:pPr>
              <a:spcAft>
                <a:spcPts val="600"/>
              </a:spcAft>
            </a:pPr>
            <a:r>
              <a:rPr sz="1600" b="0">
                <a:solidFill>
                  <a:srgbClr val="222222"/>
                </a:solidFill>
                <a:latin typeface="맑은 고딕"/>
              </a:rPr>
              <a:t>•  전제 3: 데이터파일 비동기 I/O 활성(FILESYSTEMIO_OPTIONS=SETALL 등)</a:t>
            </a:r>
          </a:p>
          <a:p>
            <a:pPr>
              <a:spcAft>
                <a:spcPts val="600"/>
              </a:spcAft>
            </a:pPr>
            <a:r>
              <a:rPr sz="1600" b="0">
                <a:solidFill>
                  <a:srgbClr val="222222"/>
                </a:solidFill>
                <a:latin typeface="맑은 고딕"/>
              </a:rPr>
              <a:t>•  1단계 8KB 랜덤 → max_iops(OLTP), 2단계 1MB 랜덤 → max_mbps(DW)</a:t>
            </a:r>
          </a:p>
          <a:p>
            <a:pPr>
              <a:spcAft>
                <a:spcPts val="600"/>
              </a:spcAft>
            </a:pPr>
            <a:r>
              <a:rPr sz="1600" b="0">
                <a:solidFill>
                  <a:srgbClr val="222222"/>
                </a:solidFill>
                <a:latin typeface="맑은 고딕"/>
              </a:rPr>
              <a:t>•  무거운 I/O 유발 → 반드시 유휴/비피크 시간에만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CALIBRATE_IO 실행</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결과는 스토리지 의존 → &lt;환경값&gt;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SET SERVEROUTPUT ON</a:t>
            </a:r>
          </a:p>
          <a:p>
            <a:pPr>
              <a:spcAft>
                <a:spcPts val="0"/>
              </a:spcAft>
            </a:pPr>
            <a:r>
              <a:rPr sz="1250" b="0">
                <a:solidFill>
                  <a:srgbClr val="F2F2F2"/>
                </a:solidFill>
                <a:latin typeface="Consolas"/>
              </a:rPr>
              <a:t>SQL&gt; DECLARE</a:t>
            </a:r>
          </a:p>
          <a:p>
            <a:pPr>
              <a:spcAft>
                <a:spcPts val="0"/>
              </a:spcAft>
            </a:pPr>
            <a:r>
              <a:rPr sz="1250" b="0">
                <a:solidFill>
                  <a:srgbClr val="F2F2F2"/>
                </a:solidFill>
                <a:latin typeface="Consolas"/>
              </a:rPr>
              <a:t>  2    lat NUMBER; iops INTEGER; mbps INTEGER;</a:t>
            </a:r>
          </a:p>
          <a:p>
            <a:pPr>
              <a:spcAft>
                <a:spcPts val="0"/>
              </a:spcAft>
            </a:pPr>
            <a:r>
              <a:rPr sz="1250" b="0">
                <a:solidFill>
                  <a:srgbClr val="F2F2F2"/>
                </a:solidFill>
                <a:latin typeface="Consolas"/>
              </a:rPr>
              <a:t>  3  BEGIN</a:t>
            </a:r>
          </a:p>
          <a:p>
            <a:pPr>
              <a:spcAft>
                <a:spcPts val="0"/>
              </a:spcAft>
            </a:pPr>
            <a:r>
              <a:rPr sz="1250" b="0">
                <a:solidFill>
                  <a:srgbClr val="F2F2F2"/>
                </a:solidFill>
                <a:latin typeface="Consolas"/>
              </a:rPr>
              <a:t>  4    DBMS_RESOURCE_MANAGER.CALIBRATE_IO(2,10,iops,mbps,lat);</a:t>
            </a:r>
          </a:p>
          <a:p>
            <a:pPr>
              <a:spcAft>
                <a:spcPts val="0"/>
              </a:spcAft>
            </a:pPr>
            <a:r>
              <a:rPr sz="1250" b="0">
                <a:solidFill>
                  <a:srgbClr val="F2F2F2"/>
                </a:solidFill>
                <a:latin typeface="Consolas"/>
              </a:rPr>
              <a:t>  5    DBMS_OUTPUT.PUT_LINE('iops='||iops||' mbps='||mbps);</a:t>
            </a:r>
          </a:p>
          <a:p>
            <a:pPr>
              <a:spcAft>
                <a:spcPts val="0"/>
              </a:spcAft>
            </a:pPr>
            <a:r>
              <a:rPr sz="1250" b="0">
                <a:solidFill>
                  <a:srgbClr val="F2F2F2"/>
                </a:solidFill>
                <a:latin typeface="Consolas"/>
              </a:rPr>
              <a:t>  6  END;</a:t>
            </a:r>
          </a:p>
          <a:p>
            <a:pPr>
              <a:spcAft>
                <a:spcPts val="0"/>
              </a:spcAft>
            </a:pPr>
            <a:r>
              <a:rPr sz="1250" b="0">
                <a:solidFill>
                  <a:srgbClr val="F2F2F2"/>
                </a:solidFill>
                <a:latin typeface="Consolas"/>
              </a:rPr>
              <a:t>  7  /</a:t>
            </a:r>
          </a:p>
          <a:p>
            <a:pPr>
              <a:spcAft>
                <a:spcPts val="0"/>
              </a:spcAft>
            </a:pPr>
            <a:r>
              <a:rPr sz="1250" b="0">
                <a:solidFill>
                  <a:srgbClr val="F2F2F2"/>
                </a:solidFill>
                <a:latin typeface="Consolas"/>
              </a:rPr>
              <a:t>max_iops = &lt;환경값&gt;</a:t>
            </a:r>
          </a:p>
          <a:p>
            <a:pPr>
              <a:spcAft>
                <a:spcPts val="0"/>
              </a:spcAft>
            </a:pPr>
            <a:r>
              <a:rPr sz="1250" b="0">
                <a:solidFill>
                  <a:srgbClr val="F2F2F2"/>
                </a:solidFill>
                <a:latin typeface="Consolas"/>
              </a:rPr>
              <a:t>max_mbps = &lt;환경값&gt;</a:t>
            </a:r>
          </a:p>
          <a:p>
            <a:pPr>
              <a:spcAft>
                <a:spcPts val="0"/>
              </a:spcAft>
            </a:pPr>
            <a:r>
              <a:rPr sz="1250" b="0">
                <a:solidFill>
                  <a:srgbClr val="F2F2F2"/>
                </a:solidFill>
                <a:latin typeface="Consolas"/>
              </a:rPr>
              <a:t>latency  = &lt;환경값&gt;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결과 확인과 해석</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V$IO_CALIBRATION_STATUS / DBA_RSRC_IO_CALIBRATE</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상태: NOT AVAILABLE → IN PROGRESS → READY</a:t>
            </a:r>
          </a:p>
          <a:p>
            <a:pPr>
              <a:spcAft>
                <a:spcPts val="600"/>
              </a:spcAft>
            </a:pPr>
            <a:r>
              <a:rPr sz="1600" b="0">
                <a:solidFill>
                  <a:srgbClr val="222222"/>
                </a:solidFill>
                <a:latin typeface="맑은 고딕"/>
              </a:rPr>
              <a:t>•  결과 테이블: DBA_RSRC_IO_CALIBRATE (max_iops·max_mbps·latency)</a:t>
            </a:r>
          </a:p>
          <a:p>
            <a:pPr>
              <a:spcAft>
                <a:spcPts val="600"/>
              </a:spcAft>
            </a:pPr>
            <a:r>
              <a:rPr sz="1600" b="0">
                <a:solidFill>
                  <a:srgbClr val="222222"/>
                </a:solidFill>
                <a:latin typeface="맑은 고딕"/>
              </a:rPr>
              <a:t>•  max_iops 낮고 sequential read 크다 → 랜덤 I/O 병목(OLTP)</a:t>
            </a:r>
          </a:p>
          <a:p>
            <a:pPr>
              <a:spcAft>
                <a:spcPts val="600"/>
              </a:spcAft>
            </a:pPr>
            <a:r>
              <a:rPr sz="1600" b="0">
                <a:solidFill>
                  <a:srgbClr val="222222"/>
                </a:solidFill>
                <a:latin typeface="맑은 고딕"/>
              </a:rPr>
              <a:t>•  max_mbps 낮고 scattered read 크다 → 순차 대역폭 병목(DW)</a:t>
            </a:r>
          </a:p>
          <a:p>
            <a:pPr>
              <a:spcAft>
                <a:spcPts val="600"/>
              </a:spcAft>
            </a:pPr>
            <a:r>
              <a:rPr sz="1600" b="0">
                <a:solidFill>
                  <a:srgbClr val="222222"/>
                </a:solidFill>
                <a:latin typeface="맑은 고딕"/>
              </a:rPr>
              <a:t>•  Orion은 소개만 — DB 내부 CALIBRATE_IO 중심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비동기 I/O와 다중 블록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동기 vs 비동기 I/O</a:t>
            </a:r>
          </a:p>
          <a:p>
            <a:r>
              <a:rPr sz="1600" b="0">
                <a:solidFill>
                  <a:srgbClr val="FFFFFF"/>
                </a:solidFill>
                <a:latin typeface="맑은 고딕"/>
              </a:rPr>
              <a:t>•  FILESYSTEMIO_OPTIONS · DISK_ASYNCH_IO</a:t>
            </a:r>
          </a:p>
          <a:p>
            <a:r>
              <a:rPr sz="1600" b="0">
                <a:solidFill>
                  <a:srgbClr val="FFFFFF"/>
                </a:solidFill>
                <a:latin typeface="맑은 고딕"/>
              </a:rPr>
              <a:t>•  DB_FILE_MULTIBLOCK_READ_COUNT · 직접 I/O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동기 vs 비동기 I/O</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가능하면 비동기로 병목 회피</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동기: 요청 제출 후 완료까지 프로세스가 멈춰 대기</a:t>
            </a:r>
          </a:p>
          <a:p>
            <a:pPr>
              <a:spcAft>
                <a:spcPts val="600"/>
              </a:spcAft>
            </a:pPr>
            <a:r>
              <a:rPr sz="1600" b="0">
                <a:solidFill>
                  <a:srgbClr val="222222"/>
                </a:solidFill>
                <a:latin typeface="맑은 고딕"/>
              </a:rPr>
              <a:t>•  비동기: 처리되는 동안 다른 작업을 계속</a:t>
            </a:r>
          </a:p>
          <a:p>
            <a:pPr>
              <a:spcAft>
                <a:spcPts val="600"/>
              </a:spcAft>
            </a:pPr>
            <a:r>
              <a:rPr sz="1600" b="0">
                <a:solidFill>
                  <a:srgbClr val="222222"/>
                </a:solidFill>
                <a:latin typeface="맑은 고딕"/>
              </a:rPr>
              <a:t>•  DBWR 병렬 쓰기·전체 스캔 겹친 읽기에서 효과</a:t>
            </a:r>
          </a:p>
          <a:p>
            <a:pPr>
              <a:spcAft>
                <a:spcPts val="600"/>
              </a:spcAft>
            </a:pPr>
            <a:r>
              <a:rPr sz="1600" b="0">
                <a:solidFill>
                  <a:srgbClr val="222222"/>
                </a:solidFill>
                <a:latin typeface="맑은 고딕"/>
              </a:rPr>
              <a:t>•  플랫폼별로 기본 활성 여부가 다름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I/O 파라미터 실측</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V$PARAMETER (orcl)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name, display_value FROM v$parameter</a:t>
            </a:r>
          </a:p>
          <a:p>
            <a:pPr>
              <a:spcAft>
                <a:spcPts val="0"/>
              </a:spcAft>
            </a:pPr>
            <a:r>
              <a:rPr sz="1250" b="0">
                <a:solidFill>
                  <a:srgbClr val="F2F2F2"/>
                </a:solidFill>
                <a:latin typeface="Consolas"/>
              </a:rPr>
              <a:t>  2    WHERE name IN ('filesystemio_options','disk_asynch_io',</a:t>
            </a:r>
          </a:p>
          <a:p>
            <a:pPr>
              <a:spcAft>
                <a:spcPts val="0"/>
              </a:spcAft>
            </a:pPr>
            <a:r>
              <a:rPr sz="1250" b="0">
                <a:solidFill>
                  <a:srgbClr val="F2F2F2"/>
                </a:solidFill>
                <a:latin typeface="Consolas"/>
              </a:rPr>
              <a:t>  3      'db_file_multiblock_read_count','db_writer_processes');</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NAME                            DISPLAY_VALUE</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db_file_multiblock_read_count   128</a:t>
            </a:r>
          </a:p>
          <a:p>
            <a:pPr>
              <a:spcAft>
                <a:spcPts val="0"/>
              </a:spcAft>
            </a:pPr>
            <a:r>
              <a:rPr sz="1250" b="0">
                <a:solidFill>
                  <a:srgbClr val="F2F2F2"/>
                </a:solidFill>
                <a:latin typeface="Consolas"/>
              </a:rPr>
              <a:t>db_writer_processes             1</a:t>
            </a:r>
          </a:p>
          <a:p>
            <a:pPr>
              <a:spcAft>
                <a:spcPts val="0"/>
              </a:spcAft>
            </a:pPr>
            <a:r>
              <a:rPr sz="1250" b="0">
                <a:solidFill>
                  <a:srgbClr val="F2F2F2"/>
                </a:solidFill>
                <a:latin typeface="Consolas"/>
              </a:rPr>
              <a:t>disk_asynch_io                  TRUE</a:t>
            </a:r>
          </a:p>
          <a:p>
            <a:pPr>
              <a:spcAft>
                <a:spcPts val="0"/>
              </a:spcAft>
            </a:pPr>
            <a:r>
              <a:rPr sz="1250" b="0">
                <a:solidFill>
                  <a:srgbClr val="F2F2F2"/>
                </a:solidFill>
                <a:latin typeface="Consolas"/>
              </a:rPr>
              <a:t>filesystemio_options            none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FILESYSTEMIO_OPTIONS와 다중 블록 읽기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값의 의미와 조정 판단</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ASYNCH / DIRECTIO / SETALL / NONE 네 값</a:t>
            </a:r>
          </a:p>
          <a:p>
            <a:pPr>
              <a:spcAft>
                <a:spcPts val="600"/>
              </a:spcAft>
            </a:pPr>
            <a:r>
              <a:rPr sz="1600" b="0">
                <a:solidFill>
                  <a:srgbClr val="222222"/>
                </a:solidFill>
                <a:latin typeface="맑은 고딕"/>
              </a:rPr>
              <a:t>•  SETALL = 비동기 + 직접 I/O 모두 활성(캘리브레이션 전제)</a:t>
            </a:r>
          </a:p>
          <a:p>
            <a:pPr>
              <a:spcAft>
                <a:spcPts val="600"/>
              </a:spcAft>
            </a:pPr>
            <a:r>
              <a:rPr sz="1600" b="0">
                <a:solidFill>
                  <a:srgbClr val="222222"/>
                </a:solidFill>
                <a:latin typeface="맑은 고딕"/>
              </a:rPr>
              <a:t>•  DB_FILE_MULTIBLOCK_READ_COUNT=128 → 한 번에 최대 약 1MB 순차 읽기</a:t>
            </a:r>
          </a:p>
          <a:p>
            <a:pPr>
              <a:spcAft>
                <a:spcPts val="600"/>
              </a:spcAft>
            </a:pPr>
            <a:r>
              <a:rPr sz="1600" b="0">
                <a:solidFill>
                  <a:srgbClr val="222222"/>
                </a:solidFill>
                <a:latin typeface="맑은 고딕"/>
              </a:rPr>
              <a:t>•  클수록 전체 스캔↑ 그러나 옵티마이저가 스캔 선호 가능</a:t>
            </a:r>
          </a:p>
          <a:p>
            <a:pPr>
              <a:spcAft>
                <a:spcPts val="600"/>
              </a:spcAft>
            </a:pPr>
            <a:r>
              <a:rPr sz="1600" b="0">
                <a:solidFill>
                  <a:srgbClr val="222222"/>
                </a:solidFill>
                <a:latin typeface="맑은 고딕"/>
              </a:rPr>
              <a:t>•  다중 블록 읽기 효과는 db file scattered read로 관찰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OS 파일 시스템 캐시와 직접 I/O</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이중 캐싱을 피한다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파일 시스템 데이터파일은 기본적으로 FS 캐시를 거침</a:t>
            </a:r>
          </a:p>
          <a:p>
            <a:pPr>
              <a:spcAft>
                <a:spcPts val="600"/>
              </a:spcAft>
            </a:pPr>
            <a:r>
              <a:rPr sz="1600" b="0">
                <a:solidFill>
                  <a:srgbClr val="222222"/>
                </a:solidFill>
                <a:latin typeface="맑은 고딕"/>
              </a:rPr>
              <a:t>•  오라클 버퍼 캐시 + FS 캐시 = 이중 캐싱(메모리·CPU 낭비)</a:t>
            </a:r>
          </a:p>
          <a:p>
            <a:pPr>
              <a:spcAft>
                <a:spcPts val="600"/>
              </a:spcAft>
            </a:pPr>
            <a:r>
              <a:rPr sz="1600" b="0">
                <a:solidFill>
                  <a:srgbClr val="222222"/>
                </a:solidFill>
                <a:latin typeface="맑은 고딕"/>
              </a:rPr>
              <a:t>•  직접 I/O는 FS 캐시 우회 → CPU 절약</a:t>
            </a:r>
          </a:p>
          <a:p>
            <a:pPr>
              <a:spcAft>
                <a:spcPts val="600"/>
              </a:spcAft>
            </a:pPr>
            <a:r>
              <a:rPr sz="1600" b="0">
                <a:solidFill>
                  <a:srgbClr val="222222"/>
                </a:solidFill>
                <a:latin typeface="맑은 고딕"/>
              </a:rPr>
              <a:t>•  단, TEMP·NOCACHE LOB·병렬 직접 읽기는 OS 버퍼가 유리할 수도</a:t>
            </a:r>
          </a:p>
          <a:p>
            <a:pPr>
              <a:spcAft>
                <a:spcPts val="600"/>
              </a:spcAft>
            </a:pPr>
            <a:r>
              <a:rPr sz="1600" b="0">
                <a:solidFill>
                  <a:srgbClr val="222222"/>
                </a:solidFill>
                <a:latin typeface="맑은 고딕"/>
              </a:rPr>
              <a:t>•  Windows는 항상 FS 캐시 우회 → 이 문제 없음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병목이 DB 안인가 밖인가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V$OSSTAT — CPU·메모리 직접 조회</a:t>
            </a:r>
          </a:p>
          <a:p>
            <a:r>
              <a:rPr sz="1600" b="0">
                <a:solidFill>
                  <a:srgbClr val="FFFFFF"/>
                </a:solidFill>
                <a:latin typeface="맑은 고딕"/>
              </a:rPr>
              <a:t>•  CPU 사용률 계산과 DB 통계 대조</a:t>
            </a:r>
          </a:p>
          <a:p>
            <a:r>
              <a:rPr sz="1600" b="0">
                <a:solidFill>
                  <a:srgbClr val="FFFFFF"/>
                </a:solidFill>
                <a:latin typeface="맑은 고딕"/>
              </a:rPr>
              <a:t>•  메모리 스와핑 징후와 SGA 재검토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왜 DB 밖을 봐야 하는가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OS 지표는 원인이 아니라 위치를 가른다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인스턴스를 튜닝해도 부족하면 시스템 시간을 본다</a:t>
            </a:r>
          </a:p>
          <a:p>
            <a:pPr>
              <a:spcAft>
                <a:spcPts val="600"/>
              </a:spcAft>
            </a:pPr>
            <a:r>
              <a:rPr sz="1600" b="0">
                <a:solidFill>
                  <a:srgbClr val="222222"/>
                </a:solidFill>
                <a:latin typeface="맑은 고딕"/>
              </a:rPr>
              <a:t>•  OS 튜닝의 효과 기대는 낮다 — 구성·앱 변경이 더 크다</a:t>
            </a:r>
          </a:p>
          <a:p>
            <a:pPr>
              <a:spcAft>
                <a:spcPts val="600"/>
              </a:spcAft>
            </a:pPr>
            <a:r>
              <a:rPr sz="1600" b="0">
                <a:solidFill>
                  <a:srgbClr val="222222"/>
                </a:solidFill>
                <a:latin typeface="맑은 고딕"/>
              </a:rPr>
              <a:t>•  OS 지표는 대개 증상(예: buffer busy → 시스템 콜 증가)</a:t>
            </a:r>
          </a:p>
          <a:p>
            <a:pPr>
              <a:spcAft>
                <a:spcPts val="600"/>
              </a:spcAft>
            </a:pPr>
            <a:r>
              <a:rPr sz="1600" b="0">
                <a:solidFill>
                  <a:srgbClr val="222222"/>
                </a:solidFill>
                <a:latin typeface="맑은 고딕"/>
              </a:rPr>
              <a:t>•  목적: OS 튜닝이 아니라 '병목의 위치 판별'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V$OSSTAT 실측 — CPU·메모리</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라이선스 무관 (orcl)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stat_name, value FROM v$osstat</a:t>
            </a:r>
          </a:p>
          <a:p>
            <a:pPr>
              <a:spcAft>
                <a:spcPts val="0"/>
              </a:spcAft>
            </a:pPr>
            <a:r>
              <a:rPr sz="1250" b="0">
                <a:solidFill>
                  <a:srgbClr val="F2F2F2"/>
                </a:solidFill>
                <a:latin typeface="Consolas"/>
              </a:rPr>
              <a:t>  2    WHERE stat_name IN ('NUM_CPUS','NUM_CPU_CORES',</a:t>
            </a:r>
          </a:p>
          <a:p>
            <a:pPr>
              <a:spcAft>
                <a:spcPts val="0"/>
              </a:spcAft>
            </a:pPr>
            <a:r>
              <a:rPr sz="1250" b="0">
                <a:solidFill>
                  <a:srgbClr val="F2F2F2"/>
                </a:solidFill>
                <a:latin typeface="Consolas"/>
              </a:rPr>
              <a:t>  3      'PHYSICAL_MEMORY_BYTES','LOAD','IDLE_TIME','BUSY_TIME');</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STAT_NAME               VALUE</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BUSY_TIME                      653492</a:t>
            </a:r>
          </a:p>
          <a:p>
            <a:pPr>
              <a:spcAft>
                <a:spcPts val="0"/>
              </a:spcAft>
            </a:pPr>
            <a:r>
              <a:rPr sz="1250" b="0">
                <a:solidFill>
                  <a:srgbClr val="F2F2F2"/>
                </a:solidFill>
                <a:latin typeface="Consolas"/>
              </a:rPr>
              <a:t>IDLE_TIME                    35695635</a:t>
            </a:r>
          </a:p>
          <a:p>
            <a:pPr>
              <a:spcAft>
                <a:spcPts val="0"/>
              </a:spcAft>
            </a:pPr>
            <a:r>
              <a:rPr sz="1250" b="0">
                <a:solidFill>
                  <a:srgbClr val="F2F2F2"/>
                </a:solidFill>
                <a:latin typeface="Consolas"/>
              </a:rPr>
              <a:t>LOAD                    0.2099609375</a:t>
            </a:r>
          </a:p>
          <a:p>
            <a:pPr>
              <a:spcAft>
                <a:spcPts val="0"/>
              </a:spcAft>
            </a:pPr>
            <a:r>
              <a:rPr sz="1250" b="0">
                <a:solidFill>
                  <a:srgbClr val="F2F2F2"/>
                </a:solidFill>
                <a:latin typeface="Consolas"/>
              </a:rPr>
              <a:t>NUM_CPUS                            8</a:t>
            </a:r>
          </a:p>
          <a:p>
            <a:pPr>
              <a:spcAft>
                <a:spcPts val="0"/>
              </a:spcAft>
            </a:pPr>
            <a:r>
              <a:rPr sz="1250" b="0">
                <a:solidFill>
                  <a:srgbClr val="F2F2F2"/>
                </a:solidFill>
                <a:latin typeface="Consolas"/>
              </a:rPr>
              <a:t>PHYSICAL_MEMORY_BYTES      8044179456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CPU 사용률 계산과 기대치</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숫자 하나로 좋다·나쁘다 못 정한다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사용률 = BUSY / (BUSY+IDLE) = 653492 / 36349127 ≈ 1.8%</a:t>
            </a:r>
          </a:p>
          <a:p>
            <a:pPr>
              <a:spcAft>
                <a:spcPts val="600"/>
              </a:spcAft>
            </a:pPr>
            <a:r>
              <a:rPr sz="1600" b="0">
                <a:solidFill>
                  <a:srgbClr val="222222"/>
                </a:solidFill>
                <a:latin typeface="맑은 고딕"/>
              </a:rPr>
              <a:t>•  누적 평균이므로 구간은 델타로 재계산</a:t>
            </a:r>
          </a:p>
          <a:p>
            <a:pPr>
              <a:spcAft>
                <a:spcPts val="600"/>
              </a:spcAft>
            </a:pPr>
            <a:r>
              <a:rPr sz="1600" b="0">
                <a:solidFill>
                  <a:srgbClr val="222222"/>
                </a:solidFill>
                <a:latin typeface="맑은 고딕"/>
              </a:rPr>
              <a:t>•  피크 90%는 정상일 수 있고, 평상시 높으면 위험</a:t>
            </a:r>
          </a:p>
          <a:p>
            <a:pPr>
              <a:spcAft>
                <a:spcPts val="600"/>
              </a:spcAft>
            </a:pPr>
            <a:r>
              <a:rPr sz="1600" b="0">
                <a:solidFill>
                  <a:srgbClr val="222222"/>
                </a:solidFill>
                <a:latin typeface="맑은 고딕"/>
              </a:rPr>
              <a:t>•  실측 1.8% = 무부하 → 병목을 논할 수 없음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판정 논리 — 병목의 위치</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OS CPU와 DB Time을 대조</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CPU 높고 오라클이 씀 + DB CPU 비중 높음 → 병목 DB 안(SQL 튜닝)</a:t>
            </a:r>
          </a:p>
          <a:p>
            <a:pPr>
              <a:spcAft>
                <a:spcPts val="600"/>
              </a:spcAft>
            </a:pPr>
            <a:r>
              <a:rPr sz="1600" b="0">
                <a:solidFill>
                  <a:srgbClr val="222222"/>
                </a:solidFill>
                <a:latin typeface="맑은 고딕"/>
              </a:rPr>
              <a:t>•  CPU 높지만 비오라클 프로세스가 씀 → 병목 DB 밖</a:t>
            </a:r>
          </a:p>
          <a:p>
            <a:pPr>
              <a:spcAft>
                <a:spcPts val="600"/>
              </a:spcAft>
            </a:pPr>
            <a:r>
              <a:rPr sz="1600" b="0">
                <a:solidFill>
                  <a:srgbClr val="222222"/>
                </a:solidFill>
                <a:latin typeface="맑은 고딕"/>
              </a:rPr>
              <a:t>•  CPU 한가한데 DB Time 대부분 대기 → I/O·잠금 대기</a:t>
            </a:r>
          </a:p>
          <a:p>
            <a:pPr>
              <a:spcAft>
                <a:spcPts val="600"/>
              </a:spcAft>
            </a:pPr>
            <a:r>
              <a:rPr sz="1600" b="0">
                <a:solidFill>
                  <a:srgbClr val="222222"/>
                </a:solidFill>
                <a:latin typeface="맑은 고딕"/>
              </a:rPr>
              <a:t>•  실측은 무부하 → WL_02_io 부하 후 델타로 판정(실습 05)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실무 — 스와핑 서버에서 SGA 확대 유혹</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순서가 거꾸로다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제안: '히트율이 낮다' → SGA_TARGET 확대로 캐시 늘리자</a:t>
            </a:r>
          </a:p>
          <a:p>
            <a:pPr>
              <a:spcAft>
                <a:spcPts val="600"/>
              </a:spcAft>
            </a:pPr>
            <a:r>
              <a:rPr sz="1600" b="0">
                <a:solidFill>
                  <a:srgbClr val="222222"/>
                </a:solidFill>
                <a:latin typeface="맑은 고딕"/>
              </a:rPr>
              <a:t>•  그러나 서버 메모리는 이미 빠듯</a:t>
            </a:r>
          </a:p>
          <a:p>
            <a:pPr>
              <a:spcAft>
                <a:spcPts val="600"/>
              </a:spcAft>
            </a:pPr>
            <a:r>
              <a:rPr sz="1600" b="0">
                <a:solidFill>
                  <a:srgbClr val="222222"/>
                </a:solidFill>
                <a:latin typeface="맑은 고딕"/>
              </a:rPr>
              <a:t>•  먼저 볼 것: PHYSICAL_MEMORY vs SGA+PGA, 스왑 si/so</a:t>
            </a:r>
          </a:p>
          <a:p>
            <a:pPr>
              <a:spcAft>
                <a:spcPts val="600"/>
              </a:spcAft>
            </a:pPr>
            <a:r>
              <a:rPr sz="1600" b="0">
                <a:solidFill>
                  <a:srgbClr val="222222"/>
                </a:solidFill>
                <a:latin typeface="맑은 고딕"/>
              </a:rPr>
              <a:t>•  판정: 스와핑 관측되면 SGA 확대는 스왑 악화</a:t>
            </a:r>
          </a:p>
          <a:p>
            <a:pPr>
              <a:spcAft>
                <a:spcPts val="600"/>
              </a:spcAft>
            </a:pPr>
            <a:r>
              <a:rPr sz="1600" b="0">
                <a:solidFill>
                  <a:srgbClr val="222222"/>
                </a:solidFill>
                <a:latin typeface="맑은 고딕"/>
              </a:rPr>
              <a:t>•  조치: 스와핑 해소·프로세스 정리 → 필요시 메모리 증설 후 확대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메모리 스와핑 징후와 SGA 재검토</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최악의 오조치를 피한다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물리 메모리 부족 → 페이징·스와핑 → 성능 급락</a:t>
            </a:r>
          </a:p>
          <a:p>
            <a:pPr>
              <a:spcAft>
                <a:spcPts val="600"/>
              </a:spcAft>
            </a:pPr>
            <a:r>
              <a:rPr sz="1600" b="0">
                <a:solidFill>
                  <a:srgbClr val="222222"/>
                </a:solidFill>
                <a:latin typeface="맑은 고딕"/>
              </a:rPr>
              <a:t>•  PHYSICAL_MEMORY_BYTES vs SGA+PGA 합 대조</a:t>
            </a:r>
          </a:p>
          <a:p>
            <a:pPr>
              <a:spcAft>
                <a:spcPts val="600"/>
              </a:spcAft>
            </a:pPr>
            <a:r>
              <a:rPr sz="1600" b="0">
                <a:solidFill>
                  <a:srgbClr val="222222"/>
                </a:solidFill>
                <a:latin typeface="맑은 고딕"/>
              </a:rPr>
              <a:t>•  실측: 물리 약 7.5GiB, ASMM 운영(ch29)</a:t>
            </a:r>
          </a:p>
          <a:p>
            <a:pPr>
              <a:spcAft>
                <a:spcPts val="600"/>
              </a:spcAft>
            </a:pPr>
            <a:r>
              <a:rPr sz="1600" b="0">
                <a:solidFill>
                  <a:srgbClr val="222222"/>
                </a:solidFill>
                <a:latin typeface="맑은 고딕"/>
              </a:rPr>
              <a:t>•  ★ 스와핑 중 SGA 확대는 최악 — 스왑 악화</a:t>
            </a:r>
          </a:p>
          <a:p>
            <a:pPr>
              <a:spcAft>
                <a:spcPts val="600"/>
              </a:spcAft>
            </a:pPr>
            <a:r>
              <a:rPr sz="1600" b="0">
                <a:solidFill>
                  <a:srgbClr val="222222"/>
                </a:solidFill>
                <a:latin typeface="맑은 고딕"/>
              </a:rPr>
              <a:t>•  조치 순서: 스와핑 해소 또는 메모리 증설 → 그 뒤 캐시 확대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네트워크 지연 오판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SQL*Net message from client = Idle</a:t>
            </a:r>
          </a:p>
          <a:p>
            <a:r>
              <a:rPr sz="1600" b="0">
                <a:solidFill>
                  <a:srgbClr val="FFFFFF"/>
                </a:solidFill>
                <a:latin typeface="맑은 고딕"/>
              </a:rPr>
              <a:t>•  한가한 시스템일수록 크게 보인다</a:t>
            </a:r>
          </a:p>
          <a:p>
            <a:r>
              <a:rPr sz="1600" b="0">
                <a:solidFill>
                  <a:srgbClr val="FFFFFF"/>
                </a:solidFill>
                <a:latin typeface="맑은 고딕"/>
              </a:rPr>
              <a:t>•  진짜 네트워크는 전송 이벤트로 의심</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SQL*Net message from client는 Idle</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네트워크 병목이 아니다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DB가 클라이언트의 다음 요청을 기다리는 유휴 시간</a:t>
            </a:r>
          </a:p>
          <a:p>
            <a:pPr>
              <a:spcAft>
                <a:spcPts val="600"/>
              </a:spcAft>
            </a:pPr>
            <a:r>
              <a:rPr sz="1600" b="0">
                <a:solidFill>
                  <a:srgbClr val="222222"/>
                </a:solidFill>
                <a:latin typeface="맑은 고딕"/>
              </a:rPr>
              <a:t>•  사용자 생각·앱 처리 시간이 여기 쌓임 → 대개 상위</a:t>
            </a:r>
          </a:p>
          <a:p>
            <a:pPr>
              <a:spcAft>
                <a:spcPts val="600"/>
              </a:spcAft>
            </a:pPr>
            <a:r>
              <a:rPr sz="1600" b="0">
                <a:solidFill>
                  <a:srgbClr val="222222"/>
                </a:solidFill>
                <a:latin typeface="맑은 고딕"/>
              </a:rPr>
              <a:t>•  한가한 시스템일수록 비중이 큼 → 병목으로 세면 오판</a:t>
            </a:r>
          </a:p>
          <a:p>
            <a:pPr>
              <a:spcAft>
                <a:spcPts val="600"/>
              </a:spcAft>
            </a:pPr>
            <a:r>
              <a:rPr sz="1600" b="0">
                <a:solidFill>
                  <a:srgbClr val="222222"/>
                </a:solidFill>
                <a:latin typeface="맑은 고딕"/>
              </a:rPr>
              <a:t>•  대기 클래스가 Idle → DB Time 병목 순위에서 제외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진짜 네트워크를 의심할 근거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전송 이벤트와 전송량 대비 시간</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SQL*Net more data to/from client 큼 → 대량 전송 의심</a:t>
            </a:r>
          </a:p>
          <a:p>
            <a:pPr>
              <a:spcAft>
                <a:spcPts val="600"/>
              </a:spcAft>
            </a:pPr>
            <a:r>
              <a:rPr sz="1600" b="0">
                <a:solidFill>
                  <a:srgbClr val="222222"/>
                </a:solidFill>
                <a:latin typeface="맑은 고딕"/>
              </a:rPr>
              <a:t>•  SQL*Net message from dblink 큼 → 원격 DB·링크 지연</a:t>
            </a:r>
          </a:p>
          <a:p>
            <a:pPr>
              <a:spcAft>
                <a:spcPts val="600"/>
              </a:spcAft>
            </a:pPr>
            <a:r>
              <a:rPr sz="1600" b="0">
                <a:solidFill>
                  <a:srgbClr val="222222"/>
                </a:solidFill>
                <a:latin typeface="맑은 고딕"/>
              </a:rPr>
              <a:t>•  전송량 대비 시간이 길 때만 네트워크 조사</a:t>
            </a:r>
          </a:p>
          <a:p>
            <a:pPr>
              <a:spcAft>
                <a:spcPts val="600"/>
              </a:spcAft>
            </a:pPr>
            <a:r>
              <a:rPr sz="1600" b="0">
                <a:solidFill>
                  <a:srgbClr val="222222"/>
                </a:solidFill>
                <a:latin typeface="맑은 고딕"/>
              </a:rPr>
              <a:t>•  유휴 뒤에 숨은 비유휴 대기(느린 SQL·잠금·I/O)가 진짜 병목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리소스 관리자 — DB 가 자원을 나눠 준다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소비자 그룹 → 플랜 → 지시어 → 매핑 → 활성화</a:t>
            </a:r>
          </a:p>
          <a:p>
            <a:r>
              <a:rPr sz="1600" b="0">
                <a:solidFill>
                  <a:srgbClr val="FFFFFF"/>
                </a:solidFill>
                <a:latin typeface="맑은 고딕"/>
              </a:rPr>
              <a:t>•  EMPHASIS(백분율)와 RATIO(가중치)</a:t>
            </a:r>
          </a:p>
          <a:p>
            <a:r>
              <a:rPr sz="1600" b="0">
                <a:solidFill>
                  <a:srgbClr val="FFFFFF"/>
                </a:solidFill>
                <a:latin typeface="맑은 고딕"/>
              </a:rPr>
              <a:t>•  활성 세션 풀 — 동시 실행 수를 막고 큐에 세운다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리소스 관리자가 하는 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OS 가 아니라 DB 가 나눈다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OS 는 세션을 구분하지 못한다 — 배치도 온라인도 같은 서버 프로세스로 보인다</a:t>
            </a:r>
          </a:p>
          <a:p>
            <a:pPr>
              <a:spcAft>
                <a:spcPts val="600"/>
              </a:spcAft>
            </a:pPr>
            <a:r>
              <a:rPr sz="1600" b="0">
                <a:solidFill>
                  <a:srgbClr val="222222"/>
                </a:solidFill>
                <a:latin typeface="맑은 고딕"/>
              </a:rPr>
              <a:t>•  소비자 그룹으로 세션을 묶고, 플랜 지시어로 CPU·동시 세션 수를 배분한다</a:t>
            </a:r>
          </a:p>
          <a:p>
            <a:pPr>
              <a:spcAft>
                <a:spcPts val="600"/>
              </a:spcAft>
            </a:pPr>
            <a:r>
              <a:rPr sz="1600" b="0">
                <a:solidFill>
                  <a:srgbClr val="222222"/>
                </a:solidFill>
                <a:latin typeface="맑은 고딕"/>
              </a:rPr>
              <a:t>•  CPU 가 남으면 아무도 제한하지 않는다 — 경합할 때만 비율이 의미를 가진다</a:t>
            </a:r>
          </a:p>
          <a:p>
            <a:pPr>
              <a:spcAft>
                <a:spcPts val="600"/>
              </a:spcAft>
            </a:pPr>
            <a:r>
              <a:rPr sz="1600" b="0">
                <a:solidFill>
                  <a:srgbClr val="222222"/>
                </a:solidFill>
                <a:latin typeface="맑은 고딕"/>
              </a:rPr>
              <a:t>•  Enterprise Edition 기본 기능 — 별도 팩 라이선스가 필요 없다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구성 순서와 SUBMIT 검증</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Pending Area 에서 만들고 SUBMIT 에서 검증된다 (orcl 19.3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SYS@orcl&gt; EXEC DBMS_RESOURCE_MANAGER.CREATE_PENDING_AREA();</a:t>
            </a:r>
          </a:p>
          <a:p>
            <a:pPr>
              <a:spcAft>
                <a:spcPts val="0"/>
              </a:spcAft>
            </a:pPr>
            <a:r>
              <a:rPr sz="1250" b="0">
                <a:solidFill>
                  <a:srgbClr val="F2F2F2"/>
                </a:solidFill>
                <a:latin typeface="Consolas"/>
              </a:rPr>
              <a:t>SYS@orcl&gt; EXEC DBMS_RESOURCE_MANAGER.CREATE_CONSUMER_GROUP('OLTP_GROUP', '...');</a:t>
            </a:r>
          </a:p>
          <a:p>
            <a:pPr>
              <a:spcAft>
                <a:spcPts val="0"/>
              </a:spcAft>
            </a:pPr>
            <a:r>
              <a:rPr sz="1250" b="0">
                <a:solidFill>
                  <a:srgbClr val="F2F2F2"/>
                </a:solidFill>
                <a:latin typeface="Consolas"/>
              </a:rPr>
              <a:t>SYS@orcl&gt; EXEC DBMS_RESOURCE_MANAGER.CREATE_PLAN('MY_WORK_PLAN', '...');</a:t>
            </a:r>
          </a:p>
          <a:p>
            <a:pPr>
              <a:spcAft>
                <a:spcPts val="0"/>
              </a:spcAft>
            </a:pPr>
            <a:r>
              <a:rPr sz="1250" b="0">
                <a:solidFill>
                  <a:srgbClr val="F2F2F2"/>
                </a:solidFill>
                <a:latin typeface="Consolas"/>
              </a:rPr>
              <a:t>SYS@orcl&gt; EXEC DBMS_RESOURCE_MANAGER.SUBMIT_PENDING_AREA();</a:t>
            </a:r>
          </a:p>
          <a:p>
            <a:pPr>
              <a:spcAft>
                <a:spcPts val="0"/>
              </a:spcAft>
            </a:pPr>
            <a:r>
              <a:rPr sz="1250" b="0">
                <a:solidFill>
                  <a:srgbClr val="F2F2F2"/>
                </a:solidFill>
                <a:latin typeface="Consolas"/>
              </a:rPr>
              <a:t>ORA-29377: OTHER_GROUPS 수요자 그룹은 MY_WORK_PLAN 상단 계획에 일부가 아닙니다</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PLAN            GROUP_OR_SUBPLAN      MGMT_P1     ← OTHER_GROUPS 를 넣고 다시</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MY_WORK_PLAN    OLTP_GROUP                 70</a:t>
            </a:r>
          </a:p>
          <a:p>
            <a:pPr>
              <a:spcAft>
                <a:spcPts val="0"/>
              </a:spcAft>
            </a:pPr>
            <a:r>
              <a:rPr sz="1250" b="0">
                <a:solidFill>
                  <a:srgbClr val="F2F2F2"/>
                </a:solidFill>
                <a:latin typeface="Consolas"/>
              </a:rPr>
              <a:t>MY_WORK_PLAN    PTW_BATCH_GROUP            20</a:t>
            </a:r>
          </a:p>
          <a:p>
            <a:pPr>
              <a:spcAft>
                <a:spcPts val="0"/>
              </a:spcAft>
            </a:pPr>
            <a:r>
              <a:rPr sz="1250" b="0">
                <a:solidFill>
                  <a:srgbClr val="F2F2F2"/>
                </a:solidFill>
                <a:latin typeface="Consolas"/>
              </a:rPr>
              <a:t>MY_WORK_PLAN    OTHER_GROUPS               10     ← 최상위 플랜에 필수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플랜을 켜야 동작한다 — 활성 세션 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정의만 만들면 아무 일도 일어나지 않는다 (풀 1, 세션 2 개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SYS@orcl&gt; ALTER SYSTEM SET resource_manager_plan = 'MY_WORK_PLAN' SCOPE=MEMORY;</a:t>
            </a:r>
          </a:p>
          <a:p>
            <a:pPr>
              <a:spcAft>
                <a:spcPts val="0"/>
              </a:spcAft>
            </a:pPr>
            <a:r>
              <a:rPr sz="1250" b="0">
                <a:solidFill>
                  <a:srgbClr val="F2F2F2"/>
                </a:solidFill>
                <a:latin typeface="Consolas"/>
              </a:rPr>
              <a:t>SYS@orcl&gt; SELECT name, cpu_managed FROM v$rsrc_plan;</a:t>
            </a:r>
          </a:p>
          <a:p>
            <a:pPr>
              <a:spcAft>
                <a:spcPts val="0"/>
              </a:spcAft>
            </a:pPr>
            <a:r>
              <a:rPr sz="1250" b="0">
                <a:solidFill>
                  <a:srgbClr val="F2F2F2"/>
                </a:solidFill>
                <a:latin typeface="Consolas"/>
              </a:rPr>
              <a:t>MY_WORK_PLAN                     ON      ← 켜기 전에는 INTERNAL_PLAN / OFF</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NAME              ACTIVE_SESSIONS QUEUE_LENGTH  풀초과  누적큐ms  타임아웃</a:t>
            </a:r>
          </a:p>
          <a:p>
            <a:pPr>
              <a:spcAft>
                <a:spcPts val="0"/>
              </a:spcAft>
            </a:pPr>
            <a:r>
              <a:rPr sz="1250" b="0">
                <a:solidFill>
                  <a:srgbClr val="F2F2F2"/>
                </a:solidFill>
                <a:latin typeface="Consolas"/>
              </a:rPr>
              <a:t>----------------- --------------- ------------ ------- --------- --------</a:t>
            </a:r>
          </a:p>
          <a:p>
            <a:pPr>
              <a:spcAft>
                <a:spcPts val="0"/>
              </a:spcAft>
            </a:pPr>
            <a:r>
              <a:rPr sz="1250" b="0">
                <a:solidFill>
                  <a:srgbClr val="F2F2F2"/>
                </a:solidFill>
                <a:latin typeface="Consolas"/>
              </a:rPr>
              <a:t>PTW_BATCH_GROUP                 1            1       4     39977        1</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V$SESSION   EVENT = resmgr:become active ,  CURRENT_QUEUE_DURATION = 11</a:t>
            </a:r>
          </a:p>
          <a:p>
            <a:pPr>
              <a:spcAft>
                <a:spcPts val="0"/>
              </a:spcAft>
            </a:pPr>
            <a:r>
              <a:rPr sz="1250" b="0">
                <a:solidFill>
                  <a:srgbClr val="F2F2F2"/>
                </a:solidFill>
                <a:latin typeface="Consolas"/>
              </a:rPr>
              <a:t>큐 30 초(QUEUEING_P1) 초과 → ORA-07454 로 업무가 실패한다</a:t>
            </a:r>
          </a:p>
          <a:p>
            <a:pPr>
              <a:spcAft>
                <a:spcPts val="0"/>
              </a:spcAft>
            </a:pPr>
            <a:r>
              <a:rPr sz="1250" b="0">
                <a:solidFill>
                  <a:srgbClr val="F2F2F2"/>
                </a:solidFill>
                <a:latin typeface="Consolas"/>
              </a:rPr>
              <a:t>→ 이 네 값(풀초과·누적큐·타임아웃·소비CPU)이 풀 사이징의 근거다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실무 — 교재대로 하면 걸리는 곳</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19c 에서 실행해 확인한 네 가지</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ORA-29357  BATCH_GROUP 등 Oracle 샘플 그룹 6개가 이미 있다 → 접두를 붙인다</a:t>
            </a:r>
          </a:p>
          <a:p>
            <a:pPr>
              <a:spcAft>
                <a:spcPts val="600"/>
              </a:spcAft>
            </a:pPr>
            <a:r>
              <a:rPr sz="1600" b="0">
                <a:solidFill>
                  <a:srgbClr val="222222"/>
                </a:solidFill>
                <a:latin typeface="맑은 고딕"/>
              </a:rPr>
              <a:t>•  ORA-29377  최상위 플랜에 OTHER_GROUPS 지시어가 없으면 SUBMIT 이 거부된다</a:t>
            </a:r>
          </a:p>
          <a:p>
            <a:pPr>
              <a:spcAft>
                <a:spcPts val="600"/>
              </a:spcAft>
            </a:pPr>
            <a:r>
              <a:rPr sz="1600" b="0">
                <a:solidFill>
                  <a:srgbClr val="222222"/>
                </a:solidFill>
                <a:latin typeface="맑은 고딕"/>
              </a:rPr>
              <a:t>•  ORA-29375  EMPHASIS 는 레벨당 합 100 초과 금지 (RATIO 는 합계 제한 없음)</a:t>
            </a:r>
          </a:p>
          <a:p>
            <a:pPr>
              <a:spcAft>
                <a:spcPts val="600"/>
              </a:spcAft>
            </a:pPr>
            <a:r>
              <a:rPr sz="1600" b="0">
                <a:solidFill>
                  <a:srgbClr val="222222"/>
                </a:solidFill>
                <a:latin typeface="맑은 고딕"/>
              </a:rPr>
              <a:t>•  DEFAULT_PLAN 수정은 '된다' — mandatory 는 삭제 금지일 뿐. 자기 플랜에 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34.8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측정 → 진단 → 조치 → 재측정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20개 장을 하나의 순환으로</a:t>
            </a:r>
          </a:p>
          <a:p>
            <a:r>
              <a:rPr sz="1600" b="0">
                <a:solidFill>
                  <a:srgbClr val="FFFFFF"/>
                </a:solidFill>
                <a:latin typeface="맑은 고딕"/>
              </a:rPr>
              <a:t>•  병목이 DB 안인가 밖인가를 가른다</a:t>
            </a:r>
          </a:p>
          <a:p>
            <a:r>
              <a:rPr sz="1600" b="0">
                <a:solidFill>
                  <a:srgbClr val="FFFFFF"/>
                </a:solidFill>
                <a:latin typeface="맑은 고딕"/>
              </a:rPr>
              <a:t>•  근거를 가지고 옳은 팀에 넘긴다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과정 전체를 한 번 꿰다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ch15에서 ch34까지 하나의 방법론</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측정: DB Time → 대기 분해 → I/O면 V$FILESTAT, 자원이면 V$OSSTAT</a:t>
            </a:r>
          </a:p>
          <a:p>
            <a:pPr>
              <a:spcAft>
                <a:spcPts val="600"/>
              </a:spcAft>
            </a:pPr>
            <a:r>
              <a:rPr sz="1600" b="0">
                <a:solidFill>
                  <a:srgbClr val="222222"/>
                </a:solidFill>
                <a:latin typeface="맑은 고딕"/>
              </a:rPr>
              <a:t>•  진단: 병목이 DB 안(SQL·구성·메모리)인가 밖(스토리지·CPU·메모리·네트워크)인가</a:t>
            </a:r>
          </a:p>
          <a:p>
            <a:pPr>
              <a:spcAft>
                <a:spcPts val="600"/>
              </a:spcAft>
            </a:pPr>
            <a:r>
              <a:rPr sz="1600" b="0">
                <a:solidFill>
                  <a:srgbClr val="222222"/>
                </a:solidFill>
                <a:latin typeface="맑은 고딕"/>
              </a:rPr>
              <a:t>•  조치: 원인별 처방 — 스와핑이면 SGA를 키우지 않는다</a:t>
            </a:r>
          </a:p>
          <a:p>
            <a:pPr>
              <a:spcAft>
                <a:spcPts val="600"/>
              </a:spcAft>
            </a:pPr>
            <a:r>
              <a:rPr sz="1600" b="0">
                <a:solidFill>
                  <a:srgbClr val="222222"/>
                </a:solidFill>
                <a:latin typeface="맑은 고딕"/>
              </a:rPr>
              <a:t>•  재측정: 같은 지표를 델타로 다시 재어 판정 (조치 전 캡처 필수)</a:t>
            </a:r>
          </a:p>
          <a:p>
            <a:pPr>
              <a:spcAft>
                <a:spcPts val="600"/>
              </a:spcAft>
            </a:pPr>
            <a:r>
              <a:rPr sz="1600" b="0">
                <a:solidFill>
                  <a:srgbClr val="222222"/>
                </a:solidFill>
                <a:latin typeface="맑은 고딕"/>
              </a:rPr>
              <a:t>•  경계 긋기: SQL은 SQL 튜닝으로, 자원 부족은 인프라 증설로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Q1. undo=쓰기·system=읽기 편중이 문제가 아닌 이유는?</a:t>
            </a:r>
          </a:p>
          <a:p>
            <a:pPr>
              <a:spcAft>
                <a:spcPts val="600"/>
              </a:spcAft>
            </a:pPr>
            <a:r>
              <a:rPr sz="1600" b="0">
                <a:solidFill>
                  <a:srgbClr val="222222"/>
                </a:solidFill>
                <a:latin typeface="맑은 고딕"/>
              </a:rPr>
              <a:t>•  Q2. MBRC·SREADTIM·MREADTIM이 NULL이면 무엇을 뜻하고 무엇을 하는가?</a:t>
            </a:r>
          </a:p>
          <a:p>
            <a:pPr>
              <a:spcAft>
                <a:spcPts val="600"/>
              </a:spcAft>
            </a:pPr>
            <a:r>
              <a:rPr sz="1600" b="0">
                <a:solidFill>
                  <a:srgbClr val="222222"/>
                </a:solidFill>
                <a:latin typeface="맑은 고딕"/>
              </a:rPr>
              <a:t>•  Q3. CALIBRATE_IO 전제조건 셋과 유휴 시간에만 수행하는 이유는?</a:t>
            </a:r>
          </a:p>
          <a:p>
            <a:pPr>
              <a:spcAft>
                <a:spcPts val="600"/>
              </a:spcAft>
            </a:pPr>
            <a:r>
              <a:rPr sz="1600" b="0">
                <a:solidFill>
                  <a:srgbClr val="222222"/>
                </a:solidFill>
                <a:latin typeface="맑은 고딕"/>
              </a:rPr>
              <a:t>•  Q4. BUSY=653492, IDLE=35695635의 CPU 사용률과 '한가하다' 전 확인할 것은?</a:t>
            </a:r>
          </a:p>
          <a:p>
            <a:pPr>
              <a:spcAft>
                <a:spcPts val="600"/>
              </a:spcAft>
            </a:pPr>
            <a:r>
              <a:rPr sz="1600" b="0">
                <a:solidFill>
                  <a:srgbClr val="222222"/>
                </a:solidFill>
                <a:latin typeface="맑은 고딕"/>
              </a:rPr>
              <a:t>•  Q5. 스와핑 서버에서 SGA를 키우면 안 되는 이유와 올바른 조치 순서는?</a:t>
            </a:r>
          </a:p>
          <a:p>
            <a:pPr>
              <a:spcAft>
                <a:spcPts val="600"/>
              </a:spcAft>
            </a:pPr>
            <a:r>
              <a:rPr sz="1600" b="0">
                <a:solidFill>
                  <a:srgbClr val="222222"/>
                </a:solidFill>
                <a:latin typeface="맑은 고딕"/>
              </a:rPr>
              <a:t>•  Q6. SQL*Net message from client를 네트워크 병목으로 보면 안 되는 이유는?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I/O 편중은 V$FILESTAT·V$IOSTAT_FILE로 상대 비교·델타로 판정한다.</a:t>
            </a:r>
          </a:p>
          <a:p>
            <a:pPr>
              <a:spcAft>
                <a:spcPts val="600"/>
              </a:spcAft>
            </a:pPr>
            <a:r>
              <a:rPr sz="1600" b="0">
                <a:solidFill>
                  <a:srgbClr val="222222"/>
                </a:solidFill>
                <a:latin typeface="맑은 고딕"/>
              </a:rPr>
              <a:t>•  NOWORKLOAD(MBRC·SREADTIM NULL)이면 CALIBRATE_IO로 스토리지 상한을 실측한다.</a:t>
            </a:r>
          </a:p>
          <a:p>
            <a:pPr>
              <a:spcAft>
                <a:spcPts val="600"/>
              </a:spcAft>
            </a:pPr>
            <a:r>
              <a:rPr sz="1600" b="0">
                <a:solidFill>
                  <a:srgbClr val="222222"/>
                </a:solidFill>
                <a:latin typeface="맑은 고딕"/>
              </a:rPr>
              <a:t>•  비동기 I/O(disk_asynch_io=TRUE, filesystemio_options=none)·다중 블록 읽기(128)를 점검한다.</a:t>
            </a:r>
          </a:p>
          <a:p>
            <a:pPr>
              <a:spcAft>
                <a:spcPts val="600"/>
              </a:spcAft>
            </a:pPr>
            <a:r>
              <a:rPr sz="1600" b="0">
                <a:solidFill>
                  <a:srgbClr val="222222"/>
                </a:solidFill>
                <a:latin typeface="맑은 고딕"/>
              </a:rPr>
              <a:t>•  V$OSSTAT로 CPU 사용률(실측 약 1.8%, 무부하)을 계산해 DB Time과 대조한다.</a:t>
            </a:r>
          </a:p>
          <a:p>
            <a:pPr>
              <a:spcAft>
                <a:spcPts val="600"/>
              </a:spcAft>
            </a:pPr>
            <a:r>
              <a:rPr sz="1600" b="0">
                <a:solidFill>
                  <a:srgbClr val="222222"/>
                </a:solidFill>
                <a:latin typeface="맑은 고딕"/>
              </a:rPr>
              <a:t>•  스와핑 중 SGA 확대는 금지 — 스와핑부터 해소한다.</a:t>
            </a:r>
          </a:p>
          <a:p>
            <a:pPr>
              <a:spcAft>
                <a:spcPts val="600"/>
              </a:spcAft>
            </a:pPr>
            <a:r>
              <a:rPr sz="1600" b="0">
                <a:solidFill>
                  <a:srgbClr val="222222"/>
                </a:solidFill>
                <a:latin typeface="맑은 고딕"/>
              </a:rPr>
              <a:t>•  SQL*Net message from client는 Idle — 네트워크 오판을 교정한다.</a:t>
            </a:r>
          </a:p>
          <a:p>
            <a:pPr>
              <a:spcAft>
                <a:spcPts val="600"/>
              </a:spcAft>
            </a:pPr>
            <a:r>
              <a:rPr sz="1600" b="0">
                <a:solidFill>
                  <a:srgbClr val="222222"/>
                </a:solidFill>
                <a:latin typeface="맑은 고딕"/>
              </a:rPr>
              <a:t>•  리소스 관리자는 소비자 그룹·플랜·지시어로 CPU 와 동시 세션을 나눈다 — 플랜을 켜야 동작한다.</a:t>
            </a:r>
          </a:p>
          <a:p>
            <a:pPr>
              <a:spcAft>
                <a:spcPts val="600"/>
              </a:spcAft>
            </a:pPr>
            <a:r>
              <a:rPr sz="1600" b="0">
                <a:solidFill>
                  <a:srgbClr val="222222"/>
                </a:solidFill>
                <a:latin typeface="맑은 고딕"/>
              </a:rPr>
              <a:t>•  전 과정은 측정→진단→조치→재측정의 한 순환이다.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500" b="0">
                <a:solidFill>
                  <a:srgbClr val="222222"/>
                </a:solidFill>
                <a:latin typeface="맑은 고딕"/>
              </a:rPr>
              <a:t>•  실습 01 — 데이터파일별 I/O 분포와 편중 판별(V$FILESTAT, WL_02_io)</a:t>
            </a:r>
          </a:p>
          <a:p>
            <a:pPr>
              <a:spcAft>
                <a:spcPts val="600"/>
              </a:spcAft>
            </a:pPr>
            <a:r>
              <a:rPr sz="1500" b="0">
                <a:solidFill>
                  <a:srgbClr val="222222"/>
                </a:solidFill>
                <a:latin typeface="맑은 고딕"/>
              </a:rPr>
              <a:t>•  실습 02 — I/O 캘리브레이션과 결과 해석(AUX_STATS$·CALIBRATE_IO)</a:t>
            </a:r>
          </a:p>
          <a:p>
            <a:pPr>
              <a:spcAft>
                <a:spcPts val="600"/>
              </a:spcAft>
            </a:pPr>
            <a:r>
              <a:rPr sz="1500" b="0">
                <a:solidFill>
                  <a:srgbClr val="222222"/>
                </a:solidFill>
                <a:latin typeface="맑은 고딕"/>
              </a:rPr>
              <a:t>•  실습 03 — 비동기 I/O 설정 확인(FILESYSTEMIO_OPTIONS·DISK_ASYNCH_IO)</a:t>
            </a:r>
          </a:p>
          <a:p>
            <a:pPr>
              <a:spcAft>
                <a:spcPts val="600"/>
              </a:spcAft>
            </a:pPr>
            <a:r>
              <a:rPr sz="1500" b="0">
                <a:solidFill>
                  <a:srgbClr val="222222"/>
                </a:solidFill>
                <a:latin typeface="맑은 고딕"/>
              </a:rPr>
              <a:t>•  실습 04 — 다중 블록 읽기와 전체 스캔(DB_FILE_MULTIBLOCK_READ_COUNT, WL_02_io)</a:t>
            </a:r>
          </a:p>
          <a:p>
            <a:pPr>
              <a:spcAft>
                <a:spcPts val="600"/>
              </a:spcAft>
            </a:pPr>
            <a:r>
              <a:rPr sz="1500" b="0">
                <a:solidFill>
                  <a:srgbClr val="222222"/>
                </a:solidFill>
                <a:latin typeface="맑은 고딕"/>
              </a:rPr>
              <a:t>•  실습 05 — OS CPU 사용률과 DB 통계 대조(V$OSSTAT)</a:t>
            </a:r>
          </a:p>
          <a:p>
            <a:pPr>
              <a:spcAft>
                <a:spcPts val="600"/>
              </a:spcAft>
            </a:pPr>
            <a:r>
              <a:rPr sz="1500" b="0">
                <a:solidFill>
                  <a:srgbClr val="222222"/>
                </a:solidFill>
                <a:latin typeface="맑은 고딕"/>
              </a:rPr>
              <a:t>•  실습 06 — 메모리 스와핑 징후와 SGA 재검토</a:t>
            </a:r>
          </a:p>
          <a:p>
            <a:pPr>
              <a:spcAft>
                <a:spcPts val="600"/>
              </a:spcAft>
            </a:pPr>
            <a:r>
              <a:rPr sz="1500" b="0">
                <a:solidFill>
                  <a:srgbClr val="222222"/>
                </a:solidFill>
                <a:latin typeface="맑은 고딕"/>
              </a:rPr>
              <a:t>•  실습 07 — 네트워크 지연 판별(SQL*Net message from client)</a:t>
            </a:r>
          </a:p>
          <a:p>
            <a:pPr>
              <a:spcAft>
                <a:spcPts val="600"/>
              </a:spcAft>
            </a:pPr>
            <a:r>
              <a:rPr sz="1500" b="0">
                <a:solidFill>
                  <a:srgbClr val="222222"/>
                </a:solidFill>
                <a:latin typeface="맑은 고딕"/>
              </a:rPr>
              <a:t>•  실습 08 — 리소스 관리자: CPU 할당과 활성 세션 풀(DBMS_RESOURCE_MANAGER, V$RSRC_*)</a:t>
            </a:r>
          </a:p>
          <a:p>
            <a:pPr>
              <a:spcAft>
                <a:spcPts val="600"/>
              </a:spcAft>
            </a:pPr>
            <a:r>
              <a:rPr sz="1500" b="0">
                <a:solidFill>
                  <a:srgbClr val="222222"/>
                </a:solidFill>
                <a:latin typeface="맑은 고딕"/>
              </a:rPr>
              <a:t>•  ※ 환경: non-CDB orcl 19.3 · 프롬프트 SYS@orcl&gt;/SQLT@orcl&gt; · 조치 전→조회→해석 + 오류 흐름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
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ch34의 역할은 DB 안과 밖의 경계를 긋는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34.2  데이터파일별 I/O 분포 — 편중 판별</a:t>
            </a:r>
          </a:p>
          <a:p>
            <a:pPr>
              <a:spcAft>
                <a:spcPts val="600"/>
              </a:spcAft>
            </a:pPr>
            <a:r>
              <a:rPr sz="1600" b="0">
                <a:solidFill>
                  <a:srgbClr val="222222"/>
                </a:solidFill>
                <a:latin typeface="맑은 고딕"/>
              </a:rPr>
              <a:t>•  34.3  I/O 캘리브레이션 — CALIBRATE_IO</a:t>
            </a:r>
          </a:p>
          <a:p>
            <a:pPr>
              <a:spcAft>
                <a:spcPts val="600"/>
              </a:spcAft>
            </a:pPr>
            <a:r>
              <a:rPr sz="1600" b="0">
                <a:solidFill>
                  <a:srgbClr val="222222"/>
                </a:solidFill>
                <a:latin typeface="맑은 고딕"/>
              </a:rPr>
              <a:t>•  34.4  비동기 I/O와 다중 블록 읽기</a:t>
            </a:r>
          </a:p>
          <a:p>
            <a:pPr>
              <a:spcAft>
                <a:spcPts val="600"/>
              </a:spcAft>
            </a:pPr>
            <a:r>
              <a:rPr sz="1600" b="0">
                <a:solidFill>
                  <a:srgbClr val="222222"/>
                </a:solidFill>
                <a:latin typeface="맑은 고딕"/>
              </a:rPr>
              <a:t>•  34.5  병목이 DB 안인가 밖인가 — OS 자원 판별</a:t>
            </a:r>
          </a:p>
          <a:p>
            <a:pPr>
              <a:spcAft>
                <a:spcPts val="600"/>
              </a:spcAft>
            </a:pPr>
            <a:r>
              <a:rPr sz="1600" b="0">
                <a:solidFill>
                  <a:srgbClr val="222222"/>
                </a:solidFill>
                <a:latin typeface="맑은 고딕"/>
              </a:rPr>
              <a:t>•  34.6  네트워크 지연 오판 — SQL*Net message from client</a:t>
            </a:r>
          </a:p>
          <a:p>
            <a:pPr>
              <a:spcAft>
                <a:spcPts val="600"/>
              </a:spcAft>
            </a:pPr>
            <a:r>
              <a:rPr sz="1600" b="0">
                <a:solidFill>
                  <a:srgbClr val="222222"/>
                </a:solidFill>
                <a:latin typeface="맑은 고딕"/>
              </a:rPr>
              <a:t>•  34.7  측정 → 진단 → 조치 → 재측정 (과정 전체 종합)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운영(ch29)</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ch15에서 ch34까지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
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ch08은 옵티마이저가 왜 틀리는가를 정면으로 다루는 장이다. 앞 장들에서 실행계획을 읽고 판단하는 법을 익혔다면, 이 장은 그 판단의 재료인 통계정보 자체를 의심해 보는 장이다. 특히 이번 차시는 설명만 듣는 것이 아니라 히스토그램을 직접 제거하고 다시 만들어 보면서 추정치가 어떻게 달라지는지를 눈으로 확인한다. 통계를 일시적으로 변경하는 실습이므로 종료 시 반드시 원상복구해야 한다는 점을 첫 화면에서부터 못 박아 두는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묶음으로 읽어 주면 좋다. 앞의 두 줄은 원리, 가운데 세 줄은 관측 기술, 마지막 두 줄은 한계 인식이다. 이 장에서 가장 중요한 것은 세 번째 줄인데, 같은 데이터와 같은 컬럼을 두고 오직 통계만 바꿔 본다는 실험 설계 자체가 이 차시의 핵심이기 때문이다. 학습자에게 지금 몇 개를 설명할 수 있는지 표시하게 하고 장 끝에서 같은 목록을 다시 보게 하면, 통계정보라는 눈에 안 보이는 주제의 학습 효과를 본인이 직접 확인할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흐름은 개념에서 원리로, 다시 세 번의 관측을 거쳐 한계 논의로 이어진다. 관측이 세 번인 이유가 중요하다. 있는 상태와 없는 상태만 비교하면 우연히 달라진 것인지 알 수 없기 때문에, 복원까지 세 단계를 밟아 원래대로 돌아오는지를 확인하는 구조로 설계했다. 시간이 부족하면 이론 구간을 줄이더라도 이 세 관측은 반드시 순서대로 다 보여 주는 편이 낫다. 마지막 절은 이 장의 결론을 뒤집는 것이 아니라 적용 범위를 정하는 구간이다.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이 장이 왜 필요한지를 납득시키는 구간이다. 학습자는 이미 앞 장에서 값에 따라 추정치가 달라진다는 현상을 봤지만, 그것이 히스토그램 덕분이라는 것은 아직 관찰이 아니라 설명으로만 알고 있다. 여기서 안다는 것과 확인했다는 것이 다른 상태라는 점을 분명히 해 두면, 뒤이어 나오는 제거 실습이 위험한 장난이 아니라 필요한 검증으로 받아들여진다. 절 제목을 읽어 준 다음 통계를 지워 본 적이 있느냐고 물어보면 이 절의 문제의식이 곧바로 살아난다.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것은 이 장이 새 기능을 배우는 장이 아니라는 점이다. 인덱스를 만들지도 힌트를 붙이지도 않는다. 대신 옵티마이저가 판단의 근거로 삼는 재료를 강사가 직접 손대 본다. 실무에서 어제까지 잘 돌던 SQL이 갑자기 느려졌다는 신고 중 상당수가 통계 재수집 직후에 발생한다. 코드도 데이터도 그대로인데 계획만 바뀌었다면 통계를 먼저 의심하라는 감각을, 이 장 전체를 통해 몸으로 익히게 하는 것이 목적이다.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설계를 먼저 보여 주는 이유는 학습자가 중간 결과를 결론으로 오해하지 않게 하기 위해서다. 2단계만 보고 통계가 없으면 큰일 난다고 외우면, 정작 실무에서 통계가 있는데도 틀리는 상황을 만났을 때 손을 못 쓴다. 또 하나 실무 관점에서 강조할 것은 원상복구다. 개발 DB에서 통계를 만져 보고 그대로 두고 나오는 바람에 다음 사람이 재현되지 않는 계획을 붙들고 하루를 날리는 일이 실제로 흔하다. 변경했으면 복원까지가 한 세트라는 것을 습관으로 만들어야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편중은 예외 상황이 아니라 기본값에 가깝다는 점을 여기서 심어 줘야 한다. 학습자들은 교과서에서 균등 분포를 가정한 예제를 오래 봐 왔기 때문에 편중을 특수 케이스로 여기는 경향이 있다. 실제 업무 데이터에서 완전히 균등한 컬럼을 찾는 편이 오히려 어렵다. 값을 두 개 고른 것도 설명을 위한 편의가 아니라 대조군 설계다. 쏠린 값 하나와 평범한 값 하나를 나란히 놓아야 추정치가 값에 반응하는지 아니면 값과 무관하게 고정되는지를 한눈에 판정할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절은 용어를 정리하는 구간이다. 이 절을 건너뛰면 뒤의 실측 결과가 숫자 놀음처럼 보인다. 특히 NDV, 카디널리티, 선택도는 서로 다른 개념인데 현장에서 뒤섞여 쓰이는 일이 많다. 여기서 한 번 정확히 구분해 두면 실습 답안에서 근거를 쓸 때 문장이 흔들리지 않는다. 설명은 짧게 하되 각 용어가 실행계획의 어느 칸에 나타나는지를 함께 짚어 주는 방식이 효과적이다. 실무에서 통계가 있다는 표현이 테이블 통계만 있다는 뜻인지 히스토그램까지 있다는 뜻인지 서로 다르게 쓰이는 바람에 원인 파악이 늦어지는 일이 있다. 이 절에서 말을 통일해 두면 그런 낭비를 줄일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학습자가 가장 흔히 오해하는 지점은 옵티마이저가 실제 데이터를 보고 판단한다고 생각하는 것이다. 실행 전에 데이터를 세어 볼 수 있다면 애초에 추정이라는 말이 필요 없다. 옵티마이저는 통계라는 요약본만 보고 판단하며, 그 요약본은 수집 시점의 스냅숏이다. 이 구조를 이해하면 왜 대량 적재 직후에 계획이 이상해지는지, 왜 통계 수집이 운영 작업 목록에 들어가 있는지가 한꺼번에 설명된다. 옵티마이저를 탓하기 전에 재료를 확인하라는 순서를 여기서 세워 준다.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층위를 구분해 두는 것이 이 슬라이드의 목적이다. NDV까지만 있는 상태와 히스토그램까지 있는 상태의 차이가 이 장 전체의 주제이기 때문이다. 특히 NDV가 값의 종류만 알려 줄 뿐 각 값의 빈도는 알려 주지 않는다는 문장을 또박또박 읽어 줘야 한다. 이것이 다음 절의 나눗셈이 나오는 이유이자, 그 나눗셈이 틀리는 이유이기도 하다. 실무에서는 통계가 있다는 말과 히스토그램이 있다는 말을 같은 뜻으로 쓰는 경우가 많은데, 이 장에서는 둘을 반드시 구분해서 쓰게 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히스토그램을 값별 건수표라고 설명하면 직관적이지만 정확하지 않다. 실제로는 제한된 개수의 버킷으로 분포를 요약한 것이라서, 히스토그램이 있어도 추정은 여전히 추정이다. 이 뉘앙스를 지금 심어 두면 뒤에서 복원 후 수치가 원래와 정확히 일치하지 않는 장면을 만났을 때 학습자가 당황하지 않는다. 실무 사례를 하나 붙이자면, 값의 종류가 아주 많은 컬럼에서는 버킷 예산이 부족해 드문 값이 뭉뚱그려질 수 있고 그 구간에서 추정 오차가 커진다는 점도 언급할 만하다.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카디널리티와 선택도를 헷갈리는 학습자가 많은데, 개수와 비율이라는 한 단어 차이로 정리해 주면 대부분 정리된다. 더 중요한 것은 이 값이 왜 첫 단추인가다. 실행계획을 도미노로 비유하면 카디널리티 추정이 첫 번째 도미노다. 첫 도미노가 잘못 서면 뒤의 모든 판단이 함께 넘어진다. 실무에서 실행계획을 받아 볼 때 가장 먼저 확인할 것도 오퍼레이션 이름이 아니라 E-Rows와 A-Rows의 괴리라는 점을 습관으로 만들어 주면 좋다.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절은 이 장에서 유일하게 공식이 나오는 구간이다. 공식 자체는 간단하지만 그 공식이 서 있는 가정이 무엇인지가 핵심이다. 학습자에게 먼저 히스토그램이 없으면 옵티마이저는 무엇을 근거로 추정하겠느냐고 물어보고, 답을 듣고 나서 슬라이드를 여는 순서를 권한다. 대부분 데이터를 본다거나 인덱스를 본다고 답하는데, 그 오답이 다음 슬라이드의 설명을 훨씬 선명하게 만들어 준다. 이 절에서 얻는 것은 공식 암기가 아니라 진단 도구다. 값을 바꿔 가며 추정치가 움직이는지 보는 것만으로 통계 상태를 간접 확인할 수 있다는 점이 현장에서 바로 쓰인다.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슬라이드의 마지막 줄이 이 장에서 가장 실용적인 진단 기준이다. 실행계획을 볼 때 값을 바꿔 가며 두세 번 뽑아 보고 E-Rows가 미동도 하지 않는다면, 그 컬럼에는 히스토그램이 없다고 거의 확신할 수 있다. 통계 뷰를 조회할 권한이 없는 환경에서도 이 방법으로 간접 확인이 가능하다는 점이 실무에서 유용하다. 반대로 값마다 E-Rows가 달라진다면 분포 정보가 반영되고 있다는 뜻이므로, 문제의 원인을 다른 곳에서 찾아야 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오차의 방향이 값마다 반대라는 점을 강조해야 한다. 학습자들은 추정이 틀린다고 하면 한 방향으로 일관되게 틀릴 것이라 기대하는데, 균등 가정의 오차는 그렇지 않다. 그래서 같은 SQL이 어떤 조건 값에서는 잘 돌고 어떤 값에서는 느려지는, 재현이 잘 안 되는 성능 문제가 만들어진다. 고객사에서 특정 거래처 코드로 조회할 때만 느리다는 신고를 받아 본 적이 있다면 바로 이 구조라는 것을 짚어 주면 공감도가 크게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뷰를 확인하는 습관이 이 장에서 가져갈 실무 기술이다. 계획이 이상하다는 신고를 받으면 실행계획만 들여다보기 쉬운데, 그 전에 재료가 어떤 상태인지 30초면 확인할 수 있다. 학습자에게는 통계 상태를 먼저 보고 실행계획을 본다는 순서를 권한다. 그리고 이번 실습에서는 이 뷰가 채점 기준 역할도 한다. 복원했다고 말로 주장하는 것이 아니라 두 컬럼의 값으로 증명하는 것이 이 차시의 규칙이라는 점을 분명히 해 둔다.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절부터 실측 구간이다. 베이스라인을 먼저 잡는 이유는 비교 대상이 있어야 변화를 말할 수 있기 때문이다. 실무에서도 튜닝 전 상태를 기록하지 않고 손부터 대는 바람에 나아졌는지 나빠졌는지 설명하지 못하는 일이 흔하다. 측정 먼저, 변경은 그 다음이라는 순서를 이 절에서 몸에 익히게 한다. 이 절의 숫자는 전부 실습 DB에서 캡처한 실측값이라는 점도 다시 한 번 알려 준다. 학습자 환경에 따라 값이 조금 다르게 나올 수 있는데, 그때 봐야 할 것은 숫자의 일치가 아니라 두 조건의 추정치가 서로 다르게 나오는가라는 성질이다.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조회를 나란히 실행하는 것이 이 실습의 대조군 설계다. 값 하나만 보면 추정이 맞았는지 틀렸는지는 알 수 있어도, 추정이 값에 반응하는지는 알 수 없다. 통계 상태 조회를 함께 실행하는 이유는 결과를 해석할 근거를 같은 화면에 남겨 두기 위해서다. 실무에서 실행계획을 캡처해 보관할 때도 통계 상태를 같이 남겨 두면 나중에 왜 그때 그 계획이 나왔는지를 재구성할 수 있다. 이 습관 하나로 재현 불가 이슈가 크게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읽을 때 세로가 아니라 가로로 먼저 읽게 해야 한다. 한 줄 안에서 추정치와 실제값이 얼마나 가까운지를 보는 것이 첫 번째이고, 두 줄을 비교해 추정치가 값에 반응했는지를 보는 것이 두 번째다. 이 순서를 지키면 다음 절에서 표가 어떻게 달라지는지가 훨씬 뚜렷하게 보인다. 학습자에게 지금 이 표를 잘 기억해 두라고 미리 말해 두면, 제거 후 결과를 봤을 때 스스로 차이를 찾아내는 반응이 나온다. 정확도 칸의 비율 표기는 추정치를 실제값으로 나눈 값이다. 한쪽은 살짝 크게, 한쪽은 살짝 작게 잡혔는데 방향이 다르다는 것 자체가 값별로 따로 추정하고 있다는 신호다.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중요한 것은 근접했다는 말을 어떻게 정의하느냐다. 실행계획의 추정치는 소수점까지 맞히는 것이 목적이 아니라 옵티마이저가 올바른 선택을 하도록 이끄는 것이 목적이다. 따라서 판단 기준은 오차의 절대값이 아니라 자릿수 수준의 괴리 여부다. 실무 감각으로는 한 자릿수 배수 안쪽이면 대체로 무해하고, 열 배를 넘어가기 시작하면 계획 선택이 뒤집힐 위험 구간에 들어간다. 이 기준을 지금 세워 두면 다음 절의 숫자를 볼 때 판정이 자동으로 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이 장의 핵심이다. 통계 하나만 바꿨을 뿐 데이터도 SQL도 인덱스도 그대로라는 점을 반복해서 강조해야 한다. 학습자가 이 절에서 얻어야 할 것은 숫자 하나가 아니라 통제된 실험이 주는 확신이다. 실행 전에 결과를 예측하게 시키면 효과가 크다. 앞 절에서 나눗셈을 배웠으므로 대부분 300이라는 숫자를 스스로 계산해 낼 수 있고, 자기가 예측한 값이 화면에 뜨는 경험은 오래 남는다. 다만 이 실습은 통계를 실제로 변경하는 작업이므로, 운영 DB에서는 절대 따라 하지 말라는 경고를 절 시작에 함께 붙여 준다.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SIZE 1이 히스토그램을 지우는 명령처럼 보이지만 실제로는 구간을 하나만 만들라는 지시다. 구간이 하나면 분포를 나눠 기록한 것이 아니므로 결과적으로 히스토그램이 없는 것과 같아진다. 이 미묘한 차이를 짚어 주면 뒤에 나오는 NUM_BUCKETS 값 1의 의미가 자연스럽게 연결된다. 실무 주의사항도 하나 덧붙인다. 운영 DB에서 METHOD_OPT를 임의로 지정해 수집하면 그 설정이 그대로 남아 다음 자동 수집 결과에까지 영향을 줄 수 있으므로, 반드시 복원 계획을 세우고 손대야 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표에서 학습자가 먼저 보게 될 것은 두 줄의 E-Rows가 글자 그대로 똑같다는 점이다. 여기서 잠깐 멈추고 이것이 우연히 비슷한 것이 아니라 완전히 동일한 값이라는 점을 확인시켜야 한다. 값이 다른데 추정치가 같다는 것은 옵티마이저가 값을 보지 않고 계산했다는 뜻이고, 그것이 균등 가정의 서명이다. 앞 절 표와 나란히 놓고 비교하면 통계 하나가 만들어 내는 차이가 얼마나 큰지가 설명 없이도 전달된다.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1번과 그대로 대응한다. 채점 기준은 300이라는 답이 아니라 전체 행 수와 NDV를 근거로 제시했는지다. 숫자를 외운 학습자와 원리를 이해한 학습자는 여기서 갈린다. 원리를 이해했다면 테이블이 바뀌어도, 컬럼이 바뀌어도 같은 방식으로 추정치를 예측할 수 있다. 실무에서도 실행계획을 보기 전에 대략 이 정도가 나오겠다고 미리 계산해 보고 실제 값과 맞춰 보는 습관이 통계 이상을 가장 빨리 잡아내는 방법이다.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장의 결론에 해당한다. 학습자에게 추정이 틀리면 왜 나쁘냐고 물으면 대개 계획이 나빠진다고 답하지만, 그 중간 고리를 설명하지 못한다. 고리는 이렇다. 추정치는 조인 방식과 조인 순서를 고르는 입력값이고, 입력이 열 배 틀리면 반복 횟수도 열 배 틀린다. 실무에서 조인 하나 때문에 배치가 몇 시간씩 늘어지는 사고 대부분이 이 경로를 탄다. 실행계획에서 E-Rows와 A-Rows의 괴리를 먼저 보라는 조언이 여기서 근거를 얻는다.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절은 실습 안전 수칙이자 동시에 개념 학습 구간이다. 복원 절차만 알려 주고 넘어가면 아까운데, 여기서 SIZE AUTO가 무엇을 자동으로 판단하는지를 함께 다루면 앞 절의 실험이 왜 인위적인 상황이었는지가 분명해진다. 평소에는 Oracle이 알아서 필요한 컬럼에만 히스토그램을 만들어 준다는 것, 그래서 이 장의 문제는 자주 일어나지는 않지만 일어나면 원인을 찾기 어렵다는 것을 함께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SIZE AUTO는 Oracle이 각 컬럼의 데이터 분포를 보고 히스토그램이 필요한지 스스로 판단하게 하는 옵션이다. 이 스키마의 HOSP_ID처럼 스큐가 실제로 있는 컬럼에는 자동으로 히스토그램을 만들어 준다. 여기서 학습자가 자주 묻는 질문이 있다. 그러면 굳이 신경 쓸 일이 없는 것 아니냐는 것이다. 답은 자동 판단이 만능은 아니라는 것이다. 분포가 자주 변하는 테이블이나 수집 주기가 데이터 변화 속도를 못 따라가는 경우에는 자동 판단도 낡은 근거 위에서 이뤄진다.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복원 후 표를 보여 줄 때는 숫자 하나가 아니라 판정 기준을 함께 제시해야 한다. 이 한 줄만 놓고 보면 복원됐다는 결론이 성급해 보일 수 있는데, 실제 근거는 세 가지가 함께 충족됐다는 데 있다. 통계 뷰의 값이 원래대로 돌아왔고, 추정치가 다시 실제값에 근접했으며, 값에 따라 추정치가 달라지는 성질이 회복됐다는 것이다. 다음 슬라이드에서 이 기준을 명시적으로 정리하므로 여기서는 질문을 던져 두는 정도로 넘어가는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6번과 대응하며, 이 장에서 가장 실무적인 사고 훈련이기도 하다. 숫자가 똑같아야 정상이라고 믿으면 정상 상태를 매번 이상으로 오판하게 된다. 표본 추출 기반이라는 사실을 알면, 통계를 다시 수집했더니 계획이 미묘하게 달라졌다는 현상도 놀랍지 않게 받아들일 수 있다. 판정 기준을 값의 일치가 아니라 성질의 회복에 두는 사고방식은 통계뿐 아니라 성능 측정 전반에 그대로 적용된다. 측정값이 매번 조금씩 흔들리는 것은 결함이 아니라 표본 기반 측정의 본래 성질이라는 점을 여기서 한 번 정리해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종합표에서 가장 중요한 칸은 맨 오른쪽이다. 왼쪽 숫자들은 이 실습 환경의 값이지만 오른쪽 판정은 어느 환경에서나 성립하는 원리다. 학습자가 이 장에서 하나만 가져간다면 두 값이 다른가라는 질문 그 자체여야 한다. 세 번째 행에 재측정 안 함이라고 적혀 있는 것도 그대로 두는 편이 좋다. 실험 기록에서 하지 않은 것을 하지 않았다고 적는 태도가 만들어 낸 값을 채워 넣는 것보다 훨씬 중요하다는 점을 여기서 짚어 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8번과 대응한다. 기본값이 무엇인지 아는 것이 왜 중요한지를 여기서 짚어 주면 좋다. 명시하지 않았다는 것은 설정이 없는 상태가 아니라 기본값이 적용된 상태이며, 그 기본값이 무엇인지 모르면 결과를 설명할 수 없다. 실무에서 통계 수집 배치를 물려받았을 때 가장 먼저 확인해야 할 것도 어떤 파라미터가 명시됐고 어떤 것이 기본값에 맡겨져 있는가다. 이 확인 없이 수집 주기만 조정하다 사고가 나는 경우가 많다.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이 장의 결론을 뒤집는 것이 아니라 적용 범위를 정하는 구간이다. 앞 절까지만 듣고 나가면 히스토그램을 많이 만들수록 좋다는 결론에 도달하기 쉬운데, 그 결론은 위험하다. 여기서 다루는 세 가지는 각각 비용, 실행 방식, 통계 종류라는 서로 다른 축에서 히스토그램의 한계를 보여 준다. 실습문제 7번, 9번, 10번이 정확히 이 세 항목에 대응하므로 절 시작에 미리 예고해 두면 학습자가 집중해서 듣는다.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7번과 대응한다. 튜닝을 배우는 과정에서 학습자들이 흔히 빠지는 함정이 좋은 것은 많을수록 좋다는 사고인데, 인덱스에서 한 번, 히스토그램에서 또 한 번 같은 함정을 만난다. 모든 성능 장치는 이득과 비용을 동시에 갖는다는 원칙을 여기서 다시 확인시켜 주면 좋다. 특히 파싱 비용 증가는 눈에 잘 안 띄는 종류의 손해라서, 대량 동시 접속 환경에서 뒤늦게 문제로 드러나는 경우가 있다는 점을 실무 사례로 덧붙일 만하다.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9번과 대응하며, 두 챕터의 원리가 서로 상충할 수 있다는 것을 보여 주는 자리다. 학습자에게는 이런 충돌이 예외가 아니라 정상이라고 말해 줘야 한다. 튜닝은 규칙을 외워 적용하는 일이 아니라 상충하는 요구 사이에서 균형점을 찾는 일이기 때문이다. 바인드 변수는 파싱 부하를 줄이고 히스토그램은 추정 정확도를 높이는데, 두 목적이 같은 SQL에서 부딪힐 수 있다는 구조를 이해하면 실무 판단이 훨씬 유연해진다.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10번과 대응하며, 이 장에서 가장 수준 높은 사고를 요구한다. 도구를 배우면 모든 문제가 그 도구로 보이는 현상을 여기서 교정한다. 히스토그램을 막 배운 직후이므로 학습자들은 카디널리티 오차를 보면 반사적으로 히스토그램을 떠올리는데, 원인이 다르면 처방도 달라야 한다. 진단 절차로 정리하면 이렇다. 조건이 단일 컬럼인지 조합인지 먼저 확인하고, 조합이라면 컬럼 간 상관관계를 의심하는 쪽으로 방향을 튼다.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여러 절에서 흩어져 나온 판단 기준을 하나의 순서로 묶은 슬라이드다. 실무에서 성능 신고를 받았을 때 이 다섯 단계를 순서대로 밟으면 통계가 원인인지 아닌지를 비교적 빠르게 가를 수 있다. 순서가 중요한 이유는 각 단계가 다음 단계의 범위를 좁혀 주기 때문이다. 특히 5단계는 이 장에서 직접 실습하지는 않았지만 현장에서 가장 자주 만나는 원인이다. 데이터는 밤새 크게 바뀌었는데 통계는 그전 상태로 남아 있는 상황이 대표적이다.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히스토그램은 통계의 세부 항목이었지만, 운영 관점에서 더 자주 문제가 되는 것은 수집 시점이다. 히스토그램이 있느냐 없느냐보다 통계가 언제 것이냐가 실무 사고의 원인으로 더 흔하다. 학습자에게는 통계 수집을 성능 개선 작업이 아니라 변경 작업으로 인식하라고 권한다. 계획이 바뀔 수 있는 행위이므로 변경 관리 대상이라는 뜻이다. 수집 전후의 실행계획을 남겨 두는 습관 하나가 사고 시점의 원인 규명 시간을 크게 줄여 준다.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여덟 줄은 앞의 세 줄이 원리, 가운데 세 줄이 도구와 위험, 마지막 두 줄이 한계에 해당한다. 이 화면을 남겨 두고 실습을 시작하게 하면 좋다. 특히 마지막 줄은 실습문제 9번과 10번의 근거가 되는 문장이므로 답안에서 이 구분을 쓸 수 있는지가 이해도의 척도다. 여섯 번째 줄은 이 장이 다음 장들과 이어지는 지점이기도 하므로, 카디널리티가 모든 판단의 첫 단추라는 말을 한 번 더 반복해 주는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장의 실습은 전부 서술형이며 새 SQL을 작성하는 문항이 없다. 채점 기준은 결론의 일치가 아니라 근거로 삼은 값과 논리의 순서다. 특히 5번과 10번은 정답이 하나로 정해지지 않으므로, 판단의 근거를 어떤 통계 개념에서 끌어왔는지를 보면 된다. 실습 종료 규칙은 반복해서 안내한다. 통계를 바꾼 채로 자리를 뜨면 다음 차시의 실행계획이 재현되지 않아 뒤의 학습 전체가 어긋난다는 점을 분명히 해 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ch08</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Optimizer와 통계정보</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카디널리티 추정 · 히스토그램과 데이터 편중 · 통계 수집 시점 · 바인드 피킹</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CBO가 통계정보를 근거로 비용을 계산해 실행 방법을 고르는 구조를 설명할 수 있다</a:t>
            </a:r>
          </a:p>
          <a:p>
            <a:r>
              <a:rPr sz="1800" b="0">
                <a:solidFill>
                  <a:srgbClr val="202830"/>
                </a:solidFill>
                <a:latin typeface="Malgun Gothic"/>
              </a:rPr>
              <a:t>•  히스토그램이 없는 컬럼의 등치 조건 E-Rows가 어떻게 계산되는지 말할 수 있다</a:t>
            </a:r>
          </a:p>
          <a:p>
            <a:r>
              <a:rPr sz="1600" b="0">
                <a:solidFill>
                  <a:srgbClr val="5A6672"/>
                </a:solidFill>
                <a:latin typeface="Malgun Gothic"/>
              </a:rPr>
              <a:t>    –  전체 행 수 ÷ NDV — 모든 값이 같은 빈도라는 균등 분포 가정</a:t>
            </a:r>
          </a:p>
          <a:p>
            <a:r>
              <a:rPr sz="1800" b="0">
                <a:solidFill>
                  <a:srgbClr val="202830"/>
                </a:solidFill>
                <a:latin typeface="Malgun Gothic"/>
              </a:rPr>
              <a:t>•  같은 컬럼에서 히스토그램 유무만 통제해 추정치 변화를 관측하고 해석할 수 있다</a:t>
            </a:r>
          </a:p>
          <a:p>
            <a:r>
              <a:rPr sz="1600" b="0">
                <a:solidFill>
                  <a:srgbClr val="5A6672"/>
                </a:solidFill>
                <a:latin typeface="Malgun Gothic"/>
              </a:rPr>
              <a:t>    –  METHOD_OPT의 SIZE 1로 제거, SIZE AUTO로 복원</a:t>
            </a:r>
          </a:p>
          <a:p>
            <a:r>
              <a:rPr sz="1800" b="0">
                <a:solidFill>
                  <a:srgbClr val="202830"/>
                </a:solidFill>
                <a:latin typeface="Malgun Gothic"/>
              </a:rPr>
              <a:t>•  USER_TAB_COL_STATISTICS로 히스토그램 종류와 버킷 수를 직접 확인할 수 있다</a:t>
            </a:r>
          </a:p>
          <a:p>
            <a:r>
              <a:rPr sz="1800" b="0">
                <a:solidFill>
                  <a:srgbClr val="202830"/>
                </a:solidFill>
                <a:latin typeface="Malgun Gothic"/>
              </a:rPr>
              <a:t>•  카디널리티 추정 오류가 조인 방식 선택까지 망가뜨리는 경로를 설명할 수 있다</a:t>
            </a:r>
          </a:p>
          <a:p>
            <a:r>
              <a:rPr sz="1800" b="0">
                <a:solidFill>
                  <a:srgbClr val="202830"/>
                </a:solidFill>
                <a:latin typeface="Malgun Gothic"/>
              </a:rPr>
              <a:t>•  히스토그램으로는 풀리지 않는 문제를 구분할 수 있다</a:t>
            </a:r>
          </a:p>
          <a:p>
            <a:r>
              <a:rPr sz="1600" b="0">
                <a:solidFill>
                  <a:srgbClr val="5A6672"/>
                </a:solidFill>
                <a:latin typeface="Malgun Gothic"/>
              </a:rPr>
              <a:t>    –  바인드 변수 Peeking으로 계획이 고정되는 경우</a:t>
            </a:r>
          </a:p>
          <a:p>
            <a:r>
              <a:rPr sz="1600" b="0">
                <a:solidFill>
                  <a:srgbClr val="5A6672"/>
                </a:solidFill>
                <a:latin typeface="Malgun Gothic"/>
              </a:rPr>
              <a:t>    –  두 컬럼의 조합 조건 — 컬럼 간 상관관계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13.1  Why — 히스토그램은 없애 봐야 안다</a:t>
            </a:r>
          </a:p>
          <a:p>
            <a:r>
              <a:rPr sz="1800" b="0">
                <a:solidFill>
                  <a:srgbClr val="202830"/>
                </a:solidFill>
                <a:latin typeface="Malgun Gothic"/>
              </a:rPr>
              <a:t>•  13.2  CBO와 통계정보의 구성</a:t>
            </a:r>
          </a:p>
          <a:p>
            <a:r>
              <a:rPr sz="1800" b="0">
                <a:solidFill>
                  <a:srgbClr val="202830"/>
                </a:solidFill>
                <a:latin typeface="Malgun Gothic"/>
              </a:rPr>
              <a:t>•  13.3  히스토그램이 없으면 무엇으로 추정하는가</a:t>
            </a:r>
          </a:p>
          <a:p>
            <a:r>
              <a:rPr sz="1800" b="0">
                <a:solidFill>
                  <a:srgbClr val="202830"/>
                </a:solidFill>
                <a:latin typeface="Malgun Gothic"/>
              </a:rPr>
              <a:t>•  13.4  베이스라인 — 히스토그램이 있는 상태의 관측</a:t>
            </a:r>
          </a:p>
          <a:p>
            <a:r>
              <a:rPr sz="1800" b="0">
                <a:solidFill>
                  <a:srgbClr val="202830"/>
                </a:solidFill>
                <a:latin typeface="Malgun Gothic"/>
              </a:rPr>
              <a:t>•  13.5  히스토그램 제거 실험</a:t>
            </a:r>
          </a:p>
          <a:p>
            <a:r>
              <a:rPr sz="1800" b="0">
                <a:solidFill>
                  <a:srgbClr val="202830"/>
                </a:solidFill>
                <a:latin typeface="Malgun Gothic"/>
              </a:rPr>
              <a:t>•  13.6  복원과 SIZE AUTO</a:t>
            </a:r>
          </a:p>
          <a:p>
            <a:r>
              <a:rPr sz="1800" b="0">
                <a:solidFill>
                  <a:srgbClr val="202830"/>
                </a:solidFill>
                <a:latin typeface="Malgun Gothic"/>
              </a:rPr>
              <a:t>•  13.7  히스토그램의 한계와 운영 판단</a:t>
            </a:r>
          </a:p>
          <a:p>
            <a:r>
              <a:rPr sz="1600" b="0">
                <a:solidFill>
                  <a:srgbClr val="5A6672"/>
                </a:solidFill>
                <a:latin typeface="Malgun Gothic"/>
              </a:rPr>
              <a:t>    –  13.2와 13.3은 칠판 설명 구간, 13.4부터 13.6까지가 실측 구간</a:t>
            </a:r>
          </a:p>
          <a:p>
            <a:r>
              <a:rPr sz="1600" b="0">
                <a:solidFill>
                  <a:srgbClr val="5A6672"/>
                </a:solidFill>
                <a:latin typeface="Malgun Gothic"/>
              </a:rPr>
              <a:t>    –  13.7은 실습문제 7·9·10번으로 이어지는 확장 논의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13.1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Why — 히스토그램은 없애 봐야 안다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ch02에서 남은 질문 — 히스토그램이 없었다면 어땠을까</a:t>
            </a:r>
          </a:p>
          <a:p>
            <a:r>
              <a:rPr sz="1600" b="0">
                <a:solidFill>
                  <a:srgbClr val="C5CED6"/>
                </a:solidFill>
                <a:latin typeface="Malgun Gothic"/>
              </a:rPr>
              <a:t>•  같은 컬럼, 같은 데이터에서 통계만 통제하는 실험 설계</a:t>
            </a:r>
          </a:p>
          <a:p>
            <a:r>
              <a:rPr sz="1600" b="0">
                <a:solidFill>
                  <a:srgbClr val="C5CED6"/>
                </a:solidFill>
                <a:latin typeface="Malgun Gothic"/>
              </a:rPr>
              <a:t>•  소재는 MEDICAL_CLAIMS.HOSP_ID의 실제 스큐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ch02가 남긴 질문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ch02에서 확인한 것</a:t>
            </a:r>
          </a:p>
          <a:p>
            <a:r>
              <a:rPr sz="1600" b="0">
                <a:solidFill>
                  <a:srgbClr val="5A6672"/>
                </a:solidFill>
                <a:latin typeface="Malgun Gothic"/>
              </a:rPr>
              <a:t>    –  HOSP_ID에 히스토그램이 있어서 리터럴 값마다 다른 E-Rows가 나온다</a:t>
            </a:r>
          </a:p>
          <a:p>
            <a:r>
              <a:rPr sz="1600" b="0">
                <a:solidFill>
                  <a:srgbClr val="5A6672"/>
                </a:solidFill>
                <a:latin typeface="Malgun Gothic"/>
              </a:rPr>
              <a:t>    –  값에 따라 추정치가 달라진다는 현상 자체는 이미 봤다</a:t>
            </a:r>
          </a:p>
          <a:p>
            <a:r>
              <a:rPr sz="1800" b="0">
                <a:solidFill>
                  <a:srgbClr val="202830"/>
                </a:solidFill>
                <a:latin typeface="Malgun Gothic"/>
              </a:rPr>
              <a:t>•  그런데 확인하지 못한 것</a:t>
            </a:r>
          </a:p>
          <a:p>
            <a:r>
              <a:rPr sz="1600" b="0">
                <a:solidFill>
                  <a:srgbClr val="5A6672"/>
                </a:solidFill>
                <a:latin typeface="Malgun Gothic"/>
              </a:rPr>
              <a:t>    –  히스토그램이 "없었다면" 어땠을지는 실제로 없애 보지 않으면 알 수 없다</a:t>
            </a:r>
          </a:p>
          <a:p>
            <a:r>
              <a:rPr sz="1600" b="0">
                <a:solidFill>
                  <a:srgbClr val="5A6672"/>
                </a:solidFill>
                <a:latin typeface="Malgun Gothic"/>
              </a:rPr>
              <a:t>    –  설명으로 들은 인과와 관찰로 확인한 인과는 다른 상태다</a:t>
            </a:r>
          </a:p>
          <a:p>
            <a:r>
              <a:rPr sz="1800" b="0">
                <a:solidFill>
                  <a:srgbClr val="202830"/>
                </a:solidFill>
                <a:latin typeface="Malgun Gothic"/>
              </a:rPr>
              <a:t>•  본 차시의 목표</a:t>
            </a:r>
          </a:p>
          <a:p>
            <a:r>
              <a:rPr sz="1600" b="0">
                <a:solidFill>
                  <a:srgbClr val="5A6672"/>
                </a:solidFill>
                <a:latin typeface="Malgun Gothic"/>
              </a:rPr>
              <a:t>    –  같은 컬럼·같은 데이터로 히스토그램 유무를 직접 통제해 본다</a:t>
            </a:r>
          </a:p>
          <a:p>
            <a:r>
              <a:rPr sz="1600" b="0">
                <a:solidFill>
                  <a:srgbClr val="5A6672"/>
                </a:solidFill>
                <a:latin typeface="Malgun Gothic"/>
              </a:rPr>
              <a:t>    –  카디널리티 추정에 미치는 영향을 눈으로 확인한다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실험 설계 — 제거하고, 관측하고, 복원한다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세 단계로 통제한다</a:t>
            </a:r>
          </a:p>
          <a:p>
            <a:r>
              <a:rPr sz="1600" b="0">
                <a:solidFill>
                  <a:srgbClr val="5A6672"/>
                </a:solidFill>
                <a:latin typeface="Malgun Gothic"/>
              </a:rPr>
              <a:t>    –  1단계  현재 상태(히스토그램 있음)에서 베이스라인 관측</a:t>
            </a:r>
          </a:p>
          <a:p>
            <a:r>
              <a:rPr sz="1600" b="0">
                <a:solidFill>
                  <a:srgbClr val="5A6672"/>
                </a:solidFill>
                <a:latin typeface="Malgun Gothic"/>
              </a:rPr>
              <a:t>    –  2단계  METHOD_OPT의 SIZE 1로 히스토그램을 제거하고 재관측</a:t>
            </a:r>
          </a:p>
          <a:p>
            <a:r>
              <a:rPr sz="1600" b="0">
                <a:solidFill>
                  <a:srgbClr val="5A6672"/>
                </a:solidFill>
                <a:latin typeface="Malgun Gothic"/>
              </a:rPr>
              <a:t>    –  3단계  SIZE AUTO로 복원하고 원래대로 돌아오는지 확인</a:t>
            </a:r>
          </a:p>
          <a:p>
            <a:r>
              <a:rPr sz="1800" b="0">
                <a:solidFill>
                  <a:srgbClr val="202830"/>
                </a:solidFill>
                <a:latin typeface="Malgun Gothic"/>
              </a:rPr>
              <a:t>•  왜 복원 단계까지 필요한가</a:t>
            </a:r>
          </a:p>
          <a:p>
            <a:r>
              <a:rPr sz="1600" b="0">
                <a:solidFill>
                  <a:srgbClr val="5A6672"/>
                </a:solidFill>
                <a:latin typeface="Malgun Gothic"/>
              </a:rPr>
              <a:t>    –  있음과 없음만 비교하면 다른 요인이 끼어들었을 가능성을 배제할 수 없다</a:t>
            </a:r>
          </a:p>
          <a:p>
            <a:r>
              <a:rPr sz="1600" b="0">
                <a:solidFill>
                  <a:srgbClr val="5A6672"/>
                </a:solidFill>
                <a:latin typeface="Malgun Gothic"/>
              </a:rPr>
              <a:t>    –  되돌렸을 때 되돌아와야 인과가 성립한다</a:t>
            </a:r>
          </a:p>
          <a:p>
            <a:r>
              <a:rPr sz="1800" b="0">
                <a:solidFill>
                  <a:srgbClr val="202830"/>
                </a:solidFill>
                <a:latin typeface="Malgun Gothic"/>
              </a:rPr>
              <a:t>•  실습 규칙</a:t>
            </a:r>
          </a:p>
          <a:p>
            <a:r>
              <a:rPr sz="1600" b="0">
                <a:solidFill>
                  <a:srgbClr val="5A6672"/>
                </a:solidFill>
                <a:latin typeface="Malgun Gothic"/>
              </a:rPr>
              <a:t>    –  통계정보를 일시적으로 변경하는 차시이므로 종료 시 반드시 원상복구</a:t>
            </a:r>
          </a:p>
          <a:p>
            <a:r>
              <a:rPr sz="1600" b="0">
                <a:solidFill>
                  <a:srgbClr val="5A6672"/>
                </a:solidFill>
                <a:latin typeface="Malgun Gothic"/>
              </a:rPr>
              <a:t>    –  복원 확인 기준은 HISTOGRAM과 NUM_BUCKETS 값이다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소재 — 진료비 청구 데이터의 실제 편중</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스키마는 왜 좋은 소재인가</a:t>
            </a:r>
          </a:p>
          <a:p>
            <a:r>
              <a:rPr sz="1600" b="0">
                <a:solidFill>
                  <a:srgbClr val="5A6672"/>
                </a:solidFill>
                <a:latin typeface="Malgun Gothic"/>
              </a:rPr>
              <a:t>    –  MEDICAL_CLAIMS.HOSP_ID에는 실제 스큐가 있다</a:t>
            </a:r>
          </a:p>
          <a:p>
            <a:r>
              <a:rPr sz="1600" b="0">
                <a:solidFill>
                  <a:srgbClr val="5A6672"/>
                </a:solidFill>
                <a:latin typeface="Malgun Gothic"/>
              </a:rPr>
              <a:t>    –  1~50번 병원에 청구가 50% 집중되어 있다</a:t>
            </a:r>
          </a:p>
          <a:p>
            <a:r>
              <a:rPr sz="1800" b="0">
                <a:solidFill>
                  <a:srgbClr val="202830"/>
                </a:solidFill>
                <a:latin typeface="Malgun Gothic"/>
              </a:rPr>
              <a:t>•  현실의 데이터는 대체로 균등하지 않다</a:t>
            </a:r>
          </a:p>
          <a:p>
            <a:r>
              <a:rPr sz="1600" b="0">
                <a:solidFill>
                  <a:srgbClr val="5A6672"/>
                </a:solidFill>
                <a:latin typeface="Malgun Gothic"/>
              </a:rPr>
              <a:t>    –  대형 병원 소수가 청구 건수의 큰 비중을 차지하는 것은 자연스러운 분포다</a:t>
            </a:r>
          </a:p>
          <a:p>
            <a:r>
              <a:rPr sz="1600" b="0">
                <a:solidFill>
                  <a:srgbClr val="5A6672"/>
                </a:solidFill>
                <a:latin typeface="Malgun Gothic"/>
              </a:rPr>
              <a:t>    –  심사 상태, 청구 유형처럼 값이 한쪽으로 몰리는 컬럼도 마찬가지다</a:t>
            </a:r>
          </a:p>
          <a:p>
            <a:r>
              <a:rPr sz="1800" b="0">
                <a:solidFill>
                  <a:srgbClr val="202830"/>
                </a:solidFill>
                <a:latin typeface="Malgun Gothic"/>
              </a:rPr>
              <a:t>•  그래서 관측 대상 값을 두 개로 잡는다</a:t>
            </a:r>
          </a:p>
          <a:p>
            <a:r>
              <a:rPr sz="1600" b="0">
                <a:solidFill>
                  <a:srgbClr val="5A6672"/>
                </a:solidFill>
                <a:latin typeface="Malgun Gothic"/>
              </a:rPr>
              <a:t>    –  hosp_id = 1 — 쏠린 병원(스큐)</a:t>
            </a:r>
          </a:p>
          <a:p>
            <a:r>
              <a:rPr sz="1600" b="0">
                <a:solidFill>
                  <a:srgbClr val="5A6672"/>
                </a:solidFill>
                <a:latin typeface="Malgun Gothic"/>
              </a:rPr>
              <a:t>    –  hosp_id = 500 — 일반 병원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13.2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CBO와 통계정보의 구성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CBO — 통계를 근거로 비용을 계산해 실행 방법을 고른다</a:t>
            </a:r>
          </a:p>
          <a:p>
            <a:r>
              <a:rPr sz="1600" b="0">
                <a:solidFill>
                  <a:srgbClr val="C5CED6"/>
                </a:solidFill>
                <a:latin typeface="Malgun Gothic"/>
              </a:rPr>
              <a:t>•  Table Statistics / Column Statistics / Histogram</a:t>
            </a:r>
          </a:p>
          <a:p>
            <a:r>
              <a:rPr sz="1600" b="0">
                <a:solidFill>
                  <a:srgbClr val="C5CED6"/>
                </a:solidFill>
                <a:latin typeface="Malgun Gothic"/>
              </a:rPr>
              <a:t>•  Cardinality와 Selectivity의 정의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CBO — Cost-Based Optimizer</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옵티마이저는 무엇을 하는가</a:t>
            </a:r>
          </a:p>
          <a:p>
            <a:r>
              <a:rPr sz="1600" b="0">
                <a:solidFill>
                  <a:srgbClr val="5A6672"/>
                </a:solidFill>
                <a:latin typeface="Malgun Gothic"/>
              </a:rPr>
              <a:t>    –  같은 SQL을 실행하는 여러 방법 중 하나를 고른다</a:t>
            </a:r>
          </a:p>
          <a:p>
            <a:r>
              <a:rPr sz="1600" b="0">
                <a:solidFill>
                  <a:srgbClr val="5A6672"/>
                </a:solidFill>
                <a:latin typeface="Malgun Gothic"/>
              </a:rPr>
              <a:t>    –  고르는 기준은 취향이 아니라 계산된 비용이다</a:t>
            </a:r>
          </a:p>
          <a:p>
            <a:r>
              <a:rPr sz="1800" b="0">
                <a:solidFill>
                  <a:srgbClr val="202830"/>
                </a:solidFill>
                <a:latin typeface="Malgun Gothic"/>
              </a:rPr>
              <a:t>•  비용은 어디서 오는가</a:t>
            </a:r>
          </a:p>
          <a:p>
            <a:r>
              <a:rPr sz="1600" b="0">
                <a:solidFill>
                  <a:srgbClr val="5A6672"/>
                </a:solidFill>
                <a:latin typeface="Malgun Gothic"/>
              </a:rPr>
              <a:t>    –  통계정보를 근거로 계산한다 — 통계가 틀리면 비용도 틀린다</a:t>
            </a:r>
          </a:p>
          <a:p>
            <a:r>
              <a:rPr sz="1600" b="0">
                <a:solidFill>
                  <a:srgbClr val="5A6672"/>
                </a:solidFill>
                <a:latin typeface="Malgun Gothic"/>
              </a:rPr>
              <a:t>    –  옵티마이저는 데이터를 직접 세어 보지 않는다</a:t>
            </a:r>
          </a:p>
          <a:p>
            <a:r>
              <a:rPr sz="1800" b="0">
                <a:solidFill>
                  <a:srgbClr val="202830"/>
                </a:solidFill>
                <a:latin typeface="Malgun Gothic"/>
              </a:rPr>
              <a:t>•  그래서 생기는 구조적 취약점</a:t>
            </a:r>
          </a:p>
          <a:p>
            <a:r>
              <a:rPr sz="1600" b="0">
                <a:solidFill>
                  <a:srgbClr val="5A6672"/>
                </a:solidFill>
                <a:latin typeface="Malgun Gothic"/>
              </a:rPr>
              <a:t>    –  옵티마이저의 판단은 통계라는 지도의 정확도에 종속된다</a:t>
            </a:r>
          </a:p>
          <a:p>
            <a:r>
              <a:rPr sz="1600" b="0">
                <a:solidFill>
                  <a:srgbClr val="5A6672"/>
                </a:solidFill>
                <a:latin typeface="Malgun Gothic"/>
              </a:rPr>
              <a:t>    –  지도가 낡거나 거칠면, 논리가 옳아도 결론이 틀린다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통계정보에는 무엇이 담기나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Table Statistics</a:t>
            </a:r>
          </a:p>
          <a:p>
            <a:r>
              <a:rPr sz="1600" b="0">
                <a:solidFill>
                  <a:srgbClr val="5A6672"/>
                </a:solidFill>
                <a:latin typeface="Malgun Gothic"/>
              </a:rPr>
              <a:t>    –  테이블의 행 수, 블록 수, 평균 행 길이 등 테이블 전체의 규모 정보</a:t>
            </a:r>
          </a:p>
          <a:p>
            <a:r>
              <a:rPr sz="1800" b="0">
                <a:solidFill>
                  <a:srgbClr val="202830"/>
                </a:solidFill>
                <a:latin typeface="Malgun Gothic"/>
              </a:rPr>
              <a:t>•  Column Statistics</a:t>
            </a:r>
          </a:p>
          <a:p>
            <a:r>
              <a:rPr sz="1600" b="0">
                <a:solidFill>
                  <a:srgbClr val="5A6672"/>
                </a:solidFill>
                <a:latin typeface="Malgun Gothic"/>
              </a:rPr>
              <a:t>    –  컬럼별 고유값 개수(NDV), 최소값·최대값, NULL 개수 등</a:t>
            </a:r>
          </a:p>
          <a:p>
            <a:r>
              <a:rPr sz="1600" b="0">
                <a:solidFill>
                  <a:srgbClr val="5A6672"/>
                </a:solidFill>
                <a:latin typeface="Malgun Gothic"/>
              </a:rPr>
              <a:t>    –  NDV는 값의 종류가 몇 가지인지를 뜻할 뿐 각 값이 몇 건인지는 담지 않는다</a:t>
            </a:r>
          </a:p>
          <a:p>
            <a:r>
              <a:rPr sz="1800" b="0">
                <a:solidFill>
                  <a:srgbClr val="202830"/>
                </a:solidFill>
                <a:latin typeface="Malgun Gothic"/>
              </a:rPr>
              <a:t>•  Histogram</a:t>
            </a:r>
          </a:p>
          <a:p>
            <a:r>
              <a:rPr sz="1600" b="0">
                <a:solidFill>
                  <a:srgbClr val="5A6672"/>
                </a:solidFill>
                <a:latin typeface="Malgun Gothic"/>
              </a:rPr>
              <a:t>    –  컬럼 값의 분포를 구간(버킷)별로 기록한 통계</a:t>
            </a:r>
          </a:p>
          <a:p>
            <a:r>
              <a:rPr sz="1600" b="0">
                <a:solidFill>
                  <a:srgbClr val="5A6672"/>
                </a:solidFill>
                <a:latin typeface="Malgun Gothic"/>
              </a:rPr>
              <a:t>    –  값이 균등하게 분포하지 않는 컬럼에서 정확한 추정을 가능하게 한다</a:t>
            </a:r>
          </a:p>
          <a:p>
            <a:r>
              <a:rPr sz="1800" b="0">
                <a:solidFill>
                  <a:srgbClr val="202830"/>
                </a:solidFill>
                <a:latin typeface="Malgun Gothic"/>
              </a:rPr>
              <a:t>•  세 층위의 관계</a:t>
            </a:r>
          </a:p>
          <a:p>
            <a:r>
              <a:rPr sz="1600" b="0">
                <a:solidFill>
                  <a:srgbClr val="5A6672"/>
                </a:solidFill>
                <a:latin typeface="Malgun Gothic"/>
              </a:rPr>
              <a:t>    –  테이블 통계는 규모, 컬럼 통계는 윤곽, 히스토그램은 분포의 세부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히스토그램이란 무엇인가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a:t>
            </a:r>
          </a:p>
          <a:p>
            <a:r>
              <a:rPr sz="1600" b="0">
                <a:solidFill>
                  <a:srgbClr val="5A6672"/>
                </a:solidFill>
                <a:latin typeface="Malgun Gothic"/>
              </a:rPr>
              <a:t>    –  컬럼 값의 분포를 구간(버킷) 단위로 기록해 둔 통계</a:t>
            </a:r>
          </a:p>
          <a:p>
            <a:r>
              <a:rPr sz="1600" b="0">
                <a:solidFill>
                  <a:srgbClr val="5A6672"/>
                </a:solidFill>
                <a:latin typeface="Malgun Gothic"/>
              </a:rPr>
              <a:t>    –  자주 나오는 값과 드문 값을 구분해서 기억한다</a:t>
            </a:r>
          </a:p>
          <a:p>
            <a:r>
              <a:rPr sz="1800" b="0">
                <a:solidFill>
                  <a:srgbClr val="202830"/>
                </a:solidFill>
                <a:latin typeface="Malgun Gothic"/>
              </a:rPr>
              <a:t>•  왜 버킷인가</a:t>
            </a:r>
          </a:p>
          <a:p>
            <a:r>
              <a:rPr sz="1600" b="0">
                <a:solidFill>
                  <a:srgbClr val="5A6672"/>
                </a:solidFill>
                <a:latin typeface="Malgun Gothic"/>
              </a:rPr>
              <a:t>    –  값이 수천 종류라면 값마다 빈도를 모두 저장할 수 없다</a:t>
            </a:r>
          </a:p>
          <a:p>
            <a:r>
              <a:rPr sz="1600" b="0">
                <a:solidFill>
                  <a:srgbClr val="5A6672"/>
                </a:solidFill>
                <a:latin typeface="Malgun Gothic"/>
              </a:rPr>
              <a:t>    –  구간으로 나눠 요약하면 적은 저장 공간으로 분포의 모양을 담을 수 있다</a:t>
            </a:r>
          </a:p>
          <a:p>
            <a:r>
              <a:rPr sz="1800" b="0">
                <a:solidFill>
                  <a:srgbClr val="202830"/>
                </a:solidFill>
                <a:latin typeface="Malgun Gothic"/>
              </a:rPr>
              <a:t>•  버킷 수가 뜻하는 것</a:t>
            </a:r>
          </a:p>
          <a:p>
            <a:r>
              <a:rPr sz="1600" b="0">
                <a:solidFill>
                  <a:srgbClr val="5A6672"/>
                </a:solidFill>
                <a:latin typeface="Malgun Gothic"/>
              </a:rPr>
              <a:t>    –  구간이 많을수록 실제 분포를 더 세밀하게 반영한다</a:t>
            </a:r>
          </a:p>
          <a:p>
            <a:r>
              <a:rPr sz="1600" b="0">
                <a:solidFill>
                  <a:srgbClr val="5A6672"/>
                </a:solidFill>
                <a:latin typeface="Malgun Gothic"/>
              </a:rPr>
              <a:t>    –  NUM_BUCKETS가 1이면 사실상 구간을 나누지 않은 것 — 히스토그램이 없는 상태</a:t>
            </a:r>
          </a:p>
          <a:p>
            <a:r>
              <a:rPr sz="1800" b="0">
                <a:solidFill>
                  <a:srgbClr val="202830"/>
                </a:solidFill>
                <a:latin typeface="Malgun Gothic"/>
              </a:rPr>
              <a:t>•  전제 조건</a:t>
            </a:r>
          </a:p>
          <a:p>
            <a:r>
              <a:rPr sz="1600" b="0">
                <a:solidFill>
                  <a:srgbClr val="5A6672"/>
                </a:solidFill>
                <a:latin typeface="Malgun Gothic"/>
              </a:rPr>
              <a:t>    –  히스토그램이 필요한 컬럼은 값이 한쪽으로 쏠린 컬럼이다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Cardinality와 Selectivity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Cardinality — 카디널리티</a:t>
            </a:r>
          </a:p>
          <a:p>
            <a:r>
              <a:rPr sz="1600" b="0">
                <a:solidFill>
                  <a:srgbClr val="5A6672"/>
                </a:solidFill>
                <a:latin typeface="Malgun Gothic"/>
              </a:rPr>
              <a:t>    –  조건을 만족하는 행의 개수</a:t>
            </a:r>
          </a:p>
          <a:p>
            <a:r>
              <a:rPr sz="1600" b="0">
                <a:solidFill>
                  <a:srgbClr val="5A6672"/>
                </a:solidFill>
                <a:latin typeface="Malgun Gothic"/>
              </a:rPr>
              <a:t>    –  실행계획의 E-Rows가 옵티마이저가 추정한 카디널리티다</a:t>
            </a:r>
          </a:p>
          <a:p>
            <a:r>
              <a:rPr sz="1800" b="0">
                <a:solidFill>
                  <a:srgbClr val="202830"/>
                </a:solidFill>
                <a:latin typeface="Malgun Gothic"/>
              </a:rPr>
              <a:t>•  Selectivity — 선택도</a:t>
            </a:r>
          </a:p>
          <a:p>
            <a:r>
              <a:rPr sz="1600" b="0">
                <a:solidFill>
                  <a:srgbClr val="5A6672"/>
                </a:solidFill>
                <a:latin typeface="Malgun Gothic"/>
              </a:rPr>
              <a:t>    –  조건을 만족하는 행의 비율</a:t>
            </a:r>
          </a:p>
          <a:p>
            <a:r>
              <a:rPr sz="1600" b="0">
                <a:solidFill>
                  <a:srgbClr val="5A6672"/>
                </a:solidFill>
                <a:latin typeface="Malgun Gothic"/>
              </a:rPr>
              <a:t>    –  카디널리티 = 전체 행 수 × 선택도</a:t>
            </a:r>
          </a:p>
          <a:p>
            <a:r>
              <a:rPr sz="1800" b="0">
                <a:solidFill>
                  <a:srgbClr val="202830"/>
                </a:solidFill>
                <a:latin typeface="Malgun Gothic"/>
              </a:rPr>
              <a:t>•  왜 이 값이 모든 판단의 출발점인가</a:t>
            </a:r>
          </a:p>
          <a:p>
            <a:r>
              <a:rPr sz="1600" b="0">
                <a:solidFill>
                  <a:srgbClr val="5A6672"/>
                </a:solidFill>
                <a:latin typeface="Malgun Gothic"/>
              </a:rPr>
              <a:t>    –  접근 방식, 조인 방식, 조인 순서가 모두 이 추정치 위에서 결정된다</a:t>
            </a:r>
          </a:p>
          <a:p>
            <a:r>
              <a:rPr sz="1600" b="0">
                <a:solidFill>
                  <a:srgbClr val="5A6672"/>
                </a:solidFill>
                <a:latin typeface="Malgun Gothic"/>
              </a:rPr>
              <a:t>    –  출발점이 틀리면 그 뒤의 논리가 옳아도 결론이 틀린다</a:t>
            </a:r>
          </a:p>
          <a:p>
            <a:r>
              <a:rPr sz="1800" b="0">
                <a:solidFill>
                  <a:srgbClr val="202830"/>
                </a:solidFill>
                <a:latin typeface="Malgun Gothic"/>
              </a:rPr>
              <a:t>•  정확도를 읽는 법</a:t>
            </a:r>
          </a:p>
          <a:p>
            <a:r>
              <a:rPr sz="1600" b="0">
                <a:solidFill>
                  <a:srgbClr val="5A6672"/>
                </a:solidFill>
                <a:latin typeface="Malgun Gothic"/>
              </a:rPr>
              <a:t>    –  E-Rows와 A-Rows를 나란히 놓고 비율로 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13.3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히스토그램이 없으면 무엇으로 추정하는가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균등 분포 가정 — 전체 행 수 ÷ NDV</a:t>
            </a:r>
          </a:p>
          <a:p>
            <a:r>
              <a:rPr sz="1600" b="0">
                <a:solidFill>
                  <a:srgbClr val="C5CED6"/>
                </a:solidFill>
                <a:latin typeface="Malgun Gothic"/>
              </a:rPr>
              <a:t>•  어떤 값을 조회하든 같은 E-Rows가 나오는 이유</a:t>
            </a:r>
          </a:p>
          <a:p>
            <a:r>
              <a:rPr sz="1600" b="0">
                <a:solidFill>
                  <a:srgbClr val="C5CED6"/>
                </a:solidFill>
                <a:latin typeface="Malgun Gothic"/>
              </a:rPr>
              <a:t>•  USER_TAB_COL_STATISTICS로 현재 상태 확인하기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균등 분포 가정 — 전체 행 수 ÷ NDV</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히스토그램이 없는 컬럼의 등치 조건</a:t>
            </a:r>
          </a:p>
          <a:p>
            <a:r>
              <a:rPr sz="1600" b="0">
                <a:solidFill>
                  <a:srgbClr val="5A6672"/>
                </a:solidFill>
                <a:latin typeface="Malgun Gothic"/>
              </a:rPr>
              <a:t>    –  컬럼 = 값 형태의 조건에 대한 E-Rows는 대략 전체 행 수 ÷ NDV로 계산된다</a:t>
            </a:r>
          </a:p>
          <a:p>
            <a:r>
              <a:rPr sz="1800" b="0">
                <a:solidFill>
                  <a:srgbClr val="202830"/>
                </a:solidFill>
                <a:latin typeface="Malgun Gothic"/>
              </a:rPr>
              <a:t>•  이 식이 성립하려면 필요한 가정</a:t>
            </a:r>
          </a:p>
          <a:p>
            <a:r>
              <a:rPr sz="1600" b="0">
                <a:solidFill>
                  <a:srgbClr val="5A6672"/>
                </a:solidFill>
                <a:latin typeface="Malgun Gothic"/>
              </a:rPr>
              <a:t>    –  모든 값이 똑같은 빈도로 나타난다 — 균등 분포 가정</a:t>
            </a:r>
          </a:p>
          <a:p>
            <a:r>
              <a:rPr sz="1600" b="0">
                <a:solidFill>
                  <a:srgbClr val="5A6672"/>
                </a:solidFill>
                <a:latin typeface="Malgun Gothic"/>
              </a:rPr>
              <a:t>    –  옵티마이저는 분포를 모르므로 가장 무난한 가정을 택하는 것이다</a:t>
            </a:r>
          </a:p>
          <a:p>
            <a:r>
              <a:rPr sz="1800" b="0">
                <a:solidFill>
                  <a:srgbClr val="202830"/>
                </a:solidFill>
                <a:latin typeface="Malgun Gothic"/>
              </a:rPr>
              <a:t>•  이 가정의 결과</a:t>
            </a:r>
          </a:p>
          <a:p>
            <a:r>
              <a:rPr sz="1600" b="0">
                <a:solidFill>
                  <a:srgbClr val="5A6672"/>
                </a:solidFill>
                <a:latin typeface="Malgun Gothic"/>
              </a:rPr>
              <a:t>    –  값이 무엇이든 계산식이 같으므로 E-Rows도 항상 같아진다</a:t>
            </a:r>
          </a:p>
          <a:p>
            <a:r>
              <a:rPr sz="1600" b="0">
                <a:solidFill>
                  <a:srgbClr val="5A6672"/>
                </a:solidFill>
                <a:latin typeface="Malgun Gothic"/>
              </a:rPr>
              <a:t>    –  즉 추정치가 조회하는 값에 반응하지 않게 된다</a:t>
            </a:r>
          </a:p>
          <a:p>
            <a:r>
              <a:rPr sz="1800" b="0">
                <a:solidFill>
                  <a:srgbClr val="202830"/>
                </a:solidFill>
                <a:latin typeface="Malgun Gothic"/>
              </a:rPr>
              <a:t>•  판정 기준</a:t>
            </a:r>
          </a:p>
          <a:p>
            <a:r>
              <a:rPr sz="1600" b="0">
                <a:solidFill>
                  <a:srgbClr val="5A6672"/>
                </a:solidFill>
                <a:latin typeface="Malgun Gothic"/>
              </a:rPr>
              <a:t>    –  서로 다른 값에 같은 E-Rows가 나온다면 균등 가정이 적용된 것이다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균등 가정은 언제 맞고 언제 틀리는가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가정이 잘 맞는 경우</a:t>
            </a:r>
          </a:p>
          <a:p>
            <a:r>
              <a:rPr sz="1600" b="0">
                <a:solidFill>
                  <a:srgbClr val="5A6672"/>
                </a:solidFill>
                <a:latin typeface="Malgun Gothic"/>
              </a:rPr>
              <a:t>    –  값이 실제로 고르게 퍼져 있는 컬럼</a:t>
            </a:r>
          </a:p>
          <a:p>
            <a:r>
              <a:rPr sz="1600" b="0">
                <a:solidFill>
                  <a:srgbClr val="5A6672"/>
                </a:solidFill>
                <a:latin typeface="Malgun Gothic"/>
              </a:rPr>
              <a:t>    –  이런 컬럼에는 히스토그램이 있으나 없으나 추정 결과가 비슷하다</a:t>
            </a:r>
          </a:p>
          <a:p>
            <a:r>
              <a:rPr sz="1800" b="0">
                <a:solidFill>
                  <a:srgbClr val="202830"/>
                </a:solidFill>
                <a:latin typeface="Malgun Gothic"/>
              </a:rPr>
              <a:t>•  가정이 크게 틀리는 경우</a:t>
            </a:r>
          </a:p>
          <a:p>
            <a:r>
              <a:rPr sz="1600" b="0">
                <a:solidFill>
                  <a:srgbClr val="5A6672"/>
                </a:solidFill>
                <a:latin typeface="Malgun Gothic"/>
              </a:rPr>
              <a:t>    –  소수의 값에 데이터가 크게 쏠린 컬럼</a:t>
            </a:r>
          </a:p>
          <a:p>
            <a:r>
              <a:rPr sz="1600" b="0">
                <a:solidFill>
                  <a:srgbClr val="5A6672"/>
                </a:solidFill>
                <a:latin typeface="Malgun Gothic"/>
              </a:rPr>
              <a:t>    –  쏠린 값은 과소추정되고, 드문 값은 과대추정된다</a:t>
            </a:r>
          </a:p>
          <a:p>
            <a:r>
              <a:rPr sz="1800" b="0">
                <a:solidFill>
                  <a:srgbClr val="202830"/>
                </a:solidFill>
                <a:latin typeface="Malgun Gothic"/>
              </a:rPr>
              <a:t>•  오차의 방향이 값마다 반대라는 점이 중요하다</a:t>
            </a:r>
          </a:p>
          <a:p>
            <a:r>
              <a:rPr sz="1600" b="0">
                <a:solidFill>
                  <a:srgbClr val="5A6672"/>
                </a:solidFill>
                <a:latin typeface="Malgun Gothic"/>
              </a:rPr>
              <a:t>    –  평균으로 맞추는 추정이므로 양쪽 끝에서 동시에 틀린다</a:t>
            </a:r>
          </a:p>
          <a:p>
            <a:r>
              <a:rPr sz="1600" b="0">
                <a:solidFill>
                  <a:srgbClr val="5A6672"/>
                </a:solidFill>
                <a:latin typeface="Malgun Gothic"/>
              </a:rPr>
              <a:t>    –  한 컬럼 안에서 어떤 조회는 너무 크게, 어떤 조회는 너무 작게 잡힌다</a:t>
            </a:r>
          </a:p>
          <a:p>
            <a:r>
              <a:rPr sz="1800" b="0">
                <a:solidFill>
                  <a:srgbClr val="202830"/>
                </a:solidFill>
                <a:latin typeface="Malgun Gothic"/>
              </a:rPr>
              <a:t>•  이 스키마의 HOSP_ID는 후자에 해당한다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현재 상태를 어디서 확인하나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USER_TAB_COL_STATISTICS</a:t>
            </a:r>
          </a:p>
          <a:p>
            <a:r>
              <a:rPr sz="1600" b="0">
                <a:solidFill>
                  <a:srgbClr val="5A6672"/>
                </a:solidFill>
                <a:latin typeface="Malgun Gothic"/>
              </a:rPr>
              <a:t>    –  컬럼별 통계 상태를 직접 확인할 수 있는 딕셔너리 뷰</a:t>
            </a:r>
          </a:p>
          <a:p>
            <a:r>
              <a:rPr sz="1800" b="0">
                <a:solidFill>
                  <a:srgbClr val="202830"/>
                </a:solidFill>
                <a:latin typeface="Malgun Gothic"/>
              </a:rPr>
              <a:t>•  이 장에서 볼 두 개의 컬럼</a:t>
            </a:r>
          </a:p>
          <a:p>
            <a:r>
              <a:rPr sz="1600" b="0">
                <a:solidFill>
                  <a:srgbClr val="5A6672"/>
                </a:solidFill>
                <a:latin typeface="Malgun Gothic"/>
              </a:rPr>
              <a:t>    –  HISTOGRAM — 히스토그램의 종류 또는 NONE</a:t>
            </a:r>
          </a:p>
          <a:p>
            <a:r>
              <a:rPr sz="1600" b="0">
                <a:solidFill>
                  <a:srgbClr val="5A6672"/>
                </a:solidFill>
                <a:latin typeface="Malgun Gothic"/>
              </a:rPr>
              <a:t>    –  NUM_BUCKETS — 분포를 몇 개 구간으로 나눠 기록했는지</a:t>
            </a:r>
          </a:p>
          <a:p>
            <a:r>
              <a:rPr sz="1800" b="0">
                <a:solidFill>
                  <a:srgbClr val="202830"/>
                </a:solidFill>
                <a:latin typeface="Malgun Gothic"/>
              </a:rPr>
              <a:t>•  읽는 법</a:t>
            </a:r>
          </a:p>
          <a:p>
            <a:r>
              <a:rPr sz="1600" b="0">
                <a:solidFill>
                  <a:srgbClr val="5A6672"/>
                </a:solidFill>
                <a:latin typeface="Malgun Gothic"/>
              </a:rPr>
              <a:t>    –  HISTOGRAM이 NONE이고 NUM_BUCKETS가 1이면 히스토그램이 없는 상태</a:t>
            </a:r>
          </a:p>
          <a:p>
            <a:r>
              <a:rPr sz="1600" b="0">
                <a:solidFill>
                  <a:srgbClr val="5A6672"/>
                </a:solidFill>
                <a:latin typeface="Malgun Gothic"/>
              </a:rPr>
              <a:t>    –  값이 들어 있으면 그 종류와 구간 수만큼 분포가 기록된 상태</a:t>
            </a:r>
          </a:p>
          <a:p>
            <a:r>
              <a:rPr sz="1800" b="0">
                <a:solidFill>
                  <a:srgbClr val="202830"/>
                </a:solidFill>
                <a:latin typeface="Malgun Gothic"/>
              </a:rPr>
              <a:t>•  실습에서의 용도</a:t>
            </a:r>
          </a:p>
          <a:p>
            <a:r>
              <a:rPr sz="1600" b="0">
                <a:solidFill>
                  <a:srgbClr val="5A6672"/>
                </a:solidFill>
                <a:latin typeface="Malgun Gothic"/>
              </a:rPr>
              <a:t>    –  제거와 복원이 실제로 반영됐는지 판정하는 근거</a:t>
            </a:r>
          </a:p>
          <a:p>
            <a:r>
              <a:rPr sz="1600" b="0">
                <a:solidFill>
                  <a:srgbClr val="5A6672"/>
                </a:solidFill>
                <a:latin typeface="Malgun Gothic"/>
              </a:rPr>
              <a:t>    –  추정치의 변화와 통계 상태의 변화를 짝지어 확인한다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13.4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베이스라인 — 히스토그램이 있는 상태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관측 대상 두 개 — 쏠린 병원과 일반 병원</a:t>
            </a:r>
          </a:p>
          <a:p>
            <a:r>
              <a:rPr sz="1600" b="0">
                <a:solidFill>
                  <a:srgbClr val="C5CED6"/>
                </a:solidFill>
                <a:latin typeface="Malgun Gothic"/>
              </a:rPr>
              <a:t>•  현재 통계 상태 확인 — HISTOGRAM과 NUM_BUCKETS</a:t>
            </a:r>
          </a:p>
          <a:p>
            <a:r>
              <a:rPr sz="1600" b="0">
                <a:solidFill>
                  <a:srgbClr val="C5CED6"/>
                </a:solidFill>
                <a:latin typeface="Malgun Gothic"/>
              </a:rPr>
              <a:t>•  E-Rows와 A-Rows를 나란히 놓고 정확도 판정</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베이스라인 관측 — 조회와 통계 확인</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04. Example — 같은 컬럼에서 값만 바꿔 두 번 관측한다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쏠린 병원(스큐)</a:t>
            </a:r>
          </a:p>
          <a:p>
            <a:r>
              <a:rPr sz="1250" b="0">
                <a:solidFill>
                  <a:srgbClr val="E6E6E6"/>
                </a:solidFill>
                <a:latin typeface="Consolas"/>
              </a:rPr>
              <a:t>SELECT COUNT(*) FROM medical_claims WHERE hosp_id = 1;</a:t>
            </a:r>
          </a:p>
          <a:p>
            <a:r>
              <a:rPr sz="1250" b="0">
                <a:solidFill>
                  <a:srgbClr val="E6E6E6"/>
                </a:solidFill>
                <a:latin typeface="Consolas"/>
              </a:rPr>
              <a:t> </a:t>
            </a:r>
          </a:p>
          <a:p>
            <a:r>
              <a:rPr sz="1250" b="0">
                <a:solidFill>
                  <a:srgbClr val="7EC699"/>
                </a:solidFill>
                <a:latin typeface="Consolas"/>
              </a:rPr>
              <a:t>-- 일반 병원</a:t>
            </a:r>
          </a:p>
          <a:p>
            <a:r>
              <a:rPr sz="1250" b="0">
                <a:solidFill>
                  <a:srgbClr val="E6E6E6"/>
                </a:solidFill>
                <a:latin typeface="Consolas"/>
              </a:rPr>
              <a:t>SELECT COUNT(*) FROM medical_claims WHERE hosp_id = 500;</a:t>
            </a:r>
          </a:p>
          <a:p>
            <a:r>
              <a:rPr sz="1250" b="0">
                <a:solidFill>
                  <a:srgbClr val="E6E6E6"/>
                </a:solidFill>
                <a:latin typeface="Consolas"/>
              </a:rPr>
              <a:t> </a:t>
            </a:r>
          </a:p>
          <a:p>
            <a:r>
              <a:rPr sz="1250" b="0">
                <a:solidFill>
                  <a:srgbClr val="7EC699"/>
                </a:solidFill>
                <a:latin typeface="Consolas"/>
              </a:rPr>
              <a:t>-- 현재 통계 상태 확인</a:t>
            </a:r>
          </a:p>
          <a:p>
            <a:r>
              <a:rPr sz="1250" b="0">
                <a:solidFill>
                  <a:srgbClr val="E6E6E6"/>
                </a:solidFill>
                <a:latin typeface="Consolas"/>
              </a:rPr>
              <a:t>SELECT column_name, histogram, num_buckets</a:t>
            </a:r>
          </a:p>
          <a:p>
            <a:r>
              <a:rPr sz="1250" b="0">
                <a:solidFill>
                  <a:srgbClr val="E6E6E6"/>
                </a:solidFill>
                <a:latin typeface="Consolas"/>
              </a:rPr>
              <a:t>  FROM user_tab_col_statistics</a:t>
            </a:r>
          </a:p>
          <a:p>
            <a:r>
              <a:rPr sz="1250" b="0">
                <a:solidFill>
                  <a:srgbClr val="E6E6E6"/>
                </a:solidFill>
                <a:latin typeface="Consolas"/>
              </a:rPr>
              <a:t> WHERE table_name = 'MEDICAL_CLAIMS'</a:t>
            </a:r>
          </a:p>
          <a:p>
            <a:r>
              <a:rPr sz="1250" b="0">
                <a:solidFill>
                  <a:srgbClr val="E6E6E6"/>
                </a:solidFill>
                <a:latin typeface="Consolas"/>
              </a:rPr>
              <a:t>   AND column_name = 'HOSP_ID';</a:t>
            </a:r>
          </a:p>
          <a:p>
            <a:r>
              <a:rPr sz="1250" b="0">
                <a:solidFill>
                  <a:srgbClr val="E6E6E6"/>
                </a:solidFill>
                <a:latin typeface="Consolas"/>
              </a:rPr>
              <a:t> </a:t>
            </a:r>
          </a:p>
          <a:p>
            <a:r>
              <a:rPr sz="1250" b="0">
                <a:solidFill>
                  <a:srgbClr val="E6E6E6"/>
                </a:solidFill>
                <a:latin typeface="Consolas"/>
              </a:rPr>
              <a:t>COLUMN_NAME   HISTOGRAM   NUM_BUCKETS</a:t>
            </a:r>
          </a:p>
          <a:p>
            <a:r>
              <a:rPr sz="1250" b="0">
                <a:solidFill>
                  <a:srgbClr val="E6E6E6"/>
                </a:solidFill>
                <a:latin typeface="Consolas"/>
              </a:rPr>
              <a:t>-----------   ---------   -----------</a:t>
            </a:r>
          </a:p>
          <a:p>
            <a:r>
              <a:rPr sz="1250" b="0">
                <a:solidFill>
                  <a:srgbClr val="E6E6E6"/>
                </a:solidFill>
                <a:latin typeface="Consolas"/>
              </a:rPr>
              <a:t>HOSP_ID       HYBRID              254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베이스라인 결과 — 히스토그램이 있을 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05. Execution Plan — 두 조건의 추정치와 실제값 비교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조건        | E-Rows | A-Rows |      추정 정확도      |</a:t>
            </a:r>
          </a:p>
          <a:p>
            <a:r>
              <a:rPr sz="1250" b="0">
                <a:solidFill>
                  <a:srgbClr val="E6E6E6"/>
                </a:solidFill>
                <a:latin typeface="Consolas"/>
              </a:rPr>
              <a:t>|--------------------|--------|--------|-----------------------|</a:t>
            </a:r>
          </a:p>
          <a:p>
            <a:r>
              <a:rPr sz="1250" b="0">
                <a:solidFill>
                  <a:srgbClr val="E6E6E6"/>
                </a:solidFill>
                <a:latin typeface="Consolas"/>
              </a:rPr>
              <a:t>| hosp_id=1 (스큐)   |  2,795 |  3,058 | 근접 (비율 약 0.91배) |</a:t>
            </a:r>
          </a:p>
          <a:p>
            <a:r>
              <a:rPr sz="1250" b="0">
                <a:solidFill>
                  <a:srgbClr val="E6E6E6"/>
                </a:solidFill>
                <a:latin typeface="Consolas"/>
              </a:rPr>
              <a:t>| hosp_id=500 (일반) |    280 |    177 | 근접 (비율 약 1.58배)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베이스라인 해석 — 무엇을 확인했나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값이 서로 다른 E-Rows를 받았다</a:t>
            </a:r>
          </a:p>
          <a:p>
            <a:r>
              <a:rPr sz="1600" b="0">
                <a:solidFill>
                  <a:srgbClr val="5A6672"/>
                </a:solidFill>
                <a:latin typeface="Malgun Gothic"/>
              </a:rPr>
              <a:t>    –  추정치가 조회하는 값에 반응하고 있다는 뜻</a:t>
            </a:r>
          </a:p>
          <a:p>
            <a:r>
              <a:rPr sz="1600" b="0">
                <a:solidFill>
                  <a:srgbClr val="5A6672"/>
                </a:solidFill>
                <a:latin typeface="Malgun Gothic"/>
              </a:rPr>
              <a:t>    –  균등 분포 가정이 적용되고 있지 않다는 증거이기도 하다</a:t>
            </a:r>
          </a:p>
          <a:p>
            <a:r>
              <a:rPr sz="1800" b="0">
                <a:solidFill>
                  <a:srgbClr val="202830"/>
                </a:solidFill>
                <a:latin typeface="Malgun Gothic"/>
              </a:rPr>
              <a:t>•  둘 다 실제값에 상당히 근접했다</a:t>
            </a:r>
          </a:p>
          <a:p>
            <a:r>
              <a:rPr sz="1600" b="0">
                <a:solidFill>
                  <a:srgbClr val="5A6672"/>
                </a:solidFill>
                <a:latin typeface="Malgun Gothic"/>
              </a:rPr>
              <a:t>    –  쏠린 값도, 일반 값도 실제와 같은 자릿수 범위 안에 들어왔다</a:t>
            </a:r>
          </a:p>
          <a:p>
            <a:r>
              <a:rPr sz="1600" b="0">
                <a:solidFill>
                  <a:srgbClr val="5A6672"/>
                </a:solidFill>
                <a:latin typeface="Malgun Gothic"/>
              </a:rPr>
              <a:t>    –  히스토그램이 스큐를 정확히 반영하고 있다는 뜻</a:t>
            </a:r>
          </a:p>
          <a:p>
            <a:r>
              <a:rPr sz="1800" b="0">
                <a:solidFill>
                  <a:srgbClr val="202830"/>
                </a:solidFill>
                <a:latin typeface="Malgun Gothic"/>
              </a:rPr>
              <a:t>•  통계 상태와 짝지어 읽는다</a:t>
            </a:r>
          </a:p>
          <a:p>
            <a:r>
              <a:rPr sz="1600" b="0">
                <a:solidFill>
                  <a:srgbClr val="5A6672"/>
                </a:solidFill>
                <a:latin typeface="Malgun Gothic"/>
              </a:rPr>
              <a:t>    –  HISTOGRAM은 HYBRID, NUM_BUCKETS는 254</a:t>
            </a:r>
          </a:p>
          <a:p>
            <a:r>
              <a:rPr sz="1600" b="0">
                <a:solidFill>
                  <a:srgbClr val="5A6672"/>
                </a:solidFill>
                <a:latin typeface="Malgun Gothic"/>
              </a:rPr>
              <a:t>    –  분포가 254개 구간으로 기록되어 있는 상태</a:t>
            </a:r>
          </a:p>
          <a:p>
            <a:r>
              <a:rPr sz="1800" b="0">
                <a:solidFill>
                  <a:srgbClr val="202830"/>
                </a:solidFill>
                <a:latin typeface="Malgun Gothic"/>
              </a:rPr>
              <a:t>•  이 상태를 기준점으로 삼고 다음 절에서 통계만 바꾼다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13.5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히스토그램 제거 실험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METHOD_OPT의 SIZE 1 — 버킷 하나는 히스토그램 없음</a:t>
            </a:r>
          </a:p>
          <a:p>
            <a:r>
              <a:rPr sz="1600" b="0">
                <a:solidFill>
                  <a:srgbClr val="C5CED6"/>
                </a:solidFill>
                <a:latin typeface="Malgun Gothic"/>
              </a:rPr>
              <a:t>•  두 조건의 E-Rows가 완전히 같아지는 장면</a:t>
            </a:r>
          </a:p>
          <a:p>
            <a:r>
              <a:rPr sz="1600" b="0">
                <a:solidFill>
                  <a:srgbClr val="C5CED6"/>
                </a:solidFill>
                <a:latin typeface="Malgun Gothic"/>
              </a:rPr>
              <a:t>•  과소추정이 조인 판단까지 끌고 가는 경로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히스토그램 강제 제거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06. Bad SQL — METHOD_OPT으로 버킷을 하나만 만들게 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BEGIN</a:t>
            </a:r>
          </a:p>
          <a:p>
            <a:r>
              <a:rPr sz="1250" b="0">
                <a:solidFill>
                  <a:srgbClr val="E6E6E6"/>
                </a:solidFill>
                <a:latin typeface="Consolas"/>
              </a:rPr>
              <a:t>  DBMS_STATS.GATHER_TABLE_STATS(USER, 'MEDICAL_CLAIMS',</a:t>
            </a:r>
          </a:p>
          <a:p>
            <a:r>
              <a:rPr sz="1250" b="0">
                <a:solidFill>
                  <a:srgbClr val="E6E6E6"/>
                </a:solidFill>
                <a:latin typeface="Consolas"/>
              </a:rPr>
              <a:t>    METHOD_OPT =&gt; 'FOR COLUMNS HOSP_ID SIZE 1');  -- 버킷 1개 = 히스토그램 없음</a:t>
            </a:r>
          </a:p>
          <a:p>
            <a:r>
              <a:rPr sz="1250" b="0">
                <a:solidFill>
                  <a:srgbClr val="E6E6E6"/>
                </a:solidFill>
                <a:latin typeface="Consolas"/>
              </a:rPr>
              <a:t>END;</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USER_TAB_COL_STATISTICS 재확인</a:t>
            </a:r>
          </a:p>
          <a:p>
            <a:r>
              <a:rPr sz="1250" b="0">
                <a:solidFill>
                  <a:srgbClr val="E6E6E6"/>
                </a:solidFill>
                <a:latin typeface="Consolas"/>
              </a:rPr>
              <a:t>COLUMN_NAME   HISTOGRAM   NUM_BUCKETS</a:t>
            </a:r>
          </a:p>
          <a:p>
            <a:r>
              <a:rPr sz="1250" b="0">
                <a:solidFill>
                  <a:srgbClr val="E6E6E6"/>
                </a:solidFill>
                <a:latin typeface="Consolas"/>
              </a:rPr>
              <a:t>-----------   ---------   -----------</a:t>
            </a:r>
          </a:p>
          <a:p>
            <a:r>
              <a:rPr sz="1250" b="0">
                <a:solidFill>
                  <a:srgbClr val="E6E6E6"/>
                </a:solidFill>
                <a:latin typeface="Consolas"/>
              </a:rPr>
              <a:t>HOSP_ID       NONE                  1</a:t>
            </a:r>
          </a:p>
          <a:p>
            <a:r>
              <a:rPr sz="1250" b="0">
                <a:solidFill>
                  <a:srgbClr val="E6E6E6"/>
                </a:solidFill>
                <a:latin typeface="Consolas"/>
              </a:rPr>
              <a:t> </a:t>
            </a:r>
          </a:p>
          <a:p>
            <a:r>
              <a:rPr sz="1250" b="0">
                <a:solidFill>
                  <a:srgbClr val="7EC699"/>
                </a:solidFill>
                <a:latin typeface="Consolas"/>
              </a:rPr>
              <a:t>-- 데이터는 그대로, SQL도 그대로, 통계만 바뀌었다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제거 후 결과 — E-Rows가 하나로 고정된다</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06. Bad SQL — 같은 두 조건을 다시 관측한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조건        | E-Rows | A-Rows |    추정 정확도     |</a:t>
            </a:r>
          </a:p>
          <a:p>
            <a:r>
              <a:rPr sz="1250" b="0">
                <a:solidFill>
                  <a:srgbClr val="E6E6E6"/>
                </a:solidFill>
                <a:latin typeface="Consolas"/>
              </a:rPr>
              <a:t>|--------------------|--------|--------|--------------------|</a:t>
            </a:r>
          </a:p>
          <a:p>
            <a:r>
              <a:rPr sz="1250" b="0">
                <a:solidFill>
                  <a:srgbClr val="E6E6E6"/>
                </a:solidFill>
                <a:latin typeface="Consolas"/>
              </a:rPr>
              <a:t>| hosp_id=1 (스큐)   |    300 |  3,058 | 약 10.2배 과소추정 |</a:t>
            </a:r>
          </a:p>
          <a:p>
            <a:r>
              <a:rPr sz="1250" b="0">
                <a:solidFill>
                  <a:srgbClr val="E6E6E6"/>
                </a:solidFill>
                <a:latin typeface="Consolas"/>
              </a:rPr>
              <a:t>| hosp_id=500 (일반) |    300 |    177 | 약 1.7배 과대추정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300이라는 숫자의 출처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계산식은 앞 절에서 이미 배웠다</a:t>
            </a:r>
          </a:p>
          <a:p>
            <a:r>
              <a:rPr sz="1600" b="0">
                <a:solidFill>
                  <a:srgbClr val="5A6672"/>
                </a:solidFill>
                <a:latin typeface="Malgun Gothic"/>
              </a:rPr>
              <a:t>    –  MEDICAL_CLAIMS의 전체 행 수는 300,000</a:t>
            </a:r>
          </a:p>
          <a:p>
            <a:r>
              <a:rPr sz="1600" b="0">
                <a:solidFill>
                  <a:srgbClr val="5A6672"/>
                </a:solidFill>
                <a:latin typeface="Malgun Gothic"/>
              </a:rPr>
              <a:t>    –  HOSP_ID의 NDV는 1,000</a:t>
            </a:r>
          </a:p>
          <a:p>
            <a:r>
              <a:rPr sz="1600" b="0">
                <a:solidFill>
                  <a:srgbClr val="5A6672"/>
                </a:solidFill>
                <a:latin typeface="Malgun Gothic"/>
              </a:rPr>
              <a:t>    –  300,000 ÷ 1,000 = 300</a:t>
            </a:r>
          </a:p>
          <a:p>
            <a:r>
              <a:rPr sz="1800" b="0">
                <a:solidFill>
                  <a:srgbClr val="202830"/>
                </a:solidFill>
                <a:latin typeface="Malgun Gothic"/>
              </a:rPr>
              <a:t>•  균등 분포 가정이 숫자로 확인된 것이다</a:t>
            </a:r>
          </a:p>
          <a:p>
            <a:r>
              <a:rPr sz="1600" b="0">
                <a:solidFill>
                  <a:srgbClr val="5A6672"/>
                </a:solidFill>
                <a:latin typeface="Malgun Gothic"/>
              </a:rPr>
              <a:t>    –  어떤 HOSP_ID 값을 조회하든 이 계산식은 같은 결과를 낸다</a:t>
            </a:r>
          </a:p>
          <a:p>
            <a:r>
              <a:rPr sz="1600" b="0">
                <a:solidFill>
                  <a:srgbClr val="5A6672"/>
                </a:solidFill>
                <a:latin typeface="Malgun Gothic"/>
              </a:rPr>
              <a:t>    –  그래서 두 조건의 E-Rows가 정확히 같아졌다</a:t>
            </a:r>
          </a:p>
          <a:p>
            <a:r>
              <a:rPr sz="1800" b="0">
                <a:solidFill>
                  <a:srgbClr val="202830"/>
                </a:solidFill>
                <a:latin typeface="Malgun Gothic"/>
              </a:rPr>
              <a:t>•  오차의 방향은 값마다 반대였다</a:t>
            </a:r>
          </a:p>
          <a:p>
            <a:r>
              <a:rPr sz="1600" b="0">
                <a:solidFill>
                  <a:srgbClr val="5A6672"/>
                </a:solidFill>
                <a:latin typeface="Malgun Gothic"/>
              </a:rPr>
              <a:t>    –  쏠린 값은 과소추정, 일반 값은 과대추정</a:t>
            </a:r>
          </a:p>
          <a:p>
            <a:r>
              <a:rPr sz="1600" b="0">
                <a:solidFill>
                  <a:srgbClr val="5A6672"/>
                </a:solidFill>
                <a:latin typeface="Malgun Gothic"/>
              </a:rPr>
              <a:t>    –  한 컬럼 안에서 양쪽으로 동시에 틀린다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과소추정이 위험한 진짜 이유</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단독 실행만 보면 큰 문제가 없어 보인다</a:t>
            </a:r>
          </a:p>
          <a:p>
            <a:r>
              <a:rPr sz="1600" b="0">
                <a:solidFill>
                  <a:srgbClr val="5A6672"/>
                </a:solidFill>
                <a:latin typeface="Malgun Gothic"/>
              </a:rPr>
              <a:t>    –  조회 결과 자체는 여전히 정확하게 나온다</a:t>
            </a:r>
          </a:p>
          <a:p>
            <a:r>
              <a:rPr sz="1600" b="0">
                <a:solidFill>
                  <a:srgbClr val="5A6672"/>
                </a:solidFill>
                <a:latin typeface="Malgun Gothic"/>
              </a:rPr>
              <a:t>    –  틀린 것은 결과가 아니라 옵티마이저의 예상이다</a:t>
            </a:r>
          </a:p>
          <a:p>
            <a:r>
              <a:rPr sz="1800" b="0">
                <a:solidFill>
                  <a:srgbClr val="202830"/>
                </a:solidFill>
                <a:latin typeface="Malgun Gothic"/>
              </a:rPr>
              <a:t>•  그런데 이 조건이 조인의 일부라면</a:t>
            </a:r>
          </a:p>
          <a:p>
            <a:r>
              <a:rPr sz="1600" b="0">
                <a:solidFill>
                  <a:srgbClr val="5A6672"/>
                </a:solidFill>
                <a:latin typeface="Malgun Gothic"/>
              </a:rPr>
              <a:t>    –  옵티마이저는 이 결과 집합이 매우 작다고 오판한다</a:t>
            </a:r>
          </a:p>
          <a:p>
            <a:r>
              <a:rPr sz="1600" b="0">
                <a:solidFill>
                  <a:srgbClr val="5A6672"/>
                </a:solidFill>
                <a:latin typeface="Malgun Gothic"/>
              </a:rPr>
              <a:t>    –  작은 쪽을 드라이빙으로 삼는 조인 방식이 유리해 보이게 된다</a:t>
            </a:r>
          </a:p>
          <a:p>
            <a:r>
              <a:rPr sz="1800" b="0">
                <a:solidFill>
                  <a:srgbClr val="202830"/>
                </a:solidFill>
                <a:latin typeface="Malgun Gothic"/>
              </a:rPr>
              <a:t>•  ch09과의 연결</a:t>
            </a:r>
          </a:p>
          <a:p>
            <a:r>
              <a:rPr sz="1600" b="0">
                <a:solidFill>
                  <a:srgbClr val="5A6672"/>
                </a:solidFill>
                <a:latin typeface="Malgun Gothic"/>
              </a:rPr>
              <a:t>    –  실제로는 3,058건인데 300건으로 보고 NL Join을 선택한다면</a:t>
            </a:r>
          </a:p>
          <a:p>
            <a:r>
              <a:rPr sz="1600" b="0">
                <a:solidFill>
                  <a:srgbClr val="5A6672"/>
                </a:solidFill>
                <a:latin typeface="Malgun Gothic"/>
              </a:rPr>
              <a:t>    –  Outer 행 수가 예상보다 많아 Inner 반복 탐색도 그만큼 늘어난다</a:t>
            </a:r>
          </a:p>
          <a:p>
            <a:r>
              <a:rPr sz="1800" b="0">
                <a:solidFill>
                  <a:srgbClr val="202830"/>
                </a:solidFill>
                <a:latin typeface="Malgun Gothic"/>
              </a:rPr>
              <a:t>•  그래서 카디널리티 추정 오류는 국소적 오차로 끝나지 않는다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사례는 실습문제 3번과 직접 연결된다. ch09의 조인 실행 원리를 함께 놓고 설명하면, 통계 문제와 조인 문제가 별개가 아니라 하나의 사슬이라는 점이 드러난다.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13.6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복원과 SIZE AUTO</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FOR ALL COLUMNS SIZE AUTO — 자동 판단으로 원복</a:t>
            </a:r>
          </a:p>
          <a:p>
            <a:r>
              <a:rPr sz="1600" b="0">
                <a:solidFill>
                  <a:srgbClr val="C5CED6"/>
                </a:solidFill>
                <a:latin typeface="Malgun Gothic"/>
              </a:rPr>
              <a:t>•  복원 판정 기준은 숫자의 일치가 아니다</a:t>
            </a:r>
          </a:p>
          <a:p>
            <a:r>
              <a:rPr sz="1600" b="0">
                <a:solidFill>
                  <a:srgbClr val="C5CED6"/>
                </a:solidFill>
                <a:latin typeface="Malgun Gothic"/>
              </a:rPr>
              <a:t>•  통계 수집은 표본 추출 기반이라는 사실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히스토그램 복원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07. Tuning — 자동 판단에 맡겨 원래 상태로 되돌린다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BEGIN</a:t>
            </a:r>
          </a:p>
          <a:p>
            <a:r>
              <a:rPr sz="1250" b="0">
                <a:solidFill>
                  <a:srgbClr val="E6E6E6"/>
                </a:solidFill>
                <a:latin typeface="Consolas"/>
              </a:rPr>
              <a:t>  DBMS_STATS.GATHER_TABLE_STATS(USER, 'MEDICAL_CLAIMS',</a:t>
            </a:r>
          </a:p>
          <a:p>
            <a:r>
              <a:rPr sz="1250" b="0">
                <a:solidFill>
                  <a:srgbClr val="E6E6E6"/>
                </a:solidFill>
                <a:latin typeface="Consolas"/>
              </a:rPr>
              <a:t>    METHOD_OPT =&gt; 'FOR ALL COLUMNS SIZE AUTO');  -- 자동 판단으로 원복</a:t>
            </a:r>
          </a:p>
          <a:p>
            <a:r>
              <a:rPr sz="1250" b="0">
                <a:solidFill>
                  <a:srgbClr val="E6E6E6"/>
                </a:solidFill>
                <a:latin typeface="Consolas"/>
              </a:rPr>
              <a:t>END;</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USER_TAB_COL_STATISTICS 재확인</a:t>
            </a:r>
          </a:p>
          <a:p>
            <a:r>
              <a:rPr sz="1250" b="0">
                <a:solidFill>
                  <a:srgbClr val="E6E6E6"/>
                </a:solidFill>
                <a:latin typeface="Consolas"/>
              </a:rPr>
              <a:t>COLUMN_NAME   HISTOGRAM   NUM_BUCKETS</a:t>
            </a:r>
          </a:p>
          <a:p>
            <a:r>
              <a:rPr sz="1250" b="0">
                <a:solidFill>
                  <a:srgbClr val="E6E6E6"/>
                </a:solidFill>
                <a:latin typeface="Consolas"/>
              </a:rPr>
              <a:t>-----------   ---------   -----------</a:t>
            </a:r>
          </a:p>
          <a:p>
            <a:r>
              <a:rPr sz="1250" b="0">
                <a:solidFill>
                  <a:srgbClr val="E6E6E6"/>
                </a:solidFill>
                <a:latin typeface="Consolas"/>
              </a:rPr>
              <a:t>HOSP_ID       HYBRID              254</a:t>
            </a:r>
          </a:p>
          <a:p>
            <a:r>
              <a:rPr sz="1250" b="0">
                <a:solidFill>
                  <a:srgbClr val="E6E6E6"/>
                </a:solidFill>
                <a:latin typeface="Consolas"/>
              </a:rPr>
              <a:t> </a:t>
            </a:r>
          </a:p>
          <a:p>
            <a:r>
              <a:rPr sz="1250" b="0">
                <a:solidFill>
                  <a:srgbClr val="7EC699"/>
                </a:solidFill>
                <a:latin typeface="Consolas"/>
              </a:rPr>
              <a:t>-- 원상복구 확인 완료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복원 후 결과</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07. Tuning — 스큐를 반영한 추정으로 돌아왔는가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조건            | E-Rows | A-Rows |      추정 정확도      |</a:t>
            </a:r>
          </a:p>
          <a:p>
            <a:r>
              <a:rPr sz="1250" b="0">
                <a:solidFill>
                  <a:srgbClr val="E6E6E6"/>
                </a:solidFill>
                <a:latin typeface="Consolas"/>
              </a:rPr>
              <a:t>|---------------------------|--------|--------|-----------------------|</a:t>
            </a:r>
          </a:p>
          <a:p>
            <a:r>
              <a:rPr sz="1250" b="0">
                <a:solidFill>
                  <a:srgbClr val="E6E6E6"/>
                </a:solidFill>
                <a:latin typeface="Consolas"/>
              </a:rPr>
              <a:t>| hosp_id=1 (스큐, 복원 후) |  2,958 |  3,058 | 근접 (비율 약 0.97배)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숫자가 정확히 같지 않아도 복원됐다고 보는 근거</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관측된 사실</a:t>
            </a:r>
          </a:p>
          <a:p>
            <a:r>
              <a:rPr sz="1600" b="0">
                <a:solidFill>
                  <a:srgbClr val="5A6672"/>
                </a:solidFill>
                <a:latin typeface="Malgun Gothic"/>
              </a:rPr>
              <a:t>    –  복원 후 hosp_id=1의 E-Rows는 2,958 — 원래 베이스라인은 2,795</a:t>
            </a:r>
          </a:p>
          <a:p>
            <a:r>
              <a:rPr sz="1600" b="0">
                <a:solidFill>
                  <a:srgbClr val="5A6672"/>
                </a:solidFill>
                <a:latin typeface="Malgun Gothic"/>
              </a:rPr>
              <a:t>    –  두 값이 완전히 같지는 않다</a:t>
            </a:r>
          </a:p>
          <a:p>
            <a:r>
              <a:rPr sz="1800" b="0">
                <a:solidFill>
                  <a:srgbClr val="202830"/>
                </a:solidFill>
                <a:latin typeface="Malgun Gothic"/>
              </a:rPr>
              <a:t>•  왜 같지 않은가</a:t>
            </a:r>
          </a:p>
          <a:p>
            <a:r>
              <a:rPr sz="1600" b="0">
                <a:solidFill>
                  <a:srgbClr val="5A6672"/>
                </a:solidFill>
                <a:latin typeface="Malgun Gothic"/>
              </a:rPr>
              <a:t>    –  통계 수집은 전체 데이터를 다 읽는 것이 아니라 표본을 추출해 추정하는 방식이 기본</a:t>
            </a:r>
          </a:p>
          <a:p>
            <a:r>
              <a:rPr sz="1600" b="0">
                <a:solidFill>
                  <a:srgbClr val="5A6672"/>
                </a:solidFill>
                <a:latin typeface="Malgun Gothic"/>
              </a:rPr>
              <a:t>    –  같은 데이터라도 표본이 매번 조금씩 달라질 수 있다</a:t>
            </a:r>
          </a:p>
          <a:p>
            <a:r>
              <a:rPr sz="1800" b="0">
                <a:solidFill>
                  <a:srgbClr val="202830"/>
                </a:solidFill>
                <a:latin typeface="Malgun Gothic"/>
              </a:rPr>
              <a:t>•  그럼 무엇을 근거로 판정하나</a:t>
            </a:r>
          </a:p>
          <a:p>
            <a:r>
              <a:rPr sz="1600" b="0">
                <a:solidFill>
                  <a:srgbClr val="5A6672"/>
                </a:solidFill>
                <a:latin typeface="Malgun Gothic"/>
              </a:rPr>
              <a:t>    –  HISTOGRAM과 NUM_BUCKETS가 원래와 같은 종류의 통계로 돌아왔는가</a:t>
            </a:r>
          </a:p>
          <a:p>
            <a:r>
              <a:rPr sz="1600" b="0">
                <a:solidFill>
                  <a:srgbClr val="5A6672"/>
                </a:solidFill>
                <a:latin typeface="Malgun Gothic"/>
              </a:rPr>
              <a:t>    –  E-Rows가 다시 값에 따라 달라지는가 — 균등 가정으로 되돌아가지 않았는가</a:t>
            </a:r>
          </a:p>
          <a:p>
            <a:r>
              <a:rPr sz="1600" b="0">
                <a:solidFill>
                  <a:srgbClr val="5A6672"/>
                </a:solidFill>
                <a:latin typeface="Malgun Gothic"/>
              </a:rPr>
              <a:t>    –  추정치가 실제값 근처로 돌아왔는가</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복원 확인은 말이 아니라 값으로 한다. HISTOGRAM과 NUM_BUCKETS 두 컬럼을 캡처해 남겨 두는 것을 이 차시의 종료 절차로 삼는다.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상태 종합 비교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08. Benchmark — 통계만 바꿔 가며 관측한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상태           | hosp_id=1 E-Rows | hosp_id=500 E-Rows | 두 값이 다른가?  |</a:t>
            </a:r>
          </a:p>
          <a:p>
            <a:r>
              <a:rPr sz="1250" b="0">
                <a:solidFill>
                  <a:srgbClr val="E6E6E6"/>
                </a:solidFill>
                <a:latin typeface="Consolas"/>
              </a:rPr>
              <a:t>|--------------------------|------------------|--------------------|------------------|</a:t>
            </a:r>
          </a:p>
          <a:p>
            <a:r>
              <a:rPr sz="1250" b="0">
                <a:solidFill>
                  <a:srgbClr val="E6E6E6"/>
                </a:solidFill>
                <a:latin typeface="Consolas"/>
              </a:rPr>
              <a:t>| 히스토그램 있음 (원본)   |            2,795 |                280 | 다름 (스큐 반영) |</a:t>
            </a:r>
          </a:p>
          <a:p>
            <a:r>
              <a:rPr sz="1250" b="0">
                <a:solidFill>
                  <a:srgbClr val="E6E6E6"/>
                </a:solidFill>
                <a:latin typeface="Consolas"/>
              </a:rPr>
              <a:t>| 히스토그램 제거 (SIZE 1) |              300 |                300 | 동일 (균등 가정) |</a:t>
            </a:r>
          </a:p>
          <a:p>
            <a:r>
              <a:rPr sz="1250" b="0">
                <a:solidFill>
                  <a:srgbClr val="E6E6E6"/>
                </a:solidFill>
                <a:latin typeface="Consolas"/>
              </a:rPr>
              <a:t>| 히스토그램 복원 (AUTO)   |            2,958 |                158 | 다시 다름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METHOD_OPT — 히스토그램 생성 제어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METHOD_OPT은 통계 수집 시 히스토그램 생성 방식을 지정하는 파라미터</a:t>
            </a:r>
          </a:p>
          <a:p>
            <a:r>
              <a:rPr sz="1600" b="0">
                <a:solidFill>
                  <a:srgbClr val="5A6672"/>
                </a:solidFill>
                <a:latin typeface="Malgun Gothic"/>
              </a:rPr>
              <a:t>    –  FOR COLUMNS 컬럼명 SIZE 1 — 해당 컬럼의 히스토그램을 없앤다</a:t>
            </a:r>
          </a:p>
          <a:p>
            <a:r>
              <a:rPr sz="1600" b="0">
                <a:solidFill>
                  <a:srgbClr val="5A6672"/>
                </a:solidFill>
                <a:latin typeface="Malgun Gothic"/>
              </a:rPr>
              <a:t>    –  FOR ALL COLUMNS SIZE AUTO — Oracle이 컬럼별로 필요 여부를 판단한다</a:t>
            </a:r>
          </a:p>
          <a:p>
            <a:r>
              <a:rPr sz="1800" b="0">
                <a:solidFill>
                  <a:srgbClr val="202830"/>
                </a:solidFill>
                <a:latin typeface="Malgun Gothic"/>
              </a:rPr>
              <a:t>•  지정하지 않으면 어떻게 되나</a:t>
            </a:r>
          </a:p>
          <a:p>
            <a:r>
              <a:rPr sz="1600" b="0">
                <a:solidFill>
                  <a:srgbClr val="5A6672"/>
                </a:solidFill>
                <a:latin typeface="Malgun Gothic"/>
              </a:rPr>
              <a:t>    –  METHOD_OPT을 생략하면 기본값인 FOR ALL COLUMNS SIZE AUTO가 적용된다</a:t>
            </a:r>
          </a:p>
          <a:p>
            <a:r>
              <a:rPr sz="1600" b="0">
                <a:solidFill>
                  <a:srgbClr val="5A6672"/>
                </a:solidFill>
                <a:latin typeface="Malgun Gothic"/>
              </a:rPr>
              <a:t>    –  이 스키마의 생성 스크립트가 METHOD_OPT을 명시하지 않았는데도 HOSP_ID에 히스토그램이 생긴 이유</a:t>
            </a:r>
          </a:p>
          <a:p>
            <a:r>
              <a:rPr sz="1800" b="0">
                <a:solidFill>
                  <a:srgbClr val="202830"/>
                </a:solidFill>
                <a:latin typeface="Malgun Gothic"/>
              </a:rPr>
              <a:t>•  SIZE AUTO가 판단하는 기준</a:t>
            </a:r>
          </a:p>
          <a:p>
            <a:r>
              <a:rPr sz="1600" b="0">
                <a:solidFill>
                  <a:srgbClr val="5A6672"/>
                </a:solidFill>
                <a:latin typeface="Malgun Gothic"/>
              </a:rPr>
              <a:t>    –  컬럼의 데이터 분포를 살펴 스큐가 있다고 판단되는 컬럼에만 만든다</a:t>
            </a:r>
          </a:p>
          <a:p>
            <a:r>
              <a:rPr sz="1600" b="0">
                <a:solidFill>
                  <a:srgbClr val="5A6672"/>
                </a:solidFill>
                <a:latin typeface="Malgun Gothic"/>
              </a:rPr>
              <a:t>    –  값의 종류가 많고 일부에 크게 쏠린 컬럼일수록 생성될 가능성이 높다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13.7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히스토그램의 한계와 운영 판단</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히스토그램도 공짜가 아니다 — 수집 비용과 파싱 비용</a:t>
            </a:r>
          </a:p>
          <a:p>
            <a:r>
              <a:rPr sz="1600" b="0">
                <a:solidFill>
                  <a:srgbClr val="C5CED6"/>
                </a:solidFill>
                <a:latin typeface="Malgun Gothic"/>
              </a:rPr>
              <a:t>•  바인드 변수 Peeking — 계획이 고정되면 이점이 무력화된다</a:t>
            </a:r>
          </a:p>
          <a:p>
            <a:r>
              <a:rPr sz="1600" b="0">
                <a:solidFill>
                  <a:srgbClr val="C5CED6"/>
                </a:solidFill>
                <a:latin typeface="Malgun Gothic"/>
              </a:rPr>
              <a:t>•  컬럼 간 상관관계 — 히스토그램으로는 풀리지 않는 문제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히스토그램도 공짜가 아니다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만들고 유지하는 데 비용이 든다</a:t>
            </a:r>
          </a:p>
          <a:p>
            <a:r>
              <a:rPr sz="1600" b="0">
                <a:solidFill>
                  <a:srgbClr val="5A6672"/>
                </a:solidFill>
                <a:latin typeface="Malgun Gothic"/>
              </a:rPr>
              <a:t>    –  통계 수집 시간이 더 걸린다</a:t>
            </a:r>
          </a:p>
          <a:p>
            <a:r>
              <a:rPr sz="1600" b="0">
                <a:solidFill>
                  <a:srgbClr val="5A6672"/>
                </a:solidFill>
                <a:latin typeface="Malgun Gothic"/>
              </a:rPr>
              <a:t>    –  저장 공간을 차지한다</a:t>
            </a:r>
          </a:p>
          <a:p>
            <a:r>
              <a:rPr sz="1600" b="0">
                <a:solidFill>
                  <a:srgbClr val="5A6672"/>
                </a:solidFill>
                <a:latin typeface="Malgun Gothic"/>
              </a:rPr>
              <a:t>    –  옵티마이저가 실행계획을 세울 때 참고할 데이터도 더 많아진다</a:t>
            </a:r>
          </a:p>
          <a:p>
            <a:r>
              <a:rPr sz="1800" b="0">
                <a:solidFill>
                  <a:srgbClr val="202830"/>
                </a:solidFill>
                <a:latin typeface="Malgun Gothic"/>
              </a:rPr>
              <a:t>•  모든 컬럼에 정밀한 히스토그램을 만들면</a:t>
            </a:r>
          </a:p>
          <a:p>
            <a:r>
              <a:rPr sz="1600" b="0">
                <a:solidFill>
                  <a:srgbClr val="5A6672"/>
                </a:solidFill>
                <a:latin typeface="Malgun Gothic"/>
              </a:rPr>
              <a:t>    –  컬럼이 많은 테이블에서는 통계 수집 자체가 느려진다</a:t>
            </a:r>
          </a:p>
          <a:p>
            <a:r>
              <a:rPr sz="1600" b="0">
                <a:solidFill>
                  <a:srgbClr val="5A6672"/>
                </a:solidFill>
                <a:latin typeface="Malgun Gothic"/>
              </a:rPr>
              <a:t>    –  매 파싱 시 참고할 정보가 늘어 파싱 비용이 늘어날 수 있다</a:t>
            </a:r>
          </a:p>
          <a:p>
            <a:r>
              <a:rPr sz="1800" b="0">
                <a:solidFill>
                  <a:srgbClr val="202830"/>
                </a:solidFill>
                <a:latin typeface="Malgun Gothic"/>
              </a:rPr>
              <a:t>•  값이 실제로 균등한 컬럼에는 사실상 낭비다</a:t>
            </a:r>
          </a:p>
          <a:p>
            <a:r>
              <a:rPr sz="1600" b="0">
                <a:solidFill>
                  <a:srgbClr val="5A6672"/>
                </a:solidFill>
                <a:latin typeface="Malgun Gothic"/>
              </a:rPr>
              <a:t>    –  있으나 없으나 추정 결과가 비슷하기 때문</a:t>
            </a:r>
          </a:p>
          <a:p>
            <a:r>
              <a:rPr sz="1800" b="0">
                <a:solidFill>
                  <a:srgbClr val="202830"/>
                </a:solidFill>
                <a:latin typeface="Malgun Gothic"/>
              </a:rPr>
              <a:t>•  그래서 Oracle의 기본 정책이 SIZE AUTO다</a:t>
            </a:r>
          </a:p>
          <a:p>
            <a:r>
              <a:rPr sz="1600" b="0">
                <a:solidFill>
                  <a:srgbClr val="5A6672"/>
                </a:solidFill>
                <a:latin typeface="Malgun Gothic"/>
              </a:rPr>
              <a:t>    –  정말 필요한 컬럼에만 만들도록 설계된 것</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바인드 변수 Peeking과의 상충</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ch02에서 확인한 것</a:t>
            </a:r>
          </a:p>
          <a:p>
            <a:r>
              <a:rPr sz="1600" b="0">
                <a:solidFill>
                  <a:srgbClr val="5A6672"/>
                </a:solidFill>
                <a:latin typeface="Malgun Gothic"/>
              </a:rPr>
              <a:t>    –  바인드 변수를 쓰면 최초 하드 파싱 시점의 값 하나를 기준으로 계획이 만들어진다</a:t>
            </a:r>
          </a:p>
          <a:p>
            <a:r>
              <a:rPr sz="1600" b="0">
                <a:solidFill>
                  <a:srgbClr val="5A6672"/>
                </a:solidFill>
                <a:latin typeface="Malgun Gothic"/>
              </a:rPr>
              <a:t>    –  그 계획이 이후 다른 값에도 재사용된다 — 바인드 변수 Peeking</a:t>
            </a:r>
          </a:p>
          <a:p>
            <a:r>
              <a:rPr sz="1800" b="0">
                <a:solidFill>
                  <a:srgbClr val="202830"/>
                </a:solidFill>
                <a:latin typeface="Malgun Gothic"/>
              </a:rPr>
              <a:t>•  히스토그램의 이점이 어디서 막히나</a:t>
            </a:r>
          </a:p>
          <a:p>
            <a:r>
              <a:rPr sz="1600" b="0">
                <a:solidFill>
                  <a:srgbClr val="5A6672"/>
                </a:solidFill>
                <a:latin typeface="Malgun Gothic"/>
              </a:rPr>
              <a:t>    –  옵티마이저는 이번에 대입된 그 값 하나에 대해서만 히스토그램을 참조한다</a:t>
            </a:r>
          </a:p>
          <a:p>
            <a:r>
              <a:rPr sz="1600" b="0">
                <a:solidFill>
                  <a:srgbClr val="5A6672"/>
                </a:solidFill>
                <a:latin typeface="Malgun Gothic"/>
              </a:rPr>
              <a:t>    –  첫 실행이 hosp_id=1이었는데 다음이 hosp_id=500이어도 처음 계획을 재사용한다</a:t>
            </a:r>
          </a:p>
          <a:p>
            <a:r>
              <a:rPr sz="1600" b="0">
                <a:solidFill>
                  <a:srgbClr val="5A6672"/>
                </a:solidFill>
                <a:latin typeface="Malgun Gothic"/>
              </a:rPr>
              <a:t>    –  히스토그램이 아무리 정확해도 계획이 고정되면 이점이 무력화된다</a:t>
            </a:r>
          </a:p>
          <a:p>
            <a:r>
              <a:rPr sz="1800" b="0">
                <a:solidFill>
                  <a:srgbClr val="202830"/>
                </a:solidFill>
                <a:latin typeface="Malgun Gothic"/>
              </a:rPr>
              <a:t>•  정리하면</a:t>
            </a:r>
          </a:p>
          <a:p>
            <a:r>
              <a:rPr sz="1600" b="0">
                <a:solidFill>
                  <a:srgbClr val="5A6672"/>
                </a:solidFill>
                <a:latin typeface="Malgun Gothic"/>
              </a:rPr>
              <a:t>    –  리터럴로 매번 새로 파싱되는 경우 — 히스토그램이 최대한 활용된다</a:t>
            </a:r>
          </a:p>
          <a:p>
            <a:r>
              <a:rPr sz="1600" b="0">
                <a:solidFill>
                  <a:srgbClr val="5A6672"/>
                </a:solidFill>
                <a:latin typeface="Malgun Gothic"/>
              </a:rPr>
              <a:t>    –  바인드 변수로 계획이 고정되는 경우 — 효과가 제한적일 수 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히스토그램으로는 풀리지 않는 문제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ch03 Q1의 오차를 다시 본다</a:t>
            </a:r>
          </a:p>
          <a:p>
            <a:r>
              <a:rPr sz="1600" b="0">
                <a:solidFill>
                  <a:srgbClr val="5A6672"/>
                </a:solidFill>
                <a:latin typeface="Malgun Gothic"/>
              </a:rPr>
              <a:t>    –  CLAIM_TYPE과 TOTAL_AMT 두 컬럼의 조합 조건에서 발생한 추정 오차</a:t>
            </a:r>
          </a:p>
          <a:p>
            <a:r>
              <a:rPr sz="1800" b="0">
                <a:solidFill>
                  <a:srgbClr val="202830"/>
                </a:solidFill>
                <a:latin typeface="Malgun Gothic"/>
              </a:rPr>
              <a:t>•  히스토그램이 기록하는 것</a:t>
            </a:r>
          </a:p>
          <a:p>
            <a:r>
              <a:rPr sz="1600" b="0">
                <a:solidFill>
                  <a:srgbClr val="5A6672"/>
                </a:solidFill>
                <a:latin typeface="Malgun Gothic"/>
              </a:rPr>
              <a:t>    –  컬럼 하나의 값 분포</a:t>
            </a:r>
          </a:p>
          <a:p>
            <a:r>
              <a:rPr sz="1600" b="0">
                <a:solidFill>
                  <a:srgbClr val="5A6672"/>
                </a:solidFill>
                <a:latin typeface="Malgun Gothic"/>
              </a:rPr>
              <a:t>    –  두 컬럼이 동시에 어떤 값을 가지는 경향, 즉 상관관계는 기록하지 않는다</a:t>
            </a:r>
          </a:p>
          <a:p>
            <a:r>
              <a:rPr sz="1800" b="0">
                <a:solidFill>
                  <a:srgbClr val="202830"/>
                </a:solidFill>
                <a:latin typeface="Malgun Gothic"/>
              </a:rPr>
              <a:t>•  따라서</a:t>
            </a:r>
          </a:p>
          <a:p>
            <a:r>
              <a:rPr sz="1600" b="0">
                <a:solidFill>
                  <a:srgbClr val="5A6672"/>
                </a:solidFill>
                <a:latin typeface="Malgun Gothic"/>
              </a:rPr>
              <a:t>    –  두 컬럼 각각에 히스토그램이 있었더라도 옵티마이저는 두 조건을 독립으로 가정한다</a:t>
            </a:r>
          </a:p>
          <a:p>
            <a:r>
              <a:rPr sz="1600" b="0">
                <a:solidFill>
                  <a:srgbClr val="5A6672"/>
                </a:solidFill>
                <a:latin typeface="Malgun Gothic"/>
              </a:rPr>
              <a:t>    –  선택도를 곱하는 계산은 그대로 유지되고 오차도 그대로 남는다</a:t>
            </a:r>
          </a:p>
          <a:p>
            <a:r>
              <a:rPr sz="1800" b="0">
                <a:solidFill>
                  <a:srgbClr val="202830"/>
                </a:solidFill>
                <a:latin typeface="Malgun Gothic"/>
              </a:rPr>
              <a:t>•  원인의 이름이 다르다</a:t>
            </a:r>
          </a:p>
          <a:p>
            <a:r>
              <a:rPr sz="1600" b="0">
                <a:solidFill>
                  <a:srgbClr val="5A6672"/>
                </a:solidFill>
                <a:latin typeface="Malgun Gothic"/>
              </a:rPr>
              <a:t>    –  이 오차는 히스토그램 부재가 아니라 컬럼 간 상관관계를 반영하는 통계의 부재다</a:t>
            </a:r>
          </a:p>
          <a:p>
            <a:r>
              <a:rPr sz="1600" b="0">
                <a:solidFill>
                  <a:srgbClr val="5A6672"/>
                </a:solidFill>
                <a:latin typeface="Malgun Gothic"/>
              </a:rPr>
              <a:t>    –  단일 컬럼 분포 문제와 다중 컬럼 상관관계 문제는 서로 다른 종류다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통계 이상을 의심하는 진단 절차</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1단계  E-Rows와 A-Rows의 괴리를 확인한다</a:t>
            </a:r>
          </a:p>
          <a:p>
            <a:r>
              <a:rPr sz="1600" b="0">
                <a:solidFill>
                  <a:srgbClr val="5A6672"/>
                </a:solidFill>
                <a:latin typeface="Malgun Gothic"/>
              </a:rPr>
              <a:t>    –  자릿수 수준으로 벌어져 있는 단계가 어디인지 찾는다</a:t>
            </a:r>
          </a:p>
          <a:p>
            <a:r>
              <a:rPr sz="1800" b="0">
                <a:solidFill>
                  <a:srgbClr val="202830"/>
                </a:solidFill>
                <a:latin typeface="Malgun Gothic"/>
              </a:rPr>
              <a:t>•  2단계  조건 값을 바꿔 가며 E-Rows가 반응하는지 본다</a:t>
            </a:r>
          </a:p>
          <a:p>
            <a:r>
              <a:rPr sz="1600" b="0">
                <a:solidFill>
                  <a:srgbClr val="5A6672"/>
                </a:solidFill>
                <a:latin typeface="Malgun Gothic"/>
              </a:rPr>
              <a:t>    –  값이 달라도 추정치가 고정이면 균등 가정이 적용되고 있는 것</a:t>
            </a:r>
          </a:p>
          <a:p>
            <a:r>
              <a:rPr sz="1800" b="0">
                <a:solidFill>
                  <a:srgbClr val="202830"/>
                </a:solidFill>
                <a:latin typeface="Malgun Gothic"/>
              </a:rPr>
              <a:t>•  3단계  USER_TAB_COL_STATISTICS로 통계 상태를 확인한다</a:t>
            </a:r>
          </a:p>
          <a:p>
            <a:r>
              <a:rPr sz="1600" b="0">
                <a:solidFill>
                  <a:srgbClr val="5A6672"/>
                </a:solidFill>
                <a:latin typeface="Malgun Gothic"/>
              </a:rPr>
              <a:t>    –  HISTOGRAM과 NUM_BUCKETS를 함께 본다</a:t>
            </a:r>
          </a:p>
          <a:p>
            <a:r>
              <a:rPr sz="1800" b="0">
                <a:solidFill>
                  <a:srgbClr val="202830"/>
                </a:solidFill>
                <a:latin typeface="Malgun Gothic"/>
              </a:rPr>
              <a:t>•  4단계  조건의 형태를 확인한다</a:t>
            </a:r>
          </a:p>
          <a:p>
            <a:r>
              <a:rPr sz="1600" b="0">
                <a:solidFill>
                  <a:srgbClr val="5A6672"/>
                </a:solidFill>
                <a:latin typeface="Malgun Gothic"/>
              </a:rPr>
              <a:t>    –  단일 컬럼 등치 조건인가, 여러 컬럼의 조합 조건인가</a:t>
            </a:r>
          </a:p>
          <a:p>
            <a:r>
              <a:rPr sz="1600" b="0">
                <a:solidFill>
                  <a:srgbClr val="5A6672"/>
                </a:solidFill>
                <a:latin typeface="Malgun Gothic"/>
              </a:rPr>
              <a:t>    –  리터럴인가 바인드 변수인가</a:t>
            </a:r>
          </a:p>
          <a:p>
            <a:r>
              <a:rPr sz="1800" b="0">
                <a:solidFill>
                  <a:srgbClr val="202830"/>
                </a:solidFill>
                <a:latin typeface="Malgun Gothic"/>
              </a:rPr>
              <a:t>•  5단계  통계 수집 시점과 데이터 변경 시점을 대조한다</a:t>
            </a:r>
          </a:p>
          <a:p>
            <a:r>
              <a:rPr sz="1600" b="0">
                <a:solidFill>
                  <a:srgbClr val="5A6672"/>
                </a:solidFill>
                <a:latin typeface="Malgun Gothic"/>
              </a:rPr>
              <a:t>    –  대량 적재나 대량 갱신 이후 통계가 갱신됐는지 확인한다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통계 수집 시점이라는 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통계는 수집 시점의 스냅숏이다</a:t>
            </a:r>
          </a:p>
          <a:p>
            <a:r>
              <a:rPr sz="1600" b="0">
                <a:solidFill>
                  <a:srgbClr val="5A6672"/>
                </a:solidFill>
                <a:latin typeface="Malgun Gothic"/>
              </a:rPr>
              <a:t>    –  옵티마이저는 지금의 데이터가 아니라 마지막으로 수집된 요약본을 본다</a:t>
            </a:r>
          </a:p>
          <a:p>
            <a:r>
              <a:rPr sz="1800" b="0">
                <a:solidFill>
                  <a:srgbClr val="202830"/>
                </a:solidFill>
                <a:latin typeface="Malgun Gothic"/>
              </a:rPr>
              <a:t>•  그래서 생기는 어긋남</a:t>
            </a:r>
          </a:p>
          <a:p>
            <a:r>
              <a:rPr sz="1600" b="0">
                <a:solidFill>
                  <a:srgbClr val="5A6672"/>
                </a:solidFill>
                <a:latin typeface="Malgun Gothic"/>
              </a:rPr>
              <a:t>    –  대량 적재나 대량 삭제 직후에는 통계와 실제가 크게 벌어질 수 있다</a:t>
            </a:r>
          </a:p>
          <a:p>
            <a:r>
              <a:rPr sz="1600" b="0">
                <a:solidFill>
                  <a:srgbClr val="5A6672"/>
                </a:solidFill>
                <a:latin typeface="Malgun Gothic"/>
              </a:rPr>
              <a:t>    –  데이터 변화 속도가 수집 주기보다 빠르면 어긋남이 상시화된다</a:t>
            </a:r>
          </a:p>
          <a:p>
            <a:r>
              <a:rPr sz="1800" b="0">
                <a:solidFill>
                  <a:srgbClr val="202830"/>
                </a:solidFill>
                <a:latin typeface="Malgun Gothic"/>
              </a:rPr>
              <a:t>•  반대 방향의 사고도 있다</a:t>
            </a:r>
          </a:p>
          <a:p>
            <a:r>
              <a:rPr sz="1600" b="0">
                <a:solidFill>
                  <a:srgbClr val="5A6672"/>
                </a:solidFill>
                <a:latin typeface="Malgun Gothic"/>
              </a:rPr>
              <a:t>    –  통계를 재수집한 순간 계획이 바뀌어 어제까지 잘 돌던 SQL이 느려지기도 한다</a:t>
            </a:r>
          </a:p>
          <a:p>
            <a:r>
              <a:rPr sz="1600" b="0">
                <a:solidFill>
                  <a:srgbClr val="5A6672"/>
                </a:solidFill>
                <a:latin typeface="Malgun Gothic"/>
              </a:rPr>
              <a:t>    –  코드도 데이터도 그대로인데 계획만 바뀌었다면 통계를 먼저 의심한다</a:t>
            </a:r>
          </a:p>
          <a:p>
            <a:r>
              <a:rPr sz="1800" b="0">
                <a:solidFill>
                  <a:srgbClr val="202830"/>
                </a:solidFill>
                <a:latin typeface="Malgun Gothic"/>
              </a:rPr>
              <a:t>•  운영에서 필요한 것</a:t>
            </a:r>
          </a:p>
          <a:p>
            <a:r>
              <a:rPr sz="1600" b="0">
                <a:solidFill>
                  <a:srgbClr val="5A6672"/>
                </a:solidFill>
                <a:latin typeface="Malgun Gothic"/>
              </a:rPr>
              <a:t>    –  통계를 언제 수집했는지 기록하고, 변경 전후의 계획을 남겨 두는 것</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히스토그램이 없는 컬럼의 등치 조건 E-Rows는 전체 행 수 ÷ NDV로 계산된다</a:t>
            </a:r>
          </a:p>
          <a:p>
            <a:r>
              <a:rPr sz="1800" b="0">
                <a:solidFill>
                  <a:srgbClr val="202830"/>
                </a:solidFill>
                <a:latin typeface="Malgun Gothic"/>
              </a:rPr>
              <a:t>•  이 계산은 균등 분포 가정 위에 서 있어 어떤 값을 조회하든 같은 값이 나온다</a:t>
            </a:r>
          </a:p>
          <a:p>
            <a:r>
              <a:rPr sz="1800" b="0">
                <a:solidFill>
                  <a:srgbClr val="202830"/>
                </a:solidFill>
                <a:latin typeface="Malgun Gothic"/>
              </a:rPr>
              <a:t>•  히스토그램이 있으면 값별 빈도를 반영해 스큐를 정확히 추정할 수 있다</a:t>
            </a:r>
          </a:p>
          <a:p>
            <a:r>
              <a:rPr sz="1800" b="0">
                <a:solidFill>
                  <a:srgbClr val="202830"/>
                </a:solidFill>
                <a:latin typeface="Malgun Gothic"/>
              </a:rPr>
              <a:t>•  METHOD_OPT으로 히스토그램 생성 여부를 제어하고, SIZE AUTO는 Oracle이 스스로 판단한다</a:t>
            </a:r>
          </a:p>
          <a:p>
            <a:r>
              <a:rPr sz="1800" b="0">
                <a:solidFill>
                  <a:srgbClr val="202830"/>
                </a:solidFill>
                <a:latin typeface="Malgun Gothic"/>
              </a:rPr>
              <a:t>•  통계 상태는 USER_TAB_COL_STATISTICS의 HISTOGRAM과 NUM_BUCKETS로 확인한다</a:t>
            </a:r>
          </a:p>
          <a:p>
            <a:r>
              <a:rPr sz="1800" b="0">
                <a:solidFill>
                  <a:srgbClr val="202830"/>
                </a:solidFill>
                <a:latin typeface="Malgun Gothic"/>
              </a:rPr>
              <a:t>•  카디널리티 추정이 크게 틀리면 조인 방식 등 후속 판단까지 잘못될 위험이 있다</a:t>
            </a:r>
          </a:p>
          <a:p>
            <a:r>
              <a:rPr sz="1800" b="0">
                <a:solidFill>
                  <a:srgbClr val="202830"/>
                </a:solidFill>
                <a:latin typeface="Malgun Gothic"/>
              </a:rPr>
              <a:t>•  통계 수집은 표본 추출 기반이므로 재수집 때마다 수치가 미세하게 다를 수 있다</a:t>
            </a:r>
          </a:p>
          <a:p>
            <a:r>
              <a:rPr sz="1800" b="0">
                <a:solidFill>
                  <a:srgbClr val="202830"/>
                </a:solidFill>
                <a:latin typeface="Malgun Gothic"/>
              </a:rPr>
              <a:t>•  히스토그램은 단일 컬럼 분포만 다룬다 — 상관관계와 바인드 고정 문제는 별개다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ch08_문제.md</a:t>
            </a:r>
          </a:p>
          <a:p>
            <a:r>
              <a:rPr sz="1600" b="0">
                <a:solidFill>
                  <a:srgbClr val="5A6672"/>
                </a:solidFill>
                <a:latin typeface="Malgun Gothic"/>
              </a:rPr>
              <a:t>    –  1·2번  300의 계산 근거와 히스토그램이 차이를 만드는 원리</a:t>
            </a:r>
          </a:p>
          <a:p>
            <a:r>
              <a:rPr sz="1600" b="0">
                <a:solidFill>
                  <a:srgbClr val="5A6672"/>
                </a:solidFill>
                <a:latin typeface="Malgun Gothic"/>
              </a:rPr>
              <a:t>    –  3번  과소추정이 조인 쿼리로 확장될 때의 위험 — ch09 연계</a:t>
            </a:r>
          </a:p>
          <a:p>
            <a:r>
              <a:rPr sz="1600" b="0">
                <a:solidFill>
                  <a:srgbClr val="5A6672"/>
                </a:solidFill>
                <a:latin typeface="Malgun Gothic"/>
              </a:rPr>
              <a:t>    –  4번  NUM_BUCKETS가 1에서 254로 바뀐 것의 의미</a:t>
            </a:r>
          </a:p>
          <a:p>
            <a:r>
              <a:rPr sz="1600" b="0">
                <a:solidFill>
                  <a:srgbClr val="5A6672"/>
                </a:solidFill>
                <a:latin typeface="Malgun Gothic"/>
              </a:rPr>
              <a:t>    –  5번  다른 컬럼에도 SIZE AUTO가 히스토그램을 만들지 예측하기</a:t>
            </a:r>
          </a:p>
          <a:p>
            <a:r>
              <a:rPr sz="1600" b="0">
                <a:solidFill>
                  <a:srgbClr val="5A6672"/>
                </a:solidFill>
                <a:latin typeface="Malgun Gothic"/>
              </a:rPr>
              <a:t>    –  6번  수치가 완전히 같지 않아도 복원됐다고 판단하는 근거</a:t>
            </a:r>
          </a:p>
          <a:p>
            <a:r>
              <a:rPr sz="1600" b="0">
                <a:solidFill>
                  <a:srgbClr val="5A6672"/>
                </a:solidFill>
                <a:latin typeface="Malgun Gothic"/>
              </a:rPr>
              <a:t>    –  7번  모든 컬럼에 정밀한 히스토그램이 항상 좋지는 않은 이유</a:t>
            </a:r>
          </a:p>
          <a:p>
            <a:r>
              <a:rPr sz="1600" b="0">
                <a:solidFill>
                  <a:srgbClr val="5A6672"/>
                </a:solidFill>
                <a:latin typeface="Malgun Gothic"/>
              </a:rPr>
              <a:t>    –  8번  METHOD_OPT을 명시하지 않았는데 히스토그램이 생긴 이유</a:t>
            </a:r>
          </a:p>
          <a:p>
            <a:r>
              <a:rPr sz="1600" b="0">
                <a:solidFill>
                  <a:srgbClr val="5A6672"/>
                </a:solidFill>
                <a:latin typeface="Malgun Gothic"/>
              </a:rPr>
              <a:t>    –  9·10번  바인드 변수 Peeking과의 상충, ch03 Q1 사례 재검토</a:t>
            </a:r>
          </a:p>
          <a:p>
            <a:r>
              <a:rPr sz="1800" b="0">
                <a:solidFill>
                  <a:srgbClr val="202830"/>
                </a:solidFill>
                <a:latin typeface="Malgun Gothic"/>
              </a:rPr>
              <a:t>•  실습 종료 규칙 — 반드시 FOR ALL COLUMNS SIZE AUTO로 원상복구</a:t>
            </a:r>
          </a:p>
          <a:p>
            <a:r>
              <a:rPr sz="1600" b="0">
                <a:solidFill>
                  <a:srgbClr val="5A6672"/>
                </a:solidFill>
                <a:latin typeface="Malgun Gothic"/>
              </a:rPr>
              <a:t>    –  복원 확인은 HISTOGRAM과 NUM_BUCKETS 값으로 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
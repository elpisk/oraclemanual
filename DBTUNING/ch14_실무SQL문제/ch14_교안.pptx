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ch14은 지금까지의 시선을 한 칸 밖으로 옮기는 장이다. 앞의 열한 개 장이 'SQL 한 문장을 어떻게 고칠 것인가'를 다뤘다면 이 장은 '그 문장이 몇 번 불리는가'를 다룬다. 실행계획이 아무 문제 없어 보이는데도 화면이 느린 사고가 실무에서 반복되는데, 원인이 SQL 안이 아니라 애플리케이션의 호출 구조에 있기 때문이다. 첫 시간에 던질 질문은 하나다. 훌륭한 SQL을 스무 번 부르면 그것은 훌륭한 SQL인가. 이 장의 모든 값은 진료비청구심사 실습 DB 실측이라 그대로 재현할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정리가 쉽다. 첫째는 개념으로, N+1이 무엇이며 왜 SQL 문장이 아니라 호출 구조의 문제인지 정확히 세우는 것이다. 둘째는 진단으로, 실행계획 대신 V$SQL 누적 통계를 보는 습관을 들이는 일이다. 셋째는 판단으로, 조인·배치 조회·인덱스 추가 중 무엇이 근본 해법이고 무엇이 완화책인지 구분하는 태도다. 이 장은 새 문법을 배우는 장이 아니라 문제를 발견하는 눈을 기르는 장이라는 점을 미리 말해 두면 기대가 어긋나지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사례 한 건을 끝까지 파고드는 구성이다. 왜 이 문제를 다루는지(12.1), 무엇인지(12.2), 왜 그렇게 되는지(12.3), 코드로 어떻게 재현하는지(12.4), 실측이 무엇을 말하는지(12.5), 왜 위험한지(12.6), 어떻게 고치는지(12.7~12.8)의 순서다. 증상에서 원인으로, 원인에서 진단으로, 진단에서 개선으로 가는 이 리듬은 다른 성능 문제를 만났을 때도 그대로 쓸 수 있는 절차라는 점을 미리 알려 주면 학습자가 사례를 외우지 않고 방법을 가져간다.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시선을 한 번 크게 돌린다. 지금까지 배운 실행계획 읽기는 여전히 유효하지만, 그 도구가 닿지 않는 영역이 있다는 것을 인정하는 절이다. 강의 현장에서는 '실행계획이 깨끗한데 왜 느리냐'는 질문이 반드시 나오는데, 그 답의 상당 부분이 이 절에 있다. 문장 하나를 현미경으로 보는 일과 요청 한 건이 만들어 내는 SQL 전체를 세는 일은 다른 작업이라는 점을 먼저 못 박아 두자. 실무에서는 DBA가 잡아 온 느린 SQL 목록에 정작 문제의 쿼리가 없어 원인 규명이 지연되는 일이 잦다. 각각은 빨랐기 때문이다. 이 절은 그 답답한 상황이 왜 생기는지를 설명하는 자리이기도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앞 장들의 방법이 틀렸다는 말이 아니라는 점이다. 도구에는 각각 보이는 범위가 있을 뿐이다. 실행계획은 문장 하나의 내부를 보여 주는 현미경이고, 호출 횟수 문제는 현미경 배율 밖에 있다. 학습자가 흔히 오해하는 지점이 여기다. 튜닝을 배우면 모든 느림을 실행계획으로 설명할 수 있으리라 기대하는데, 그 기대가 깨지는 첫 순간이 대개 N+1을 만났을 때다. 도구를 바꿔 들어야 하는 상황이 따로 있다는 것을 지금 알려 주는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ORM을 쓰지 않는 팀에서도 같은 일이 벌어진다는 점을 덧붙이면 좋다. 서비스 계층에서 목록을 받아 루프를 돌며 DAO 메서드를 부르는 구조는 프레임워크와 무관하게 흔하다. 코드 리뷰에서 이 패턴이 잘 안 걸리는 이유는 루프와 조회가 서로 다른 파일에 흩어져 있기 때문이다. 목록을 받는 곳과 상세를 조회하는 곳이 각각은 자연스러워 보인다. 그래서 정적인 코드 읽기보다 실행 중에 나가는 SQL을 세는 쪽이 훨씬 빨리 진실에 닿는다.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PL/SQL 루프는 자바나 파이썬 애플리케이션의 반복 호출을 대신하는 축소 모형이다. 실제 애플리케이션에서는 여기에 네트워크 왕복 시간과 커넥션 사용 시간이 더 붙기 때문에 체감 피해는 더 커진다. 그러니 이번 실측값은 N+1 피해의 하한선이라고 소개하는 편이 정확하다. DDL 변경 없이 측정한다는 조건도 짚어 두자. 인덱스를 먼저 만들어 버리면 이 장이 보여 주려는 반복의 곱셈 효과가 흐려지기 때문에 일부러 손대지 않은 것이다.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 절은 짧게 지나가되 정의만은 정확히 잡고 간다. N+1이라는 이름이 널리 쓰이는 데 비해 정확한 정의를 말해 보라고 하면 막히는 학습자가 많다. 목록 조회 한 번과 항목별 추가 조회 N번, 이 두 조각이 합쳐진 구조라는 것을 이름 자체가 설명하고 있다는 점을 짚어 주면 오래 남는다. 그리고 이 장이 여러 문제 유형 중 N+1 하나에 집중하는 이유도 여기서 밝혀 둔다. 진단 절차의 관점에서 보면 이 절은 증상에 이름을 붙이는 단계에 해당한다. 이름이 붙어야 검색도 되고 팀 안에서 같은 말로 논의할 수 있으므로, 용어를 정확히 세우는 일이 생각보다 큰 몫을 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정의를 읽어 준 다음 학습자에게 자기 경험을 떠올리게 하면 몰입이 확 올라간다. 목록 화면에 항목별 배지나 카운트를 붙이는 요구사항은 거의 모든 서비스에 있고, 그 요구사항을 가장 쉽게 구현하는 방법이 바로 N+1이다. 흔히 오해하는 지점은 N+1을 초보자의 실수로 여기는 것인데, 실제로는 경험 많은 개발자도 화면 요구사항이 뒤늦게 추가될 때 이 구조를 만든다. 처음부터 잘못 짠 것이 아니라 기능이 하나 붙으면서 생기는 경우가 많다는 점을 말해 주자.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다음 절의 배수 논리를 미리 깔아 주는 자리다. 여기서 학습자에게 질문을 하나 던져 보면 좋다. 목록이 열 배가 되면 응답 시간은 몇 배가 되겠는가. 대개 열 배라고 답하는데, 실제로는 커넥션 점유와 캐시 경합까지 겹쳐 그보다 나빠지는 경우도 있다. 반대로 조인 방식은 목록이 열 배가 되어도 스캔 횟수 자체는 그대로다. 횟수가 변수인 구조와 상수인 구조의 차이, 이 한 문장이 이 장 전체를 관통한다.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목록은 체크리스트로 나눠 주면 현장에서 바로 쓰인다. 다만 다섯 유형을 같은 무게로 다루면 강의가 흩어지므로, 앞의 네 가지는 이름과 증상만 확인하고 넘어가는 편이 낫다. 공통점을 하나 짚어 주자. 전부 '결과는 맞는데 낭비가 있는' 문제이고, 그래서 테스트로는 절대 걸리지 않는다는 점이다. 기능 테스트가 통과했다는 사실이 성능을 보장하지 않는다는 감각을 이 지점에서 심어 두면 이후 실습 문항을 대하는 태도가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느린 SQL 목록을 뽑을 때 정렬 기준을 무엇으로 두느냐에 따라 N+1이 보이기도 하고 숨기도 한다. 1회 실행 시간으로 정렬하면 N+1의 개별 쿼리는 상위에 오르지 않는다. 반면 누적 시간이나 누적 Buffers로 정렬하면 단숨에 최상단에 올라온다. 이 정렬 기준 하나가 진단의 성패를 가른다는 점을 미리 말해 두면 12.5절에서 V$SQL을 볼 때 왜 하필 그 컬럼들을 보는지가 자연스럽게 이해된다. 학습자가 흔히 오해하는 지점도 여기다. 튜닝 대상은 느린 SQL이라고만 배운 탓에, 빠른 SQL이 범인일 수 있다는 발상 자체를 못 한다. 이 장은 그 고정관념을 깨는 데 절반을 쓴다고 보면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 장의 이론적 심장이다. 실측값을 보여 주기 전에 원리를 먼저 세워 두면 12.5절의 숫자가 예언의 확인처럼 읽힌다. 순서를 뒤집어 숫자부터 보여 주면 학습자는 결과를 외우고 끝나지만, 원리를 먼저 세우면 숫자를 스스로 예측하게 된다. 강의에서는 여기서 '그러면 총 Buffers가 얼마쯤 나올 것 같으냐'고 물어본 뒤 다음 절로 넘어가는 방식을 권한다. 진단 절차로 보면 이 절은 증상에서 원인으로 넘어가는 단계다. 원인을 구조로 설명할 수 있어야 개선안이 임시방편에 그치지 않는다는 점을 함께 짚어 두면 이후 12.7절의 해법 등급 구분이 훨씬 쉽게 받아들여진다.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ch05를 다시 펼쳐 같은 테이블의 단건 조회 실행계획을 잠깐 보여 주면 연결이 매끄럽다. 학습자가 흔히 오해하는 지점은 결과가 적으면 비용도 적을 것이라 생각하는 것인데, Full Scan은 결과 건수와 무관하게 테이블 크기에 비례한다. 조건에 맞는 행이 한 건도 없어도 비용은 똑같이 든다. 이 성질은 다음 슬라이드의 곱셈 논리를 성립시키는 전제이므로 여기서 확실히 못 박고 넘어가야 한다. 실무에서는 PK가 있으니 인덱스도 있는 셈이라고 넘겨짚다가 사고가 난다. PK 컬럼과 조회 조건 컬럼이 다르면 그 인덱스는 이 조회에 아무 도움이 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버퍼 캐시 이야기가 나오면 잠깐 다뤄 주는 것이 좋다. 두 번째 반복부터는 블록이 메모리에 올라와 있으니 물리 I/O는 줄어드는 것이 맞다. 하지만 Buffers는 논리적 I/O, 즉 블록을 몇 번 만졌는가를 세는 값이라 캐시에 있어도 그대로 카운트된다. 메모리에서 읽어도 CPU는 쓴다는 것이 ch01에서 배운 내용이다. 캐시가 있으니 괜찮지 않느냐는 반론은 여기서 정리하고 넘어가야 이후 숫자 해석이 흔들리지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N+1과 조인의 차이를 도서관 비유로 설명하면 잘 전달된다. 스무 권의 책을 찾아야 할 때 목록을 들고 서가를 한 번 돌면서 스무 권을 모두 담아 오는 것이 조인이고, 한 권씩 확인하러 서가를 스무 번 왕복하는 것이 N+1이다. 걷는 거리는 서가의 길이로 같지만 왕복 횟수가 다르다. 학습자가 자주 묻는 것이 Hash Join이 아니라 Nested Loop이 선택되면 어떻게 되느냐인데, 그 경우에도 반복 호출과 달리 DB 내부의 루프라 파싱과 호출 오버헤드가 없다는 차이가 남는다.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고정비용과 변동비용이라는 틀은 이 장 밖에서도 쓸모가 크다. 페이지네이션, 캐시 적중, 배치 크기 결정 같은 판단이 모두 같은 틀로 설명된다. 실무에서 성능 리뷰를 할 때 던질 질문을 한 문장으로 정리해 주자. 데이터가 열 배가 되면 이 코드의 비용은 몇 배가 되는가. 이 질문에 답할 수 없다면 그 코드는 아직 검토되지 않은 것이다. N+1은 이 질문에 열 배라고 답해야 하는 구조이고, 조인은 거의 그대로라고 답할 수 있는 구조다.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코드를 보여 주기 전에 실습 재현 조건을 한 번 더 확인해 두자. 두 코드는 같은 결과를 내야 비교가 성립한다. 병원 1번의 청구 중 스무 건을 고르고, 각 청구의 상세내역 건수를 얻는다는 목표가 동일하다. 결과가 같은 두 방법 중 자원을 덜 쓰는 쪽을 고르는 것이 이 과정의 정의라는 ch01의 문장을 여기서 다시 꺼내면 흐름이 이어진다. 학습자에게는 두 코드를 직접 실행해 결과 집합을 비교해 보게 하는 것이 좋다. 결과가 같다는 사실을 눈으로 확인하고 나서야 비용 비교가 공정하다는 확신이 생기고, 이후 숫자 해석에 다른 의심이 끼어들지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코드는 짧지만 실무 코드의 축소판이다. 커서 FOR 루프가 서비스 계층의 목록 조회에 해당하고, 루프 본문의 SELECT가 항목별 상세 조회에 해당한다. 강의에서 짚어야 할 부분은 이 코드가 전혀 이상해 보이지 않는다는 사실이다. 문법도 정상이고 결과도 정확하다. 리뷰어가 이 코드를 보고 지적하려면 CLAIM_DETAILS에 CLAIM_ID 인덱스가 없다는 사실과 이 루프가 몇 번 도는지를 동시에 떠올려야 한다. 그 두 가지를 함께 떠올리기가 어렵다는 것이 이 문제의 본질이다.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바인드 변수 처리는 여기서 오히려 우리에게 유리하게 작용했다는 점을 짚어 주면 좋다. 스무 번의 실행이 하나의 SQL_ID로 묶여 누적 통계가 깔끔하게 잡히기 때문이다. 리터럴을 썼다면 SQL_ID가 스무 개로 흩어져 V$SQL만 봐서는 반복을 알아채기가 더 어려웠을 것이다. 진단이 어려워지는 동시에 하드 파싱 비용까지 더해지는 셈이라, 실무에서 리터럴 하드코딩과 N+1이 겹치면 원인을 찾는 데 훨씬 오래 걸린다. 실습 7번 문항이 이 지점을 묻는다.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아우터 조인을 쓴 이유를 반드시 설명하고 넘어가야 한다. 내부 조인으로 바꾸면 상세내역이 없는 청구가 결과에서 사라져 두 방식의 결과가 달라진다. N+1 버전의 루프는 상세가 없어도 COUNT가 0으로 나오면서 스무 건을 모두 돌기 때문이다. 튜닝 결과를 비교할 때 결과 집합이 같은지부터 확인하는 습관을 여기서 심어 주자. 빨라졌지만 결과가 달라진 SQL은 튜닝이 아니라 버그다. 실무 사고의 상당수가 이 확인을 건너뛰면서 생긴다.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세 단계 변환 절차는 이 사례에만 통하는 요령이 아니라 일반적인 리팩터링 패턴이다. 다만 애플리케이션에서 그대로 적용하기 어려운 경우도 있다는 점을 함께 말해 주자. 루프 본문의 조회 결과에 따라 분기가 갈리거나, 조회 대상이 조건에 따라 다른 테이블일 때가 그렇다. 그런 경우에는 12.7절에서 다룰 배치 조회가 현실적인 절충안이 된다. 조인 하나만이 정답이라고 가르치면 현장에서 적용을 포기해 버리는 일이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 절에서 강조할 것은 도구 선택이다. N+1은 실행계획을 아무리 예쁘게 뽑아도 보이지 않으므로 누적 통계를 봐야 한다는 것, 반대로 조인 1회는 문장 하나이므로 평소대로 실행계획을 보면 된다는 것이다. 즉 이 절에서는 서로 다른 두 도구를 나란히 쓴다. 왜 도구가 달라야 하는지를 먼저 설명하고 숫자로 들어가면 학습자가 헷갈리지 않는다. 여기서 자주 나오는 질문이 두 값을 그대로 비교해도 되느냐는 것인데, 둘 다 논리적 I/O를 세는 같은 단위이므로 비교가 성립한다. 단위가 같은지 확인하고 비교하는 습관은 어떤 성능 보고서를 읽을 때든 먼저 해야 할 점검이다.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V$SQL은 공유 풀에 남아 있는 커서의 통계라 시간이 지나거나 커서가 밀려나면 사라진다는 점을 덧붙여 주자. 그래서 실습에서는 실행 직후에 조회해야 값을 볼 수 있다. 실무에서는 AWR이나 Statspack 같은 스냅숏 기반 도구로 이 정보를 시간 단위로 보존한다. 또 하나 흔한 함정은 여러 세션이 같은 SQL을 실행하면 통계가 합산된다는 것이다. 내 세션의 스무 번인지 여러 세션의 합인지 구분하려면 실습처럼 조용한 환경에서 측정하는 편이 명확하다.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 한 장이 이 장의 핵심 증거물이다. 여기서 학습자가 놓치기 쉬운 것은 SQL_TEXT가 지극히 평범하다는 사실이다. WHERE 조건 하나짜리 COUNT 쿼리이고, 실행계획을 뽑아 봐야 TABLE ACCESS FULL 한 줄이 전부다. 문제를 드러내는 것은 문장이 아니라 EXECUTIONS 컬럼의 값이다. 실무에서 V$SQL을 조회할 때 EXECUTIONS가 유독 큰 SQL을 먼저 훑어보는 습관을 들이면 N+1은 대체로 그 목록의 상단에서 발견된다. 실습 5번 문항이 이 컬럼을 직접 묻는다.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문장이 이 장 전체의 요약이다. 느린 SQL과 자주 불리는 SQL은 대응 방법이 전혀 다르다. 느린 SQL은 문장을 고치거나 인덱스를 만들어 대응하지만, 자주 불리는 SQL은 호출하는 쪽 코드를 고쳐야 한다. DBA가 SQL만 들여다보며 왜 안 고쳐지는지 답답해하는 상황이 실무에서 자주 벌어지는데, 원인이 DB 밖에 있기 때문이다. 그래서 이 문제는 DBA와 개발자가 같은 화면을 보며 이야기해야 풀린다. 실습 1번 문항이 평균 계산과 그 의미를 직접 묻는다.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실행계획을 읽을 때는 안쪽부터 바깥으로 올라가며 읽는다는 원칙을 다시 적용하자. Id 5에서 MEDICAL_CLAIMS를 읽되 Id 4의 COUNT STOPKEY가 스무 건을 채우는 즉시 멈춰 세운다. Id 6에서 CLAIM_DETAILS를 한 번 훑고, Id 2에서 두 집합을 해시로 맞붙인 뒤 Id 1에서 집계한다. 여기서 학습자에게 확인시킬 것은 딱 하나다. TABLE ACCESS FULL(CLAIM_DETAILS)이 계획 안에 몇 번 등장하는가. 실습 2번 문항이 바로 이것을 묻는다.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자주 나오는 질문이 CLAIM_DETAILS도 조기 종료할 수 없느냐는 것이다. 답은 아니오다. 찾는 값이 테이블 어디에 흩어져 있는지 모르니 마지막 블록까지 확인해야 빠짐없이 찾았다고 말할 수 있다. 인덱스가 있었다면 이야기가 달라지지만 이번 차시는 DDL 변경 없이 측정한다. 또 하나 짚을 것은 Buffers가 상위 단계로 올라가며 그대로 유지된다는 점이다. 조인과 집계는 블록을 다시 만지지 않는 연산이라는 사실이 이 열에 그대로 나타나 있다. 실습 9번 문항이 이 대비를 묻는다.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숫자가 예측과 맞아떨어졌다는 사실 자체를 강조하자. 성능 분석에서 가장 든든한 순간은 원리로 예측한 값과 실측이 일치할 때다. 그때 비로소 원인을 안다고 말할 수 있다. 반대로 예측과 실측이 어긋난다면 아직 모르는 요인이 남아 있다는 신호이므로 더 파고들어야 한다. 이 태도는 이 장뿐 아니라 모든 튜닝 작업에 적용된다. 실습 3번 문항은 이 비율을 200건으로 확장했을 때 어떻게 달라질지 예측하게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위험성 절은 경고로 끝내지 말고 예방 절차로 마무리하는 것이 좋다. 무섭다는 이야기만으로는 행동이 바뀌지 않는다. 목록 건수를 늘려 가며 비용이 어떻게 움직이는지 확인하는 습관, 운영 규모를 가정한 테스트 데이터를 준비하는 습관 같은 구체적인 실천으로 연결해야 한다. 이 절의 내용은 실습 4번 문항과 그대로 이어진다. 실무에서 이 유형의 장애는 배포 직후가 아니라 배포 몇 달 뒤에 터지기 때문에 원인 추적이 특히 어렵다. 최근 바뀐 것이 없는데 갑자기 느려졌다는 신고가 들어오면 데이터 증가에 따른 확장성 문제를 먼저 의심하라고 일러 두자.</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계산을 학습자에게 직접 시켜 보는 것이 좋다. 목록이 1,000건이면 어떻게 되겠느냐고 물으면 곱셈 구조가 몸으로 이해된다. 그리고 실제 사고 상황을 하나 덧붙이자. 서비스 초기에는 고객사별 데이터가 적어 아무 문제가 없다가, 큰 고객사가 들어오면서 특정 화면만 급격히 느려지는 일이 흔하다. 원인을 찾다 보면 그 고객사의 목록 건수가 유독 많았던 것이 밝혀진다. 같은 코드가 고객사에 따라 다르게 동작하는 것처럼 보이는 이유가 바로 이 구조다.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대목에서 팀 차원의 대책을 제안해 주면 강의가 실무로 이어진다. 운영 데이터 규모를 흉내 낸 성능 검증용 스키마를 하나 유지하는 것, 주요 화면마다 요청 한 건이 발생시키는 SQL 개수의 상한을 정해 두는 것이 대표적이다. 후자는 특히 효과가 좋다. 화면 하나에 SQL 열 건을 넘기지 않는다는 규칙만 있어도 N+1은 개발 단계에서 걸린다. 성능은 마지막에 측정하는 것이 아니라 처음부터 조건으로 걸어 두는 것이라는 관점을 심어 주자.</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기울기라는 표현이 낯설다면 그래프를 손으로 그려 보이면 된다. 가로축에 목록 건수, 세로축에 Buffers를 두면 N+1은 우상향 직선이고 조인은 거의 수평선이다. 두 선이 만나는 지점이 목록 한 건 근처라는 점도 재미있다. 목록이 한 건뿐이라면 두 방식의 비용이 비슷하다는 뜻이고, 그래서 개발자가 한 건으로 테스트하면 아무 차이를 못 느낀다. 이 그림 하나가 이 절의 내용을 전부 담고 있어 판서로 남겨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튜닝 절에서 가장 중요한 것은 해법에 등급을 매기는 일이다. 조인은 근본 해법, 배치 조회는 현실적인 절충안, 인덱스 추가는 완화책이다. 이 등급을 흐릿하게 두면 학습자는 인덱스만 만들고 문제를 해결했다고 여기게 된다. 반복 호출 구조가 남아 있는 한 문제는 규모가 커지면 다시 돌아온다는 점을 이 절 내내 반복해서 확인시켜야 한다. 실무에서는 일정에 쫓겨 완화책을 먼저 적용하는 일이 잦은데 그 자체가 잘못은 아니다. 다만 완화책으로 급한 불을 껐다는 사실과 구조 개선 과제가 남았다는 사실을 함께 기록으로 남겨야 그 과제가 잊히지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조인으로 바꿀 때 실무에서 부딪히는 벽을 미리 알려 주면 도움이 된다. 애플리케이션 계층 구조가 목록 조회와 상세 조회를 서로 다른 서비스나 리포지토리로 갈라 놓은 경우, 조인을 넣으려면 계층 설계를 건드려야 해서 저항이 생긴다. 그럴 때 유용한 논거가 이번 실측이다. 비율이 반복 횟수에 수렴한다는 사실을 보여 주면, 지금 스무 배인 격차가 목록이 늘면 그만큼 더 벌어진다는 예측이 설득력을 갖는다. 숫자는 설계 논쟁을 끝내는 가장 빠른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배치 조회는 애플리케이션 구조를 크게 바꾸지 않고도 반복을 없앨 수 있어 현장 적용성이 높다. 다만 IN 리스트 길이가 요청마다 달라지면 SQL 텍스트가 매번 달라져 커서가 흩어진다는 점을 짚어 주자. 그래서 실무에서는 묶음 크기를 고정하거나 부족한 자리를 널 값으로 채우는 방식을 쓴다. Oracle에는 IN 리스트 원소 개수 상한도 있어 목록이 아주 길면 나눠 보내야 한다. 실습 8번 문항이 이 대안을 직접 제안하게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인덱스 추가에는 그 자체의 대가가 따른다는 점도 함께 말해야 균형이 맞는다. 인덱스가 하나 늘면 해당 테이블의 INSERT와 UPDATE가 그만큼 느려지고 저장 공간도 더 쓴다. 조회를 돕자고 만든 인덱스가 대량 적재 배치를 느리게 만드는 일이 실무에서 종종 벌어진다. 그러니 반복 호출을 없애면 해결될 문제를 인덱스로 덮는 선택은 비용 대비 효과가 좋지 않을 수 있다. 실습 6번 문항이 인덱스 추가 후에도 남는 문제를 정확히 묻는다.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정렬 기준을 바꿔 가며 두 번 조회한다는 점이 이 슬라이드의 요령이다. 실행 횟수 순으로 보면 반복 호출이 드러나고, 누적 Buffers 순으로 보면 실제 피해가 큰 순서가 드러난다. 두 목록의 교집합에 있는 SQL이 최우선 개선 대상이다. 실무에서는 여기에 시간 범위를 걸어 특정 시간대의 부하를 보거나, 모듈·서비스 이름으로 묶어 어느 화면에서 나온 SQL인지 추적한다. 실습 10번 문항이 이런 발견 방법을 자유롭게 제안하도록 요구한다.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항목을 리뷰 체크리스트로 굳혀 두면 팀에 바로 이식된다. 반복문 안에 조회가 있는지 보는 것은 규칙이 단순해서 누구나 적용할 수 있다. 다만 앞에서 말했듯 루프와 조회가 다른 파일에 흩어져 있으면 눈으로는 안 걸린다. 그래서 코드 리뷰만으로는 부족하고 실행 시점의 관측이 함께 있어야 한다. 정적 점검과 동적 관측을 둘 다 두는 것, 이것이 N+1을 놓치지 않는 유일한 방법이다. 진단 순서를 굳이 정하자면 관측이 먼저다. 어느 화면이 SQL을 몇 건 발생시키는지 세어 본 뒤 그 화면의 코드를 열어 보는 편이, 코드부터 뒤지는 것보다 훨씬 빨리 범인에 닿는다.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벤치마크 표는 강의를 닫는 슬라이드이자 실무에서 보고서에 그대로 옮겨 쓸 수 있는 형식이다. 표를 읽을 때 실행 횟수 열을 먼저 짚고 총 Buffers 열로 넘어가는 순서를 지키자. 원인이 앞 열에 있고 결과가 뒤 열에 있기 때문이다. 학습자에게 마지막으로 확인시킬 것은 두 방식이 읽은 데이터가 사실상 같다는 사실이다. 같은 데이터를 스무 번 읽었느냐 한 번 읽었느냐, 그 차이 하나가 이 표 전체를 만들었다. 튜닝이 마법이 아니라 낭비 제거라는 정의가 여기서 확인된다.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한 문장으로 압축해 마무리하자. 좋은 SQL을 여러 번 부르면 나쁜 시스템이 된다. 이 장이 다른 장과 다른 점은 고칠 대상이 SQL 텍스트가 아니라 그것을 부르는 코드였다는 것이고, 그래서 튜닝의 무대가 DB 안에서 애플리케이션까지 넓어졌다는 것이다. 다음 장으로 넘어가기 전에 학습자 각자에게 자기 프로젝트에서 목록 화면 하나를 떠올려 보고, 그 화면이 SQL 몇 건을 발생시키는지 세어 보라는 과제를 던지면 이 장의 내용이 현장으로 옮겨 간다.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열 문항은 계산 문제와 설명 문제가 섞여 있다. 계산은 나눗셈 한 번이면 끝나지만 채점의 핵심은 그 값이 왜 그렇게 나오는지를 구조로 설명했는가에 있다. 특히 3번과 6번은 예측과 판단을 요구하는 최상 난도 문항이라 시간을 넉넉히 주는 편이 좋다. 10번은 정답이 정해져 있지 않으니 학습자들의 답을 모아 함께 목록을 만들어 보면 서로의 현장 경험이 공유되어 강의 마무리로 특히 좋다. 시간이 부족하다면 1·2·5번을 필수로 두고 나머지를 과제로 돌리는 배분을 권한다. 이 세 문항이 계산과 관찰, 진단 도구라는 이 장의 뼈대를 모두 담고 있기 때문이다.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ch14</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실무에서 자주 발생하는 SQL 문제</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N+1 문제 · 반복 호출 패턴 · V$SQL 누적 통계 · 조인 1회 대체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N+1 패턴의 정의를 말하고 왜 그렇게 부르는지 설명한다</a:t>
            </a:r>
          </a:p>
          <a:p>
            <a:r>
              <a:rPr sz="1600" b="0">
                <a:solidFill>
                  <a:srgbClr val="5A6672"/>
                </a:solidFill>
                <a:latin typeface="Malgun Gothic"/>
              </a:rPr>
              <a:t>    –  실행계획 한 장만으로는 N+1이 드러나지 않는 이유를 설명한다</a:t>
            </a:r>
          </a:p>
          <a:p>
            <a:r>
              <a:rPr sz="1600" b="0">
                <a:solidFill>
                  <a:srgbClr val="5A6672"/>
                </a:solidFill>
                <a:latin typeface="Malgun Gothic"/>
              </a:rPr>
              <a:t>    –  V$SQL의 EXECUTIONS와 BUFFER_GETS로 반복 호출을 진단한다</a:t>
            </a:r>
          </a:p>
          <a:p>
            <a:r>
              <a:rPr sz="1600" b="0">
                <a:solidFill>
                  <a:srgbClr val="5A6672"/>
                </a:solidFill>
                <a:latin typeface="Malgun Gothic"/>
              </a:rPr>
              <a:t>    –  CLAIM_DETAILS 반복 조회가 매번 Full Scan이 되는 이유를 설명한다</a:t>
            </a:r>
          </a:p>
          <a:p>
            <a:r>
              <a:rPr sz="1600" b="0">
                <a:solidFill>
                  <a:srgbClr val="5A6672"/>
                </a:solidFill>
                <a:latin typeface="Malgun Gothic"/>
              </a:rPr>
              <a:t>    –  N+1의 총 비용이 반복 횟수의 배수로 커지는 구조를 설명한다</a:t>
            </a:r>
          </a:p>
          <a:p>
            <a:r>
              <a:rPr sz="1600" b="0">
                <a:solidFill>
                  <a:srgbClr val="5A6672"/>
                </a:solidFill>
                <a:latin typeface="Malgun Gothic"/>
              </a:rPr>
              <a:t>    –  조인 1회 방식이 Full Scan을 한 번으로 고정시키는 원리를 설명한다</a:t>
            </a:r>
          </a:p>
          <a:p>
            <a:r>
              <a:rPr sz="1600" b="0">
                <a:solidFill>
                  <a:srgbClr val="5A6672"/>
                </a:solidFill>
                <a:latin typeface="Malgun Gothic"/>
              </a:rPr>
              <a:t>    –  실측 Buffers 비교로 두 방식의 격차를 근거를 들어 읽는다</a:t>
            </a:r>
          </a:p>
          <a:p>
            <a:r>
              <a:rPr sz="1600" b="0">
                <a:solidFill>
                  <a:srgbClr val="5A6672"/>
                </a:solidFill>
                <a:latin typeface="Malgun Gothic"/>
              </a:rPr>
              <a:t>    –  인덱스 추가가 완화책일 뿐 근본 해법이 아닌 이유를 설명한다</a:t>
            </a:r>
          </a:p>
          <a:p>
            <a:r>
              <a:rPr sz="1600" b="0">
                <a:solidFill>
                  <a:srgbClr val="5A6672"/>
                </a:solidFill>
                <a:latin typeface="Malgun Gothic"/>
              </a:rPr>
              <a:t>    –  배치 조회 등 애플리케이션 레벨의 대안을 제시한다</a:t>
            </a:r>
          </a:p>
          <a:p>
            <a:r>
              <a:rPr sz="1600" b="0">
                <a:solidFill>
                  <a:srgbClr val="5A6672"/>
                </a:solidFill>
                <a:latin typeface="Malgun Gothic"/>
              </a:rPr>
              <a:t>    –  개발 환경에서 N+1이 숨는 이유와 발견 방법을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12.1  Why — SQL 밖에 있는 성능 문제</a:t>
            </a:r>
          </a:p>
          <a:p>
            <a:r>
              <a:rPr sz="1600" b="0">
                <a:solidFill>
                  <a:srgbClr val="5A6672"/>
                </a:solidFill>
                <a:latin typeface="Malgun Gothic"/>
              </a:rPr>
              <a:t>    –  한 문장의 실행계획 분석으로 닿지 않는 영역</a:t>
            </a:r>
          </a:p>
          <a:p>
            <a:r>
              <a:rPr sz="1800" b="0">
                <a:solidFill>
                  <a:srgbClr val="202830"/>
                </a:solidFill>
                <a:latin typeface="Malgun Gothic"/>
              </a:rPr>
              <a:t>•  12.2  Concept — N+1 문제와 그 밖의 흔한 유형</a:t>
            </a:r>
          </a:p>
          <a:p>
            <a:r>
              <a:rPr sz="1600" b="0">
                <a:solidFill>
                  <a:srgbClr val="5A6672"/>
                </a:solidFill>
                <a:latin typeface="Malgun Gothic"/>
              </a:rPr>
              <a:t>    –  N+1의 정의, SELECT * · 불필요한 JOIN · 중복 조회 등</a:t>
            </a:r>
          </a:p>
          <a:p>
            <a:r>
              <a:rPr sz="1800" b="0">
                <a:solidFill>
                  <a:srgbClr val="202830"/>
                </a:solidFill>
                <a:latin typeface="Malgun Gothic"/>
              </a:rPr>
              <a:t>•  12.3  Oracle Internals — 비용이 왜 배수로 커지는가</a:t>
            </a:r>
          </a:p>
          <a:p>
            <a:r>
              <a:rPr sz="1600" b="0">
                <a:solidFill>
                  <a:srgbClr val="5A6672"/>
                </a:solidFill>
                <a:latin typeface="Malgun Gothic"/>
              </a:rPr>
              <a:t>    –  인덱스 없는 컬럼 반복 조회, Full Scan의 곱셈</a:t>
            </a:r>
          </a:p>
          <a:p>
            <a:r>
              <a:rPr sz="1800" b="0">
                <a:solidFill>
                  <a:srgbClr val="202830"/>
                </a:solidFill>
                <a:latin typeface="Malgun Gothic"/>
              </a:rPr>
              <a:t>•  12.4  Example — N+1 재현과 조인 1회 대체</a:t>
            </a:r>
          </a:p>
          <a:p>
            <a:r>
              <a:rPr sz="1600" b="0">
                <a:solidFill>
                  <a:srgbClr val="5A6672"/>
                </a:solidFill>
                <a:latin typeface="Malgun Gothic"/>
              </a:rPr>
              <a:t>    –  PL/SQL 루프로 재현, 아우터 조인 + GROUP BY로 대체</a:t>
            </a:r>
          </a:p>
          <a:p>
            <a:r>
              <a:rPr sz="1800" b="0">
                <a:solidFill>
                  <a:srgbClr val="202830"/>
                </a:solidFill>
                <a:latin typeface="Malgun Gothic"/>
              </a:rPr>
              <a:t>•  12.5  Execution Plan — 실측 비교</a:t>
            </a:r>
          </a:p>
          <a:p>
            <a:r>
              <a:rPr sz="1600" b="0">
                <a:solidFill>
                  <a:srgbClr val="5A6672"/>
                </a:solidFill>
                <a:latin typeface="Malgun Gothic"/>
              </a:rPr>
              <a:t>    –  V$SQL 누적 통계와 조인 1회 실행계획</a:t>
            </a:r>
          </a:p>
          <a:p>
            <a:r>
              <a:rPr sz="1800" b="0">
                <a:solidFill>
                  <a:srgbClr val="202830"/>
                </a:solidFill>
                <a:latin typeface="Malgun Gothic"/>
              </a:rPr>
              <a:t>•  12.6  Bad SQL — N+1이 특히 위험한 이유</a:t>
            </a:r>
          </a:p>
          <a:p>
            <a:r>
              <a:rPr sz="1600" b="0">
                <a:solidFill>
                  <a:srgbClr val="5A6672"/>
                </a:solidFill>
                <a:latin typeface="Malgun Gothic"/>
              </a:rPr>
              <a:t>    –  목록 건수에 비례해 악화되는 확장성 문제</a:t>
            </a:r>
          </a:p>
          <a:p>
            <a:r>
              <a:rPr sz="1800" b="0">
                <a:solidFill>
                  <a:srgbClr val="202830"/>
                </a:solidFill>
                <a:latin typeface="Malgun Gothic"/>
              </a:rPr>
              <a:t>•  12.7~12.8  Tuning &amp; Benchmark</a:t>
            </a:r>
          </a:p>
          <a:p>
            <a:r>
              <a:rPr sz="1600" b="0">
                <a:solidFill>
                  <a:srgbClr val="5A6672"/>
                </a:solidFill>
                <a:latin typeface="Malgun Gothic"/>
              </a:rPr>
              <a:t>    –  근본 해법과 완화책의 구분, 실측 요약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Why — SQL 밖에 있는 성능 문제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지금까지의 관점과 그 한계</a:t>
            </a:r>
          </a:p>
          <a:p>
            <a:r>
              <a:rPr sz="1600" b="0">
                <a:solidFill>
                  <a:srgbClr val="C5CED6"/>
                </a:solidFill>
                <a:latin typeface="Malgun Gothic"/>
              </a:rPr>
              <a:t>•  애플리케이션 호출 패턴이라는 사각지대</a:t>
            </a:r>
          </a:p>
          <a:p>
            <a:r>
              <a:rPr sz="1600" b="0">
                <a:solidFill>
                  <a:srgbClr val="C5CED6"/>
                </a:solidFill>
                <a:latin typeface="Malgun Gothic"/>
              </a:rPr>
              <a:t>•  이번 챕터가 다루는 소재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지금까지의 관점 — 한 문장의 실행계획</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ch01부터 ch13까지는 'SQL 한 문장'을 분석 단위로 삼았다</a:t>
            </a:r>
          </a:p>
          <a:p>
            <a:r>
              <a:rPr sz="1600" b="0">
                <a:solidFill>
                  <a:srgbClr val="5A6672"/>
                </a:solidFill>
                <a:latin typeface="Malgun Gothic"/>
              </a:rPr>
              <a:t>    –  실행계획을 뽑고, 접근 경로와 조인 방식을 읽고, 자원 소비량을 비교했다</a:t>
            </a:r>
          </a:p>
          <a:p>
            <a:r>
              <a:rPr sz="1600" b="0">
                <a:solidFill>
                  <a:srgbClr val="5A6672"/>
                </a:solidFill>
                <a:latin typeface="Malgun Gothic"/>
              </a:rPr>
              <a:t>    –  분석의 시작과 끝이 언제나 하나의 SQL 텍스트였다</a:t>
            </a:r>
          </a:p>
          <a:p>
            <a:r>
              <a:rPr sz="1800" b="0">
                <a:solidFill>
                  <a:srgbClr val="202830"/>
                </a:solidFill>
                <a:latin typeface="Malgun Gothic"/>
              </a:rPr>
              <a:t>•  이 방법은 강력하지만 전제가 하나 깔려 있다</a:t>
            </a:r>
          </a:p>
          <a:p>
            <a:r>
              <a:rPr sz="1600" b="0">
                <a:solidFill>
                  <a:srgbClr val="5A6672"/>
                </a:solidFill>
                <a:latin typeface="Malgun Gothic"/>
              </a:rPr>
              <a:t>    –  느린 원인이 '그 문장 안'에 있을 것이라는 전제</a:t>
            </a:r>
          </a:p>
          <a:p>
            <a:r>
              <a:rPr sz="1600" b="0">
                <a:solidFill>
                  <a:srgbClr val="5A6672"/>
                </a:solidFill>
                <a:latin typeface="Malgun Gothic"/>
              </a:rPr>
              <a:t>    –  그래서 문장을 고치면 문제가 풀린다는 결론으로 이어졌다</a:t>
            </a:r>
          </a:p>
          <a:p>
            <a:r>
              <a:rPr sz="1800" b="0">
                <a:solidFill>
                  <a:srgbClr val="202830"/>
                </a:solidFill>
                <a:latin typeface="Malgun Gothic"/>
              </a:rPr>
              <a:t>•  그런데 실무 성능 문제의 상당수는 이 전제를 벗어난다</a:t>
            </a:r>
          </a:p>
          <a:p>
            <a:r>
              <a:rPr sz="1600" b="0">
                <a:solidFill>
                  <a:srgbClr val="5A6672"/>
                </a:solidFill>
                <a:latin typeface="Malgun Gothic"/>
              </a:rPr>
              <a:t>    –  SQL 자체는 문제없는데, 그 SQL을 애플리케이션 코드가 반복 호출하는 방식에서 생김</a:t>
            </a:r>
          </a:p>
          <a:p>
            <a:r>
              <a:rPr sz="1600" b="0">
                <a:solidFill>
                  <a:srgbClr val="5A6672"/>
                </a:solidFill>
                <a:latin typeface="Malgun Gothic"/>
              </a:rPr>
              <a:t>    –  문장을 아무리 들여다봐도 원인이 보이지 않는 부류의 문제</a:t>
            </a:r>
          </a:p>
          <a:p>
            <a:r>
              <a:rPr sz="1800" b="0">
                <a:solidFill>
                  <a:srgbClr val="202830"/>
                </a:solidFill>
                <a:latin typeface="Malgun Gothic"/>
              </a:rPr>
              <a:t>•  분석 단위를 '문장'에서 '요청 한 건이 만들어 내는 SQL 전체'로 넓혀야 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애플리케이션 호출 패턴이라는 사각지대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DB가 보는 것과 개발자가 보는 것이 어긋난다</a:t>
            </a:r>
          </a:p>
          <a:p>
            <a:r>
              <a:rPr sz="1600" b="0">
                <a:solidFill>
                  <a:srgbClr val="5A6672"/>
                </a:solidFill>
                <a:latin typeface="Malgun Gothic"/>
              </a:rPr>
              <a:t>    –  DB는 '이 SQL 한 건'을 성실히 처리했을 뿐 — 각각은 정상 처리</a:t>
            </a:r>
          </a:p>
          <a:p>
            <a:r>
              <a:rPr sz="1600" b="0">
                <a:solidFill>
                  <a:srgbClr val="5A6672"/>
                </a:solidFill>
                <a:latin typeface="Malgun Gothic"/>
              </a:rPr>
              <a:t>    –  개발자는 화면 한 번 여는 데 걸린 시간을 본다 — 그 안에 SQL이 몇 건인지는 안 보임</a:t>
            </a:r>
          </a:p>
          <a:p>
            <a:r>
              <a:rPr sz="1800" b="0">
                <a:solidFill>
                  <a:srgbClr val="202830"/>
                </a:solidFill>
                <a:latin typeface="Malgun Gothic"/>
              </a:rPr>
              <a:t>•  그 사이를 메우는 정보가 '누적 통계'다</a:t>
            </a:r>
          </a:p>
          <a:p>
            <a:r>
              <a:rPr sz="1600" b="0">
                <a:solidFill>
                  <a:srgbClr val="5A6672"/>
                </a:solidFill>
                <a:latin typeface="Malgun Gothic"/>
              </a:rPr>
              <a:t>    –  한 번의 실행 비용이 아니라, 같은 SQL이 몇 번 실행되어 총 얼마를 썼는가</a:t>
            </a:r>
          </a:p>
          <a:p>
            <a:r>
              <a:rPr sz="1600" b="0">
                <a:solidFill>
                  <a:srgbClr val="5A6672"/>
                </a:solidFill>
                <a:latin typeface="Malgun Gothic"/>
              </a:rPr>
              <a:t>    –  Oracle은 이 정보를 V$SQL 같은 동적 성능 뷰에 이미 쌓아 두고 있다</a:t>
            </a:r>
          </a:p>
          <a:p>
            <a:r>
              <a:rPr sz="1800" b="0">
                <a:solidFill>
                  <a:srgbClr val="202830"/>
                </a:solidFill>
                <a:latin typeface="Malgun Gothic"/>
              </a:rPr>
              <a:t>•  ORM·프레임워크가 이 사각지대를 넓혀 놓는 경우가 많다</a:t>
            </a:r>
          </a:p>
          <a:p>
            <a:r>
              <a:rPr sz="1600" b="0">
                <a:solidFill>
                  <a:srgbClr val="5A6672"/>
                </a:solidFill>
                <a:latin typeface="Malgun Gothic"/>
              </a:rPr>
              <a:t>    –  객체 하나를 참조하면 SQL이 한 건 나가는 구조라 호출 지점이 코드에 드러나지 않음</a:t>
            </a:r>
          </a:p>
          <a:p>
            <a:r>
              <a:rPr sz="1600" b="0">
                <a:solidFill>
                  <a:srgbClr val="5A6672"/>
                </a:solidFill>
                <a:latin typeface="Malgun Gothic"/>
              </a:rPr>
              <a:t>    –  반복문 안에서 무심코 접근한 속성 하나가 SQL 수십 건이 되기도 한다</a:t>
            </a:r>
          </a:p>
          <a:p>
            <a:r>
              <a:rPr sz="1800" b="0">
                <a:solidFill>
                  <a:srgbClr val="202830"/>
                </a:solidFill>
                <a:latin typeface="Malgun Gothic"/>
              </a:rPr>
              <a:t>•  이번 챕터는 SQL 밖의 문제, 즉 반복 호출 패턴을 실측으로 확인한다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챕터가 다루는 소재</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소재: '청구 상세 조회 API'</a:t>
            </a:r>
          </a:p>
          <a:p>
            <a:r>
              <a:rPr sz="1600" b="0">
                <a:solidFill>
                  <a:srgbClr val="5A6672"/>
                </a:solidFill>
                <a:latin typeface="Malgun Gothic"/>
              </a:rPr>
              <a:t>    –  청구 20건에 대해 CLAIM_DETAILS를 건별로 반복 조회하는 N+1 패턴</a:t>
            </a:r>
          </a:p>
          <a:p>
            <a:r>
              <a:rPr sz="1600" b="0">
                <a:solidFill>
                  <a:srgbClr val="5A6672"/>
                </a:solidFill>
                <a:latin typeface="Malgun Gothic"/>
              </a:rPr>
              <a:t>    –  이 패턴을 PL/SQL 루프로 실제 재현하고, 조인 1회로 대체했을 때와 비교한다</a:t>
            </a:r>
          </a:p>
          <a:p>
            <a:r>
              <a:rPr sz="1800" b="0">
                <a:solidFill>
                  <a:srgbClr val="202830"/>
                </a:solidFill>
                <a:latin typeface="Malgun Gothic"/>
              </a:rPr>
              <a:t>•  실습 조건</a:t>
            </a:r>
          </a:p>
          <a:p>
            <a:r>
              <a:rPr sz="1600" b="0">
                <a:solidFill>
                  <a:srgbClr val="5A6672"/>
                </a:solidFill>
                <a:latin typeface="Malgun Gothic"/>
              </a:rPr>
              <a:t>    –  본 차시는 DDL 변경 없음 — 기존 PK만 사용한다</a:t>
            </a:r>
          </a:p>
          <a:p>
            <a:r>
              <a:rPr sz="1600" b="0">
                <a:solidFill>
                  <a:srgbClr val="5A6672"/>
                </a:solidFill>
                <a:latin typeface="Malgun Gothic"/>
              </a:rPr>
              <a:t>    –  즉 인덱스를 새로 만들어 상황을 바꾸지 않고, 있는 그대로의 비용을 측정한다</a:t>
            </a:r>
          </a:p>
          <a:p>
            <a:r>
              <a:rPr sz="1800" b="0">
                <a:solidFill>
                  <a:srgbClr val="202830"/>
                </a:solidFill>
                <a:latin typeface="Malgun Gothic"/>
              </a:rPr>
              <a:t>•  왜 PL/SQL로 재현하는가</a:t>
            </a:r>
          </a:p>
          <a:p>
            <a:r>
              <a:rPr sz="1600" b="0">
                <a:solidFill>
                  <a:srgbClr val="5A6672"/>
                </a:solidFill>
                <a:latin typeface="Malgun Gothic"/>
              </a:rPr>
              <a:t>    –  애플리케이션 코드를 준비하지 않고도 DB 안에서 반복 호출 구조를 그대로 만들 수 있다</a:t>
            </a:r>
          </a:p>
          <a:p>
            <a:r>
              <a:rPr sz="1600" b="0">
                <a:solidFill>
                  <a:srgbClr val="5A6672"/>
                </a:solidFill>
                <a:latin typeface="Malgun Gothic"/>
              </a:rPr>
              <a:t>    –  같은 세션·같은 DB에서 두 방식을 비교하므로 조건 차이가 끼어들 여지가 적다</a:t>
            </a:r>
          </a:p>
          <a:p>
            <a:r>
              <a:rPr sz="1800" b="0">
                <a:solidFill>
                  <a:srgbClr val="202830"/>
                </a:solidFill>
                <a:latin typeface="Malgun Gothic"/>
              </a:rPr>
              <a:t>•  아래 예제는 전부 실습 DB 실측 결과다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장의 모든 실행계획·Buffers·누적 통계는 진료비청구심사 실습 DB에서 직접 캡처한 실측값이다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Concept — N+1 문제와 흔한 유형들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N+1 문제의 정의</a:t>
            </a:r>
          </a:p>
          <a:p>
            <a:r>
              <a:rPr sz="1600" b="0">
                <a:solidFill>
                  <a:srgbClr val="C5CED6"/>
                </a:solidFill>
                <a:latin typeface="Malgun Gothic"/>
              </a:rPr>
              <a:t>•  왜 'N+1'이라 부르는가</a:t>
            </a:r>
          </a:p>
          <a:p>
            <a:r>
              <a:rPr sz="1600" b="0">
                <a:solidFill>
                  <a:srgbClr val="C5CED6"/>
                </a:solidFill>
                <a:latin typeface="Malgun Gothic"/>
              </a:rPr>
              <a:t>•  실무에서 자주 나타나는 다른 문제 유형</a:t>
            </a:r>
          </a:p>
          <a:p>
            <a:r>
              <a:rPr sz="1600" b="0">
                <a:solidFill>
                  <a:srgbClr val="C5CED6"/>
                </a:solidFill>
                <a:latin typeface="Malgun Gothic"/>
              </a:rPr>
              <a:t>•  그중 N+1을 골라 다루는 이유</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N+1 문제의 정의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문제란</a:t>
            </a:r>
          </a:p>
          <a:p>
            <a:r>
              <a:rPr sz="1600" b="0">
                <a:solidFill>
                  <a:srgbClr val="5A6672"/>
                </a:solidFill>
                <a:latin typeface="Malgun Gothic"/>
              </a:rPr>
              <a:t>    –  목록 1건을 조회(1번)한 뒤, 그 목록의 각 항목마다 관련 데이터를 추가로 조회(N번)하는 패턴</a:t>
            </a:r>
          </a:p>
          <a:p>
            <a:r>
              <a:rPr sz="1600" b="0">
                <a:solidFill>
                  <a:srgbClr val="5A6672"/>
                </a:solidFill>
                <a:latin typeface="Malgun Gothic"/>
              </a:rPr>
              <a:t>    –  총 쿼리 실행 횟수가 N+1번이 된다</a:t>
            </a:r>
          </a:p>
          <a:p>
            <a:r>
              <a:rPr sz="1800" b="0">
                <a:solidFill>
                  <a:srgbClr val="202830"/>
                </a:solidFill>
                <a:latin typeface="Malgun Gothic"/>
              </a:rPr>
              <a:t>•  구조를 두 조각으로 나눠 보면</a:t>
            </a:r>
          </a:p>
          <a:p>
            <a:r>
              <a:rPr sz="1600" b="0">
                <a:solidFill>
                  <a:srgbClr val="5A6672"/>
                </a:solidFill>
                <a:latin typeface="Malgun Gothic"/>
              </a:rPr>
              <a:t>    –  1 — 목록을 가져오는 조회 (예: 병원 1번의 청구 목록)</a:t>
            </a:r>
          </a:p>
          <a:p>
            <a:r>
              <a:rPr sz="1600" b="0">
                <a:solidFill>
                  <a:srgbClr val="5A6672"/>
                </a:solidFill>
                <a:latin typeface="Malgun Gothic"/>
              </a:rPr>
              <a:t>    –  N — 목록의 각 행마다 따로 나가는 조회 (예: 청구별 상세내역 건수)</a:t>
            </a:r>
          </a:p>
          <a:p>
            <a:r>
              <a:rPr sz="1800" b="0">
                <a:solidFill>
                  <a:srgbClr val="202830"/>
                </a:solidFill>
                <a:latin typeface="Malgun Gothic"/>
              </a:rPr>
              <a:t>•  핵심은 '나쁜 SQL이 하나 있다'가 아니라 '평범한 SQL이 여러 번 나간다'는 것</a:t>
            </a:r>
          </a:p>
          <a:p>
            <a:r>
              <a:rPr sz="1600" b="0">
                <a:solidFill>
                  <a:srgbClr val="5A6672"/>
                </a:solidFill>
                <a:latin typeface="Malgun Gothic"/>
              </a:rPr>
              <a:t>    –  각 조회는 그 자체로 단순하고 흠잡을 데 없어 보인다</a:t>
            </a:r>
          </a:p>
          <a:p>
            <a:r>
              <a:rPr sz="1600" b="0">
                <a:solidFill>
                  <a:srgbClr val="5A6672"/>
                </a:solidFill>
                <a:latin typeface="Malgun Gothic"/>
              </a:rPr>
              <a:t>    –  문제는 문장의 품질이 아니라 문장이 실행되는 횟수에 있다</a:t>
            </a:r>
          </a:p>
          <a:p>
            <a:r>
              <a:rPr sz="1800" b="0">
                <a:solidFill>
                  <a:srgbClr val="202830"/>
                </a:solidFill>
                <a:latin typeface="Malgun Gothic"/>
              </a:rPr>
              <a:t>•  그래서 이 문제는 실행계획이 아니라 실행 횟수를 봐야 보인다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'N+1'이라 부르는가 — 이름이 곧 설명</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이름의 1과 N이 각각 무엇인지 분리해 보자</a:t>
            </a:r>
          </a:p>
          <a:p>
            <a:r>
              <a:rPr sz="1600" b="0">
                <a:solidFill>
                  <a:srgbClr val="5A6672"/>
                </a:solidFill>
                <a:latin typeface="Malgun Gothic"/>
              </a:rPr>
              <a:t>    –  1은 목록을 얻는 최초 조회 — 이 조회는 한 번만 나간다</a:t>
            </a:r>
          </a:p>
          <a:p>
            <a:r>
              <a:rPr sz="1600" b="0">
                <a:solidFill>
                  <a:srgbClr val="5A6672"/>
                </a:solidFill>
                <a:latin typeface="Malgun Gothic"/>
              </a:rPr>
              <a:t>    –  N은 목록의 건수 — 목록이 몇 건이냐에 따라 추가 조회 횟수가 정해진다</a:t>
            </a:r>
          </a:p>
          <a:p>
            <a:r>
              <a:rPr sz="1800" b="0">
                <a:solidFill>
                  <a:srgbClr val="202830"/>
                </a:solidFill>
                <a:latin typeface="Malgun Gothic"/>
              </a:rPr>
              <a:t>•  그래서 N은 상수가 아니라 변수다</a:t>
            </a:r>
          </a:p>
          <a:p>
            <a:r>
              <a:rPr sz="1600" b="0">
                <a:solidFill>
                  <a:srgbClr val="5A6672"/>
                </a:solidFill>
                <a:latin typeface="Malgun Gothic"/>
              </a:rPr>
              <a:t>    –  목록이 20건이면 스무 번, 100건이면 백 번의 추가 조회가 나간다</a:t>
            </a:r>
          </a:p>
          <a:p>
            <a:r>
              <a:rPr sz="1600" b="0">
                <a:solidFill>
                  <a:srgbClr val="5A6672"/>
                </a:solidFill>
                <a:latin typeface="Malgun Gothic"/>
              </a:rPr>
              <a:t>    –  코드는 한 줄도 바뀌지 않았는데 데이터에 따라 부하가 달라진다</a:t>
            </a:r>
          </a:p>
          <a:p>
            <a:r>
              <a:rPr sz="1800" b="0">
                <a:solidFill>
                  <a:srgbClr val="202830"/>
                </a:solidFill>
                <a:latin typeface="Malgun Gothic"/>
              </a:rPr>
              <a:t>•  이 성질이 N+1을 다른 성능 문제와 구분 짓는다</a:t>
            </a:r>
          </a:p>
          <a:p>
            <a:r>
              <a:rPr sz="1600" b="0">
                <a:solidFill>
                  <a:srgbClr val="5A6672"/>
                </a:solidFill>
                <a:latin typeface="Malgun Gothic"/>
              </a:rPr>
              <a:t>    –  다른 문제는 대체로 '한 번의 비용'이 문제 — 고치면 그 비용이 줄어든다</a:t>
            </a:r>
          </a:p>
          <a:p>
            <a:r>
              <a:rPr sz="1600" b="0">
                <a:solidFill>
                  <a:srgbClr val="5A6672"/>
                </a:solidFill>
                <a:latin typeface="Malgun Gothic"/>
              </a:rPr>
              <a:t>    –  N+1은 '횟수'가 문제 — 데이터가 늘면 같은 코드가 더 나빠진다</a:t>
            </a:r>
          </a:p>
          <a:p>
            <a:r>
              <a:rPr sz="1800" b="0">
                <a:solidFill>
                  <a:srgbClr val="202830"/>
                </a:solidFill>
                <a:latin typeface="Malgun Gothic"/>
              </a:rPr>
              <a:t>•  그래서 개발 시점에는 멀쩡하고 운영에서 터지는 유형에 속한다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실무에서 자주 나타나는 다른 문제 유형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SELECT * — 불필요한 컬럼까지 가져옴</a:t>
            </a:r>
          </a:p>
          <a:p>
            <a:r>
              <a:rPr sz="1600" b="0">
                <a:solidFill>
                  <a:srgbClr val="5A6672"/>
                </a:solidFill>
                <a:latin typeface="Malgun Gothic"/>
              </a:rPr>
              <a:t>    –  필요 없는 컬럼 때문에 전송량과 메모리가 늘고, 커버링 인덱스 기회를 놓친다</a:t>
            </a:r>
          </a:p>
          <a:p>
            <a:r>
              <a:rPr sz="1800" b="0">
                <a:solidFill>
                  <a:srgbClr val="202830"/>
                </a:solidFill>
                <a:latin typeface="Malgun Gothic"/>
              </a:rPr>
              <a:t>•  불필요한 JOIN — 쓰지도 않는 테이블을 조인</a:t>
            </a:r>
          </a:p>
          <a:p>
            <a:r>
              <a:rPr sz="1600" b="0">
                <a:solidFill>
                  <a:srgbClr val="5A6672"/>
                </a:solidFill>
                <a:latin typeface="Malgun Gothic"/>
              </a:rPr>
              <a:t>    –  결과에 쓰이지 않는 테이블이 조인에 남아 있으면 그만큼 접근 비용이 더해진다</a:t>
            </a:r>
          </a:p>
          <a:p>
            <a:r>
              <a:rPr sz="1800" b="0">
                <a:solidFill>
                  <a:srgbClr val="202830"/>
                </a:solidFill>
                <a:latin typeface="Malgun Gothic"/>
              </a:rPr>
              <a:t>•  같은 데이터를 여러 번 중복 조회</a:t>
            </a:r>
          </a:p>
          <a:p>
            <a:r>
              <a:rPr sz="1600" b="0">
                <a:solidFill>
                  <a:srgbClr val="5A6672"/>
                </a:solidFill>
                <a:latin typeface="Malgun Gothic"/>
              </a:rPr>
              <a:t>    –  한 요청 안에서 이미 읽은 값을 다시 읽는 구조 — N+1과 뿌리가 같다</a:t>
            </a:r>
          </a:p>
          <a:p>
            <a:r>
              <a:rPr sz="1800" b="0">
                <a:solidFill>
                  <a:srgbClr val="202830"/>
                </a:solidFill>
                <a:latin typeface="Malgun Gothic"/>
              </a:rPr>
              <a:t>•  과도한 페이지 크기</a:t>
            </a:r>
          </a:p>
          <a:p>
            <a:r>
              <a:rPr sz="1600" b="0">
                <a:solidFill>
                  <a:srgbClr val="5A6672"/>
                </a:solidFill>
                <a:latin typeface="Malgun Gothic"/>
              </a:rPr>
              <a:t>    –  한 화면에 필요 없는 양까지 한 번에 가져오면 정렬·전송 비용이 함께 커진다</a:t>
            </a:r>
          </a:p>
          <a:p>
            <a:r>
              <a:rPr sz="1800" b="0">
                <a:solidFill>
                  <a:srgbClr val="202830"/>
                </a:solidFill>
                <a:latin typeface="Malgun Gothic"/>
              </a:rPr>
              <a:t>•  데이터 분포를 고려하지 않은 SQL</a:t>
            </a:r>
          </a:p>
          <a:p>
            <a:r>
              <a:rPr sz="1600" b="0">
                <a:solidFill>
                  <a:srgbClr val="5A6672"/>
                </a:solidFill>
                <a:latin typeface="Malgun Gothic"/>
              </a:rPr>
              <a:t>    –  ch05·ch08과 연결되는 주제 — 같은 조건도 분포에 따라 유불리가 뒤집힌다</a:t>
            </a:r>
          </a:p>
          <a:p>
            <a:r>
              <a:rPr sz="1800" b="0">
                <a:solidFill>
                  <a:srgbClr val="202830"/>
                </a:solidFill>
                <a:latin typeface="Malgun Gothic"/>
              </a:rPr>
              <a:t>•  이번 챕터는 그중 가장 흔하고 파급력이 큰 N+1을 실측으로 다룬다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그중 N+1을 골라 다루는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가장 흔하다</a:t>
            </a:r>
          </a:p>
          <a:p>
            <a:r>
              <a:rPr sz="1600" b="0">
                <a:solidFill>
                  <a:srgbClr val="5A6672"/>
                </a:solidFill>
                <a:latin typeface="Malgun Gothic"/>
              </a:rPr>
              <a:t>    –  목록 화면과 상세 정보의 조합은 거의 모든 업무 시스템에 존재한다</a:t>
            </a:r>
          </a:p>
          <a:p>
            <a:r>
              <a:rPr sz="1600" b="0">
                <a:solidFill>
                  <a:srgbClr val="5A6672"/>
                </a:solidFill>
                <a:latin typeface="Malgun Gothic"/>
              </a:rPr>
              <a:t>    –  따라서 이 패턴을 만들 기회도 그만큼 많다</a:t>
            </a:r>
          </a:p>
          <a:p>
            <a:r>
              <a:rPr sz="1800" b="0">
                <a:solidFill>
                  <a:srgbClr val="202830"/>
                </a:solidFill>
                <a:latin typeface="Malgun Gothic"/>
              </a:rPr>
              <a:t>•  파급력이 가장 크다</a:t>
            </a:r>
          </a:p>
          <a:p>
            <a:r>
              <a:rPr sz="1600" b="0">
                <a:solidFill>
                  <a:srgbClr val="5A6672"/>
                </a:solidFill>
                <a:latin typeface="Malgun Gothic"/>
              </a:rPr>
              <a:t>    –  다른 유형은 대체로 한 번의 비용을 키우지만, N+1은 비용에 횟수를 곱한다</a:t>
            </a:r>
          </a:p>
          <a:p>
            <a:r>
              <a:rPr sz="1600" b="0">
                <a:solidFill>
                  <a:srgbClr val="5A6672"/>
                </a:solidFill>
                <a:latin typeface="Malgun Gothic"/>
              </a:rPr>
              <a:t>    –  곱셈은 덧셈보다 훨씬 빨리 커진다</a:t>
            </a:r>
          </a:p>
          <a:p>
            <a:r>
              <a:rPr sz="1800" b="0">
                <a:solidFill>
                  <a:srgbClr val="202830"/>
                </a:solidFill>
                <a:latin typeface="Malgun Gothic"/>
              </a:rPr>
              <a:t>•  발견하기가 가장 어렵다</a:t>
            </a:r>
          </a:p>
          <a:p>
            <a:r>
              <a:rPr sz="1600" b="0">
                <a:solidFill>
                  <a:srgbClr val="5A6672"/>
                </a:solidFill>
                <a:latin typeface="Malgun Gothic"/>
              </a:rPr>
              <a:t>    –  실행계획 한 장만 보면 아무 문제가 없어 보인다</a:t>
            </a:r>
          </a:p>
          <a:p>
            <a:r>
              <a:rPr sz="1600" b="0">
                <a:solidFill>
                  <a:srgbClr val="5A6672"/>
                </a:solidFill>
                <a:latin typeface="Malgun Gothic"/>
              </a:rPr>
              <a:t>    –  느린 SQL을 찾는 통상적인 방법으로는 걸러지지 않는다 — 각 실행은 빠를 수 있다</a:t>
            </a:r>
          </a:p>
          <a:p>
            <a:r>
              <a:rPr sz="1800" b="0">
                <a:solidFill>
                  <a:srgbClr val="202830"/>
                </a:solidFill>
                <a:latin typeface="Malgun Gothic"/>
              </a:rPr>
              <a:t>•  그래서 진단 방법을 따로 배워야 하는 유형이다</a:t>
            </a:r>
          </a:p>
          <a:p>
            <a:r>
              <a:rPr sz="1600" b="0">
                <a:solidFill>
                  <a:srgbClr val="5A6672"/>
                </a:solidFill>
                <a:latin typeface="Malgun Gothic"/>
              </a:rPr>
              <a:t>    –  이 장의 절반은 '어떻게 고치는가'가 아니라 '어떻게 찾는가'에 쓰인다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Internals — 비용이 왜 배수로 커지는가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CLAIM_DETAILS의 인덱스 상황</a:t>
            </a:r>
          </a:p>
          <a:p>
            <a:r>
              <a:rPr sz="1600" b="0">
                <a:solidFill>
                  <a:srgbClr val="C5CED6"/>
                </a:solidFill>
                <a:latin typeface="Malgun Gothic"/>
              </a:rPr>
              <a:t>•  반복이 곱셈이 되는 구조</a:t>
            </a:r>
          </a:p>
          <a:p>
            <a:r>
              <a:rPr sz="1600" b="0">
                <a:solidFill>
                  <a:srgbClr val="C5CED6"/>
                </a:solidFill>
                <a:latin typeface="Malgun Gothic"/>
              </a:rPr>
              <a:t>•  조인은 왜 한 번으로 끝나는가</a:t>
            </a:r>
          </a:p>
          <a:p>
            <a:r>
              <a:rPr sz="1600" b="0">
                <a:solidFill>
                  <a:srgbClr val="C5CED6"/>
                </a:solidFill>
                <a:latin typeface="Malgun Gothic"/>
              </a:rPr>
              <a:t>•  고정비용과 변동비용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CLAIM_DETAILS의 인덱스 상황</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CLAIM_DETAILS는 CLAIM_ID에 인덱스가 없다</a:t>
            </a:r>
          </a:p>
          <a:p>
            <a:r>
              <a:rPr sz="1600" b="0">
                <a:solidFill>
                  <a:srgbClr val="5A6672"/>
                </a:solidFill>
                <a:latin typeface="Malgun Gothic"/>
              </a:rPr>
              <a:t>    –  이 테이블의 PK는 DETAIL_ID뿐이다</a:t>
            </a:r>
          </a:p>
          <a:p>
            <a:r>
              <a:rPr sz="1600" b="0">
                <a:solidFill>
                  <a:srgbClr val="5A6672"/>
                </a:solidFill>
                <a:latin typeface="Malgun Gothic"/>
              </a:rPr>
              <a:t>    –  즉 상세를 '청구별로' 찾아갈 수 있는 진입로가 없는 상태</a:t>
            </a:r>
          </a:p>
          <a:p>
            <a:r>
              <a:rPr sz="1800" b="0">
                <a:solidFill>
                  <a:srgbClr val="202830"/>
                </a:solidFill>
                <a:latin typeface="Malgun Gothic"/>
              </a:rPr>
              <a:t>•  그래서 WHERE claim_id = :값 으로 조회하면</a:t>
            </a:r>
          </a:p>
          <a:p>
            <a:r>
              <a:rPr sz="1600" b="0">
                <a:solidFill>
                  <a:srgbClr val="5A6672"/>
                </a:solidFill>
                <a:latin typeface="Malgun Gothic"/>
              </a:rPr>
              <a:t>    –  매번 TABLE ACCESS FULL이 발생한다</a:t>
            </a:r>
          </a:p>
          <a:p>
            <a:r>
              <a:rPr sz="1600" b="0">
                <a:solidFill>
                  <a:srgbClr val="5A6672"/>
                </a:solidFill>
                <a:latin typeface="Malgun Gothic"/>
              </a:rPr>
              <a:t>    –  ch05에서 이미 확인한 사례와 같은 상황이다</a:t>
            </a:r>
          </a:p>
          <a:p>
            <a:r>
              <a:rPr sz="1800" b="0">
                <a:solidFill>
                  <a:srgbClr val="202830"/>
                </a:solidFill>
                <a:latin typeface="Malgun Gothic"/>
              </a:rPr>
              <a:t>•  여기서 중요한 것은 '한 건을 찾는데 전부를 읽는다'는 비대칭</a:t>
            </a:r>
          </a:p>
          <a:p>
            <a:r>
              <a:rPr sz="1600" b="0">
                <a:solidFill>
                  <a:srgbClr val="5A6672"/>
                </a:solidFill>
                <a:latin typeface="Malgun Gothic"/>
              </a:rPr>
              <a:t>    –  결과는 몇 건 안 되지만, 그 몇 건을 찾기 위해 테이블 전체를 훑어야 한다</a:t>
            </a:r>
          </a:p>
          <a:p>
            <a:r>
              <a:rPr sz="1600" b="0">
                <a:solidFill>
                  <a:srgbClr val="5A6672"/>
                </a:solidFill>
                <a:latin typeface="Malgun Gothic"/>
              </a:rPr>
              <a:t>    –  찾는 값이 어디 있는지 모르니 끝까지 읽어 보는 수밖에 없다</a:t>
            </a:r>
          </a:p>
          <a:p>
            <a:r>
              <a:rPr sz="1800" b="0">
                <a:solidFill>
                  <a:srgbClr val="202830"/>
                </a:solidFill>
                <a:latin typeface="Malgun Gothic"/>
              </a:rPr>
              <a:t>•  이 비대칭이 반복될 때 무슨 일이 벌어지는가 — 다음 슬라이드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반복이 곱셈이 되는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조회를 20번 반복하면 TABLE ACCESS FULL 자체가 20번 반복된다</a:t>
            </a:r>
          </a:p>
          <a:p>
            <a:r>
              <a:rPr sz="1600" b="0">
                <a:solidFill>
                  <a:srgbClr val="5A6672"/>
                </a:solidFill>
                <a:latin typeface="Malgun Gothic"/>
              </a:rPr>
              <a:t>    –  한 번의 Full Scan 비용이 이미 상당한데(약 6,600 Buffers), 그것이 20번</a:t>
            </a:r>
          </a:p>
          <a:p>
            <a:r>
              <a:rPr sz="1600" b="0">
                <a:solidFill>
                  <a:srgbClr val="5A6672"/>
                </a:solidFill>
                <a:latin typeface="Malgun Gothic"/>
              </a:rPr>
              <a:t>    –  단순 곱셈으로 커진다 — 더해지는 것이 아니라 곱해진다</a:t>
            </a:r>
          </a:p>
          <a:p>
            <a:r>
              <a:rPr sz="1800" b="0">
                <a:solidFill>
                  <a:srgbClr val="202830"/>
                </a:solidFill>
                <a:latin typeface="Malgun Gothic"/>
              </a:rPr>
              <a:t>•  왜 매번 처음부터 다시 읽는가</a:t>
            </a:r>
          </a:p>
          <a:p>
            <a:r>
              <a:rPr sz="1600" b="0">
                <a:solidFill>
                  <a:srgbClr val="5A6672"/>
                </a:solidFill>
                <a:latin typeface="Malgun Gothic"/>
              </a:rPr>
              <a:t>    –  각 실행은 서로 독립적인 SQL 실행이다 — 앞 실행이 무엇을 읽었는지 이어받지 않는다</a:t>
            </a:r>
          </a:p>
          <a:p>
            <a:r>
              <a:rPr sz="1600" b="0">
                <a:solidFill>
                  <a:srgbClr val="5A6672"/>
                </a:solidFill>
                <a:latin typeface="Malgun Gothic"/>
              </a:rPr>
              <a:t>    –  첫 번째 반복에서 테이블 전체를 읽었어도, 두 번째 반복은 다시 처음부터 시작한다</a:t>
            </a:r>
          </a:p>
          <a:p>
            <a:r>
              <a:rPr sz="1800" b="0">
                <a:solidFill>
                  <a:srgbClr val="202830"/>
                </a:solidFill>
                <a:latin typeface="Malgun Gothic"/>
              </a:rPr>
              <a:t>•  즉 같은 데이터를 20번 읽는다</a:t>
            </a:r>
          </a:p>
          <a:p>
            <a:r>
              <a:rPr sz="1600" b="0">
                <a:solidFill>
                  <a:srgbClr val="5A6672"/>
                </a:solidFill>
                <a:latin typeface="Malgun Gothic"/>
              </a:rPr>
              <a:t>    –  20번의 스캔이 사실상 동일한 작업의 반복 — 새로 얻는 정보는 매번 극히 일부</a:t>
            </a:r>
          </a:p>
          <a:p>
            <a:r>
              <a:rPr sz="1600" b="0">
                <a:solidFill>
                  <a:srgbClr val="5A6672"/>
                </a:solidFill>
                <a:latin typeface="Malgun Gothic"/>
              </a:rPr>
              <a:t>    –  낭비의 정체가 바로 이 중복 읽기다</a:t>
            </a:r>
          </a:p>
          <a:p>
            <a:r>
              <a:rPr sz="1800" b="0">
                <a:solidFill>
                  <a:srgbClr val="202830"/>
                </a:solidFill>
                <a:latin typeface="Malgun Gothic"/>
              </a:rPr>
              <a:t>•  총 비용 ≈ 반복 횟수 × 단건 Full Scan 비용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조인은 왜 한 번으로 끝나는가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조인으로 한 번에 처리하면 CLAIM_DETAILS를 단 한 번만 Full Scan한다</a:t>
            </a:r>
          </a:p>
          <a:p>
            <a:r>
              <a:rPr sz="1600" b="0">
                <a:solidFill>
                  <a:srgbClr val="5A6672"/>
                </a:solidFill>
                <a:latin typeface="Malgun Gothic"/>
              </a:rPr>
              <a:t>    –  그 한 번의 스캔 결과 안에서 20건 모두를 동시에 매칭시킬 수 있다</a:t>
            </a:r>
          </a:p>
          <a:p>
            <a:r>
              <a:rPr sz="1600" b="0">
                <a:solidFill>
                  <a:srgbClr val="5A6672"/>
                </a:solidFill>
                <a:latin typeface="Malgun Gothic"/>
              </a:rPr>
              <a:t>    –  Hash Join의 특성 — ch09에서 다룬 내용</a:t>
            </a:r>
          </a:p>
          <a:p>
            <a:r>
              <a:rPr sz="1800" b="0">
                <a:solidFill>
                  <a:srgbClr val="202830"/>
                </a:solidFill>
                <a:latin typeface="Malgun Gothic"/>
              </a:rPr>
              <a:t>•  Hash Join이 하는 일을 한 줄로 요약하면</a:t>
            </a:r>
          </a:p>
          <a:p>
            <a:r>
              <a:rPr sz="1600" b="0">
                <a:solidFill>
                  <a:srgbClr val="5A6672"/>
                </a:solidFill>
                <a:latin typeface="Malgun Gothic"/>
              </a:rPr>
              <a:t>    –  작은 쪽으로 해시 테이블을 만들어 두고, 큰 쪽을 한 번 훑으며 던져 맞춘다</a:t>
            </a:r>
          </a:p>
          <a:p>
            <a:r>
              <a:rPr sz="1600" b="0">
                <a:solidFill>
                  <a:srgbClr val="5A6672"/>
                </a:solidFill>
                <a:latin typeface="Malgun Gothic"/>
              </a:rPr>
              <a:t>    –  큰 쪽을 여러 번 읽을 이유가 없다 — 지나가면서 짝을 다 찾기 때문</a:t>
            </a:r>
          </a:p>
          <a:p>
            <a:r>
              <a:rPr sz="1800" b="0">
                <a:solidFill>
                  <a:srgbClr val="202830"/>
                </a:solidFill>
                <a:latin typeface="Malgun Gothic"/>
              </a:rPr>
              <a:t>•  그 결과</a:t>
            </a:r>
          </a:p>
          <a:p>
            <a:r>
              <a:rPr sz="1600" b="0">
                <a:solidFill>
                  <a:srgbClr val="5A6672"/>
                </a:solidFill>
                <a:latin typeface="Malgun Gothic"/>
              </a:rPr>
              <a:t>    –  Full Scan 비용이 조회 건수와 무관하게 '한 번'으로 고정된다</a:t>
            </a:r>
          </a:p>
          <a:p>
            <a:r>
              <a:rPr sz="1600" b="0">
                <a:solidFill>
                  <a:srgbClr val="5A6672"/>
                </a:solidFill>
                <a:latin typeface="Malgun Gothic"/>
              </a:rPr>
              <a:t>    –  찾을 청구가 20건이든 200건이든 CLAIM_DETAILS를 읽는 횟수는 그대로 한 번</a:t>
            </a:r>
          </a:p>
          <a:p>
            <a:r>
              <a:rPr sz="1800" b="0">
                <a:solidFill>
                  <a:srgbClr val="202830"/>
                </a:solidFill>
                <a:latin typeface="Malgun Gothic"/>
              </a:rPr>
              <a:t>•  같은 데이터를 읽되, 몇 번 읽느냐가 두 방식을 가른다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고정비용과 변동비용으로 정리하면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1회 방식의 비용 구조</a:t>
            </a:r>
          </a:p>
          <a:p>
            <a:r>
              <a:rPr sz="1600" b="0">
                <a:solidFill>
                  <a:srgbClr val="5A6672"/>
                </a:solidFill>
                <a:latin typeface="Malgun Gothic"/>
              </a:rPr>
              <a:t>    –  CLAIM_DETAILS Full Scan 1회 — 목록 건수와 무관한 고정비용</a:t>
            </a:r>
          </a:p>
          <a:p>
            <a:r>
              <a:rPr sz="1600" b="0">
                <a:solidFill>
                  <a:srgbClr val="5A6672"/>
                </a:solidFill>
                <a:latin typeface="Malgun Gothic"/>
              </a:rPr>
              <a:t>    –  여기에 조인·집계 오버헤드가 조금 붙는다</a:t>
            </a:r>
          </a:p>
          <a:p>
            <a:r>
              <a:rPr sz="1600" b="0">
                <a:solidFill>
                  <a:srgbClr val="5A6672"/>
                </a:solidFill>
                <a:latin typeface="Malgun Gothic"/>
              </a:rPr>
              <a:t>    –  목록이 늘어도 늘어나는 부분은 목록 쪽 접근 비용뿐</a:t>
            </a:r>
          </a:p>
          <a:p>
            <a:r>
              <a:rPr sz="1800" b="0">
                <a:solidFill>
                  <a:srgbClr val="202830"/>
                </a:solidFill>
                <a:latin typeface="Malgun Gothic"/>
              </a:rPr>
              <a:t>•  N+1 방식의 비용 구조</a:t>
            </a:r>
          </a:p>
          <a:p>
            <a:r>
              <a:rPr sz="1600" b="0">
                <a:solidFill>
                  <a:srgbClr val="5A6672"/>
                </a:solidFill>
                <a:latin typeface="Malgun Gothic"/>
              </a:rPr>
              <a:t>    –  단건 Full Scan 비용 × 반복 횟수 — 전부가 변동비용</a:t>
            </a:r>
          </a:p>
          <a:p>
            <a:r>
              <a:rPr sz="1600" b="0">
                <a:solidFill>
                  <a:srgbClr val="5A6672"/>
                </a:solidFill>
                <a:latin typeface="Malgun Gothic"/>
              </a:rPr>
              <a:t>    –  고정된 부분이 사실상 없다 — 목록 건수가 곧 배수가 된다</a:t>
            </a:r>
          </a:p>
          <a:p>
            <a:r>
              <a:rPr sz="1800" b="0">
                <a:solidFill>
                  <a:srgbClr val="202830"/>
                </a:solidFill>
                <a:latin typeface="Malgun Gothic"/>
              </a:rPr>
              <a:t>•  그래서 두 방식의 비율은 대략 반복 횟수에 수렴한다</a:t>
            </a:r>
          </a:p>
          <a:p>
            <a:r>
              <a:rPr sz="1600" b="0">
                <a:solidFill>
                  <a:srgbClr val="5A6672"/>
                </a:solidFill>
                <a:latin typeface="Malgun Gothic"/>
              </a:rPr>
              <a:t>    –  이 예측을 12.5절 실측으로 확인하게 된다</a:t>
            </a:r>
          </a:p>
          <a:p>
            <a:r>
              <a:rPr sz="1800" b="0">
                <a:solidFill>
                  <a:srgbClr val="202830"/>
                </a:solidFill>
                <a:latin typeface="Malgun Gothic"/>
              </a:rPr>
              <a:t>•  판단 기준: 목록이 커질 때 비용이 어떻게 움직이는지를 먼저 그려 보라</a:t>
            </a:r>
          </a:p>
          <a:p>
            <a:r>
              <a:rPr sz="1600" b="0">
                <a:solidFill>
                  <a:srgbClr val="5A6672"/>
                </a:solidFill>
                <a:latin typeface="Malgun Gothic"/>
              </a:rPr>
              <a:t>    –  코드를 고치기 전에 구조부터 분류하면 어디를 손댈지가 정해진다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Example — N+1 재현과 조인 1회 대체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PL/SQL 루프로 N+1 재현</a:t>
            </a:r>
          </a:p>
          <a:p>
            <a:r>
              <a:rPr sz="1600" b="0">
                <a:solidFill>
                  <a:srgbClr val="C5CED6"/>
                </a:solidFill>
                <a:latin typeface="Malgun Gothic"/>
              </a:rPr>
              <a:t>•  재현 코드 읽기</a:t>
            </a:r>
          </a:p>
          <a:p>
            <a:r>
              <a:rPr sz="1600" b="0">
                <a:solidFill>
                  <a:srgbClr val="C5CED6"/>
                </a:solidFill>
                <a:latin typeface="Malgun Gothic"/>
              </a:rPr>
              <a:t>•  조인 1회로 대체</a:t>
            </a:r>
          </a:p>
          <a:p>
            <a:r>
              <a:rPr sz="1600" b="0">
                <a:solidFill>
                  <a:srgbClr val="C5CED6"/>
                </a:solidFill>
                <a:latin typeface="Malgun Gothic"/>
              </a:rPr>
              <a:t>•  두 코드의 구조 비교</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N+1 패턴 재현 (PL/SQL)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12.4절 Example — 청구 20건에 대해 상세내역을 건별로 반복 조회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N+1 패턴(PL/SQL로 재현): 청구 20건에 대해 상세내역을 건별로 반복 조회</a:t>
            </a:r>
          </a:p>
          <a:p>
            <a:r>
              <a:rPr sz="1250" b="0">
                <a:solidFill>
                  <a:srgbClr val="E6E6E6"/>
                </a:solidFill>
                <a:latin typeface="Consolas"/>
              </a:rPr>
              <a:t>DECLARE</a:t>
            </a:r>
          </a:p>
          <a:p>
            <a:r>
              <a:rPr sz="1250" b="0">
                <a:solidFill>
                  <a:srgbClr val="E6E6E6"/>
                </a:solidFill>
                <a:latin typeface="Consolas"/>
              </a:rPr>
              <a:t>  v_cnt NUMBER;</a:t>
            </a:r>
          </a:p>
          <a:p>
            <a:r>
              <a:rPr sz="1250" b="0">
                <a:solidFill>
                  <a:srgbClr val="E6E6E6"/>
                </a:solidFill>
                <a:latin typeface="Consolas"/>
              </a:rPr>
              <a:t>BEGIN</a:t>
            </a:r>
          </a:p>
          <a:p>
            <a:r>
              <a:rPr sz="1250" b="0">
                <a:solidFill>
                  <a:srgbClr val="E6E6E6"/>
                </a:solidFill>
                <a:latin typeface="Consolas"/>
              </a:rPr>
              <a:t>  FOR r IN (SELECT claim_id FROM medical_claims</a:t>
            </a:r>
          </a:p>
          <a:p>
            <a:r>
              <a:rPr sz="1250" b="0">
                <a:solidFill>
                  <a:srgbClr val="E6E6E6"/>
                </a:solidFill>
                <a:latin typeface="Consolas"/>
              </a:rPr>
              <a:t>            WHERE hosp_id = 1 AND ROWNUM &lt;= 20) LOOP</a:t>
            </a:r>
          </a:p>
          <a:p>
            <a:r>
              <a:rPr sz="1250" b="0">
                <a:solidFill>
                  <a:srgbClr val="E6E6E6"/>
                </a:solidFill>
                <a:latin typeface="Consolas"/>
              </a:rPr>
              <a:t> </a:t>
            </a:r>
          </a:p>
          <a:p>
            <a:r>
              <a:rPr sz="1250" b="0">
                <a:solidFill>
                  <a:srgbClr val="E6E6E6"/>
                </a:solidFill>
                <a:latin typeface="Consolas"/>
              </a:rPr>
              <a:t>    SELECT COUNT(*) INTO v_cnt</a:t>
            </a:r>
          </a:p>
          <a:p>
            <a:r>
              <a:rPr sz="1250" b="0">
                <a:solidFill>
                  <a:srgbClr val="E6E6E6"/>
                </a:solidFill>
                <a:latin typeface="Consolas"/>
              </a:rPr>
              <a:t>      FROM claim_details</a:t>
            </a:r>
          </a:p>
          <a:p>
            <a:r>
              <a:rPr sz="1250" b="0">
                <a:solidFill>
                  <a:srgbClr val="E6E6E6"/>
                </a:solidFill>
                <a:latin typeface="Consolas"/>
              </a:rPr>
              <a:t>     WHERE claim_id = r.claim_id;</a:t>
            </a:r>
          </a:p>
          <a:p>
            <a:r>
              <a:rPr sz="1250" b="0">
                <a:solidFill>
                  <a:srgbClr val="E6E6E6"/>
                </a:solidFill>
                <a:latin typeface="Consolas"/>
              </a:rPr>
              <a:t> </a:t>
            </a:r>
          </a:p>
          <a:p>
            <a:r>
              <a:rPr sz="1250" b="0">
                <a:solidFill>
                  <a:srgbClr val="E6E6E6"/>
                </a:solidFill>
                <a:latin typeface="Consolas"/>
              </a:rPr>
              <a:t>  END LOOP;</a:t>
            </a:r>
          </a:p>
          <a:p>
            <a:r>
              <a:rPr sz="1250" b="0">
                <a:solidFill>
                  <a:srgbClr val="E6E6E6"/>
                </a:solidFill>
                <a:latin typeface="Consolas"/>
              </a:rPr>
              <a:t>END;</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커서 FOR 루프가 목록 조회 1번 (= N+1의 '1')</a:t>
            </a:r>
          </a:p>
          <a:p>
            <a:r>
              <a:rPr sz="1250" b="0">
                <a:solidFill>
                  <a:srgbClr val="7EC699"/>
                </a:solidFill>
                <a:latin typeface="Consolas"/>
              </a:rPr>
              <a:t>-- 루프 본문의 SELECT COUNT(*)가 항목별 조회 N번 (= N+1의 'N')</a:t>
            </a:r>
          </a:p>
          <a:p>
            <a:r>
              <a:rPr sz="1250" b="0">
                <a:solidFill>
                  <a:srgbClr val="7EC699"/>
                </a:solidFill>
                <a:latin typeface="Consolas"/>
              </a:rPr>
              <a:t>-- r.claim_id는 PL/SQL이 자동으로 바인드 변수(:B1)로 넘긴다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재현 코드 읽기 — 세 가지 관전 포인트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ROWNUM &lt;= 20 — 목록을 스무 건으로 제한</a:t>
            </a:r>
          </a:p>
          <a:p>
            <a:r>
              <a:rPr sz="1600" b="0">
                <a:solidFill>
                  <a:srgbClr val="5A6672"/>
                </a:solidFill>
                <a:latin typeface="Malgun Gothic"/>
              </a:rPr>
              <a:t>    –  재현 규모를 고정해 두어야 두 방식을 같은 조건에서 비교할 수 있다</a:t>
            </a:r>
          </a:p>
          <a:p>
            <a:r>
              <a:rPr sz="1600" b="0">
                <a:solidFill>
                  <a:srgbClr val="5A6672"/>
                </a:solidFill>
                <a:latin typeface="Malgun Gothic"/>
              </a:rPr>
              <a:t>    –  이 20이 곧 N+1의 N이 된다</a:t>
            </a:r>
          </a:p>
          <a:p>
            <a:r>
              <a:rPr sz="1800" b="0">
                <a:solidFill>
                  <a:srgbClr val="202830"/>
                </a:solidFill>
                <a:latin typeface="Malgun Gothic"/>
              </a:rPr>
              <a:t>•  루프 본문의 SELECT COUNT(*) — 반복되는 조회</a:t>
            </a:r>
          </a:p>
          <a:p>
            <a:r>
              <a:rPr sz="1600" b="0">
                <a:solidFill>
                  <a:srgbClr val="5A6672"/>
                </a:solidFill>
                <a:latin typeface="Malgun Gothic"/>
              </a:rPr>
              <a:t>    –  CLAIM_ID로 CLAIM_DETAILS를 찾는다 — 인덱스가 없으므로 매번 Full Scan</a:t>
            </a:r>
          </a:p>
          <a:p>
            <a:r>
              <a:rPr sz="1600" b="0">
                <a:solidFill>
                  <a:srgbClr val="5A6672"/>
                </a:solidFill>
                <a:latin typeface="Malgun Gothic"/>
              </a:rPr>
              <a:t>    –  이 한 문장이 20번 실행된다</a:t>
            </a:r>
          </a:p>
          <a:p>
            <a:r>
              <a:rPr sz="1800" b="0">
                <a:solidFill>
                  <a:srgbClr val="202830"/>
                </a:solidFill>
                <a:latin typeface="Malgun Gothic"/>
              </a:rPr>
              <a:t>•  r.claim_id — 바인드 변수로 넘어간다</a:t>
            </a:r>
          </a:p>
          <a:p>
            <a:r>
              <a:rPr sz="1600" b="0">
                <a:solidFill>
                  <a:srgbClr val="5A6672"/>
                </a:solidFill>
                <a:latin typeface="Malgun Gothic"/>
              </a:rPr>
              <a:t>    –  PL/SQL은 변수를 자동으로 바인드 변수로 처리한다(실측에서 :B1로 나타남)</a:t>
            </a:r>
          </a:p>
          <a:p>
            <a:r>
              <a:rPr sz="1600" b="0">
                <a:solidFill>
                  <a:srgbClr val="5A6672"/>
                </a:solidFill>
                <a:latin typeface="Malgun Gothic"/>
              </a:rPr>
              <a:t>    –  덕분에 20번 실행이 같은 SQL_ID를 공유해 V$SQL에서 누적으로 관측된다</a:t>
            </a:r>
          </a:p>
          <a:p>
            <a:r>
              <a:rPr sz="1600" b="0">
                <a:solidFill>
                  <a:srgbClr val="5A6672"/>
                </a:solidFill>
                <a:latin typeface="Malgun Gothic"/>
              </a:rPr>
              <a:t>    –  만약 리터럴을 매번 다르게 넣었다면 하드 파싱 반복이라는 문제가 더 붙는다 — ch02</a:t>
            </a:r>
          </a:p>
          <a:p>
            <a:r>
              <a:rPr sz="1800" b="0">
                <a:solidFill>
                  <a:srgbClr val="202830"/>
                </a:solidFill>
                <a:latin typeface="Malgun Gothic"/>
              </a:rPr>
              <a:t>•  결과 자체는 조인 버전과 동일하다 — 다른 것은 비용뿐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1회로 대체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12.4절 Example — 같은 결과를 한 문장으로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조인 1회로 대체</a:t>
            </a:r>
          </a:p>
          <a:p>
            <a:r>
              <a:rPr sz="1250" b="0">
                <a:solidFill>
                  <a:srgbClr val="E6E6E6"/>
                </a:solidFill>
                <a:latin typeface="Consolas"/>
              </a:rPr>
              <a:t>SELECT c.claim_id, COUNT(d.detail_id) cnt</a:t>
            </a:r>
          </a:p>
          <a:p>
            <a:r>
              <a:rPr sz="1250" b="0">
                <a:solidFill>
                  <a:srgbClr val="E6E6E6"/>
                </a:solidFill>
                <a:latin typeface="Consolas"/>
              </a:rPr>
              <a:t>FROM (SELECT claim_id FROM medical_claims</a:t>
            </a:r>
          </a:p>
          <a:p>
            <a:r>
              <a:rPr sz="1250" b="0">
                <a:solidFill>
                  <a:srgbClr val="E6E6E6"/>
                </a:solidFill>
                <a:latin typeface="Consolas"/>
              </a:rPr>
              <a:t>      WHERE hosp_id = 1 AND ROWNUM &lt;= 20) c,</a:t>
            </a:r>
          </a:p>
          <a:p>
            <a:r>
              <a:rPr sz="1250" b="0">
                <a:solidFill>
                  <a:srgbClr val="E6E6E6"/>
                </a:solidFill>
                <a:latin typeface="Consolas"/>
              </a:rPr>
              <a:t>     claim_details d</a:t>
            </a:r>
          </a:p>
          <a:p>
            <a:r>
              <a:rPr sz="1250" b="0">
                <a:solidFill>
                  <a:srgbClr val="E6E6E6"/>
                </a:solidFill>
                <a:latin typeface="Consolas"/>
              </a:rPr>
              <a:t>WHERE c.claim_id = d.claim_id(+)</a:t>
            </a:r>
          </a:p>
          <a:p>
            <a:r>
              <a:rPr sz="1250" b="0">
                <a:solidFill>
                  <a:srgbClr val="E6E6E6"/>
                </a:solidFill>
                <a:latin typeface="Consolas"/>
              </a:rPr>
              <a:t>GROUP BY c.claim_id;</a:t>
            </a:r>
          </a:p>
          <a:p>
            <a:r>
              <a:rPr sz="1250" b="0">
                <a:solidFill>
                  <a:srgbClr val="E6E6E6"/>
                </a:solidFill>
                <a:latin typeface="Consolas"/>
              </a:rPr>
              <a:t> </a:t>
            </a:r>
          </a:p>
          <a:p>
            <a:r>
              <a:rPr sz="1250" b="0">
                <a:solidFill>
                  <a:srgbClr val="7EC699"/>
                </a:solidFill>
                <a:latin typeface="Consolas"/>
              </a:rPr>
              <a:t>-- 인라인 뷰 c : N+1에서 '목록 조회 1번'에 해당하던 부분</a:t>
            </a:r>
          </a:p>
          <a:p>
            <a:r>
              <a:rPr sz="1250" b="0">
                <a:solidFill>
                  <a:srgbClr val="7EC699"/>
                </a:solidFill>
                <a:latin typeface="Consolas"/>
              </a:rPr>
              <a:t>-- (+) 아우터 조인 : 상세내역이 없는 청구도 결과에서 빠지지 않게 한다</a:t>
            </a:r>
          </a:p>
          <a:p>
            <a:r>
              <a:rPr sz="1250" b="0">
                <a:solidFill>
                  <a:srgbClr val="7EC699"/>
                </a:solidFill>
                <a:latin typeface="Consolas"/>
              </a:rPr>
              <a:t>--                  (COUNT는 0으로 잡힌다)</a:t>
            </a:r>
          </a:p>
          <a:p>
            <a:r>
              <a:rPr sz="1250" b="0">
                <a:solidFill>
                  <a:srgbClr val="7EC699"/>
                </a:solidFill>
                <a:latin typeface="Consolas"/>
              </a:rPr>
              <a:t>-- GROUP BY : 루프를 돌며 건별로 세던 일을 집계 한 번으로 대체</a:t>
            </a:r>
          </a:p>
          <a:p>
            <a:r>
              <a:rPr sz="1250" b="0">
                <a:solidFill>
                  <a:srgbClr val="E6E6E6"/>
                </a:solidFill>
                <a:latin typeface="Consolas"/>
              </a:rPr>
              <a:t> </a:t>
            </a:r>
          </a:p>
          <a:p>
            <a:r>
              <a:rPr sz="1250" b="0">
                <a:solidFill>
                  <a:srgbClr val="7EC699"/>
                </a:solidFill>
                <a:latin typeface="Consolas"/>
              </a:rPr>
              <a:t>-- 반복 실행이 사라지고 SQL 문장 하나가 되었다는 점이 핵심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코드의 구조 비교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것</a:t>
            </a:r>
          </a:p>
          <a:p>
            <a:r>
              <a:rPr sz="1600" b="0">
                <a:solidFill>
                  <a:srgbClr val="5A6672"/>
                </a:solidFill>
                <a:latin typeface="Malgun Gothic"/>
              </a:rPr>
              <a:t>    –  대상 — 병원 1번의 청구 20건</a:t>
            </a:r>
          </a:p>
          <a:p>
            <a:r>
              <a:rPr sz="1600" b="0">
                <a:solidFill>
                  <a:srgbClr val="5A6672"/>
                </a:solidFill>
                <a:latin typeface="Malgun Gothic"/>
              </a:rPr>
              <a:t>    –  결과 — 청구별 상세내역 건수</a:t>
            </a:r>
          </a:p>
          <a:p>
            <a:r>
              <a:rPr sz="1600" b="0">
                <a:solidFill>
                  <a:srgbClr val="5A6672"/>
                </a:solidFill>
                <a:latin typeface="Malgun Gothic"/>
              </a:rPr>
              <a:t>    –  읽는 데이터의 범위도 사실상 같다</a:t>
            </a:r>
          </a:p>
          <a:p>
            <a:r>
              <a:rPr sz="1800" b="0">
                <a:solidFill>
                  <a:srgbClr val="202830"/>
                </a:solidFill>
                <a:latin typeface="Malgun Gothic"/>
              </a:rPr>
              <a:t>•  다른 것 — 오직 하나, 실행 횟수</a:t>
            </a:r>
          </a:p>
          <a:p>
            <a:r>
              <a:rPr sz="1600" b="0">
                <a:solidFill>
                  <a:srgbClr val="5A6672"/>
                </a:solidFill>
                <a:latin typeface="Malgun Gothic"/>
              </a:rPr>
              <a:t>    –  N+1: 목록 조회 1번 + 상세 조회 20번</a:t>
            </a:r>
          </a:p>
          <a:p>
            <a:r>
              <a:rPr sz="1600" b="0">
                <a:solidFill>
                  <a:srgbClr val="5A6672"/>
                </a:solidFill>
                <a:latin typeface="Malgun Gothic"/>
              </a:rPr>
              <a:t>    –  조인: 문장 1번</a:t>
            </a:r>
          </a:p>
          <a:p>
            <a:r>
              <a:rPr sz="1800" b="0">
                <a:solidFill>
                  <a:srgbClr val="202830"/>
                </a:solidFill>
                <a:latin typeface="Malgun Gothic"/>
              </a:rPr>
              <a:t>•  구조 전환의 요령</a:t>
            </a:r>
          </a:p>
          <a:p>
            <a:r>
              <a:rPr sz="1600" b="0">
                <a:solidFill>
                  <a:srgbClr val="5A6672"/>
                </a:solidFill>
                <a:latin typeface="Malgun Gothic"/>
              </a:rPr>
              <a:t>    –  루프의 반복 대상을 인라인 뷰로 옮긴다 — 루프 조건이 곧 뷰의 WHERE가 된다</a:t>
            </a:r>
          </a:p>
          <a:p>
            <a:r>
              <a:rPr sz="1600" b="0">
                <a:solidFill>
                  <a:srgbClr val="5A6672"/>
                </a:solidFill>
                <a:latin typeface="Malgun Gothic"/>
              </a:rPr>
              <a:t>    –  루프 본문의 조회를 조인으로 붙인다 — 결과 누락을 막으려면 아우터 조인</a:t>
            </a:r>
          </a:p>
          <a:p>
            <a:r>
              <a:rPr sz="1600" b="0">
                <a:solidFill>
                  <a:srgbClr val="5A6672"/>
                </a:solidFill>
                <a:latin typeface="Malgun Gothic"/>
              </a:rPr>
              <a:t>    –  루프 안에서 세던 값을 GROUP BY 집계로 옮긴다</a:t>
            </a:r>
          </a:p>
          <a:p>
            <a:r>
              <a:rPr sz="1800" b="0">
                <a:solidFill>
                  <a:srgbClr val="202830"/>
                </a:solidFill>
                <a:latin typeface="Malgun Gothic"/>
              </a:rPr>
              <a:t>•  이 세 단계는 대부분의 N+1에 그대로 적용되는 변환 절차다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Execution Plan —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측정 방법 — 왜 V$SQL인가</a:t>
            </a:r>
          </a:p>
          <a:p>
            <a:r>
              <a:rPr sz="1600" b="0">
                <a:solidFill>
                  <a:srgbClr val="C5CED6"/>
                </a:solidFill>
                <a:latin typeface="Malgun Gothic"/>
              </a:rPr>
              <a:t>•  N+1 패턴의 누적 통계</a:t>
            </a:r>
          </a:p>
          <a:p>
            <a:r>
              <a:rPr sz="1600" b="0">
                <a:solidFill>
                  <a:srgbClr val="C5CED6"/>
                </a:solidFill>
                <a:latin typeface="Malgun Gothic"/>
              </a:rPr>
              <a:t>•  조인 1회의 실행계획</a:t>
            </a:r>
          </a:p>
          <a:p>
            <a:r>
              <a:rPr sz="1600" b="0">
                <a:solidFill>
                  <a:srgbClr val="C5CED6"/>
                </a:solidFill>
                <a:latin typeface="Malgun Gothic"/>
              </a:rPr>
              <a:t>•  두 방식의 비용 대비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측정 방법 — 왜 V$SQL을 보는가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패턴은 바인드 변수를 써서(:B1) 20번 반복 실행한 뒤 V$SQL에서 누적 비용을 확인한다</a:t>
            </a:r>
          </a:p>
          <a:p>
            <a:r>
              <a:rPr sz="1600" b="0">
                <a:solidFill>
                  <a:srgbClr val="5A6672"/>
                </a:solidFill>
                <a:latin typeface="Malgun Gothic"/>
              </a:rPr>
              <a:t>    –  실행계획은 '한 번의 실행'을 설명하는 도구다</a:t>
            </a:r>
          </a:p>
          <a:p>
            <a:r>
              <a:rPr sz="1600" b="0">
                <a:solidFill>
                  <a:srgbClr val="5A6672"/>
                </a:solidFill>
                <a:latin typeface="Malgun Gothic"/>
              </a:rPr>
              <a:t>    –  반복 호출의 총량은 실행계획에 나타나지 않는다</a:t>
            </a:r>
          </a:p>
          <a:p>
            <a:r>
              <a:rPr sz="1800" b="0">
                <a:solidFill>
                  <a:srgbClr val="202830"/>
                </a:solidFill>
                <a:latin typeface="Malgun Gothic"/>
              </a:rPr>
              <a:t>•  V$SQL이 채워 주는 정보</a:t>
            </a:r>
          </a:p>
          <a:p>
            <a:r>
              <a:rPr sz="1600" b="0">
                <a:solidFill>
                  <a:srgbClr val="5A6672"/>
                </a:solidFill>
                <a:latin typeface="Malgun Gothic"/>
              </a:rPr>
              <a:t>    –  EXECUTIONS — 그 SQL이 몇 번 실행되었는가</a:t>
            </a:r>
          </a:p>
          <a:p>
            <a:r>
              <a:rPr sz="1600" b="0">
                <a:solidFill>
                  <a:srgbClr val="5A6672"/>
                </a:solidFill>
                <a:latin typeface="Malgun Gothic"/>
              </a:rPr>
              <a:t>    –  BUFFER_GETS — 그 SQL이 누적으로 소비한 논리적 I/O</a:t>
            </a:r>
          </a:p>
          <a:p>
            <a:r>
              <a:rPr sz="1600" b="0">
                <a:solidFill>
                  <a:srgbClr val="5A6672"/>
                </a:solidFill>
                <a:latin typeface="Malgun Gothic"/>
              </a:rPr>
              <a:t>    –  ELAPSED_TIME — 누적 소요 시간</a:t>
            </a:r>
          </a:p>
          <a:p>
            <a:r>
              <a:rPr sz="1800" b="0">
                <a:solidFill>
                  <a:srgbClr val="202830"/>
                </a:solidFill>
                <a:latin typeface="Malgun Gothic"/>
              </a:rPr>
              <a:t>•  두 값을 나누면 1회 평균이 나온다</a:t>
            </a:r>
          </a:p>
          <a:p>
            <a:r>
              <a:rPr sz="1600" b="0">
                <a:solidFill>
                  <a:srgbClr val="5A6672"/>
                </a:solidFill>
                <a:latin typeface="Malgun Gothic"/>
              </a:rPr>
              <a:t>    –  BUFFER_GETS / EXECUTIONS = 1회 평균 Buffers</a:t>
            </a:r>
          </a:p>
          <a:p>
            <a:r>
              <a:rPr sz="1600" b="0">
                <a:solidFill>
                  <a:srgbClr val="5A6672"/>
                </a:solidFill>
                <a:latin typeface="Malgun Gothic"/>
              </a:rPr>
              <a:t>    –  이 평균이 단건 Full Scan 비용과 같다면, 매 실행이 같은 일을 반복했다는 뜻</a:t>
            </a:r>
          </a:p>
          <a:p>
            <a:r>
              <a:rPr sz="1800" b="0">
                <a:solidFill>
                  <a:srgbClr val="202830"/>
                </a:solidFill>
                <a:latin typeface="Malgun Gothic"/>
              </a:rPr>
              <a:t>•  조인 1회 버전은 문장 하나이므로 통상적인 실행계획으로 확인한다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N+1 패턴 — V$SQL 누적 통계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12.5절 Execution Plan — 바인드 변수(:B1)로 20번 반복 실행 후 누적 비용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SQL_ID          EXECUTIONS  BUFFER_GETS  AVG_BUFFERS  ELAPSED_TIME(µs)</a:t>
            </a:r>
          </a:p>
          <a:p>
            <a:r>
              <a:rPr sz="1250" b="0">
                <a:solidFill>
                  <a:srgbClr val="E6E6E6"/>
                </a:solidFill>
                <a:latin typeface="Consolas"/>
              </a:rPr>
              <a:t>3w1a060hkngfr   20          132,420      6,621        305,359</a:t>
            </a:r>
          </a:p>
          <a:p>
            <a:r>
              <a:rPr sz="1250" b="0">
                <a:solidFill>
                  <a:srgbClr val="E6E6E6"/>
                </a:solidFill>
                <a:latin typeface="Consolas"/>
              </a:rPr>
              <a:t> </a:t>
            </a:r>
          </a:p>
          <a:p>
            <a:r>
              <a:rPr sz="1250" b="0">
                <a:solidFill>
                  <a:srgbClr val="E6E6E6"/>
                </a:solidFill>
                <a:latin typeface="Consolas"/>
              </a:rPr>
              <a:t>SQL_TEXT: SELECT COUNT(*) FROM CLAIM_DETAILS WHERE CLAIM_ID = :B1</a:t>
            </a:r>
          </a:p>
          <a:p>
            <a:r>
              <a:rPr sz="1250" b="0">
                <a:solidFill>
                  <a:srgbClr val="E6E6E6"/>
                </a:solidFill>
                <a:latin typeface="Consolas"/>
              </a:rPr>
              <a:t> </a:t>
            </a:r>
          </a:p>
          <a:p>
            <a:r>
              <a:rPr sz="1250" b="0">
                <a:solidFill>
                  <a:srgbClr val="E6E6E6"/>
                </a:solidFill>
                <a:latin typeface="Consolas"/>
              </a:rPr>
              <a:t> </a:t>
            </a:r>
          </a:p>
          <a:p>
            <a:r>
              <a:rPr sz="1250" b="0">
                <a:solidFill>
                  <a:srgbClr val="7EC699"/>
                </a:solidFill>
                <a:latin typeface="Consolas"/>
              </a:rPr>
              <a:t>-- EXECUTIONS  : 같은 SQL_ID가 20번 실행되었다</a:t>
            </a:r>
          </a:p>
          <a:p>
            <a:r>
              <a:rPr sz="1250" b="0">
                <a:solidFill>
                  <a:srgbClr val="7EC699"/>
                </a:solidFill>
                <a:latin typeface="Consolas"/>
              </a:rPr>
              <a:t>-- BUFFER_GETS : 20번 실행이 누적으로 소비한 논리적 I/O</a:t>
            </a:r>
          </a:p>
          <a:p>
            <a:r>
              <a:rPr sz="1250" b="0">
                <a:solidFill>
                  <a:srgbClr val="7EC699"/>
                </a:solidFill>
                <a:latin typeface="Consolas"/>
              </a:rPr>
              <a:t>-- AVG_BUFFERS : BUFFER_GETS / EXECUTIONS = 132,420 / 20</a:t>
            </a:r>
          </a:p>
          <a:p>
            <a:r>
              <a:rPr sz="1250" b="0">
                <a:solidFill>
                  <a:srgbClr val="7EC699"/>
                </a:solidFill>
                <a:latin typeface="Consolas"/>
              </a:rPr>
              <a:t>-- SQL_TEXT    : 바인드 변수(:B1) 덕분에 20번이 하나의 SQL_ID로 묶였다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V$SQL 결과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EXECUTIONS = 20 — 반복이 실제로 일어났음을 확인</a:t>
            </a:r>
          </a:p>
          <a:p>
            <a:r>
              <a:rPr sz="1600" b="0">
                <a:solidFill>
                  <a:srgbClr val="5A6672"/>
                </a:solidFill>
                <a:latin typeface="Malgun Gothic"/>
              </a:rPr>
              <a:t>    –  PL/SQL 루프가 스무 번 돌았고, 그때마다 같은 SQL이 나갔다</a:t>
            </a:r>
          </a:p>
          <a:p>
            <a:r>
              <a:rPr sz="1800" b="0">
                <a:solidFill>
                  <a:srgbClr val="202830"/>
                </a:solidFill>
                <a:latin typeface="Malgun Gothic"/>
              </a:rPr>
              <a:t>•  AVG_BUFFERS = 6,621 — 1회 평균 비용</a:t>
            </a:r>
          </a:p>
          <a:p>
            <a:r>
              <a:rPr sz="1600" b="0">
                <a:solidFill>
                  <a:srgbClr val="5A6672"/>
                </a:solidFill>
                <a:latin typeface="Malgun Gothic"/>
              </a:rPr>
              <a:t>    –  132,420 ÷ 20 = 6,621</a:t>
            </a:r>
          </a:p>
          <a:p>
            <a:r>
              <a:rPr sz="1600" b="0">
                <a:solidFill>
                  <a:srgbClr val="5A6672"/>
                </a:solidFill>
                <a:latin typeface="Malgun Gothic"/>
              </a:rPr>
              <a:t>    –  이 값이 ch05에서 확인한 CLAIM_DETAILS 단건 조회 Full Scan 비용(약 6,621)과 거의 같다</a:t>
            </a:r>
          </a:p>
          <a:p>
            <a:r>
              <a:rPr sz="1600" b="0">
                <a:solidFill>
                  <a:srgbClr val="5A6672"/>
                </a:solidFill>
                <a:latin typeface="Malgun Gothic"/>
              </a:rPr>
              <a:t>    –  매 실행이 사실상 동일한 Full Scan을 반복했다는 증거</a:t>
            </a:r>
          </a:p>
          <a:p>
            <a:r>
              <a:rPr sz="1800" b="0">
                <a:solidFill>
                  <a:srgbClr val="202830"/>
                </a:solidFill>
                <a:latin typeface="Malgun Gothic"/>
              </a:rPr>
              <a:t>•  BUFFER_GETS = 132,420 — 총 비용</a:t>
            </a:r>
          </a:p>
          <a:p>
            <a:r>
              <a:rPr sz="1600" b="0">
                <a:solidFill>
                  <a:srgbClr val="5A6672"/>
                </a:solidFill>
                <a:latin typeface="Malgun Gothic"/>
              </a:rPr>
              <a:t>    –  12.3절에서 예측한 '반복 횟수 × 단건 Full Scan 비용' 구조가 그대로 확인된다</a:t>
            </a:r>
          </a:p>
          <a:p>
            <a:r>
              <a:rPr sz="1800" b="0">
                <a:solidFill>
                  <a:srgbClr val="202830"/>
                </a:solidFill>
                <a:latin typeface="Malgun Gothic"/>
              </a:rPr>
              <a:t>•  ELAPSED_TIME = 374,094 µs — 누적 소요 시간</a:t>
            </a:r>
          </a:p>
          <a:p>
            <a:r>
              <a:rPr sz="1600" b="0">
                <a:solidFill>
                  <a:srgbClr val="5A6672"/>
                </a:solidFill>
                <a:latin typeface="Malgun Gothic"/>
              </a:rPr>
              <a:t>    –  시간 값은 캐시 상태에 흔들리므로 판단의 주된 근거는 Buffers로 둔다(ch01 원칙)</a:t>
            </a:r>
          </a:p>
          <a:p>
            <a:r>
              <a:rPr sz="1800" b="0">
                <a:solidFill>
                  <a:srgbClr val="202830"/>
                </a:solidFill>
                <a:latin typeface="Malgun Gothic"/>
              </a:rPr>
              <a:t>•  결론: 이 SQL은 느린 것이 아니라 자주 불린 것이다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1회 — 실행계획 (실측)</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12.5절 Execution Plan — 같은 결과를 한 문장으로 처리했을 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20 |00:00:00.04 |    6645 |</a:t>
            </a:r>
          </a:p>
          <a:p>
            <a:r>
              <a:rPr sz="1250" b="0">
                <a:solidFill>
                  <a:srgbClr val="E6E6E6"/>
                </a:solidFill>
                <a:latin typeface="Consolas"/>
              </a:rPr>
              <a:t>| 1  |  HASH GROUP BY      |                |     20 |00:00:00.04 |    6645 |</a:t>
            </a:r>
          </a:p>
          <a:p>
            <a:r>
              <a:rPr sz="1250" b="0">
                <a:solidFill>
                  <a:srgbClr val="E6E6E6"/>
                </a:solidFill>
                <a:latin typeface="Consolas"/>
              </a:rPr>
              <a:t>| 2  |   HASH JOIN OUTER   |                |     65 |00:00:00.04 |    6645 |</a:t>
            </a:r>
          </a:p>
          <a:p>
            <a:r>
              <a:rPr sz="1250" b="0">
                <a:solidFill>
                  <a:srgbClr val="E6E6E6"/>
                </a:solidFill>
                <a:latin typeface="Consolas"/>
              </a:rPr>
              <a:t>| 3  |    VIEW             |                |     20 |00:00:00.01 |      23 |</a:t>
            </a:r>
          </a:p>
          <a:p>
            <a:r>
              <a:rPr sz="1250" b="0">
                <a:solidFill>
                  <a:srgbClr val="E6E6E6"/>
                </a:solidFill>
                <a:latin typeface="Consolas"/>
              </a:rPr>
              <a:t>| 4  |     COUNT STOPKEY   |                |     20 |00:00:00.01 |      23 |</a:t>
            </a:r>
          </a:p>
          <a:p>
            <a:r>
              <a:rPr sz="1250" b="0">
                <a:solidFill>
                  <a:srgbClr val="E6E6E6"/>
                </a:solidFill>
                <a:latin typeface="Consolas"/>
              </a:rPr>
              <a:t>| 5  |      TABLE ACCESS FULL| MEDICAL_CLAIMS|     20 |00:00:00.01 |      23 |</a:t>
            </a:r>
          </a:p>
          <a:p>
            <a:r>
              <a:rPr sz="1250" b="0">
                <a:solidFill>
                  <a:srgbClr val="E6E6E6"/>
                </a:solidFill>
                <a:latin typeface="Consolas"/>
              </a:rPr>
              <a:t>| 6  |    TABLE ACCESS FULL| CLAIM_DETAILS  |    899K|00:00:00.03 |    6622 |</a:t>
            </a:r>
          </a:p>
          <a:p>
            <a:r>
              <a:rPr sz="1250" b="0">
                <a:solidFill>
                  <a:srgbClr val="E6E6E6"/>
                </a:solidFill>
                <a:latin typeface="Consolas"/>
              </a:rPr>
              <a:t> </a:t>
            </a:r>
          </a:p>
          <a:p>
            <a:r>
              <a:rPr sz="1250" b="0">
                <a:solidFill>
                  <a:srgbClr val="E6E6E6"/>
                </a:solidFill>
                <a:latin typeface="Consolas"/>
              </a:rPr>
              <a:t> </a:t>
            </a:r>
          </a:p>
          <a:p>
            <a:r>
              <a:rPr sz="1250" b="0">
                <a:solidFill>
                  <a:srgbClr val="7EC699"/>
                </a:solidFill>
                <a:latin typeface="Consolas"/>
              </a:rPr>
              <a:t>-- Id 6 : CLAIM_DETAILS에 대한 TABLE ACCESS FULL이 단 한 번만 나타난다</a:t>
            </a:r>
          </a:p>
          <a:p>
            <a:r>
              <a:rPr sz="1250" b="0">
                <a:solidFill>
                  <a:srgbClr val="7EC699"/>
                </a:solidFill>
                <a:latin typeface="Consolas"/>
              </a:rPr>
              <a:t>-- Id 4 : ROWNUM &lt;= 20 조건이 COUNT STOPKEY로 처리되어 조기 종료</a:t>
            </a:r>
          </a:p>
          <a:p>
            <a:r>
              <a:rPr sz="1250" b="0">
                <a:solidFill>
                  <a:srgbClr val="7EC699"/>
                </a:solidFill>
                <a:latin typeface="Consolas"/>
              </a:rPr>
              <a:t>-- Id 2 : Hash Join으로 20건 전부를 한 번의 스캔 안에서 매칭</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실행계획 해석 — 두 테이블의 비용 차이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MEDICAL_CLAIMS — Buffers 23</a:t>
            </a:r>
          </a:p>
          <a:p>
            <a:r>
              <a:rPr sz="1600" b="0">
                <a:solidFill>
                  <a:srgbClr val="5A6672"/>
                </a:solidFill>
                <a:latin typeface="Malgun Gothic"/>
              </a:rPr>
              <a:t>    –  ROWNUM &lt;= 20 조건이 COUNT STOPKEY로 처리된다</a:t>
            </a:r>
          </a:p>
          <a:p>
            <a:r>
              <a:rPr sz="1600" b="0">
                <a:solidFill>
                  <a:srgbClr val="5A6672"/>
                </a:solidFill>
                <a:latin typeface="Malgun Gothic"/>
              </a:rPr>
              <a:t>    –  조건을 만족하는 20건을 찾는 즉시 스캔을 멈춘다 — 그래서 23에 그쳤다</a:t>
            </a:r>
          </a:p>
          <a:p>
            <a:r>
              <a:rPr sz="1600" b="0">
                <a:solidFill>
                  <a:srgbClr val="5A6672"/>
                </a:solidFill>
                <a:latin typeface="Malgun Gothic"/>
              </a:rPr>
              <a:t>    –  전체를 읽지 않고 필요한 만큼만 읽고 끝낸 경우</a:t>
            </a:r>
          </a:p>
          <a:p>
            <a:r>
              <a:rPr sz="1800" b="0">
                <a:solidFill>
                  <a:srgbClr val="202830"/>
                </a:solidFill>
                <a:latin typeface="Malgun Gothic"/>
              </a:rPr>
              <a:t>•  CLAIM_DETAILS — Buffers 6,622</a:t>
            </a:r>
          </a:p>
          <a:p>
            <a:r>
              <a:rPr sz="1600" b="0">
                <a:solidFill>
                  <a:srgbClr val="5A6672"/>
                </a:solidFill>
                <a:latin typeface="Malgun Gothic"/>
              </a:rPr>
              <a:t>    –  조기 종료 조건이 없다 — 조인 대상을 빠짐없이 찾으려면 전체를 다 읽어야 한다</a:t>
            </a:r>
          </a:p>
          <a:p>
            <a:r>
              <a:rPr sz="1600" b="0">
                <a:solidFill>
                  <a:srgbClr val="5A6672"/>
                </a:solidFill>
                <a:latin typeface="Malgun Gothic"/>
              </a:rPr>
              <a:t>    –  A-Rows 899K — 실제로 읽어 낸 행 수가 그대로 드러난다</a:t>
            </a:r>
          </a:p>
          <a:p>
            <a:r>
              <a:rPr sz="1800" b="0">
                <a:solidFill>
                  <a:srgbClr val="202830"/>
                </a:solidFill>
                <a:latin typeface="Malgun Gothic"/>
              </a:rPr>
              <a:t>•  총 Buffers 6,645 = 6,622 + 23 (+ 상위 단계의 추가 비용 없음)</a:t>
            </a:r>
          </a:p>
          <a:p>
            <a:r>
              <a:rPr sz="1600" b="0">
                <a:solidFill>
                  <a:srgbClr val="5A6672"/>
                </a:solidFill>
                <a:latin typeface="Malgun Gothic"/>
              </a:rPr>
              <a:t>    –  HASH JOIN OUTER와 HASH GROUP BY는 이미 읽은 데이터를 메모리에서 가공할 뿐</a:t>
            </a:r>
          </a:p>
          <a:p>
            <a:r>
              <a:rPr sz="1600" b="0">
                <a:solidFill>
                  <a:srgbClr val="5A6672"/>
                </a:solidFill>
                <a:latin typeface="Malgun Gothic"/>
              </a:rPr>
              <a:t>    –  상위 단계로 올라가도 Buffers가 늘지 않는 이유가 여기 있다</a:t>
            </a:r>
          </a:p>
          <a:p>
            <a:r>
              <a:rPr sz="1800" b="0">
                <a:solidFill>
                  <a:srgbClr val="202830"/>
                </a:solidFill>
                <a:latin typeface="Malgun Gothic"/>
              </a:rPr>
              <a:t>•  A-Time 00:00:00.04 — 문장 전체가 한 번에 끝났다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방식의 비용 대비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패턴: 총 132,420 Buffers</a:t>
            </a:r>
          </a:p>
          <a:p>
            <a:r>
              <a:rPr sz="1600" b="0">
                <a:solidFill>
                  <a:srgbClr val="5A6672"/>
                </a:solidFill>
                <a:latin typeface="Malgun Gothic"/>
              </a:rPr>
              <a:t>    –  20번 실행 누적, 1회 평균 6,621</a:t>
            </a:r>
          </a:p>
          <a:p>
            <a:r>
              <a:rPr sz="1800" b="0">
                <a:solidFill>
                  <a:srgbClr val="202830"/>
                </a:solidFill>
                <a:latin typeface="Malgun Gothic"/>
              </a:rPr>
              <a:t>•  조인 1회: 총 6,645 Buffers</a:t>
            </a:r>
          </a:p>
          <a:p>
            <a:r>
              <a:rPr sz="1600" b="0">
                <a:solidFill>
                  <a:srgbClr val="5A6672"/>
                </a:solidFill>
                <a:latin typeface="Malgun Gothic"/>
              </a:rPr>
              <a:t>    –  CLAIM_DETAILS Full Scan 단 1회 + 목록 접근 23</a:t>
            </a:r>
          </a:p>
          <a:p>
            <a:r>
              <a:rPr sz="1800" b="0">
                <a:solidFill>
                  <a:srgbClr val="202830"/>
                </a:solidFill>
                <a:latin typeface="Malgun Gothic"/>
              </a:rPr>
              <a:t>•  비율: 132,420 ÷ 6,645 ≈ 19.9배</a:t>
            </a:r>
          </a:p>
          <a:p>
            <a:r>
              <a:rPr sz="1600" b="0">
                <a:solidFill>
                  <a:srgbClr val="5A6672"/>
                </a:solidFill>
                <a:latin typeface="Malgun Gothic"/>
              </a:rPr>
              <a:t>    –  정확히 반복 횟수(20)에 가까운 배수로 커졌다</a:t>
            </a:r>
          </a:p>
          <a:p>
            <a:r>
              <a:rPr sz="1600" b="0">
                <a:solidFill>
                  <a:srgbClr val="5A6672"/>
                </a:solidFill>
                <a:latin typeface="Malgun Gothic"/>
              </a:rPr>
              <a:t>    –  CLAIM_DETAILS Full Scan 비용(약 6,622)이 그대로 20번 곱해진 결과이기 때문</a:t>
            </a:r>
          </a:p>
          <a:p>
            <a:r>
              <a:rPr sz="1600" b="0">
                <a:solidFill>
                  <a:srgbClr val="5A6672"/>
                </a:solidFill>
                <a:latin typeface="Malgun Gothic"/>
              </a:rPr>
              <a:t>    –  12.3절에서 세운 원리가 실측으로 그대로 확인된 것</a:t>
            </a:r>
          </a:p>
          <a:p>
            <a:r>
              <a:rPr sz="1800" b="0">
                <a:solidFill>
                  <a:srgbClr val="202830"/>
                </a:solidFill>
                <a:latin typeface="Malgun Gothic"/>
              </a:rPr>
              <a:t>•  여기서 얻는 판단 기준</a:t>
            </a:r>
          </a:p>
          <a:p>
            <a:r>
              <a:rPr sz="1600" b="0">
                <a:solidFill>
                  <a:srgbClr val="5A6672"/>
                </a:solidFill>
                <a:latin typeface="Malgun Gothic"/>
              </a:rPr>
              <a:t>    –  비율이 반복 횟수에 수렴한다면, 그 반복은 매번 같은 일을 되풀이하고 있다는 뜻</a:t>
            </a:r>
          </a:p>
          <a:p>
            <a:r>
              <a:rPr sz="1600" b="0">
                <a:solidFill>
                  <a:srgbClr val="5A6672"/>
                </a:solidFill>
                <a:latin typeface="Malgun Gothic"/>
              </a:rPr>
              <a:t>    –  반대로 비율이 반복 횟수보다 훨씬 작다면 반복마다 읽는 범위가 작다는 뜻이다</a:t>
            </a:r>
          </a:p>
          <a:p>
            <a:r>
              <a:rPr sz="1800" b="0">
                <a:solidFill>
                  <a:srgbClr val="202830"/>
                </a:solidFill>
                <a:latin typeface="Malgun Gothic"/>
              </a:rPr>
              <a:t>•  이 예측 가능성이 N+1 진단을 쉽게 만든다 — 배수를 미리 계산해 볼 수 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N+1이 특히 위험한 이유</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20건이 100건이 되면</a:t>
            </a:r>
          </a:p>
          <a:p>
            <a:r>
              <a:rPr sz="1600" b="0">
                <a:solidFill>
                  <a:srgbClr val="C5CED6"/>
                </a:solidFill>
                <a:latin typeface="Malgun Gothic"/>
              </a:rPr>
              <a:t>•  개발 환경에서 문제가 숨는 이유</a:t>
            </a:r>
          </a:p>
          <a:p>
            <a:r>
              <a:rPr sz="1600" b="0">
                <a:solidFill>
                  <a:srgbClr val="C5CED6"/>
                </a:solidFill>
                <a:latin typeface="Malgun Gothic"/>
              </a:rPr>
              <a:t>•  확장성 문제로서의 N+1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20건이 100건이 되면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실습은 겨우 20건 기준이었다</a:t>
            </a:r>
          </a:p>
          <a:p>
            <a:r>
              <a:rPr sz="1600" b="0">
                <a:solidFill>
                  <a:srgbClr val="5A6672"/>
                </a:solidFill>
                <a:latin typeface="Malgun Gothic"/>
              </a:rPr>
              <a:t>    –  실무 화면에서는 '청구 목록 100건'을 한 번에 보여 주는 일이 흔하다</a:t>
            </a:r>
          </a:p>
          <a:p>
            <a:r>
              <a:rPr sz="1800" b="0">
                <a:solidFill>
                  <a:srgbClr val="202830"/>
                </a:solidFill>
                <a:latin typeface="Malgun Gothic"/>
              </a:rPr>
              <a:t>•  목록 100건에 N+1을 적용하면</a:t>
            </a:r>
          </a:p>
          <a:p>
            <a:r>
              <a:rPr sz="1600" b="0">
                <a:solidFill>
                  <a:srgbClr val="5A6672"/>
                </a:solidFill>
                <a:latin typeface="Malgun Gothic"/>
              </a:rPr>
              <a:t>    –  100번의 반복이 된다</a:t>
            </a:r>
          </a:p>
          <a:p>
            <a:r>
              <a:rPr sz="1600" b="0">
                <a:solidFill>
                  <a:srgbClr val="5A6672"/>
                </a:solidFill>
                <a:latin typeface="Malgun Gothic"/>
              </a:rPr>
              <a:t>    –  Buffers는 단순 계산으로도 약 662,200(6,622×100)에 달할 것으로 예상된다</a:t>
            </a:r>
          </a:p>
          <a:p>
            <a:r>
              <a:rPr sz="1800" b="0">
                <a:solidFill>
                  <a:srgbClr val="202830"/>
                </a:solidFill>
                <a:latin typeface="Malgun Gothic"/>
              </a:rPr>
              <a:t>•  같은 조건에서 조인 1회 방식은</a:t>
            </a:r>
          </a:p>
          <a:p>
            <a:r>
              <a:rPr sz="1600" b="0">
                <a:solidFill>
                  <a:srgbClr val="5A6672"/>
                </a:solidFill>
                <a:latin typeface="Malgun Gothic"/>
              </a:rPr>
              <a:t>    –  여전히 약 6,600~7,000 수준에 머무를 것</a:t>
            </a:r>
          </a:p>
          <a:p>
            <a:r>
              <a:rPr sz="1600" b="0">
                <a:solidFill>
                  <a:srgbClr val="5A6672"/>
                </a:solidFill>
                <a:latin typeface="Malgun Gothic"/>
              </a:rPr>
              <a:t>    –  CLAIM_DETAILS를 읽는 횟수가 그대로 한 번이기 때문</a:t>
            </a:r>
          </a:p>
          <a:p>
            <a:r>
              <a:rPr sz="1600" b="0">
                <a:solidFill>
                  <a:srgbClr val="5A6672"/>
                </a:solidFill>
                <a:latin typeface="Malgun Gothic"/>
              </a:rPr>
              <a:t>    –  늘어나는 것은 목록 쪽 접근 비용뿐이고, 그 비용은 애초에 작다</a:t>
            </a:r>
          </a:p>
          <a:p>
            <a:r>
              <a:rPr sz="1800" b="0">
                <a:solidFill>
                  <a:srgbClr val="202830"/>
                </a:solidFill>
                <a:latin typeface="Malgun Gothic"/>
              </a:rPr>
              <a:t>•  N+1의 위험한 특징: 목록 건수가 늘어날수록 배수로 나빠진다</a:t>
            </a:r>
          </a:p>
          <a:p>
            <a:r>
              <a:rPr sz="1600" b="0">
                <a:solidFill>
                  <a:srgbClr val="5A6672"/>
                </a:solidFill>
                <a:latin typeface="Malgun Gothic"/>
              </a:rPr>
              <a:t>    –  코드는 그대로인데 데이터가 늘면서 성능이 무너지는 구조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개발 환경에서 문제가 숨는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개발 환경에서 테스트 데이터가 적을 때는 문제가 안 보인다</a:t>
            </a:r>
          </a:p>
          <a:p>
            <a:r>
              <a:rPr sz="1600" b="0">
                <a:solidFill>
                  <a:srgbClr val="5A6672"/>
                </a:solidFill>
                <a:latin typeface="Malgun Gothic"/>
              </a:rPr>
              <a:t>    –  예를 들어 목록이 5건이라면 반복도 5번뿐이다</a:t>
            </a:r>
          </a:p>
          <a:p>
            <a:r>
              <a:rPr sz="1600" b="0">
                <a:solidFill>
                  <a:srgbClr val="5A6672"/>
                </a:solidFill>
                <a:latin typeface="Malgun Gothic"/>
              </a:rPr>
              <a:t>    –  체감할 만한 지연이 생기지 않아 그냥 통과한다</a:t>
            </a:r>
          </a:p>
          <a:p>
            <a:r>
              <a:rPr sz="1800" b="0">
                <a:solidFill>
                  <a:srgbClr val="202830"/>
                </a:solidFill>
                <a:latin typeface="Malgun Gothic"/>
              </a:rPr>
              <a:t>•  운영 환경에서 데이터가 많아지면 급격히 느려진다</a:t>
            </a:r>
          </a:p>
          <a:p>
            <a:r>
              <a:rPr sz="1600" b="0">
                <a:solidFill>
                  <a:srgbClr val="5A6672"/>
                </a:solidFill>
                <a:latin typeface="Malgun Gothic"/>
              </a:rPr>
              <a:t>    –  예를 들어 100건, 1000건으로 늘어나는 순간 배수가 그대로 반영된다</a:t>
            </a:r>
          </a:p>
          <a:p>
            <a:r>
              <a:rPr sz="1600" b="0">
                <a:solidFill>
                  <a:srgbClr val="5A6672"/>
                </a:solidFill>
                <a:latin typeface="Malgun Gothic"/>
              </a:rPr>
              <a:t>    –  전형적인 패턴이 바로 이것이다</a:t>
            </a:r>
          </a:p>
          <a:p>
            <a:r>
              <a:rPr sz="1800" b="0">
                <a:solidFill>
                  <a:srgbClr val="202830"/>
                </a:solidFill>
                <a:latin typeface="Malgun Gothic"/>
              </a:rPr>
              <a:t>•  왜 테스트로 걸러지지 않는가</a:t>
            </a:r>
          </a:p>
          <a:p>
            <a:r>
              <a:rPr sz="1600" b="0">
                <a:solidFill>
                  <a:srgbClr val="5A6672"/>
                </a:solidFill>
                <a:latin typeface="Malgun Gothic"/>
              </a:rPr>
              <a:t>    –  기능 테스트는 결과의 정확성을 보지 성능을 보지 않는다 — N+1은 결과가 정확하다</a:t>
            </a:r>
          </a:p>
          <a:p>
            <a:r>
              <a:rPr sz="1600" b="0">
                <a:solidFill>
                  <a:srgbClr val="5A6672"/>
                </a:solidFill>
                <a:latin typeface="Malgun Gothic"/>
              </a:rPr>
              <a:t>    –  성능 테스트도 데이터 규모가 작으면 통과해 버린다</a:t>
            </a:r>
          </a:p>
          <a:p>
            <a:r>
              <a:rPr sz="1600" b="0">
                <a:solidFill>
                  <a:srgbClr val="5A6672"/>
                </a:solidFill>
                <a:latin typeface="Malgun Gothic"/>
              </a:rPr>
              <a:t>    –  코드 리뷰에서도 각 조각이 자연스러워 보여 지적하기 어렵다</a:t>
            </a:r>
          </a:p>
          <a:p>
            <a:r>
              <a:rPr sz="1800" b="0">
                <a:solidFill>
                  <a:srgbClr val="202830"/>
                </a:solidFill>
                <a:latin typeface="Malgun Gothic"/>
              </a:rPr>
              <a:t>•  결론: 운영 규모를 가정한 데이터로 테스트해야 발견된다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확장성 문제로서의 N+1</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성능 문제는 크게 두 부류로 나뉜다</a:t>
            </a:r>
          </a:p>
          <a:p>
            <a:r>
              <a:rPr sz="1600" b="0">
                <a:solidFill>
                  <a:srgbClr val="5A6672"/>
                </a:solidFill>
                <a:latin typeface="Malgun Gothic"/>
              </a:rPr>
              <a:t>    –  지금 느린 문제 — 언제 측정해도 같은 수준으로 느리다, 발견이 쉽다</a:t>
            </a:r>
          </a:p>
          <a:p>
            <a:r>
              <a:rPr sz="1600" b="0">
                <a:solidFill>
                  <a:srgbClr val="5A6672"/>
                </a:solidFill>
                <a:latin typeface="Malgun Gothic"/>
              </a:rPr>
              <a:t>    –  커지면 느려지는 문제 — 지금은 멀쩡하다, 발견이 어렵다</a:t>
            </a:r>
          </a:p>
          <a:p>
            <a:r>
              <a:rPr sz="1800" b="0">
                <a:solidFill>
                  <a:srgbClr val="202830"/>
                </a:solidFill>
                <a:latin typeface="Malgun Gothic"/>
              </a:rPr>
              <a:t>•  N+1은 후자의 전형이다</a:t>
            </a:r>
          </a:p>
          <a:p>
            <a:r>
              <a:rPr sz="1600" b="0">
                <a:solidFill>
                  <a:srgbClr val="5A6672"/>
                </a:solidFill>
                <a:latin typeface="Malgun Gothic"/>
              </a:rPr>
              <a:t>    –  데이터가 적을 때는 숨어 있다가 데이터가 늘면서 드러난다</a:t>
            </a:r>
          </a:p>
          <a:p>
            <a:r>
              <a:rPr sz="1600" b="0">
                <a:solidFill>
                  <a:srgbClr val="5A6672"/>
                </a:solidFill>
                <a:latin typeface="Malgun Gothic"/>
              </a:rPr>
              <a:t>    –  그래서 확장성(scalability) 문제로 분류된다</a:t>
            </a:r>
          </a:p>
          <a:p>
            <a:r>
              <a:rPr sz="1800" b="0">
                <a:solidFill>
                  <a:srgbClr val="202830"/>
                </a:solidFill>
                <a:latin typeface="Malgun Gothic"/>
              </a:rPr>
              <a:t>•  확장성 문제를 다루는 방법이 따로 있다</a:t>
            </a:r>
          </a:p>
          <a:p>
            <a:r>
              <a:rPr sz="1600" b="0">
                <a:solidFill>
                  <a:srgbClr val="5A6672"/>
                </a:solidFill>
                <a:latin typeface="Malgun Gothic"/>
              </a:rPr>
              <a:t>    –  측정을 한 번이 아니라 규모를 바꿔 가며 두세 번 한다</a:t>
            </a:r>
          </a:p>
          <a:p>
            <a:r>
              <a:rPr sz="1600" b="0">
                <a:solidFill>
                  <a:srgbClr val="5A6672"/>
                </a:solidFill>
                <a:latin typeface="Malgun Gothic"/>
              </a:rPr>
              <a:t>    –  절대값이 아니라 기울기를 본다 — 규모가 배로 늘 때 비용이 몇 배가 되는가</a:t>
            </a:r>
          </a:p>
          <a:p>
            <a:r>
              <a:rPr sz="1600" b="0">
                <a:solidFill>
                  <a:srgbClr val="5A6672"/>
                </a:solidFill>
                <a:latin typeface="Malgun Gothic"/>
              </a:rPr>
              <a:t>    –  기울기가 1보다 크면 그 코드는 언젠가 반드시 문제를 일으킨다</a:t>
            </a:r>
          </a:p>
          <a:p>
            <a:r>
              <a:rPr sz="1800" b="0">
                <a:solidFill>
                  <a:srgbClr val="202830"/>
                </a:solidFill>
                <a:latin typeface="Malgun Gothic"/>
              </a:rPr>
              <a:t>•  N+1은 기울기가 정확히 1인(선형) 구조 — 조인 1회는 기울기가 거의 0이다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12.7~12.8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&amp; Benchmark</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근본 해법 — 조인 1회로 대체</a:t>
            </a:r>
          </a:p>
          <a:p>
            <a:r>
              <a:rPr sz="1600" b="0">
                <a:solidFill>
                  <a:srgbClr val="C5CED6"/>
                </a:solidFill>
                <a:latin typeface="Malgun Gothic"/>
              </a:rPr>
              <a:t>•  배치 조회라는 절충안</a:t>
            </a:r>
          </a:p>
          <a:p>
            <a:r>
              <a:rPr sz="1600" b="0">
                <a:solidFill>
                  <a:srgbClr val="C5CED6"/>
                </a:solidFill>
                <a:latin typeface="Malgun Gothic"/>
              </a:rPr>
              <a:t>•  완화책 — 인덱스 추가와 그 한계</a:t>
            </a:r>
          </a:p>
          <a:p>
            <a:r>
              <a:rPr sz="1600" b="0">
                <a:solidFill>
                  <a:srgbClr val="C5CED6"/>
                </a:solidFill>
                <a:latin typeface="Malgun Gothic"/>
              </a:rPr>
              <a:t>•  진단 도구와 실측 요약</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근본 해법 — 반복 조회를 조인 1회로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가장 직접적인 해법: 12.4절처럼 반복 조회를 조인 1회로 대체한다</a:t>
            </a:r>
          </a:p>
          <a:p>
            <a:r>
              <a:rPr sz="1600" b="0">
                <a:solidFill>
                  <a:srgbClr val="5A6672"/>
                </a:solidFill>
                <a:latin typeface="Malgun Gothic"/>
              </a:rPr>
              <a:t>    –  실행 횟수가 21번에서 1번으로 줄어든다</a:t>
            </a:r>
          </a:p>
          <a:p>
            <a:r>
              <a:rPr sz="1600" b="0">
                <a:solidFill>
                  <a:srgbClr val="5A6672"/>
                </a:solidFill>
                <a:latin typeface="Malgun Gothic"/>
              </a:rPr>
              <a:t>    –  반복되던 Full Scan 비용이 '한 번'으로 고정된다</a:t>
            </a:r>
          </a:p>
          <a:p>
            <a:r>
              <a:rPr sz="1800" b="0">
                <a:solidFill>
                  <a:srgbClr val="202830"/>
                </a:solidFill>
                <a:latin typeface="Malgun Gothic"/>
              </a:rPr>
              <a:t>•  왜 이것이 근본 해법인가</a:t>
            </a:r>
          </a:p>
          <a:p>
            <a:r>
              <a:rPr sz="1600" b="0">
                <a:solidFill>
                  <a:srgbClr val="5A6672"/>
                </a:solidFill>
                <a:latin typeface="Malgun Gothic"/>
              </a:rPr>
              <a:t>    –  증상이 아니라 구조를 바꾸기 때문 — 반복 자체를 없앤다</a:t>
            </a:r>
          </a:p>
          <a:p>
            <a:r>
              <a:rPr sz="1600" b="0">
                <a:solidFill>
                  <a:srgbClr val="5A6672"/>
                </a:solidFill>
                <a:latin typeface="Malgun Gothic"/>
              </a:rPr>
              <a:t>    –  목록 건수가 늘어나도 비용이 배수로 커지지 않는다</a:t>
            </a:r>
          </a:p>
          <a:p>
            <a:r>
              <a:rPr sz="1600" b="0">
                <a:solidFill>
                  <a:srgbClr val="5A6672"/>
                </a:solidFill>
                <a:latin typeface="Malgun Gothic"/>
              </a:rPr>
              <a:t>    –  즉 확장성 문제의 성질 자체가 사라진다</a:t>
            </a:r>
          </a:p>
          <a:p>
            <a:r>
              <a:rPr sz="1800" b="0">
                <a:solidFill>
                  <a:srgbClr val="202830"/>
                </a:solidFill>
                <a:latin typeface="Malgun Gothic"/>
              </a:rPr>
              <a:t>•  적용할 때 확인할 것</a:t>
            </a:r>
          </a:p>
          <a:p>
            <a:r>
              <a:rPr sz="1600" b="0">
                <a:solidFill>
                  <a:srgbClr val="5A6672"/>
                </a:solidFill>
                <a:latin typeface="Malgun Gothic"/>
              </a:rPr>
              <a:t>    –  결과 집합이 이전과 동일한가 — 아우터 조인 여부를 반드시 점검</a:t>
            </a:r>
          </a:p>
          <a:p>
            <a:r>
              <a:rPr sz="1600" b="0">
                <a:solidFill>
                  <a:srgbClr val="5A6672"/>
                </a:solidFill>
                <a:latin typeface="Malgun Gothic"/>
              </a:rPr>
              <a:t>    –  한 문장이 지나치게 커지지 않는가 — 읽기 어려운 SQL은 다음 사람에게 부담이 된다</a:t>
            </a:r>
          </a:p>
          <a:p>
            <a:r>
              <a:rPr sz="1600" b="0">
                <a:solidFill>
                  <a:srgbClr val="5A6672"/>
                </a:solidFill>
                <a:latin typeface="Malgun Gothic"/>
              </a:rPr>
              <a:t>    –  필요한 컬럼만 가져오는가 — SELECT * 문제를 새로 만들지 않도록</a:t>
            </a:r>
          </a:p>
          <a:p>
            <a:r>
              <a:rPr sz="1800" b="0">
                <a:solidFill>
                  <a:srgbClr val="202830"/>
                </a:solidFill>
                <a:latin typeface="Malgun Gothic"/>
              </a:rPr>
              <a:t>•  튜닝은 바꾸는 일이 아니라 바꾼 뒤 확인하는 일까지 포함한다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절충안 — 배치 조회 (IN 리스트)</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12.7절 Tuning — 조인이 당장 어려울 때의 현실적인 대안</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-- 1단계: 목록에서 claim_id만 먼저 모은다 (애플리케이션 쪽에서 수집)</a:t>
            </a:r>
          </a:p>
          <a:p>
            <a:r>
              <a:rPr sz="1250" b="0">
                <a:solidFill>
                  <a:srgbClr val="E6E6E6"/>
                </a:solidFill>
                <a:latin typeface="Consolas"/>
              </a:rPr>
              <a:t>SELECT claim_id</a:t>
            </a:r>
          </a:p>
          <a:p>
            <a:r>
              <a:rPr sz="1250" b="0">
                <a:solidFill>
                  <a:srgbClr val="E6E6E6"/>
                </a:solidFill>
                <a:latin typeface="Consolas"/>
              </a:rPr>
              <a:t>  FROM medical_claims</a:t>
            </a:r>
          </a:p>
          <a:p>
            <a:r>
              <a:rPr sz="1250" b="0">
                <a:solidFill>
                  <a:srgbClr val="E6E6E6"/>
                </a:solidFill>
                <a:latin typeface="Consolas"/>
              </a:rPr>
              <a:t> WHERE hosp_id = 1</a:t>
            </a:r>
          </a:p>
          <a:p>
            <a:r>
              <a:rPr sz="1250" b="0">
                <a:solidFill>
                  <a:srgbClr val="E6E6E6"/>
                </a:solidFill>
                <a:latin typeface="Consolas"/>
              </a:rPr>
              <a:t>   AND ROWNUM &lt;= 20;</a:t>
            </a:r>
          </a:p>
          <a:p>
            <a:r>
              <a:rPr sz="1250" b="0">
                <a:solidFill>
                  <a:srgbClr val="E6E6E6"/>
                </a:solidFill>
                <a:latin typeface="Consolas"/>
              </a:rPr>
              <a:t> </a:t>
            </a:r>
          </a:p>
          <a:p>
            <a:r>
              <a:rPr sz="1250" b="0">
                <a:solidFill>
                  <a:srgbClr val="7EC699"/>
                </a:solidFill>
                <a:latin typeface="Consolas"/>
              </a:rPr>
              <a:t>-- 2단계: 모은 값을 한 번의 쿼리로 묶어서 조회</a:t>
            </a:r>
          </a:p>
          <a:p>
            <a:r>
              <a:rPr sz="1250" b="0">
                <a:solidFill>
                  <a:srgbClr val="E6E6E6"/>
                </a:solidFill>
                <a:latin typeface="Consolas"/>
              </a:rPr>
              <a:t>SELECT claim_id, COUNT(*) cnt</a:t>
            </a:r>
          </a:p>
          <a:p>
            <a:r>
              <a:rPr sz="1250" b="0">
                <a:solidFill>
                  <a:srgbClr val="E6E6E6"/>
                </a:solidFill>
                <a:latin typeface="Consolas"/>
              </a:rPr>
              <a:t>  FROM claim_details</a:t>
            </a:r>
          </a:p>
          <a:p>
            <a:r>
              <a:rPr sz="1250" b="0">
                <a:solidFill>
                  <a:srgbClr val="E6E6E6"/>
                </a:solidFill>
                <a:latin typeface="Consolas"/>
              </a:rPr>
              <a:t> WHERE claim_id IN (:id1, :id2, :id3, ... , :id20)</a:t>
            </a:r>
          </a:p>
          <a:p>
            <a:r>
              <a:rPr sz="1250" b="0">
                <a:solidFill>
                  <a:srgbClr val="E6E6E6"/>
                </a:solidFill>
                <a:latin typeface="Consolas"/>
              </a:rPr>
              <a:t> GROUP BY claim_id;</a:t>
            </a:r>
          </a:p>
          <a:p>
            <a:r>
              <a:rPr sz="1250" b="0">
                <a:solidFill>
                  <a:srgbClr val="E6E6E6"/>
                </a:solidFill>
                <a:latin typeface="Consolas"/>
              </a:rPr>
              <a:t> </a:t>
            </a:r>
          </a:p>
          <a:p>
            <a:r>
              <a:rPr sz="1250" b="0">
                <a:solidFill>
                  <a:srgbClr val="7EC699"/>
                </a:solidFill>
                <a:latin typeface="Consolas"/>
              </a:rPr>
              <a:t>-- 효과 : 반복 실행 횟수가 목록 건수만큼에서 1번으로 줄어든다</a:t>
            </a:r>
          </a:p>
          <a:p>
            <a:r>
              <a:rPr sz="1250" b="0">
                <a:solidFill>
                  <a:srgbClr val="7EC699"/>
                </a:solidFill>
                <a:latin typeface="Consolas"/>
              </a:rPr>
              <a:t>--        CLAIM_DETAILS를 한 번만(또는 훨씬 적게) 스캔하게 된다</a:t>
            </a:r>
          </a:p>
          <a:p>
            <a:r>
              <a:rPr sz="1250" b="0">
                <a:solidFill>
                  <a:srgbClr val="7EC699"/>
                </a:solidFill>
                <a:latin typeface="Consolas"/>
              </a:rPr>
              <a:t>-- 주의 : IN 리스트 길이가 변하면 SQL 텍스트가 바뀌어 별도 커서가 된다</a:t>
            </a:r>
          </a:p>
          <a:p>
            <a:r>
              <a:rPr sz="1250" b="0">
                <a:solidFill>
                  <a:srgbClr val="7EC699"/>
                </a:solidFill>
                <a:latin typeface="Consolas"/>
              </a:rPr>
              <a:t>--        묶음 크기를 고정해 두면 커서 재사용에 유리하다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완화책 — 인덱스 추가와 그 한계</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애플리케이션 구조상 조인이 당장 어렵다면</a:t>
            </a:r>
          </a:p>
          <a:p>
            <a:r>
              <a:rPr sz="1600" b="0">
                <a:solidFill>
                  <a:srgbClr val="5A6672"/>
                </a:solidFill>
                <a:latin typeface="Malgun Gothic"/>
              </a:rPr>
              <a:t>    –  최소한 반복되는 조회의 WHERE 절 컬럼(CLAIM_ID)에 인덱스를 추가한다</a:t>
            </a:r>
          </a:p>
          <a:p>
            <a:r>
              <a:rPr sz="1600" b="0">
                <a:solidFill>
                  <a:srgbClr val="5A6672"/>
                </a:solidFill>
                <a:latin typeface="Malgun Gothic"/>
              </a:rPr>
              <a:t>    –  그것만으로도 개별 조회 1회의 비용을 6,621에서 훨씬 작은 값(인덱스 탐색 수준)으로 낮출 수 있다</a:t>
            </a:r>
          </a:p>
          <a:p>
            <a:r>
              <a:rPr sz="1800" b="0">
                <a:solidFill>
                  <a:srgbClr val="202830"/>
                </a:solidFill>
                <a:latin typeface="Malgun Gothic"/>
              </a:rPr>
              <a:t>•  다만 이것은 '완화책'이지 근본 해법이 아니다</a:t>
            </a:r>
          </a:p>
          <a:p>
            <a:r>
              <a:rPr sz="1600" b="0">
                <a:solidFill>
                  <a:srgbClr val="5A6672"/>
                </a:solidFill>
                <a:latin typeface="Malgun Gothic"/>
              </a:rPr>
              <a:t>    –  반복 호출 구조 자체를 없애지 못한다 — 반복 횟수는 전혀 줄지 않는다</a:t>
            </a:r>
          </a:p>
          <a:p>
            <a:r>
              <a:rPr sz="1600" b="0">
                <a:solidFill>
                  <a:srgbClr val="5A6672"/>
                </a:solidFill>
                <a:latin typeface="Malgun Gothic"/>
              </a:rPr>
              <a:t>    –  '1회 비용 × 반복 횟수' 구조는 그대로 남고, 1회 비용만 작아진 것</a:t>
            </a:r>
          </a:p>
          <a:p>
            <a:r>
              <a:rPr sz="1800" b="0">
                <a:solidFill>
                  <a:srgbClr val="202830"/>
                </a:solidFill>
                <a:latin typeface="Malgun Gothic"/>
              </a:rPr>
              <a:t>•  반복 횟수가 계속 늘어나면 인덱스를 타도 결국 배수로 커지는 것은 마찬가지다</a:t>
            </a:r>
          </a:p>
          <a:p>
            <a:r>
              <a:rPr sz="1600" b="0">
                <a:solidFill>
                  <a:srgbClr val="5A6672"/>
                </a:solidFill>
                <a:latin typeface="Malgun Gothic"/>
              </a:rPr>
              <a:t>    –  ch05 원칙: 결과가 몇 건이든 Full Scan은 고정비용이지만</a:t>
            </a:r>
          </a:p>
          <a:p>
            <a:r>
              <a:rPr sz="1600" b="0">
                <a:solidFill>
                  <a:srgbClr val="5A6672"/>
                </a:solidFill>
                <a:latin typeface="Malgun Gothic"/>
              </a:rPr>
              <a:t>    –  인덱스 탐색은 반복될수록 그 나름대로 누적된다</a:t>
            </a:r>
          </a:p>
          <a:p>
            <a:r>
              <a:rPr sz="1800" b="0">
                <a:solidFill>
                  <a:srgbClr val="202830"/>
                </a:solidFill>
                <a:latin typeface="Malgun Gothic"/>
              </a:rPr>
              <a:t>•  판단 기준: 완화책은 시간을 벌어 줄 뿐 구조 문제를 닫아 주지 않는다</a:t>
            </a:r>
          </a:p>
          <a:p>
            <a:r>
              <a:rPr sz="1600" b="0">
                <a:solidFill>
                  <a:srgbClr val="5A6672"/>
                </a:solidFill>
                <a:latin typeface="Malgun Gothic"/>
              </a:rPr>
              <a:t>    –  인덱스를 넣었다면 반드시 구조 개선 과제를 함께 남겨 두라</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본 차시는 DDL 변경 없이 측정했다 — 인덱스 추가는 개념상의 완화책으로만 다룬다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진단 — 반복 호출을 찾아내는 조회 패턴</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12.7절 Tuning — 실행계획이 아니라 누적 통계를 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실행 횟수가 유독 많은 SQL을 먼저 훑는다</a:t>
            </a:r>
          </a:p>
          <a:p>
            <a:r>
              <a:rPr sz="1250" b="0">
                <a:solidFill>
                  <a:srgbClr val="E6E6E6"/>
                </a:solidFill>
                <a:latin typeface="Consolas"/>
              </a:rPr>
              <a:t>SELECT sql_id, executions, buffer_gets, elapsed_time, sql_text</a:t>
            </a:r>
          </a:p>
          <a:p>
            <a:r>
              <a:rPr sz="1250" b="0">
                <a:solidFill>
                  <a:srgbClr val="E6E6E6"/>
                </a:solidFill>
                <a:latin typeface="Consolas"/>
              </a:rPr>
              <a:t>  FROM v$sql</a:t>
            </a:r>
          </a:p>
          <a:p>
            <a:r>
              <a:rPr sz="1250" b="0">
                <a:solidFill>
                  <a:srgbClr val="E6E6E6"/>
                </a:solidFill>
                <a:latin typeface="Consolas"/>
              </a:rPr>
              <a:t> ORDER BY executions DESC;</a:t>
            </a:r>
          </a:p>
          <a:p>
            <a:r>
              <a:rPr sz="1250" b="0">
                <a:solidFill>
                  <a:srgbClr val="E6E6E6"/>
                </a:solidFill>
                <a:latin typeface="Consolas"/>
              </a:rPr>
              <a:t> </a:t>
            </a:r>
          </a:p>
          <a:p>
            <a:r>
              <a:rPr sz="1250" b="0">
                <a:solidFill>
                  <a:srgbClr val="7EC699"/>
                </a:solidFill>
                <a:latin typeface="Consolas"/>
              </a:rPr>
              <a:t>-- 누적 논리 I/O가 큰 SQL을 훑는다 (1회는 싸지만 총량이 큰 SQL이 걸린다)</a:t>
            </a:r>
          </a:p>
          <a:p>
            <a:r>
              <a:rPr sz="1250" b="0">
                <a:solidFill>
                  <a:srgbClr val="E6E6E6"/>
                </a:solidFill>
                <a:latin typeface="Consolas"/>
              </a:rPr>
              <a:t>SELECT sql_id, executions, buffer_gets,</a:t>
            </a:r>
          </a:p>
          <a:p>
            <a:r>
              <a:rPr sz="1250" b="0">
                <a:solidFill>
                  <a:srgbClr val="E6E6E6"/>
                </a:solidFill>
                <a:latin typeface="Consolas"/>
              </a:rPr>
              <a:t>       buffer_gets / NULLIF(executions, 0) AS avg_buffers, sql_text</a:t>
            </a:r>
          </a:p>
          <a:p>
            <a:r>
              <a:rPr sz="1250" b="0">
                <a:solidFill>
                  <a:srgbClr val="E6E6E6"/>
                </a:solidFill>
                <a:latin typeface="Consolas"/>
              </a:rPr>
              <a:t>  FROM v$sql</a:t>
            </a:r>
          </a:p>
          <a:p>
            <a:r>
              <a:rPr sz="1250" b="0">
                <a:solidFill>
                  <a:srgbClr val="E6E6E6"/>
                </a:solidFill>
                <a:latin typeface="Consolas"/>
              </a:rPr>
              <a:t> ORDER BY buffer_gets DESC;</a:t>
            </a:r>
          </a:p>
          <a:p>
            <a:r>
              <a:rPr sz="1250" b="0">
                <a:solidFill>
                  <a:srgbClr val="E6E6E6"/>
                </a:solidFill>
                <a:latin typeface="Consolas"/>
              </a:rPr>
              <a:t> </a:t>
            </a:r>
          </a:p>
          <a:p>
            <a:r>
              <a:rPr sz="1250" b="0">
                <a:solidFill>
                  <a:srgbClr val="7EC699"/>
                </a:solidFill>
                <a:latin typeface="Consolas"/>
              </a:rPr>
              <a:t>-- 읽는 요령</a:t>
            </a:r>
          </a:p>
          <a:p>
            <a:r>
              <a:rPr sz="1250" b="0">
                <a:solidFill>
                  <a:srgbClr val="7EC699"/>
                </a:solidFill>
                <a:latin typeface="Consolas"/>
              </a:rPr>
              <a:t>-- executions 가 크고 avg_buffers 도 작지 않다  -&gt; N+1 강력한 신호</a:t>
            </a:r>
          </a:p>
          <a:p>
            <a:r>
              <a:rPr sz="1250" b="0">
                <a:solidFill>
                  <a:srgbClr val="7EC699"/>
                </a:solidFill>
                <a:latin typeface="Consolas"/>
              </a:rPr>
              <a:t>-- executions 가 작고 avg_buffers 가 크다        -&gt; 단일 SQL 튜닝 대상</a:t>
            </a:r>
          </a:p>
          <a:p>
            <a:r>
              <a:rPr sz="1250" b="0">
                <a:solidFill>
                  <a:srgbClr val="7EC699"/>
                </a:solidFill>
                <a:latin typeface="Consolas"/>
              </a:rPr>
              <a:t>-- 1회 실행 시간으로만 정렬하면 N+1은 상위에 올라오지 않는다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진단 절차 정리 — 코드 리뷰와 모니터링</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DB 세션·시스템 통계</a:t>
            </a:r>
          </a:p>
          <a:p>
            <a:r>
              <a:rPr sz="1600" b="0">
                <a:solidFill>
                  <a:srgbClr val="5A6672"/>
                </a:solidFill>
                <a:latin typeface="Malgun Gothic"/>
              </a:rPr>
              <a:t>    –  V$SQL의 EXECUTIONS가 비정상적으로 높은 SQL을 주기적으로 조회해 찾아낸다</a:t>
            </a:r>
          </a:p>
          <a:p>
            <a:r>
              <a:rPr sz="1800" b="0">
                <a:solidFill>
                  <a:srgbClr val="202830"/>
                </a:solidFill>
                <a:latin typeface="Malgun Gothic"/>
              </a:rPr>
              <a:t>•  APM(Application Performance Monitoring) 도구</a:t>
            </a:r>
          </a:p>
          <a:p>
            <a:r>
              <a:rPr sz="1600" b="0">
                <a:solidFill>
                  <a:srgbClr val="5A6672"/>
                </a:solidFill>
                <a:latin typeface="Malgun Gothic"/>
              </a:rPr>
              <a:t>    –  하나의 API 요청 안에서 동일한 패턴의 SQL이 여러 번 호출되는 것을 트랜잭션 단위로 보여 준다</a:t>
            </a:r>
          </a:p>
          <a:p>
            <a:r>
              <a:rPr sz="1600" b="0">
                <a:solidFill>
                  <a:srgbClr val="5A6672"/>
                </a:solidFill>
                <a:latin typeface="Malgun Gothic"/>
              </a:rPr>
              <a:t>    –  요청 하나를 펼쳤을 때 같은 모양의 막대가 줄지어 있으면 N+1이다</a:t>
            </a:r>
          </a:p>
          <a:p>
            <a:r>
              <a:rPr sz="1800" b="0">
                <a:solidFill>
                  <a:srgbClr val="202830"/>
                </a:solidFill>
                <a:latin typeface="Malgun Gothic"/>
              </a:rPr>
              <a:t>•  ORM 프레임워크의 쿼리 로그</a:t>
            </a:r>
          </a:p>
          <a:p>
            <a:r>
              <a:rPr sz="1600" b="0">
                <a:solidFill>
                  <a:srgbClr val="5A6672"/>
                </a:solidFill>
                <a:latin typeface="Malgun Gothic"/>
              </a:rPr>
              <a:t>    –  많은 ORM이 'N+1 감지' 경고 기능을 제공한다</a:t>
            </a:r>
          </a:p>
          <a:p>
            <a:r>
              <a:rPr sz="1600" b="0">
                <a:solidFill>
                  <a:srgbClr val="5A6672"/>
                </a:solidFill>
                <a:latin typeface="Malgun Gothic"/>
              </a:rPr>
              <a:t>    –  개발 모드에서 실행된 모든 SQL을 로그로 남겨 눈으로 반복을 확인할 수도 있다</a:t>
            </a:r>
          </a:p>
          <a:p>
            <a:r>
              <a:rPr sz="1800" b="0">
                <a:solidFill>
                  <a:srgbClr val="202830"/>
                </a:solidFill>
                <a:latin typeface="Malgun Gothic"/>
              </a:rPr>
              <a:t>•  부하 테스트</a:t>
            </a:r>
          </a:p>
          <a:p>
            <a:r>
              <a:rPr sz="1600" b="0">
                <a:solidFill>
                  <a:srgbClr val="5A6672"/>
                </a:solidFill>
                <a:latin typeface="Malgun Gothic"/>
              </a:rPr>
              <a:t>    –  데이터 건수를 늘려 가며 응답 시간이 선형으로(또는 그 이상으로) 나빠지는지 확인한다</a:t>
            </a:r>
          </a:p>
          <a:p>
            <a:r>
              <a:rPr sz="1800" b="0">
                <a:solidFill>
                  <a:srgbClr val="202830"/>
                </a:solidFill>
                <a:latin typeface="Malgun Gothic"/>
              </a:rPr>
              <a:t>•  코드 리뷰에서 볼 지점</a:t>
            </a:r>
          </a:p>
          <a:p>
            <a:r>
              <a:rPr sz="1600" b="0">
                <a:solidFill>
                  <a:srgbClr val="5A6672"/>
                </a:solidFill>
                <a:latin typeface="Malgun Gothic"/>
              </a:rPr>
              <a:t>    –  반복문 안에서 DB 접근이 일어나는가 — 이 한 가지만 봐도 대부분 걸러진다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실측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12.8절 Benchmark — 두 방식의 실측 비교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방식                  | 실행 횟수 | 총 Buffers  | 비고                           |</a:t>
            </a:r>
          </a:p>
          <a:p>
            <a:r>
              <a:rPr sz="1250" b="0">
                <a:solidFill>
                  <a:srgbClr val="E6E6E6"/>
                </a:solidFill>
                <a:latin typeface="Consolas"/>
              </a:rPr>
              <a:t>+-----------------------+-----------+-------------+--------------------------------+</a:t>
            </a:r>
          </a:p>
          <a:p>
            <a:r>
              <a:rPr sz="1250" b="0">
                <a:solidFill>
                  <a:srgbClr val="E6E6E6"/>
                </a:solidFill>
                <a:latin typeface="Consolas"/>
              </a:rPr>
              <a:t>| N+1 (개별 반복 조회)  | 20        | 132,420     | 매번 CLAIM_DETAILS Full Scan   |</a:t>
            </a:r>
          </a:p>
          <a:p>
            <a:r>
              <a:rPr sz="1250" b="0">
                <a:solidFill>
                  <a:srgbClr val="E6E6E6"/>
                </a:solidFill>
                <a:latin typeface="Consolas"/>
              </a:rPr>
              <a:t>| 조인 1회              | 1         | 6,645       | CLAIM_DETAILS Full Scan 단 1회 |</a:t>
            </a:r>
          </a:p>
          <a:p>
            <a:r>
              <a:rPr sz="1250" b="0">
                <a:solidFill>
                  <a:srgbClr val="E6E6E6"/>
                </a:solidFill>
                <a:latin typeface="Consolas"/>
              </a:rPr>
              <a:t>+-----------------------+-----------+-------------+--------------------------------+</a:t>
            </a:r>
          </a:p>
          <a:p>
            <a:r>
              <a:rPr sz="1250" b="0">
                <a:solidFill>
                  <a:srgbClr val="E6E6E6"/>
                </a:solidFill>
                <a:latin typeface="Consolas"/>
              </a:rPr>
              <a:t> </a:t>
            </a:r>
          </a:p>
          <a:p>
            <a:r>
              <a:rPr sz="1250" b="0">
                <a:solidFill>
                  <a:srgbClr val="E6E6E6"/>
                </a:solidFill>
                <a:latin typeface="Consolas"/>
              </a:rPr>
              <a:t> </a:t>
            </a:r>
          </a:p>
          <a:p>
            <a:r>
              <a:rPr sz="1250" b="0">
                <a:solidFill>
                  <a:srgbClr val="E6E6E6"/>
                </a:solidFill>
                <a:latin typeface="Consolas"/>
              </a:rPr>
              <a:t>  비율 : 132,420 / 6,645 = 약 19.9 배</a:t>
            </a:r>
          </a:p>
          <a:p>
            <a:r>
              <a:rPr sz="1250" b="0">
                <a:solidFill>
                  <a:srgbClr val="E6E6E6"/>
                </a:solidFill>
                <a:latin typeface="Consolas"/>
              </a:rPr>
              <a:t> </a:t>
            </a:r>
          </a:p>
          <a:p>
            <a:r>
              <a:rPr sz="1250" b="0">
                <a:solidFill>
                  <a:srgbClr val="E6E6E6"/>
                </a:solidFill>
                <a:latin typeface="Consolas"/>
              </a:rPr>
              <a:t>  N+1  1회 평균 Buffers : 6,621     (132,420 / 20)</a:t>
            </a:r>
          </a:p>
          <a:p>
            <a:r>
              <a:rPr sz="1250" b="0">
                <a:solidFill>
                  <a:srgbClr val="E6E6E6"/>
                </a:solidFill>
                <a:latin typeface="Consolas"/>
              </a:rPr>
              <a:t>  N+1  누적 소요 시간   : 374,094 us</a:t>
            </a:r>
          </a:p>
          <a:p>
            <a:r>
              <a:rPr sz="1250" b="0">
                <a:solidFill>
                  <a:srgbClr val="E6E6E6"/>
                </a:solidFill>
                <a:latin typeface="Consolas"/>
              </a:rPr>
              <a:t> </a:t>
            </a:r>
          </a:p>
          <a:p>
            <a:r>
              <a:rPr sz="1250" b="0">
                <a:solidFill>
                  <a:srgbClr val="7EC699"/>
                </a:solidFill>
                <a:latin typeface="Consolas"/>
              </a:rPr>
              <a:t>  -- 반복 횟수(20)에 가까운 배수 — 03절 원리 그대로</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N+1 문제는 SQL 문장 자체가 아니라 '그 SQL이 몇 번 반복 호출되는가'에서 비롯된다</a:t>
            </a:r>
          </a:p>
          <a:p>
            <a:r>
              <a:rPr sz="1800" b="0">
                <a:solidFill>
                  <a:srgbClr val="202830"/>
                </a:solidFill>
                <a:latin typeface="Malgun Gothic"/>
              </a:rPr>
              <a:t>•  그래서 실행계획만 봐서는 보이지 않고, V$SQL의 누적 통계로 확인해야 한다</a:t>
            </a:r>
          </a:p>
          <a:p>
            <a:r>
              <a:rPr sz="1600" b="0">
                <a:solidFill>
                  <a:srgbClr val="5A6672"/>
                </a:solidFill>
                <a:latin typeface="Malgun Gothic"/>
              </a:rPr>
              <a:t>    –  EXECUTIONS(실행 횟수)와 BUFFER_GETS(누적 비용), 그리고 둘을 나눈 1회 평균</a:t>
            </a:r>
          </a:p>
          <a:p>
            <a:r>
              <a:rPr sz="1800" b="0">
                <a:solidFill>
                  <a:srgbClr val="202830"/>
                </a:solidFill>
                <a:latin typeface="Malgun Gothic"/>
              </a:rPr>
              <a:t>•  반복 조회 대상 컬럼에 인덱스가 없으면 각 반복이 Full Scan이 되어 피해가 특히 커진다</a:t>
            </a:r>
          </a:p>
          <a:p>
            <a:r>
              <a:rPr sz="1600" b="0">
                <a:solidFill>
                  <a:srgbClr val="5A6672"/>
                </a:solidFill>
                <a:latin typeface="Malgun Gothic"/>
              </a:rPr>
              <a:t>    –  실측: 20번 반복 132,420 Buffers, 1회 평균 6,621</a:t>
            </a:r>
          </a:p>
          <a:p>
            <a:r>
              <a:rPr sz="1800" b="0">
                <a:solidFill>
                  <a:srgbClr val="202830"/>
                </a:solidFill>
                <a:latin typeface="Malgun Gothic"/>
              </a:rPr>
              <a:t>•  N+1을 조인 1회로 바꾸면 반복되던 비용이 '한 번'으로 고정된다</a:t>
            </a:r>
          </a:p>
          <a:p>
            <a:r>
              <a:rPr sz="1600" b="0">
                <a:solidFill>
                  <a:srgbClr val="5A6672"/>
                </a:solidFill>
                <a:latin typeface="Malgun Gothic"/>
              </a:rPr>
              <a:t>    –  실측: 조인 1회 6,645 Buffers — 비율 약 19.9배, 반복 횟수 20에 수렴</a:t>
            </a:r>
          </a:p>
          <a:p>
            <a:r>
              <a:rPr sz="1600" b="0">
                <a:solidFill>
                  <a:srgbClr val="5A6672"/>
                </a:solidFill>
                <a:latin typeface="Malgun Gothic"/>
              </a:rPr>
              <a:t>    –  목록 건수가 늘어나도 비용이 배수로 커지지 않는다</a:t>
            </a:r>
          </a:p>
          <a:p>
            <a:r>
              <a:rPr sz="1800" b="0">
                <a:solidFill>
                  <a:srgbClr val="202830"/>
                </a:solidFill>
                <a:latin typeface="Malgun Gothic"/>
              </a:rPr>
              <a:t>•  인덱스 추가는 1회 비용을 낮추는 완화책일 뿐 반복 횟수를 줄이지 못한다</a:t>
            </a:r>
          </a:p>
          <a:p>
            <a:r>
              <a:rPr sz="1800" b="0">
                <a:solidFill>
                  <a:srgbClr val="202830"/>
                </a:solidFill>
                <a:latin typeface="Malgun Gothic"/>
              </a:rPr>
              <a:t>•  개발 환경의 적은 테스트 데이터로는 N+1이 잘 드러나지 않는다</a:t>
            </a:r>
          </a:p>
          <a:p>
            <a:r>
              <a:rPr sz="1600" b="0">
                <a:solidFill>
                  <a:srgbClr val="5A6672"/>
                </a:solidFill>
                <a:latin typeface="Malgun Gothic"/>
              </a:rPr>
              <a:t>    –  실제 운영 규모를 가정한 테스트가 중요하다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ch14_문제.md</a:t>
            </a:r>
          </a:p>
          <a:p>
            <a:r>
              <a:rPr sz="1600" b="0">
                <a:solidFill>
                  <a:srgbClr val="5A6672"/>
                </a:solidFill>
                <a:latin typeface="Malgun Gothic"/>
              </a:rPr>
              <a:t>    –  1번 — 평균 Buffers 계산과 단건 Full Scan 비용이 일치하는 이유</a:t>
            </a:r>
          </a:p>
          <a:p>
            <a:r>
              <a:rPr sz="1600" b="0">
                <a:solidFill>
                  <a:srgbClr val="5A6672"/>
                </a:solidFill>
                <a:latin typeface="Malgun Gothic"/>
              </a:rPr>
              <a:t>    –  2번 — 조인 1회 계획에서 CLAIM_DETAILS Full Scan이 몇 번 나타나는가</a:t>
            </a:r>
          </a:p>
          <a:p>
            <a:r>
              <a:rPr sz="1600" b="0">
                <a:solidFill>
                  <a:srgbClr val="5A6672"/>
                </a:solidFill>
                <a:latin typeface="Malgun Gothic"/>
              </a:rPr>
              <a:t>    –  3번 — 비율이 20에 가까운 이유와 목록 200건일 때의 예측</a:t>
            </a:r>
          </a:p>
          <a:p>
            <a:r>
              <a:rPr sz="1600" b="0">
                <a:solidFill>
                  <a:srgbClr val="5A6672"/>
                </a:solidFill>
                <a:latin typeface="Malgun Gothic"/>
              </a:rPr>
              <a:t>    –  4번 — 목록 5건·100건일 때 예상 Buffers와 개발 환경의 함정</a:t>
            </a:r>
          </a:p>
          <a:p>
            <a:r>
              <a:rPr sz="1600" b="0">
                <a:solidFill>
                  <a:srgbClr val="5A6672"/>
                </a:solidFill>
                <a:latin typeface="Malgun Gothic"/>
              </a:rPr>
              <a:t>    –  5번 — 실행계획만으로 안 보이는 이유와 대신 확인할 V$SQL 컬럼</a:t>
            </a:r>
          </a:p>
          <a:p>
            <a:r>
              <a:rPr sz="1600" b="0">
                <a:solidFill>
                  <a:srgbClr val="5A6672"/>
                </a:solidFill>
                <a:latin typeface="Malgun Gothic"/>
              </a:rPr>
              <a:t>    –  6번 — 인덱스 추가 후에도 남는 문제</a:t>
            </a:r>
          </a:p>
          <a:p>
            <a:r>
              <a:rPr sz="1600" b="0">
                <a:solidFill>
                  <a:srgbClr val="5A6672"/>
                </a:solidFill>
                <a:latin typeface="Malgun Gothic"/>
              </a:rPr>
              <a:t>    –  7번 — 바인드 변수 대신 리터럴을 썼다면 생겼을 추가 문제(ch02)</a:t>
            </a:r>
          </a:p>
          <a:p>
            <a:r>
              <a:rPr sz="1600" b="0">
                <a:solidFill>
                  <a:srgbClr val="5A6672"/>
                </a:solidFill>
                <a:latin typeface="Malgun Gothic"/>
              </a:rPr>
              <a:t>    –  8번 — 조인 외의 애플리케이션 레벨 대안(배치 조회)</a:t>
            </a:r>
          </a:p>
          <a:p>
            <a:r>
              <a:rPr sz="1600" b="0">
                <a:solidFill>
                  <a:srgbClr val="5A6672"/>
                </a:solidFill>
                <a:latin typeface="Malgun Gothic"/>
              </a:rPr>
              <a:t>    –  9번 — MEDICAL_CLAIMS와 CLAIM_DETAILS의 접근 비용 차이</a:t>
            </a:r>
          </a:p>
          <a:p>
            <a:r>
              <a:rPr sz="1600" b="0">
                <a:solidFill>
                  <a:srgbClr val="5A6672"/>
                </a:solidFill>
                <a:latin typeface="Malgun Gothic"/>
              </a:rPr>
              <a:t>    –  10번 — 코드 리뷰에서 N+1을 발견하는 도구와 방법</a:t>
            </a:r>
          </a:p>
          <a:p>
            <a:r>
              <a:rPr sz="1800" b="0">
                <a:solidFill>
                  <a:srgbClr val="202830"/>
                </a:solidFill>
                <a:latin typeface="Malgun Gothic"/>
              </a:rPr>
              <a:t>•  풀이 요령: 숫자를 외우지 말고 '반복 횟수 × 1회 비용' 구조로 설명하라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
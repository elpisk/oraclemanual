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ch03은 이후 열한 개 챕터를 떠받치는 기초 공사다. 앞으로 어떤 기법을 배우든 개선 여부를 실행계획으로 증명해야 하는데, 계획을 읽지 못하면 그 증명 자체가 성립하지 않는다. 이 장에서는 인덱스를 하나도 만들지 않고 기존 PK 인덱스만으로 여섯 가지 오퍼레이션 패턴을 관찰한다. 실행계획 판독은 문법 학습과 달라서 규칙 몇 줄을 듣는 것만으로는 몸에 붙지 않으므로, 강의 내내 화면의 계획을 손가락으로 짚어 가며 소리 내어 읽히는 진행을 권한다. 첫 화면에서 이 장이 개선의 장이 아니라 판독의 장임을 분명히 선언하고 시작한다. 수업 첫머리에 실습 DB 접속과 DBMS_XPLAN 권한을 미리 점검해 두면 진행이 끊기지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층으로 묶인다. 첫째는 어휘로, 실행계획에 등장하는 컬럼과 오퍼레이션 이름을 우리말로 풀어낼 수 있어야 한다. 둘째는 문법으로, 트리의 들여쓰기를 근거로 실행 순서를 복원하는 능력이다. 셋째는 진단으로, 추정치와 실측치를 대조해 이상 징후를 짚어내는 태도다. 세 층은 순서대로 쌓이므로 어휘를 건너뛰고 진단부터 가르치면 학습자가 계획을 통째로 외우려 든다. 목표를 읽어 줄 때 각 항목이 실습문제 몇 번과 연결되는지 미리 짚어 주면 학습자가 무엇을 위해 듣는지 알고 집중한다. 열 줄이 많아 보이지만 대부분 3.5절 한 절에서 해결되므로 부담을 덜어 주는 말도 함께 건넨다.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정의 세우기, 도구 익히기, 사례로 확인하기의 세 단계다. 3.1부터 3.3까지는 실행계획이 무엇이고 누가 그것을 만드는지를 다루는 개념 구간이고, 3.4와 3.5가 이 장의 몸통으로 실제 계획을 뽑아 컬럼 단위로 해부한다. 3.6은 판독이 왜 필요한지 보여 주는 실측 사례이며, 3.8은 여섯 가지 오퍼레이션 패턴을 한자리에 모아 비교하는 정리 구간이다. 시간 배분은 3.5와 3.8에 절반 이상을 쓰는 것이 좋고, 3.7은 예고 성격이라 짧게 지나가도 무방하다. 절 번호는 교안 md의 01번부터 10번까지 절 구성을 강의 편의에 맞춰 다시 묶은 것이다.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동기 부여 구간이다. 학습자 대부분은 실행계획을 데이터베이스 관리자의 영역으로 여기고 개발자가 읽을 필요는 없다고 생각한 채 들어온다. 그러나 이 과정의 모든 챕터는 개선 전후를 계획으로 대조하는 방식으로 진행되므로, 계획을 읽지 못하면 나머지 열한 챕터를 따라올 수 없다. 이 절은 그 사실을 미리 못 박아 두기 위한 자리다. 세 장짜리 짧은 구간이니 개념 설명을 길게 끌지 말고, 왜 읽어야 하는가라는 질문 하나에만 집중해서 빠르게 지나가는 편이 낫다. 질문을 던지고 답을 받는 형태로 진행하면 이후 실습 참여도가 눈에 띄게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현장에서 가장 흔한 장면은 느리다는 신고를 받고 곧바로 인덱스를 추가하는 것이다. 운이 좋으면 빨라지지만 원인이 조인 순서나 통계였다면 인덱스만 하나 더 늘어난 채 문제는 그대로 남는다. 게다가 인덱스는 조회를 돕는 대신 입력과 갱신을 무겁게 만들기 때문에 근거 없는 추가는 나중에 다른 곳에서 대가를 치른다. 진단 없이 처방부터 하지 말라는 이야기를 여기서 한 번 강하게 해 둔다. 세 갈래 원인은 각각 인덱스, 조인 힌트, 통계 재수집으로 조치가 갈리므로 구분이 곧 처방이라는 점도 덧붙인다. 조치를 고르기 전에 원인을 한 줄로 적어 보게 하는 습관을 실습에서도 계속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SQL이 선언형 언어라는 성질이 이 슬라이드의 핵심이다. 개발자는 결과의 모양만 기술하고 접근 경로는 옵티마이저에게 위임한다. 위임했다는 것은 곧 내가 통제하지 않았다는 뜻이므로 확인이 필수가 된다. 같은 문장이 환경에 따라 다른 계획으로 실행된다는 점은 개발 서버에서 잘 돌던 쿼리가 운영에서 무너지는 사고의 단골 원인이기도 하므로 함께 짚어 준다. 두 환경은 데이터 양도 통계 상태도 다르기 때문에 계획이 같으리라는 보장이 전혀 없다는 사실을 경험담으로 풀어 주면 설득력이 커진다. 확인은 비용이 거의 들지 않는데 확인하지 않아 치르는 비용은 크다는 점으로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범위를 선언하는 슬라이드다. 학습자는 세 번째 시간이면 이제 뭔가 빨라지는 것을 보고 싶어 하므로, 이 장이 판독에서 끝난다는 사실을 미리 알리지 않으면 알맹이가 없다는 인상을 받는다. 판독을 먼저 세우는 이유를 지도 읽는 법에 빗대어 설명하면 잘 통한다. 길을 고르기 전에 지도를 읽을 줄 알아야 하고, 지도를 못 읽으면 어느 길이 나은지 말할 수 없다. 실습 환경에서 인덱스를 임의로 만들면 교안의 계획이 재현되지 않는다는 주의도 이 자리에서 한 번 더 강조해 둔다. 이 선언을 해 두면 뒤에서 개선책을 묻는 질문이 나와도 자연스럽게 다음 챕터로 넘길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용어를 정의하는 구간이다. 실행계획이라는 말을 막연히 쓰다 보면 학습자마다 다른 그림을 떠올리게 되므로, 트리라는 자료 구조와 오퍼레이션이라는 작업 단위 두 낱말을 여기서 확실히 못 박아 둔다. 이 두 낱말이 서면 뒤에 나오는 들여쓰기 판독 원칙이 자연스럽게 따라온다. 반대로 이 절을 대충 넘기면 3.5절에서 실행 순서를 설명할 때마다 트리가 무엇인지부터 다시 설명해야 해서 오히려 시간이 더 든다. 개념 두 낱말만 남기고 넘어간다는 목표를 정해 두면 시간을 아낄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실행계획이 표가 아니라 트리라는 점을 이 슬라이드에서 확실히 심어 준다. 화면에는 격자로 보이기 때문에 학습자는 자연스럽게 위에서 아래로 읽는 표로 오해하고, 그 오해가 뒤에 나오는 실행 순서 판독을 통째로 망가뜨린다. 들여쓰기 칸이 트리의 깊이를 나타낸다는 사실만 확실히 잡아 두면 나머지는 규칙 두 줄로 정리된다. 화면에 계획을 띄워 놓고 들여쓰기 위치에 세로선을 그어 보이면 표 속에 숨어 있던 나무 모양이 드러나므로 이해가 훨씬 빠르다. 트리라는 말이 낯선 학습자에게는 목차와 하위 항목의 관계를 예로 들어 주면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오퍼레이션 이름을 통째로 암기하려는 학습자가 반드시 나온다. 그때 이름을 낱말 단위로 끊어 읽는 방법을 시범 보여 주면 부담이 크게 줄어든다. 예를 들어 TABLE ACCESS BY INDEX ROWID는 인덱스가 알려 준 주소로 테이블에 접근한다는 문장을 그대로 압축한 이름이다. 3.8절에서 나오는 WINDOW NOSORT STOPKEY도 같은 방식으로 세 조각으로 나눠 읽는다. 오퍼레이션 이름은 영어 문장을 줄인 것이므로 외울 대상이 아니라 번역할 대상이라고 정리해 준다. 이 요령 하나로 학습자의 심리적 장벽이 크게 낮아지므로 시간을 조금 더 써도 아깝지 않다.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 개수를 성능 지표로 착각하는 오해를 여기서 미리 차단한다. 실제로 3.4절 예제는 노드가 둘뿐이지만 3.8절의 여섯 노드짜리 조인 계획과 읽은 블록 수가 비슷하다. 계획의 좋고 나쁨은 모양의 복잡도가 아니라 각 단계가 건드린 데이터 양으로 결정된다는 점을 이 자리에서 미리 말해 두면 뒤의 비교표를 훨씬 수월하게 읽는다. 계획이 길어 보인다고 겁먹을 필요가 없고, 짧다고 안심할 이유도 없다는 두 문장으로 정리해 두면 좋다. 읽은 양을 기준으로 보라는 이 원칙이 3.8절 비교표를 읽는 잣대가 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실행계획을 만든 주체를 소개하는 구간이다. 계획을 읽기만 하고 누가 왜 그렇게 만들었는지 모르면 이상한 계획을 만났을 때 손을 쓸 수 없다. 여기서 다루는 통계정보의 세 가지 어긋남은 3.6절 실측 사례의 원인 설명이자 ch08 전체의 예고편 역할을 한다. 다만 이 절에서 통계를 깊이 파고들 필요는 없다. 옵티마이저가 원본이 아니라 요약본을 보고 판단한다는 한 문장만 확실히 남기면 목적을 다한 것이다. 통계 항목을 나열만 하고 각각의 상세는 해당 챕터로 미루는 것이 시간 배분에 유리하다.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옵티마이저를 사람에 비유하면 이해가 빠르다. 여러 경로를 놓고 지도만 보며 예상 소요 시간을 계산해 가장 짧은 길을 고르는 운전자다. 지도가 낡아 새로 난 길이 빠져 있거나 공사 구간이 반영되지 않았다면 아무리 계산을 잘해도 엉뚱한 길을 고른다. 옵티마이저를 탓하기 전에 지도, 즉 통계정보의 상태부터 확인하라는 순서를 여기서 각인시킨다. 후보를 실제로 돌려 볼 수 없다는 제약이 모든 문제의 출발점이라는 점도 함께 짚어 준다. 지도 비유는 이후 챕터에서도 계속 재사용할 수 있으니 여기서 한 번 제대로 만들어 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통계 항목을 지금 깊이 설명할 필요는 없다. 각각은 뒤 챕터에서 제 자리를 갖는다. 고유값 개수는 선택도를 다루는 ch05에서, 클러스터링 팩터는 인덱스 설계를 다루는 ch06에서, 히스토그램은 ch08에서 본격적으로 나온다. 지금은 옵티마이저가 데이터 원본이 아니라 요약본을 보고 판단한다는 사실만 확실히 남기면 충분하다. 요약본이라는 말에서 원본과 다를 수 있다는 성질이 자연스럽게 따라 나온다는 점을 강조한다. 네 항목을 외우게 하기보다 어느 챕터에서 다시 만나는지를 알려 주는 편이 기억에 남는다.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원인은 성격이 다르다는 점을 강조한다. 첫째는 관리의 문제로 통계를 다시 수집하면 해결되고, 둘째는 설계상의 기본 동작이라 확장 통계를 따로 만들어야 하며, 셋째는 정보의 해상도 문제로 히스토그램을 붙여야 한다. 원인이 다르면 처방도 다르기 때문에 셋을 한 덩어리로 뭉뚱그려 통계 문제라고 부르는 습관은 진단을 흐린다. 이 장의 실측 사례가 둘째 유형에 해당한다는 사실을 미리 알려 두면 3.6절에서 원인 설명이 훨씬 매끄럽게 이어진다. 세 갈래를 칠판 한쪽에 적어 두고 3.6절에서 다시 가리키면 연결이 자연스럽다.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카디널리티라는 용어가 처음 나오는 자리다. 행 수라는 쉬운 말로 먼저 설명하고 용어를 붙이는 순서가 좋다. 이 오류가 무서운 이유는 틀린 값 하나가 그 단계에서 멈추지 않고 위쪽 단계의 판단 재료로 계속 쓰인다는 점이다. 3.6절에서 실제 수치를 보며 다시 다루므로 여기서는 전파된다는 성질만 예고해 두면 된다. 몇 건짜리 집합인지에 따라 유리한 조인 방식이 완전히 달라진다는 점을 한 문장 덧붙이면 전파의 의미가 구체적으로 다가온다. 용어는 나중에 붙이고 현상부터 보여 주는 순서가 이 개념에서는 특히 잘 통한다.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절부터 실물이 등장한다. 여기서 쓰는 SQL 한 문장이 3.5절과 3.6절에서 계속 재활용되므로, 조건 컬럼 두 개에 인덱스가 없다는 사실을 처음부터 분명히 해 둔다. 그 전제가 뒤에 나오는 filter 표시와 Full Scan 선택을 모두 설명해 준다. 예제가 하나뿐이라 단조로워 보일 수 있지만, 같은 문장을 두 도구로 각각 뽑아 비교하는 구성이므로 오히려 도구의 차이가 선명하게 드러난다는 점이 이 절의 설계 의도다. 예제 SQL을 미리 실습 환경에 붙여 넣어 두면 화면 전환 없이 바로 실행해 보일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아주 평범한 조회 문장이라는 점이 오히려 이 예제의 장점이다. 특별한 문법도 힌트도 없는 두 줄짜리 조건인데, 뒤에서 보게 될 Full Scan과 추정 오류가 모두 여기서 나온다. 학습자가 자기 코드에서 매일 쓰는 형태이기 때문에 남의 일이 아니라는 감각을 갖게 된다. 조건 컬럼 두 개에 인덱스가 없다는 사실을 판서로 크게 적어 두고 3.5절까지 지우지 않는 것을 권한다. 이 테이블의 인덱스가 기본키 하나뿐이라는 점도 함께 확인시켜 둔다. 실습 환경에서 인덱스 목록을 조회해 직접 확인시키면 전제가 훨씬 단단해진다.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도구의 차이를 손으로 익히게 하는 슬라이드다. EXPLAIN PLAN은 문장을 파싱만 하고 실행하지 않으므로 무거운 조회에도 부담 없이 쓸 수 있는 대신 실측값이 하나도 없다. DISPLAY_CURSOR는 방금 실행한 커서의 통계를 붙여 주므로 반드시 먼저 실행해야 하고, ALLSTATS LAST를 빠뜨리면 A-Rows와 Buffers가 나오지 않아 학습자가 자주 당황한다. 실습 중 값이 안 나온다는 질문이 들어오면 이 인자부터 확인하라고 미리 안내해 둔다. 두 명령을 학습자가 직접 한 번씩 실행해 보게 한 뒤 다음 슬라이드로 넘어가는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도구를 목적에 맞게 나눠 쓰는 습관이 이 장의 실무적 소득이다. 개발 중 계획의 모양만 빠르게 확인할 때는 EXPLAIN PLAN이 편하고, 실제로 느린 원인을 찾을 때는 반드시 DISPLAY_CURSOR를 써야 한다. 추정치만 보고 판단하다가 실측과 크게 어긋난 사례를 놓치는 일이 흔하다는 점을 3.6절 사례와 연결해 예고해 둔다. 두 도구가 서로를 대체하는 관계가 아니라 짝을 이루는 관계라는 점을 분명히 정리해 준다. 어느 상황에 어느 도구를 쓸지 한 문장으로 정리해 적어 두게 하면 실습에서 헤매지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단순한 형태의 계획이라 첫 판독 연습에 알맞다. 학습자에게 먼저 이 표에서 눈에 띄는 것을 말해 보라고 시키면 대개 Cost를 먼저 짚는데, 사실 여기서 가장 중요한 정보는 마지막 줄의 filter라는 낱말이다. 이 낱말 하나가 두 조건 모두 인덱스를 쓰지 못했다는 사실을 알려 준다. 표의 숫자보다 Predicate 영역을 먼저 보라는 순서를 여기서 잡아 준다. 계획을 볼 때마다 아래쪽부터 읽는 습관을 들이면 오진이 크게 줄어든다. 첫 계획인 만큼 서두르지 말고 한 칸씩 짚어 가며 충분히 시간을 들이는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두 가지를 못 박아야 한다. 하나는 Full Scan이 조건이 나빠서가 아니라 다른 선택지가 없어서 나온 결과라는 점이고, 다른 하나는 Rows 칸의 숫자가 결과 건수가 아니라 예상치라는 점이다. 두 번째를 놓치면 학습자는 이 조회가 칠만 건 넘게 나온다고 그대로 믿어 버리고, 3.6절에서 실제 값을 보고 나서야 뒤집히는 경험을 하게 된다. 그 반전을 강의 설계에 일부러 남겨 두었으므로 지금은 예상치라는 사실만 짚고 넘어간다. 뒤집히는 경험이 기억에 오래 남으므로 여기서 결론을 미리 말해 버리지 않도록 주의한다.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챕터 전체의 핵심이다. 여기서 익힌 컬럼 판독 기준이 이후 열한 챕터에서 계속 재사용된다. 시간이 부족하면 다른 절을 줄이더라도 이 절은 줄이지 말라고 권한다. 특히 Cost의 성격과 access와 filter의 구분 두 대목은 실습문제 8번과 9번에 그대로 연결된다. 여덟 장에 걸쳐 컬럼을 하나씩 해부하는 구성이라 자칫 지루해질 수 있으므로, 슬라이드마다 앞의 실행계획 화면으로 돌아가 해당 칸을 짚어 주는 방식으로 진행하는 것이 좋다. 여덟 장을 한 호흡으로 몰아치기보다 중간에 계획 화면으로 돌아가 숨을 고르는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표는 학습자가 실습 내내 옆에 두고 보는 참조표 역할을 한다. 오른쪽 성격 열이 핵심인데, 추정치와 실측치를 구분하는 습관이 서지 않으면 계획을 보며 엉뚱한 결론을 내린다. 특히 Rows와 A-Rows는 이름이 비슷해 헷갈리기 쉽고, 둘을 같은 값으로 착각하는 순간 3.6절에서 다룰 추정 오류 자체를 인지할 수 없게 된다. 이 표를 따로 인쇄해 나눠 주거나 화면 한쪽에 계속 띄워 두는 방식을 실습 시작 전에 안내한다. 표의 항목 중 실습에서 실제로 쓰는 것은 절반 남짓이라는 점을 알려 주면 부담이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Id를 실행 순서로 오해하는 것은 실행계획 판독에서 가장 흔한 실수다. 번호가 붙어 있고 위에서 아래로 늘어서 있으니 순서라고 믿게 되는데, 실제로는 정반대에 가깝다. Name 칸이 비어 있는 줄에 주목하라고 일러 두는 것도 유용하다. 그 줄은 데이터를 읽는 단계가 아니라 이미 읽어 온 것을 가공하는 단계이므로 성격이 전혀 다르다. 읽는 단계와 가공하는 단계를 구분해 두면 뒤에 나오는 조인과 집계 계획이 훨씬 또렷하게 보인다. 이 구분이 서면 계획을 처음 볼 때 어디부터 읽어야 할지가 저절로 정해진다.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용어를 정확히 쓰는 습관을 강조할 자리다. 회의에서 이 쿼리는 팔만 건 나옵니다라고 말했는데 실제로는 사백 건이었다면 그 뒤에 이어지는 모든 판단이 흔들린다. 예상이라는 낱말 하나를 붙이는 것만으로 오해를 막을 수 있다. 실습문제 2번이 정확히 이 지점을 서술형으로 묻고 있으므로 미리 연결해 준다. 보고서나 인수인계 문서에도 예상 몇 건, 실제 몇 건을 나눠 적는 양식을 쓰라고 실무 지침으로 덧붙이면 좋다. 용어를 정확히 쓰는 것만으로 회의에서의 오해가 상당 부분 사라진다는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Cost는 학습자가 가장 먼저 눈길을 주면서 가장 크게 오해하는 컬럼이다. 단위가 없다는 사실을 분명히 말해 주는 것이 좋다. 단위가 없으니 초로 바꿔 읽을 수도 없고 다른 쿼리와 견줄 수도 없다. 튜닝 결과를 보고할 때 Cost가 절반으로 줄었습니다라고만 쓰면 근거가 되지 못하며, 실측 지표를 함께 붙여야 한다는 실무 지침으로 마무리한다. Cost가 낮은 계획이 실제로는 더 느렸던 사례가 드물지 않다는 점도 경험담으로 덧붙인다. 단위가 없다는 한마디를 여러 번 반복해도 좋을 만큼 자주 오해되는 대목이다.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9번의 정답 근거를 그대로 담고 있으므로 강의 중 한 번 더 힘주어 말해야 한다. 두 쿼리의 Cost가 비슷하다는 관찰 자체는 사실이지만 거기서 실행 시간도 비슷하다는 결론을 끌어내는 순간 틀린다. 값이 비슷한 것이 오히려 함정이라는 점, 우연히 두 계획 모두 같은 큰 테이블을 훑었을 뿐이라는 점을 짚어 준다. 같은 SQL의 대안 계획을 비교할 때만 유효하다는 조건을 학습자가 그대로 말할 수 있을 때까지 반복시킨다. 이 조건을 놓치면 실습문제 9번에서 그대로 오답으로 이어지므로 확인 질문을 한 번 던진다.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access와 filter의 차이를 도서관에 빗대면 잘 통한다. 색인을 보고 해당 책장으로 곧장 가는 것이 access이고, 서가를 처음부터 끝까지 훑으며 표지를 하나씩 확인하는 것이 filter다. 결과가 같아도 들인 노력이 전혀 다르다는 감각이 중요하다. 조건을 잘 썼는데도 느리다는 상담이 들어오면 여기부터 확인하라고 안내한다. 읽는 양이 줄었는지 결과만 줄었는지가 두 낱말을 가르는 기준이라는 정리로 마무리한다. 두 낱말의 구분은 이후 모든 챕터에서 인덱스 효과를 확인하는 기본 도구로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인덱스를 만들었는데 효과가 없다는 문의가 들어오면 십중팔구 여기서 답이 나온다. 계획의 오퍼레이션 이름만 훑고 인덱스를 탔다고 판단하는 경우가 많은데, 실제로 그 조건이 읽을 범위를 줄이는 데 쓰였는지는 Predicate 영역을 봐야만 알 수 있다. 3.8절 Q6 계획에서 같은 조건이 양쪽으로 갈리는 장면을 직접 보게 된다. 조건식의 모양이 아니라 컬럼의 인덱스 유무가 갈림길이라는 결론을 학습자 입으로 말하게 한다. 진단 순서를 계획부터 보고 다음에 인덱스 목록을 보는 식으로 고정해 두면 실수가 준다.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규칙은 두 줄뿐이지만 손에 붙기까지는 반복이 필요하다. 화면에서 들여쓰기를 손가락으로 짚어 가며 가장 깊은 줄을 먼저 찾는 시범을 한 번 보여 주는 것이 설명보다 효과적이다. 같은 레벨에서 아래쪽이 먼저라는 두 번째 규칙은 조인이 등장해야 의미가 살아나므로, 지금은 규칙만 외워 두고 3.8절에서 확인하자고 예고해 둔다. 실습문제 7번이 이 규칙을 여섯 단계짜리 계획에 적용하는 문항이라는 점도 함께 알려 준다. 이 규칙은 짧으니 학습자에게 그 자리에서 소리 내어 두 번 따라 말하게 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판독이 왜 필요한지를 수치로 증명하는 구간이다. 앞에서 본 예상 계획만으로는 아무 문제도 보이지 않았지만, 실제로 실행해 보면 예상과 실제가 크게 어긋나 있다. 같은 SQL을 두 도구로 각각 확인해야 하는 이유가 여기서 분명해진다. 원인을 설명하는 대목이 다소 추상적이므로 확률의 곱셈이라는 비유를 준비해 두면 좋고, 대응 방법은 ch08의 몫이라는 경계도 미리 그어 둔다. 수치가 등장하는 절이므로 화면의 값을 학습자가 직접 읽게 하는 진행이 몰입에 도움이 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슬라이드의 예상 계획과 나란히 놓고 보게 하는 것이 가장 효과적이다. 오퍼레이션 이름도 같고 대상 테이블도 같아서 얼핏 같은 계획으로 보이지만, 붙어 있는 컬럼이 다르다. 여기서 E-Rows 칸과 A-Rows 칸을 손가락으로 짚어 두 값을 소리 내어 읽게 하면 차이가 훨씬 인상적으로 남는다. 학습자에게 이 정도 차이가 왜 문제인지 먼저 물어보고 이어 가는 것을 권한다. 답이 바로 나오지 않아도 다음 세 장에서 차근차근 풀어 준다. 두 계획을 한 화면에 나란히 띄울 수 있으면 설명이 절반으로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 세 개를 함께 읽는 훈련을 시킨다. A-Rows가 사백 건대인데 Buffers가 삼천 대라는 조합은 사백 건을 얻으려고 테이블 전체를 훑었다는 뜻이다. 결과는 적은데 읽은 양이 많다는 이 불균형이야말로 튜닝 대상을 찾아내는 대표적인 신호다. Starts 컬럼은 지금은 값이 하나라 밋밋해 보이지만 반복 수행되는 단계에서는 결정적인 정보가 된다고 예고해 둔다. 세 값을 묶어 읽는 습관이 이 장에서 가져갈 가장 실용적인 기술이다. 읽은 양과 얻은 결과를 함께 보라는 이 관점이 이후 모든 비교의 기본 잣대가 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확률에서 독립 사건의 곱셈 법칙을 떠올리게 하면 이해가 빠르다. 동전 두 개를 던질 때는 곱해도 되지만, 키가 큰 사람과 몸무게가 많이 나가는 사람처럼 서로 연관된 성질을 곱하면 실제와 어긋난다. 데이터베이스의 컬럼들은 대부분 후자에 가깝다는 점이 문제의 본질이다. 업무적으로 연관된 컬럼을 함께 조건으로 걸 때 특히 주의하라고 안내한다. 입원 여부와 진료비처럼 업무 지식으로는 뻔한 연관도 옵티마이저에게는 보이지 않는다. 업무 지식으로 뻔한 관계일수록 옵티마이저가 놓치기 쉽다는 역설을 강조해 둔다.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대목에서 학습자가 자주 던지는 질문이 옵티마이저가 그 정도는 알아서 해 줘야 하는 것 아니냐는 것이다. 모든 컬럼 조합의 상관관계를 미리 계산해 두려면 조합 폭발이 일어나므로 현실적으로 불가능하다는 점을 설명하면 납득한다. 그래서 상관관계가 실제로 문제되는 조합만 골라 사람이 확장 통계를 만들어 주는 방식을 쓰며, 그 방법은 ch08에서 다룬다. 오차의 방향이 항상 과대 추정인 것은 아니라는 점도 함께 짚어 준다. 기본 동작을 이해하면 옵티마이저를 탓하는 대신 무엇을 알려 줘야 하는지를 묻게 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전파라는 성질이 이 절에서 가장 중요한 개념이다. 사백 건짜리 집합을 팔만 건으로 알고 있으면 옵티마이저는 큰 집합끼리의 조인이라 판단해 해시 조인을 고르고 메모리도 넉넉히 잡는다. 반대로 작은 집합이었다면 다른 선택이 유리했을 수 있다. 눈앞의 단계 하나가 아니라 계획 전체가 어긋난다는 점, 그래서 추정치를 항상 의심하며 읽어야 한다는 점으로 마무리한다. 실습문제 2번이 바로 이 전파 경로를 서술하게 하는 문항이다. 전파라는 낱말 하나로 이 절 전체를 요약할 수 있다는 점을 마무리로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판독 단계에서 할 일과 대응 단계에서 할 일을 구분해 주는 슬라이드다. 이 장에서 요구하는 것은 계획을 보고 여기가 이상하다고 짚어 내는 데까지이고, 통계를 다시 수집하거나 확장 통계를 만드는 것은 아직 이르다. 오히려 원인을 갈래 짓지 않은 채 통계부터 다시 수집하면 우연히 좋아졌을 때 왜 좋아졌는지 설명할 수 없게 된다는 점을 경고해 둔다. 몇 배부터 의심할지는 상황에 따라 다르지만 자릿수가 달라지면 무조건 들여다본다. 판독과 대응의 경계를 분명히 해 두면 학습자가 지금 무엇을 해야 하는지 헷갈리지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짧지만 반드시 필요한 절이다. 앞에서 문제를 실컷 보여 주고 고치지 않은 채 넘어가면 학습자가 답답해하므로, 남겨 두는 것이 아니라 예약해 두는 것임을 분명히 말해 준다. 어느 챕터에서 이어받는지 정확한 번호로 안내하는 것이 신뢰를 준다. 한 장짜리 구간이니 길게 끌 필요는 없고, 판독이 먼저이고 설계가 나중이라는 순서만 다시 확인시키고 3.8절로 넘어가면 된다. 한 장짜리 절이니 흐름을 끊지 말고 곧바로 다음 절의 비교표로 이어 가는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인덱스를 하나 만들어 보여 주고 싶은 유혹이 생기지만 참는 편이 낫다. 근거 없이 만든 인덱스가 우연히 잘 들으면 학습자는 인덱스를 만들면 빨라진다는 잘못된 일반화를 가져가게 된다. ch05에서 선택도를 배우고 ch06에서 컬럼 순서를 배운 뒤에 이 사례로 돌아오면 같은 조치를 근거를 갖고 설명할 수 있다고 예고한다. 지금 답을 주지 않는 것이 오히려 나중을 위한 설계라는 점을 솔직하게 말해 주면 학습자도 수긍한다. 답을 미루는 이유를 설명해 두면 학습자가 남은 챕터를 기다리는 마음으로 듣게 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지금까지 배운 판독 기준을 실제 계획 여섯 개에 적용해 보는 종합 구간이다. 여섯 패턴 모두 인덱스를 새로 만들지 않고 기존 PK 인덱스만으로 관찰했다는 점이 중요하다. 같은 인덱스가 조건 성격에 따라 네 가지 다른 오퍼레이션으로 나타나는 장면을 한자리에서 보여 준다. 계획을 한 장씩 넘기며 학습자에게 먼저 읽어 보게 하고 그다음 해설 슬라이드로 답을 맞추는 진행이 이 절의 설계 의도다. 여섯 계획을 모두 읽고 나면 이 장의 목표가 자연스럽게 달성되므로 시간을 넉넉히 잡는다.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세로로 읽는 순서를 정해 준다. 먼저 Buffers 열만 훑으면 인덱스를 탄 조회들과 전체를 훑은 조회들이 자릿수 단위로 갈린다는 사실이 한눈에 들어온다. 읽은 양이 이만큼 차이 나는 이유가 조건이 인덱스를 탔는지 여부 하나로 갈렸다는 점을 확인시킨다. 다음으로 Operation 열을 보며 같은 PK 인덱스가 네 가지 이름으로 나타난 것을 짚는다. 마지막 열의 힌트 주석은 재현할 때 반드시 필요한 조건이므로 놓치지 않고 읽어 준다. 표를 먼저 보여 주고 각 행을 따로 펼치는 구성이라 전체 지도를 먼저 그려 주는 셈이다.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Scan이 무조건 나쁘다는 오해를 여기서 한 번 눌러 준다. 조건을 만족하는 행이 전체의 상당 비율이라면 인덱스를 타는 것보다 전부 읽는 편이 오히려 빠르다. 판단 기준이 되는 선택도 개념은 ch05의 주제이므로 지금은 비율을 확인해야 한다는 점만 남긴다. 다만 이 사례처럼 결과가 사백 건대인데 전부 읽었다면 개선 여지가 크다. 나쁜 계획이 아니라 확인이 필요한 계획이라는 표현으로 정리해 주는 것이 정확하다. 판단을 유보할 줄 아는 태도가 이 과정 전체에서 요구하는 자세라는 점을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순서를 처음으로 적용해 보는 계획이다. 들여쓰기가 가장 깊은 단계가 먼저 실행되어 인덱스에서 위치를 찾고, 그 결과를 받은 위쪽 단계가 테이블에서 행을 가져온다. 인덱스에는 키 값과 주소만 들어 있어 나머지 컬럼을 얻으려면 테이블을 한 번 더 방문해야 한다는 사실이 두 단계로 나뉜 이유다. Predicate가 access로 표시된 점도 함께 확인시킨다. 읽은 블록 수가 한 자릿수로 끝났다는 점이 앞의 Full Scan과 대비된다. 두 단계로 나뉜 이유를 학습자가 스스로 말할 수 있으면 인덱스 구조를 이해한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계획과 나란히 놓고 보면 구조는 똑같은데 오퍼레이션 이름 두 곳이 다르다. 인덱스 쪽은 UNIQUE에서 RANGE로 바뀌었고, 테이블 접근 쪽에는 BATCHED가 붙었다. 이름이 왜 갈렸는지를 학습자에게 먼저 추론하게 한 뒤 다음 슬라이드에서 답을 맞춰 보는 진행이 효과적이다. 추정 행 수와 실제 행 수가 거의 맞아떨어진 점도 짚어 준다. 기본키 범위 조건은 통계가 잘 맞는 대표적인 경우라 추정 오류 사례와 좋은 대조가 된다. 두 계획을 번갈아 보여 주며 다른 곳을 찾게 하는 방식이 설명보다 훨씬 오래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오퍼레이션 이름이 조건의 성격을 그대로 반영한다는 사실을 확인하는 자리다. 같은 인덱스인데도 등치냐 범위냐에 따라 이름이 달라지므로, 이름만 보고도 어떤 조건이었는지 역으로 추측할 수 있다. BATCHED는 여러 주소를 모아 가까운 블록끼리 묶어 읽는 방식이라, 흩어진 행을 하나씩 찾아가는 것보다 접근 효율이 좋아진다는 점을 덧붙인다. 단건 조회에는 묶을 것이 없어 붙지 않았다는 설명까지 해 주면 두 계획의 차이가 완전히 정리된다. 네 가지 스캔 이름을 한자리에 정리해 두면 이후 챕터에서 반복 설명할 필요가 없어진다.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학습자에게 이 계획에서 없는 것을 찾아보라고 물으면 좋다. 정렬을 요구하는 절이 분명히 있는데 SORT라는 오퍼레이션이 어디에도 없다. 큰 테이블에서 다섯 건만 뽑으면서 읽은 블록 수가 한 자릿수로 끝났다는 점도 놀라운 대목이다. 다만 이 계획은 힌트로 강제한 결과이므로, 힌트 없이 그대로 실행하면 다른 계획이 나올 수 있다는 단서를 반드시 함께 붙인다. 아래 Predicate 두 줄이 윈도 함수로 변환된 흔적이라는 점도 미리 가리켜 둔다. 없는 것을 찾게 하는 질문은 계획 판독 훈련에서 매우 효과적이니 자주 활용한다.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오퍼레이션 이름을 낱말 단위로 끊어 읽는 방법을 실제로 시연하는 슬라이드다. 세 낱말이 각각 하나의 최적화를 가리키고 그것이 합쳐져 하나의 이름이 되었다는 구조를 보여 주면, 처음 보는 긴 이름도 겁내지 않게 된다. 인덱스가 정렬된 상태로 저장된다는 성질은 앞으로 정렬 제거나 페이징 처리에서 계속 활용되므로 여기서 확실히 심어 둔다. 힌트로 강제한 예제라는 단서를 빠뜨리면 항상 이 계획이 나온다고 오해하기 쉽다. 이름을 쪼개 읽는 요령은 다른 오퍼레이션에도 그대로 적용되므로 여기서 확실히 익힌다.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계획의 특징은 Name 칸에 테이블 이름이 아예 없다는 점이다. 전체 건수를 세면서도 테이블을 한 번도 건드리지 않았다. 학습자에게 그것이 어떻게 가능한지 먼저 묻고, 기본키 제약과 널 값의 관계에서 답을 끌어내도록 유도한다. 인덱스에 필요한 정보가 전부 있으면 테이블을 생략할 수 있다는 원리는 이후 커버링 인덱스 개념으로 이어진다. 같은 테이블을 훑었는데도 앞의 Full Scan보다 읽은 블록이 적다는 점도 함께 짚어 준다. 테이블을 건드리지 않았다는 사실 하나만으로도 학습자의 흥미를 끌기에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오퍼레이션의 차이는 순서를 지켜야 하느냐 하나로 갈린다. 순서를 지켜야 하면 잎사귀를 하나씩 따라가야 하고, 지키지 않아도 되면 통째로 퍼올릴 수 있어 이름에 FAST가 붙는다. 집계는 순서가 필요 없으니 후자가 선택된 것이다. 같은 테이블을 대상으로 했는데 읽은 블록 수가 달라진 이유가 접근 방식 차이라는 점을 앞의 Full Scan 사례와 나란히 비교시킨다. 기본키에 널이 없다는 제약이 이 최적화의 전제라는 점을 다시 확인한다. 순서를 지켜야 하느냐라는 질문 하나로 두 이름을 구분하게 하는 것이 이 슬라이드의 목표다.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가장 공을 들여야 할 계획이다. 앞의 다섯 패턴이 한 화면에 모여 있어 종합 판독 연습에 알맞다. 먼저 들여쓰기 깊이만 손가락으로 짚어 실행 순서를 세우게 하고, 그다음 Predicate 세 줄을 읽어 조건이 어디서 어떻게 쓰였는지 확인시킨다. 특히 아래 두 줄에서 같은 조건이 access와 filter로 갈린 장면은 실습문제 8번의 소재이므로 놓치지 않는다. 화면을 오래 띄워 두고 학습자가 직접 순서를 적게 하는 시간을 반드시 확보한다. 이 계획 한 장을 제대로 읽으면 이 장에서 배운 것을 모두 쓴 셈이 된다.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순서를 학습자가 직접 적어 보게 한 뒤 답을 맞추는 방식이 좋다. Id 번호대로 읽으면 조인이 먼저 나오고 그 재료가 나중에 나오는 이상한 순서가 되므로, 들여쓰기 규칙의 필요성이 저절로 드러난다. 해시 조인이 작은 쪽을 빌드 입력으로 고르는 이유는 메모리에 올릴 양을 줄이기 위해서이며, 자세한 원리는 ch09에서 다룬다고 안내한다. 작은 테이블은 인덱스로 큰 테이블은 전체 훑기로 처리된 대비도 함께 짚어 준다. 조인 방식의 상세는 다음 기회로 미루되 빌드와 탐침이라는 두 낱말만은 남겨 둔다.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여덟 줄은 이 장의 판독 기준을 압축한 것이다. 학습자에게 이 화면을 캡처해 두고 이후 챕터의 실습 내내 옆에 띄워 두라고 권한다. 특히 두 번째와 여섯 번째 줄은 앞으로 매 챕터에서 반복해서 쓰이므로 완전히 몸에 붙어야 한다. 마지막 줄의 추정 오류는 원인이 통계 미갱신, 상관관계 미반영, 히스토그램 부재 셋 중 하나인 경우가 대부분이다. 여덟 줄을 학습자가 보지 않고 말할 수 있으면 이 장의 목표는 달성된 것이다. 요약을 읽고 나서 학습자에게 가장 새로웠던 한 줄을 꼽아 보게 하면 정리가 잘 된다.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문제가 아니라 주어진 계획을 읽고 근거를 대는 서술형 위주다. 채점 기준은 결론이 맞았는지보다 어떤 컬럼의 어떤 값을 근거로 삼았는지에 두라고 안내한다. 마지막 문항은 정답이 하나가 아니라 근거가 타당하면 인정하는 형태이므로, 학습자들끼리 서로 다른 시나리오를 고른 뒤 토론시키는 방식이 잘 맞는다. 실습 중 인덱스나 통계를 임의로 바꾸면 계획이 재현되지 않으니 반드시 미리 공지한다. 문제지는 교안의 실행계획을 그대로 소재로 삼으므로 교안을 옆에 두고 풀도록 안내한다.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ch03</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실행계획 기초</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실행계획 트리 · 오퍼레이션 판독 · Cost와 Rows · access vs filter · 카디널리티 추정 오류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실행계획을 옵티마이저가 만든 처리 절차의 트리로 설명한다</a:t>
            </a:r>
          </a:p>
          <a:p>
            <a:r>
              <a:rPr sz="1600" b="0">
                <a:solidFill>
                  <a:srgbClr val="5A6672"/>
                </a:solidFill>
                <a:latin typeface="Malgun Gothic"/>
              </a:rPr>
              <a:t>    –  EXPLAIN PLAN과 DBMS_XPLAN.DISPLAY_CURSOR를 목적에 맞게 구분해 사용한다</a:t>
            </a:r>
          </a:p>
          <a:p>
            <a:r>
              <a:rPr sz="1600" b="0">
                <a:solidFill>
                  <a:srgbClr val="5A6672"/>
                </a:solidFill>
                <a:latin typeface="Malgun Gothic"/>
              </a:rPr>
              <a:t>    –  Id·Operation·Name·Rows·Bytes·Cost 컬럼의 의미를 각각 설명한다</a:t>
            </a:r>
          </a:p>
          <a:p>
            <a:r>
              <a:rPr sz="1600" b="0">
                <a:solidFill>
                  <a:srgbClr val="5A6672"/>
                </a:solidFill>
                <a:latin typeface="Malgun Gothic"/>
              </a:rPr>
              <a:t>    –  Cost가 시간이 아니라 무차원 상대 지표임을 근거를 들어 설명한다</a:t>
            </a:r>
          </a:p>
          <a:p>
            <a:r>
              <a:rPr sz="1600" b="0">
                <a:solidFill>
                  <a:srgbClr val="5A6672"/>
                </a:solidFill>
                <a:latin typeface="Malgun Gothic"/>
              </a:rPr>
              <a:t>    –  Predicate Information의 access와 filter를 구분해 인덱스 활용 여부를 판별한다</a:t>
            </a:r>
          </a:p>
          <a:p>
            <a:r>
              <a:rPr sz="1600" b="0">
                <a:solidFill>
                  <a:srgbClr val="5A6672"/>
                </a:solidFill>
                <a:latin typeface="Malgun Gothic"/>
              </a:rPr>
              <a:t>    –  들여쓰기 깊이를 근거로 실행 순서를 Id 순서와 구분해 읽는다</a:t>
            </a:r>
          </a:p>
          <a:p>
            <a:r>
              <a:rPr sz="1600" b="0">
                <a:solidFill>
                  <a:srgbClr val="5A6672"/>
                </a:solidFill>
                <a:latin typeface="Malgun Gothic"/>
              </a:rPr>
              <a:t>    –  E-Rows와 A-Rows의 차이로 카디널리티 추정 오류를 진단한다</a:t>
            </a:r>
          </a:p>
          <a:p>
            <a:r>
              <a:rPr sz="1600" b="0">
                <a:solidFill>
                  <a:srgbClr val="5A6672"/>
                </a:solidFill>
                <a:latin typeface="Malgun Gothic"/>
              </a:rPr>
              <a:t>    –  추정 오류가 조인 순서·조인 방식으로 전파되는 경로를 설명한다</a:t>
            </a:r>
          </a:p>
          <a:p>
            <a:r>
              <a:rPr sz="1600" b="0">
                <a:solidFill>
                  <a:srgbClr val="5A6672"/>
                </a:solidFill>
                <a:latin typeface="Malgun Gothic"/>
              </a:rPr>
              <a:t>    –  같은 PK 인덱스가 조건 성격에 따라 다른 오퍼레이션으로 갈리는 이유를 설명한다</a:t>
            </a:r>
          </a:p>
          <a:p>
            <a:r>
              <a:rPr sz="1600" b="0">
                <a:solidFill>
                  <a:srgbClr val="5A6672"/>
                </a:solidFill>
                <a:latin typeface="Malgun Gothic"/>
              </a:rPr>
              <a:t>    –  UNIQUE·RANGE·FULL·FAST FULL SCAN 네 가지를 서로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3.1  Why — 실행계획을 확인해야만 원인을 특정할 수 있다</a:t>
            </a:r>
          </a:p>
          <a:p>
            <a:r>
              <a:rPr sz="1800" b="0">
                <a:solidFill>
                  <a:srgbClr val="202830"/>
                </a:solidFill>
                <a:latin typeface="Malgun Gothic"/>
              </a:rPr>
              <a:t>•  3.2  Concept — 실행계획이란 무엇인가 · 오퍼레이션 단위</a:t>
            </a:r>
          </a:p>
          <a:p>
            <a:r>
              <a:rPr sz="1800" b="0">
                <a:solidFill>
                  <a:srgbClr val="202830"/>
                </a:solidFill>
                <a:latin typeface="Malgun Gothic"/>
              </a:rPr>
              <a:t>•  3.3  Oracle Internals — CBO와 통계정보</a:t>
            </a:r>
          </a:p>
          <a:p>
            <a:r>
              <a:rPr sz="1800" b="0">
                <a:solidFill>
                  <a:srgbClr val="202830"/>
                </a:solidFill>
                <a:latin typeface="Malgun Gothic"/>
              </a:rPr>
              <a:t>•  3.4  Example — 첫 실행계획 뽑아 보기</a:t>
            </a:r>
          </a:p>
          <a:p>
            <a:r>
              <a:rPr sz="1800" b="0">
                <a:solidFill>
                  <a:srgbClr val="202830"/>
                </a:solidFill>
                <a:latin typeface="Malgun Gothic"/>
              </a:rPr>
              <a:t>•  3.5  Execution Plan — 컬럼별 판독 기준 · access vs filter</a:t>
            </a:r>
          </a:p>
          <a:p>
            <a:r>
              <a:rPr sz="1800" b="0">
                <a:solidFill>
                  <a:srgbClr val="202830"/>
                </a:solidFill>
                <a:latin typeface="Malgun Gothic"/>
              </a:rPr>
              <a:t>•  3.6  Bad SQL — 카디널리티 추정 오류 사례</a:t>
            </a:r>
          </a:p>
          <a:p>
            <a:r>
              <a:rPr sz="1800" b="0">
                <a:solidFill>
                  <a:srgbClr val="202830"/>
                </a:solidFill>
                <a:latin typeface="Malgun Gothic"/>
              </a:rPr>
              <a:t>•  3.7  Tuning 예고 — 이 차시에서 남겨 두는 것</a:t>
            </a:r>
          </a:p>
          <a:p>
            <a:r>
              <a:rPr sz="1800" b="0">
                <a:solidFill>
                  <a:srgbClr val="202830"/>
                </a:solidFill>
                <a:latin typeface="Malgun Gothic"/>
              </a:rPr>
              <a:t>•  3.8  Benchmark — 주요 Operation 6종 비교</a:t>
            </a:r>
          </a:p>
          <a:p>
            <a:r>
              <a:rPr sz="1800" b="0">
                <a:solidFill>
                  <a:srgbClr val="202830"/>
                </a:solidFill>
                <a:latin typeface="Malgun Gothic"/>
              </a:rPr>
              <a:t>•  요약 (Review) · 실습 안내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실행계획을 왜 읽어야 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체감으로는 원인을 특정할 수 없다</a:t>
            </a:r>
          </a:p>
          <a:p>
            <a:r>
              <a:rPr sz="1600" b="0">
                <a:solidFill>
                  <a:srgbClr val="C5CED6"/>
                </a:solidFill>
                <a:latin typeface="Malgun Gothic"/>
              </a:rPr>
              <a:t>•  SQL 문장만으로는 처리 방식을 알 수 없다</a:t>
            </a:r>
          </a:p>
          <a:p>
            <a:r>
              <a:rPr sz="1600" b="0">
                <a:solidFill>
                  <a:srgbClr val="C5CED6"/>
                </a:solidFill>
                <a:latin typeface="Malgun Gothic"/>
              </a:rPr>
              <a:t>•  본 차시의 범위 — 튜닝이 아니라 판독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체감으로는 원인을 특정할 수 없다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SQL이 느린 이유는 실행계획을 확인해야 파악할 수 있다</a:t>
            </a:r>
          </a:p>
          <a:p>
            <a:r>
              <a:rPr sz="1600" b="0">
                <a:solidFill>
                  <a:srgbClr val="5A6672"/>
                </a:solidFill>
                <a:latin typeface="Malgun Gothic"/>
              </a:rPr>
              <a:t>    –  '느린 것 같다'는 체감만으로는 원인 특정이 불가능하다</a:t>
            </a:r>
          </a:p>
          <a:p>
            <a:r>
              <a:rPr sz="1600" b="0">
                <a:solidFill>
                  <a:srgbClr val="5A6672"/>
                </a:solidFill>
                <a:latin typeface="Malgun Gothic"/>
              </a:rPr>
              <a:t>    –  Full Scan 때문인지, 잘못된 조인 순서 때문인지, 통계정보 부정확 때문인지</a:t>
            </a:r>
          </a:p>
          <a:p>
            <a:r>
              <a:rPr sz="1600" b="0">
                <a:solidFill>
                  <a:srgbClr val="5A6672"/>
                </a:solidFill>
                <a:latin typeface="Malgun Gothic"/>
              </a:rPr>
              <a:t>    –  이 셋은 조치 방향이 전혀 다르므로 반드시 구분해야 한다</a:t>
            </a:r>
          </a:p>
          <a:p>
            <a:r>
              <a:rPr sz="1800" b="0">
                <a:solidFill>
                  <a:srgbClr val="202830"/>
                </a:solidFill>
                <a:latin typeface="Malgun Gothic"/>
              </a:rPr>
              <a:t>•  원인을 모르면 조치도 근거 없이 고르게 된다</a:t>
            </a:r>
          </a:p>
          <a:p>
            <a:r>
              <a:rPr sz="1600" b="0">
                <a:solidFill>
                  <a:srgbClr val="5A6672"/>
                </a:solidFill>
                <a:latin typeface="Malgun Gothic"/>
              </a:rPr>
              <a:t>    –  인덱스를 만들어야 할지, SQL을 고쳐야 할지 판단할 재료가 없다</a:t>
            </a:r>
          </a:p>
          <a:p>
            <a:r>
              <a:rPr sz="1600" b="0">
                <a:solidFill>
                  <a:srgbClr val="5A6672"/>
                </a:solidFill>
                <a:latin typeface="Malgun Gothic"/>
              </a:rPr>
              <a:t>    –  근거 없이 고른 조치는 우연히 맞아도 재현·설명이 되지 않는다</a:t>
            </a:r>
          </a:p>
          <a:p>
            <a:r>
              <a:rPr sz="1800" b="0">
                <a:solidFill>
                  <a:srgbClr val="202830"/>
                </a:solidFill>
                <a:latin typeface="Malgun Gothic"/>
              </a:rPr>
              <a:t>•  실행계획은 그 판단에 쓸 수 있는 1차 자료다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문장만으로는 처리 방식을 알 수 없다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동일한 결과를 내는 SQL이라도 Oracle의 처리 방식은 문장만으로 판단 불가</a:t>
            </a:r>
          </a:p>
          <a:p>
            <a:r>
              <a:rPr sz="1600" b="0">
                <a:solidFill>
                  <a:srgbClr val="5A6672"/>
                </a:solidFill>
                <a:latin typeface="Malgun Gothic"/>
              </a:rPr>
              <a:t>    –  Full Scan인지 Index Scan인지, 어떤 조인 방식인지는 문장에 적혀 있지 않다</a:t>
            </a:r>
          </a:p>
          <a:p>
            <a:r>
              <a:rPr sz="1600" b="0">
                <a:solidFill>
                  <a:srgbClr val="5A6672"/>
                </a:solidFill>
                <a:latin typeface="Malgun Gothic"/>
              </a:rPr>
              <a:t>    –  SQL은 원하는 결과를 기술할 뿐 가져오는 방법을 지정하지 않는다</a:t>
            </a:r>
          </a:p>
          <a:p>
            <a:r>
              <a:rPr sz="1800" b="0">
                <a:solidFill>
                  <a:srgbClr val="202830"/>
                </a:solidFill>
                <a:latin typeface="Malgun Gothic"/>
              </a:rPr>
              <a:t>•  옵티마이저가 상황에 따라 매번 다른 방법을 선택할 수 있기 때문</a:t>
            </a:r>
          </a:p>
          <a:p>
            <a:r>
              <a:rPr sz="1600" b="0">
                <a:solidFill>
                  <a:srgbClr val="5A6672"/>
                </a:solidFill>
                <a:latin typeface="Malgun Gothic"/>
              </a:rPr>
              <a:t>    –  데이터 분포 · 통계정보 · 인덱스 존재 여부에 따라 선택이 달라진다</a:t>
            </a:r>
          </a:p>
          <a:p>
            <a:r>
              <a:rPr sz="1600" b="0">
                <a:solidFill>
                  <a:srgbClr val="5A6672"/>
                </a:solidFill>
                <a:latin typeface="Malgun Gothic"/>
              </a:rPr>
              <a:t>    –  어제 인덱스를 타던 SQL이 오늘 Full Scan으로 바뀔 수 있다</a:t>
            </a:r>
          </a:p>
          <a:p>
            <a:r>
              <a:rPr sz="1800" b="0">
                <a:solidFill>
                  <a:srgbClr val="202830"/>
                </a:solidFill>
                <a:latin typeface="Malgun Gothic"/>
              </a:rPr>
              <a:t>•  그래서 '이 SQL은 인덱스를 탈 것이다'는 예상이 아니라 확인의 대상이다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본 차시의 범위 — 튜닝이 아니라 판독</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본 차시 범위는 튜닝이 아니라 실행계획 판독이다</a:t>
            </a:r>
          </a:p>
          <a:p>
            <a:r>
              <a:rPr sz="1600" b="0">
                <a:solidFill>
                  <a:srgbClr val="5A6672"/>
                </a:solidFill>
                <a:latin typeface="Malgun Gothic"/>
              </a:rPr>
              <a:t>    –  인덱스 설계·SQL 재작성 같은 실제 개선 조치는 다루지 않는다</a:t>
            </a:r>
          </a:p>
          <a:p>
            <a:r>
              <a:rPr sz="1800" b="0">
                <a:solidFill>
                  <a:srgbClr val="202830"/>
                </a:solidFill>
                <a:latin typeface="Malgun Gothic"/>
              </a:rPr>
              <a:t>•  이후 모든 챕터에서 "이 방법이 왜 더 나은지"를 실행계획으로 증명해야 한다</a:t>
            </a:r>
          </a:p>
          <a:p>
            <a:r>
              <a:rPr sz="1600" b="0">
                <a:solidFill>
                  <a:srgbClr val="5A6672"/>
                </a:solidFill>
                <a:latin typeface="Malgun Gothic"/>
              </a:rPr>
              <a:t>    –  판독 능력이 그 증명의 전제 조건이다</a:t>
            </a:r>
          </a:p>
          <a:p>
            <a:r>
              <a:rPr sz="1600" b="0">
                <a:solidFill>
                  <a:srgbClr val="5A6672"/>
                </a:solidFill>
                <a:latin typeface="Malgun Gothic"/>
              </a:rPr>
              <a:t>    –  증명 없는 개선은 개선이 아니라 변경일 뿐이다</a:t>
            </a:r>
          </a:p>
          <a:p>
            <a:r>
              <a:rPr sz="1800" b="0">
                <a:solidFill>
                  <a:srgbClr val="202830"/>
                </a:solidFill>
                <a:latin typeface="Malgun Gothic"/>
              </a:rPr>
              <a:t>•  본 차시는 인덱스를 신규 생성하지 않는다</a:t>
            </a:r>
          </a:p>
          <a:p>
            <a:r>
              <a:rPr sz="1600" b="0">
                <a:solidFill>
                  <a:srgbClr val="5A6672"/>
                </a:solidFill>
                <a:latin typeface="Malgun Gothic"/>
              </a:rPr>
              <a:t>    –  기존 PK 인덱스(HOSPITALS, PATIENTS, MEDICAL_CLAIMS 등)만으로 진행한다</a:t>
            </a:r>
          </a:p>
          <a:p>
            <a:r>
              <a:rPr sz="1600" b="0">
                <a:solidFill>
                  <a:srgbClr val="5A6672"/>
                </a:solidFill>
                <a:latin typeface="Malgun Gothic"/>
              </a:rPr>
              <a:t>    –  스키마를 손대지 않아야 교안의 실행계획이 그대로 재현된다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실행계획이란 무엇인가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실행계획의 정의 — 처리 절차의 트리 표현</a:t>
            </a:r>
          </a:p>
          <a:p>
            <a:r>
              <a:rPr sz="1600" b="0">
                <a:solidFill>
                  <a:srgbClr val="C5CED6"/>
                </a:solidFill>
                <a:latin typeface="Malgun Gothic"/>
              </a:rPr>
              <a:t>•  노드 하나 = 물리적 작업 하나</a:t>
            </a:r>
          </a:p>
          <a:p>
            <a:r>
              <a:rPr sz="1600" b="0">
                <a:solidFill>
                  <a:srgbClr val="C5CED6"/>
                </a:solidFill>
                <a:latin typeface="Malgun Gothic"/>
              </a:rPr>
              <a:t>•  한 문장이 여러 작업으로 분해된다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실행계획의 정의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실행계획 — 옵티마이저가 SQL을 처리할 절차를 트리 구조로 표현한 것</a:t>
            </a:r>
          </a:p>
          <a:p>
            <a:r>
              <a:rPr sz="1600" b="0">
                <a:solidFill>
                  <a:srgbClr val="5A6672"/>
                </a:solidFill>
                <a:latin typeface="Malgun Gothic"/>
              </a:rPr>
              <a:t>    –  SQL은 무엇을 원하는지를 쓰고, 실행계획은 어떻게 가져올지를 답한다</a:t>
            </a:r>
          </a:p>
          <a:p>
            <a:r>
              <a:rPr sz="1600" b="0">
                <a:solidFill>
                  <a:srgbClr val="5A6672"/>
                </a:solidFill>
                <a:latin typeface="Malgun Gothic"/>
              </a:rPr>
              <a:t>    –  사람이 쓴 것이 아니라 옵티마이저가 만들어 낸 산출물이다</a:t>
            </a:r>
          </a:p>
          <a:p>
            <a:r>
              <a:rPr sz="1800" b="0">
                <a:solidFill>
                  <a:srgbClr val="202830"/>
                </a:solidFill>
                <a:latin typeface="Malgun Gothic"/>
              </a:rPr>
              <a:t>•  트리이므로 부모와 자식 관계가 있다</a:t>
            </a:r>
          </a:p>
          <a:p>
            <a:r>
              <a:rPr sz="1600" b="0">
                <a:solidFill>
                  <a:srgbClr val="5A6672"/>
                </a:solidFill>
                <a:latin typeface="Malgun Gothic"/>
              </a:rPr>
              <a:t>    –  자식 노드의 결과가 부모 노드로 전달되어 조합된다</a:t>
            </a:r>
          </a:p>
          <a:p>
            <a:r>
              <a:rPr sz="1600" b="0">
                <a:solidFill>
                  <a:srgbClr val="5A6672"/>
                </a:solidFill>
                <a:latin typeface="Malgun Gothic"/>
              </a:rPr>
              <a:t>    –  가장 바깥의 뿌리 노드가 최종 결과를 반환한다</a:t>
            </a:r>
          </a:p>
          <a:p>
            <a:r>
              <a:rPr sz="1800" b="0">
                <a:solidFill>
                  <a:srgbClr val="202830"/>
                </a:solidFill>
                <a:latin typeface="Malgun Gothic"/>
              </a:rPr>
              <a:t>•  실행계획을 읽는다는 것은 이 트리를 읽는다는 뜻이다</a:t>
            </a:r>
          </a:p>
          <a:p>
            <a:r>
              <a:rPr sz="1600" b="0">
                <a:solidFill>
                  <a:srgbClr val="5A6672"/>
                </a:solidFill>
                <a:latin typeface="Malgun Gothic"/>
              </a:rPr>
              <a:t>    –  표처럼 생겼지만 실제로는 들여쓰기로 표현된 트리다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노드 하나 = 물리적 작업 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트리의 각 노드(Operation)는 물리적 작업 단위 하나에 대응한다</a:t>
            </a:r>
          </a:p>
          <a:p>
            <a:r>
              <a:rPr sz="1600" b="0">
                <a:solidFill>
                  <a:srgbClr val="5A6672"/>
                </a:solidFill>
                <a:latin typeface="Malgun Gothic"/>
              </a:rPr>
              <a:t>    –  TABLE ACCESS FULL — 테이블 전체를 처음부터 끝까지 읽는다</a:t>
            </a:r>
          </a:p>
          <a:p>
            <a:r>
              <a:rPr sz="1600" b="0">
                <a:solidFill>
                  <a:srgbClr val="5A6672"/>
                </a:solidFill>
                <a:latin typeface="Malgun Gothic"/>
              </a:rPr>
              <a:t>    –  INDEX SCAN 계열 — 인덱스에서 특정 값을 찾는다</a:t>
            </a:r>
          </a:p>
          <a:p>
            <a:r>
              <a:rPr sz="1600" b="0">
                <a:solidFill>
                  <a:srgbClr val="5A6672"/>
                </a:solidFill>
                <a:latin typeface="Malgun Gothic"/>
              </a:rPr>
              <a:t>    –  JOIN 계열 — 두 결과 집합을 합친다</a:t>
            </a:r>
          </a:p>
          <a:p>
            <a:r>
              <a:rPr sz="1800" b="0">
                <a:solidFill>
                  <a:srgbClr val="202830"/>
                </a:solidFill>
                <a:latin typeface="Malgun Gothic"/>
              </a:rPr>
              <a:t>•  오퍼레이션 이름은 그 단계에서 무슨 일이 일어났는지의 요약이다</a:t>
            </a:r>
          </a:p>
          <a:p>
            <a:r>
              <a:rPr sz="1600" b="0">
                <a:solidFill>
                  <a:srgbClr val="5A6672"/>
                </a:solidFill>
                <a:latin typeface="Malgun Gothic"/>
              </a:rPr>
              <a:t>    –  이름만 읽어도 읽은 대상과 읽는 방식을 대략 파악할 수 있다</a:t>
            </a:r>
          </a:p>
          <a:p>
            <a:r>
              <a:rPr sz="1800" b="0">
                <a:solidFill>
                  <a:srgbClr val="202830"/>
                </a:solidFill>
                <a:latin typeface="Malgun Gothic"/>
              </a:rPr>
              <a:t>•  오퍼레이션 이름은 외우는 대상이 아니라 해석하는 대상이다</a:t>
            </a:r>
          </a:p>
          <a:p>
            <a:r>
              <a:rPr sz="1600" b="0">
                <a:solidFill>
                  <a:srgbClr val="5A6672"/>
                </a:solidFill>
                <a:latin typeface="Malgun Gothic"/>
              </a:rPr>
              <a:t>    –  단어를 쪼개서 읽으면 처음 보는 이름도 뜻을 짐작할 수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한 문장이 여러 작업으로 분해된다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한 문장이 여러 개의 물리적 작업으로 분해되어 실행된다</a:t>
            </a:r>
          </a:p>
          <a:p>
            <a:r>
              <a:rPr sz="1600" b="0">
                <a:solidFill>
                  <a:srgbClr val="5A6672"/>
                </a:solidFill>
                <a:latin typeface="Malgun Gothic"/>
              </a:rPr>
              <a:t>    –  그 분해와 조합 순서가 트리 구조로 나타난다</a:t>
            </a:r>
          </a:p>
          <a:p>
            <a:r>
              <a:rPr sz="1800" b="0">
                <a:solidFill>
                  <a:srgbClr val="202830"/>
                </a:solidFill>
                <a:latin typeface="Malgun Gothic"/>
              </a:rPr>
              <a:t>•  한 줄짜리 SELECT도 여러 노드로 늘어날 수 있다</a:t>
            </a:r>
          </a:p>
          <a:p>
            <a:r>
              <a:rPr sz="1600" b="0">
                <a:solidFill>
                  <a:srgbClr val="5A6672"/>
                </a:solidFill>
                <a:latin typeface="Malgun Gothic"/>
              </a:rPr>
              <a:t>    –  인덱스에서 위치를 찾는 단계와 테이블에서 행을 가져오는 단계는 별개다</a:t>
            </a:r>
          </a:p>
          <a:p>
            <a:r>
              <a:rPr sz="1600" b="0">
                <a:solidFill>
                  <a:srgbClr val="5A6672"/>
                </a:solidFill>
                <a:latin typeface="Malgun Gothic"/>
              </a:rPr>
              <a:t>    –  정렬·집계·조인도 각각 독립된 노드로 잡힌다</a:t>
            </a:r>
          </a:p>
          <a:p>
            <a:r>
              <a:rPr sz="1800" b="0">
                <a:solidFill>
                  <a:srgbClr val="202830"/>
                </a:solidFill>
                <a:latin typeface="Malgun Gothic"/>
              </a:rPr>
              <a:t>•  노드 수가 많다고 나쁜 계획인 것은 아니다</a:t>
            </a:r>
          </a:p>
          <a:p>
            <a:r>
              <a:rPr sz="1600" b="0">
                <a:solidFill>
                  <a:srgbClr val="5A6672"/>
                </a:solidFill>
                <a:latin typeface="Malgun Gothic"/>
              </a:rPr>
              <a:t>    –  각 노드가 무엇을 얼마나 읽었는지가 판단의 기준이다</a:t>
            </a:r>
          </a:p>
          <a:p>
            <a:r>
              <a:rPr sz="1600" b="0">
                <a:solidFill>
                  <a:srgbClr val="5A6672"/>
                </a:solidFill>
                <a:latin typeface="Malgun Gothic"/>
              </a:rPr>
              <a:t>    –  노드가 둘뿐이어도 그 하나가 전체를 훑으면 무거운 계획이다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CBO와 통계정보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CBO — 비용이 가장 낮은 후보를 고른다</a:t>
            </a:r>
          </a:p>
          <a:p>
            <a:r>
              <a:rPr sz="1600" b="0">
                <a:solidFill>
                  <a:srgbClr val="C5CED6"/>
                </a:solidFill>
                <a:latin typeface="Malgun Gothic"/>
              </a:rPr>
              <a:t>•  Cost 계산에 쓰이는 통계정보</a:t>
            </a:r>
          </a:p>
          <a:p>
            <a:r>
              <a:rPr sz="1600" b="0">
                <a:solidFill>
                  <a:srgbClr val="C5CED6"/>
                </a:solidFill>
                <a:latin typeface="Malgun Gothic"/>
              </a:rPr>
              <a:t>•  통계와 실제가 어긋나는 세 가지 원인</a:t>
            </a:r>
          </a:p>
          <a:p>
            <a:r>
              <a:rPr sz="1600" b="0">
                <a:solidFill>
                  <a:srgbClr val="C5CED6"/>
                </a:solidFill>
                <a:latin typeface="Malgun Gothic"/>
              </a:rPr>
              <a:t>•  어긋나면 무슨 일이 생기는가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CBO — 비용이 가장 낮은 후보를 고른다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옵티마이저(CBO, Cost-Based Optimizer)의 동작</a:t>
            </a:r>
          </a:p>
          <a:p>
            <a:r>
              <a:rPr sz="1600" b="0">
                <a:solidFill>
                  <a:srgbClr val="5A6672"/>
                </a:solidFill>
                <a:latin typeface="Malgun Gothic"/>
              </a:rPr>
              <a:t>    –  동일 SQL을 처리할 수 있는 여러 후보 실행 방법을 만든다</a:t>
            </a:r>
          </a:p>
          <a:p>
            <a:r>
              <a:rPr sz="1600" b="0">
                <a:solidFill>
                  <a:srgbClr val="5A6672"/>
                </a:solidFill>
                <a:latin typeface="Malgun Gothic"/>
              </a:rPr>
              <a:t>    –  그중 예상 비용(Cost)이 가장 낮은 것을 선택한다</a:t>
            </a:r>
          </a:p>
          <a:p>
            <a:r>
              <a:rPr sz="1800" b="0">
                <a:solidFill>
                  <a:srgbClr val="202830"/>
                </a:solidFill>
                <a:latin typeface="Malgun Gothic"/>
              </a:rPr>
              <a:t>•  선택은 실행 전 추정에 근거한다</a:t>
            </a:r>
          </a:p>
          <a:p>
            <a:r>
              <a:rPr sz="1600" b="0">
                <a:solidFill>
                  <a:srgbClr val="5A6672"/>
                </a:solidFill>
                <a:latin typeface="Malgun Gothic"/>
              </a:rPr>
              <a:t>    –  후보를 실제로 하나씩 돌려 보고 고르는 것이 아니다</a:t>
            </a:r>
          </a:p>
          <a:p>
            <a:r>
              <a:rPr sz="1600" b="0">
                <a:solidFill>
                  <a:srgbClr val="5A6672"/>
                </a:solidFill>
                <a:latin typeface="Malgun Gothic"/>
              </a:rPr>
              <a:t>    –  돌려 볼 수 없으므로 통계정보로 결과를 미리 계산한다</a:t>
            </a:r>
          </a:p>
          <a:p>
            <a:r>
              <a:rPr sz="1800" b="0">
                <a:solidFill>
                  <a:srgbClr val="202830"/>
                </a:solidFill>
                <a:latin typeface="Malgun Gothic"/>
              </a:rPr>
              <a:t>•  따라서 추정의 재료인 통계정보가 어긋나면 선택도 어긋난다</a:t>
            </a:r>
          </a:p>
          <a:p>
            <a:r>
              <a:rPr sz="1600" b="0">
                <a:solidFill>
                  <a:srgbClr val="5A6672"/>
                </a:solidFill>
                <a:latin typeface="Malgun Gothic"/>
              </a:rPr>
              <a:t>    –  옵티마이저가 틀렸다기보다 재료가 틀렸다고 보는 편이 정확하다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Cost 계산에 쓰이는 통계정보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Cost 계산에 사용되는 통계정보</a:t>
            </a:r>
          </a:p>
          <a:p>
            <a:r>
              <a:rPr sz="1600" b="0">
                <a:solidFill>
                  <a:srgbClr val="5A6672"/>
                </a:solidFill>
                <a:latin typeface="Malgun Gothic"/>
              </a:rPr>
              <a:t>    –  테이블 행 수</a:t>
            </a:r>
          </a:p>
          <a:p>
            <a:r>
              <a:rPr sz="1600" b="0">
                <a:solidFill>
                  <a:srgbClr val="5A6672"/>
                </a:solidFill>
                <a:latin typeface="Malgun Gothic"/>
              </a:rPr>
              <a:t>    –  각 컬럼의 고유값 개수(NDV)</a:t>
            </a:r>
          </a:p>
          <a:p>
            <a:r>
              <a:rPr sz="1600" b="0">
                <a:solidFill>
                  <a:srgbClr val="5A6672"/>
                </a:solidFill>
                <a:latin typeface="Malgun Gothic"/>
              </a:rPr>
              <a:t>    –  데이터 분포 — 히스토그램 존재 여부</a:t>
            </a:r>
          </a:p>
          <a:p>
            <a:r>
              <a:rPr sz="1600" b="0">
                <a:solidFill>
                  <a:srgbClr val="5A6672"/>
                </a:solidFill>
                <a:latin typeface="Malgun Gothic"/>
              </a:rPr>
              <a:t>    –  인덱스 클러스터링 팩터</a:t>
            </a:r>
          </a:p>
          <a:p>
            <a:r>
              <a:rPr sz="1800" b="0">
                <a:solidFill>
                  <a:srgbClr val="202830"/>
                </a:solidFill>
                <a:latin typeface="Malgun Gothic"/>
              </a:rPr>
              <a:t>•  통계정보는 데이터 자체가 아니라 데이터의 요약이다</a:t>
            </a:r>
          </a:p>
          <a:p>
            <a:r>
              <a:rPr sz="1600" b="0">
                <a:solidFill>
                  <a:srgbClr val="5A6672"/>
                </a:solidFill>
                <a:latin typeface="Malgun Gothic"/>
              </a:rPr>
              <a:t>    –  요약이 낡거나 거칠면 추정이 빗나간다</a:t>
            </a:r>
          </a:p>
          <a:p>
            <a:r>
              <a:rPr sz="1600" b="0">
                <a:solidFill>
                  <a:srgbClr val="5A6672"/>
                </a:solidFill>
                <a:latin typeface="Malgun Gothic"/>
              </a:rPr>
              <a:t>    –  요약이므로 원본과 다를 수 있다는 점을 항상 전제해야 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통계와 실제가 어긋나는 세 가지 원인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통계 미갱신 — 오래된 통계</a:t>
            </a:r>
          </a:p>
          <a:p>
            <a:r>
              <a:rPr sz="1600" b="0">
                <a:solidFill>
                  <a:srgbClr val="5A6672"/>
                </a:solidFill>
                <a:latin typeface="Malgun Gothic"/>
              </a:rPr>
              <a:t>    –  데이터는 늘었는데 통계는 예전 그대로인 경우</a:t>
            </a:r>
          </a:p>
          <a:p>
            <a:r>
              <a:rPr sz="1800" b="0">
                <a:solidFill>
                  <a:srgbClr val="202830"/>
                </a:solidFill>
                <a:latin typeface="Malgun Gothic"/>
              </a:rPr>
              <a:t>•  컬럼 간 상관관계 미반영</a:t>
            </a:r>
          </a:p>
          <a:p>
            <a:r>
              <a:rPr sz="1600" b="0">
                <a:solidFill>
                  <a:srgbClr val="5A6672"/>
                </a:solidFill>
                <a:latin typeface="Malgun Gothic"/>
              </a:rPr>
              <a:t>    –  옵티마이저는 두 컬럼 조건을 독립으로 가정하고 선택도를 곱해서 추정한다</a:t>
            </a:r>
          </a:p>
          <a:p>
            <a:r>
              <a:rPr sz="1600" b="0">
                <a:solidFill>
                  <a:srgbClr val="5A6672"/>
                </a:solidFill>
                <a:latin typeface="Malgun Gothic"/>
              </a:rPr>
              <a:t>    –  3.6절 실측 사례가 바로 이 경우다</a:t>
            </a:r>
          </a:p>
          <a:p>
            <a:r>
              <a:rPr sz="1800" b="0">
                <a:solidFill>
                  <a:srgbClr val="202830"/>
                </a:solidFill>
                <a:latin typeface="Malgun Gothic"/>
              </a:rPr>
              <a:t>•  데이터 쏠림(skew)에 히스토그램이 없는 경우</a:t>
            </a:r>
          </a:p>
          <a:p>
            <a:r>
              <a:rPr sz="1600" b="0">
                <a:solidFill>
                  <a:srgbClr val="5A6672"/>
                </a:solidFill>
                <a:latin typeface="Malgun Gothic"/>
              </a:rPr>
              <a:t>    –  값이 한쪽으로 몰려 있는데 평균 분포로 잘못 가정한다</a:t>
            </a:r>
          </a:p>
          <a:p>
            <a:r>
              <a:rPr sz="1600" b="0">
                <a:solidFill>
                  <a:srgbClr val="5A6672"/>
                </a:solidFill>
                <a:latin typeface="Malgun Gothic"/>
              </a:rPr>
              <a:t>    –  자주 나오는 값과 드문 값을 같은 비율로 취급하게 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어긋나면 무슨 일이 생기는가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위 원인 중 하나라도 해당되면 최적이 아닌 계획이 선택될 수 있다</a:t>
            </a:r>
          </a:p>
          <a:p>
            <a:r>
              <a:rPr sz="1600" b="0">
                <a:solidFill>
                  <a:srgbClr val="5A6672"/>
                </a:solidFill>
                <a:latin typeface="Malgun Gothic"/>
              </a:rPr>
              <a:t>    –  이 현상을 카디널리티 추정 오류라고 부른다</a:t>
            </a:r>
          </a:p>
          <a:p>
            <a:r>
              <a:rPr sz="1600" b="0">
                <a:solidFill>
                  <a:srgbClr val="5A6672"/>
                </a:solidFill>
                <a:latin typeface="Malgun Gothic"/>
              </a:rPr>
              <a:t>    –  카디널리티는 각 단계가 만들어 낼 행 수를 뜻한다</a:t>
            </a:r>
          </a:p>
          <a:p>
            <a:r>
              <a:rPr sz="1800" b="0">
                <a:solidFill>
                  <a:srgbClr val="202830"/>
                </a:solidFill>
                <a:latin typeface="Malgun Gothic"/>
              </a:rPr>
              <a:t>•  추정이 틀리면 그 위에 쌓인 판단이 함께 틀어진다</a:t>
            </a:r>
          </a:p>
          <a:p>
            <a:r>
              <a:rPr sz="1600" b="0">
                <a:solidFill>
                  <a:srgbClr val="5A6672"/>
                </a:solidFill>
                <a:latin typeface="Malgun Gothic"/>
              </a:rPr>
              <a:t>    –  몇 건짜리 집합인지에 따라 유리한 조인 방식이 달라지기 때문이다</a:t>
            </a:r>
          </a:p>
          <a:p>
            <a:r>
              <a:rPr sz="1600" b="0">
                <a:solidFill>
                  <a:srgbClr val="5A6672"/>
                </a:solidFill>
                <a:latin typeface="Malgun Gothic"/>
              </a:rPr>
              <a:t>    –  조인 순서, 조인 방식, 작업 영역 할당량까지 영향을 받는다</a:t>
            </a:r>
          </a:p>
          <a:p>
            <a:r>
              <a:rPr sz="1800" b="0">
                <a:solidFill>
                  <a:srgbClr val="202830"/>
                </a:solidFill>
                <a:latin typeface="Malgun Gothic"/>
              </a:rPr>
              <a:t>•  상세 대응은 ch08(Optimizer와 통계정보)에서 다룬다</a:t>
            </a:r>
          </a:p>
          <a:p>
            <a:r>
              <a:rPr sz="1600" b="0">
                <a:solidFill>
                  <a:srgbClr val="5A6672"/>
                </a:solidFill>
                <a:latin typeface="Malgun Gothic"/>
              </a:rPr>
              <a:t>    –  이 장에서는 계획에서 그 징후를 찾아내는 데까지만 간다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첫 실행계획 뽑아 보기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판독 대상 SQL</a:t>
            </a:r>
          </a:p>
          <a:p>
            <a:r>
              <a:rPr sz="1600" b="0">
                <a:solidFill>
                  <a:srgbClr val="C5CED6"/>
                </a:solidFill>
                <a:latin typeface="Malgun Gothic"/>
              </a:rPr>
              <a:t>•  EXPLAIN PLAN과 DBMS_XPLAN 사용법</a:t>
            </a:r>
          </a:p>
          <a:p>
            <a:r>
              <a:rPr sz="1600" b="0">
                <a:solidFill>
                  <a:srgbClr val="C5CED6"/>
                </a:solidFill>
                <a:latin typeface="Malgun Gothic"/>
              </a:rPr>
              <a:t>•  예상 계획과 실측 계획의 차이</a:t>
            </a:r>
          </a:p>
          <a:p>
            <a:r>
              <a:rPr sz="1600" b="0">
                <a:solidFill>
                  <a:srgbClr val="C5CED6"/>
                </a:solidFill>
                <a:latin typeface="Malgun Gothic"/>
              </a:rPr>
              <a:t>•  뽑은 계획을 읽는 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판독 대상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3.4절 Example — 이 장 전체에서 반복해서 쓰는 SQL 한 문장</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SELECT claim_id, total_amt</a:t>
            </a:r>
          </a:p>
          <a:p>
            <a:r>
              <a:rPr sz="1250" b="0">
                <a:solidFill>
                  <a:srgbClr val="E6E6E6"/>
                </a:solidFill>
                <a:latin typeface="Consolas"/>
              </a:rPr>
              <a:t>FROM medical_claims</a:t>
            </a:r>
          </a:p>
          <a:p>
            <a:r>
              <a:rPr sz="1250" b="0">
                <a:solidFill>
                  <a:srgbClr val="E6E6E6"/>
                </a:solidFill>
                <a:latin typeface="Consolas"/>
              </a:rPr>
              <a:t>WHERE claim_type = '입원' AND total_amt &gt; 500000;</a:t>
            </a:r>
          </a:p>
          <a:p>
            <a:r>
              <a:rPr sz="1250" b="0">
                <a:solidFill>
                  <a:srgbClr val="E6E6E6"/>
                </a:solidFill>
                <a:latin typeface="Consolas"/>
              </a:rPr>
              <a:t> </a:t>
            </a:r>
          </a:p>
          <a:p>
            <a:r>
              <a:rPr sz="1250" b="0">
                <a:solidFill>
                  <a:srgbClr val="7EC699"/>
                </a:solidFill>
                <a:latin typeface="Consolas"/>
              </a:rPr>
              <a:t>-- 조건 컬럼 두 개(CLAIM_TYPE, TOTAL_AMT) 모두 인덱스가 없는 상태</a:t>
            </a:r>
          </a:p>
          <a:p>
            <a:r>
              <a:rPr sz="1250" b="0">
                <a:solidFill>
                  <a:srgbClr val="7EC699"/>
                </a:solidFill>
                <a:latin typeface="Consolas"/>
              </a:rPr>
              <a:t>-- MEDICAL_CLAIMS의 인덱스는 PK_MEDICAL_CLAIMS(CLAIM_ID) 하나뿐이다</a:t>
            </a:r>
          </a:p>
          <a:p>
            <a:r>
              <a:rPr sz="1250" b="0">
                <a:solidFill>
                  <a:srgbClr val="7EC699"/>
                </a:solidFill>
                <a:latin typeface="Consolas"/>
              </a:rPr>
              <a:t>-- 이 차시에서는 인덱스를 만들지 않고 계획만 확인한다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실행계획을 뽑는 두 가지 방법</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EXPLAIN PLAN(예상) · DBMS_XPLAN.DISPLAY_CURSOR(실측)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실제로 실행하지 않고 옵티마이저의 예상 계획만 산출</a:t>
            </a:r>
          </a:p>
          <a:p>
            <a:r>
              <a:rPr sz="1250" b="0">
                <a:solidFill>
                  <a:srgbClr val="E6E6E6"/>
                </a:solidFill>
                <a:latin typeface="Consolas"/>
              </a:rPr>
              <a:t>EXPLAIN PLAN FOR</a:t>
            </a:r>
          </a:p>
          <a:p>
            <a:r>
              <a:rPr sz="1250" b="0">
                <a:solidFill>
                  <a:srgbClr val="E6E6E6"/>
                </a:solidFill>
                <a:latin typeface="Consolas"/>
              </a:rPr>
              <a:t>SELECT claim_id, total_amt</a:t>
            </a:r>
          </a:p>
          <a:p>
            <a:r>
              <a:rPr sz="1250" b="0">
                <a:solidFill>
                  <a:srgbClr val="E6E6E6"/>
                </a:solidFill>
                <a:latin typeface="Consolas"/>
              </a:rPr>
              <a:t>FROM medical_claims</a:t>
            </a:r>
          </a:p>
          <a:p>
            <a:r>
              <a:rPr sz="1250" b="0">
                <a:solidFill>
                  <a:srgbClr val="E6E6E6"/>
                </a:solidFill>
                <a:latin typeface="Consolas"/>
              </a:rPr>
              <a:t>WHERE claim_type = '입원' AND total_amt &gt; 500000;</a:t>
            </a:r>
          </a:p>
          <a:p>
            <a:r>
              <a:rPr sz="1250" b="0">
                <a:solidFill>
                  <a:srgbClr val="E6E6E6"/>
                </a:solidFill>
                <a:latin typeface="Consolas"/>
              </a:rPr>
              <a:t> </a:t>
            </a:r>
          </a:p>
          <a:p>
            <a:r>
              <a:rPr sz="1250" b="0">
                <a:solidFill>
                  <a:srgbClr val="7EC699"/>
                </a:solidFill>
                <a:latin typeface="Consolas"/>
              </a:rPr>
              <a:t>-- 2) 산출된 예상 계획을 조회</a:t>
            </a:r>
          </a:p>
          <a:p>
            <a:r>
              <a:rPr sz="1250" b="0">
                <a:solidFill>
                  <a:srgbClr val="E6E6E6"/>
                </a:solidFill>
                <a:latin typeface="Consolas"/>
              </a:rPr>
              <a:t>SELECT * FROM TABLE(DBMS_XPLAN.DISPLAY());</a:t>
            </a:r>
          </a:p>
          <a:p>
            <a:r>
              <a:rPr sz="1250" b="0">
                <a:solidFill>
                  <a:srgbClr val="E6E6E6"/>
                </a:solidFill>
                <a:latin typeface="Consolas"/>
              </a:rPr>
              <a:t> </a:t>
            </a:r>
          </a:p>
          <a:p>
            <a:r>
              <a:rPr sz="1250" b="0">
                <a:solidFill>
                  <a:srgbClr val="7EC699"/>
                </a:solidFill>
                <a:latin typeface="Consolas"/>
              </a:rPr>
              <a:t>-- 3) SQL을 실제로 실행한 뒤, 실측 통계까지 붙여서 조회</a:t>
            </a:r>
          </a:p>
          <a:p>
            <a:r>
              <a:rPr sz="1250" b="0">
                <a:solidFill>
                  <a:srgbClr val="E6E6E6"/>
                </a:solidFill>
                <a:latin typeface="Consolas"/>
              </a:rPr>
              <a:t>SELECT * FROM TABLE(DBMS_XPLAN.DISPLAY_CURSOR(NULL, NULL, 'ALLSTATS LAST'));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예상 계획과 실측 계획</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EXPLAIN PLAN FOR ... — 실제로 실행하지 않고 예상 계획만 산출한다</a:t>
            </a:r>
          </a:p>
          <a:p>
            <a:r>
              <a:rPr sz="1600" b="0">
                <a:solidFill>
                  <a:srgbClr val="5A6672"/>
                </a:solidFill>
                <a:latin typeface="Malgun Gothic"/>
              </a:rPr>
              <a:t>    –  이어서 SELECT * FROM TABLE(DBMS_XPLAN.DISPLAY())로 결과를 조회한다</a:t>
            </a:r>
          </a:p>
          <a:p>
            <a:r>
              <a:rPr sz="1600" b="0">
                <a:solidFill>
                  <a:srgbClr val="5A6672"/>
                </a:solidFill>
                <a:latin typeface="Malgun Gothic"/>
              </a:rPr>
              <a:t>    –  얻는 값은 Rows, Bytes, Cost, Time — 전부 실행 전 추정치다</a:t>
            </a:r>
          </a:p>
          <a:p>
            <a:r>
              <a:rPr sz="1800" b="0">
                <a:solidFill>
                  <a:srgbClr val="202830"/>
                </a:solidFill>
                <a:latin typeface="Malgun Gothic"/>
              </a:rPr>
              <a:t>•  DBMS_XPLAN.DISPLAY_CURSOR(NULL, NULL, 'ALLSTATS LAST') — 실행 후 통계</a:t>
            </a:r>
          </a:p>
          <a:p>
            <a:r>
              <a:rPr sz="1600" b="0">
                <a:solidFill>
                  <a:srgbClr val="5A6672"/>
                </a:solidFill>
                <a:latin typeface="Malgun Gothic"/>
              </a:rPr>
              <a:t>    –  얻는 값은 Starts, A-Rows, A-Time, Buffers — 전부 실측치다</a:t>
            </a:r>
          </a:p>
          <a:p>
            <a:r>
              <a:rPr sz="1600" b="0">
                <a:solidFill>
                  <a:srgbClr val="5A6672"/>
                </a:solidFill>
                <a:latin typeface="Malgun Gothic"/>
              </a:rPr>
              <a:t>    –  이 방식은 SQL을 실제로 실행한 뒤에만 쓸 수 있다</a:t>
            </a:r>
          </a:p>
          <a:p>
            <a:r>
              <a:rPr sz="1800" b="0">
                <a:solidFill>
                  <a:srgbClr val="202830"/>
                </a:solidFill>
                <a:latin typeface="Malgun Gothic"/>
              </a:rPr>
              <a:t>•  두 도구를 함께 써야 예상과 실제를 대조할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챕터의 모든 실행계획·행수·Buffers는 진료비청구심사 실습 DB에서 직접 캡처한 실측 결과다.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첫 실행계획 — 실행 전 예상</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EXPLAIN PLAN + DBMS_XPLAN.DISPLAY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Rows  | Bytes | Cost (%CPU)| Time     |</a:t>
            </a:r>
          </a:p>
          <a:p>
            <a:r>
              <a:rPr sz="1250" b="0">
                <a:solidFill>
                  <a:srgbClr val="E6E6E6"/>
                </a:solidFill>
                <a:latin typeface="Consolas"/>
              </a:rPr>
              <a:t>| 0  | SELECT STATEMENT  |                | 77946 |  2207K|   857   (1)| 00:00:01 |</a:t>
            </a:r>
          </a:p>
          <a:p>
            <a:r>
              <a:rPr sz="1250" b="0">
                <a:solidFill>
                  <a:srgbClr val="E6E6E6"/>
                </a:solidFill>
                <a:latin typeface="Consolas"/>
              </a:rPr>
              <a:t>| 1  | TABLE ACCESS FULL | MEDICAL_CLAIMS | 77946 |  2207K|   857   (1)| 00:00:01 |</a:t>
            </a:r>
          </a:p>
          <a:p>
            <a:r>
              <a:rPr sz="1250" b="0">
                <a:solidFill>
                  <a:srgbClr val="E6E6E6"/>
                </a:solidFill>
                <a:latin typeface="Consolas"/>
              </a:rPr>
              <a:t> </a:t>
            </a:r>
          </a:p>
          <a:p>
            <a:r>
              <a:rPr sz="1250" b="0">
                <a:solidFill>
                  <a:srgbClr val="E6E6E6"/>
                </a:solidFill>
                <a:latin typeface="Consolas"/>
              </a:rPr>
              <a:t>Predicate Information (identified by operation id):</a:t>
            </a:r>
          </a:p>
          <a:p>
            <a:r>
              <a:rPr sz="1250" b="0">
                <a:solidFill>
                  <a:srgbClr val="E6E6E6"/>
                </a:solidFill>
                <a:latin typeface="Consolas"/>
              </a:rPr>
              <a:t>   1 - filter("CLAIM_TYPE"='입원' AND "TOTAL_AMT"&gt;500000)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계획을 어떻게 읽는가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노드가 둘뿐인 가장 단순한 형태다</a:t>
            </a:r>
          </a:p>
          <a:p>
            <a:r>
              <a:rPr sz="1600" b="0">
                <a:solidFill>
                  <a:srgbClr val="5A6672"/>
                </a:solidFill>
                <a:latin typeface="Malgun Gothic"/>
              </a:rPr>
              <a:t>    –  Id 1 TABLE ACCESS FULL — MEDICAL_CLAIMS 전체를 처음부터 끝까지 읽는다</a:t>
            </a:r>
          </a:p>
          <a:p>
            <a:r>
              <a:rPr sz="1600" b="0">
                <a:solidFill>
                  <a:srgbClr val="5A6672"/>
                </a:solidFill>
                <a:latin typeface="Malgun Gothic"/>
              </a:rPr>
              <a:t>    –  Id 0 SELECT STATEMENT — 그 결과를 최종 반환한다</a:t>
            </a:r>
          </a:p>
          <a:p>
            <a:r>
              <a:rPr sz="1800" b="0">
                <a:solidFill>
                  <a:srgbClr val="202830"/>
                </a:solidFill>
                <a:latin typeface="Malgun Gothic"/>
              </a:rPr>
              <a:t>•  Predicate Information이 filter로 표시된 이유</a:t>
            </a:r>
          </a:p>
          <a:p>
            <a:r>
              <a:rPr sz="1600" b="0">
                <a:solidFill>
                  <a:srgbClr val="5A6672"/>
                </a:solidFill>
                <a:latin typeface="Malgun Gothic"/>
              </a:rPr>
              <a:t>    –  두 조건 컬럼에 인덱스가 없어 찾아갈 방법이 없다</a:t>
            </a:r>
          </a:p>
          <a:p>
            <a:r>
              <a:rPr sz="1600" b="0">
                <a:solidFill>
                  <a:srgbClr val="5A6672"/>
                </a:solidFill>
                <a:latin typeface="Malgun Gothic"/>
              </a:rPr>
              <a:t>    –  전부 읽어 온 뒤 행마다 조건을 검사해 걸러낸다</a:t>
            </a:r>
          </a:p>
          <a:p>
            <a:r>
              <a:rPr sz="1800" b="0">
                <a:solidFill>
                  <a:srgbClr val="202830"/>
                </a:solidFill>
                <a:latin typeface="Malgun Gothic"/>
              </a:rPr>
              <a:t>•  Rows 77946은 결과 건수가 아니라 옵티마이저의 예상치다</a:t>
            </a:r>
          </a:p>
          <a:p>
            <a:r>
              <a:rPr sz="1600" b="0">
                <a:solidFill>
                  <a:srgbClr val="5A6672"/>
                </a:solidFill>
                <a:latin typeface="Malgun Gothic"/>
              </a:rPr>
              <a:t>    –  실제 건수는 3.6절에서 실행 후 A-Rows로 확인한다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컬럼별 판독 기준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Id · Operation · Name — 구조를 나타내는 컬럼</a:t>
            </a:r>
          </a:p>
          <a:p>
            <a:r>
              <a:rPr sz="1600" b="0">
                <a:solidFill>
                  <a:srgbClr val="C5CED6"/>
                </a:solidFill>
                <a:latin typeface="Malgun Gothic"/>
              </a:rPr>
              <a:t>•  Rows · Bytes — 실행 전 추정치</a:t>
            </a:r>
          </a:p>
          <a:p>
            <a:r>
              <a:rPr sz="1600" b="0">
                <a:solidFill>
                  <a:srgbClr val="C5CED6"/>
                </a:solidFill>
                <a:latin typeface="Malgun Gothic"/>
              </a:rPr>
              <a:t>•  Cost — 무차원 상대 지표</a:t>
            </a:r>
          </a:p>
          <a:p>
            <a:r>
              <a:rPr sz="1600" b="0">
                <a:solidFill>
                  <a:srgbClr val="C5CED6"/>
                </a:solidFill>
                <a:latin typeface="Malgun Gothic"/>
              </a:rPr>
              <a:t>•  Predicate Information — access와 filter</a:t>
            </a:r>
          </a:p>
          <a:p>
            <a:r>
              <a:rPr sz="1600" b="0">
                <a:solidFill>
                  <a:srgbClr val="C5CED6"/>
                </a:solidFill>
                <a:latin typeface="Malgun Gothic"/>
              </a:rPr>
              <a:t>•  실행 순서 판독 원칙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 컬럼 요약표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추정치와 실측치를 같은 이름으로 부르지 않는 것이 판독의 출발점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컬럼         | 의미                                    | 성격           |</a:t>
            </a:r>
          </a:p>
          <a:p>
            <a:r>
              <a:rPr sz="1250" b="0">
                <a:solidFill>
                  <a:srgbClr val="E6E6E6"/>
                </a:solidFill>
                <a:latin typeface="Consolas"/>
              </a:rPr>
              <a:t>+--------------+-----------------------------------------+----------------+</a:t>
            </a:r>
          </a:p>
          <a:p>
            <a:r>
              <a:rPr sz="1250" b="0">
                <a:solidFill>
                  <a:srgbClr val="E6E6E6"/>
                </a:solidFill>
                <a:latin typeface="Consolas"/>
              </a:rPr>
              <a:t>| Id           | 트리 노드 번호 (실행 순서가 아님)       | 구조           |</a:t>
            </a:r>
          </a:p>
          <a:p>
            <a:r>
              <a:rPr sz="1250" b="0">
                <a:solidFill>
                  <a:srgbClr val="E6E6E6"/>
                </a:solidFill>
                <a:latin typeface="Consolas"/>
              </a:rPr>
              <a:t>| Operation    | 그 단계가 수행하는 물리적 작업명        | 구조           |</a:t>
            </a:r>
          </a:p>
          <a:p>
            <a:r>
              <a:rPr sz="1250" b="0">
                <a:solidFill>
                  <a:srgbClr val="E6E6E6"/>
                </a:solidFill>
                <a:latin typeface="Consolas"/>
              </a:rPr>
              <a:t>| Name         | 작업 대상 오브젝트 (테이블 또는 인덱스) | 구조           |</a:t>
            </a:r>
          </a:p>
          <a:p>
            <a:r>
              <a:rPr sz="1250" b="0">
                <a:solidFill>
                  <a:srgbClr val="E6E6E6"/>
                </a:solidFill>
                <a:latin typeface="Consolas"/>
              </a:rPr>
              <a:t>| Rows / Bytes | 예상 결과 건수 · 예상 데이터 크기       | 실행 전 추정치 |</a:t>
            </a:r>
          </a:p>
          <a:p>
            <a:r>
              <a:rPr sz="1250" b="0">
                <a:solidFill>
                  <a:srgbClr val="E6E6E6"/>
                </a:solidFill>
                <a:latin typeface="Consolas"/>
              </a:rPr>
              <a:t>| Cost (%CPU)  | 후보 계획 비교용 상대 지표 (무차원)     | 실행 전 추정치 |</a:t>
            </a:r>
          </a:p>
          <a:p>
            <a:r>
              <a:rPr sz="1250" b="0">
                <a:solidFill>
                  <a:srgbClr val="E6E6E6"/>
                </a:solidFill>
                <a:latin typeface="Consolas"/>
              </a:rPr>
              <a:t>| Time         | 예상 소요 시간                          | 실행 전 추정치 |</a:t>
            </a:r>
          </a:p>
          <a:p>
            <a:r>
              <a:rPr sz="1250" b="0">
                <a:solidFill>
                  <a:srgbClr val="E6E6E6"/>
                </a:solidFill>
                <a:latin typeface="Consolas"/>
              </a:rPr>
              <a:t>| Starts       | 그 단계가 수행된 횟수                   | 실행 후 실측치 |</a:t>
            </a:r>
          </a:p>
          <a:p>
            <a:r>
              <a:rPr sz="1250" b="0">
                <a:solidFill>
                  <a:srgbClr val="E6E6E6"/>
                </a:solidFill>
                <a:latin typeface="Consolas"/>
              </a:rPr>
              <a:t>| E-Rows       | 실행 전 추정 행 수                      | 실행 전 추정치 |</a:t>
            </a:r>
          </a:p>
          <a:p>
            <a:r>
              <a:rPr sz="1250" b="0">
                <a:solidFill>
                  <a:srgbClr val="E6E6E6"/>
                </a:solidFill>
                <a:latin typeface="Consolas"/>
              </a:rPr>
              <a:t>| A-Rows       | 실제로 처리한 행 수                     | 실행 후 실측치 |</a:t>
            </a:r>
          </a:p>
          <a:p>
            <a:r>
              <a:rPr sz="1250" b="0">
                <a:solidFill>
                  <a:srgbClr val="E6E6E6"/>
                </a:solidFill>
                <a:latin typeface="Consolas"/>
              </a:rPr>
              <a:t>| A-Time       | 그 단계까지 누적된 실제 소요 시간       | 실행 후 실측치 |</a:t>
            </a:r>
          </a:p>
          <a:p>
            <a:r>
              <a:rPr sz="1250" b="0">
                <a:solidFill>
                  <a:srgbClr val="E6E6E6"/>
                </a:solidFill>
                <a:latin typeface="Consolas"/>
              </a:rPr>
              <a:t>| Buffers      | 읽은 블록 수 (논리적 I/O)               | 실행 후 실측치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EXPLAIN PLAN은 위쪽 추정치만, DISPLAY_CURSOR는 실측치까지 보여 준다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Id · Operation · Name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 트리 노드 번호</a:t>
            </a:r>
          </a:p>
          <a:p>
            <a:r>
              <a:rPr sz="1600" b="0">
                <a:solidFill>
                  <a:srgbClr val="5A6672"/>
                </a:solidFill>
                <a:latin typeface="Malgun Gothic"/>
              </a:rPr>
              <a:t>    –  생성 순서일 뿐 실행 순서가 아니다</a:t>
            </a:r>
          </a:p>
          <a:p>
            <a:r>
              <a:rPr sz="1600" b="0">
                <a:solidFill>
                  <a:srgbClr val="5A6672"/>
                </a:solidFill>
                <a:latin typeface="Malgun Gothic"/>
              </a:rPr>
              <a:t>    –  Id 번호 순서(0→1→2)대로 읽으면 실제 실행 순서와 반대로 읽게 된다</a:t>
            </a:r>
          </a:p>
          <a:p>
            <a:r>
              <a:rPr sz="1800" b="0">
                <a:solidFill>
                  <a:srgbClr val="202830"/>
                </a:solidFill>
                <a:latin typeface="Malgun Gothic"/>
              </a:rPr>
              <a:t>•  Operation / Options — 해당 단계가 수행하는 물리적 작업명</a:t>
            </a:r>
          </a:p>
          <a:p>
            <a:r>
              <a:rPr sz="1600" b="0">
                <a:solidFill>
                  <a:srgbClr val="5A6672"/>
                </a:solidFill>
                <a:latin typeface="Malgun Gothic"/>
              </a:rPr>
              <a:t>    –  앞부분이 무엇을 읽었는지, 뒷부분이 어떻게 읽었는지를 나타낸다</a:t>
            </a:r>
          </a:p>
          <a:p>
            <a:r>
              <a:rPr sz="1800" b="0">
                <a:solidFill>
                  <a:srgbClr val="202830"/>
                </a:solidFill>
                <a:latin typeface="Malgun Gothic"/>
              </a:rPr>
              <a:t>•  Name — 작업 대상 오브젝트명(테이블 또는 인덱스)</a:t>
            </a:r>
          </a:p>
          <a:p>
            <a:r>
              <a:rPr sz="1600" b="0">
                <a:solidFill>
                  <a:srgbClr val="5A6672"/>
                </a:solidFill>
                <a:latin typeface="Malgun Gothic"/>
              </a:rPr>
              <a:t>    –  Name이 인덱스명이면 인덱스를 읽은 단계다</a:t>
            </a:r>
          </a:p>
          <a:p>
            <a:r>
              <a:rPr sz="1600" b="0">
                <a:solidFill>
                  <a:srgbClr val="5A6672"/>
                </a:solidFill>
                <a:latin typeface="Malgun Gothic"/>
              </a:rPr>
              <a:t>    –  Name이 비어 있으면 조인·정렬·집계처럼 대상 오브젝트가 없는 단계다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Rows · Bytes — 실행 전 추정치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Rows / Bytes — 옵티마이저가 예상한 결과 건수와 데이터 크기</a:t>
            </a:r>
          </a:p>
          <a:p>
            <a:r>
              <a:rPr sz="1600" b="0">
                <a:solidFill>
                  <a:srgbClr val="5A6672"/>
                </a:solidFill>
                <a:latin typeface="Malgun Gothic"/>
              </a:rPr>
              <a:t>    –  실행 전 추정치이며 통계정보를 기반으로 계산된다</a:t>
            </a:r>
          </a:p>
          <a:p>
            <a:r>
              <a:rPr sz="1600" b="0">
                <a:solidFill>
                  <a:srgbClr val="5A6672"/>
                </a:solidFill>
                <a:latin typeface="Malgun Gothic"/>
              </a:rPr>
              <a:t>    –  실제 결과 건수가 아니다</a:t>
            </a:r>
          </a:p>
          <a:p>
            <a:r>
              <a:rPr sz="1800" b="0">
                <a:solidFill>
                  <a:srgbClr val="202830"/>
                </a:solidFill>
                <a:latin typeface="Malgun Gothic"/>
              </a:rPr>
              <a:t>•  EXPLAIN PLAN만 보고 몇 건 나온다고 말하면 안 된다</a:t>
            </a:r>
          </a:p>
          <a:p>
            <a:r>
              <a:rPr sz="1600" b="0">
                <a:solidFill>
                  <a:srgbClr val="5A6672"/>
                </a:solidFill>
                <a:latin typeface="Malgun Gothic"/>
              </a:rPr>
              <a:t>    –  실제 건수는 실행 후 A-Rows로 확인한다</a:t>
            </a:r>
          </a:p>
          <a:p>
            <a:r>
              <a:rPr sz="1600" b="0">
                <a:solidFill>
                  <a:srgbClr val="5A6672"/>
                </a:solidFill>
                <a:latin typeface="Malgun Gothic"/>
              </a:rPr>
              <a:t>    –  두 값이 얼마나 벌어졌는지가 곧 진단 재료가 된다</a:t>
            </a:r>
          </a:p>
          <a:p>
            <a:r>
              <a:rPr sz="1800" b="0">
                <a:solidFill>
                  <a:srgbClr val="202830"/>
                </a:solidFill>
                <a:latin typeface="Malgun Gothic"/>
              </a:rPr>
              <a:t>•  추정치와 실측치를 같은 이름으로 부르지 않는 습관이 판독의 출발점이다</a:t>
            </a:r>
          </a:p>
          <a:p>
            <a:r>
              <a:rPr sz="1600" b="0">
                <a:solidFill>
                  <a:srgbClr val="5A6672"/>
                </a:solidFill>
                <a:latin typeface="Malgun Gothic"/>
              </a:rPr>
              <a:t>    –  보고서를 쓸 때도 예상 몇 건, 실제 몇 건으로 나눠 적는다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Cost — 무차원 상대 지표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Cost — 여러 실행 방법 후보를 비교하려고 옵티마이저가 내부적으로 쓰는 상대 지표</a:t>
            </a:r>
          </a:p>
          <a:p>
            <a:r>
              <a:rPr sz="1600" b="0">
                <a:solidFill>
                  <a:srgbClr val="5A6672"/>
                </a:solidFill>
                <a:latin typeface="Malgun Gothic"/>
              </a:rPr>
              <a:t>    –  초 단위 실행 시간이 아니다</a:t>
            </a:r>
          </a:p>
          <a:p>
            <a:r>
              <a:rPr sz="1600" b="0">
                <a:solidFill>
                  <a:srgbClr val="5A6672"/>
                </a:solidFill>
                <a:latin typeface="Malgun Gothic"/>
              </a:rPr>
              <a:t>    –  CPU 연산량과 I/O 예상 횟수를 옵티마이저 자체 공식으로 환산한 무차원 수치다</a:t>
            </a:r>
          </a:p>
          <a:p>
            <a:r>
              <a:rPr sz="1800" b="0">
                <a:solidFill>
                  <a:srgbClr val="202830"/>
                </a:solidFill>
                <a:latin typeface="Malgun Gothic"/>
              </a:rPr>
              <a:t>•  Cost가 낮다는 것은 옵티마이저가 그렇게 판단했다는 뜻이다</a:t>
            </a:r>
          </a:p>
          <a:p>
            <a:r>
              <a:rPr sz="1600" b="0">
                <a:solidFill>
                  <a:srgbClr val="5A6672"/>
                </a:solidFill>
                <a:latin typeface="Malgun Gothic"/>
              </a:rPr>
              <a:t>    –  실제로 빨랐다는 뜻이 아니다</a:t>
            </a:r>
          </a:p>
          <a:p>
            <a:r>
              <a:rPr sz="1600" b="0">
                <a:solidFill>
                  <a:srgbClr val="5A6672"/>
                </a:solidFill>
                <a:latin typeface="Malgun Gothic"/>
              </a:rPr>
              <a:t>    –  실측은 A-Time과 Buffers로 따로 확인해야 한다</a:t>
            </a:r>
          </a:p>
          <a:p>
            <a:r>
              <a:rPr sz="1800" b="0">
                <a:solidFill>
                  <a:srgbClr val="202830"/>
                </a:solidFill>
                <a:latin typeface="Malgun Gothic"/>
              </a:rPr>
              <a:t>•  %CPU는 그 Cost 중 CPU가 차지하는 비율을 나타낸다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Cost 비교는 어디까지 유효한가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비교가 유효한 범위 — 같은 SQL의 대안 계획들 사이</a:t>
            </a:r>
          </a:p>
          <a:p>
            <a:r>
              <a:rPr sz="1600" b="0">
                <a:solidFill>
                  <a:srgbClr val="5A6672"/>
                </a:solidFill>
                <a:latin typeface="Malgun Gothic"/>
              </a:rPr>
              <a:t>    –  같은 재료로 만든 후보들이라 같은 잣대가 적용된다</a:t>
            </a:r>
          </a:p>
          <a:p>
            <a:r>
              <a:rPr sz="1600" b="0">
                <a:solidFill>
                  <a:srgbClr val="5A6672"/>
                </a:solidFill>
                <a:latin typeface="Malgun Gothic"/>
              </a:rPr>
              <a:t>    –  힌트를 바꿔 가며 같은 SQL의 계획을 비교할 때가 대표적이다</a:t>
            </a:r>
          </a:p>
          <a:p>
            <a:r>
              <a:rPr sz="1800" b="0">
                <a:solidFill>
                  <a:srgbClr val="202830"/>
                </a:solidFill>
                <a:latin typeface="Malgun Gothic"/>
              </a:rPr>
              <a:t>•  서로 다른 두 SQL의 Cost를 나란히 놓고 판단하면 틀린다</a:t>
            </a:r>
          </a:p>
          <a:p>
            <a:r>
              <a:rPr sz="1600" b="0">
                <a:solidFill>
                  <a:srgbClr val="5A6672"/>
                </a:solidFill>
                <a:latin typeface="Malgun Gothic"/>
              </a:rPr>
              <a:t>    –  이게 더 작으니까 더 빠르다는 판단은 성립하지 않는다</a:t>
            </a:r>
          </a:p>
          <a:p>
            <a:r>
              <a:rPr sz="1600" b="0">
                <a:solidFill>
                  <a:srgbClr val="5A6672"/>
                </a:solidFill>
                <a:latin typeface="Malgun Gothic"/>
              </a:rPr>
              <a:t>    –  읽는 대상도 다르고 결과 집합의 성격도 다르기 때문이다</a:t>
            </a:r>
          </a:p>
          <a:p>
            <a:r>
              <a:rPr sz="1800" b="0">
                <a:solidFill>
                  <a:srgbClr val="202830"/>
                </a:solidFill>
                <a:latin typeface="Malgun Gothic"/>
              </a:rPr>
              <a:t>•  실습문제 9번이 바로 이 함정을 다룬다 — Cost 857과 860의 비교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Predicate Information — access와 filter</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Predicate Information — 각 오퍼레이션 단계에서 실제로 적용된 조건</a:t>
            </a:r>
          </a:p>
          <a:p>
            <a:r>
              <a:rPr sz="1600" b="0">
                <a:solidFill>
                  <a:srgbClr val="5A6672"/>
                </a:solidFill>
                <a:latin typeface="Malgun Gothic"/>
              </a:rPr>
              <a:t>    –  앞의 번호가 그 조건이 적용된 Id를 가리킨다</a:t>
            </a:r>
          </a:p>
          <a:p>
            <a:r>
              <a:rPr sz="1800" b="0">
                <a:solidFill>
                  <a:srgbClr val="202830"/>
                </a:solidFill>
                <a:latin typeface="Malgun Gothic"/>
              </a:rPr>
              <a:t>•  access — 인덱스나 조인 상대를 찾아가는 데 쓰인 조건</a:t>
            </a:r>
          </a:p>
          <a:p>
            <a:r>
              <a:rPr sz="1600" b="0">
                <a:solidFill>
                  <a:srgbClr val="5A6672"/>
                </a:solidFill>
                <a:latin typeface="Malgun Gothic"/>
              </a:rPr>
              <a:t>    –  이 조건에 해당하는 컬럼의 인덱스가 있어야 발생 가능하다</a:t>
            </a:r>
          </a:p>
          <a:p>
            <a:r>
              <a:rPr sz="1600" b="0">
                <a:solidFill>
                  <a:srgbClr val="5A6672"/>
                </a:solidFill>
                <a:latin typeface="Malgun Gothic"/>
              </a:rPr>
              <a:t>    –  읽을 범위 자체를 줄여 주므로 읽는 양이 실제로 줄어든다</a:t>
            </a:r>
          </a:p>
          <a:p>
            <a:r>
              <a:rPr sz="1800" b="0">
                <a:solidFill>
                  <a:srgbClr val="202830"/>
                </a:solidFill>
                <a:latin typeface="Malgun Gothic"/>
              </a:rPr>
              <a:t>•  filter — 이미 읽어 온 행들 중에서 걸러내는 데만 쓰인 조건</a:t>
            </a:r>
          </a:p>
          <a:p>
            <a:r>
              <a:rPr sz="1600" b="0">
                <a:solidFill>
                  <a:srgbClr val="5A6672"/>
                </a:solidFill>
                <a:latin typeface="Malgun Gothic"/>
              </a:rPr>
              <a:t>    –  인덱스 유무와 무관하게 항상 발생 가능하다</a:t>
            </a:r>
          </a:p>
          <a:p>
            <a:r>
              <a:rPr sz="1600" b="0">
                <a:solidFill>
                  <a:srgbClr val="5A6672"/>
                </a:solidFill>
                <a:latin typeface="Malgun Gothic"/>
              </a:rPr>
              <a:t>    –  읽는 양은 그대로이고 결과 건수만 줄어든다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같은 조건이 access와 filter로 갈리는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조건이라도 컬럼에 인덱스가 없으면 access가 아니라 filter로만 나타난다</a:t>
            </a:r>
          </a:p>
          <a:p>
            <a:r>
              <a:rPr sz="1600" b="0">
                <a:solidFill>
                  <a:srgbClr val="5A6672"/>
                </a:solidFill>
                <a:latin typeface="Malgun Gothic"/>
              </a:rPr>
              <a:t>    –  조건식이 같다고 처리 방식이 같은 것은 아니다</a:t>
            </a:r>
          </a:p>
          <a:p>
            <a:r>
              <a:rPr sz="1600" b="0">
                <a:solidFill>
                  <a:srgbClr val="5A6672"/>
                </a:solidFill>
                <a:latin typeface="Malgun Gothic"/>
              </a:rPr>
              <a:t>    –  조건을 어떻게 썼느냐보다 그 컬럼에 인덱스가 있느냐가 먼저다</a:t>
            </a:r>
          </a:p>
          <a:p>
            <a:r>
              <a:rPr sz="1800" b="0">
                <a:solidFill>
                  <a:srgbClr val="202830"/>
                </a:solidFill>
                <a:latin typeface="Malgun Gothic"/>
              </a:rPr>
              <a:t>•  인덱스를 만들었는데 왜 안 쓰이는지를 진단할 때 가장 먼저 볼 곳</a:t>
            </a:r>
          </a:p>
          <a:p>
            <a:r>
              <a:rPr sz="1600" b="0">
                <a:solidFill>
                  <a:srgbClr val="5A6672"/>
                </a:solidFill>
                <a:latin typeface="Malgun Gothic"/>
              </a:rPr>
              <a:t>    –  Predicate Information에서 그 조건이 access인지 filter인지 확인한다</a:t>
            </a:r>
          </a:p>
          <a:p>
            <a:r>
              <a:rPr sz="1600" b="0">
                <a:solidFill>
                  <a:srgbClr val="5A6672"/>
                </a:solidFill>
                <a:latin typeface="Malgun Gothic"/>
              </a:rPr>
              <a:t>    –  filter로만 나온다면 인덱스가 쓰이지 않았다는 직접적인 증거다</a:t>
            </a:r>
          </a:p>
          <a:p>
            <a:r>
              <a:rPr sz="1800" b="0">
                <a:solidFill>
                  <a:srgbClr val="202830"/>
                </a:solidFill>
                <a:latin typeface="Malgun Gothic"/>
              </a:rPr>
              <a:t>•  실습문제 8번 — 같은 HOSP_ID 조건이 한쪽은 access, 다른 쪽은 filter인 사례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 순서 판독 원칙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트리에서 들여쓰기가 가장 깊은 노드부터 먼저 실행된다</a:t>
            </a:r>
          </a:p>
          <a:p>
            <a:r>
              <a:rPr sz="1800" b="0">
                <a:solidFill>
                  <a:srgbClr val="202830"/>
                </a:solidFill>
                <a:latin typeface="Malgun Gothic"/>
              </a:rPr>
              <a:t>•  같은 들여쓰기 레벨에서는 아래쪽이 먼저 실행된다</a:t>
            </a:r>
          </a:p>
          <a:p>
            <a:r>
              <a:rPr sz="1800" b="0">
                <a:solidFill>
                  <a:srgbClr val="202830"/>
                </a:solidFill>
                <a:latin typeface="Malgun Gothic"/>
              </a:rPr>
              <a:t>•  그 결과가 위쪽·바깥쪽 노드로 전달되어 조합된다</a:t>
            </a:r>
          </a:p>
          <a:p>
            <a:r>
              <a:rPr sz="1600" b="0">
                <a:solidFill>
                  <a:srgbClr val="5A6672"/>
                </a:solidFill>
                <a:latin typeface="Malgun Gothic"/>
              </a:rPr>
              <a:t>    –  부모 노드는 자식의 결과가 도착해야 자기 일을 시작할 수 있다</a:t>
            </a:r>
          </a:p>
          <a:p>
            <a:r>
              <a:rPr sz="1800" b="0">
                <a:solidFill>
                  <a:srgbClr val="202830"/>
                </a:solidFill>
                <a:latin typeface="Malgun Gothic"/>
              </a:rPr>
              <a:t>•  Id 번호 순서대로 읽으면 실제 실행 순서와 반대로 읽게 되므로 주의한다</a:t>
            </a:r>
          </a:p>
          <a:p>
            <a:r>
              <a:rPr sz="1600" b="0">
                <a:solidFill>
                  <a:srgbClr val="5A6672"/>
                </a:solidFill>
                <a:latin typeface="Malgun Gothic"/>
              </a:rPr>
              <a:t>    –  계획을 볼 때 숫자보다 들여쓰기 깊이부터 눈으로 확인하는 습관을 들인다</a:t>
            </a:r>
          </a:p>
          <a:p>
            <a:r>
              <a:rPr sz="1800" b="0">
                <a:solidFill>
                  <a:srgbClr val="202830"/>
                </a:solidFill>
                <a:latin typeface="Malgun Gothic"/>
              </a:rPr>
              <a:t>•  3.8절 Q6 계획에서 이 원칙을 직접 적용해 본다</a:t>
            </a:r>
          </a:p>
          <a:p>
            <a:r>
              <a:rPr sz="1600" b="0">
                <a:solidFill>
                  <a:srgbClr val="5A6672"/>
                </a:solidFill>
                <a:latin typeface="Malgun Gothic"/>
              </a:rPr>
              <a:t>    –  여섯 단계짜리 계획의 실행 순서를 손으로 적어 보는 연습을 권한다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카디널리티 추정 오류 사례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E-Rows와 A-Rows의 차이</a:t>
            </a:r>
          </a:p>
          <a:p>
            <a:r>
              <a:rPr sz="1600" b="0">
                <a:solidFill>
                  <a:srgbClr val="C5CED6"/>
                </a:solidFill>
                <a:latin typeface="Malgun Gothic"/>
              </a:rPr>
              <a:t>•  왜 어긋났는가 — 독립 가정의 곱셈</a:t>
            </a:r>
          </a:p>
          <a:p>
            <a:r>
              <a:rPr sz="1600" b="0">
                <a:solidFill>
                  <a:srgbClr val="C5CED6"/>
                </a:solidFill>
                <a:latin typeface="Malgun Gothic"/>
              </a:rPr>
              <a:t>•  상관관계는 자동으로 인식되지 않는다</a:t>
            </a:r>
          </a:p>
          <a:p>
            <a:r>
              <a:rPr sz="1600" b="0">
                <a:solidFill>
                  <a:srgbClr val="C5CED6"/>
                </a:solidFill>
                <a:latin typeface="Malgun Gothic"/>
              </a:rPr>
              <a:t>•  추정 오류는 전파된다</a:t>
            </a:r>
          </a:p>
          <a:p>
            <a:r>
              <a:rPr sz="1600" b="0">
                <a:solidFill>
                  <a:srgbClr val="C5CED6"/>
                </a:solidFill>
                <a:latin typeface="Malgun Gothic"/>
              </a:rPr>
              <a:t>•  실무 판독 원칙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 후 실측 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3.4절 SQL을 실제 실행 후 DBMS_XPLAN.DISPLAY_CURSOR(NULL, NULL, 'ALLSTATS LAST')</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411 |00:00:00.02 |    3117 |</a:t>
            </a:r>
          </a:p>
          <a:p>
            <a:r>
              <a:rPr sz="1250" b="0">
                <a:solidFill>
                  <a:srgbClr val="E6E6E6"/>
                </a:solidFill>
                <a:latin typeface="Consolas"/>
              </a:rPr>
              <a:t>| 1  | TABLE ACCESS FULL | MEDICAL_CLAIMS |      1 |  77946 |    411 |00:00:00.02 |    3117 |</a:t>
            </a:r>
          </a:p>
          <a:p>
            <a:r>
              <a:rPr sz="1250" b="0">
                <a:solidFill>
                  <a:srgbClr val="E6E6E6"/>
                </a:solidFill>
                <a:latin typeface="Consolas"/>
              </a:rPr>
              <a:t> </a:t>
            </a:r>
          </a:p>
          <a:p>
            <a:r>
              <a:rPr sz="1250" b="0">
                <a:solidFill>
                  <a:srgbClr val="7EC699"/>
                </a:solidFill>
                <a:latin typeface="Consolas"/>
              </a:rPr>
              <a:t>-- E-Rows : 실행 전 옵티마이저가 통계정보로 추정한 건수</a:t>
            </a:r>
          </a:p>
          <a:p>
            <a:r>
              <a:rPr sz="1250" b="0">
                <a:solidFill>
                  <a:srgbClr val="7EC699"/>
                </a:solidFill>
                <a:latin typeface="Consolas"/>
              </a:rPr>
              <a:t>-- A-Rows : 실제로 실행해서 나온 건수</a:t>
            </a:r>
          </a:p>
          <a:p>
            <a:r>
              <a:rPr sz="1250" b="0">
                <a:solidFill>
                  <a:srgbClr val="7EC699"/>
                </a:solidFill>
                <a:latin typeface="Consolas"/>
              </a:rPr>
              <a:t>-- 같은 SQL, 같은 데이터인데 두 값이 크게 벌어져 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E-Rows와 A-Rows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E-Rows — 실행 전 옵티마이저가 통계정보를 근거로 추정한 건수</a:t>
            </a:r>
          </a:p>
          <a:p>
            <a:r>
              <a:rPr sz="1800" b="0">
                <a:solidFill>
                  <a:srgbClr val="202830"/>
                </a:solidFill>
                <a:latin typeface="Malgun Gothic"/>
              </a:rPr>
              <a:t>•  A-Rows — 실제로 실행해서 나온 건수</a:t>
            </a:r>
          </a:p>
          <a:p>
            <a:r>
              <a:rPr sz="1800" b="0">
                <a:solidFill>
                  <a:srgbClr val="202830"/>
                </a:solidFill>
                <a:latin typeface="Malgun Gothic"/>
              </a:rPr>
              <a:t>•  이 사례의 실측 결과</a:t>
            </a:r>
          </a:p>
          <a:p>
            <a:r>
              <a:rPr sz="1600" b="0">
                <a:solidFill>
                  <a:srgbClr val="5A6672"/>
                </a:solidFill>
                <a:latin typeface="Malgun Gothic"/>
              </a:rPr>
              <a:t>    –  E-Rows 77,946건 vs A-Rows 411건 — 약 190배 차이</a:t>
            </a:r>
          </a:p>
          <a:p>
            <a:r>
              <a:rPr sz="1600" b="0">
                <a:solidFill>
                  <a:srgbClr val="5A6672"/>
                </a:solidFill>
                <a:latin typeface="Malgun Gothic"/>
              </a:rPr>
              <a:t>    –  같은 SQL, 같은 데이터인데 예상과 실제가 이만큼 벌어졌다</a:t>
            </a:r>
          </a:p>
          <a:p>
            <a:r>
              <a:rPr sz="1800" b="0">
                <a:solidFill>
                  <a:srgbClr val="202830"/>
                </a:solidFill>
                <a:latin typeface="Malgun Gothic"/>
              </a:rPr>
              <a:t>•  함께 읽어야 할 실측 컬럼</a:t>
            </a:r>
          </a:p>
          <a:p>
            <a:r>
              <a:rPr sz="1600" b="0">
                <a:solidFill>
                  <a:srgbClr val="5A6672"/>
                </a:solidFill>
                <a:latin typeface="Malgun Gothic"/>
              </a:rPr>
              <a:t>    –  Starts 1 — 이 단계가 한 번만 수행되었다</a:t>
            </a:r>
          </a:p>
          <a:p>
            <a:r>
              <a:rPr sz="1600" b="0">
                <a:solidFill>
                  <a:srgbClr val="5A6672"/>
                </a:solidFill>
                <a:latin typeface="Malgun Gothic"/>
              </a:rPr>
              <a:t>    –  Buffers 3,117 — 실제로 읽은 블록 수, 전체를 훑었다는 증거</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어긋났는가 — 독립 가정의 곱셈</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옵티마이저의 계산 절차</a:t>
            </a:r>
          </a:p>
          <a:p>
            <a:r>
              <a:rPr sz="1600" b="0">
                <a:solidFill>
                  <a:srgbClr val="5A6672"/>
                </a:solidFill>
                <a:latin typeface="Malgun Gothic"/>
              </a:rPr>
              <a:t>    –  CLAIM_TYPE='입원'의 선택도를 구한다</a:t>
            </a:r>
          </a:p>
          <a:p>
            <a:r>
              <a:rPr sz="1600" b="0">
                <a:solidFill>
                  <a:srgbClr val="5A6672"/>
                </a:solidFill>
                <a:latin typeface="Malgun Gothic"/>
              </a:rPr>
              <a:t>    –  TOTAL_AMT&gt;500000의 선택도를 구한다</a:t>
            </a:r>
          </a:p>
          <a:p>
            <a:r>
              <a:rPr sz="1600" b="0">
                <a:solidFill>
                  <a:srgbClr val="5A6672"/>
                </a:solidFill>
                <a:latin typeface="Malgun Gothic"/>
              </a:rPr>
              <a:t>    –  두 값을 곱해서 전체 조건의 선택도를 추정한다</a:t>
            </a:r>
          </a:p>
          <a:p>
            <a:r>
              <a:rPr sz="1800" b="0">
                <a:solidFill>
                  <a:srgbClr val="202830"/>
                </a:solidFill>
                <a:latin typeface="Malgun Gothic"/>
              </a:rPr>
              <a:t>•  이 곱셈은 두 조건이 서로 독립이라는 가정 위에 서 있다</a:t>
            </a:r>
          </a:p>
          <a:p>
            <a:r>
              <a:rPr sz="1600" b="0">
                <a:solidFill>
                  <a:srgbClr val="5A6672"/>
                </a:solidFill>
                <a:latin typeface="Malgun Gothic"/>
              </a:rPr>
              <a:t>    –  한쪽 조건을 만족하는지가 다른 쪽에 아무 영향을 주지 않는다는 전제다</a:t>
            </a:r>
          </a:p>
          <a:p>
            <a:r>
              <a:rPr sz="1800" b="0">
                <a:solidFill>
                  <a:srgbClr val="202830"/>
                </a:solidFill>
                <a:latin typeface="Malgun Gothic"/>
              </a:rPr>
              <a:t>•  그러나 실제 데이터에서 두 조건이 서로 무관하지 않을 수 있다</a:t>
            </a:r>
          </a:p>
          <a:p>
            <a:r>
              <a:rPr sz="1600" b="0">
                <a:solidFill>
                  <a:srgbClr val="5A6672"/>
                </a:solidFill>
                <a:latin typeface="Malgun Gothic"/>
              </a:rPr>
              <a:t>    –  입원 진료가 외래보다 평균 진료비가 높은 경향이 있다면 두 조건은 겹친다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상관관계는 자동으로 인식되지 않는다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조건이 겹치는 방향으로 상관되어 있으면</a:t>
            </a:r>
          </a:p>
          <a:p>
            <a:r>
              <a:rPr sz="1600" b="0">
                <a:solidFill>
                  <a:srgbClr val="5A6672"/>
                </a:solidFill>
                <a:latin typeface="Malgun Gothic"/>
              </a:rPr>
              <a:t>    –  실제로 두 조건을 동시에 만족하는 행이 곱셈 추정치보다 적어질 수 있다</a:t>
            </a:r>
          </a:p>
          <a:p>
            <a:r>
              <a:rPr sz="1600" b="0">
                <a:solidFill>
                  <a:srgbClr val="5A6672"/>
                </a:solidFill>
                <a:latin typeface="Malgun Gothic"/>
              </a:rPr>
              <a:t>    –  반대로 많아지는 경우도 있다 — 방향은 데이터에 따라 다르다</a:t>
            </a:r>
          </a:p>
          <a:p>
            <a:r>
              <a:rPr sz="1800" b="0">
                <a:solidFill>
                  <a:srgbClr val="202830"/>
                </a:solidFill>
                <a:latin typeface="Malgun Gothic"/>
              </a:rPr>
              <a:t>•  이런 상관관계를 옵티마이저가 자동으로 알아채지는 못한다</a:t>
            </a:r>
          </a:p>
          <a:p>
            <a:r>
              <a:rPr sz="1600" b="0">
                <a:solidFill>
                  <a:srgbClr val="5A6672"/>
                </a:solidFill>
                <a:latin typeface="Malgun Gothic"/>
              </a:rPr>
              <a:t>    –  확장 통계(extended statistics)를 별도로 만들어 주지 않는 한</a:t>
            </a:r>
          </a:p>
          <a:p>
            <a:r>
              <a:rPr sz="1600" b="0">
                <a:solidFill>
                  <a:srgbClr val="5A6672"/>
                </a:solidFill>
                <a:latin typeface="Malgun Gothic"/>
              </a:rPr>
              <a:t>    –  항상 독립 가정으로 계산한다</a:t>
            </a:r>
          </a:p>
          <a:p>
            <a:r>
              <a:rPr sz="1800" b="0">
                <a:solidFill>
                  <a:srgbClr val="202830"/>
                </a:solidFill>
                <a:latin typeface="Malgun Gothic"/>
              </a:rPr>
              <a:t>•  즉 이 오차는 버그가 아니라 설계상의 기본 동작이다</a:t>
            </a:r>
          </a:p>
          <a:p>
            <a:r>
              <a:rPr sz="1600" b="0">
                <a:solidFill>
                  <a:srgbClr val="5A6672"/>
                </a:solidFill>
                <a:latin typeface="Malgun Gothic"/>
              </a:rPr>
              <a:t>    –  사람이 알려 주지 않으면 옵티마이저가 알 방법이 없다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 오류는 전파된다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SQL이 더 큰 쿼리의 일부였다면</a:t>
            </a:r>
          </a:p>
          <a:p>
            <a:r>
              <a:rPr sz="1600" b="0">
                <a:solidFill>
                  <a:srgbClr val="5A6672"/>
                </a:solidFill>
                <a:latin typeface="Malgun Gothic"/>
              </a:rPr>
              <a:t>    –  서브쿼리이거나 조인의 한쪽 입력이었을 경우</a:t>
            </a:r>
          </a:p>
          <a:p>
            <a:r>
              <a:rPr sz="1800" b="0">
                <a:solidFill>
                  <a:srgbClr val="202830"/>
                </a:solidFill>
                <a:latin typeface="Malgun Gothic"/>
              </a:rPr>
              <a:t>•  잘못된 77,946이라는 예상치를 근거로 후속 판단이 결정된다</a:t>
            </a:r>
          </a:p>
          <a:p>
            <a:r>
              <a:rPr sz="1600" b="0">
                <a:solidFill>
                  <a:srgbClr val="5A6672"/>
                </a:solidFill>
                <a:latin typeface="Malgun Gothic"/>
              </a:rPr>
              <a:t>    –  조인 순서 — 어느 쪽을 먼저 읽을지</a:t>
            </a:r>
          </a:p>
          <a:p>
            <a:r>
              <a:rPr sz="1600" b="0">
                <a:solidFill>
                  <a:srgbClr val="5A6672"/>
                </a:solidFill>
                <a:latin typeface="Malgun Gothic"/>
              </a:rPr>
              <a:t>    –  조인 방식 — Nested Loops인지 Hash Join인지</a:t>
            </a:r>
          </a:p>
          <a:p>
            <a:r>
              <a:rPr sz="1600" b="0">
                <a:solidFill>
                  <a:srgbClr val="5A6672"/>
                </a:solidFill>
                <a:latin typeface="Malgun Gothic"/>
              </a:rPr>
              <a:t>    –  작업 영역 크기 — 얼마나 큰 메모리를 잡을지</a:t>
            </a:r>
          </a:p>
          <a:p>
            <a:r>
              <a:rPr sz="1800" b="0">
                <a:solidFill>
                  <a:srgbClr val="202830"/>
                </a:solidFill>
                <a:latin typeface="Malgun Gothic"/>
              </a:rPr>
              <a:t>•  추정 오류는 그 자리에서 끝나지 않고 후속 판단으로 전파된다</a:t>
            </a:r>
          </a:p>
          <a:p>
            <a:r>
              <a:rPr sz="1600" b="0">
                <a:solidFill>
                  <a:srgbClr val="5A6672"/>
                </a:solidFill>
                <a:latin typeface="Malgun Gothic"/>
              </a:rPr>
              <a:t>    –  이것이 카디널리티 추정 오류를 중요하게 다루는 이유다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판독 원칙</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E-Rows와 A-Rows 차이가 크면 카디널리티 추정 오류를 의심한다</a:t>
            </a:r>
          </a:p>
          <a:p>
            <a:r>
              <a:rPr sz="1600" b="0">
                <a:solidFill>
                  <a:srgbClr val="5A6672"/>
                </a:solidFill>
                <a:latin typeface="Malgun Gothic"/>
              </a:rPr>
              <a:t>    –  수십 배 이상 벌어지면 일단 의심 대상으로 표시한다</a:t>
            </a:r>
          </a:p>
          <a:p>
            <a:r>
              <a:rPr sz="1800" b="0">
                <a:solidFill>
                  <a:srgbClr val="202830"/>
                </a:solidFill>
                <a:latin typeface="Malgun Gothic"/>
              </a:rPr>
              <a:t>•  확인 순서</a:t>
            </a:r>
          </a:p>
          <a:p>
            <a:r>
              <a:rPr sz="1600" b="0">
                <a:solidFill>
                  <a:srgbClr val="5A6672"/>
                </a:solidFill>
                <a:latin typeface="Malgun Gothic"/>
              </a:rPr>
              <a:t>    –  어느 단계에서 차이가 벌어졌는지 계획 위에서 지목한다</a:t>
            </a:r>
          </a:p>
          <a:p>
            <a:r>
              <a:rPr sz="1600" b="0">
                <a:solidFill>
                  <a:srgbClr val="5A6672"/>
                </a:solidFill>
                <a:latin typeface="Malgun Gothic"/>
              </a:rPr>
              <a:t>    –  그 단계의 조건 컬럼과 통계 상태를 확인한다</a:t>
            </a:r>
          </a:p>
          <a:p>
            <a:r>
              <a:rPr sz="1600" b="0">
                <a:solidFill>
                  <a:srgbClr val="5A6672"/>
                </a:solidFill>
                <a:latin typeface="Malgun Gothic"/>
              </a:rPr>
              <a:t>    –  통계 미갱신인지, 상관관계인지, 히스토그램 부재인지 갈래를 나눈다</a:t>
            </a:r>
          </a:p>
          <a:p>
            <a:r>
              <a:rPr sz="1800" b="0">
                <a:solidFill>
                  <a:srgbClr val="202830"/>
                </a:solidFill>
                <a:latin typeface="Malgun Gothic"/>
              </a:rPr>
              <a:t>•  상세 대응은 ch08(Optimizer와 통계정보)에서 다룬다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본 차시의 목표는 추정 오류를 고치는 것이 아니라, 실행계획에서 그 징후를 발견하는 것이다.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이 차시에서 남겨 두는 것</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Full Scan이 나온 이유</a:t>
            </a:r>
          </a:p>
          <a:p>
            <a:r>
              <a:rPr sz="1600" b="0">
                <a:solidFill>
                  <a:srgbClr val="C5CED6"/>
                </a:solidFill>
                <a:latin typeface="Malgun Gothic"/>
              </a:rPr>
              <a:t>•  개선은 어느 챕터의 범위인가</a:t>
            </a:r>
          </a:p>
          <a:p>
            <a:r>
              <a:rPr sz="1600" b="0">
                <a:solidFill>
                  <a:srgbClr val="C5CED6"/>
                </a:solidFill>
                <a:latin typeface="Malgun Gothic"/>
              </a:rPr>
              <a:t>•  판독을 먼저 확립하는 순서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Full Scan의 이유와 지금 고치지 않는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SQL이 Full Scan인 이유</a:t>
            </a:r>
          </a:p>
          <a:p>
            <a:r>
              <a:rPr sz="1600" b="0">
                <a:solidFill>
                  <a:srgbClr val="5A6672"/>
                </a:solidFill>
                <a:latin typeface="Malgun Gothic"/>
              </a:rPr>
              <a:t>    –  CLAIM_TYPE, TOTAL_AMT 두 컬럼 모두 인덱스가 없다</a:t>
            </a:r>
          </a:p>
          <a:p>
            <a:r>
              <a:rPr sz="1600" b="0">
                <a:solidFill>
                  <a:srgbClr val="5A6672"/>
                </a:solidFill>
                <a:latin typeface="Malgun Gothic"/>
              </a:rPr>
              <a:t>    –  찾아갈 길이 없으므로 전부 읽는 것 외에 선택지가 없었다</a:t>
            </a:r>
          </a:p>
          <a:p>
            <a:r>
              <a:rPr sz="1800" b="0">
                <a:solidFill>
                  <a:srgbClr val="202830"/>
                </a:solidFill>
                <a:latin typeface="Malgun Gothic"/>
              </a:rPr>
              <a:t>•  인덱스를 만들면 해결되는지, 어떤 인덱스가 적합한지는 ch06의 범위</a:t>
            </a:r>
          </a:p>
          <a:p>
            <a:r>
              <a:rPr sz="1800" b="0">
                <a:solidFill>
                  <a:srgbClr val="202830"/>
                </a:solidFill>
                <a:latin typeface="Malgun Gothic"/>
              </a:rPr>
              <a:t>•  본 차시에서 다루지 않는 이유</a:t>
            </a:r>
          </a:p>
          <a:p>
            <a:r>
              <a:rPr sz="1600" b="0">
                <a:solidFill>
                  <a:srgbClr val="5A6672"/>
                </a:solidFill>
                <a:latin typeface="Malgun Gothic"/>
              </a:rPr>
              <a:t>    –  지금 인덱스부터 만들면 왜 그 인덱스를 골랐는지 판단할 기준이 없다</a:t>
            </a:r>
          </a:p>
          <a:p>
            <a:r>
              <a:rPr sz="1600" b="0">
                <a:solidFill>
                  <a:srgbClr val="5A6672"/>
                </a:solidFill>
                <a:latin typeface="Malgun Gothic"/>
              </a:rPr>
              <a:t>    –  선택도와 컬럼 순서 같은 기준은 아직 배우지 않은 상태다</a:t>
            </a:r>
          </a:p>
          <a:p>
            <a:r>
              <a:rPr sz="1800" b="0">
                <a:solidFill>
                  <a:srgbClr val="202830"/>
                </a:solidFill>
                <a:latin typeface="Malgun Gothic"/>
              </a:rPr>
              <a:t>•  판독을 먼저 확립한 뒤 설계로 넘어가는 순서를 따른다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3.8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주요 Operation 6종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Q1 비인덱스 조건 · Q2 PK 등치 · Q3 PK 범위</a:t>
            </a:r>
          </a:p>
          <a:p>
            <a:r>
              <a:rPr sz="1600" b="0">
                <a:solidFill>
                  <a:srgbClr val="C5CED6"/>
                </a:solidFill>
                <a:latin typeface="Malgun Gothic"/>
              </a:rPr>
              <a:t>•  Q4 인덱스 정렬 활용 · Q5 인덱스만으로 집계</a:t>
            </a:r>
          </a:p>
          <a:p>
            <a:r>
              <a:rPr sz="1600" b="0">
                <a:solidFill>
                  <a:srgbClr val="C5CED6"/>
                </a:solidFill>
                <a:latin typeface="Malgun Gothic"/>
              </a:rPr>
              <a:t>•  Q6 조인과 집계가 섞인 실전형</a:t>
            </a:r>
          </a:p>
          <a:p>
            <a:r>
              <a:rPr sz="1600" b="0">
                <a:solidFill>
                  <a:srgbClr val="C5CED6"/>
                </a:solidFill>
                <a:latin typeface="Malgun Gothic"/>
              </a:rPr>
              <a:t>•  DDL 변경 없이 기존 PK 인덱스만으로 관찰</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6종 비교표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3.8절 — DDL 변경 없이 기존 PK 인덱스만으로 관찰한 6개 패턴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  | 쿼리                                      | 핵심 Operation                          | Buffers |</a:t>
            </a:r>
          </a:p>
          <a:p>
            <a:r>
              <a:rPr sz="1250" b="0">
                <a:solidFill>
                  <a:srgbClr val="E6E6E6"/>
                </a:solidFill>
                <a:latin typeface="Consolas"/>
              </a:rPr>
              <a:t>+----+-------------------------------------------+-----------------------------------------+---------+</a:t>
            </a:r>
          </a:p>
          <a:p>
            <a:r>
              <a:rPr sz="1250" b="0">
                <a:solidFill>
                  <a:srgbClr val="E6E6E6"/>
                </a:solidFill>
                <a:latin typeface="Consolas"/>
              </a:rPr>
              <a:t>| Q1 | claim_type=.. AND total_amt&gt;.. (비인덱스) | TABLE ACCESS FULL                       |   3,117 |</a:t>
            </a:r>
          </a:p>
          <a:p>
            <a:r>
              <a:rPr sz="1250" b="0">
                <a:solidFill>
                  <a:srgbClr val="E6E6E6"/>
                </a:solidFill>
                <a:latin typeface="Consolas"/>
              </a:rPr>
              <a:t>| Q2 | claim_id = '...' (PK 등치)                | INDEX UNIQUE SCAN -&gt; BY INDEX ROWID     |       4 |</a:t>
            </a:r>
          </a:p>
          <a:p>
            <a:r>
              <a:rPr sz="1250" b="0">
                <a:solidFill>
                  <a:srgbClr val="E6E6E6"/>
                </a:solidFill>
                <a:latin typeface="Consolas"/>
              </a:rPr>
              <a:t>| Q3 | pat_id BETWEEN 100 AND 130 (PK 범위)      | INDEX RANGE SCAN -&gt; ...BATCHED          |       9 |</a:t>
            </a:r>
          </a:p>
          <a:p>
            <a:r>
              <a:rPr sz="1250" b="0">
                <a:solidFill>
                  <a:srgbClr val="E6E6E6"/>
                </a:solidFill>
                <a:latin typeface="Consolas"/>
              </a:rPr>
              <a:t>| Q4 | ORDER BY claim_id FETCH FIRST 5 ROWS      | WINDOW NOSORT STOPKEY + INDEX FULL SCAN |       4 |</a:t>
            </a:r>
          </a:p>
          <a:p>
            <a:r>
              <a:rPr sz="1250" b="0">
                <a:solidFill>
                  <a:srgbClr val="E6E6E6"/>
                </a:solidFill>
                <a:latin typeface="Consolas"/>
              </a:rPr>
              <a:t>| Q5 | COUNT(claim_id)                           | SORT AGGREGATE + INDEX FAST FULL SCAN   |   1,891 |</a:t>
            </a:r>
          </a:p>
          <a:p>
            <a:r>
              <a:rPr sz="1250" b="0">
                <a:solidFill>
                  <a:srgbClr val="E6E6E6"/>
                </a:solidFill>
                <a:latin typeface="Consolas"/>
              </a:rPr>
              <a:t>| Q6 | HOSPITALS+MEDICAL_CLAIMS 조인 + GROUP BY  | HASH GROUP BY + HASH JOIN               |   3,093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Q4는 INDEX(medical_claims PK_MEDICAL_CLAIMS) 힌트로 강제한 결과</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 비인덱스 컬럼 조건 패턴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 컬럼에 인덱스가 없으면 선택지는 하나뿐 — TABLE ACCESS FULL</a:t>
            </a:r>
          </a:p>
          <a:p>
            <a:r>
              <a:rPr sz="1600" b="0">
                <a:solidFill>
                  <a:srgbClr val="5A6672"/>
                </a:solidFill>
                <a:latin typeface="Malgun Gothic"/>
              </a:rPr>
              <a:t>    –  조건은 access가 아니라 filter로만 적용된다</a:t>
            </a:r>
          </a:p>
          <a:p>
            <a:r>
              <a:rPr sz="1600" b="0">
                <a:solidFill>
                  <a:srgbClr val="5A6672"/>
                </a:solidFill>
                <a:latin typeface="Malgun Gothic"/>
              </a:rPr>
              <a:t>    –  읽는 양은 줄지 않고 결과 건수만 줄어든다</a:t>
            </a:r>
          </a:p>
          <a:p>
            <a:r>
              <a:rPr sz="1800" b="0">
                <a:solidFill>
                  <a:srgbClr val="202830"/>
                </a:solidFill>
                <a:latin typeface="Malgun Gothic"/>
              </a:rPr>
              <a:t>•  실측 Buffers 3,117 — 테이블 전체를 훑은 결과다</a:t>
            </a:r>
          </a:p>
          <a:p>
            <a:r>
              <a:rPr sz="1600" b="0">
                <a:solidFill>
                  <a:srgbClr val="5A6672"/>
                </a:solidFill>
                <a:latin typeface="Malgun Gothic"/>
              </a:rPr>
              <a:t>    –  E-Rows와 A-Rows가 190배 차이 난 것도 이 패턴에서 함께 관찰되었다</a:t>
            </a:r>
          </a:p>
          <a:p>
            <a:r>
              <a:rPr sz="1800" b="0">
                <a:solidFill>
                  <a:srgbClr val="202830"/>
                </a:solidFill>
                <a:latin typeface="Malgun Gothic"/>
              </a:rPr>
              <a:t>•  이 패턴이 나오면 확인할 것</a:t>
            </a:r>
          </a:p>
          <a:p>
            <a:r>
              <a:rPr sz="1600" b="0">
                <a:solidFill>
                  <a:srgbClr val="5A6672"/>
                </a:solidFill>
                <a:latin typeface="Malgun Gothic"/>
              </a:rPr>
              <a:t>    –  조건 컬럼에 인덱스가 있는가, 있다면 왜 쓰이지 않았는가</a:t>
            </a:r>
          </a:p>
          <a:p>
            <a:r>
              <a:rPr sz="1600" b="0">
                <a:solidFill>
                  <a:srgbClr val="5A6672"/>
                </a:solidFill>
                <a:latin typeface="Malgun Gothic"/>
              </a:rPr>
              <a:t>    –  결과 건수가 전체에서 차지하는 비율은 얼마나 되는가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 PK 등치 조건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MEDICAL_CLAIMS · WHERE claim_id = '20240615-0013440'</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1 |       4 |</a:t>
            </a:r>
          </a:p>
          <a:p>
            <a:r>
              <a:rPr sz="1250" b="0">
                <a:solidFill>
                  <a:srgbClr val="E6E6E6"/>
                </a:solidFill>
                <a:latin typeface="Consolas"/>
              </a:rPr>
              <a:t>| 1  |  TABLE ACCESS BY INDEX ROWID | MEDICAL_CLAIMS    |      1 |      1 |      1 |       4 |</a:t>
            </a:r>
          </a:p>
          <a:p>
            <a:r>
              <a:rPr sz="1250" b="0">
                <a:solidFill>
                  <a:srgbClr val="E6E6E6"/>
                </a:solidFill>
                <a:latin typeface="Consolas"/>
              </a:rPr>
              <a:t>| 2  |   INDEX UNIQUE SCAN          | PK_MEDICAL_CLAIMS |      1 |      1 |      1 |       3 |</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2 - access("CLAIM_ID"='20240615-0013440')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PK 범위 조건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PATIENTS · WHERE pat_id BETWEEN 100 AND 130</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31 |       9 |</a:t>
            </a:r>
          </a:p>
          <a:p>
            <a:r>
              <a:rPr sz="1250" b="0">
                <a:solidFill>
                  <a:srgbClr val="E6E6E6"/>
                </a:solidFill>
                <a:latin typeface="Consolas"/>
              </a:rPr>
              <a:t>| 1  |  TABLE ACCESS BY INDEX ROWID BATCHED | PATIENTS    |      1 |     32 |     31 |       9 |</a:t>
            </a:r>
          </a:p>
          <a:p>
            <a:r>
              <a:rPr sz="1250" b="0">
                <a:solidFill>
                  <a:srgbClr val="E6E6E6"/>
                </a:solidFill>
                <a:latin typeface="Consolas"/>
              </a:rPr>
              <a:t>| 2  |   INDEX RANGE SCAN                   | PK_PATIENTS |      1 |     32 |     31 |       5 |</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2 - access("PAT_ID"&gt;=100 AND "PAT_ID"&lt;=130)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UNIQUE SCAN과 RANGE SCAN, 그리고 BATCHED</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PK 인덱스인데 오퍼레이션 이름이 갈리는 이유</a:t>
            </a:r>
          </a:p>
          <a:p>
            <a:r>
              <a:rPr sz="1600" b="0">
                <a:solidFill>
                  <a:srgbClr val="5A6672"/>
                </a:solidFill>
                <a:latin typeface="Malgun Gothic"/>
              </a:rPr>
              <a:t>    –  등치 조건은 결과가 최대 1건임이 보장된다 → INDEX UNIQUE SCAN</a:t>
            </a:r>
          </a:p>
          <a:p>
            <a:r>
              <a:rPr sz="1600" b="0">
                <a:solidFill>
                  <a:srgbClr val="5A6672"/>
                </a:solidFill>
                <a:latin typeface="Malgun Gothic"/>
              </a:rPr>
              <a:t>    –  범위 조건은 여러 건일 수 있어 시작점부터 끝점까지 순회한다 → INDEX RANGE SCAN</a:t>
            </a:r>
          </a:p>
          <a:p>
            <a:r>
              <a:rPr sz="1800" b="0">
                <a:solidFill>
                  <a:srgbClr val="202830"/>
                </a:solidFill>
                <a:latin typeface="Malgun Gothic"/>
              </a:rPr>
              <a:t>•  인덱스만으로 끝나지 않고 테이블 접근이 한 단계 더 붙는 이유</a:t>
            </a:r>
          </a:p>
          <a:p>
            <a:r>
              <a:rPr sz="1600" b="0">
                <a:solidFill>
                  <a:srgbClr val="5A6672"/>
                </a:solidFill>
                <a:latin typeface="Malgun Gothic"/>
              </a:rPr>
              <a:t>    –  인덱스에는 키 값과 행의 주소(ROWID)만 있다</a:t>
            </a:r>
          </a:p>
          <a:p>
            <a:r>
              <a:rPr sz="1600" b="0">
                <a:solidFill>
                  <a:srgbClr val="5A6672"/>
                </a:solidFill>
                <a:latin typeface="Malgun Gothic"/>
              </a:rPr>
              <a:t>    –  SELECT 절이 요구하는 나머지 컬럼은 테이블에서 가져와야 한다</a:t>
            </a:r>
          </a:p>
          <a:p>
            <a:r>
              <a:rPr sz="1800" b="0">
                <a:solidFill>
                  <a:srgbClr val="202830"/>
                </a:solidFill>
                <a:latin typeface="Malgun Gothic"/>
              </a:rPr>
              <a:t>•  BATCHED — ROWID를 모아 정렬한 뒤 테이블 블록에 접근하는 최적화</a:t>
            </a:r>
          </a:p>
          <a:p>
            <a:r>
              <a:rPr sz="1600" b="0">
                <a:solidFill>
                  <a:srgbClr val="5A6672"/>
                </a:solidFill>
                <a:latin typeface="Malgun Gothic"/>
              </a:rPr>
              <a:t>    –  Oracle 12c 이상에서 도입되었고 단건 조회에는 붙지 않는다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 인덱스 정렬 순서 재활용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SELECT claim_id FROM medical_claims ORDER BY claim_id FETCH FIRST 5 ROWS ONLY</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5 |       4 |</a:t>
            </a:r>
          </a:p>
          <a:p>
            <a:r>
              <a:rPr sz="1250" b="0">
                <a:solidFill>
                  <a:srgbClr val="E6E6E6"/>
                </a:solidFill>
                <a:latin typeface="Consolas"/>
              </a:rPr>
              <a:t>| 1  |  VIEW                  |                    |      1 |      5 |      5 |       4 |</a:t>
            </a:r>
          </a:p>
          <a:p>
            <a:r>
              <a:rPr sz="1250" b="0">
                <a:solidFill>
                  <a:srgbClr val="E6E6E6"/>
                </a:solidFill>
                <a:latin typeface="Consolas"/>
              </a:rPr>
              <a:t>| 2  |   WINDOW NOSORT STOPKEY|                    |      1 |      5 |      5 |       4 |</a:t>
            </a:r>
          </a:p>
          <a:p>
            <a:r>
              <a:rPr sz="1250" b="0">
                <a:solidFill>
                  <a:srgbClr val="E6E6E6"/>
                </a:solidFill>
                <a:latin typeface="Consolas"/>
              </a:rPr>
              <a:t>| 3  |    INDEX FULL SCAN     | PK_MEDICAL_CLAIMS  |      1 |      5 |      5 |       4 |</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1 - filter("from$_subquery$_002"."rowlimit_$$_rownumber"&lt;=5)</a:t>
            </a:r>
          </a:p>
          <a:p>
            <a:r>
              <a:rPr sz="1250" b="0">
                <a:solidFill>
                  <a:srgbClr val="E6E6E6"/>
                </a:solidFill>
                <a:latin typeface="Consolas"/>
              </a:rPr>
              <a:t>   2 - filter(ROW_NUMBER() OVER ( ORDER BY "CLAIM_ID")&lt;=5)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SORT가 사라진 이유 — WINDOW NOSORT STOPKEY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PK 인덱스는 CLAIM_ID 값 순서대로 이미 정렬되어 저장되어 있다</a:t>
            </a:r>
          </a:p>
          <a:p>
            <a:r>
              <a:rPr sz="1600" b="0">
                <a:solidFill>
                  <a:srgbClr val="5A6672"/>
                </a:solidFill>
                <a:latin typeface="Malgun Gothic"/>
              </a:rPr>
              <a:t>    –  ORDER BY가 원하는 순서와 인덱스에 저장된 순서가 정확히 같다</a:t>
            </a:r>
          </a:p>
          <a:p>
            <a:r>
              <a:rPr sz="1600" b="0">
                <a:solidFill>
                  <a:srgbClr val="5A6672"/>
                </a:solidFill>
                <a:latin typeface="Malgun Gothic"/>
              </a:rPr>
              <a:t>    –  따로 모아서 정렬할 필요 없이 인덱스를 순서대로 읽기만 하면 된다</a:t>
            </a:r>
          </a:p>
          <a:p>
            <a:r>
              <a:rPr sz="1800" b="0">
                <a:solidFill>
                  <a:srgbClr val="202830"/>
                </a:solidFill>
                <a:latin typeface="Malgun Gothic"/>
              </a:rPr>
              <a:t>•  이름을 세 조각으로 쪼개서 읽는다</a:t>
            </a:r>
          </a:p>
          <a:p>
            <a:r>
              <a:rPr sz="1600" b="0">
                <a:solidFill>
                  <a:srgbClr val="5A6672"/>
                </a:solidFill>
                <a:latin typeface="Malgun Gothic"/>
              </a:rPr>
              <a:t>    –  NOSORT — 정렬 순서를 재활용해 정렬 단계를 생략했다</a:t>
            </a:r>
          </a:p>
          <a:p>
            <a:r>
              <a:rPr sz="1600" b="0">
                <a:solidFill>
                  <a:srgbClr val="5A6672"/>
                </a:solidFill>
                <a:latin typeface="Malgun Gothic"/>
              </a:rPr>
              <a:t>    –  STOPKEY — 필요한 5건을 확보하는 즉시 인덱스 읽기를 멈춘다</a:t>
            </a:r>
          </a:p>
          <a:p>
            <a:r>
              <a:rPr sz="1600" b="0">
                <a:solidFill>
                  <a:srgbClr val="5A6672"/>
                </a:solidFill>
                <a:latin typeface="Malgun Gothic"/>
              </a:rPr>
              <a:t>    –  WINDOW — 내부적으로 ROW_NUMBER() OVER (ORDER BY ...) 조건으로 변환되었다</a:t>
            </a:r>
          </a:p>
          <a:p>
            <a:r>
              <a:rPr sz="1800" b="0">
                <a:solidFill>
                  <a:srgbClr val="202830"/>
                </a:solidFill>
                <a:latin typeface="Malgun Gothic"/>
              </a:rPr>
              <a:t>•  이 예제는 힌트로 강제한 것이다 — 힌트 없이는 다른 계획이 선택될 수 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Q5 — 인덱스만으로 집계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SELECT COUNT(claim_id) FROM medical_claims</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Buffers |</a:t>
            </a:r>
          </a:p>
          <a:p>
            <a:r>
              <a:rPr sz="1250" b="0">
                <a:solidFill>
                  <a:srgbClr val="E6E6E6"/>
                </a:solidFill>
                <a:latin typeface="Consolas"/>
              </a:rPr>
              <a:t>| 0  | SELECT STATEMENT       |                    |      1 |        |      1 |    1891 |</a:t>
            </a:r>
          </a:p>
          <a:p>
            <a:r>
              <a:rPr sz="1250" b="0">
                <a:solidFill>
                  <a:srgbClr val="E6E6E6"/>
                </a:solidFill>
                <a:latin typeface="Consolas"/>
              </a:rPr>
              <a:t>| 1  |  SORT AGGREGATE        |                    |      1 |      1 |      1 |    1891 |</a:t>
            </a:r>
          </a:p>
          <a:p>
            <a:r>
              <a:rPr sz="1250" b="0">
                <a:solidFill>
                  <a:srgbClr val="E6E6E6"/>
                </a:solidFill>
                <a:latin typeface="Consolas"/>
              </a:rPr>
              <a:t>| 2  |   INDEX FAST FULL SCAN | PK_MEDICAL_CLAIMS  |      1 |   300K |   300K |    1891 |</a:t>
            </a:r>
          </a:p>
          <a:p>
            <a:r>
              <a:rPr sz="1250" b="0">
                <a:solidFill>
                  <a:srgbClr val="E6E6E6"/>
                </a:solidFill>
                <a:latin typeface="Consolas"/>
              </a:rPr>
              <a:t> </a:t>
            </a:r>
          </a:p>
          <a:p>
            <a:r>
              <a:rPr sz="1250" b="0">
                <a:solidFill>
                  <a:srgbClr val="7EC699"/>
                </a:solidFill>
                <a:latin typeface="Consolas"/>
              </a:rPr>
              <a:t>-- Name 칸에 테이블이 아니라 인덱스만 등장한다</a:t>
            </a:r>
          </a:p>
          <a:p>
            <a:r>
              <a:rPr sz="1250" b="0">
                <a:solidFill>
                  <a:srgbClr val="7EC699"/>
                </a:solidFill>
                <a:latin typeface="Consolas"/>
              </a:rPr>
              <a:t>-- MEDICAL_CLAIMS 테이블 블록은 한 번도 읽지 않았다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INDEX FULL SCAN과 INDEX FAST FULL SCAN</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테이블을 전혀 읽지 않을 수 있었던 이유</a:t>
            </a:r>
          </a:p>
          <a:p>
            <a:r>
              <a:rPr sz="1600" b="0">
                <a:solidFill>
                  <a:srgbClr val="5A6672"/>
                </a:solidFill>
                <a:latin typeface="Malgun Gothic"/>
              </a:rPr>
              <a:t>    –  CLAIM_ID는 PRIMARY KEY라 NOT NULL이 보장된다</a:t>
            </a:r>
          </a:p>
          <a:p>
            <a:r>
              <a:rPr sz="1600" b="0">
                <a:solidFill>
                  <a:srgbClr val="5A6672"/>
                </a:solidFill>
                <a:latin typeface="Malgun Gothic"/>
              </a:rPr>
              <a:t>    –  PK 인덱스에는 NULL이 들어갈 수 없으므로 인덱스 항목 수가 곧 COUNT 결과다</a:t>
            </a:r>
          </a:p>
          <a:p>
            <a:r>
              <a:rPr sz="1800" b="0">
                <a:solidFill>
                  <a:srgbClr val="202830"/>
                </a:solidFill>
                <a:latin typeface="Malgun Gothic"/>
              </a:rPr>
              <a:t>•  INDEX FULL SCAN — 정렬된 순서를 지켜야 할 때 쓰인다</a:t>
            </a:r>
          </a:p>
          <a:p>
            <a:r>
              <a:rPr sz="1600" b="0">
                <a:solidFill>
                  <a:srgbClr val="5A6672"/>
                </a:solidFill>
                <a:latin typeface="Malgun Gothic"/>
              </a:rPr>
              <a:t>    –  B-Tree의 리프 블록을 논리적인 순서대로 따라 읽는다</a:t>
            </a:r>
          </a:p>
          <a:p>
            <a:r>
              <a:rPr sz="1800" b="0">
                <a:solidFill>
                  <a:srgbClr val="202830"/>
                </a:solidFill>
                <a:latin typeface="Malgun Gothic"/>
              </a:rPr>
              <a:t>•  INDEX FAST FULL SCAN — 결과의 순서가 상관없을 때 쓰인다</a:t>
            </a:r>
          </a:p>
          <a:p>
            <a:r>
              <a:rPr sz="1600" b="0">
                <a:solidFill>
                  <a:srgbClr val="5A6672"/>
                </a:solidFill>
                <a:latin typeface="Malgun Gothic"/>
              </a:rPr>
              <a:t>    –  디스크에 저장된 물리적 순서대로 여러 블록을 한 번에 읽는다</a:t>
            </a:r>
          </a:p>
          <a:p>
            <a:r>
              <a:rPr sz="1600" b="0">
                <a:solidFill>
                  <a:srgbClr val="5A6672"/>
                </a:solidFill>
                <a:latin typeface="Malgun Gothic"/>
              </a:rPr>
              <a:t>    –  같은 테이블인데도 Q1의 Buffers 3,117과 달리 1,891로 끝났다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Q6 — 조인과 집계가 섞인 실전형</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HOSPITALS(HOSP_ID&lt;=10)와 MEDICAL_CLAIMS 조인 후 병원 유형별 집계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Rows  | Bytes | Cost(%CPU)|</a:t>
            </a:r>
          </a:p>
          <a:p>
            <a:r>
              <a:rPr sz="1250" b="0">
                <a:solidFill>
                  <a:srgbClr val="E6E6E6"/>
                </a:solidFill>
                <a:latin typeface="Consolas"/>
              </a:rPr>
              <a:t>| 0  | SELECT STATEMENT                   |                |     4 |    84 |   860  (1)|</a:t>
            </a:r>
          </a:p>
          <a:p>
            <a:r>
              <a:rPr sz="1250" b="0">
                <a:solidFill>
                  <a:srgbClr val="E6E6E6"/>
                </a:solidFill>
                <a:latin typeface="Consolas"/>
              </a:rPr>
              <a:t>| 1  |  HASH GROUP BY                     |                |     4 |    84 |   860  (1)|</a:t>
            </a:r>
          </a:p>
          <a:p>
            <a:r>
              <a:rPr sz="1250" b="0">
                <a:solidFill>
                  <a:srgbClr val="E6E6E6"/>
                </a:solidFill>
                <a:latin typeface="Consolas"/>
              </a:rPr>
              <a:t>| 2  |   HASH JOIN                        |                |   292 |  4672 |   858  (1)|</a:t>
            </a:r>
          </a:p>
          <a:p>
            <a:r>
              <a:rPr sz="1250" b="0">
                <a:solidFill>
                  <a:srgbClr val="E6E6E6"/>
                </a:solidFill>
                <a:latin typeface="Consolas"/>
              </a:rPr>
              <a:t>| 3  |    TABLE ACCESS BY INDEX ROWID BATCHED| HOSPITALS   |    10 |   120 |     3  (0)|</a:t>
            </a:r>
          </a:p>
          <a:p>
            <a:r>
              <a:rPr sz="1250" b="0">
                <a:solidFill>
                  <a:srgbClr val="E6E6E6"/>
                </a:solidFill>
                <a:latin typeface="Consolas"/>
              </a:rPr>
              <a:t>| 4  |     INDEX RANGE SCAN               | PK_HOSPITALS   |    10 |       |     2  (0)|</a:t>
            </a:r>
          </a:p>
          <a:p>
            <a:r>
              <a:rPr sz="1250" b="0">
                <a:solidFill>
                  <a:srgbClr val="E6E6E6"/>
                </a:solidFill>
                <a:latin typeface="Consolas"/>
              </a:rPr>
              <a:t>| 5  |    TABLE ACCESS FULL               | MEDICAL_CLAIMS | 29128 |   113K|   855  (1)|</a:t>
            </a:r>
          </a:p>
          <a:p>
            <a:r>
              <a:rPr sz="1250" b="0">
                <a:solidFill>
                  <a:srgbClr val="E6E6E6"/>
                </a:solidFill>
                <a:latin typeface="Consolas"/>
              </a:rPr>
              <a:t> </a:t>
            </a:r>
          </a:p>
          <a:p>
            <a:r>
              <a:rPr sz="1250" b="0">
                <a:solidFill>
                  <a:srgbClr val="E6E6E6"/>
                </a:solidFill>
                <a:latin typeface="Consolas"/>
              </a:rPr>
              <a:t>Predicate Information:</a:t>
            </a:r>
          </a:p>
          <a:p>
            <a:r>
              <a:rPr sz="1250" b="0">
                <a:solidFill>
                  <a:srgbClr val="E6E6E6"/>
                </a:solidFill>
                <a:latin typeface="Consolas"/>
              </a:rPr>
              <a:t>   2 - access("H"."HOSP_ID"="M"."HOSP_ID")</a:t>
            </a:r>
          </a:p>
          <a:p>
            <a:r>
              <a:rPr sz="1250" b="0">
                <a:solidFill>
                  <a:srgbClr val="E6E6E6"/>
                </a:solidFill>
                <a:latin typeface="Consolas"/>
              </a:rPr>
              <a:t>   4 - access("H"."HOSP_ID"&lt;=10)</a:t>
            </a:r>
          </a:p>
          <a:p>
            <a:r>
              <a:rPr sz="1250" b="0">
                <a:solidFill>
                  <a:srgbClr val="E6E6E6"/>
                </a:solidFill>
                <a:latin typeface="Consolas"/>
              </a:rPr>
              <a:t>   5 - filter("M"."HOSP_ID"&lt;=10)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Q6 — 실행 순서와 HASH JOIN의 두 입력</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 순서 — 들여쓰기가 깊은 것부터, 같은 레벨이면 아래쪽부터</a:t>
            </a:r>
          </a:p>
          <a:p>
            <a:r>
              <a:rPr sz="1600" b="0">
                <a:solidFill>
                  <a:srgbClr val="5A6672"/>
                </a:solidFill>
                <a:latin typeface="Malgun Gothic"/>
              </a:rPr>
              <a:t>    –  Id 4 INDEX RANGE SCAN → Id 3 TABLE ACCESS BY INDEX ROWID BATCHED</a:t>
            </a:r>
          </a:p>
          <a:p>
            <a:r>
              <a:rPr sz="1600" b="0">
                <a:solidFill>
                  <a:srgbClr val="5A6672"/>
                </a:solidFill>
                <a:latin typeface="Malgun Gothic"/>
              </a:rPr>
              <a:t>    –  Id 5 TABLE ACCESS FULL → Id 2 HASH JOIN → Id 1 HASH GROUP BY → Id 0</a:t>
            </a:r>
          </a:p>
          <a:p>
            <a:r>
              <a:rPr sz="1800" b="0">
                <a:solidFill>
                  <a:srgbClr val="202830"/>
                </a:solidFill>
                <a:latin typeface="Malgun Gothic"/>
              </a:rPr>
              <a:t>•  HASH JOIN은 두 입력을 서로 다른 역할로 쓴다</a:t>
            </a:r>
          </a:p>
          <a:p>
            <a:r>
              <a:rPr sz="1600" b="0">
                <a:solidFill>
                  <a:srgbClr val="5A6672"/>
                </a:solidFill>
                <a:latin typeface="Malgun Gothic"/>
              </a:rPr>
              <a:t>    –  작은 쪽으로 해시 테이블을 메모리에 만든다 (Build)</a:t>
            </a:r>
          </a:p>
          <a:p>
            <a:r>
              <a:rPr sz="1600" b="0">
                <a:solidFill>
                  <a:srgbClr val="5A6672"/>
                </a:solidFill>
                <a:latin typeface="Malgun Gothic"/>
              </a:rPr>
              <a:t>    –  큰 쪽을 한 행씩 그 해시 테이블에 대조한다 (Probe)</a:t>
            </a:r>
          </a:p>
          <a:p>
            <a:r>
              <a:rPr sz="1600" b="0">
                <a:solidFill>
                  <a:srgbClr val="5A6672"/>
                </a:solidFill>
                <a:latin typeface="Malgun Gothic"/>
              </a:rPr>
              <a:t>    –  HOSPITALS Rows 10 vs MEDICAL_CLAIMS Rows 29128 — 작은 쪽이 Build 입력</a:t>
            </a:r>
          </a:p>
          <a:p>
            <a:r>
              <a:rPr sz="1800" b="0">
                <a:solidFill>
                  <a:srgbClr val="202830"/>
                </a:solidFill>
                <a:latin typeface="Malgun Gothic"/>
              </a:rPr>
              <a:t>•  작은 테이블은 인덱스로, 큰 테이블은 인덱스가 없어 Full Scan으로 처리되었다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실행계획은 옵티마이저가 SQL 처리 절차를 트리로 표현한 것이며, 노드 하나가 물리적 작업 하나다</a:t>
            </a:r>
          </a:p>
          <a:p>
            <a:r>
              <a:rPr sz="1800" b="0">
                <a:solidFill>
                  <a:srgbClr val="202830"/>
                </a:solidFill>
                <a:latin typeface="Malgun Gothic"/>
              </a:rPr>
              <a:t>•  실행 순서는 들여쓰기가 깊은 것부터, 같은 레벨이면 아래쪽부터다 — Id 번호 순서가 아니다</a:t>
            </a:r>
          </a:p>
          <a:p>
            <a:r>
              <a:rPr sz="1800" b="0">
                <a:solidFill>
                  <a:srgbClr val="202830"/>
                </a:solidFill>
                <a:latin typeface="Malgun Gothic"/>
              </a:rPr>
              <a:t>•  Rows·Cost·Bytes는 실행 전 추정치, A-Rows·Buffers·A-Time은 실행 후 실측치다</a:t>
            </a:r>
          </a:p>
          <a:p>
            <a:r>
              <a:rPr sz="1800" b="0">
                <a:solidFill>
                  <a:srgbClr val="202830"/>
                </a:solidFill>
                <a:latin typeface="Malgun Gothic"/>
              </a:rPr>
              <a:t>•  두 값은 EXPLAIN PLAN과 DBMS_XPLAN.DISPLAY_CURSOR로 각각 확인한다</a:t>
            </a:r>
          </a:p>
          <a:p>
            <a:r>
              <a:rPr sz="1800" b="0">
                <a:solidFill>
                  <a:srgbClr val="202830"/>
                </a:solidFill>
                <a:latin typeface="Malgun Gothic"/>
              </a:rPr>
              <a:t>•  Cost는 무차원 상대 지표로, 같은 SQL의 대안 계획끼리만 비교가 유효하다</a:t>
            </a:r>
          </a:p>
          <a:p>
            <a:r>
              <a:rPr sz="1800" b="0">
                <a:solidFill>
                  <a:srgbClr val="202830"/>
                </a:solidFill>
                <a:latin typeface="Malgun Gothic"/>
              </a:rPr>
              <a:t>•  access는 찾아가는 조건, filter는 가져온 뒤 걸러내는 조건 — 인덱스 유무로 갈린다</a:t>
            </a:r>
          </a:p>
          <a:p>
            <a:r>
              <a:rPr sz="1800" b="0">
                <a:solidFill>
                  <a:srgbClr val="202830"/>
                </a:solidFill>
                <a:latin typeface="Malgun Gothic"/>
              </a:rPr>
              <a:t>•  동일 PK 인덱스도 조건 성격에 따라 UNIQUE·RANGE·FULL·FAST FULL SCAN으로 갈린다</a:t>
            </a:r>
          </a:p>
          <a:p>
            <a:r>
              <a:rPr sz="1800" b="0">
                <a:solidFill>
                  <a:srgbClr val="202830"/>
                </a:solidFill>
                <a:latin typeface="Malgun Gothic"/>
              </a:rPr>
              <a:t>•  E-Rows와 A-Rows 차이가 크면 카디널리티 추정 오류를 의심한다 (ch08에서 대응)</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ch03_문제.md</a:t>
            </a:r>
          </a:p>
          <a:p>
            <a:r>
              <a:rPr sz="1600" b="0">
                <a:solidFill>
                  <a:srgbClr val="5A6672"/>
                </a:solidFill>
                <a:latin typeface="Malgun Gothic"/>
              </a:rPr>
              <a:t>    –  1~4번  판독 기본기 — filter와 Full Scan, E-Rows와 A-Rows, UNIQUE와 RANGE</a:t>
            </a:r>
          </a:p>
          <a:p>
            <a:r>
              <a:rPr sz="1600" b="0">
                <a:solidFill>
                  <a:srgbClr val="5A6672"/>
                </a:solidFill>
                <a:latin typeface="Malgun Gothic"/>
              </a:rPr>
              <a:t>    –  5~8번  심화 판독 — WINDOW NOSORT STOPKEY, FAST FULL SCAN, 실행 순서, access와 filter</a:t>
            </a:r>
          </a:p>
          <a:p>
            <a:r>
              <a:rPr sz="1600" b="0">
                <a:solidFill>
                  <a:srgbClr val="5A6672"/>
                </a:solidFill>
                <a:latin typeface="Malgun Gothic"/>
              </a:rPr>
              <a:t>    –  9~10번  종합 적용 — Cost 비교의 한계, 데이터가 커질 때 위험해질 시나리오 예측</a:t>
            </a:r>
          </a:p>
          <a:p>
            <a:r>
              <a:rPr sz="1800" b="0">
                <a:solidFill>
                  <a:srgbClr val="202830"/>
                </a:solidFill>
                <a:latin typeface="Malgun Gothic"/>
              </a:rPr>
              <a:t>•  문항 구성은 판독 기본기 → 심화 판독 → 종합 적용 순으로 이어진다</a:t>
            </a:r>
          </a:p>
          <a:p>
            <a:r>
              <a:rPr sz="1800" b="0">
                <a:solidFill>
                  <a:srgbClr val="202830"/>
                </a:solidFill>
                <a:latin typeface="Malgun Gothic"/>
              </a:rPr>
              <a:t>•  실습 전 확인 — 이번 장은 인덱스를 신규 생성하지 않는다</a:t>
            </a:r>
          </a:p>
          <a:p>
            <a:r>
              <a:rPr sz="1600" b="0">
                <a:solidFill>
                  <a:srgbClr val="5A6672"/>
                </a:solidFill>
                <a:latin typeface="Malgun Gothic"/>
              </a:rPr>
              <a:t>    –  기존 PK 인덱스만으로 모든 문항을 풀 수 있다</a:t>
            </a:r>
          </a:p>
          <a:p>
            <a:r>
              <a:rPr sz="1600" b="0">
                <a:solidFill>
                  <a:srgbClr val="5A6672"/>
                </a:solidFill>
                <a:latin typeface="Malgun Gothic"/>
              </a:rPr>
              <a:t>    –  인덱스나 통계를 임의로 바꾸면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
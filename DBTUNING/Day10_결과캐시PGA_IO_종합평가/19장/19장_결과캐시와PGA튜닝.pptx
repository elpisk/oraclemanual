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같은 공유 풀 안에 살면서도 성격이 정반대인 두 메모리를 다룹니다. 하나는 질의 결과 자체를 저장해 재계산을 없애는 서버 결과 캐시이고, 다른 하나는 서버 프로세스마다 사적으로 갖는 PGA입니다. 앞엣것은 공유 캐시이고 뒤엣것은 사적 메모리라는 점에서 정반대지만, 둘 다 메모리를 더 써서 디스크 접근을 줄인다는 같은 원리 위에 있습니다. 결과 캐시는 읽기 위주·소량 반환·반복 호출이라는 조건에서만 이득이 나고, PGA는 정렬·해시 작업 영역이 메모리에서 끝나느냐가 성능을 가릅니다. 실측 인스턴스는 PGA 700M에 디스크 정렬이 0인 건강한 상태여서, 나쁜 상태는 일부러 재현해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캐시를 한자리에 놓으면 결과 캐시의 자리가 분명해집니다. 버퍼 캐시는 데이터 블록을 캐시해 물리 I/O를 줄이고, 라이브러리 캐시는 실행계획을 캐시해 하드 파싱을 줄입니다. 이 둘은 여전히 질의를 실행합니다. 결과 캐시는 한 단계 더 올라가 질의의 최종 결과를 캐시하므로, 히트하면 실행 자체가 통째로 생략됩니다. 이득이 가장 크지만 기반 데이터가 안 바뀌어야 한다는 조건이 까다롭습니다. 서버 결과 캐시는 공유 풀 안에 있고, 클라이언트 결과 캐시는 OCI 클라이언트 프로세스 메모리에 있으며 둘은 완전히 별개입니다.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캐시에서 나왔는지는 실행계획의 RESULT CACHE 연산으로 확인합니다. Id 1의 RESULT CACHE 단계와 Name 열의 긴 문자열, 즉 캐시 ID가 핵심입니다. 첫 실행에서는 아래 단계인 HASH GROUP BY와 TABLE ACCESS FULL이 실제로 수행되어 결과를 만들고 그것을 캐시에 저장합니다. 두 번째 실행부터는 RESULT CACHE 단계에서 곧바로 결과를 꺼내므로 아래 단계가 사실상 동작하지 않습니다. 이 캐시 ID로 V$RESULT_CACHE_OBJECTS를 조회하면 그 결과의 블록 수와 행 수 같은 상세 통계를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결과 캐시는 서버가 아니라 클라이언트 프로세스 안의 메모리 영역입니다. 클라이언트 프로세스마다 하나씩 있고 그 안의 모든 세션이 공유합니다. OCCI, JDBC OCI 드라이버, ODP.NET이 지원합니다. 이점은 세 가지입니다. 반복 질의가 서버까지 왕복하지 않고 클라이언트 캐시에서 바로 응답하므로 응답시간이 짧고, 서버 왕복이 줄어 서버 CPU와 I/O가 절약되어 확장성이 좋아지며, 서버 메모리보다 값싼 클라이언트 메모리를 씁니다. CLIENT_RESULT_CACHE_SIZE를 32768바이트 이상으로 설정하면 활성화됩니다. 서버가 데이터 변경을 감지하면 다음 왕복 때 클라이언트에 무효화를 보내 일관성을 유지합니다.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질의가 결과 캐시를 쓸 자격이 있는지는 RESULT_CACHE_MODE 파라미터가 결정합니다. MANUAL은 힌트나 테이블 주석으로 명시한 결과만 캐시하며 기본이자 권장값입니다. FORCE는 모든 결과를 캐시하려 시도하고 특정 질의를 빼려면 NO_RESULT_CACHE 힌트를 써야 합니다. FORCE가 권장되지 않는 이유는 두 가지입니다. 첫째, 모든 질의를 캐시하려 들면서 상당한 래치와 성능 오버헤드가 생깁니다. 둘째, 비결정적 PL/SQL 함수를 호출하는 질의까지 캐시되면 매번 달라져야 할 결과가 낡은 채 반환되어 정확성이 깨질 수 있습니다. 실측 인스턴스도 기본인 MANUAL이었습니다.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캐시를 지정하는 방법은 세 층위입니다. 질의의 힌트, 테이블 주석, 그리고 세션·인스턴스의 모드 설정입니다. 우선순위는 힌트가 가장 높아 모드와 테이블 주석을 모두 덮어씁니다. 그래서 테이블을 FORCE로 주석해 두어도 특정 질의에는 NO_RESULT_CACHE 힌트로 캐시를 끌 수 있습니다. 예시에서 분류별 개수를 세는 질의는 자주 쓰고 적게 반환하므로 주석 덕분에 캐시되고, 전체를 정렬해 대량 반환하는 일회성 질의는 힌트로 캐시에서 제외됩니다. 이 우선순위 덕분에 테이블 단위 정책과 질의 단위 예외를 함께 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진료비 스키마에서 결과 캐시의 교과서적 후보는 DRUG_MASTER, 즉 수가·약가 마스터입니다. 행 수가 적고 하루에 몇 번 바뀔까 말까 한 읽기 위주 참조 테이블입니다. 반면 이 코드로 조인되는 CLAIM_DETAILS는 100만 행이 넘고 계속 적재됩니다. 후보를 고르는 세 질문은 읽기 위주인가, 반환 행이 적은가, 반복 호출되는가입니다. 단일 결과가 캐시에서 쓸 수 있는 최대 비율은 RESULT_CACHE_MAX_RESULT가 정하며 기본 5%입니다. 또한 SYSDATE나 시퀀스, 임시 테이블처럼 매번 값이 달라지는 요소가 질의에 있으면 아예 캐시가 금지됩니다.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캐시를 켜거나 힌트를 붙였다고 특정 결과가 반드시 캐시되는 것은 아닙니다. 요건과 제약을 알아야 힌트를 붙였는데 왜 캐시가 안 되지 하는 혼란을 피합니다. 읽기 일관성 요건으로, 결과를 만든 스냅샷이 가장 최근 커밋 상태를 가리키거나 플래시백 시점을 가리켜야 하고, 현재 세션이 참조 객체에 활성 트랜잭션을 걸고 있으면 캐시 대상이 아닙니다. 바인드 변수나 USER, 상수 인자의 SYS_CONTEXT, NLS 파라미터로 파라미터화되면 같은 값일 때 재사용됩니다. 반대로 임시 테이블, SYS·SYSTEM 스키마 테이블, 시퀀스, SYSDATE나 SYS_GUID처럼 매번 값이 달라지는 함수가 있으면 아예 캐시가 금지됩니다.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캐시의 정확성은 무효화로 보장됩니다. 캐시된 결과가 의존하는 기반 객체가 DML이나 DDL로 수정되면 그 결과는 즉시 무효가 됩니다. 다음에 같은 질의가 오면 히트가 나지 않고 오라클이 다시 실행해 새 결과로 캐시를 갱신합니다. 이 과정은 자동이고 투명해서 응용은 낡은 결과를 볼 일이 없습니다. 무효화의 단위는 결과 하나이고, 여러 결과가 같은 테이블에 의존하면 그 테이블이 바뀔 때 함께 무효화됩니다. 무효화는 커밋을 기준으로 일어나므로, 변경만 하고 커밋하지 않으면 다른 세션의 캐시는 아직 유효합니다. 이 무효화가 축복이자 저주인데, 너무 잦으면 손해가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 상태는 V$RESULT_CACHE_STATISTICS로 봅니다. 판독 기준은 명확합니다. 최적화된 데이터베이스는 Create Count Failure와 Delete Count Valid가 낮고 Find Count가 높습니다. 실측값은 Create Success가 1인데 Find가 5입니다. 한 번 만든 결과를 다섯 번 재사용했고 실패, 무효화, 유효 삭제가 모두 0입니다. 이것은 건강한 상태입니다. Find 대 Create 비율이 높을수록 캐시가 제 값을 하는 것입니다. 반대로 Invalidation Count가 Create Count와 비슷하게 계속 오르거나 Create Count Failure가 쌓이면 그 질의는 결과 캐시에 맞지 않는다는 신호입니다.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뷰 외에 DBMS_RESULT_CACHE.MEMORY_REPORT 프로시저로 메모리 사용 요약을 볼 수 있습니다. SET SERVEROUTPUT ON 후 실행하면 파라미터 구역에 블록 크기 1024바이트, 최대 캐시 크기, 최대 결과 크기가 나오고, 메모리 구역에 전체 메모리와 캐시 메모리가 사용·미사용 블록으로 세분되어 나옵니다. 실측 인스턴스는 블록 크기 1024, 최대 7712블록에 현재 32블록만 쓰고 있어 여유가 큽니다. 이 리포트는 캐시가 공유 풀의 몇 퍼센트를 쓰는지도 보여주어, 결과 캐시가 공유 풀을 과도하게 잠식하지 않는지 점검할 때 유용합니다. 캐시를 비우려면 같은 패키지의 FLUSH 프로시저를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첫 번째 경계선입니다. 결과 캐시는 켜면 무조건 빨라지는 기능이 아닙니다. DBA Point는 하나로 압축됩니다. 결과 캐시는 변경이 잦은 테이블에서 손해입니다. 이득의 원천은 한 번 계산해 여러 번 재사용하는 것인데, 기반 테이블이 자주 바뀌면 캐시가 자꾸 무효화됩니다. 무효화된 다음 실행은 히트가 아니라 재계산이고 다시 캐시에 저장됩니다. 생성, 짧은 재사용, 무효화, 재생성이 반복되면 캐시를 관리하는 비용만 들고 재사용 이득은 거의 없습니다. 심하면 결과 캐시 래치 경합이 새 병목이 됩니다. 올바른 조치는 캐시를 키우는 것이 아니라 그 질의에서 캐시를 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적용은 한 문장으로 판별합니다. 이 질의가 읽기 위주 테이블에서 적은 결과를 반복적으로 반환하는가입니다. DRUG_MASTER 질의는 세 조건을 모두 만족해 적합하고, CLAIM_DETAILS 집계는 쓰기가 잦고 대량이며 일회성이라 부적합합니다. 적합의 신호는 Find가 높고 무효화와 생성 실패가 거의 0인 것이고, 부적합의 신호는 무효화와 생성 실패가 오르고 Find가 낮은 것입니다. 특히 변경 빈도는 무효화 통계로 사후 검증까지 되므로, 캐시를 붙인 뒤에도 Invalidation Count를 관찰해 손해로 판명되면 즉시 떼는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공유 캐시에서 사적 메모리로 넘어갑니다. PGA는 서버 프로세스 하나의 데이터와 제어 정보를 담는 사적 메모리 영역으로, 오직 그 프로세스만 접근합니다. 복잡한 질의에서는 실행 시간 영역의 큰 부분이 작업 영역에 할당됩니다. ORDER BY·GROUP BY·윈도우 함수 같은 정렬 연산자는 정렬 영역을, 해시 조인은 해시 영역을 씁니다. 작업 영역이 크면 성능이 좋지만 메모리를 더 쓰고, 작으면 디스크로 넘겨 느려집니다. PGA는 SGA와 달리 공유되지 않으므로 접속 세션이 늘면 총 수요도 늘고, 동시 작업 영역이 많아지면 오라클은 하나에 줄 수 있는 최대치를 자동으로 낮춥니다.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영역은 크기에 따라 세 방식으로 실행됩니다. optimal은 입력을 모두 담을 만큼 커서 전부 메모리에서 끝나는 이상적 크기입니다. one-pass는 optimal보다 작아 입력 일부를 디스크로 한 번 더 훑어 응답시간이 늘어납니다. multi-pass는 그보다도 작아 여러 번 훑어야 하므로 응답시간이 급증합니다. 목표는 대부분을 optimal로, 소수만 one-pass로 두고 multi-pass를 피하는 것입니다. 흔한 오해는 one-pass가 보이면 무조건 PGA를 키워야 한다는 것인데, 소수의 one-pass는 정상입니다. 진짜 경보는 multi-pass입니다. one-pass는 감수하고 multi-pass는 제거한다는 구분이 실전 감각입니다.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V$PGASTAT은 인스턴스 수준 PGA 상태를 보여줍니다. 판독의 핵심은 두 줄입니다. over allocation count가 0이라는 것은 target 700M이 작업 영역 워크로드를 감당하기에 충분해서 목표를 넘겨 억지로 메모리를 더 할당한 적이 없다는 뜻입니다. 이 값이 계속 오르면 target이 작다는 신호이고 그때 V$PGA_TARGET_ADVICE로 올립니다. cache hit percentage 100%는 기동 이후 모든 작업 영역이 optimal로 돌았다는 뜻으로 이상적입니다. total PGA allocated가 target을 잠깐 소폭 넘는 것은 정상인데, target은 목표이지 절대 한도가 아니기 때문입니다. 절대 한도는 PGA_AGGREGATE_LIMIT가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V$SQL_WORKAREA_HISTOGRAM은 기동 이후 작업 영역을 크기 버킷별로 optimal·one-pass·multi-pass로 세어 보여줍니다. 실측 결과는 모든 버킷에서 onepass와 multipass가 0입니다. 즉 크기와 무관하게 모든 작업 영역이 optimal로 돌았습니다. 이것은 앞서 본 cache hit 100%, over allocation 0과 정확히 일치합니다. 세 지표가 같은 이야기를 합니다. 32에서 64메가 버킷의 큰 작업 영역 2건마저 optimal로 처리되었습니다. V$SYSSTAT의 sorts disk도 0이고 sorts memory가 6만 7천여 건입니다. 이런 건강한 상태에서는 PGA를 더 키울 이유가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target을 감으로 정할 필요는 없습니다. V$PGA_TARGET_ADVICE는 현재 워크로드 이력을 여러 target 값으로 시뮬레이션해, target을 바꾸면 cache hit percentage와 over allocation count가 어떻게 변할지 예측합니다. STATISTICS_LEVEL이 TYPICAL 이상이면 자동 생성됩니다. 튜닝 절차는 두 단계입니다. 먼저 over allocation count가 0이 되는 지점 이상으로 target을 잡아 초과 할당 구간을 벗어나고, 그다음 응답시간 요구와 메모리 제약 안에서 cache hit percentage를 최대화합니다. PGA가 더 필요하면 SGA를 줄이거나 물리 메모리를 늘립니다. 핵심은 advice의 예측이 조정 후 실제 분포와 맞는지 검증하는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히스토그램이 인스턴스 전체의 건강을 보여준다면, 문제가 있을 때는 누가 그리고 어느 SQL이 범인인지로 좁혀야 합니다. V$PROCESS_MEMORY는 프로세스별 PGA를 SQL, PL/SQL 같은 범주로 나눠 보여줘, ORA-04036처럼 조정 불가능한 PGA가 문제일 때 범인 세션을 지목합니다. V$SQL_WORKAREA는 커서별 작업 영역 누적 통계를 유지하며 V$SQL, V$SQL_PLAN과 조인하면 어느 커서의 어느 연산자가 몇 번 one-pass나 multi-pass로 돌았는지까지 짚습니다. one-pass나 multi-pass가 있는 커서만 뽑는 질의는 실측에선 아무 행도 반환하지 않는데, 이 빈 결과가 곧 건강 증명입니다. 실행 중 작업 영역은 V$SQL_WORKAREA_ACTIVE의 NUMBER_PASSES와 TEMPSEG_SIZE로 실시간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 인스턴스는 디스크 정렬이 0인 건강한 상태여서, 1-pass와 multi-pass는 세션 하나의 작업 영역을 일부러 작게 잡아 재현합니다. 인스턴스 파라미터인 PGA_AGGREGATE_TARGET은 절대 건드리지 않습니다. 다른 세션과 인스턴스 전체에 영향을 주기 때문입니다. 대신 세션 수준에서 WORKAREA_SIZE_POLICY를 MANUAL로 바꾸고 SORT_AREA_SIZE를 64KB로 줍니다. 이 설정은 그 세션에만 적용되고 접속을 끊으면 자동으로 원복됩니다. 정렬 데이터가 작업 영역의 수십 배가 되어 반드시 디스크로 넘어갑니다. 재현 후 sorts disk 증가, 히스토그램 onepass 증가, V$SQL_WORKAREA_ACTIVE의 TEMPSEG_SIZE로 디스크로 넘친 양을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재현의 목적은 느리게 만드는 것이 아니라 진단 지표가 어떻게 반응하는지 눈으로 익히는 것입니다. optimal 상태에서 출발해 작업 영역을 64KB로 조인 뒤 같은 정렬을 돌리면 sorts disk가 0에서 튀고 히스토그램의 onepass가 잡힙니다. 이 전후 대비가 있어야 나중에 운영에서 sorts disk가 오르거나 onepass 비율이 늘 때 작업 영역이 부족하구나를 즉시 읽어 냅니다. 축소 폭을 더 키우면 one-pass를 지나 multi-pass로 떨어지고 응답시간이 급격히 나빠지는 것을 체감합니다. 임시 공간이 부족하면 ORA-01652가 납니다. 인스턴스 수준 축소는 개인 환경 전용이며 조치 전 값 캡처와 원복이 필수입니다.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PGA_AGGREGATE_TARGET은 목표이지 한도가 아닙니다. 실제 PGA 사용이 target을 넘을 수 있는데, target은 목표일 뿐이고 조정 가능한 메모리만 통제하기 때문입니다. 정렬 영역과 해시 영역은 조정 가능해서 오라클이 크기를 줄일 수 있지만, PL/SQL 컬렉션처럼 응용이 확보한 조정 불가능한 메모리는 줄일 수 없습니다. 이를 막는 절대 한도가 PGA_AGGREGATE_LIMIT입니다. 이 값을 넘으면 오라클이 조정 불가능한 PGA를 가장 많이 쓰는 세션의 콜을 중단하고, 그래도 넘으면 세션을 종료합니다. 그 오류가 ORA-04036입니다. 이것은 인스턴스를 지키는 안전장치가 작동했다는 신호이지 단순 메모리 부족이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흔한 실수는 ORA-04036을 단순 메모리 부족으로 해석해 물리 메모리를 늘리거나 한도를 무작정 키우는 것입니다. ORA-04036은 인스턴스 전체 PGA가 절대 한도를 넘었다는 뜻이고 진짜 원인은 대개 특정 세션의 조정 불가능한 PGA 폭주입니다. 올바른 순서는 먼저 V$PROCESS_MEMORY로 어느 세션이 어느 범주에서 메모리를 많이 쓰는지 지목하고, 그 SQL이나 PL/SQL을 고친 뒤, 필요하면 근거를 갖고 한도를 조정하는 것입니다. 한도를 키우는 것은 마지막 수단이지 처음이 아닙니다. 세션 단위 한도가 필요하면 리소스 관리자의 SESSION_PGA_LIMIT를 쓰며 초과 시 ORA-10260으로 그 세션만 종료됩니다.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결과 캐시와 PGA 튜닝</a:t>
            </a:r>
          </a:p>
          <a:p>
            <a:pPr algn="l"/>
            <a:r>
              <a:rPr sz="2000" b="0">
                <a:solidFill>
                  <a:srgbClr val="5A6672"/>
                </a:solidFill>
                <a:latin typeface="맑은 고딕"/>
              </a:rPr>
              <a:t>Result Cache &amp; PGA Tuning — 재계산을 없애고, 정렬을 메모리에서 끝낸다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서버·클라이언트 결과 캐시 · 무효화 · 적용 판별 · 작업 영역 · optimal/one-pass/multi-pass · PGA_AGGREGATE_LIMIT · 실측 orcl 19.3</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제19장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서버·클라이언트 결과 캐시를 구분하고 RESULT_CACHE 힌트로 결과를 캐시에 올린다.</a:t>
            </a:r>
          </a:p>
          <a:p>
            <a:pPr algn="l">
              <a:spcAft>
                <a:spcPts val="600"/>
              </a:spcAft>
            </a:pPr>
            <a:r>
              <a:rPr sz="1500" b="0">
                <a:solidFill>
                  <a:srgbClr val="222222"/>
                </a:solidFill>
                <a:latin typeface="맑은 고딕"/>
              </a:rPr>
              <a:t>•  결과 캐시 무효화 과정을 관찰하고 V$RESULT_CACHE_STATISTICS로 건강 상태를 읽는다.</a:t>
            </a:r>
          </a:p>
          <a:p>
            <a:pPr algn="l">
              <a:spcAft>
                <a:spcPts val="600"/>
              </a:spcAft>
            </a:pPr>
            <a:r>
              <a:rPr sz="1500" b="0">
                <a:solidFill>
                  <a:srgbClr val="222222"/>
                </a:solidFill>
                <a:latin typeface="맑은 고딕"/>
              </a:rPr>
              <a:t>•  결과 캐시가 이득인 질의와 손해인 질의를 판별한다(변경 잦은 테이블은 손해).</a:t>
            </a:r>
          </a:p>
          <a:p>
            <a:pPr algn="l">
              <a:spcAft>
                <a:spcPts val="600"/>
              </a:spcAft>
            </a:pPr>
            <a:r>
              <a:rPr sz="1500" b="0">
                <a:solidFill>
                  <a:srgbClr val="222222"/>
                </a:solidFill>
                <a:latin typeface="맑은 고딕"/>
              </a:rPr>
              <a:t>•  PGA 작업 영역의 optimal / one-pass / multi-pass 세 크기를 구분한다.</a:t>
            </a:r>
          </a:p>
          <a:p>
            <a:pPr algn="l">
              <a:spcAft>
                <a:spcPts val="600"/>
              </a:spcAft>
            </a:pPr>
            <a:r>
              <a:rPr sz="1500" b="0">
                <a:solidFill>
                  <a:srgbClr val="222222"/>
                </a:solidFill>
                <a:latin typeface="맑은 고딕"/>
              </a:rPr>
              <a:t>•  V$PGASTAT·V$SQL_WORKAREA_HISTOGRAM으로 작업 영역 분포를 진단한다.</a:t>
            </a:r>
          </a:p>
          <a:p>
            <a:pPr algn="l">
              <a:spcAft>
                <a:spcPts val="600"/>
              </a:spcAft>
            </a:pPr>
            <a:r>
              <a:rPr sz="1500" b="0">
                <a:solidFill>
                  <a:srgbClr val="222222"/>
                </a:solidFill>
                <a:latin typeface="맑은 고딕"/>
              </a:rPr>
              <a:t>•  세션 수준 축소로 1-pass·multi-pass 정렬(디스크 정렬)을 재현한다.</a:t>
            </a:r>
          </a:p>
          <a:p>
            <a:pPr algn="l">
              <a:spcAft>
                <a:spcPts val="600"/>
              </a:spcAft>
            </a:pPr>
            <a:r>
              <a:rPr sz="1500" b="0">
                <a:solidFill>
                  <a:srgbClr val="222222"/>
                </a:solidFill>
                <a:latin typeface="맑은 고딕"/>
              </a:rPr>
              <a:t>•  PGA_AGGREGATE_TARGET(목표)과 PGA_AGGREGATE_LIMIT(한도)의 차이·ORA-04036을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19.2  결과 캐시란 무엇인가 — 서버·클라이언트</a:t>
            </a:r>
          </a:p>
          <a:p>
            <a:pPr algn="l">
              <a:spcAft>
                <a:spcPts val="600"/>
              </a:spcAft>
            </a:pPr>
            <a:r>
              <a:rPr sz="1600" b="0">
                <a:solidFill>
                  <a:srgbClr val="222222"/>
                </a:solidFill>
                <a:latin typeface="맑은 고딕"/>
              </a:rPr>
              <a:t>•  19.3  활성화와 RESULT_CACHE 힌트 · 요건과 제약</a:t>
            </a:r>
          </a:p>
          <a:p>
            <a:pPr algn="l">
              <a:spcAft>
                <a:spcPts val="600"/>
              </a:spcAft>
            </a:pPr>
            <a:r>
              <a:rPr sz="1600" b="0">
                <a:solidFill>
                  <a:srgbClr val="222222"/>
                </a:solidFill>
                <a:latin typeface="맑은 고딕"/>
              </a:rPr>
              <a:t>•  19.4~19.5  무효화 · 모니터링(V$RESULT_CACHE_STATISTICS)</a:t>
            </a:r>
          </a:p>
          <a:p>
            <a:pPr algn="l">
              <a:spcAft>
                <a:spcPts val="600"/>
              </a:spcAft>
            </a:pPr>
            <a:r>
              <a:rPr sz="1600" b="0">
                <a:solidFill>
                  <a:srgbClr val="222222"/>
                </a:solidFill>
                <a:latin typeface="맑은 고딕"/>
              </a:rPr>
              <a:t>•  19.6  적용 부적합 판별 — 변경 잦은 테이블은 손해</a:t>
            </a:r>
          </a:p>
          <a:p>
            <a:pPr algn="l">
              <a:spcAft>
                <a:spcPts val="600"/>
              </a:spcAft>
            </a:pPr>
            <a:r>
              <a:rPr sz="1600" b="0">
                <a:solidFill>
                  <a:srgbClr val="222222"/>
                </a:solidFill>
                <a:latin typeface="맑은 고딕"/>
              </a:rPr>
              <a:t>•  19.7~19.8  PGA 작업 영역 · optimal/one-pass/multi-pass</a:t>
            </a:r>
          </a:p>
          <a:p>
            <a:pPr algn="l">
              <a:spcAft>
                <a:spcPts val="600"/>
              </a:spcAft>
            </a:pPr>
            <a:r>
              <a:rPr sz="1600" b="0">
                <a:solidFill>
                  <a:srgbClr val="222222"/>
                </a:solidFill>
                <a:latin typeface="맑은 고딕"/>
              </a:rPr>
              <a:t>•  19.9  PGA 모니터링 — V$PGASTAT·작업 영역 히스토그램</a:t>
            </a:r>
          </a:p>
          <a:p>
            <a:pPr algn="l">
              <a:spcAft>
                <a:spcPts val="600"/>
              </a:spcAft>
            </a:pPr>
            <a:r>
              <a:rPr sz="1600" b="0">
                <a:solidFill>
                  <a:srgbClr val="222222"/>
                </a:solidFill>
                <a:latin typeface="맑은 고딕"/>
              </a:rPr>
              <a:t>•  19.10  1-pass·multi-pass 정렬 재현(세션 수준 축소)</a:t>
            </a:r>
          </a:p>
          <a:p>
            <a:pPr algn="l">
              <a:spcAft>
                <a:spcPts val="600"/>
              </a:spcAft>
            </a:pPr>
            <a:r>
              <a:rPr sz="1600" b="0">
                <a:solidFill>
                  <a:srgbClr val="222222"/>
                </a:solidFill>
                <a:latin typeface="맑은 고딕"/>
              </a:rPr>
              <a:t>•  19.11  PGA_AGGREGATE_LIMIT — 절대 한도와 ORA-04036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결과 캐시와 PGA인가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19장의 두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같은 공유 풀 안, 성격이 정반대인 두 메모리를 다룬다</a:t>
            </a:r>
          </a:p>
          <a:p>
            <a:pPr algn="l">
              <a:spcAft>
                <a:spcPts val="600"/>
              </a:spcAft>
            </a:pPr>
            <a:r>
              <a:rPr sz="1700" b="0">
                <a:solidFill>
                  <a:srgbClr val="222222"/>
                </a:solidFill>
                <a:latin typeface="맑은 고딕"/>
              </a:rPr>
              <a:t>•  결과 캐시 = 공유되는 '질의 결과' 캐시(재계산 제거)</a:t>
            </a:r>
          </a:p>
          <a:p>
            <a:pPr algn="l">
              <a:spcAft>
                <a:spcPts val="600"/>
              </a:spcAft>
            </a:pPr>
            <a:r>
              <a:rPr sz="1700" b="0">
                <a:solidFill>
                  <a:srgbClr val="222222"/>
                </a:solidFill>
                <a:latin typeface="맑은 고딕"/>
              </a:rPr>
              <a:t>•  PGA = 서버 프로세스의 사적 작업 공간(정렬·해시)</a:t>
            </a:r>
          </a:p>
          <a:p>
            <a:pPr algn="l">
              <a:spcAft>
                <a:spcPts val="600"/>
              </a:spcAft>
            </a:pPr>
            <a:r>
              <a:rPr sz="1700" b="0">
                <a:solidFill>
                  <a:srgbClr val="222222"/>
                </a:solidFill>
                <a:latin typeface="맑은 고딕"/>
              </a:rPr>
              <a:t>•  결과 캐시: 읽기 위주·소량 반환·반복 호출에서만 이득</a:t>
            </a:r>
          </a:p>
          <a:p>
            <a:pPr algn="l">
              <a:spcAft>
                <a:spcPts val="600"/>
              </a:spcAft>
            </a:pPr>
            <a:r>
              <a:rPr sz="1700" b="0">
                <a:solidFill>
                  <a:srgbClr val="222222"/>
                </a:solidFill>
                <a:latin typeface="맑은 고딕"/>
              </a:rPr>
              <a:t>•  PGA: 작업 영역이 optimal로 도느냐가 전부</a:t>
            </a:r>
          </a:p>
          <a:p>
            <a:pPr algn="l">
              <a:spcAft>
                <a:spcPts val="600"/>
              </a:spcAft>
            </a:pPr>
            <a:r>
              <a:rPr sz="1700" b="0">
                <a:solidFill>
                  <a:srgbClr val="222222"/>
                </a:solidFill>
                <a:latin typeface="맑은 고딕"/>
              </a:rPr>
              <a:t>•  실측 orcl 19.3 — PGA 700M, 디스크 정렬 0인 '건강한 기본 상태'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결과 캐시란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서버 결과 캐시 — 공유 풀 안의 메모리 풀</a:t>
            </a:r>
          </a:p>
          <a:p>
            <a:pPr algn="l">
              <a:spcAft>
                <a:spcPts val="400"/>
              </a:spcAft>
            </a:pPr>
            <a:r>
              <a:rPr sz="1600" b="0">
                <a:solidFill>
                  <a:srgbClr val="FFFFFF"/>
                </a:solidFill>
                <a:latin typeface="맑은 고딕"/>
              </a:rPr>
              <a:t>•  클라이언트 결과 캐시 — OCI 클라이언트 메모리</a:t>
            </a:r>
          </a:p>
          <a:p>
            <a:pPr algn="l">
              <a:spcAft>
                <a:spcPts val="400"/>
              </a:spcAft>
            </a:pPr>
            <a:r>
              <a:rPr sz="1600" b="0">
                <a:solidFill>
                  <a:srgbClr val="FFFFFF"/>
                </a:solidFill>
                <a:latin typeface="맑은 고딕"/>
              </a:rPr>
              <a:t>•  실행계획의 RESULT CACHE 연산으로 확인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가지 캐시, 서로 다른 층위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무엇을 저장해 무엇을 아끼는가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버퍼 캐시(17장): '데이터 블록' 저장 → 물리 I/O 절감</a:t>
            </a:r>
          </a:p>
          <a:p>
            <a:pPr algn="l">
              <a:spcAft>
                <a:spcPts val="600"/>
              </a:spcAft>
            </a:pPr>
            <a:r>
              <a:rPr sz="1700" b="0">
                <a:solidFill>
                  <a:srgbClr val="222222"/>
                </a:solidFill>
                <a:latin typeface="맑은 고딕"/>
              </a:rPr>
              <a:t>•  라이브러리 캐시(18장): '실행계획' 저장 → 하드 파싱 절감</a:t>
            </a:r>
          </a:p>
          <a:p>
            <a:pPr algn="l">
              <a:spcAft>
                <a:spcPts val="600"/>
              </a:spcAft>
            </a:pPr>
            <a:r>
              <a:rPr sz="1700" b="0">
                <a:solidFill>
                  <a:srgbClr val="222222"/>
                </a:solidFill>
                <a:latin typeface="맑은 고딕"/>
              </a:rPr>
              <a:t>•  결과 캐시(19장): '질의의 최종 결과' 저장 → 실행 자체 제거</a:t>
            </a:r>
          </a:p>
          <a:p>
            <a:pPr algn="l">
              <a:spcAft>
                <a:spcPts val="600"/>
              </a:spcAft>
            </a:pPr>
            <a:r>
              <a:rPr sz="1700" b="0">
                <a:solidFill>
                  <a:srgbClr val="222222"/>
                </a:solidFill>
                <a:latin typeface="맑은 고딕"/>
              </a:rPr>
              <a:t>•  결과 캐시가 이득이 가장 크다 — 히트하면 실행 단계 생략</a:t>
            </a:r>
          </a:p>
          <a:p>
            <a:pPr algn="l">
              <a:spcAft>
                <a:spcPts val="600"/>
              </a:spcAft>
            </a:pPr>
            <a:r>
              <a:rPr sz="1700" b="0">
                <a:solidFill>
                  <a:srgbClr val="222222"/>
                </a:solidFill>
                <a:latin typeface="맑은 고딕"/>
              </a:rPr>
              <a:t>•  그만큼 '기반 데이터가 안 바뀐다'는 조건이 까다롭다</a:t>
            </a:r>
          </a:p>
          <a:p>
            <a:pPr algn="l">
              <a:spcAft>
                <a:spcPts val="600"/>
              </a:spcAft>
            </a:pPr>
            <a:r>
              <a:rPr sz="1700" b="0">
                <a:solidFill>
                  <a:srgbClr val="222222"/>
                </a:solidFill>
                <a:latin typeface="맑은 고딕"/>
              </a:rPr>
              <a:t>•  서버 캐시=공유 풀 / 클라이언트 캐시=OCI 프로세스 메모리(별개)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실행계획에서 결과 캐시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RESULT_CACHE 힌트와 RESULT CACHE 연산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SELECT /*+ RESULT_CACHE */ department_id, AVG(salary)</a:t>
            </a:r>
          </a:p>
          <a:p>
            <a:pPr>
              <a:spcBef>
                <a:spcPts val="0"/>
              </a:spcBef>
              <a:spcAft>
                <a:spcPts val="0"/>
              </a:spcAft>
            </a:pPr>
            <a:r>
              <a:rPr sz="1250">
                <a:solidFill>
                  <a:srgbClr val="F2F2F2"/>
                </a:solidFill>
                <a:latin typeface="Consolas"/>
              </a:rPr>
              <a:t>  FROM hr.employees</a:t>
            </a:r>
          </a:p>
          <a:p>
            <a:pPr>
              <a:spcBef>
                <a:spcPts val="0"/>
              </a:spcBef>
              <a:spcAft>
                <a:spcPts val="0"/>
              </a:spcAft>
            </a:pPr>
            <a:r>
              <a:rPr sz="1250">
                <a:solidFill>
                  <a:srgbClr val="F2F2F2"/>
                </a:solidFill>
                <a:latin typeface="Consolas"/>
              </a:rPr>
              <a:t> GROUP BY department_id;</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Id | Operation           | Name                       |</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0 | SELECT STATEMENT    |                            |</a:t>
            </a:r>
          </a:p>
          <a:p>
            <a:pPr>
              <a:spcBef>
                <a:spcPts val="0"/>
              </a:spcBef>
              <a:spcAft>
                <a:spcPts val="0"/>
              </a:spcAft>
            </a:pPr>
            <a:r>
              <a:rPr sz="1250">
                <a:solidFill>
                  <a:srgbClr val="F2F2F2"/>
                </a:solidFill>
                <a:latin typeface="Consolas"/>
              </a:rPr>
              <a:t>|  1 |  RESULT CACHE       | 8fpza04gtwsfr6n595au15yj4y |  &lt;= 여기</a:t>
            </a:r>
          </a:p>
          <a:p>
            <a:pPr>
              <a:spcBef>
                <a:spcPts val="0"/>
              </a:spcBef>
              <a:spcAft>
                <a:spcPts val="0"/>
              </a:spcAft>
            </a:pPr>
            <a:r>
              <a:rPr sz="1250">
                <a:solidFill>
                  <a:srgbClr val="F2F2F2"/>
                </a:solidFill>
                <a:latin typeface="Consolas"/>
              </a:rPr>
              <a:t>|  2 |   HASH GROUP BY     |                            |</a:t>
            </a:r>
          </a:p>
          <a:p>
            <a:pPr>
              <a:spcBef>
                <a:spcPts val="0"/>
              </a:spcBef>
              <a:spcAft>
                <a:spcPts val="0"/>
              </a:spcAft>
            </a:pPr>
            <a:r>
              <a:rPr sz="1250">
                <a:solidFill>
                  <a:srgbClr val="F2F2F2"/>
                </a:solidFill>
                <a:latin typeface="Consolas"/>
              </a:rPr>
              <a:t>|  3 |    TABLE ACCESS FULL| EMPLOYEES                  |</a:t>
            </a:r>
          </a:p>
          <a:p>
            <a:pPr>
              <a:spcBef>
                <a:spcPts val="0"/>
              </a:spcBef>
              <a:spcAft>
                <a:spcPts val="0"/>
              </a:spcAft>
            </a:pPr>
            <a:r>
              <a:rPr sz="1250">
                <a:solidFill>
                  <a:srgbClr val="F2F2F2"/>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클라이언트 결과 캐시 — OCI 프로세스 안</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서버 캐시와 완전히 별개</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클라이언트 프로세스 안의 메모리 — 그 프로세스 세션들이 공유</a:t>
            </a:r>
          </a:p>
          <a:p>
            <a:pPr algn="l">
              <a:spcAft>
                <a:spcPts val="600"/>
              </a:spcAft>
            </a:pPr>
            <a:r>
              <a:rPr sz="1700" b="0">
                <a:solidFill>
                  <a:srgbClr val="222222"/>
                </a:solidFill>
                <a:latin typeface="맑은 고딕"/>
              </a:rPr>
              <a:t>•  OCCI·JDBC OCI 드라이버·ODP.NET 지원</a:t>
            </a:r>
          </a:p>
          <a:p>
            <a:pPr algn="l">
              <a:spcAft>
                <a:spcPts val="600"/>
              </a:spcAft>
            </a:pPr>
            <a:r>
              <a:rPr sz="1700" b="0">
                <a:solidFill>
                  <a:srgbClr val="222222"/>
                </a:solidFill>
                <a:latin typeface="맑은 고딕"/>
              </a:rPr>
              <a:t>•  이점 ① 서버 왕복 없이 응답 → 응답시간↓</a:t>
            </a:r>
          </a:p>
          <a:p>
            <a:pPr algn="l">
              <a:spcAft>
                <a:spcPts val="600"/>
              </a:spcAft>
            </a:pPr>
            <a:r>
              <a:rPr sz="1700" b="0">
                <a:solidFill>
                  <a:srgbClr val="222222"/>
                </a:solidFill>
                <a:latin typeface="맑은 고딕"/>
              </a:rPr>
              <a:t>•  이점 ② 서버 CPU·I/O 절약 → 확장성↑ / ③ 값싼 클라이언트 메모리</a:t>
            </a:r>
          </a:p>
          <a:p>
            <a:pPr algn="l">
              <a:spcAft>
                <a:spcPts val="600"/>
              </a:spcAft>
            </a:pPr>
            <a:r>
              <a:rPr sz="1700" b="0">
                <a:solidFill>
                  <a:srgbClr val="222222"/>
                </a:solidFill>
                <a:latin typeface="맑은 고딕"/>
              </a:rPr>
              <a:t>•  활성화: CLIENT_RESULT_CACHE_SIZE ≥ 32768바이트(기본 0=비활성)</a:t>
            </a:r>
          </a:p>
          <a:p>
            <a:pPr algn="l">
              <a:spcAft>
                <a:spcPts val="600"/>
              </a:spcAft>
            </a:pPr>
            <a:r>
              <a:rPr sz="1700" b="0">
                <a:solidFill>
                  <a:srgbClr val="222222"/>
                </a:solidFill>
                <a:latin typeface="맑은 고딕"/>
              </a:rPr>
              <a:t>•  서버가 변경 감지 시 다음 왕복에 무효화 전송 → 일관성 유지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활성화와 RESULT_CACHE 힌트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결과 캐시 모드 — MANUAL(기본·권장) vs FORCE</a:t>
            </a:r>
          </a:p>
          <a:p>
            <a:pPr algn="l">
              <a:spcAft>
                <a:spcPts val="400"/>
              </a:spcAft>
            </a:pPr>
            <a:r>
              <a:rPr sz="1600" b="0">
                <a:solidFill>
                  <a:srgbClr val="FFFFFF"/>
                </a:solidFill>
                <a:latin typeface="맑은 고딕"/>
              </a:rPr>
              <a:t>•  우선순위 — 힌트 &gt; 테이블 주석 &gt; 모드</a:t>
            </a:r>
          </a:p>
          <a:p>
            <a:pPr algn="l">
              <a:spcAft>
                <a:spcPts val="400"/>
              </a:spcAft>
            </a:pPr>
            <a:r>
              <a:rPr sz="1600" b="0">
                <a:solidFill>
                  <a:srgbClr val="FFFFFF"/>
                </a:solidFill>
                <a:latin typeface="맑은 고딕"/>
              </a:rPr>
              <a:t>•  요건과 제약 · DRUG_MASTER가 좋은 후보인 이유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결과 캐시 모드 — MANUAL이 기본이자 정답</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RESULT_CACHE_MODE</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MANUAL: 힌트·테이블 주석으로 명시한 결과만 캐시(기본·권장)</a:t>
            </a:r>
          </a:p>
          <a:p>
            <a:pPr algn="l">
              <a:spcAft>
                <a:spcPts val="600"/>
              </a:spcAft>
            </a:pPr>
            <a:r>
              <a:rPr sz="1700" b="0">
                <a:solidFill>
                  <a:srgbClr val="222222"/>
                </a:solidFill>
                <a:latin typeface="맑은 고딕"/>
              </a:rPr>
              <a:t>•  FORCE: 모든 결과를 캐시 시도 → NO_RESULT_CACHE로만 제외</a:t>
            </a:r>
          </a:p>
          <a:p>
            <a:pPr algn="l">
              <a:spcAft>
                <a:spcPts val="600"/>
              </a:spcAft>
            </a:pPr>
            <a:r>
              <a:rPr sz="1700" b="0">
                <a:solidFill>
                  <a:srgbClr val="222222"/>
                </a:solidFill>
                <a:latin typeface="맑은 고딕"/>
              </a:rPr>
              <a:t>•  실측: result_cache_mode = MANUAL (기본)</a:t>
            </a:r>
          </a:p>
          <a:p>
            <a:pPr algn="l">
              <a:spcAft>
                <a:spcPts val="600"/>
              </a:spcAft>
            </a:pPr>
            <a:r>
              <a:rPr sz="1700" b="0">
                <a:solidFill>
                  <a:srgbClr val="222222"/>
                </a:solidFill>
                <a:latin typeface="맑은 고딕"/>
              </a:rPr>
              <a:t>•  FORCE 비권장 ① 모든 질의 캐시 시도 → 래치·성능 오버헤드</a:t>
            </a:r>
          </a:p>
          <a:p>
            <a:pPr algn="l">
              <a:spcAft>
                <a:spcPts val="600"/>
              </a:spcAft>
            </a:pPr>
            <a:r>
              <a:rPr sz="1700" b="0">
                <a:solidFill>
                  <a:srgbClr val="222222"/>
                </a:solidFill>
                <a:latin typeface="맑은 고딕"/>
              </a:rPr>
              <a:t>•  FORCE 비권장 ② 비결정적 함수까지 캐시 → 낡은 결과 위험</a:t>
            </a:r>
          </a:p>
          <a:p>
            <a:pPr algn="l">
              <a:spcAft>
                <a:spcPts val="600"/>
              </a:spcAft>
            </a:pPr>
            <a:r>
              <a:rPr sz="1700" b="0">
                <a:solidFill>
                  <a:srgbClr val="222222"/>
                </a:solidFill>
                <a:latin typeface="맑은 고딕"/>
              </a:rPr>
              <a:t>•  '캐시가 좋다니 전부 켜자'가 정확히 이 함정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우선순위: 힌트 &gt; 테이블 주석 &gt; 모드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테이블도 질의별로 캐시 여부를 뒤집는다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테이블 주석: 이 테이블 질의는 캐시 대상으로 강제</a:t>
            </a:r>
          </a:p>
          <a:p>
            <a:pPr>
              <a:spcBef>
                <a:spcPts val="0"/>
              </a:spcBef>
              <a:spcAft>
                <a:spcPts val="0"/>
              </a:spcAft>
            </a:pPr>
            <a:r>
              <a:rPr sz="1250">
                <a:solidFill>
                  <a:srgbClr val="F2F2F2"/>
                </a:solidFill>
                <a:latin typeface="Consolas"/>
              </a:rPr>
              <a:t>ALTER TABLE drug_master RESULT_CACHE (MODE FORCE);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자주 쓰고 소량 반환 → 주석 덕분에 캐시 (이득)</a:t>
            </a:r>
          </a:p>
          <a:p>
            <a:pPr>
              <a:spcBef>
                <a:spcPts val="0"/>
              </a:spcBef>
              <a:spcAft>
                <a:spcPts val="0"/>
              </a:spcAft>
            </a:pPr>
            <a:r>
              <a:rPr sz="1250">
                <a:solidFill>
                  <a:srgbClr val="F2F2F2"/>
                </a:solidFill>
                <a:latin typeface="Consolas"/>
              </a:rPr>
              <a:t>SELECT category, COUNT(*) FROM drug_master GROUP BY category;</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일회성·대량 반환 → 힌트로 캐시 제외 (힌트가 최우선)</a:t>
            </a:r>
          </a:p>
          <a:p>
            <a:pPr>
              <a:spcBef>
                <a:spcPts val="0"/>
              </a:spcBef>
              <a:spcAft>
                <a:spcPts val="0"/>
              </a:spcAft>
            </a:pPr>
            <a:r>
              <a:rPr sz="1250">
                <a:solidFill>
                  <a:srgbClr val="F2F2F2"/>
                </a:solidFill>
                <a:latin typeface="Consolas"/>
              </a:rPr>
              <a:t>SELECT /*+ NO_RESULT_CACHE */ *</a:t>
            </a:r>
          </a:p>
          <a:p>
            <a:pPr>
              <a:spcBef>
                <a:spcPts val="0"/>
              </a:spcBef>
              <a:spcAft>
                <a:spcPts val="0"/>
              </a:spcAft>
            </a:pPr>
            <a:r>
              <a:rPr sz="1250">
                <a:solidFill>
                  <a:srgbClr val="F2F2F2"/>
                </a:solidFill>
                <a:latin typeface="Consolas"/>
              </a:rPr>
              <a:t>  FROM drug_master ORDER BY apply_date DESC;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DRUG_MASTER — 왜 좋은 후보인가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후보를 고르는 세 가지 질문</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읽기 위주인가? — DRUG_MASTER(수가·약가 마스터)는 거의 안 변함</a:t>
            </a:r>
          </a:p>
          <a:p>
            <a:pPr algn="l">
              <a:spcAft>
                <a:spcPts val="600"/>
              </a:spcAft>
            </a:pPr>
            <a:r>
              <a:rPr sz="1700" b="0">
                <a:solidFill>
                  <a:srgbClr val="222222"/>
                </a:solidFill>
                <a:latin typeface="맑은 고딕"/>
              </a:rPr>
              <a:t>•  ② 반환 행이 적은가? — 분류별 집계는 수십 줄 (MAX_RESULT 5% 이내)</a:t>
            </a:r>
          </a:p>
          <a:p>
            <a:pPr algn="l">
              <a:spcAft>
                <a:spcPts val="600"/>
              </a:spcAft>
            </a:pPr>
            <a:r>
              <a:rPr sz="1700" b="0">
                <a:solidFill>
                  <a:srgbClr val="222222"/>
                </a:solidFill>
                <a:latin typeface="맑은 고딕"/>
              </a:rPr>
              <a:t>•  ③ 반복 호출되는가? — 같은 값으로 자주 실행되어야 Find가 쌓임</a:t>
            </a:r>
          </a:p>
          <a:p>
            <a:pPr algn="l">
              <a:spcAft>
                <a:spcPts val="600"/>
              </a:spcAft>
            </a:pPr>
            <a:r>
              <a:rPr sz="1700" b="0">
                <a:solidFill>
                  <a:srgbClr val="222222"/>
                </a:solidFill>
                <a:latin typeface="맑은 고딕"/>
              </a:rPr>
              <a:t>•  적합: DRUG_MASTER(수천 건, 읽기 위주 참조)</a:t>
            </a:r>
          </a:p>
          <a:p>
            <a:pPr algn="l">
              <a:spcAft>
                <a:spcPts val="600"/>
              </a:spcAft>
            </a:pPr>
            <a:r>
              <a:rPr sz="1700" b="0">
                <a:solidFill>
                  <a:srgbClr val="222222"/>
                </a:solidFill>
                <a:latin typeface="맑은 고딕"/>
              </a:rPr>
              <a:t>•  부적합: CLAIM_DETAILS(100만+, 계속 적재·변경)</a:t>
            </a:r>
          </a:p>
          <a:p>
            <a:pPr algn="l">
              <a:spcAft>
                <a:spcPts val="600"/>
              </a:spcAft>
            </a:pPr>
            <a:r>
              <a:rPr sz="1700" b="0">
                <a:solidFill>
                  <a:srgbClr val="222222"/>
                </a:solidFill>
                <a:latin typeface="맑은 고딕"/>
              </a:rPr>
              <a:t>•  요건: 읽기 일관성·바인드 파라미터화 / 금지: SYSDATE·시퀀스·임시테이블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캐시될 자격 — 요건과 제약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힌트를 붙였는데 왜 캐시가 안 되지?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읽기 일관성: 가장 최근 커밋 상태(또는 플래시백 시점)여야 함</a:t>
            </a:r>
          </a:p>
          <a:p>
            <a:pPr algn="l">
              <a:spcAft>
                <a:spcPts val="600"/>
              </a:spcAft>
            </a:pPr>
            <a:r>
              <a:rPr sz="1700" b="0">
                <a:solidFill>
                  <a:srgbClr val="222222"/>
                </a:solidFill>
                <a:latin typeface="맑은 고딕"/>
              </a:rPr>
              <a:t>•  활성 트랜잭션이 참조 객체를 걸고 있으면 캐시 대상 아님</a:t>
            </a:r>
          </a:p>
          <a:p>
            <a:pPr algn="l">
              <a:spcAft>
                <a:spcPts val="600"/>
              </a:spcAft>
            </a:pPr>
            <a:r>
              <a:rPr sz="1700" b="0">
                <a:solidFill>
                  <a:srgbClr val="222222"/>
                </a:solidFill>
                <a:latin typeface="맑은 고딕"/>
              </a:rPr>
              <a:t>•  파라미터화: 바인드·USER·SYS_CONTEXT(상수)·NLS면 같은 값에 재사용</a:t>
            </a:r>
          </a:p>
          <a:p>
            <a:pPr algn="l">
              <a:spcAft>
                <a:spcPts val="600"/>
              </a:spcAft>
            </a:pPr>
            <a:r>
              <a:rPr sz="1700" b="0">
                <a:solidFill>
                  <a:srgbClr val="222222"/>
                </a:solidFill>
                <a:latin typeface="맑은 고딕"/>
              </a:rPr>
              <a:t>•  금지 ① 임시 테이블, SYS·SYSTEM 스키마 테이블</a:t>
            </a:r>
          </a:p>
          <a:p>
            <a:pPr algn="l">
              <a:spcAft>
                <a:spcPts val="600"/>
              </a:spcAft>
            </a:pPr>
            <a:r>
              <a:rPr sz="1700" b="0">
                <a:solidFill>
                  <a:srgbClr val="222222"/>
                </a:solidFill>
                <a:latin typeface="맑은 고딕"/>
              </a:rPr>
              <a:t>•  금지 ② 시퀀스 CURRVAL·NEXTVAL</a:t>
            </a:r>
          </a:p>
          <a:p>
            <a:pPr algn="l">
              <a:spcAft>
                <a:spcPts val="600"/>
              </a:spcAft>
            </a:pPr>
            <a:r>
              <a:rPr sz="1700" b="0">
                <a:solidFill>
                  <a:srgbClr val="222222"/>
                </a:solidFill>
                <a:latin typeface="맑은 고딕"/>
              </a:rPr>
              <a:t>•  금지 ③ SYSDATE·SYSTIMESTAMP·CURRENT_DATE·SYS_GUID 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19.4 ~ 19.5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무효화와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무효화 — 기반 테이블이 바뀌면 결과가 낡는다</a:t>
            </a:r>
          </a:p>
          <a:p>
            <a:pPr algn="l">
              <a:spcAft>
                <a:spcPts val="400"/>
              </a:spcAft>
            </a:pPr>
            <a:r>
              <a:rPr sz="1600" b="0">
                <a:solidFill>
                  <a:srgbClr val="FFFFFF"/>
                </a:solidFill>
                <a:latin typeface="맑은 고딕"/>
              </a:rPr>
              <a:t>•  V$RESULT_CACHE_STATISTICS로 건강 상태 판독</a:t>
            </a:r>
          </a:p>
          <a:p>
            <a:pPr algn="l">
              <a:spcAft>
                <a:spcPts val="400"/>
              </a:spcAft>
            </a:pPr>
            <a:r>
              <a:rPr sz="1600" b="0">
                <a:solidFill>
                  <a:srgbClr val="FFFFFF"/>
                </a:solidFill>
                <a:latin typeface="맑은 고딕"/>
              </a:rPr>
              <a:t>•  Find↑ · Invalidation≈0 · Failure≈0 = 건강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무효화 — 정확성의 대가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기반 객체가 바뀌면 결과는 무효</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캐시된 결과가 의존하는 객체가 DML·DDL로 바뀌면 즉시 무효</a:t>
            </a:r>
          </a:p>
          <a:p>
            <a:pPr algn="l">
              <a:spcAft>
                <a:spcPts val="600"/>
              </a:spcAft>
            </a:pPr>
            <a:r>
              <a:rPr sz="1700" b="0">
                <a:solidFill>
                  <a:srgbClr val="222222"/>
                </a:solidFill>
                <a:latin typeface="맑은 고딕"/>
              </a:rPr>
              <a:t>•  다음 실행은 히트 대신 재계산 → 캐시 갱신 (자동·투명)</a:t>
            </a:r>
          </a:p>
          <a:p>
            <a:pPr algn="l">
              <a:spcAft>
                <a:spcPts val="600"/>
              </a:spcAft>
            </a:pPr>
            <a:r>
              <a:rPr sz="1700" b="0">
                <a:solidFill>
                  <a:srgbClr val="222222"/>
                </a:solidFill>
                <a:latin typeface="맑은 고딕"/>
              </a:rPr>
              <a:t>•  무효화 단위는 '결과 하나' — 같은 테이블 의존 결과는 함께 무효</a:t>
            </a:r>
          </a:p>
          <a:p>
            <a:pPr algn="l">
              <a:spcAft>
                <a:spcPts val="600"/>
              </a:spcAft>
            </a:pPr>
            <a:r>
              <a:rPr sz="1700" b="0">
                <a:solidFill>
                  <a:srgbClr val="222222"/>
                </a:solidFill>
                <a:latin typeface="맑은 고딕"/>
              </a:rPr>
              <a:t>•  커밋 기준 — 변경만 하고 커밋 안 하면 다른 세션 캐시는 유효</a:t>
            </a:r>
          </a:p>
          <a:p>
            <a:pPr algn="l">
              <a:spcAft>
                <a:spcPts val="600"/>
              </a:spcAft>
            </a:pPr>
            <a:r>
              <a:rPr sz="1700" b="0">
                <a:solidFill>
                  <a:srgbClr val="222222"/>
                </a:solidFill>
                <a:latin typeface="맑은 고딕"/>
              </a:rPr>
              <a:t>•  V$RESULT_CACHE_OBJECTS.STATUS: Published(유효)/Invalid(무효)</a:t>
            </a:r>
          </a:p>
          <a:p>
            <a:pPr algn="l">
              <a:spcAft>
                <a:spcPts val="600"/>
              </a:spcAft>
            </a:pPr>
            <a:r>
              <a:rPr sz="1700" b="0">
                <a:solidFill>
                  <a:srgbClr val="222222"/>
                </a:solidFill>
                <a:latin typeface="맑은 고딕"/>
              </a:rPr>
              <a:t>•  이 무효화가 축복이자 저주 — 잦으면 손해(19.6)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V$RESULT_CACHE_STATISTICS 판독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Find는 높게, Invalidation·Failure는 낮게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VALUE   -- 해석</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Block Size (Bytes)             1024</a:t>
            </a:r>
          </a:p>
          <a:p>
            <a:pPr>
              <a:spcBef>
                <a:spcPts val="0"/>
              </a:spcBef>
              <a:spcAft>
                <a:spcPts val="0"/>
              </a:spcAft>
            </a:pPr>
            <a:r>
              <a:rPr sz="1250">
                <a:solidFill>
                  <a:srgbClr val="F2F2F2"/>
                </a:solidFill>
                <a:latin typeface="Consolas"/>
              </a:rPr>
              <a:t>Block Count Maximum            7712    -- 최대 확보 가능</a:t>
            </a:r>
          </a:p>
          <a:p>
            <a:pPr>
              <a:spcBef>
                <a:spcPts val="0"/>
              </a:spcBef>
              <a:spcAft>
                <a:spcPts val="0"/>
              </a:spcAft>
            </a:pPr>
            <a:r>
              <a:rPr sz="1250">
                <a:solidFill>
                  <a:srgbClr val="F2F2F2"/>
                </a:solidFill>
                <a:latin typeface="Consolas"/>
              </a:rPr>
              <a:t>Block Count Current              32    -- 현재 사용(여유 큼)</a:t>
            </a:r>
          </a:p>
          <a:p>
            <a:pPr>
              <a:spcBef>
                <a:spcPts val="0"/>
              </a:spcBef>
              <a:spcAft>
                <a:spcPts val="0"/>
              </a:spcAft>
            </a:pPr>
            <a:r>
              <a:rPr sz="1250">
                <a:solidFill>
                  <a:srgbClr val="F2F2F2"/>
                </a:solidFill>
                <a:latin typeface="Consolas"/>
              </a:rPr>
              <a:t>Create Count Success              1    -- 생성 성공</a:t>
            </a:r>
          </a:p>
          <a:p>
            <a:pPr>
              <a:spcBef>
                <a:spcPts val="0"/>
              </a:spcBef>
              <a:spcAft>
                <a:spcPts val="0"/>
              </a:spcAft>
            </a:pPr>
            <a:r>
              <a:rPr sz="1250">
                <a:solidFill>
                  <a:srgbClr val="F2F2F2"/>
                </a:solidFill>
                <a:latin typeface="Consolas"/>
              </a:rPr>
              <a:t>Create Count Failure              0    -- 낮을수록 좋음</a:t>
            </a:r>
          </a:p>
          <a:p>
            <a:pPr>
              <a:spcBef>
                <a:spcPts val="0"/>
              </a:spcBef>
              <a:spcAft>
                <a:spcPts val="0"/>
              </a:spcAft>
            </a:pPr>
            <a:r>
              <a:rPr sz="1250">
                <a:solidFill>
                  <a:srgbClr val="F2F2F2"/>
                </a:solidFill>
                <a:latin typeface="Consolas"/>
              </a:rPr>
              <a:t>Find Count                        5    -- 캐시 히트(높을수록 좋음)</a:t>
            </a:r>
          </a:p>
          <a:p>
            <a:pPr>
              <a:spcBef>
                <a:spcPts val="0"/>
              </a:spcBef>
              <a:spcAft>
                <a:spcPts val="0"/>
              </a:spcAft>
            </a:pPr>
            <a:r>
              <a:rPr sz="1250">
                <a:solidFill>
                  <a:srgbClr val="F2F2F2"/>
                </a:solidFill>
                <a:latin typeface="Consolas"/>
              </a:rPr>
              <a:t>Invalidation Count                0    -- 낮을수록 좋음</a:t>
            </a:r>
          </a:p>
          <a:p>
            <a:pPr>
              <a:spcBef>
                <a:spcPts val="0"/>
              </a:spcBef>
              <a:spcAft>
                <a:spcPts val="0"/>
              </a:spcAft>
            </a:pPr>
            <a:r>
              <a:rPr sz="1250">
                <a:solidFill>
                  <a:srgbClr val="F2F2F2"/>
                </a:solidFill>
                <a:latin typeface="Consolas"/>
              </a:rPr>
              <a:t>Delete Count Valid                0    -- 낮을수록 좋음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메모리 사용 요약 — MEMORY_REPORT</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DBMS_RESULT_CACHE로 한눈에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SQL&gt; SET SERVEROUTPUT ON</a:t>
            </a:r>
          </a:p>
          <a:p>
            <a:pPr>
              <a:spcBef>
                <a:spcPts val="0"/>
              </a:spcBef>
              <a:spcAft>
                <a:spcPts val="0"/>
              </a:spcAft>
            </a:pPr>
            <a:r>
              <a:rPr sz="1250">
                <a:solidFill>
                  <a:srgbClr val="F2F2F2"/>
                </a:solidFill>
                <a:latin typeface="Consolas"/>
              </a:rPr>
              <a:t>SQL&gt; EXECUTE DBMS_RESULT_CACHE.MEMORY_REPORT</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R e s u l t   C a c h e   M e m o r y   R e p o r t</a:t>
            </a:r>
          </a:p>
          <a:p>
            <a:pPr>
              <a:spcBef>
                <a:spcPts val="0"/>
              </a:spcBef>
              <a:spcAft>
                <a:spcPts val="0"/>
              </a:spcAft>
            </a:pPr>
            <a:r>
              <a:rPr sz="1250">
                <a:solidFill>
                  <a:srgbClr val="F2F2F2"/>
                </a:solidFill>
                <a:latin typeface="Consolas"/>
              </a:rPr>
              <a:t>[Parameters]</a:t>
            </a:r>
          </a:p>
          <a:p>
            <a:pPr>
              <a:spcBef>
                <a:spcPts val="0"/>
              </a:spcBef>
              <a:spcAft>
                <a:spcPts val="0"/>
              </a:spcAft>
            </a:pPr>
            <a:r>
              <a:rPr sz="1250">
                <a:solidFill>
                  <a:srgbClr val="F2F2F2"/>
                </a:solidFill>
                <a:latin typeface="Consolas"/>
              </a:rPr>
              <a:t>Block Size          = 1024 bytes</a:t>
            </a:r>
          </a:p>
          <a:p>
            <a:pPr>
              <a:spcBef>
                <a:spcPts val="0"/>
              </a:spcBef>
              <a:spcAft>
                <a:spcPts val="0"/>
              </a:spcAft>
            </a:pPr>
            <a:r>
              <a:rPr sz="1250">
                <a:solidFill>
                  <a:srgbClr val="F2F2F2"/>
                </a:solidFill>
                <a:latin typeface="Consolas"/>
              </a:rPr>
              <a:t>Maximum Cache Size  = 7712K bytes (7712 blocks)</a:t>
            </a:r>
          </a:p>
          <a:p>
            <a:pPr>
              <a:spcBef>
                <a:spcPts val="0"/>
              </a:spcBef>
              <a:spcAft>
                <a:spcPts val="0"/>
              </a:spcAft>
            </a:pPr>
            <a:r>
              <a:rPr sz="1250">
                <a:solidFill>
                  <a:srgbClr val="F2F2F2"/>
                </a:solidFill>
                <a:latin typeface="Consolas"/>
              </a:rPr>
              <a:t>Maximum Result Size = 385 blocks</a:t>
            </a:r>
          </a:p>
          <a:p>
            <a:pPr>
              <a:spcBef>
                <a:spcPts val="0"/>
              </a:spcBef>
              <a:spcAft>
                <a:spcPts val="0"/>
              </a:spcAft>
            </a:pPr>
            <a:r>
              <a:rPr sz="1250">
                <a:solidFill>
                  <a:srgbClr val="F2F2F2"/>
                </a:solidFill>
                <a:latin typeface="Consolas"/>
              </a:rPr>
              <a:t>[Memory]  Total Memory = ...  Cache Memory = 32 blocks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적용 부적합 판별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변경 잦은 테이블에서는 손해다 (DBA Point)</a:t>
            </a:r>
          </a:p>
          <a:p>
            <a:pPr algn="l">
              <a:spcAft>
                <a:spcPts val="400"/>
              </a:spcAft>
            </a:pPr>
            <a:r>
              <a:rPr sz="1600" b="0">
                <a:solidFill>
                  <a:srgbClr val="FFFFFF"/>
                </a:solidFill>
                <a:latin typeface="맑은 고딕"/>
              </a:rPr>
              <a:t>•  생성-무효화-재생성 반복 → 관리 비용만, 이득 없음</a:t>
            </a:r>
          </a:p>
          <a:p>
            <a:pPr algn="l">
              <a:spcAft>
                <a:spcPts val="400"/>
              </a:spcAft>
            </a:pPr>
            <a:r>
              <a:rPr sz="1600" b="0">
                <a:solidFill>
                  <a:srgbClr val="FFFFFF"/>
                </a:solidFill>
                <a:latin typeface="맑은 고딕"/>
              </a:rPr>
              <a:t>•  판별 한 문장 + 무효화 통계로 사후 검증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결과 캐시가 손해가 되는 순간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변경 잦은 테이블은 붙이지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이득의 원천 = '한 번 계산해 여러 번 재사용'</a:t>
            </a:r>
          </a:p>
          <a:p>
            <a:pPr algn="l">
              <a:spcAft>
                <a:spcPts val="600"/>
              </a:spcAft>
            </a:pPr>
            <a:r>
              <a:rPr sz="1700" b="0">
                <a:solidFill>
                  <a:srgbClr val="222222"/>
                </a:solidFill>
                <a:latin typeface="맑은 고딕"/>
              </a:rPr>
              <a:t>•  기반 테이블이 자주 바뀌면 캐시가 자꾸 무효화됨</a:t>
            </a:r>
          </a:p>
          <a:p>
            <a:pPr algn="l">
              <a:spcAft>
                <a:spcPts val="600"/>
              </a:spcAft>
            </a:pPr>
            <a:r>
              <a:rPr sz="1700" b="0">
                <a:solidFill>
                  <a:srgbClr val="222222"/>
                </a:solidFill>
                <a:latin typeface="맑은 고딕"/>
              </a:rPr>
              <a:t>•  무효화 다음 실행 = 히트 아니라 재계산 → 다시 저장</a:t>
            </a:r>
          </a:p>
          <a:p>
            <a:pPr algn="l">
              <a:spcAft>
                <a:spcPts val="600"/>
              </a:spcAft>
            </a:pPr>
            <a:r>
              <a:rPr sz="1700" b="0">
                <a:solidFill>
                  <a:srgbClr val="222222"/>
                </a:solidFill>
                <a:latin typeface="맑은 고딕"/>
              </a:rPr>
              <a:t>•  생성→짧은 재사용→무효화→재생성 반복 = 관리 비용만</a:t>
            </a:r>
          </a:p>
          <a:p>
            <a:pPr algn="l">
              <a:spcAft>
                <a:spcPts val="600"/>
              </a:spcAft>
            </a:pPr>
            <a:r>
              <a:rPr sz="1700" b="0">
                <a:solidFill>
                  <a:srgbClr val="222222"/>
                </a:solidFill>
                <a:latin typeface="맑은 고딕"/>
              </a:rPr>
              <a:t>•  심하면 결과 캐시 래치 경합이라는 새 병목 발생</a:t>
            </a:r>
          </a:p>
          <a:p>
            <a:pPr algn="l">
              <a:spcAft>
                <a:spcPts val="600"/>
              </a:spcAft>
            </a:pPr>
            <a:r>
              <a:rPr sz="1700" b="0">
                <a:solidFill>
                  <a:srgbClr val="222222"/>
                </a:solidFill>
                <a:latin typeface="맑은 고딕"/>
              </a:rPr>
              <a:t>•  조치: 캐시를 키우지 말고 그 질의에서 캐시를 '뗀다'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적합 vs 부적합 — 한눈에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진료비 스키마로 대조</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적합: 읽기 위주(DRUG_MASTER) / 적은 반환 / 반복 호출</a:t>
            </a:r>
          </a:p>
          <a:p>
            <a:pPr algn="l">
              <a:spcAft>
                <a:spcPts val="600"/>
              </a:spcAft>
            </a:pPr>
            <a:r>
              <a:rPr sz="1700" b="0">
                <a:solidFill>
                  <a:srgbClr val="222222"/>
                </a:solidFill>
                <a:latin typeface="맑은 고딕"/>
              </a:rPr>
              <a:t>•  부적합: 쓰기 잦음(CLAIM_DETAILS) / 대량 반환 / 일회성</a:t>
            </a:r>
          </a:p>
          <a:p>
            <a:pPr algn="l">
              <a:spcAft>
                <a:spcPts val="600"/>
              </a:spcAft>
            </a:pPr>
            <a:r>
              <a:rPr sz="1700" b="0">
                <a:solidFill>
                  <a:srgbClr val="222222"/>
                </a:solidFill>
                <a:latin typeface="맑은 고딕"/>
              </a:rPr>
              <a:t>•  신호(적합): Find↑ · Invalidation≈0 · Create Failure≈0</a:t>
            </a:r>
          </a:p>
          <a:p>
            <a:pPr algn="l">
              <a:spcAft>
                <a:spcPts val="600"/>
              </a:spcAft>
            </a:pPr>
            <a:r>
              <a:rPr sz="1700" b="0">
                <a:solidFill>
                  <a:srgbClr val="222222"/>
                </a:solidFill>
                <a:latin typeface="맑은 고딕"/>
              </a:rPr>
              <a:t>•  신호(부적합): Invalidation↑ · Create Failure↑ · Find 낮음</a:t>
            </a:r>
          </a:p>
          <a:p>
            <a:pPr algn="l">
              <a:spcAft>
                <a:spcPts val="600"/>
              </a:spcAft>
            </a:pPr>
            <a:r>
              <a:rPr sz="1700" b="0">
                <a:solidFill>
                  <a:srgbClr val="222222"/>
                </a:solidFill>
                <a:latin typeface="맑은 고딕"/>
              </a:rPr>
              <a:t>•  판별 한 문장: '읽기 위주 테이블에서 적은 결과를 반복 반환하는가'</a:t>
            </a:r>
          </a:p>
          <a:p>
            <a:pPr algn="l">
              <a:spcAft>
                <a:spcPts val="600"/>
              </a:spcAft>
            </a:pPr>
            <a:r>
              <a:rPr sz="1700" b="0">
                <a:solidFill>
                  <a:srgbClr val="222222"/>
                </a:solidFill>
                <a:latin typeface="맑은 고딕"/>
              </a:rPr>
              <a:t>•  붙인 뒤에도 Invalidation Count 관찰 → 손해면 즉시 제거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19.7 ~ 19.8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PGA와 작업 영역</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PGA — 서버 프로세스의 사적 작업 공간</a:t>
            </a:r>
          </a:p>
          <a:p>
            <a:pPr algn="l">
              <a:spcAft>
                <a:spcPts val="400"/>
              </a:spcAft>
            </a:pPr>
            <a:r>
              <a:rPr sz="1600" b="0">
                <a:solidFill>
                  <a:srgbClr val="FFFFFF"/>
                </a:solidFill>
                <a:latin typeface="맑은 고딕"/>
              </a:rPr>
              <a:t>•  정렬 영역·해시 영역이 작업 영역을 쓴다</a:t>
            </a:r>
          </a:p>
          <a:p>
            <a:pPr algn="l">
              <a:spcAft>
                <a:spcPts val="400"/>
              </a:spcAft>
            </a:pPr>
            <a:r>
              <a:rPr sz="1600" b="0">
                <a:solidFill>
                  <a:srgbClr val="FFFFFF"/>
                </a:solidFill>
                <a:latin typeface="맑은 고딕"/>
              </a:rPr>
              <a:t>•  optimal / one-pass / multi-pass 세 크기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PGA와 작업 영역</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공유되지 않는 사적 메모리</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PGA = 서버 프로세스 하나의 사적 메모리(그 프로세스만 접근)</a:t>
            </a:r>
          </a:p>
          <a:p>
            <a:pPr algn="l">
              <a:spcAft>
                <a:spcPts val="600"/>
              </a:spcAft>
            </a:pPr>
            <a:r>
              <a:rPr sz="1700" b="0">
                <a:solidFill>
                  <a:srgbClr val="222222"/>
                </a:solidFill>
                <a:latin typeface="맑은 고딕"/>
              </a:rPr>
              <a:t>•  정렬(ORDER BY·GROUP BY·윈도우) → 정렬 영역(sort area)</a:t>
            </a:r>
          </a:p>
          <a:p>
            <a:pPr algn="l">
              <a:spcAft>
                <a:spcPts val="600"/>
              </a:spcAft>
            </a:pPr>
            <a:r>
              <a:rPr sz="1700" b="0">
                <a:solidFill>
                  <a:srgbClr val="222222"/>
                </a:solidFill>
                <a:latin typeface="맑은 고딕"/>
              </a:rPr>
              <a:t>•  해시 조인 → 해시 영역(hash area)</a:t>
            </a:r>
          </a:p>
          <a:p>
            <a:pPr algn="l">
              <a:spcAft>
                <a:spcPts val="600"/>
              </a:spcAft>
            </a:pPr>
            <a:r>
              <a:rPr sz="1700" b="0">
                <a:solidFill>
                  <a:srgbClr val="222222"/>
                </a:solidFill>
                <a:latin typeface="맑은 고딕"/>
              </a:rPr>
              <a:t>•  작업 영역 크면 빠르지만 메모리 소비↑, 작으면 디스크로 넘침</a:t>
            </a:r>
          </a:p>
          <a:p>
            <a:pPr algn="l">
              <a:spcAft>
                <a:spcPts val="600"/>
              </a:spcAft>
            </a:pPr>
            <a:r>
              <a:rPr sz="1700" b="0">
                <a:solidFill>
                  <a:srgbClr val="222222"/>
                </a:solidFill>
                <a:latin typeface="맑은 고딕"/>
              </a:rPr>
              <a:t>•  SGA와 달리 공유 안 됨 → 접속 세션 늘면 PGA 수요도 늘어</a:t>
            </a:r>
          </a:p>
          <a:p>
            <a:pPr algn="l">
              <a:spcAft>
                <a:spcPts val="600"/>
              </a:spcAft>
            </a:pPr>
            <a:r>
              <a:rPr sz="1700" b="0">
                <a:solidFill>
                  <a:srgbClr val="222222"/>
                </a:solidFill>
                <a:latin typeface="맑은 고딕"/>
              </a:rPr>
              <a:t>•  동시 작업 영역↑ → global memory bound↓ (하나에 줄 최대치 감소)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optimal · one-pass · multi-pass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PGA 진단의 공통 언어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optimal: 전부 메모리에서 끝남 — 이상적, 디스크 접근 없음</a:t>
            </a:r>
          </a:p>
          <a:p>
            <a:pPr algn="l">
              <a:spcAft>
                <a:spcPts val="600"/>
              </a:spcAft>
            </a:pPr>
            <a:r>
              <a:rPr sz="1700" b="0">
                <a:solidFill>
                  <a:srgbClr val="222222"/>
                </a:solidFill>
                <a:latin typeface="맑은 고딕"/>
              </a:rPr>
              <a:t>•  one-pass: optimal보다 작아 디스크 1회 경유 — 응답시간 증가</a:t>
            </a:r>
          </a:p>
          <a:p>
            <a:pPr algn="l">
              <a:spcAft>
                <a:spcPts val="600"/>
              </a:spcAft>
            </a:pPr>
            <a:r>
              <a:rPr sz="1700" b="0">
                <a:solidFill>
                  <a:srgbClr val="222222"/>
                </a:solidFill>
                <a:latin typeface="맑은 고딕"/>
              </a:rPr>
              <a:t>•  multi-pass: 여러 번 디스크 경유 — 응답시간 급증(치명적)</a:t>
            </a:r>
          </a:p>
          <a:p>
            <a:pPr algn="l">
              <a:spcAft>
                <a:spcPts val="600"/>
              </a:spcAft>
            </a:pPr>
            <a:r>
              <a:rPr sz="1700" b="0">
                <a:solidFill>
                  <a:srgbClr val="222222"/>
                </a:solidFill>
                <a:latin typeface="맑은 고딕"/>
              </a:rPr>
              <a:t>•  목표: optimal 90%+ (OLTP 100%), one-pass 10%-, multi-pass 회피</a:t>
            </a:r>
          </a:p>
          <a:p>
            <a:pPr algn="l">
              <a:spcAft>
                <a:spcPts val="600"/>
              </a:spcAft>
            </a:pPr>
            <a:r>
              <a:rPr sz="1700" b="0">
                <a:solidFill>
                  <a:srgbClr val="222222"/>
                </a:solidFill>
                <a:latin typeface="맑은 고딕"/>
              </a:rPr>
              <a:t>•  핵심 감각: one-pass는 감수, multi-pass는 제거</a:t>
            </a:r>
          </a:p>
          <a:p>
            <a:pPr algn="l">
              <a:spcAft>
                <a:spcPts val="600"/>
              </a:spcAft>
            </a:pPr>
            <a:r>
              <a:rPr sz="1700" b="0">
                <a:solidFill>
                  <a:srgbClr val="222222"/>
                </a:solidFill>
                <a:latin typeface="맑은 고딕"/>
              </a:rPr>
              <a:t>•  one-pass 메모리 요구는 작다 — 1GB 정렬을 22MB로 one-pass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V$PGASTAT — target·over allocation·cache hit</a:t>
            </a:r>
          </a:p>
          <a:p>
            <a:pPr algn="l">
              <a:spcAft>
                <a:spcPts val="400"/>
              </a:spcAft>
            </a:pPr>
            <a:r>
              <a:rPr sz="1600" b="0">
                <a:solidFill>
                  <a:srgbClr val="FFFFFF"/>
                </a:solidFill>
                <a:latin typeface="맑은 고딕"/>
              </a:rPr>
              <a:t>•  V$SQL_WORKAREA_HISTOGRAM — 크기별 optimal 분포</a:t>
            </a:r>
          </a:p>
          <a:p>
            <a:pPr algn="l">
              <a:spcAft>
                <a:spcPts val="400"/>
              </a:spcAft>
            </a:pPr>
            <a:r>
              <a:rPr sz="1600" b="0">
                <a:solidFill>
                  <a:srgbClr val="FFFFFF"/>
                </a:solidFill>
                <a:latin typeface="맑은 고딕"/>
              </a:rPr>
              <a:t>•  실측: 전부 optimal, 디스크 정렬 0 (건강)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V$PGASTAT 판독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target은 목표이지 한도가 아니다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MB   -- 해석</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aggregate PGA target parameter   700   -- 목표(한도 아님)</a:t>
            </a:r>
          </a:p>
          <a:p>
            <a:pPr>
              <a:spcBef>
                <a:spcPts val="0"/>
              </a:spcBef>
              <a:spcAft>
                <a:spcPts val="0"/>
              </a:spcAft>
            </a:pPr>
            <a:r>
              <a:rPr sz="1250">
                <a:solidFill>
                  <a:srgbClr val="F2F2F2"/>
                </a:solidFill>
                <a:latin typeface="Consolas"/>
              </a:rPr>
              <a:t>total PGA inuse                  297.41</a:t>
            </a:r>
          </a:p>
          <a:p>
            <a:pPr>
              <a:spcBef>
                <a:spcPts val="0"/>
              </a:spcBef>
              <a:spcAft>
                <a:spcPts val="0"/>
              </a:spcAft>
            </a:pPr>
            <a:r>
              <a:rPr sz="1250">
                <a:solidFill>
                  <a:srgbClr val="F2F2F2"/>
                </a:solidFill>
                <a:latin typeface="Consolas"/>
              </a:rPr>
              <a:t>total PGA allocated              487.82  -- target 700 이내</a:t>
            </a:r>
          </a:p>
          <a:p>
            <a:pPr>
              <a:spcBef>
                <a:spcPts val="0"/>
              </a:spcBef>
              <a:spcAft>
                <a:spcPts val="0"/>
              </a:spcAft>
            </a:pPr>
            <a:r>
              <a:rPr sz="1250">
                <a:solidFill>
                  <a:srgbClr val="F2F2F2"/>
                </a:solidFill>
                <a:latin typeface="Consolas"/>
              </a:rPr>
              <a:t>maximum PGA allocated            510.74  -- 기동 이후 최대</a:t>
            </a:r>
          </a:p>
          <a:p>
            <a:pPr>
              <a:spcBef>
                <a:spcPts val="0"/>
              </a:spcBef>
              <a:spcAft>
                <a:spcPts val="0"/>
              </a:spcAft>
            </a:pPr>
            <a:r>
              <a:rPr sz="1250">
                <a:solidFill>
                  <a:srgbClr val="F2F2F2"/>
                </a:solidFill>
                <a:latin typeface="Consolas"/>
              </a:rPr>
              <a:t>over allocation count              0   -- 초과 할당 0(건강)</a:t>
            </a:r>
          </a:p>
          <a:p>
            <a:pPr>
              <a:spcBef>
                <a:spcPts val="0"/>
              </a:spcBef>
              <a:spcAft>
                <a:spcPts val="0"/>
              </a:spcAft>
            </a:pPr>
            <a:r>
              <a:rPr sz="1250">
                <a:solidFill>
                  <a:srgbClr val="F2F2F2"/>
                </a:solidFill>
                <a:latin typeface="Consolas"/>
              </a:rPr>
              <a:t>cache hit percentage             100   -- 전부 optimal(이상적)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작업 영역 히스토그램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모든 버킷에서 onepass·multipass = 0</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LOW_KB | HIGH_KB | OPTIMAL | ONEPASS | MULTIPASS</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2 |     4   |   25677 |    0    |    0</a:t>
            </a:r>
          </a:p>
          <a:p>
            <a:pPr>
              <a:spcBef>
                <a:spcPts val="0"/>
              </a:spcBef>
              <a:spcAft>
                <a:spcPts val="0"/>
              </a:spcAft>
            </a:pPr>
            <a:r>
              <a:rPr sz="1250">
                <a:solidFill>
                  <a:srgbClr val="F2F2F2"/>
                </a:solidFill>
                <a:latin typeface="Consolas"/>
              </a:rPr>
              <a:t>    64 |   128   |   20190 |    0    |    0</a:t>
            </a:r>
          </a:p>
          <a:p>
            <a:pPr>
              <a:spcBef>
                <a:spcPts val="0"/>
              </a:spcBef>
              <a:spcAft>
                <a:spcPts val="0"/>
              </a:spcAft>
            </a:pPr>
            <a:r>
              <a:rPr sz="1250">
                <a:solidFill>
                  <a:srgbClr val="F2F2F2"/>
                </a:solidFill>
                <a:latin typeface="Consolas"/>
              </a:rPr>
              <a:t>   512 |  1024   |   10872 |    0    |    0</a:t>
            </a:r>
          </a:p>
          <a:p>
            <a:pPr>
              <a:spcBef>
                <a:spcPts val="0"/>
              </a:spcBef>
              <a:spcAft>
                <a:spcPts val="0"/>
              </a:spcAft>
            </a:pPr>
            <a:r>
              <a:rPr sz="1250">
                <a:solidFill>
                  <a:srgbClr val="F2F2F2"/>
                </a:solidFill>
                <a:latin typeface="Consolas"/>
              </a:rPr>
              <a:t>  1024 |  2048   |   10690 |    0    |    0</a:t>
            </a:r>
          </a:p>
          <a:p>
            <a:pPr>
              <a:spcBef>
                <a:spcPts val="0"/>
              </a:spcBef>
              <a:spcAft>
                <a:spcPts val="0"/>
              </a:spcAft>
            </a:pPr>
            <a:r>
              <a:rPr sz="1250">
                <a:solidFill>
                  <a:srgbClr val="F2F2F2"/>
                </a:solidFill>
                <a:latin typeface="Consolas"/>
              </a:rPr>
              <a:t> 32768 | 65536   |       2 |    0    |    0   &lt;= 큰 정렬도 optimal</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V$SYSSTAT: sorts(disk)=0, sorts(memory)=67163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PGA_AGGREGATE_TARGET 튜닝 — 추측하지 않는다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V$PGA_TARGET_ADVICE로 근거 있게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SELECT ROUND(pga_target_for_estimate/1024/1024) target_mb,</a:t>
            </a:r>
          </a:p>
          <a:p>
            <a:pPr>
              <a:spcBef>
                <a:spcPts val="0"/>
              </a:spcBef>
              <a:spcAft>
                <a:spcPts val="0"/>
              </a:spcAft>
            </a:pPr>
            <a:r>
              <a:rPr sz="1250">
                <a:solidFill>
                  <a:srgbClr val="F2F2F2"/>
                </a:solidFill>
                <a:latin typeface="Consolas"/>
              </a:rPr>
              <a:t>       estd_pga_cache_hit_percentage cache_hit_perc,</a:t>
            </a:r>
          </a:p>
          <a:p>
            <a:pPr>
              <a:spcBef>
                <a:spcPts val="0"/>
              </a:spcBef>
              <a:spcAft>
                <a:spcPts val="0"/>
              </a:spcAft>
            </a:pPr>
            <a:r>
              <a:rPr sz="1250">
                <a:solidFill>
                  <a:srgbClr val="F2F2F2"/>
                </a:solidFill>
                <a:latin typeface="Consolas"/>
              </a:rPr>
              <a:t>       estd_overalloc_count</a:t>
            </a:r>
          </a:p>
          <a:p>
            <a:pPr>
              <a:spcBef>
                <a:spcPts val="0"/>
              </a:spcBef>
              <a:spcAft>
                <a:spcPts val="0"/>
              </a:spcAft>
            </a:pPr>
            <a:r>
              <a:rPr sz="1250">
                <a:solidFill>
                  <a:srgbClr val="F2F2F2"/>
                </a:solidFill>
                <a:latin typeface="Consolas"/>
              </a:rPr>
              <a:t>  FROM v$pga_target_advice;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절차 ① over allocation=0 되는 지점 이상으로 target</a:t>
            </a:r>
          </a:p>
          <a:p>
            <a:pPr>
              <a:spcBef>
                <a:spcPts val="0"/>
              </a:spcBef>
              <a:spcAft>
                <a:spcPts val="0"/>
              </a:spcAft>
            </a:pPr>
            <a:r>
              <a:rPr sz="1250">
                <a:solidFill>
                  <a:srgbClr val="F2F2F2"/>
                </a:solidFill>
                <a:latin typeface="Consolas"/>
              </a:rPr>
              <a:t>--      ② 응답시간·메모리 제약 안에서 cache hit 최대화</a:t>
            </a:r>
          </a:p>
          <a:p>
            <a:pPr>
              <a:spcBef>
                <a:spcPts val="0"/>
              </a:spcBef>
              <a:spcAft>
                <a:spcPts val="0"/>
              </a:spcAft>
            </a:pPr>
            <a:r>
              <a:rPr sz="1250">
                <a:solidFill>
                  <a:srgbClr val="F2F2F2"/>
                </a:solidFill>
                <a:latin typeface="Consolas"/>
              </a:rPr>
              <a:t>--      ③ 조정 후 실제 optimal/one/multi 분포로 검증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범인 좁히기 — 세션·커서 수준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히스토그램이 이상하면 여기서 지목</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V$PROCESS_MEMORY: 프로세스별 PGA를 범주(SQL·PL/SQL·기타)로 분해</a:t>
            </a:r>
          </a:p>
          <a:p>
            <a:pPr algn="l">
              <a:spcAft>
                <a:spcPts val="600"/>
              </a:spcAft>
            </a:pPr>
            <a:r>
              <a:rPr sz="1700" b="0">
                <a:solidFill>
                  <a:srgbClr val="222222"/>
                </a:solidFill>
                <a:latin typeface="맑은 고딕"/>
              </a:rPr>
              <a:t>•  → 조정 불가능 PGA 폭주 세션 지목(ORA-04036 원인 추적)</a:t>
            </a:r>
          </a:p>
          <a:p>
            <a:pPr algn="l">
              <a:spcAft>
                <a:spcPts val="600"/>
              </a:spcAft>
            </a:pPr>
            <a:r>
              <a:rPr sz="1700" b="0">
                <a:solidFill>
                  <a:srgbClr val="222222"/>
                </a:solidFill>
                <a:latin typeface="맑은 고딕"/>
              </a:rPr>
              <a:t>•  V$SQL_WORKAREA: 커서별 작업 영역 누적 통계</a:t>
            </a:r>
          </a:p>
          <a:p>
            <a:pPr algn="l">
              <a:spcAft>
                <a:spcPts val="600"/>
              </a:spcAft>
            </a:pPr>
            <a:r>
              <a:rPr sz="1700" b="0">
                <a:solidFill>
                  <a:srgbClr val="222222"/>
                </a:solidFill>
                <a:latin typeface="맑은 고딕"/>
              </a:rPr>
              <a:t>•  → V$SQL·V$SQL_PLAN 조인 시 어느 연산자가 one/multi-pass인지</a:t>
            </a:r>
          </a:p>
          <a:p>
            <a:pPr algn="l">
              <a:spcAft>
                <a:spcPts val="600"/>
              </a:spcAft>
            </a:pPr>
            <a:r>
              <a:rPr sz="1700" b="0">
                <a:solidFill>
                  <a:srgbClr val="222222"/>
                </a:solidFill>
                <a:latin typeface="맑은 고딕"/>
              </a:rPr>
              <a:t>•  one/multi-pass 커서만 뽑는 질의 = 실측에선 '빈 결과'(건강 증명)</a:t>
            </a:r>
          </a:p>
          <a:p>
            <a:pPr algn="l">
              <a:spcAft>
                <a:spcPts val="600"/>
              </a:spcAft>
            </a:pPr>
            <a:r>
              <a:rPr sz="1700" b="0">
                <a:solidFill>
                  <a:srgbClr val="222222"/>
                </a:solidFill>
                <a:latin typeface="맑은 고딕"/>
              </a:rPr>
              <a:t>•  V$SQL_WORKAREA_ACTIVE: 실행 중 NUMBER_PASSES·TEMPSEG_SIZE 실시간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19.10</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1-pass·multi-pass 정렬 재현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건강한 상태에서 나쁜 상태를 일부러 만든다</a:t>
            </a:r>
          </a:p>
          <a:p>
            <a:pPr algn="l">
              <a:spcAft>
                <a:spcPts val="400"/>
              </a:spcAft>
            </a:pPr>
            <a:r>
              <a:rPr sz="1600" b="0">
                <a:solidFill>
                  <a:srgbClr val="FFFFFF"/>
                </a:solidFill>
                <a:latin typeface="맑은 고딕"/>
              </a:rPr>
              <a:t>•  세션 수준 축소 — 인스턴스는 건드리지 않는다</a:t>
            </a:r>
          </a:p>
          <a:p>
            <a:pPr algn="l">
              <a:spcAft>
                <a:spcPts val="400"/>
              </a:spcAft>
            </a:pPr>
            <a:r>
              <a:rPr sz="1600" b="0">
                <a:solidFill>
                  <a:srgbClr val="FFFFFF"/>
                </a:solidFill>
                <a:latin typeface="맑은 고딕"/>
              </a:rPr>
              <a:t>•  디스크 정렬·임시 테이블스페이스 사용 관찰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세션 수준 축소로 디스크 정렬 재현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인스턴스 파라미터는 절대 건드리지 않는다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(개인 실습 환경 전용) 이 세션의 작업 영역만 축소</a:t>
            </a:r>
          </a:p>
          <a:p>
            <a:pPr>
              <a:spcBef>
                <a:spcPts val="0"/>
              </a:spcBef>
              <a:spcAft>
                <a:spcPts val="0"/>
              </a:spcAft>
            </a:pPr>
            <a:r>
              <a:rPr sz="1250">
                <a:solidFill>
                  <a:srgbClr val="F2F2F2"/>
                </a:solidFill>
                <a:latin typeface="Consolas"/>
              </a:rPr>
              <a:t>ALTER SESSION SET WORKAREA_SIZE_POLICY = MANUAL;</a:t>
            </a:r>
          </a:p>
          <a:p>
            <a:pPr>
              <a:spcBef>
                <a:spcPts val="0"/>
              </a:spcBef>
              <a:spcAft>
                <a:spcPts val="0"/>
              </a:spcAft>
            </a:pPr>
            <a:r>
              <a:rPr sz="1250">
                <a:solidFill>
                  <a:srgbClr val="F2F2F2"/>
                </a:solidFill>
                <a:latin typeface="Consolas"/>
              </a:rPr>
              <a:t>ALTER SESSION SET SORT_AREA_SIZE = 65536;   -- 64KB</a:t>
            </a:r>
          </a:p>
          <a:p>
            <a:pPr>
              <a:spcBef>
                <a:spcPts val="0"/>
              </a:spcBef>
              <a:spcAft>
                <a:spcPts val="0"/>
              </a:spcAft>
            </a:pPr>
            <a:r>
              <a:rPr sz="1250">
                <a:solidFill>
                  <a:srgbClr val="F2F2F2"/>
                </a:solidFill>
                <a:latin typeface="Consolas"/>
              </a:rPr>
              <a:t>ALTER SESSION SET HASH_AREA_SIZE = 65536;</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대량 정렬 (CLAIM_DETAILS 100만 행 규모)</a:t>
            </a:r>
          </a:p>
          <a:p>
            <a:pPr>
              <a:spcBef>
                <a:spcPts val="0"/>
              </a:spcBef>
              <a:spcAft>
                <a:spcPts val="0"/>
              </a:spcAft>
            </a:pPr>
            <a:r>
              <a:rPr sz="1250">
                <a:solidFill>
                  <a:srgbClr val="F2F2F2"/>
                </a:solidFill>
                <a:latin typeface="Consolas"/>
              </a:rPr>
              <a:t>SELECT drug_code, COUNT(*), SUM(claim_amount)</a:t>
            </a:r>
          </a:p>
          <a:p>
            <a:pPr>
              <a:spcBef>
                <a:spcPts val="0"/>
              </a:spcBef>
              <a:spcAft>
                <a:spcPts val="0"/>
              </a:spcAft>
            </a:pPr>
            <a:r>
              <a:rPr sz="1250">
                <a:solidFill>
                  <a:srgbClr val="F2F2F2"/>
                </a:solidFill>
                <a:latin typeface="Consolas"/>
              </a:rPr>
              <a:t>  FROM claim_details GROUP BY drug_code ORDER BY 3 DESC;</a:t>
            </a:r>
          </a:p>
          <a:p>
            <a:pPr>
              <a:spcBef>
                <a:spcPts val="0"/>
              </a:spcBef>
              <a:spcAft>
                <a:spcPts val="0"/>
              </a:spcAft>
            </a:pPr>
            <a:r>
              <a:rPr sz="1250">
                <a:solidFill>
                  <a:srgbClr val="F2F2F2"/>
                </a:solidFill>
                <a:latin typeface="Consolas"/>
              </a:rPr>
              <a:t>-- 관찰: sorts(disk)↑, 히스토그램 onepass↑, TEMPSEG 사용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재현의 목적 — 정상값을 몸에 익힌다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전후 대비가 곧 학습</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목적은 '느리게 만들기'가 아니라 '지표 반응을 눈에 익히기'</a:t>
            </a:r>
          </a:p>
          <a:p>
            <a:pPr algn="l">
              <a:spcAft>
                <a:spcPts val="600"/>
              </a:spcAft>
            </a:pPr>
            <a:r>
              <a:rPr sz="1700" b="0">
                <a:solidFill>
                  <a:srgbClr val="222222"/>
                </a:solidFill>
                <a:latin typeface="맑은 고딕"/>
              </a:rPr>
              <a:t>•  출발: optimal(sorts disk=0, 히스토그램 전부 optimal)</a:t>
            </a:r>
          </a:p>
          <a:p>
            <a:pPr algn="l">
              <a:spcAft>
                <a:spcPts val="600"/>
              </a:spcAft>
            </a:pPr>
            <a:r>
              <a:rPr sz="1700" b="0">
                <a:solidFill>
                  <a:srgbClr val="222222"/>
                </a:solidFill>
                <a:latin typeface="맑은 고딕"/>
              </a:rPr>
              <a:t>•  축소 후: sorts(disk) 0→튐, 히스토그램 onepass 잡힘</a:t>
            </a:r>
          </a:p>
          <a:p>
            <a:pPr algn="l">
              <a:spcAft>
                <a:spcPts val="600"/>
              </a:spcAft>
            </a:pPr>
            <a:r>
              <a:rPr sz="1700" b="0">
                <a:solidFill>
                  <a:srgbClr val="222222"/>
                </a:solidFill>
                <a:latin typeface="맑은 고딕"/>
              </a:rPr>
              <a:t>•  더 축소: one-pass → multi-pass, 응답시간 급격히 악화 체감</a:t>
            </a:r>
          </a:p>
          <a:p>
            <a:pPr algn="l">
              <a:spcAft>
                <a:spcPts val="600"/>
              </a:spcAft>
            </a:pPr>
            <a:r>
              <a:rPr sz="1700" b="0">
                <a:solidFill>
                  <a:srgbClr val="222222"/>
                </a:solidFill>
                <a:latin typeface="맑은 고딕"/>
              </a:rPr>
              <a:t>•  임시 공간 부족 시 ORA-01652(임시 세그먼트 확장 실패)</a:t>
            </a:r>
          </a:p>
          <a:p>
            <a:pPr algn="l">
              <a:spcAft>
                <a:spcPts val="600"/>
              </a:spcAft>
            </a:pPr>
            <a:r>
              <a:rPr sz="1700" b="0">
                <a:solidFill>
                  <a:srgbClr val="222222"/>
                </a:solidFill>
                <a:latin typeface="맑은 고딕"/>
              </a:rPr>
              <a:t>•  인스턴스 축소는 개인 환경 전용 — 조치 전 값 캡처·원복 필수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19.11</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PGA_AGGREGATE_LIMIT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target(목표) vs limit(절대 한도)</a:t>
            </a:r>
          </a:p>
          <a:p>
            <a:pPr algn="l">
              <a:spcAft>
                <a:spcPts val="400"/>
              </a:spcAft>
            </a:pPr>
            <a:r>
              <a:rPr sz="1600" b="0">
                <a:solidFill>
                  <a:srgbClr val="FFFFFF"/>
                </a:solidFill>
                <a:latin typeface="맑은 고딕"/>
              </a:rPr>
              <a:t>•  조정 가능 메모리 vs 조정 불가능 메모리</a:t>
            </a:r>
          </a:p>
          <a:p>
            <a:pPr algn="l">
              <a:spcAft>
                <a:spcPts val="400"/>
              </a:spcAft>
            </a:pPr>
            <a:r>
              <a:rPr sz="1600" b="0">
                <a:solidFill>
                  <a:srgbClr val="FFFFFF"/>
                </a:solidFill>
                <a:latin typeface="맑은 고딕"/>
              </a:rPr>
              <a:t>•  ORA-04036 — 메모리 부족으로만 읽지 않는다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target은 목표, limit은 천장</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ORA-04036의 진짜 의미</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target은 목표이지 한도 아님 — 소폭·잠깐 초과는 정상</a:t>
            </a:r>
          </a:p>
          <a:p>
            <a:pPr algn="l">
              <a:spcAft>
                <a:spcPts val="600"/>
              </a:spcAft>
            </a:pPr>
            <a:r>
              <a:rPr sz="1700" b="0">
                <a:solidFill>
                  <a:srgbClr val="222222"/>
                </a:solidFill>
                <a:latin typeface="맑은 고딕"/>
              </a:rPr>
              <a:t>•  target은 '조정 가능한' 메모리만 통제(정렬·해시 영역)</a:t>
            </a:r>
          </a:p>
          <a:p>
            <a:pPr algn="l">
              <a:spcAft>
                <a:spcPts val="600"/>
              </a:spcAft>
            </a:pPr>
            <a:r>
              <a:rPr sz="1700" b="0">
                <a:solidFill>
                  <a:srgbClr val="222222"/>
                </a:solidFill>
                <a:latin typeface="맑은 고딕"/>
              </a:rPr>
              <a:t>•  '조정 불가능한' 메모리(PL/SQL 컬렉션 등)는 통제 밖</a:t>
            </a:r>
          </a:p>
          <a:p>
            <a:pPr algn="l">
              <a:spcAft>
                <a:spcPts val="600"/>
              </a:spcAft>
            </a:pPr>
            <a:r>
              <a:rPr sz="1700" b="0">
                <a:solidFill>
                  <a:srgbClr val="222222"/>
                </a:solidFill>
                <a:latin typeface="맑은 고딕"/>
              </a:rPr>
              <a:t>•  limit 초과 시 조정 불가능 PGA 최대 세션의 콜 중단→세션 종료</a:t>
            </a:r>
          </a:p>
          <a:p>
            <a:pPr algn="l">
              <a:spcAft>
                <a:spcPts val="600"/>
              </a:spcAft>
            </a:pPr>
            <a:r>
              <a:rPr sz="1700" b="0">
                <a:solidFill>
                  <a:srgbClr val="222222"/>
                </a:solidFill>
                <a:latin typeface="맑은 고딕"/>
              </a:rPr>
              <a:t>•  그 오류가 ORA-04036 — '안전장치가 작동했다'는 신호</a:t>
            </a:r>
          </a:p>
          <a:p>
            <a:pPr algn="l">
              <a:spcAft>
                <a:spcPts val="600"/>
              </a:spcAft>
            </a:pPr>
            <a:r>
              <a:rPr sz="1700" b="0">
                <a:solidFill>
                  <a:srgbClr val="222222"/>
                </a:solidFill>
                <a:latin typeface="맑은 고딕"/>
              </a:rPr>
              <a:t>•  오판 금지: 메모리 부족이 아니라 특정 세션 폭주가 진짜 원인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ORA-04036 대응 — 올바른 순서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한도를 키우는 건 처음이 아니라 마지막</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Common Error: ORA-04036을 메모리 부족으로만 읽고 한도만 키움</a:t>
            </a:r>
          </a:p>
          <a:p>
            <a:pPr algn="l">
              <a:spcAft>
                <a:spcPts val="600"/>
              </a:spcAft>
            </a:pPr>
            <a:r>
              <a:rPr sz="1700" b="0">
                <a:solidFill>
                  <a:srgbClr val="222222"/>
                </a:solidFill>
                <a:latin typeface="맑은 고딕"/>
              </a:rPr>
              <a:t>•  진짜 원인: 특정 세션의 조정 불가능 PGA 폭주(거대 컬렉션 등)</a:t>
            </a:r>
          </a:p>
          <a:p>
            <a:pPr algn="l">
              <a:spcAft>
                <a:spcPts val="600"/>
              </a:spcAft>
            </a:pPr>
            <a:r>
              <a:rPr sz="1700" b="0">
                <a:solidFill>
                  <a:srgbClr val="222222"/>
                </a:solidFill>
                <a:latin typeface="맑은 고딕"/>
              </a:rPr>
              <a:t>•  ① V$PROCESS_MEMORY로 범인 세션·범주 지목</a:t>
            </a:r>
          </a:p>
          <a:p>
            <a:pPr algn="l">
              <a:spcAft>
                <a:spcPts val="600"/>
              </a:spcAft>
            </a:pPr>
            <a:r>
              <a:rPr sz="1700" b="0">
                <a:solidFill>
                  <a:srgbClr val="222222"/>
                </a:solidFill>
                <a:latin typeface="맑은 고딕"/>
              </a:rPr>
              <a:t>•  ② 그 SQL·PL/SQL을 고친다</a:t>
            </a:r>
          </a:p>
          <a:p>
            <a:pPr algn="l">
              <a:spcAft>
                <a:spcPts val="600"/>
              </a:spcAft>
            </a:pPr>
            <a:r>
              <a:rPr sz="1700" b="0">
                <a:solidFill>
                  <a:srgbClr val="222222"/>
                </a:solidFill>
                <a:latin typeface="맑은 고딕"/>
              </a:rPr>
              <a:t>•  ③ 필요하면 근거 있게 한도 조정 (마지막 수단)</a:t>
            </a:r>
          </a:p>
          <a:p>
            <a:pPr algn="l">
              <a:spcAft>
                <a:spcPts val="600"/>
              </a:spcAft>
            </a:pPr>
            <a:r>
              <a:rPr sz="1700" b="0">
                <a:solidFill>
                  <a:srgbClr val="222222"/>
                </a:solidFill>
                <a:latin typeface="맑은 고딕"/>
              </a:rPr>
              <a:t>•  세션 단위 한도: 리소스 관리자 SESSION_PGA_LIMIT → ORA-10260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스스로 점검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Q1. 서버 결과 캐시와 버퍼 캐시가 저장하는 대상의 차이는?</a:t>
            </a:r>
          </a:p>
          <a:p>
            <a:pPr algn="l">
              <a:spcAft>
                <a:spcPts val="600"/>
              </a:spcAft>
            </a:pPr>
            <a:r>
              <a:rPr sz="1700" b="0">
                <a:solidFill>
                  <a:srgbClr val="222222"/>
                </a:solidFill>
                <a:latin typeface="맑은 고딕"/>
              </a:rPr>
              <a:t>•  Q2. RESULT_CACHE_MODE를 FORCE로 두면 안 되는 이유 두 가지는?</a:t>
            </a:r>
          </a:p>
          <a:p>
            <a:pPr algn="l">
              <a:spcAft>
                <a:spcPts val="600"/>
              </a:spcAft>
            </a:pPr>
            <a:r>
              <a:rPr sz="1700" b="0">
                <a:solidFill>
                  <a:srgbClr val="222222"/>
                </a:solidFill>
                <a:latin typeface="맑은 고딕"/>
              </a:rPr>
              <a:t>•  Q3. DRUG_MASTER는 적합하고 CLAIM_DETAILS는 부적합한 이유(무효화 관점)?</a:t>
            </a:r>
          </a:p>
          <a:p>
            <a:pPr algn="l">
              <a:spcAft>
                <a:spcPts val="600"/>
              </a:spcAft>
            </a:pPr>
            <a:r>
              <a:rPr sz="1700" b="0">
                <a:solidFill>
                  <a:srgbClr val="222222"/>
                </a:solidFill>
                <a:latin typeface="맑은 고딕"/>
              </a:rPr>
              <a:t>•  Q4. V$RESULT_CACHE_STATISTICS에서 '건강한 캐시' 통계 조합은?</a:t>
            </a:r>
          </a:p>
          <a:p>
            <a:pPr algn="l">
              <a:spcAft>
                <a:spcPts val="600"/>
              </a:spcAft>
            </a:pPr>
            <a:r>
              <a:rPr sz="1700" b="0">
                <a:solidFill>
                  <a:srgbClr val="222222"/>
                </a:solidFill>
                <a:latin typeface="맑은 고딕"/>
              </a:rPr>
              <a:t>•  Q5. optimal·one-pass·multi-pass 정의와 실무 목표는?</a:t>
            </a:r>
          </a:p>
          <a:p>
            <a:pPr algn="l">
              <a:spcAft>
                <a:spcPts val="600"/>
              </a:spcAft>
            </a:pPr>
            <a:r>
              <a:rPr sz="1700" b="0">
                <a:solidFill>
                  <a:srgbClr val="222222"/>
                </a:solidFill>
                <a:latin typeface="맑은 고딕"/>
              </a:rPr>
              <a:t>•  Q6. cache hit 100%인데도 1-pass를 세션 수준으로 재현하는 이유·방법은?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19장 핵심 정리</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결과 캐시 = 완성된 결과 저장 → 재계산 제거. 서버/클라이언트 별개</a:t>
            </a:r>
          </a:p>
          <a:p>
            <a:pPr algn="l">
              <a:spcAft>
                <a:spcPts val="600"/>
              </a:spcAft>
            </a:pPr>
            <a:r>
              <a:rPr sz="1700" b="0">
                <a:solidFill>
                  <a:srgbClr val="222222"/>
                </a:solidFill>
                <a:latin typeface="맑은 고딕"/>
              </a:rPr>
              <a:t>•  모드는 MANUAL(기본·권장). 힌트 &gt; 테이블 주석 &gt; 모드</a:t>
            </a:r>
          </a:p>
          <a:p>
            <a:pPr algn="l">
              <a:spcAft>
                <a:spcPts val="600"/>
              </a:spcAft>
            </a:pPr>
            <a:r>
              <a:rPr sz="1700" b="0">
                <a:solidFill>
                  <a:srgbClr val="222222"/>
                </a:solidFill>
                <a:latin typeface="맑은 고딕"/>
              </a:rPr>
              <a:t>•  무효화가 정확성을 지키지만 변경 잦으면 손해 → 판별 필수</a:t>
            </a:r>
          </a:p>
          <a:p>
            <a:pPr algn="l">
              <a:spcAft>
                <a:spcPts val="600"/>
              </a:spcAft>
            </a:pPr>
            <a:r>
              <a:rPr sz="1700" b="0">
                <a:solidFill>
                  <a:srgbClr val="222222"/>
                </a:solidFill>
                <a:latin typeface="맑은 고딕"/>
              </a:rPr>
              <a:t>•  판별 한 문장: 읽기 위주·소량 반환·반복 호출인가</a:t>
            </a:r>
          </a:p>
          <a:p>
            <a:pPr algn="l">
              <a:spcAft>
                <a:spcPts val="600"/>
              </a:spcAft>
            </a:pPr>
            <a:r>
              <a:rPr sz="1700" b="0">
                <a:solidFill>
                  <a:srgbClr val="222222"/>
                </a:solidFill>
                <a:latin typeface="맑은 고딕"/>
              </a:rPr>
              <a:t>•  PGA 작업 영역은 optimal 90%+ 목표, multi-pass 회피</a:t>
            </a:r>
          </a:p>
          <a:p>
            <a:pPr algn="l">
              <a:spcAft>
                <a:spcPts val="600"/>
              </a:spcAft>
            </a:pPr>
            <a:r>
              <a:rPr sz="1700" b="0">
                <a:solidFill>
                  <a:srgbClr val="222222"/>
                </a:solidFill>
                <a:latin typeface="맑은 고딕"/>
              </a:rPr>
              <a:t>•  실측: 700M·over alloc 0·cache hit 100%·디스크 정렬 0(건강)</a:t>
            </a:r>
          </a:p>
          <a:p>
            <a:pPr algn="l">
              <a:spcAft>
                <a:spcPts val="600"/>
              </a:spcAft>
            </a:pPr>
            <a:r>
              <a:rPr sz="1700" b="0">
                <a:solidFill>
                  <a:srgbClr val="222222"/>
                </a:solidFill>
                <a:latin typeface="맑은 고딕"/>
              </a:rPr>
              <a:t>•  target(목표) vs limit(한도). ORA-04036은 세션 폭주가 진짜 원인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6개 실습 · non-CDB orcl 19.3 · 조치 전→조회→해석</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실습 01 — 서버 결과 캐시 활성화와 RESULT_CACHE 힌트(DRUG_MASTER)</a:t>
            </a:r>
          </a:p>
          <a:p>
            <a:pPr algn="l">
              <a:spcAft>
                <a:spcPts val="600"/>
              </a:spcAft>
            </a:pPr>
            <a:r>
              <a:rPr sz="1700" b="0">
                <a:solidFill>
                  <a:srgbClr val="222222"/>
                </a:solidFill>
                <a:latin typeface="맑은 고딕"/>
              </a:rPr>
              <a:t>•  실습 02 — 결과 캐시 무효화 관찰(기반 테이블 변경)</a:t>
            </a:r>
          </a:p>
          <a:p>
            <a:pPr algn="l">
              <a:spcAft>
                <a:spcPts val="600"/>
              </a:spcAft>
            </a:pPr>
            <a:r>
              <a:rPr sz="1700" b="0">
                <a:solidFill>
                  <a:srgbClr val="222222"/>
                </a:solidFill>
                <a:latin typeface="맑은 고딕"/>
              </a:rPr>
              <a:t>•  실습 03 — 결과 캐시 모니터링과 적용 부적합 판별</a:t>
            </a:r>
          </a:p>
          <a:p>
            <a:pPr algn="l">
              <a:spcAft>
                <a:spcPts val="600"/>
              </a:spcAft>
            </a:pPr>
            <a:r>
              <a:rPr sz="1700" b="0">
                <a:solidFill>
                  <a:srgbClr val="222222"/>
                </a:solidFill>
                <a:latin typeface="맑은 고딕"/>
              </a:rPr>
              <a:t>•  실습 04 — PGA 작업 영역 확인(V$PGASTAT·V$SQL_WORKAREA_HISTOGRAM)</a:t>
            </a:r>
          </a:p>
          <a:p>
            <a:pPr algn="l">
              <a:spcAft>
                <a:spcPts val="600"/>
              </a:spcAft>
            </a:pPr>
            <a:r>
              <a:rPr sz="1700" b="0">
                <a:solidFill>
                  <a:srgbClr val="222222"/>
                </a:solidFill>
                <a:latin typeface="맑은 고딕"/>
              </a:rPr>
              <a:t>•  실습 05 — 1-pass·multi-pass 정렬 재현(세션 축소·임시 테이블스페이스)</a:t>
            </a:r>
          </a:p>
          <a:p>
            <a:pPr algn="l">
              <a:spcAft>
                <a:spcPts val="600"/>
              </a:spcAft>
            </a:pPr>
            <a:r>
              <a:rPr sz="1700" b="0">
                <a:solidFill>
                  <a:srgbClr val="222222"/>
                </a:solidFill>
                <a:latin typeface="맑은 고딕"/>
              </a:rPr>
              <a:t>•  실습 06 — PGA_AGGREGATE_LIMIT 초과(ORA-04036) 재현과 조정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